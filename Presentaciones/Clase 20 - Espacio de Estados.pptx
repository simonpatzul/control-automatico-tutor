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4.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8.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9.xml" ContentType="application/vnd.openxmlformats-officedocument.presentationml.notesSlide+xml"/>
  <Override PartName="/ppt/tags/tag77.xml" ContentType="application/vnd.openxmlformats-officedocument.presentationml.tags+xml"/>
  <Override PartName="/ppt/notesSlides/notesSlide10.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4.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5.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6.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17.xml" ContentType="application/vnd.openxmlformats-officedocument.presentationml.notesSlide+xml"/>
  <Override PartName="/ppt/tags/tag102.xml" ContentType="application/vnd.openxmlformats-officedocument.presentationml.tags+xml"/>
  <Override PartName="/ppt/notesSlides/notesSlide18.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9.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0.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21.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2.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23.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notesSlides/notesSlide24.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25.xml" ContentType="application/vnd.openxmlformats-officedocument.presentationml.notesSlide+xml"/>
  <Override PartName="/ppt/tags/tag15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29.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30.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notesSlides/notesSlide31.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32.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109"/>
  </p:notesMasterIdLst>
  <p:sldIdLst>
    <p:sldId id="312" r:id="rId6"/>
    <p:sldId id="260" r:id="rId7"/>
    <p:sldId id="269" r:id="rId8"/>
    <p:sldId id="266" r:id="rId9"/>
    <p:sldId id="267" r:id="rId10"/>
    <p:sldId id="271" r:id="rId11"/>
    <p:sldId id="273" r:id="rId12"/>
    <p:sldId id="272" r:id="rId13"/>
    <p:sldId id="275" r:id="rId14"/>
    <p:sldId id="276" r:id="rId15"/>
    <p:sldId id="277" r:id="rId16"/>
    <p:sldId id="278" r:id="rId17"/>
    <p:sldId id="279" r:id="rId18"/>
    <p:sldId id="280" r:id="rId19"/>
    <p:sldId id="281" r:id="rId20"/>
    <p:sldId id="283" r:id="rId21"/>
    <p:sldId id="313" r:id="rId22"/>
    <p:sldId id="314" r:id="rId23"/>
    <p:sldId id="315" r:id="rId24"/>
    <p:sldId id="317" r:id="rId25"/>
    <p:sldId id="318" r:id="rId26"/>
    <p:sldId id="319" r:id="rId27"/>
    <p:sldId id="320" r:id="rId28"/>
    <p:sldId id="316" r:id="rId29"/>
    <p:sldId id="321" r:id="rId30"/>
    <p:sldId id="263" r:id="rId31"/>
    <p:sldId id="264" r:id="rId32"/>
    <p:sldId id="394" r:id="rId33"/>
    <p:sldId id="431" r:id="rId34"/>
    <p:sldId id="395" r:id="rId35"/>
    <p:sldId id="397" r:id="rId36"/>
    <p:sldId id="261" r:id="rId37"/>
    <p:sldId id="396" r:id="rId38"/>
    <p:sldId id="399" r:id="rId39"/>
    <p:sldId id="259" r:id="rId40"/>
    <p:sldId id="400" r:id="rId41"/>
    <p:sldId id="401" r:id="rId42"/>
    <p:sldId id="402" r:id="rId43"/>
    <p:sldId id="403" r:id="rId44"/>
    <p:sldId id="404" r:id="rId45"/>
    <p:sldId id="405" r:id="rId46"/>
    <p:sldId id="268" r:id="rId47"/>
    <p:sldId id="406" r:id="rId48"/>
    <p:sldId id="407" r:id="rId49"/>
    <p:sldId id="256" r:id="rId50"/>
    <p:sldId id="257" r:id="rId51"/>
    <p:sldId id="258" r:id="rId52"/>
    <p:sldId id="408" r:id="rId53"/>
    <p:sldId id="409" r:id="rId54"/>
    <p:sldId id="410" r:id="rId55"/>
    <p:sldId id="262" r:id="rId56"/>
    <p:sldId id="411" r:id="rId57"/>
    <p:sldId id="412" r:id="rId58"/>
    <p:sldId id="413" r:id="rId59"/>
    <p:sldId id="265" r:id="rId60"/>
    <p:sldId id="414" r:id="rId61"/>
    <p:sldId id="270" r:id="rId62"/>
    <p:sldId id="417" r:id="rId63"/>
    <p:sldId id="418" r:id="rId64"/>
    <p:sldId id="419" r:id="rId65"/>
    <p:sldId id="274" r:id="rId66"/>
    <p:sldId id="420" r:id="rId67"/>
    <p:sldId id="421" r:id="rId68"/>
    <p:sldId id="422" r:id="rId69"/>
    <p:sldId id="423" r:id="rId70"/>
    <p:sldId id="433" r:id="rId71"/>
    <p:sldId id="434" r:id="rId72"/>
    <p:sldId id="435" r:id="rId73"/>
    <p:sldId id="436" r:id="rId74"/>
    <p:sldId id="284" r:id="rId75"/>
    <p:sldId id="285" r:id="rId76"/>
    <p:sldId id="286" r:id="rId77"/>
    <p:sldId id="287" r:id="rId78"/>
    <p:sldId id="288" r:id="rId79"/>
    <p:sldId id="331" r:id="rId80"/>
    <p:sldId id="333" r:id="rId81"/>
    <p:sldId id="334" r:id="rId82"/>
    <p:sldId id="335" r:id="rId83"/>
    <p:sldId id="336" r:id="rId84"/>
    <p:sldId id="300" r:id="rId85"/>
    <p:sldId id="301" r:id="rId86"/>
    <p:sldId id="302" r:id="rId87"/>
    <p:sldId id="303" r:id="rId88"/>
    <p:sldId id="304" r:id="rId89"/>
    <p:sldId id="305" r:id="rId90"/>
    <p:sldId id="338" r:id="rId91"/>
    <p:sldId id="306" r:id="rId92"/>
    <p:sldId id="307" r:id="rId93"/>
    <p:sldId id="308" r:id="rId94"/>
    <p:sldId id="309" r:id="rId95"/>
    <p:sldId id="432" r:id="rId96"/>
    <p:sldId id="310" r:id="rId97"/>
    <p:sldId id="311" r:id="rId98"/>
    <p:sldId id="428" r:id="rId99"/>
    <p:sldId id="429" r:id="rId100"/>
    <p:sldId id="430" r:id="rId101"/>
    <p:sldId id="339" r:id="rId102"/>
    <p:sldId id="340" r:id="rId103"/>
    <p:sldId id="341" r:id="rId104"/>
    <p:sldId id="344" r:id="rId105"/>
    <p:sldId id="342" r:id="rId106"/>
    <p:sldId id="347" r:id="rId107"/>
    <p:sldId id="343"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2"/>
    <a:srgbClr val="282A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B912C-ED19-9940-565A-00093DB58887}" v="1" dt="2026-05-15T01:37:57.343"/>
    <p1510:client id="{FF88AEB1-DCBE-5028-B8FB-271063049CA8}" v="1" dt="2026-05-15T01:23:04.667"/>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theme" Target="theme/theme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tableStyles" Target="tableStyle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notesMaster" Target="notesMasters/notesMaster1.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án Álvarez Palacio" userId="S::sebastian.alvarez91@eia.edu.co::5a0544f5-1ba8-4fad-81b5-808c3711bad6" providerId="AD" clId="Web-{FF88AEB1-DCBE-5028-B8FB-271063049CA8}"/>
    <pc:docChg chg="modSld">
      <pc:chgData name="Sebastián Álvarez Palacio" userId="S::sebastian.alvarez91@eia.edu.co::5a0544f5-1ba8-4fad-81b5-808c3711bad6" providerId="AD" clId="Web-{FF88AEB1-DCBE-5028-B8FB-271063049CA8}" dt="2026-05-15T01:23:04.667" v="0" actId="1076"/>
      <pc:docMkLst>
        <pc:docMk/>
      </pc:docMkLst>
      <pc:sldChg chg="modSp">
        <pc:chgData name="Sebastián Álvarez Palacio" userId="S::sebastian.alvarez91@eia.edu.co::5a0544f5-1ba8-4fad-81b5-808c3711bad6" providerId="AD" clId="Web-{FF88AEB1-DCBE-5028-B8FB-271063049CA8}" dt="2026-05-15T01:23:04.667" v="0" actId="1076"/>
        <pc:sldMkLst>
          <pc:docMk/>
          <pc:sldMk cId="3329385442" sldId="318"/>
        </pc:sldMkLst>
        <pc:spChg chg="mod">
          <ac:chgData name="Sebastián Álvarez Palacio" userId="S::sebastian.alvarez91@eia.edu.co::5a0544f5-1ba8-4fad-81b5-808c3711bad6" providerId="AD" clId="Web-{FF88AEB1-DCBE-5028-B8FB-271063049CA8}" dt="2026-05-15T01:23:04.667" v="0" actId="1076"/>
          <ac:spMkLst>
            <pc:docMk/>
            <pc:sldMk cId="3329385442" sldId="318"/>
            <ac:spMk id="3" creationId="{72D6CF40-BC13-4399-4EED-F0F413BFD5A8}"/>
          </ac:spMkLst>
        </pc:spChg>
      </pc:sldChg>
    </pc:docChg>
  </pc:docChgLst>
  <pc:docChgLst>
    <pc:chgData name="Jerónimo Valencia Vallejo" userId="S::jeronimo.valencia10@eia.edu.co::e6f7f393-26b7-46c1-9f2c-cfdafda88fe9" providerId="AD" clId="Web-{1A6B912C-ED19-9940-565A-00093DB58887}"/>
    <pc:docChg chg="modSld">
      <pc:chgData name="Jerónimo Valencia Vallejo" userId="S::jeronimo.valencia10@eia.edu.co::e6f7f393-26b7-46c1-9f2c-cfdafda88fe9" providerId="AD" clId="Web-{1A6B912C-ED19-9940-565A-00093DB58887}" dt="2026-05-15T01:37:57.343" v="0" actId="1076"/>
      <pc:docMkLst>
        <pc:docMk/>
      </pc:docMkLst>
      <pc:sldChg chg="modSp">
        <pc:chgData name="Jerónimo Valencia Vallejo" userId="S::jeronimo.valencia10@eia.edu.co::e6f7f393-26b7-46c1-9f2c-cfdafda88fe9" providerId="AD" clId="Web-{1A6B912C-ED19-9940-565A-00093DB58887}" dt="2026-05-15T01:37:57.343" v="0" actId="1076"/>
        <pc:sldMkLst>
          <pc:docMk/>
          <pc:sldMk cId="2852101586" sldId="431"/>
        </pc:sldMkLst>
        <pc:picChg chg="mod">
          <ac:chgData name="Jerónimo Valencia Vallejo" userId="S::jeronimo.valencia10@eia.edu.co::e6f7f393-26b7-46c1-9f2c-cfdafda88fe9" providerId="AD" clId="Web-{1A6B912C-ED19-9940-565A-00093DB58887}" dt="2026-05-15T01:37:57.343" v="0" actId="1076"/>
          <ac:picMkLst>
            <pc:docMk/>
            <pc:sldMk cId="2852101586" sldId="431"/>
            <ac:picMk id="1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5D23-057B-43C8-B6B2-AB4345A55EE6}" type="datetimeFigureOut">
              <a:rPr lang="es-419" smtClean="0"/>
              <a:t>14/5/2026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77FBC4-7AC6-4C92-8E19-EFEEBBCAC4CF}" type="slidenum">
              <a:rPr lang="es-419" smtClean="0"/>
              <a:t>‹#›</a:t>
            </a:fld>
            <a:endParaRPr lang="es-419"/>
          </a:p>
        </p:txBody>
      </p:sp>
    </p:spTree>
    <p:extLst>
      <p:ext uri="{BB962C8B-B14F-4D97-AF65-F5344CB8AC3E}">
        <p14:creationId xmlns:p14="http://schemas.microsoft.com/office/powerpoint/2010/main" val="944039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a:p>
        </p:txBody>
      </p:sp>
      <p:sp>
        <p:nvSpPr>
          <p:cNvPr id="4" name="Slide Number Placeholder 3"/>
          <p:cNvSpPr>
            <a:spLocks noGrp="1"/>
          </p:cNvSpPr>
          <p:nvPr>
            <p:ph type="sldNum" sz="quarter" idx="5"/>
          </p:nvPr>
        </p:nvSpPr>
        <p:spPr/>
        <p:txBody>
          <a:bodyPr/>
          <a:lstStyle/>
          <a:p>
            <a:fld id="{C56062D9-B221-42A2-B1F2-BE4896C1134F}" type="slidenum">
              <a:rPr lang="es-CO" smtClean="0"/>
              <a:t>4</a:t>
            </a:fld>
            <a:endParaRPr lang="es-CO"/>
          </a:p>
        </p:txBody>
      </p:sp>
    </p:spTree>
    <p:extLst>
      <p:ext uri="{BB962C8B-B14F-4D97-AF65-F5344CB8AC3E}">
        <p14:creationId xmlns:p14="http://schemas.microsoft.com/office/powerpoint/2010/main" val="2529940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18A3A-85F2-91AE-BDC3-2096BFB148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8CA6D-D427-632C-3766-824BEDF1B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E8A4B-B648-7FA9-A63B-0EB994BD6355}"/>
              </a:ext>
            </a:extLst>
          </p:cNvPr>
          <p:cNvSpPr>
            <a:spLocks noGrp="1"/>
          </p:cNvSpPr>
          <p:nvPr>
            <p:ph type="body" idx="1"/>
          </p:nvPr>
        </p:nvSpPr>
        <p:spPr/>
        <p:txBody>
          <a:bodyPr/>
          <a:lstStyle/>
          <a:p>
            <a:endParaRPr lang="es-CO"/>
          </a:p>
        </p:txBody>
      </p:sp>
      <p:sp>
        <p:nvSpPr>
          <p:cNvPr id="4" name="Slide Number Placeholder 3">
            <a:extLst>
              <a:ext uri="{FF2B5EF4-FFF2-40B4-BE49-F238E27FC236}">
                <a16:creationId xmlns:a16="http://schemas.microsoft.com/office/drawing/2014/main" id="{2D8D8366-396D-800B-ED49-0F22AF4E0435}"/>
              </a:ext>
            </a:extLst>
          </p:cNvPr>
          <p:cNvSpPr>
            <a:spLocks noGrp="1"/>
          </p:cNvSpPr>
          <p:nvPr>
            <p:ph type="sldNum" sz="quarter" idx="5"/>
          </p:nvPr>
        </p:nvSpPr>
        <p:spPr/>
        <p:txBody>
          <a:bodyPr/>
          <a:lstStyle/>
          <a:p>
            <a:fld id="{C56062D9-B221-42A2-B1F2-BE4896C1134F}" type="slidenum">
              <a:rPr lang="es-CO" smtClean="0"/>
              <a:t>5</a:t>
            </a:fld>
            <a:endParaRPr lang="es-CO"/>
          </a:p>
        </p:txBody>
      </p:sp>
    </p:spTree>
    <p:extLst>
      <p:ext uri="{BB962C8B-B14F-4D97-AF65-F5344CB8AC3E}">
        <p14:creationId xmlns:p14="http://schemas.microsoft.com/office/powerpoint/2010/main" val="2063164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a:t>Las variables de estado </a:t>
            </a:r>
            <a:r>
              <a:rPr lang="es-CO" sz="1200" b="0" i="0" u="none" strike="noStrike" kern="1200" baseline="0">
                <a:solidFill>
                  <a:schemeClr val="tx1"/>
                </a:solidFill>
                <a:latin typeface="+mn-lt"/>
                <a:ea typeface="+mn-ea"/>
                <a:cs typeface="+mn-cs"/>
              </a:rPr>
              <a:t>no necesitan ser cantidades físicamente medibles u observables. Pero, en la práctica, es conveniente seleccionar como variables de estado a cantidades que sean fácilmente medibles. </a:t>
            </a:r>
            <a:endParaRPr lang="es-CO"/>
          </a:p>
        </p:txBody>
      </p:sp>
      <p:sp>
        <p:nvSpPr>
          <p:cNvPr id="4" name="Espaço Reservado para Número de Slide 3"/>
          <p:cNvSpPr>
            <a:spLocks noGrp="1"/>
          </p:cNvSpPr>
          <p:nvPr>
            <p:ph type="sldNum" sz="quarter" idx="10"/>
          </p:nvPr>
        </p:nvSpPr>
        <p:spPr/>
        <p:txBody>
          <a:bodyPr/>
          <a:lstStyle/>
          <a:p>
            <a:fld id="{6860CFE7-B0CA-4258-98BA-8EC52A3B3895}" type="slidenum">
              <a:rPr lang="es-CO" smtClean="0"/>
              <a:t>9</a:t>
            </a:fld>
            <a:endParaRPr lang="es-CO"/>
          </a:p>
        </p:txBody>
      </p:sp>
    </p:spTree>
    <p:extLst>
      <p:ext uri="{BB962C8B-B14F-4D97-AF65-F5344CB8AC3E}">
        <p14:creationId xmlns:p14="http://schemas.microsoft.com/office/powerpoint/2010/main" val="178445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a:t>Nota: No toda función de transferencia es realizable. Por ejemplo sistemas </a:t>
            </a:r>
            <a:r>
              <a:rPr lang="es-CO" err="1"/>
              <a:t>com</a:t>
            </a:r>
            <a:r>
              <a:rPr lang="es-CO"/>
              <a:t> Retardo.</a:t>
            </a:r>
          </a:p>
          <a:p>
            <a:endParaRPr lang="es-CO"/>
          </a:p>
        </p:txBody>
      </p:sp>
      <p:sp>
        <p:nvSpPr>
          <p:cNvPr id="4" name="Espaço Reservado para Número de Slide 3"/>
          <p:cNvSpPr>
            <a:spLocks noGrp="1"/>
          </p:cNvSpPr>
          <p:nvPr>
            <p:ph type="sldNum" sz="quarter" idx="10"/>
          </p:nvPr>
        </p:nvSpPr>
        <p:spPr/>
        <p:txBody>
          <a:bodyPr/>
          <a:lstStyle/>
          <a:p>
            <a:fld id="{6D21945C-C17E-422F-90CB-A3CEE3D30C04}" type="slidenum">
              <a:rPr lang="es-CO" smtClean="0"/>
              <a:t>27</a:t>
            </a:fld>
            <a:endParaRPr lang="es-CO"/>
          </a:p>
        </p:txBody>
      </p:sp>
    </p:spTree>
    <p:extLst>
      <p:ext uri="{BB962C8B-B14F-4D97-AF65-F5344CB8AC3E}">
        <p14:creationId xmlns:p14="http://schemas.microsoft.com/office/powerpoint/2010/main" val="299869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s-CO"/>
          </a:p>
        </p:txBody>
      </p:sp>
      <p:sp>
        <p:nvSpPr>
          <p:cNvPr id="4" name="Espaço Reservado para Número de Slide 3"/>
          <p:cNvSpPr>
            <a:spLocks noGrp="1"/>
          </p:cNvSpPr>
          <p:nvPr>
            <p:ph type="sldNum" sz="quarter" idx="10"/>
          </p:nvPr>
        </p:nvSpPr>
        <p:spPr/>
        <p:txBody>
          <a:bodyPr/>
          <a:lstStyle/>
          <a:p>
            <a:fld id="{CC0567CF-7368-4181-B42E-3A19A9A222AB}" type="slidenum">
              <a:rPr lang="es-CO" smtClean="0"/>
              <a:t>28</a:t>
            </a:fld>
            <a:endParaRPr lang="es-CO"/>
          </a:p>
        </p:txBody>
      </p:sp>
    </p:spTree>
    <p:extLst>
      <p:ext uri="{BB962C8B-B14F-4D97-AF65-F5344CB8AC3E}">
        <p14:creationId xmlns:p14="http://schemas.microsoft.com/office/powerpoint/2010/main" val="3116841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O"/>
          </a:p>
        </p:txBody>
      </p:sp>
      <p:sp>
        <p:nvSpPr>
          <p:cNvPr id="4" name="Slide Number Placeholder 3"/>
          <p:cNvSpPr>
            <a:spLocks noGrp="1"/>
          </p:cNvSpPr>
          <p:nvPr>
            <p:ph type="sldNum" sz="quarter" idx="5"/>
          </p:nvPr>
        </p:nvSpPr>
        <p:spPr/>
        <p:txBody>
          <a:bodyPr/>
          <a:lstStyle/>
          <a:p>
            <a:fld id="{3A77FBC4-7AC6-4C92-8E19-EFEEBBCAC4CF}" type="slidenum">
              <a:rPr lang="es-419" smtClean="0"/>
              <a:t>33</a:t>
            </a:fld>
            <a:endParaRPr lang="es-419"/>
          </a:p>
        </p:txBody>
      </p:sp>
    </p:spTree>
    <p:extLst>
      <p:ext uri="{BB962C8B-B14F-4D97-AF65-F5344CB8AC3E}">
        <p14:creationId xmlns:p14="http://schemas.microsoft.com/office/powerpoint/2010/main" val="4163052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sz="1200" b="0" i="0" u="none" strike="noStrike" kern="1200" baseline="0">
                <a:solidFill>
                  <a:schemeClr val="tx1"/>
                </a:solidFill>
                <a:latin typeface="+mn-lt"/>
                <a:ea typeface="+mn-ea"/>
                <a:cs typeface="+mn-cs"/>
              </a:rPr>
              <a:t>la </a:t>
            </a:r>
            <a:r>
              <a:rPr lang="es-CO" sz="1200" b="0" i="0" u="none" strike="noStrike" kern="1200" baseline="0" err="1">
                <a:solidFill>
                  <a:schemeClr val="tx1"/>
                </a:solidFill>
                <a:latin typeface="+mn-lt"/>
                <a:ea typeface="+mn-ea"/>
                <a:cs typeface="+mn-cs"/>
              </a:rPr>
              <a:t>controlabilidad</a:t>
            </a:r>
            <a:r>
              <a:rPr lang="es-CO" sz="1200" b="0" i="0" u="none" strike="noStrike" kern="1200" baseline="0">
                <a:solidFill>
                  <a:schemeClr val="tx1"/>
                </a:solidFill>
                <a:latin typeface="+mn-lt"/>
                <a:ea typeface="+mn-ea"/>
                <a:cs typeface="+mn-cs"/>
              </a:rPr>
              <a:t> completa del estado depende sólo de la variación del estado con las entradas es decir, de las matrices A y  B de la ecuación 2.1 </a:t>
            </a:r>
            <a:endParaRPr lang="es-CO"/>
          </a:p>
        </p:txBody>
      </p:sp>
      <p:sp>
        <p:nvSpPr>
          <p:cNvPr id="4" name="Espaço Reservado para Número de Slide 3"/>
          <p:cNvSpPr>
            <a:spLocks noGrp="1"/>
          </p:cNvSpPr>
          <p:nvPr>
            <p:ph type="sldNum" sz="quarter" idx="10"/>
          </p:nvPr>
        </p:nvSpPr>
        <p:spPr/>
        <p:txBody>
          <a:bodyPr/>
          <a:lstStyle/>
          <a:p>
            <a:fld id="{FBD3E30E-8345-4183-A6E8-4AD50A5D6BE0}" type="slidenum">
              <a:rPr lang="es-CO" smtClean="0"/>
              <a:t>34</a:t>
            </a:fld>
            <a:endParaRPr lang="es-CO"/>
          </a:p>
        </p:txBody>
      </p:sp>
    </p:spTree>
    <p:extLst>
      <p:ext uri="{BB962C8B-B14F-4D97-AF65-F5344CB8AC3E}">
        <p14:creationId xmlns:p14="http://schemas.microsoft.com/office/powerpoint/2010/main" val="3083455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sz="1200" b="0" i="0" u="none" strike="noStrike" kern="1200" baseline="0">
                <a:solidFill>
                  <a:schemeClr val="tx1"/>
                </a:solidFill>
                <a:latin typeface="+mn-lt"/>
                <a:ea typeface="+mn-ea"/>
                <a:cs typeface="+mn-cs"/>
              </a:rPr>
              <a:t>la </a:t>
            </a:r>
            <a:r>
              <a:rPr lang="es-CO" sz="1200" b="0" i="0" u="none" strike="noStrike" kern="1200" baseline="0" err="1">
                <a:solidFill>
                  <a:schemeClr val="tx1"/>
                </a:solidFill>
                <a:latin typeface="+mn-lt"/>
                <a:ea typeface="+mn-ea"/>
                <a:cs typeface="+mn-cs"/>
              </a:rPr>
              <a:t>controlabilidad</a:t>
            </a:r>
            <a:r>
              <a:rPr lang="es-CO" sz="1200" b="0" i="0" u="none" strike="noStrike" kern="1200" baseline="0">
                <a:solidFill>
                  <a:schemeClr val="tx1"/>
                </a:solidFill>
                <a:latin typeface="+mn-lt"/>
                <a:ea typeface="+mn-ea"/>
                <a:cs typeface="+mn-cs"/>
              </a:rPr>
              <a:t> completa del estado depende sólo de la variación del estado con las entradas es decir, de las matrices A y  B de la ecuación 2.1 </a:t>
            </a:r>
            <a:endParaRPr lang="es-CO"/>
          </a:p>
        </p:txBody>
      </p:sp>
      <p:sp>
        <p:nvSpPr>
          <p:cNvPr id="4" name="Espaço Reservado para Número de Slide 3"/>
          <p:cNvSpPr>
            <a:spLocks noGrp="1"/>
          </p:cNvSpPr>
          <p:nvPr>
            <p:ph type="sldNum" sz="quarter" idx="10"/>
          </p:nvPr>
        </p:nvSpPr>
        <p:spPr/>
        <p:txBody>
          <a:bodyPr/>
          <a:lstStyle/>
          <a:p>
            <a:fld id="{FBD3E30E-8345-4183-A6E8-4AD50A5D6BE0}" type="slidenum">
              <a:rPr lang="es-CO" smtClean="0"/>
              <a:t>35</a:t>
            </a:fld>
            <a:endParaRPr lang="es-CO"/>
          </a:p>
        </p:txBody>
      </p:sp>
    </p:spTree>
    <p:extLst>
      <p:ext uri="{BB962C8B-B14F-4D97-AF65-F5344CB8AC3E}">
        <p14:creationId xmlns:p14="http://schemas.microsoft.com/office/powerpoint/2010/main" val="995643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sz="1200" b="0" i="0" u="none" strike="noStrike" kern="1200" baseline="0">
                <a:solidFill>
                  <a:schemeClr val="tx1"/>
                </a:solidFill>
                <a:latin typeface="+mn-lt"/>
                <a:ea typeface="+mn-ea"/>
                <a:cs typeface="+mn-cs"/>
              </a:rPr>
              <a:t>Si </a:t>
            </a:r>
            <a:r>
              <a:rPr lang="es-CO" sz="1200" b="0" i="0" u="none" strike="noStrike" kern="1200" baseline="0" err="1">
                <a:solidFill>
                  <a:schemeClr val="tx1"/>
                </a:solidFill>
                <a:latin typeface="+mn-lt"/>
                <a:ea typeface="+mn-ea"/>
                <a:cs typeface="+mn-cs"/>
              </a:rPr>
              <a:t>Xn</a:t>
            </a:r>
            <a:r>
              <a:rPr lang="es-CO" sz="1200" b="0" i="0" u="none" strike="noStrike" kern="1200" baseline="0">
                <a:solidFill>
                  <a:schemeClr val="tx1"/>
                </a:solidFill>
                <a:latin typeface="+mn-lt"/>
                <a:ea typeface="+mn-ea"/>
                <a:cs typeface="+mn-cs"/>
              </a:rPr>
              <a:t> y X0 son conocidos, podríamos reescribir la ecuación de la siguiente forma</a:t>
            </a:r>
            <a:endParaRPr lang="es-CO"/>
          </a:p>
        </p:txBody>
      </p:sp>
      <p:sp>
        <p:nvSpPr>
          <p:cNvPr id="4" name="Espaço Reservado para Número de Slide 3"/>
          <p:cNvSpPr>
            <a:spLocks noGrp="1"/>
          </p:cNvSpPr>
          <p:nvPr>
            <p:ph type="sldNum" sz="quarter" idx="10"/>
          </p:nvPr>
        </p:nvSpPr>
        <p:spPr/>
        <p:txBody>
          <a:bodyPr/>
          <a:lstStyle/>
          <a:p>
            <a:fld id="{FBD3E30E-8345-4183-A6E8-4AD50A5D6BE0}" type="slidenum">
              <a:rPr lang="es-CO" smtClean="0"/>
              <a:t>36</a:t>
            </a:fld>
            <a:endParaRPr lang="es-CO"/>
          </a:p>
        </p:txBody>
      </p:sp>
    </p:spTree>
    <p:extLst>
      <p:ext uri="{BB962C8B-B14F-4D97-AF65-F5344CB8AC3E}">
        <p14:creationId xmlns:p14="http://schemas.microsoft.com/office/powerpoint/2010/main" val="2652813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s-CO" sz="1200" b="0" i="0" u="none" strike="noStrike" kern="1200" baseline="0">
                <a:solidFill>
                  <a:schemeClr val="tx1"/>
                </a:solidFill>
                <a:latin typeface="+mn-lt"/>
                <a:ea typeface="+mn-ea"/>
                <a:cs typeface="+mn-cs"/>
              </a:rPr>
              <a:t>En muchas ocasiones no es posible medir directamente el estado de un sistema ya sea porque no existen los sensores necesarios o porque algunas de las variables de estado no tienen correspondencia con magnitudes físicas. En este caso, no sería posible establecer una estrategia de control basada en los valores alcanzados por las variables de estado. </a:t>
            </a:r>
            <a:endParaRPr lang="es-CO"/>
          </a:p>
        </p:txBody>
      </p:sp>
      <p:sp>
        <p:nvSpPr>
          <p:cNvPr id="4" name="Espaço Reservado para Número de Slide 3"/>
          <p:cNvSpPr>
            <a:spLocks noGrp="1"/>
          </p:cNvSpPr>
          <p:nvPr>
            <p:ph type="sldNum" sz="quarter" idx="10"/>
          </p:nvPr>
        </p:nvSpPr>
        <p:spPr/>
        <p:txBody>
          <a:bodyPr/>
          <a:lstStyle/>
          <a:p>
            <a:fld id="{FBD3E30E-8345-4183-A6E8-4AD50A5D6BE0}" type="slidenum">
              <a:rPr lang="es-CO" smtClean="0"/>
              <a:t>39</a:t>
            </a:fld>
            <a:endParaRPr lang="es-CO"/>
          </a:p>
        </p:txBody>
      </p:sp>
    </p:spTree>
    <p:extLst>
      <p:ext uri="{BB962C8B-B14F-4D97-AF65-F5344CB8AC3E}">
        <p14:creationId xmlns:p14="http://schemas.microsoft.com/office/powerpoint/2010/main" val="3385377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3419586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4285677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3432668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Vemos que, en este caso, la ganancia $k$ aparece en el polinomio del denominador (función característica) por lo tanto ahora esa ganancia tiene la capacidad de poder alterar los polos del sistema.</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1625458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este caso PARTICULAR, notemos que la ganancia $k$ para este sistema solo afectaría el coeficiente del medio del sistema en lazo abierto ($a_1$), sin embargo, no afecta el tercer coeficiente ($a_2$).Esto quiere decir que simplemente alterando el parámetro $k$, no hay posibilidad de escoger la ecuación característica del sistema, dado a que solo contamos con UN SOLO grado de libertad $k$ para modificar este comportamiento y tenemos en este caso 2 coeficientes que deben ser alterados.</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1244404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Podremos partir de la suposición que tuvo Rudolf Kalman en su articulo de 1960, donde aplica que el principio propuesto por Richard </a:t>
            </a:r>
            <a:r>
              <a:rPr lang="es-ES" err="1"/>
              <a:t>Bellman</a:t>
            </a:r>
            <a:r>
              <a:rPr lang="es-ES"/>
              <a:t>, que en 1950 dijo que las entradas del sistema deben ser computadas usando el vector de </a:t>
            </a:r>
            <a:r>
              <a:rPr lang="es-ES" err="1"/>
              <a:t>estados.Kalman</a:t>
            </a:r>
            <a:r>
              <a:rPr lang="es-ES"/>
              <a:t>  partió de esta idea para la ley de control como una función del estado:$u(t)=x(\</a:t>
            </a:r>
            <a:r>
              <a:rPr lang="es-ES" err="1"/>
              <a:t>vec</a:t>
            </a:r>
            <a:r>
              <a:rPr lang="es-ES"/>
              <a:t>{x}(t),t)$entonces comenzó realizando unas </a:t>
            </a:r>
            <a:r>
              <a:rPr lang="es-ES" err="1"/>
              <a:t>supociciones</a:t>
            </a:r>
            <a:r>
              <a:rPr lang="es-ES"/>
              <a:t> donde la función no dependería del tiempo y que podría ser una función lineal , donde para indicar la realimentación negativa se coloca el menos al frente de $k$:</a:t>
            </a:r>
          </a:p>
          <a:p>
            <a:endParaRPr lang="es-ES"/>
          </a:p>
          <a:p>
            <a:r>
              <a:rPr lang="es-ES"/>
              <a:t>De esa forma al realizar el producto entre una fila y una columna </a:t>
            </a:r>
            <a:r>
              <a:rPr lang="es-ES" err="1"/>
              <a:t>obtenermos</a:t>
            </a:r>
            <a:r>
              <a:rPr lang="es-ES"/>
              <a:t> un escalar (ley de control) para el caso SISO.</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648574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Podremos partir de la suposición que tuvo Rudolf Kalman en su articulo de 1960, donde aplica que el principio propuesto por Richard </a:t>
            </a:r>
            <a:r>
              <a:rPr lang="es-ES" err="1"/>
              <a:t>Bellman</a:t>
            </a:r>
            <a:r>
              <a:rPr lang="es-ES"/>
              <a:t>, que en 1950 dijo que las entradas del sistema deben ser computadas usando el vector de </a:t>
            </a:r>
            <a:r>
              <a:rPr lang="es-ES" err="1"/>
              <a:t>estados.Kalman</a:t>
            </a:r>
            <a:r>
              <a:rPr lang="es-ES"/>
              <a:t>  partió de esta idea para la ley de control como una función del estado:$u(t)=x(\</a:t>
            </a:r>
            <a:r>
              <a:rPr lang="es-ES" err="1"/>
              <a:t>vec</a:t>
            </a:r>
            <a:r>
              <a:rPr lang="es-ES"/>
              <a:t>{x}(t),t)$entonces comenzó realizando unas </a:t>
            </a:r>
            <a:r>
              <a:rPr lang="es-ES" err="1"/>
              <a:t>supociciones</a:t>
            </a:r>
            <a:r>
              <a:rPr lang="es-ES"/>
              <a:t> donde la función no dependería del tiempo y que podría ser una función lineal , donde para indicar la realimentación negativa se coloca el menos al frente de $k$:</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31301720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Si comparamos esto con el primer ejemplo, vamos a notar inicialmente que en lugar de realimentar la salida del sistema, si se realimenta los estados y con eso, en lugar de tener una única ganancia $k$, ahora pasamos a tener un vector de ganancias $</a:t>
            </a:r>
            <a:r>
              <a:rPr lang="es-ES" err="1"/>
              <a:t>k$.De</a:t>
            </a:r>
            <a:r>
              <a:rPr lang="es-ES"/>
              <a:t> esa forma, se vuelve factible poder modificar las $n$ raíces de la ecuación característica de nuestra función de transferencia.</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6994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1870564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Para el caso de la controlabilidad del sistema tenemos que si el par $(\</a:t>
            </a:r>
            <a:r>
              <a:rPr lang="es-ES" err="1"/>
              <a:t>mathbf</a:t>
            </a:r>
            <a:r>
              <a:rPr lang="es-ES"/>
              <a:t>{A}-\</a:t>
            </a:r>
            <a:r>
              <a:rPr lang="es-ES" err="1"/>
              <a:t>vec</a:t>
            </a:r>
            <a:r>
              <a:rPr lang="es-ES"/>
              <a:t>{b}</a:t>
            </a:r>
            <a:r>
              <a:rPr lang="es-ES" err="1"/>
              <a:t>k,b</a:t>
            </a:r>
            <a:r>
              <a:rPr lang="es-ES"/>
              <a:t>)$ es controlable si y solamente si el par $(\</a:t>
            </a:r>
            <a:r>
              <a:rPr lang="es-ES" err="1"/>
              <a:t>mathbf</a:t>
            </a:r>
            <a:r>
              <a:rPr lang="es-ES"/>
              <a:t>{A},\</a:t>
            </a:r>
            <a:r>
              <a:rPr lang="es-ES" err="1"/>
              <a:t>vec</a:t>
            </a:r>
            <a:r>
              <a:rPr lang="es-ES"/>
              <a:t>{b})$ es controlable.</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600136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a:t>Con la siguiente ley de control, vamos a cancelar el cero en el origen que se puede observar en la función de transferencia anterior, para la respuesta en lazo cerrado del sistema:</a:t>
            </a:r>
          </a:p>
          <a:p>
            <a:endParaRPr lang="es-ES"/>
          </a:p>
          <a:p>
            <a:endParaRPr lang="es-ES"/>
          </a:p>
          <a:p>
            <a:r>
              <a:rPr lang="es-ES"/>
              <a:t>Veamos que los autovalores del sistema anterior, con esa ley de control, ubican un autovalor en cero, que tendrá eventualmente un </a:t>
            </a:r>
            <a:r>
              <a:rPr lang="es-ES" err="1"/>
              <a:t>cancelamiento</a:t>
            </a:r>
            <a:r>
              <a:rPr lang="es-ES"/>
              <a:t>:</a:t>
            </a:r>
          </a:p>
          <a:p>
            <a:endParaRPr lang="es-ES"/>
          </a:p>
          <a:p>
            <a:r>
              <a:rPr lang="es-ES"/>
              <a:t>Dado que el rango es diferente a la dimensión, se comprueba que para la ley de control seleccionada, el sistema no conserva la observabilidad.</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2462584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Observemos que la primera fila de la matriz A de la FCC pertenece a la ecuación característica del sistema (denominador de la función de transferencia en caso de ser controlable), donde recordemos que la ecuación característica es la encargada de definir los autovalores.</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4062987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 lo anterior comprobamos que los autovalores de la FCC son iguales a la ecuación característica del sistema, por lo tanto si se desea modificar la posición de los polos o los autovalores </a:t>
            </a:r>
            <a:r>
              <a:rPr lang="es-ES" err="1"/>
              <a:t>unicamente</a:t>
            </a:r>
            <a:r>
              <a:rPr lang="es-ES"/>
              <a:t> necesitamos modificar la primera fila de la matriz A del sistema FCC.</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462202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Note que las ganancias k aparecen en todos los </a:t>
            </a:r>
            <a:r>
              <a:rPr lang="es-ES" err="1"/>
              <a:t>terminos</a:t>
            </a:r>
            <a:r>
              <a:rPr lang="es-ES"/>
              <a:t> de la primera fila de la nueva matriz A de lazo cerrado del sistema.</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679980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Note que las ganancias k aparecen en todos los </a:t>
            </a:r>
            <a:r>
              <a:rPr lang="es-ES" err="1"/>
              <a:t>terminos</a:t>
            </a:r>
            <a:r>
              <a:rPr lang="es-ES"/>
              <a:t> de la primera fila de la nueva matriz A de lazo cerrado del sistema.</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725210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Note que las ganancias k aparecen en todos los </a:t>
            </a:r>
            <a:r>
              <a:rPr lang="es-ES" err="1"/>
              <a:t>terminos</a:t>
            </a:r>
            <a:r>
              <a:rPr lang="es-ES"/>
              <a:t> de la primera fila de la nueva matriz A de lazo cerrado del sistema.</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657862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Note que las ganancias k aparecen en todos los </a:t>
            </a:r>
            <a:r>
              <a:rPr lang="es-ES" err="1"/>
              <a:t>terminos</a:t>
            </a:r>
            <a:r>
              <a:rPr lang="es-ES"/>
              <a:t> de la primera fila de la nueva matriz A de lazo cerrado del sistema.</a:t>
            </a:r>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28825340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rtl="0"/>
            <a:fld id="{01F2A70B-78F2-4DCF-B53B-C990D2FAFB8A}" type="slidenum">
              <a:rPr lang="es-ES" noProof="0" smtClean="0"/>
              <a:t>66</a:t>
            </a:fld>
            <a:endParaRPr lang="es-ES" noProof="0"/>
          </a:p>
        </p:txBody>
      </p:sp>
    </p:spTree>
    <p:extLst>
      <p:ext uri="{BB962C8B-B14F-4D97-AF65-F5344CB8AC3E}">
        <p14:creationId xmlns:p14="http://schemas.microsoft.com/office/powerpoint/2010/main" val="3986400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rtl="0"/>
            <a:fld id="{01F2A70B-78F2-4DCF-B53B-C990D2FAFB8A}" type="slidenum">
              <a:rPr lang="es-ES" noProof="0" smtClean="0"/>
              <a:t>67</a:t>
            </a:fld>
            <a:endParaRPr lang="es-ES" noProof="0"/>
          </a:p>
        </p:txBody>
      </p:sp>
    </p:spTree>
    <p:extLst>
      <p:ext uri="{BB962C8B-B14F-4D97-AF65-F5344CB8AC3E}">
        <p14:creationId xmlns:p14="http://schemas.microsoft.com/office/powerpoint/2010/main" val="2125941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rtl="0"/>
            <a:fld id="{01F2A70B-78F2-4DCF-B53B-C990D2FAFB8A}" type="slidenum">
              <a:rPr lang="es-ES" noProof="0" smtClean="0"/>
              <a:t>68</a:t>
            </a:fld>
            <a:endParaRPr lang="es-ES" noProof="0"/>
          </a:p>
        </p:txBody>
      </p:sp>
    </p:spTree>
    <p:extLst>
      <p:ext uri="{BB962C8B-B14F-4D97-AF65-F5344CB8AC3E}">
        <p14:creationId xmlns:p14="http://schemas.microsoft.com/office/powerpoint/2010/main" val="41922088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rtl="0"/>
            <a:fld id="{01F2A70B-78F2-4DCF-B53B-C990D2FAFB8A}" type="slidenum">
              <a:rPr lang="es-ES" noProof="0" smtClean="0"/>
              <a:t>74</a:t>
            </a:fld>
            <a:endParaRPr lang="es-ES" noProof="0"/>
          </a:p>
        </p:txBody>
      </p:sp>
    </p:spTree>
    <p:extLst>
      <p:ext uri="{BB962C8B-B14F-4D97-AF65-F5344CB8AC3E}">
        <p14:creationId xmlns:p14="http://schemas.microsoft.com/office/powerpoint/2010/main" val="17685300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F2A70B-78F2-4DCF-B53B-C990D2FAFB8A}" type="slidenum">
              <a:rPr kumimoji="0" lang="es-ES" sz="1200" b="0" i="0" u="none" strike="noStrike" kern="1200" cap="none" spc="0" normalizeH="0" baseline="0" noProof="0" smtClean="0">
                <a:ln>
                  <a:noFill/>
                </a:ln>
                <a:solidFill>
                  <a:prstClr val="black"/>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s-ES" sz="1200" b="0" i="0" u="none" strike="noStrike" kern="1200" cap="none" spc="0" normalizeH="0" baseline="0" noProof="0">
              <a:ln>
                <a:noFill/>
              </a:ln>
              <a:solidFill>
                <a:prstClr val="black"/>
              </a:solidFill>
              <a:effectLst/>
              <a:uLnTx/>
              <a:uFillTx/>
              <a:latin typeface="Corbel"/>
              <a:ea typeface="+mn-ea"/>
              <a:cs typeface="+mn-cs"/>
            </a:endParaRPr>
          </a:p>
        </p:txBody>
      </p:sp>
    </p:spTree>
    <p:extLst>
      <p:ext uri="{BB962C8B-B14F-4D97-AF65-F5344CB8AC3E}">
        <p14:creationId xmlns:p14="http://schemas.microsoft.com/office/powerpoint/2010/main" val="2125941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D5F429-2E65-A2A5-646C-47A7DF6421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ítulo 2">
            <a:extLst>
              <a:ext uri="{FF2B5EF4-FFF2-40B4-BE49-F238E27FC236}">
                <a16:creationId xmlns:a16="http://schemas.microsoft.com/office/drawing/2014/main" id="{2D75C68E-E6EF-2642-9242-4CAB37351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Marcador de fecha 3">
            <a:extLst>
              <a:ext uri="{FF2B5EF4-FFF2-40B4-BE49-F238E27FC236}">
                <a16:creationId xmlns:a16="http://schemas.microsoft.com/office/drawing/2014/main" id="{87F52098-5DEF-125E-910A-298060A657A1}"/>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5" name="Marcador de pie de página 4">
            <a:extLst>
              <a:ext uri="{FF2B5EF4-FFF2-40B4-BE49-F238E27FC236}">
                <a16:creationId xmlns:a16="http://schemas.microsoft.com/office/drawing/2014/main" id="{37EE8CD5-2075-F0BD-B809-BA1614C33EDF}"/>
              </a:ext>
            </a:extLst>
          </p:cNvPr>
          <p:cNvSpPr>
            <a:spLocks noGrp="1"/>
          </p:cNvSpPr>
          <p:nvPr>
            <p:ph type="ftr" sz="quarter" idx="11"/>
          </p:nvPr>
        </p:nvSpPr>
        <p:spPr/>
        <p:txBody>
          <a:bodyPr/>
          <a:lstStyle/>
          <a:p>
            <a:endParaRPr lang="pt-BR"/>
          </a:p>
        </p:txBody>
      </p:sp>
      <p:sp>
        <p:nvSpPr>
          <p:cNvPr id="6" name="Marcador de número de diapositiva 5">
            <a:extLst>
              <a:ext uri="{FF2B5EF4-FFF2-40B4-BE49-F238E27FC236}">
                <a16:creationId xmlns:a16="http://schemas.microsoft.com/office/drawing/2014/main" id="{971BA298-5C58-AEC2-0D5F-65DB93DAFE9F}"/>
              </a:ext>
            </a:extLst>
          </p:cNvPr>
          <p:cNvSpPr>
            <a:spLocks noGrp="1"/>
          </p:cNvSpPr>
          <p:nvPr>
            <p:ph type="sldNum" sz="quarter" idx="12"/>
          </p:nvPr>
        </p:nvSpPr>
        <p:spPr>
          <a:xfrm>
            <a:off x="8610600" y="6356350"/>
            <a:ext cx="2057400"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396898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E3E7E2-A1DA-5A5F-F04C-B31073F0D3F5}"/>
              </a:ext>
            </a:extLst>
          </p:cNvPr>
          <p:cNvSpPr>
            <a:spLocks noGrp="1"/>
          </p:cNvSpPr>
          <p:nvPr>
            <p:ph type="title"/>
          </p:nvPr>
        </p:nvSpPr>
        <p:spPr/>
        <p:txBody>
          <a:bodyPr/>
          <a:lstStyle/>
          <a:p>
            <a:r>
              <a:rPr lang="en-US"/>
              <a:t>Click to edit Master title style</a:t>
            </a:r>
            <a:endParaRPr lang="pt-BR"/>
          </a:p>
        </p:txBody>
      </p:sp>
      <p:sp>
        <p:nvSpPr>
          <p:cNvPr id="3" name="Marcador de contenido 2">
            <a:extLst>
              <a:ext uri="{FF2B5EF4-FFF2-40B4-BE49-F238E27FC236}">
                <a16:creationId xmlns:a16="http://schemas.microsoft.com/office/drawing/2014/main" id="{DB92BAF2-5DDF-2899-157D-304296D0DC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Marcador de fecha 3">
            <a:extLst>
              <a:ext uri="{FF2B5EF4-FFF2-40B4-BE49-F238E27FC236}">
                <a16:creationId xmlns:a16="http://schemas.microsoft.com/office/drawing/2014/main" id="{C1A72D68-96FB-787B-E01E-C31EAEA4B95D}"/>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5" name="Marcador de pie de página 4">
            <a:extLst>
              <a:ext uri="{FF2B5EF4-FFF2-40B4-BE49-F238E27FC236}">
                <a16:creationId xmlns:a16="http://schemas.microsoft.com/office/drawing/2014/main" id="{DBC65A20-9F1B-3567-C602-C2115B973CB7}"/>
              </a:ext>
            </a:extLst>
          </p:cNvPr>
          <p:cNvSpPr>
            <a:spLocks noGrp="1"/>
          </p:cNvSpPr>
          <p:nvPr>
            <p:ph type="ftr" sz="quarter" idx="11"/>
          </p:nvPr>
        </p:nvSpPr>
        <p:spPr/>
        <p:txBody>
          <a:bodyPr/>
          <a:lstStyle/>
          <a:p>
            <a:endParaRPr lang="pt-BR"/>
          </a:p>
        </p:txBody>
      </p:sp>
      <p:sp>
        <p:nvSpPr>
          <p:cNvPr id="6" name="Marcador de número de diapositiva 5">
            <a:extLst>
              <a:ext uri="{FF2B5EF4-FFF2-40B4-BE49-F238E27FC236}">
                <a16:creationId xmlns:a16="http://schemas.microsoft.com/office/drawing/2014/main" id="{CD3BBFD5-4C22-7CCE-A7ED-B48593DEC000}"/>
              </a:ext>
            </a:extLst>
          </p:cNvPr>
          <p:cNvSpPr>
            <a:spLocks noGrp="1"/>
          </p:cNvSpPr>
          <p:nvPr>
            <p:ph type="sldNum" sz="quarter" idx="12"/>
          </p:nvPr>
        </p:nvSpPr>
        <p:spPr>
          <a:xfrm>
            <a:off x="8610600" y="6356350"/>
            <a:ext cx="2028914"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568797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03FB27-ED85-696B-8635-BDA9D93888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Marcador de texto 2">
            <a:extLst>
              <a:ext uri="{FF2B5EF4-FFF2-40B4-BE49-F238E27FC236}">
                <a16:creationId xmlns:a16="http://schemas.microsoft.com/office/drawing/2014/main" id="{42D96C02-F63C-1D5B-1CDF-6234E7AEBB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Marcador de fecha 3">
            <a:extLst>
              <a:ext uri="{FF2B5EF4-FFF2-40B4-BE49-F238E27FC236}">
                <a16:creationId xmlns:a16="http://schemas.microsoft.com/office/drawing/2014/main" id="{F71ED94D-ACD3-DB06-B641-842F9AB7FB48}"/>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5" name="Marcador de pie de página 4">
            <a:extLst>
              <a:ext uri="{FF2B5EF4-FFF2-40B4-BE49-F238E27FC236}">
                <a16:creationId xmlns:a16="http://schemas.microsoft.com/office/drawing/2014/main" id="{CCF9E86B-A5DB-70B9-7672-56BC1BDD26A2}"/>
              </a:ext>
            </a:extLst>
          </p:cNvPr>
          <p:cNvSpPr>
            <a:spLocks noGrp="1"/>
          </p:cNvSpPr>
          <p:nvPr>
            <p:ph type="ftr" sz="quarter" idx="11"/>
          </p:nvPr>
        </p:nvSpPr>
        <p:spPr/>
        <p:txBody>
          <a:bodyPr/>
          <a:lstStyle/>
          <a:p>
            <a:endParaRPr lang="pt-BR"/>
          </a:p>
        </p:txBody>
      </p:sp>
      <p:sp>
        <p:nvSpPr>
          <p:cNvPr id="6" name="Marcador de número de diapositiva 5">
            <a:extLst>
              <a:ext uri="{FF2B5EF4-FFF2-40B4-BE49-F238E27FC236}">
                <a16:creationId xmlns:a16="http://schemas.microsoft.com/office/drawing/2014/main" id="{81FDF003-B456-5670-189F-3BE24EE67A87}"/>
              </a:ext>
            </a:extLst>
          </p:cNvPr>
          <p:cNvSpPr>
            <a:spLocks noGrp="1"/>
          </p:cNvSpPr>
          <p:nvPr>
            <p:ph type="sldNum" sz="quarter" idx="12"/>
          </p:nvPr>
        </p:nvSpPr>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915713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E3919A-FAE6-A557-2DDD-C6C5EEE08DB7}"/>
              </a:ext>
            </a:extLst>
          </p:cNvPr>
          <p:cNvSpPr>
            <a:spLocks noGrp="1"/>
          </p:cNvSpPr>
          <p:nvPr>
            <p:ph type="title"/>
          </p:nvPr>
        </p:nvSpPr>
        <p:spPr/>
        <p:txBody>
          <a:bodyPr/>
          <a:lstStyle/>
          <a:p>
            <a:r>
              <a:rPr lang="en-US"/>
              <a:t>Click to edit Master title style</a:t>
            </a:r>
            <a:endParaRPr lang="pt-BR"/>
          </a:p>
        </p:txBody>
      </p:sp>
      <p:sp>
        <p:nvSpPr>
          <p:cNvPr id="3" name="Marcador de contenido 2">
            <a:extLst>
              <a:ext uri="{FF2B5EF4-FFF2-40B4-BE49-F238E27FC236}">
                <a16:creationId xmlns:a16="http://schemas.microsoft.com/office/drawing/2014/main" id="{6C866818-E6E6-BF92-3D8A-88B290EAD7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Marcador de contenido 3">
            <a:extLst>
              <a:ext uri="{FF2B5EF4-FFF2-40B4-BE49-F238E27FC236}">
                <a16:creationId xmlns:a16="http://schemas.microsoft.com/office/drawing/2014/main" id="{EC7D1F06-8BE0-2F73-9ABE-21F8392C07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Marcador de fecha 4">
            <a:extLst>
              <a:ext uri="{FF2B5EF4-FFF2-40B4-BE49-F238E27FC236}">
                <a16:creationId xmlns:a16="http://schemas.microsoft.com/office/drawing/2014/main" id="{812F93F9-BB7D-2760-5B81-6AE2B0F29885}"/>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6" name="Marcador de pie de página 5">
            <a:extLst>
              <a:ext uri="{FF2B5EF4-FFF2-40B4-BE49-F238E27FC236}">
                <a16:creationId xmlns:a16="http://schemas.microsoft.com/office/drawing/2014/main" id="{97836E06-4439-0922-979B-3F77C3EB85FB}"/>
              </a:ext>
            </a:extLst>
          </p:cNvPr>
          <p:cNvSpPr>
            <a:spLocks noGrp="1"/>
          </p:cNvSpPr>
          <p:nvPr>
            <p:ph type="ftr" sz="quarter" idx="11"/>
          </p:nvPr>
        </p:nvSpPr>
        <p:spPr/>
        <p:txBody>
          <a:bodyPr/>
          <a:lstStyle/>
          <a:p>
            <a:endParaRPr lang="pt-BR"/>
          </a:p>
        </p:txBody>
      </p:sp>
      <p:sp>
        <p:nvSpPr>
          <p:cNvPr id="7" name="Marcador de número de diapositiva 6">
            <a:extLst>
              <a:ext uri="{FF2B5EF4-FFF2-40B4-BE49-F238E27FC236}">
                <a16:creationId xmlns:a16="http://schemas.microsoft.com/office/drawing/2014/main" id="{609CD1D3-7606-E3F1-CA8C-7B043A17F9DF}"/>
              </a:ext>
            </a:extLst>
          </p:cNvPr>
          <p:cNvSpPr>
            <a:spLocks noGrp="1"/>
          </p:cNvSpPr>
          <p:nvPr>
            <p:ph type="sldNum" sz="quarter" idx="12"/>
          </p:nvPr>
        </p:nvSpPr>
        <p:spPr>
          <a:xfrm>
            <a:off x="8610600" y="6356350"/>
            <a:ext cx="1959074"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1654264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6BDEC-5854-0421-B33F-BFC527E6CF8C}"/>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Marcador de texto 2">
            <a:extLst>
              <a:ext uri="{FF2B5EF4-FFF2-40B4-BE49-F238E27FC236}">
                <a16:creationId xmlns:a16="http://schemas.microsoft.com/office/drawing/2014/main" id="{0D948E72-1405-EB95-5E2D-C4AC9C0807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Marcador de contenido 3">
            <a:extLst>
              <a:ext uri="{FF2B5EF4-FFF2-40B4-BE49-F238E27FC236}">
                <a16:creationId xmlns:a16="http://schemas.microsoft.com/office/drawing/2014/main" id="{D286E1B1-3ED5-CB2E-3697-F46630D5B5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Marcador de texto 4">
            <a:extLst>
              <a:ext uri="{FF2B5EF4-FFF2-40B4-BE49-F238E27FC236}">
                <a16:creationId xmlns:a16="http://schemas.microsoft.com/office/drawing/2014/main" id="{2701C4BA-0862-325B-3410-33998F599F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Marcador de contenido 5">
            <a:extLst>
              <a:ext uri="{FF2B5EF4-FFF2-40B4-BE49-F238E27FC236}">
                <a16:creationId xmlns:a16="http://schemas.microsoft.com/office/drawing/2014/main" id="{4A44A766-342D-2D6A-F4DC-7277259657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Marcador de fecha 6">
            <a:extLst>
              <a:ext uri="{FF2B5EF4-FFF2-40B4-BE49-F238E27FC236}">
                <a16:creationId xmlns:a16="http://schemas.microsoft.com/office/drawing/2014/main" id="{8909F5FA-8AF5-1C81-AB3D-6C7EAF6DBD54}"/>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8" name="Marcador de pie de página 7">
            <a:extLst>
              <a:ext uri="{FF2B5EF4-FFF2-40B4-BE49-F238E27FC236}">
                <a16:creationId xmlns:a16="http://schemas.microsoft.com/office/drawing/2014/main" id="{9F1DD451-07F2-49BD-BDA4-97A82333786D}"/>
              </a:ext>
            </a:extLst>
          </p:cNvPr>
          <p:cNvSpPr>
            <a:spLocks noGrp="1"/>
          </p:cNvSpPr>
          <p:nvPr>
            <p:ph type="ftr" sz="quarter" idx="11"/>
          </p:nvPr>
        </p:nvSpPr>
        <p:spPr/>
        <p:txBody>
          <a:bodyPr/>
          <a:lstStyle/>
          <a:p>
            <a:endParaRPr lang="pt-BR"/>
          </a:p>
        </p:txBody>
      </p:sp>
      <p:sp>
        <p:nvSpPr>
          <p:cNvPr id="9" name="Marcador de número de diapositiva 8">
            <a:extLst>
              <a:ext uri="{FF2B5EF4-FFF2-40B4-BE49-F238E27FC236}">
                <a16:creationId xmlns:a16="http://schemas.microsoft.com/office/drawing/2014/main" id="{55199F36-22A3-529D-71B8-D00DCA5033FC}"/>
              </a:ext>
            </a:extLst>
          </p:cNvPr>
          <p:cNvSpPr>
            <a:spLocks noGrp="1"/>
          </p:cNvSpPr>
          <p:nvPr>
            <p:ph type="sldNum" sz="quarter" idx="12"/>
          </p:nvPr>
        </p:nvSpPr>
        <p:spPr>
          <a:xfrm>
            <a:off x="8610600" y="6356350"/>
            <a:ext cx="2020368"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408550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670A2-D11A-70D8-F0B6-4FA0959EA18C}"/>
              </a:ext>
            </a:extLst>
          </p:cNvPr>
          <p:cNvSpPr>
            <a:spLocks noGrp="1"/>
          </p:cNvSpPr>
          <p:nvPr>
            <p:ph type="title"/>
          </p:nvPr>
        </p:nvSpPr>
        <p:spPr/>
        <p:txBody>
          <a:bodyPr/>
          <a:lstStyle/>
          <a:p>
            <a:r>
              <a:rPr lang="en-US"/>
              <a:t>Click to edit Master title style</a:t>
            </a:r>
            <a:endParaRPr lang="pt-BR"/>
          </a:p>
        </p:txBody>
      </p:sp>
      <p:sp>
        <p:nvSpPr>
          <p:cNvPr id="3" name="Marcador de fecha 2">
            <a:extLst>
              <a:ext uri="{FF2B5EF4-FFF2-40B4-BE49-F238E27FC236}">
                <a16:creationId xmlns:a16="http://schemas.microsoft.com/office/drawing/2014/main" id="{363200BD-4E74-7503-3398-F7F9A0CAC298}"/>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4" name="Marcador de pie de página 3">
            <a:extLst>
              <a:ext uri="{FF2B5EF4-FFF2-40B4-BE49-F238E27FC236}">
                <a16:creationId xmlns:a16="http://schemas.microsoft.com/office/drawing/2014/main" id="{B55C098E-38AB-B050-2115-14138DD4798C}"/>
              </a:ext>
            </a:extLst>
          </p:cNvPr>
          <p:cNvSpPr>
            <a:spLocks noGrp="1"/>
          </p:cNvSpPr>
          <p:nvPr>
            <p:ph type="ftr" sz="quarter" idx="11"/>
          </p:nvPr>
        </p:nvSpPr>
        <p:spPr/>
        <p:txBody>
          <a:bodyPr/>
          <a:lstStyle/>
          <a:p>
            <a:endParaRPr lang="pt-BR"/>
          </a:p>
        </p:txBody>
      </p:sp>
      <p:sp>
        <p:nvSpPr>
          <p:cNvPr id="5" name="Marcador de número de diapositiva 4">
            <a:extLst>
              <a:ext uri="{FF2B5EF4-FFF2-40B4-BE49-F238E27FC236}">
                <a16:creationId xmlns:a16="http://schemas.microsoft.com/office/drawing/2014/main" id="{EC235B1C-C7B9-706E-BD3D-7D021AF13F13}"/>
              </a:ext>
            </a:extLst>
          </p:cNvPr>
          <p:cNvSpPr>
            <a:spLocks noGrp="1"/>
          </p:cNvSpPr>
          <p:nvPr>
            <p:ph type="sldNum" sz="quarter" idx="12"/>
          </p:nvPr>
        </p:nvSpPr>
        <p:spPr>
          <a:xfrm>
            <a:off x="8610600" y="6356350"/>
            <a:ext cx="2063097"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30150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D9605C-23A9-A572-387E-CEBFFEB12AB0}"/>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3" name="Marcador de pie de página 2">
            <a:extLst>
              <a:ext uri="{FF2B5EF4-FFF2-40B4-BE49-F238E27FC236}">
                <a16:creationId xmlns:a16="http://schemas.microsoft.com/office/drawing/2014/main" id="{E97807EB-8D27-8E9D-492A-4EFF4FADF055}"/>
              </a:ext>
            </a:extLst>
          </p:cNvPr>
          <p:cNvSpPr>
            <a:spLocks noGrp="1"/>
          </p:cNvSpPr>
          <p:nvPr>
            <p:ph type="ftr" sz="quarter" idx="11"/>
          </p:nvPr>
        </p:nvSpPr>
        <p:spPr/>
        <p:txBody>
          <a:bodyPr/>
          <a:lstStyle/>
          <a:p>
            <a:endParaRPr lang="pt-BR"/>
          </a:p>
        </p:txBody>
      </p:sp>
      <p:sp>
        <p:nvSpPr>
          <p:cNvPr id="4" name="Marcador de número de diapositiva 3">
            <a:extLst>
              <a:ext uri="{FF2B5EF4-FFF2-40B4-BE49-F238E27FC236}">
                <a16:creationId xmlns:a16="http://schemas.microsoft.com/office/drawing/2014/main" id="{BDF77476-549F-30C5-456D-B9E6C557ECCC}"/>
              </a:ext>
            </a:extLst>
          </p:cNvPr>
          <p:cNvSpPr>
            <a:spLocks noGrp="1"/>
          </p:cNvSpPr>
          <p:nvPr>
            <p:ph type="sldNum" sz="quarter" idx="12"/>
          </p:nvPr>
        </p:nvSpPr>
        <p:spPr>
          <a:xfrm>
            <a:off x="8610600" y="6356350"/>
            <a:ext cx="2037460" cy="365125"/>
          </a:xfrm>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219552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42CB46-E99F-EBEC-8A5A-43AABEFAF2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Marcador de contenido 2">
            <a:extLst>
              <a:ext uri="{FF2B5EF4-FFF2-40B4-BE49-F238E27FC236}">
                <a16:creationId xmlns:a16="http://schemas.microsoft.com/office/drawing/2014/main" id="{FFA7BD16-E023-CF7A-5F9A-AC2033F295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Marcador de texto 3">
            <a:extLst>
              <a:ext uri="{FF2B5EF4-FFF2-40B4-BE49-F238E27FC236}">
                <a16:creationId xmlns:a16="http://schemas.microsoft.com/office/drawing/2014/main" id="{6FB5672C-D422-4143-80CA-6AB253364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10DC03FF-72B3-4B87-E679-533E3372D0A0}"/>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6" name="Marcador de pie de página 5">
            <a:extLst>
              <a:ext uri="{FF2B5EF4-FFF2-40B4-BE49-F238E27FC236}">
                <a16:creationId xmlns:a16="http://schemas.microsoft.com/office/drawing/2014/main" id="{08406800-A976-3EA0-DCD1-35E24B086BAA}"/>
              </a:ext>
            </a:extLst>
          </p:cNvPr>
          <p:cNvSpPr>
            <a:spLocks noGrp="1"/>
          </p:cNvSpPr>
          <p:nvPr>
            <p:ph type="ftr" sz="quarter" idx="11"/>
          </p:nvPr>
        </p:nvSpPr>
        <p:spPr/>
        <p:txBody>
          <a:bodyPr/>
          <a:lstStyle/>
          <a:p>
            <a:endParaRPr lang="pt-BR"/>
          </a:p>
        </p:txBody>
      </p:sp>
      <p:sp>
        <p:nvSpPr>
          <p:cNvPr id="7" name="Marcador de número de diapositiva 6">
            <a:extLst>
              <a:ext uri="{FF2B5EF4-FFF2-40B4-BE49-F238E27FC236}">
                <a16:creationId xmlns:a16="http://schemas.microsoft.com/office/drawing/2014/main" id="{A090AE15-2D9F-3311-754B-0132AAB771B1}"/>
              </a:ext>
            </a:extLst>
          </p:cNvPr>
          <p:cNvSpPr>
            <a:spLocks noGrp="1"/>
          </p:cNvSpPr>
          <p:nvPr>
            <p:ph type="sldNum" sz="quarter" idx="12"/>
          </p:nvPr>
        </p:nvSpPr>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1089222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B611DA-140E-2B03-934C-5E00A9D5A3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Marcador de posición de imagen 2">
            <a:extLst>
              <a:ext uri="{FF2B5EF4-FFF2-40B4-BE49-F238E27FC236}">
                <a16:creationId xmlns:a16="http://schemas.microsoft.com/office/drawing/2014/main" id="{925D5FAC-155F-20DA-CF9F-0CC96C1D8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pt-BR"/>
          </a:p>
        </p:txBody>
      </p:sp>
      <p:sp>
        <p:nvSpPr>
          <p:cNvPr id="4" name="Marcador de texto 3">
            <a:extLst>
              <a:ext uri="{FF2B5EF4-FFF2-40B4-BE49-F238E27FC236}">
                <a16:creationId xmlns:a16="http://schemas.microsoft.com/office/drawing/2014/main" id="{EDCBF3A5-368C-CCE9-9A2C-CC3ED15259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Marcador de fecha 4">
            <a:extLst>
              <a:ext uri="{FF2B5EF4-FFF2-40B4-BE49-F238E27FC236}">
                <a16:creationId xmlns:a16="http://schemas.microsoft.com/office/drawing/2014/main" id="{6369C89B-5CED-0315-C9BF-0428235F55A5}"/>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6" name="Marcador de pie de página 5">
            <a:extLst>
              <a:ext uri="{FF2B5EF4-FFF2-40B4-BE49-F238E27FC236}">
                <a16:creationId xmlns:a16="http://schemas.microsoft.com/office/drawing/2014/main" id="{7769B6C4-75F9-9DAE-692E-3158FA15C865}"/>
              </a:ext>
            </a:extLst>
          </p:cNvPr>
          <p:cNvSpPr>
            <a:spLocks noGrp="1"/>
          </p:cNvSpPr>
          <p:nvPr>
            <p:ph type="ftr" sz="quarter" idx="11"/>
          </p:nvPr>
        </p:nvSpPr>
        <p:spPr/>
        <p:txBody>
          <a:bodyPr/>
          <a:lstStyle/>
          <a:p>
            <a:endParaRPr lang="pt-BR"/>
          </a:p>
        </p:txBody>
      </p:sp>
      <p:sp>
        <p:nvSpPr>
          <p:cNvPr id="7" name="Marcador de número de diapositiva 6">
            <a:extLst>
              <a:ext uri="{FF2B5EF4-FFF2-40B4-BE49-F238E27FC236}">
                <a16:creationId xmlns:a16="http://schemas.microsoft.com/office/drawing/2014/main" id="{EE2D8D33-A566-F48B-BFE1-499229645792}"/>
              </a:ext>
            </a:extLst>
          </p:cNvPr>
          <p:cNvSpPr>
            <a:spLocks noGrp="1"/>
          </p:cNvSpPr>
          <p:nvPr>
            <p:ph type="sldNum" sz="quarter" idx="12"/>
          </p:nvPr>
        </p:nvSpPr>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526721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5E725B-95EF-BDEF-4518-5FFD34002EE9}"/>
              </a:ext>
            </a:extLst>
          </p:cNvPr>
          <p:cNvSpPr>
            <a:spLocks noGrp="1"/>
          </p:cNvSpPr>
          <p:nvPr>
            <p:ph type="title"/>
          </p:nvPr>
        </p:nvSpPr>
        <p:spPr/>
        <p:txBody>
          <a:bodyPr/>
          <a:lstStyle/>
          <a:p>
            <a:r>
              <a:rPr lang="en-US"/>
              <a:t>Click to edit Master title style</a:t>
            </a:r>
            <a:endParaRPr lang="pt-BR"/>
          </a:p>
        </p:txBody>
      </p:sp>
      <p:sp>
        <p:nvSpPr>
          <p:cNvPr id="3" name="Marcador de texto vertical 2">
            <a:extLst>
              <a:ext uri="{FF2B5EF4-FFF2-40B4-BE49-F238E27FC236}">
                <a16:creationId xmlns:a16="http://schemas.microsoft.com/office/drawing/2014/main" id="{F47D7347-78FC-FD1F-DAFD-3973100C47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Marcador de fecha 3">
            <a:extLst>
              <a:ext uri="{FF2B5EF4-FFF2-40B4-BE49-F238E27FC236}">
                <a16:creationId xmlns:a16="http://schemas.microsoft.com/office/drawing/2014/main" id="{69F176D8-D56C-E5F9-729F-9B050101FEB8}"/>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5" name="Marcador de pie de página 4">
            <a:extLst>
              <a:ext uri="{FF2B5EF4-FFF2-40B4-BE49-F238E27FC236}">
                <a16:creationId xmlns:a16="http://schemas.microsoft.com/office/drawing/2014/main" id="{B75FA9B6-4686-A276-17D6-C1E28FFB62EF}"/>
              </a:ext>
            </a:extLst>
          </p:cNvPr>
          <p:cNvSpPr>
            <a:spLocks noGrp="1"/>
          </p:cNvSpPr>
          <p:nvPr>
            <p:ph type="ftr" sz="quarter" idx="11"/>
          </p:nvPr>
        </p:nvSpPr>
        <p:spPr/>
        <p:txBody>
          <a:bodyPr/>
          <a:lstStyle/>
          <a:p>
            <a:endParaRPr lang="pt-BR"/>
          </a:p>
        </p:txBody>
      </p:sp>
      <p:sp>
        <p:nvSpPr>
          <p:cNvPr id="6" name="Marcador de número de diapositiva 5">
            <a:extLst>
              <a:ext uri="{FF2B5EF4-FFF2-40B4-BE49-F238E27FC236}">
                <a16:creationId xmlns:a16="http://schemas.microsoft.com/office/drawing/2014/main" id="{4BAEB9AC-A955-635C-F88D-C063542B4464}"/>
              </a:ext>
            </a:extLst>
          </p:cNvPr>
          <p:cNvSpPr>
            <a:spLocks noGrp="1"/>
          </p:cNvSpPr>
          <p:nvPr>
            <p:ph type="sldNum" sz="quarter" idx="12"/>
          </p:nvPr>
        </p:nvSpPr>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306273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1023F1E-3568-212D-07A2-B9274A14AC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Marcador de texto vertical 2">
            <a:extLst>
              <a:ext uri="{FF2B5EF4-FFF2-40B4-BE49-F238E27FC236}">
                <a16:creationId xmlns:a16="http://schemas.microsoft.com/office/drawing/2014/main" id="{4C80EBAA-B758-7AC7-4E21-14E247EE70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Marcador de fecha 3">
            <a:extLst>
              <a:ext uri="{FF2B5EF4-FFF2-40B4-BE49-F238E27FC236}">
                <a16:creationId xmlns:a16="http://schemas.microsoft.com/office/drawing/2014/main" id="{257EA02D-6900-CFFE-7404-446A7AC75303}"/>
              </a:ext>
            </a:extLst>
          </p:cNvPr>
          <p:cNvSpPr>
            <a:spLocks noGrp="1"/>
          </p:cNvSpPr>
          <p:nvPr>
            <p:ph type="dt" sz="half" idx="10"/>
          </p:nvPr>
        </p:nvSpPr>
        <p:spPr/>
        <p:txBody>
          <a:bodyPr/>
          <a:lstStyle/>
          <a:p>
            <a:fld id="{4B9A9A4E-3042-4604-968A-12BD889B065C}" type="datetimeFigureOut">
              <a:rPr lang="pt-BR" smtClean="0"/>
              <a:t>14/05/2026</a:t>
            </a:fld>
            <a:endParaRPr lang="pt-BR"/>
          </a:p>
        </p:txBody>
      </p:sp>
      <p:sp>
        <p:nvSpPr>
          <p:cNvPr id="5" name="Marcador de pie de página 4">
            <a:extLst>
              <a:ext uri="{FF2B5EF4-FFF2-40B4-BE49-F238E27FC236}">
                <a16:creationId xmlns:a16="http://schemas.microsoft.com/office/drawing/2014/main" id="{80E1D888-963A-8CFA-282F-FB2B81FF2796}"/>
              </a:ext>
            </a:extLst>
          </p:cNvPr>
          <p:cNvSpPr>
            <a:spLocks noGrp="1"/>
          </p:cNvSpPr>
          <p:nvPr>
            <p:ph type="ftr" sz="quarter" idx="11"/>
          </p:nvPr>
        </p:nvSpPr>
        <p:spPr/>
        <p:txBody>
          <a:bodyPr/>
          <a:lstStyle/>
          <a:p>
            <a:endParaRPr lang="pt-BR"/>
          </a:p>
        </p:txBody>
      </p:sp>
      <p:sp>
        <p:nvSpPr>
          <p:cNvPr id="6" name="Marcador de número de diapositiva 5">
            <a:extLst>
              <a:ext uri="{FF2B5EF4-FFF2-40B4-BE49-F238E27FC236}">
                <a16:creationId xmlns:a16="http://schemas.microsoft.com/office/drawing/2014/main" id="{40F98526-8CCC-6464-4820-7063F741C7ED}"/>
              </a:ext>
            </a:extLst>
          </p:cNvPr>
          <p:cNvSpPr>
            <a:spLocks noGrp="1"/>
          </p:cNvSpPr>
          <p:nvPr>
            <p:ph type="sldNum" sz="quarter" idx="12"/>
          </p:nvPr>
        </p:nvSpPr>
        <p:spPr/>
        <p:txBody>
          <a:bodyPr/>
          <a:lstStyle/>
          <a:p>
            <a:fld id="{81A04707-BC9A-4795-97CB-BBF4E2115A75}" type="slidenum">
              <a:rPr lang="pt-BR" smtClean="0"/>
              <a:t>‹#›</a:t>
            </a:fld>
            <a:endParaRPr lang="pt-BR"/>
          </a:p>
        </p:txBody>
      </p:sp>
    </p:spTree>
    <p:extLst>
      <p:ext uri="{BB962C8B-B14F-4D97-AF65-F5344CB8AC3E}">
        <p14:creationId xmlns:p14="http://schemas.microsoft.com/office/powerpoint/2010/main" val="2439043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2810" y="1905000"/>
            <a:ext cx="9146382" cy="2667000"/>
          </a:xfrm>
        </p:spPr>
        <p:txBody>
          <a:bodyPr rtlCol="0">
            <a:noAutofit/>
          </a:bodyPr>
          <a:lstStyle>
            <a:lvl1pPr rtl="0">
              <a:defRPr sz="5400"/>
            </a:lvl1pPr>
          </a:lstStyle>
          <a:p>
            <a:pPr rtl="0"/>
            <a:r>
              <a:rPr lang="es-ES" noProof="0"/>
              <a:t>Haga clic para modificar el estilo de título del patrón</a:t>
            </a:r>
          </a:p>
        </p:txBody>
      </p:sp>
      <p:grpSp>
        <p:nvGrpSpPr>
          <p:cNvPr id="256" name="línea" descr="Gráfico de líneas"/>
          <p:cNvGrpSpPr/>
          <p:nvPr/>
        </p:nvGrpSpPr>
        <p:grpSpPr bwMode="invGray">
          <a:xfrm>
            <a:off x="1585309" y="4724400"/>
            <a:ext cx="8634184" cy="64008"/>
            <a:chOff x="-4110038" y="2703513"/>
            <a:chExt cx="17394239" cy="160336"/>
          </a:xfrm>
          <a:solidFill>
            <a:schemeClr val="accent1"/>
          </a:solidFill>
        </p:grpSpPr>
        <p:sp>
          <p:nvSpPr>
            <p:cNvPr id="257" name="Forma libre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58" name="Forma libre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59" name="Forma libre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0" name="Forma libre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1" name="Forma libre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2" name="Forma libre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3" name="Forma libre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4" name="Forma libre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5" name="Forma libre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6" name="Forma libre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7" name="Forma libre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8" name="Forma libre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9" name="Forma libre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0" name="Forma libre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1" name="Forma libre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2" name="Forma libre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3" name="Forma libre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4" name="Forma libre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5" name="Forma libre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6" name="Forma libre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7" name="Forma libre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8" name="Forma libre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9" name="Forma libre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0" name="Forma libre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1" name="Forma libre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2" name="Forma libre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3" name="Forma libre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4" name="Forma libre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5" name="Forma libre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6" name="Forma libre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7" name="Forma libre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8" name="Forma libre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9" name="Forma libre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0" name="Forma libre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1" name="Forma libre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2" name="Forma libre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3" name="Forma libre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4" name="Forma libre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5" name="Forma libre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6" name="Forma libre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7" name="Forma libre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8" name="Forma libre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9" name="Forma libre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0" name="Forma libre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1" name="Forma libre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2" name="Forma libre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3" name="Forma libre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4" name="Forma libre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5" name="Forma libre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6" name="Forma libre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7" name="Forma libre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8" name="Forma libre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9" name="Forma libre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0" name="Forma libre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1" name="Forma libre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2" name="Forma libre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3" name="Forma libre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4" name="Forma libre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5" name="Forma libre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6" name="Forma libre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7" name="Forma libre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8" name="Forma libre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9" name="Forma libre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0" name="Forma libre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1" name="Forma libre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2" name="Forma libre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3" name="Forma libre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4" name="Forma libre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5" name="Forma libre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6" name="Forma libre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7" name="Forma libre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8" name="Forma libre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9" name="Forma libre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0" name="Forma libre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1" name="Forma libre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2" name="Forma libre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3" name="Forma libre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4" name="Forma libre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5" name="Forma libre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6" name="Forma libre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7" name="Forma libre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8" name="Forma libre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9" name="Forma libre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0" name="Forma libre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1" name="Forma libre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2" name="Forma libre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3" name="Forma libre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4" name="Forma libre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5" name="Forma libre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6" name="Forma libre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7" name="Forma libre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8" name="Forma libre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9" name="Forma libre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0" name="Forma libre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1" name="Forma libre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2" name="Forma libre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3" name="Forma libre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4" name="Forma libre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5" name="Forma libre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6" name="Forma libre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7" name="Forma libre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8" name="Forma libre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9" name="Forma libre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0" name="Forma libre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1" name="Forma libre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2" name="Forma libre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3" name="Forma libre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4" name="Forma libre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5" name="Forma libre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6" name="Forma libre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7" name="Forma libre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8" name="Forma libre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9" name="Forma libre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0" name="Forma libre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1" name="Forma libre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2" name="Forma libre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3" name="Forma libre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4" name="Forma libre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5" name="Forma libre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6" name="Forma libre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7" name="Forma libre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8" name="Forma libre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9" name="Forma libre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grpSp>
      <p:sp>
        <p:nvSpPr>
          <p:cNvPr id="3" name="Subtítulo 2"/>
          <p:cNvSpPr>
            <a:spLocks noGrp="1"/>
          </p:cNvSpPr>
          <p:nvPr>
            <p:ph type="subTitle" idx="1"/>
          </p:nvPr>
        </p:nvSpPr>
        <p:spPr>
          <a:xfrm>
            <a:off x="1522810" y="5105400"/>
            <a:ext cx="9146381" cy="1066800"/>
          </a:xfrm>
        </p:spPr>
        <p:txBody>
          <a:bodyPr rtlCol="0"/>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noProof="0"/>
              <a:t>Haga clic para modificar el estilo de subtítulo del patrón</a:t>
            </a:r>
          </a:p>
        </p:txBody>
      </p:sp>
    </p:spTree>
    <p:extLst>
      <p:ext uri="{BB962C8B-B14F-4D97-AF65-F5344CB8AC3E}">
        <p14:creationId xmlns:p14="http://schemas.microsoft.com/office/powerpoint/2010/main" val="24579384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1522811" y="274638"/>
            <a:ext cx="9146380" cy="1020762"/>
          </a:xfrm>
        </p:spPr>
        <p:txBody>
          <a:bodyPr rtlCol="0"/>
          <a:lstStyle>
            <a:lvl1pPr rtl="0">
              <a:defRPr/>
            </a:lvl1pPr>
          </a:lstStyle>
          <a:p>
            <a:pPr rtl="0"/>
            <a:r>
              <a:rPr lang="es-ES" noProof="0"/>
              <a:t>Haga clic para modificar el estilo de título del patrón</a:t>
            </a:r>
          </a:p>
        </p:txBody>
      </p:sp>
      <p:grpSp>
        <p:nvGrpSpPr>
          <p:cNvPr id="167" name="línea" descr="Gráfico de líneas"/>
          <p:cNvGrpSpPr/>
          <p:nvPr/>
        </p:nvGrpSpPr>
        <p:grpSpPr bwMode="invGray">
          <a:xfrm>
            <a:off x="1522810" y="1514475"/>
            <a:ext cx="10572328" cy="64008"/>
            <a:chOff x="1522413" y="1514475"/>
            <a:chExt cx="10569575" cy="64008"/>
          </a:xfrm>
        </p:grpSpPr>
        <p:sp>
          <p:nvSpPr>
            <p:cNvPr id="168" name="Forma libre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9" name="Forma libre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0" name="Forma libre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1"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2"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3"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4"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5"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6"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7"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8"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9"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0"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1"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2"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3"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4"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5"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6"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7"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8"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9"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0"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1"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2"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3"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4"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5"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6"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7"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8"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9"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0"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1"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2"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3"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4"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5"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6"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7"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8"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9"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0"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1"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2"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3"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4"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5"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6"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7"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8"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9"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0"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1"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2"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3"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4"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5"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6"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7"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8"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9"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0"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1"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2"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3"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4"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5"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6"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7"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8"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9"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40"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41"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3" name="Marcador de posición de contenido 2"/>
          <p:cNvSpPr>
            <a:spLocks noGrp="1"/>
          </p:cNvSpPr>
          <p:nvPr>
            <p:ph idx="1"/>
          </p:nvPr>
        </p:nvSpPr>
        <p:spPr/>
        <p:txBody>
          <a:bodyPr rtlCol="0"/>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4" name="Marcador de posición de fecha 3"/>
          <p:cNvSpPr>
            <a:spLocks noGrp="1"/>
          </p:cNvSpPr>
          <p:nvPr>
            <p:ph type="dt" sz="half" idx="10"/>
          </p:nvPr>
        </p:nvSpPr>
        <p:spPr/>
        <p:txBody>
          <a:bodyPr rtlCol="0"/>
          <a:lstStyle/>
          <a:p>
            <a:pPr rtl="0"/>
            <a:fld id="{C8ACC39B-F8AD-4C56-AD8F-A56798AE1A49}" type="datetime1">
              <a:rPr lang="es-ES" noProof="0" smtClean="0"/>
              <a:t>14/05/2026</a:t>
            </a:fld>
            <a:endParaRPr lang="es-ES" noProof="0"/>
          </a:p>
        </p:txBody>
      </p:sp>
      <p:sp>
        <p:nvSpPr>
          <p:cNvPr id="6" name="Marcador de posición de número de diapositiva 5"/>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042056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1522810" y="1905000"/>
            <a:ext cx="9146382" cy="2667000"/>
          </a:xfrm>
        </p:spPr>
        <p:txBody>
          <a:bodyPr rtlCol="0" anchor="b">
            <a:noAutofit/>
          </a:bodyPr>
          <a:lstStyle>
            <a:lvl1pPr algn="l" rtl="0">
              <a:defRPr sz="4400" b="0" cap="none" baseline="0"/>
            </a:lvl1pPr>
          </a:lstStyle>
          <a:p>
            <a:pPr rtl="0"/>
            <a:r>
              <a:rPr lang="es-ES" noProof="0"/>
              <a:t>Haga clic para modificar el estilo de título del patrón</a:t>
            </a:r>
          </a:p>
        </p:txBody>
      </p:sp>
      <p:grpSp>
        <p:nvGrpSpPr>
          <p:cNvPr id="255" name="línea" descr="Gráfico de líneas"/>
          <p:cNvGrpSpPr/>
          <p:nvPr/>
        </p:nvGrpSpPr>
        <p:grpSpPr bwMode="invGray">
          <a:xfrm>
            <a:off x="1585309" y="4724400"/>
            <a:ext cx="8634184" cy="64008"/>
            <a:chOff x="-4110038" y="2703513"/>
            <a:chExt cx="17394239" cy="160336"/>
          </a:xfrm>
          <a:solidFill>
            <a:schemeClr val="accent1"/>
          </a:solidFill>
        </p:grpSpPr>
        <p:sp>
          <p:nvSpPr>
            <p:cNvPr id="256" name="Forma libre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57" name="Forma libre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58" name="Forma libre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59" name="Forma libre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0" name="Forma libre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1" name="Forma libre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2" name="Forma libre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3" name="Forma libre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4" name="Forma libre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5" name="Forma libre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6" name="Forma libre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7" name="Forma libre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8" name="Forma libre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69" name="Forma libre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0" name="Forma libre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1" name="Forma libre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2" name="Forma libre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3" name="Forma libre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4" name="Forma libre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5" name="Forma libre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6" name="Forma libre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7" name="Forma libre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8" name="Forma libre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79" name="Forma libre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0" name="Forma libre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1" name="Forma libre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2" name="Forma libre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3" name="Forma libre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4" name="Forma libre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5" name="Forma libre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6" name="Forma libre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7" name="Forma libre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8" name="Forma libre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89" name="Forma libre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0" name="Forma libre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1" name="Forma libre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2" name="Forma libre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3" name="Forma libre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4" name="Forma libre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5" name="Forma libre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6" name="Forma libre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7" name="Forma libre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8" name="Forma libre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299" name="Forma libre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0" name="Forma libre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1" name="Forma libre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2" name="Forma libre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3" name="Forma libre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4" name="Forma libre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5" name="Forma libre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6" name="Forma libre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7" name="Forma libre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8" name="Forma libre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09" name="Forma libre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0" name="Forma libre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1" name="Forma libre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2" name="Forma libre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3" name="Forma libre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4" name="Forma libre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5" name="Forma libre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6" name="Forma libre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7" name="Forma libre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8" name="Forma libre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19" name="Forma libre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0" name="Forma libre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1" name="Forma libre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2" name="Forma libre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3" name="Forma libre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4" name="Forma libre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5" name="Forma libre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6" name="Forma libre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7" name="Forma libre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8" name="Forma libre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29" name="Forma libre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0" name="Forma libre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1" name="Forma libre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2" name="Forma libre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3" name="Forma libre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4" name="Forma libre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5" name="Forma libre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6" name="Forma libre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7" name="Forma libre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8" name="Forma libre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39" name="Forma libre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0" name="Forma libre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1" name="Forma libre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2" name="Forma libre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3" name="Forma libre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4" name="Forma libre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5" name="Forma libre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6" name="Forma libre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7" name="Forma libre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8" name="Forma libre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49" name="Forma libre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0" name="Forma libre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1" name="Forma libre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2" name="Forma libre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3" name="Forma libre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4" name="Forma libre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5" name="Forma libre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6" name="Forma libre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7" name="Forma libre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8" name="Forma libre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59" name="Forma libre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0" name="Forma libre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1" name="Forma libre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2" name="Forma libre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3" name="Forma libre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4" name="Forma libre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5" name="Forma libre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6" name="Forma libre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7" name="Forma libre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8" name="Forma libre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69" name="Forma libre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0" name="Forma libre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1" name="Forma libre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2" name="Forma libre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3" name="Forma libre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4" name="Forma libre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5" name="Forma libre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6" name="Forma libre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7" name="Forma libre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sp>
          <p:nvSpPr>
            <p:cNvPr id="378" name="Forma libre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p>
          </p:txBody>
        </p:sp>
      </p:grpSp>
      <p:sp>
        <p:nvSpPr>
          <p:cNvPr id="3" name="Marcador de posición de texto 2"/>
          <p:cNvSpPr>
            <a:spLocks noGrp="1"/>
          </p:cNvSpPr>
          <p:nvPr>
            <p:ph type="body" idx="1"/>
          </p:nvPr>
        </p:nvSpPr>
        <p:spPr>
          <a:xfrm>
            <a:off x="1522810" y="5102526"/>
            <a:ext cx="9146381" cy="1069675"/>
          </a:xfrm>
        </p:spPr>
        <p:txBody>
          <a:bodyPr rtlCol="0"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noProof="0"/>
              <a:t>Haga clic para modificar los estilos de texto del patrón</a:t>
            </a:r>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4" name="Marcador de posición de fecha 3"/>
          <p:cNvSpPr>
            <a:spLocks noGrp="1"/>
          </p:cNvSpPr>
          <p:nvPr>
            <p:ph type="dt" sz="half" idx="10"/>
          </p:nvPr>
        </p:nvSpPr>
        <p:spPr/>
        <p:txBody>
          <a:bodyPr rtlCol="0"/>
          <a:lstStyle/>
          <a:p>
            <a:pPr rtl="0"/>
            <a:fld id="{79A5F5A5-C1AF-4E1F-BBE9-77A0324E6A16}" type="datetime1">
              <a:rPr lang="es-ES" noProof="0" smtClean="0"/>
              <a:t>14/05/2026</a:t>
            </a:fld>
            <a:endParaRPr lang="es-ES" noProof="0"/>
          </a:p>
        </p:txBody>
      </p:sp>
      <p:sp>
        <p:nvSpPr>
          <p:cNvPr id="6" name="Marcador de posición de número de diapositiva 5"/>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7014998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1522811" y="274638"/>
            <a:ext cx="9146380" cy="1020762"/>
          </a:xfrm>
        </p:spPr>
        <p:txBody>
          <a:bodyPr rtlCol="0"/>
          <a:lstStyle>
            <a:lvl1pPr rtl="0">
              <a:defRPr/>
            </a:lvl1pPr>
          </a:lstStyle>
          <a:p>
            <a:pPr rtl="0"/>
            <a:r>
              <a:rPr lang="es-ES" noProof="0"/>
              <a:t>Haga clic para modificar el estilo de título del patrón</a:t>
            </a:r>
          </a:p>
        </p:txBody>
      </p:sp>
      <p:grpSp>
        <p:nvGrpSpPr>
          <p:cNvPr id="158" name="línea" descr="Gráfico de líneas"/>
          <p:cNvGrpSpPr/>
          <p:nvPr/>
        </p:nvGrpSpPr>
        <p:grpSpPr bwMode="invGray">
          <a:xfrm>
            <a:off x="1522810" y="1514475"/>
            <a:ext cx="10572328" cy="64008"/>
            <a:chOff x="1522413" y="1514475"/>
            <a:chExt cx="10569575" cy="64008"/>
          </a:xfrm>
        </p:grpSpPr>
        <p:sp>
          <p:nvSpPr>
            <p:cNvPr id="159" name="Forma libre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0" name="Forma libre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1" name="Forma libre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2"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3"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4"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5"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6"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7"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8"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9"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0"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1"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2"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3"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4"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5"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6"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7"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8"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9"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0"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1"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2"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3"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4"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5"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6"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7"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8"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9"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0"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1"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2"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3"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4"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5"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6"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7"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8"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9"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0"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1"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2"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3"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4"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5"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6"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7"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8"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9"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0"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1"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2"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3"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4"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5"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6"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7"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8"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9"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0"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1"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2"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3"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4"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5"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6"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7"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8"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9"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0"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1"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2"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3" name="Marcador de posición de contenido 2"/>
          <p:cNvSpPr>
            <a:spLocks noGrp="1"/>
          </p:cNvSpPr>
          <p:nvPr>
            <p:ph sz="half" idx="1"/>
          </p:nvPr>
        </p:nvSpPr>
        <p:spPr>
          <a:xfrm>
            <a:off x="1522810" y="1905000"/>
            <a:ext cx="4420750" cy="4267200"/>
          </a:xfrm>
        </p:spPr>
        <p:txBody>
          <a:bodyPr rtlCol="0">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4" name="Marcador de posición de contenido 3"/>
          <p:cNvSpPr>
            <a:spLocks noGrp="1"/>
          </p:cNvSpPr>
          <p:nvPr>
            <p:ph sz="half" idx="2"/>
          </p:nvPr>
        </p:nvSpPr>
        <p:spPr>
          <a:xfrm>
            <a:off x="6248442" y="1905000"/>
            <a:ext cx="4420749" cy="4267200"/>
          </a:xfrm>
        </p:spPr>
        <p:txBody>
          <a:bodyPr rtlCol="0">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5" name="Marcador de posición de fecha 4"/>
          <p:cNvSpPr>
            <a:spLocks noGrp="1"/>
          </p:cNvSpPr>
          <p:nvPr>
            <p:ph type="dt" sz="half" idx="10"/>
          </p:nvPr>
        </p:nvSpPr>
        <p:spPr/>
        <p:txBody>
          <a:bodyPr rtlCol="0"/>
          <a:lstStyle/>
          <a:p>
            <a:pPr rtl="0"/>
            <a:fld id="{FEBAF46A-8BB1-4F24-A11E-0306615E93F5}" type="datetime1">
              <a:rPr lang="es-ES" noProof="0" smtClean="0"/>
              <a:t>14/05/2026</a:t>
            </a:fld>
            <a:endParaRPr lang="es-ES" noProof="0"/>
          </a:p>
        </p:txBody>
      </p:sp>
      <p:sp>
        <p:nvSpPr>
          <p:cNvPr id="7" name="Marcador de posición de número de diapositiva 6"/>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362873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1522811" y="274638"/>
            <a:ext cx="9146380" cy="1020762"/>
          </a:xfrm>
        </p:spPr>
        <p:txBody>
          <a:bodyPr rtlCol="0"/>
          <a:lstStyle>
            <a:lvl1pPr rtl="0">
              <a:defRPr/>
            </a:lvl1pPr>
          </a:lstStyle>
          <a:p>
            <a:pPr rtl="0"/>
            <a:r>
              <a:rPr lang="es-ES" noProof="0"/>
              <a:t>Haga clic para modificar el estilo de título del patrón</a:t>
            </a:r>
          </a:p>
        </p:txBody>
      </p:sp>
      <p:grpSp>
        <p:nvGrpSpPr>
          <p:cNvPr id="160" name="línea" descr="Gráfico de líneas"/>
          <p:cNvGrpSpPr/>
          <p:nvPr/>
        </p:nvGrpSpPr>
        <p:grpSpPr bwMode="invGray">
          <a:xfrm>
            <a:off x="1522810" y="1514475"/>
            <a:ext cx="10572328" cy="64008"/>
            <a:chOff x="1522413" y="1514475"/>
            <a:chExt cx="10569575" cy="64008"/>
          </a:xfrm>
        </p:grpSpPr>
        <p:sp>
          <p:nvSpPr>
            <p:cNvPr id="161" name="Forma libre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2" name="Forma libre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3" name="Forma libre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4"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5"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6"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7"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8"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9"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0"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1"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2"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3"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4"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5"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6"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7"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8"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9"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0"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1"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2"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3"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4"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5"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6"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7"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8"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9"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0"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1"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2"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3"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4"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5"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6"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7"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8"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9"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0"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1"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2"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3"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4"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5"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6"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7"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8"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9"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0"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1"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2"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3"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4"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5"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6"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7"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8"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9"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0"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1"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2"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3"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4"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5"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6"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7"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8"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9"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0"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1"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2"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3"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4"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3" name="Marcador de posición de texto 2"/>
          <p:cNvSpPr>
            <a:spLocks noGrp="1"/>
          </p:cNvSpPr>
          <p:nvPr>
            <p:ph type="body" idx="1"/>
          </p:nvPr>
        </p:nvSpPr>
        <p:spPr>
          <a:xfrm>
            <a:off x="1522810" y="1905000"/>
            <a:ext cx="4417702" cy="762000"/>
          </a:xfrm>
        </p:spPr>
        <p:txBody>
          <a:bodyPr rtlCol="0"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noProof="0"/>
              <a:t>Haga clic para modificar los estilos de texto del patrón</a:t>
            </a:r>
          </a:p>
        </p:txBody>
      </p:sp>
      <p:sp>
        <p:nvSpPr>
          <p:cNvPr id="4" name="Marcador de posición de contenido 3"/>
          <p:cNvSpPr>
            <a:spLocks noGrp="1"/>
          </p:cNvSpPr>
          <p:nvPr>
            <p:ph sz="half" idx="2"/>
          </p:nvPr>
        </p:nvSpPr>
        <p:spPr>
          <a:xfrm>
            <a:off x="1522810" y="2819400"/>
            <a:ext cx="4417702" cy="3352801"/>
          </a:xfrm>
        </p:spPr>
        <p:txBody>
          <a:bodyPr rtlCol="0"/>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 name="Marcador de posición de texto 4"/>
          <p:cNvSpPr>
            <a:spLocks noGrp="1"/>
          </p:cNvSpPr>
          <p:nvPr>
            <p:ph type="body" sz="quarter" idx="3"/>
          </p:nvPr>
        </p:nvSpPr>
        <p:spPr>
          <a:xfrm>
            <a:off x="6251488" y="1905000"/>
            <a:ext cx="4417702" cy="762000"/>
          </a:xfrm>
        </p:spPr>
        <p:txBody>
          <a:bodyPr rtlCol="0"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noProof="0"/>
              <a:t>Haga clic para modificar los estilos de texto del patrón</a:t>
            </a:r>
          </a:p>
        </p:txBody>
      </p:sp>
      <p:sp>
        <p:nvSpPr>
          <p:cNvPr id="8" name="Marcador de posición de pie de página 7"/>
          <p:cNvSpPr>
            <a:spLocks noGrp="1"/>
          </p:cNvSpPr>
          <p:nvPr>
            <p:ph type="ftr" sz="quarter" idx="11"/>
          </p:nvPr>
        </p:nvSpPr>
        <p:spPr/>
        <p:txBody>
          <a:bodyPr rtlCol="0"/>
          <a:lstStyle/>
          <a:p>
            <a:pPr rtl="0"/>
            <a:endParaRPr lang="es-ES" noProof="0"/>
          </a:p>
        </p:txBody>
      </p:sp>
      <p:sp>
        <p:nvSpPr>
          <p:cNvPr id="7" name="Marcador de posición de fecha 6"/>
          <p:cNvSpPr>
            <a:spLocks noGrp="1"/>
          </p:cNvSpPr>
          <p:nvPr>
            <p:ph type="dt" sz="half" idx="10"/>
          </p:nvPr>
        </p:nvSpPr>
        <p:spPr/>
        <p:txBody>
          <a:bodyPr rtlCol="0"/>
          <a:lstStyle/>
          <a:p>
            <a:pPr rtl="0"/>
            <a:fld id="{D4829AD9-EA14-4AE8-BB2F-1A8BF56A3E5B}" type="datetime1">
              <a:rPr lang="es-ES" noProof="0" smtClean="0"/>
              <a:t>14/05/2026</a:t>
            </a:fld>
            <a:endParaRPr lang="es-ES" noProof="0"/>
          </a:p>
        </p:txBody>
      </p:sp>
      <p:sp>
        <p:nvSpPr>
          <p:cNvPr id="9" name="Marcador de posición de número de diapositiva 8"/>
          <p:cNvSpPr>
            <a:spLocks noGrp="1"/>
          </p:cNvSpPr>
          <p:nvPr>
            <p:ph type="sldNum" sz="quarter" idx="12"/>
          </p:nvPr>
        </p:nvSpPr>
        <p:spPr/>
        <p:txBody>
          <a:bodyPr rtlCol="0"/>
          <a:lstStyle/>
          <a:p>
            <a:pPr rtl="0"/>
            <a:fld id="{25BA54BD-C84D-46CE-8B72-31BFB26ABA43}" type="slidenum">
              <a:rPr lang="es-ES" noProof="0"/>
              <a:t>‹#›</a:t>
            </a:fld>
            <a:endParaRPr lang="es-ES" noProof="0"/>
          </a:p>
        </p:txBody>
      </p:sp>
      <p:sp>
        <p:nvSpPr>
          <p:cNvPr id="85" name="Marcador de posición de contenido 3"/>
          <p:cNvSpPr>
            <a:spLocks noGrp="1"/>
          </p:cNvSpPr>
          <p:nvPr>
            <p:ph sz="half" idx="13"/>
          </p:nvPr>
        </p:nvSpPr>
        <p:spPr>
          <a:xfrm>
            <a:off x="6248439" y="2819401"/>
            <a:ext cx="4417702" cy="3352801"/>
          </a:xfrm>
        </p:spPr>
        <p:txBody>
          <a:bodyPr rtlCol="0"/>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Tree>
    <p:extLst>
      <p:ext uri="{BB962C8B-B14F-4D97-AF65-F5344CB8AC3E}">
        <p14:creationId xmlns:p14="http://schemas.microsoft.com/office/powerpoint/2010/main" val="1023881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a:t>Haga clic para modificar el estilo de título del patrón</a:t>
            </a:r>
          </a:p>
        </p:txBody>
      </p:sp>
      <p:grpSp>
        <p:nvGrpSpPr>
          <p:cNvPr id="156" name="línea" descr="Gráfico de líneas"/>
          <p:cNvGrpSpPr/>
          <p:nvPr/>
        </p:nvGrpSpPr>
        <p:grpSpPr bwMode="invGray">
          <a:xfrm>
            <a:off x="1522810" y="1514475"/>
            <a:ext cx="10572328" cy="64008"/>
            <a:chOff x="1522413" y="1514475"/>
            <a:chExt cx="10569575" cy="64008"/>
          </a:xfrm>
        </p:grpSpPr>
        <p:sp>
          <p:nvSpPr>
            <p:cNvPr id="157" name="Forma libre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58" name="Forma libre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59" name="Forma libre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0"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1"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2"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3"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4"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5"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6"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7"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8"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9"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0"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1"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2"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3"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4"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5"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6"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7"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8"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9"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0"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1"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2"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3"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4"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5"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6"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7"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8"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9"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0"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1"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2"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3"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4"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5"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6"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7"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8"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9"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0"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1"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2"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3"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4"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5"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6"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7"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8"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9"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0"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1"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2"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3"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4"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5"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6"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7"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8"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9"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0"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1"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2"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3"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4"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5"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6"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7"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8"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9"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0"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4" name="Marcador de posición de pie de página 3"/>
          <p:cNvSpPr>
            <a:spLocks noGrp="1"/>
          </p:cNvSpPr>
          <p:nvPr>
            <p:ph type="ftr" sz="quarter" idx="11"/>
          </p:nvPr>
        </p:nvSpPr>
        <p:spPr/>
        <p:txBody>
          <a:bodyPr rtlCol="0"/>
          <a:lstStyle/>
          <a:p>
            <a:pPr rtl="0"/>
            <a:endParaRPr lang="es-ES" noProof="0"/>
          </a:p>
        </p:txBody>
      </p:sp>
      <p:sp>
        <p:nvSpPr>
          <p:cNvPr id="3" name="Marcador de posición de fecha 2"/>
          <p:cNvSpPr>
            <a:spLocks noGrp="1"/>
          </p:cNvSpPr>
          <p:nvPr>
            <p:ph type="dt" sz="half" idx="10"/>
          </p:nvPr>
        </p:nvSpPr>
        <p:spPr/>
        <p:txBody>
          <a:bodyPr rtlCol="0"/>
          <a:lstStyle/>
          <a:p>
            <a:pPr rtl="0"/>
            <a:fld id="{D996EFD6-A265-4329-83FB-237234CCC851}" type="datetime1">
              <a:rPr lang="es-ES" noProof="0" smtClean="0"/>
              <a:t>14/05/2026</a:t>
            </a:fld>
            <a:endParaRPr lang="es-ES" noProof="0"/>
          </a:p>
        </p:txBody>
      </p:sp>
      <p:sp>
        <p:nvSpPr>
          <p:cNvPr id="5" name="Marcador de posición de número de diapositiva 4"/>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891545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3" name="Marcador de posición de pie de página 2"/>
          <p:cNvSpPr>
            <a:spLocks noGrp="1"/>
          </p:cNvSpPr>
          <p:nvPr>
            <p:ph type="ftr" sz="quarter" idx="11"/>
          </p:nvPr>
        </p:nvSpPr>
        <p:spPr/>
        <p:txBody>
          <a:bodyPr rtlCol="0"/>
          <a:lstStyle/>
          <a:p>
            <a:pPr rtl="0"/>
            <a:endParaRPr lang="es-ES" noProof="0"/>
          </a:p>
        </p:txBody>
      </p:sp>
      <p:sp>
        <p:nvSpPr>
          <p:cNvPr id="2" name="Marcador de posición de fecha 1"/>
          <p:cNvSpPr>
            <a:spLocks noGrp="1"/>
          </p:cNvSpPr>
          <p:nvPr>
            <p:ph type="dt" sz="half" idx="10"/>
          </p:nvPr>
        </p:nvSpPr>
        <p:spPr/>
        <p:txBody>
          <a:bodyPr rtlCol="0"/>
          <a:lstStyle/>
          <a:p>
            <a:pPr rtl="0"/>
            <a:fld id="{51EEC8E5-6135-4EEA-A5FA-4E382F0E51FD}" type="datetime1">
              <a:rPr lang="es-ES" noProof="0" smtClean="0"/>
              <a:t>14/05/2026</a:t>
            </a:fld>
            <a:endParaRPr lang="es-ES" noProof="0"/>
          </a:p>
        </p:txBody>
      </p:sp>
      <p:sp>
        <p:nvSpPr>
          <p:cNvPr id="4" name="Marcador de posición de número de diapositiva 3"/>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344836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522811" y="274638"/>
            <a:ext cx="9146380" cy="1020762"/>
          </a:xfrm>
        </p:spPr>
        <p:txBody>
          <a:bodyPr rtlCol="0" anchor="b">
            <a:noAutofit/>
          </a:bodyPr>
          <a:lstStyle>
            <a:lvl1pPr algn="l" rtl="0">
              <a:defRPr sz="3200" b="0"/>
            </a:lvl1pPr>
          </a:lstStyle>
          <a:p>
            <a:pPr rtl="0"/>
            <a:r>
              <a:rPr lang="es-ES" noProof="0"/>
              <a:t>Haga clic para modificar el estilo de título del patrón</a:t>
            </a:r>
          </a:p>
        </p:txBody>
      </p:sp>
      <p:sp>
        <p:nvSpPr>
          <p:cNvPr id="4" name="Marcador de posición de texto 3"/>
          <p:cNvSpPr>
            <a:spLocks noGrp="1"/>
          </p:cNvSpPr>
          <p:nvPr>
            <p:ph type="body" sz="half" idx="2"/>
          </p:nvPr>
        </p:nvSpPr>
        <p:spPr>
          <a:xfrm>
            <a:off x="1522809" y="3429000"/>
            <a:ext cx="2743915" cy="2743200"/>
          </a:xfrm>
        </p:spPr>
        <p:txBody>
          <a:bodyPr rtlCol="0"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noProof="0"/>
              <a:t>Haga clic para modificar los estilos de texto del patrón</a:t>
            </a:r>
          </a:p>
        </p:txBody>
      </p:sp>
      <p:sp>
        <p:nvSpPr>
          <p:cNvPr id="3" name="Marcador de posición de contenido 2"/>
          <p:cNvSpPr>
            <a:spLocks noGrp="1"/>
          </p:cNvSpPr>
          <p:nvPr>
            <p:ph idx="1"/>
          </p:nvPr>
        </p:nvSpPr>
        <p:spPr>
          <a:xfrm>
            <a:off x="4711249" y="1905000"/>
            <a:ext cx="5670757" cy="4038600"/>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grpSp>
        <p:nvGrpSpPr>
          <p:cNvPr id="615" name="marco" descr="Gráfico de cuadro"/>
          <p:cNvGrpSpPr/>
          <p:nvPr/>
        </p:nvGrpSpPr>
        <p:grpSpPr bwMode="invGray">
          <a:xfrm>
            <a:off x="4418990" y="1630822"/>
            <a:ext cx="6292667" cy="4575885"/>
            <a:chOff x="4417839" y="1630821"/>
            <a:chExt cx="6291028" cy="4575885"/>
          </a:xfrm>
        </p:grpSpPr>
        <p:grpSp>
          <p:nvGrpSpPr>
            <p:cNvPr id="616" name="Grupo 615"/>
            <p:cNvGrpSpPr/>
            <p:nvPr/>
          </p:nvGrpSpPr>
          <p:grpSpPr bwMode="invGray">
            <a:xfrm>
              <a:off x="5414491" y="1630821"/>
              <a:ext cx="5294376" cy="4114800"/>
              <a:chOff x="3310555" y="716546"/>
              <a:chExt cx="5294376" cy="4114800"/>
            </a:xfrm>
          </p:grpSpPr>
          <p:grpSp>
            <p:nvGrpSpPr>
              <p:cNvPr id="768" name="Grupo 767"/>
              <p:cNvGrpSpPr/>
              <p:nvPr/>
            </p:nvGrpSpPr>
            <p:grpSpPr bwMode="invGray">
              <a:xfrm flipH="1">
                <a:off x="3310555" y="737968"/>
                <a:ext cx="5294376" cy="54864"/>
                <a:chOff x="1522413" y="1514475"/>
                <a:chExt cx="10569575" cy="64008"/>
              </a:xfrm>
              <a:solidFill>
                <a:schemeClr val="accent1"/>
              </a:solidFill>
            </p:grpSpPr>
            <p:sp>
              <p:nvSpPr>
                <p:cNvPr id="844" name="Forma libre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5" name="Forma libre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6" name="Forma libre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7"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8"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9"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0"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1"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2"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3"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4"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5"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6"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7"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8"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9"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0"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1"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2"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3"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4"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5"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6"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7"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8"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9"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0"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1"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2"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3"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4"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5"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6"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7"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8"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9"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0"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1"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2"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3"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4"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5"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6"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7"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8"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9"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0"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1"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2"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3"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4"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5"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6"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7"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8"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9"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0"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1"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2"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3"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4"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5"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6"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7"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8"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9"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0"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1"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2"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3"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4"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5"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6"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7"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nvGrpSpPr>
              <p:cNvPr id="769" name="Grupo 768"/>
              <p:cNvGrpSpPr/>
              <p:nvPr/>
            </p:nvGrpSpPr>
            <p:grpSpPr bwMode="invGray">
              <a:xfrm rot="16200000" flipH="1">
                <a:off x="6492229" y="2755658"/>
                <a:ext cx="4114800" cy="36576"/>
                <a:chOff x="1522413" y="1514475"/>
                <a:chExt cx="10569575" cy="64008"/>
              </a:xfrm>
              <a:solidFill>
                <a:schemeClr val="accent1"/>
              </a:solidFill>
            </p:grpSpPr>
            <p:sp>
              <p:nvSpPr>
                <p:cNvPr id="770" name="Forma libre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1" name="Forma libre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2" name="Forma libre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3"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4"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5"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6"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7"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8"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9"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0"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1"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2"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3"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4"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5"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6"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7"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8"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9"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0"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1"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2"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3"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4"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5"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6"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7"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8"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9"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0"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1"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2"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3"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4"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5"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6"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7"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8"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9"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0"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1"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2"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3"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4"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5"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6"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7"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8"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9"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0"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1"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2"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3"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4"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5"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6"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7"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8"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9"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0"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1"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2"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3"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4"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5"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6"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7"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8"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9"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0"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1"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2"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3"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grpSp>
          <p:nvGrpSpPr>
            <p:cNvPr id="617" name="Grupo 616"/>
            <p:cNvGrpSpPr/>
            <p:nvPr/>
          </p:nvGrpSpPr>
          <p:grpSpPr bwMode="invGray">
            <a:xfrm rot="10800000">
              <a:off x="4417839" y="2091906"/>
              <a:ext cx="5294376" cy="4114800"/>
              <a:chOff x="3310555" y="716546"/>
              <a:chExt cx="5294376" cy="4114800"/>
            </a:xfrm>
          </p:grpSpPr>
          <p:grpSp>
            <p:nvGrpSpPr>
              <p:cNvPr id="618" name="Grupo 617"/>
              <p:cNvGrpSpPr/>
              <p:nvPr/>
            </p:nvGrpSpPr>
            <p:grpSpPr bwMode="invGray">
              <a:xfrm flipH="1">
                <a:off x="3310555" y="737968"/>
                <a:ext cx="5294376" cy="54864"/>
                <a:chOff x="1522413" y="1514475"/>
                <a:chExt cx="10569575" cy="64008"/>
              </a:xfrm>
              <a:solidFill>
                <a:schemeClr val="accent1"/>
              </a:solidFill>
            </p:grpSpPr>
            <p:sp>
              <p:nvSpPr>
                <p:cNvPr id="694" name="Forma libre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5" name="Forma libre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6" name="Forma libre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7"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8"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9"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0"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1"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2"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3"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4"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5"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6"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7"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8"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9"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0"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1"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2"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3"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4"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5"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6"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7"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8"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9"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0"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1"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2"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3"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4"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5"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6"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7"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8"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9"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0"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1"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2"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3"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4"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5"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6"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7"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8"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9"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0"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1"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2"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3"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4"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5"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6"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7"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8"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9"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0"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1"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2"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3"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4"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5"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6"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7"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8"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9"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0"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1"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2"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3"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4"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5"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6"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7"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nvGrpSpPr>
              <p:cNvPr id="619" name="Grupo 618"/>
              <p:cNvGrpSpPr/>
              <p:nvPr/>
            </p:nvGrpSpPr>
            <p:grpSpPr bwMode="invGray">
              <a:xfrm rot="16200000" flipH="1">
                <a:off x="6492229" y="2755658"/>
                <a:ext cx="4114800" cy="36576"/>
                <a:chOff x="1522413" y="1514475"/>
                <a:chExt cx="10569575" cy="64008"/>
              </a:xfrm>
              <a:solidFill>
                <a:schemeClr val="accent1"/>
              </a:solidFill>
            </p:grpSpPr>
            <p:sp>
              <p:nvSpPr>
                <p:cNvPr id="620" name="Forma libre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1" name="Forma libre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2" name="Forma libre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3"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4"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5"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6"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7"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8"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9"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0"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1"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2"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3"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4"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5"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6"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7"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8"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9"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0"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1"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2"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3"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4"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5"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6"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7"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8"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9"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0"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1"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2"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3"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4"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5"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6"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7"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8"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9"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0"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1"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2"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3"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4"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5"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6"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7"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8"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9"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0"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1"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2"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3"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4"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5"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6"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7"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8"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9"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0"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1"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2"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3"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4"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5"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6"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7"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8"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9"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0"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1"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2"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3"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grpSp>
      <p:sp>
        <p:nvSpPr>
          <p:cNvPr id="6" name="Marcador de posición de pie de página 5"/>
          <p:cNvSpPr>
            <a:spLocks noGrp="1"/>
          </p:cNvSpPr>
          <p:nvPr>
            <p:ph type="ftr" sz="quarter" idx="11"/>
          </p:nvPr>
        </p:nvSpPr>
        <p:spPr/>
        <p:txBody>
          <a:bodyPr rtlCol="0"/>
          <a:lstStyle/>
          <a:p>
            <a:pPr rtl="0"/>
            <a:endParaRPr lang="es-ES" noProof="0"/>
          </a:p>
        </p:txBody>
      </p:sp>
      <p:sp>
        <p:nvSpPr>
          <p:cNvPr id="5" name="Marcador de posición de fecha 4"/>
          <p:cNvSpPr>
            <a:spLocks noGrp="1"/>
          </p:cNvSpPr>
          <p:nvPr>
            <p:ph type="dt" sz="half" idx="10"/>
          </p:nvPr>
        </p:nvSpPr>
        <p:spPr/>
        <p:txBody>
          <a:bodyPr rtlCol="0"/>
          <a:lstStyle/>
          <a:p>
            <a:pPr rtl="0"/>
            <a:fld id="{2EAA01AB-145F-4AE5-A1D5-362BC05CA7CC}" type="datetime1">
              <a:rPr lang="es-ES" noProof="0" smtClean="0"/>
              <a:t>14/05/2026</a:t>
            </a:fld>
            <a:endParaRPr lang="es-ES" noProof="0"/>
          </a:p>
        </p:txBody>
      </p:sp>
      <p:sp>
        <p:nvSpPr>
          <p:cNvPr id="7" name="Marcador de posición de número de diapositiva 6"/>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2025235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1522811" y="274638"/>
            <a:ext cx="9146380" cy="1020762"/>
          </a:xfrm>
        </p:spPr>
        <p:txBody>
          <a:bodyPr rtlCol="0" anchor="b">
            <a:noAutofit/>
          </a:bodyPr>
          <a:lstStyle>
            <a:lvl1pPr algn="l" rtl="0">
              <a:defRPr sz="3200" b="0"/>
            </a:lvl1pPr>
          </a:lstStyle>
          <a:p>
            <a:pPr rtl="0"/>
            <a:r>
              <a:rPr lang="es-ES" noProof="0"/>
              <a:t>Haga clic para modificar el estilo de título del patrón</a:t>
            </a:r>
          </a:p>
        </p:txBody>
      </p:sp>
      <p:sp>
        <p:nvSpPr>
          <p:cNvPr id="3" name="Marcador de posición de imagen 2" descr="Marcador de posición vacío para agregar una imagen. Haga clic en el marcador de posición y seleccione la imagen que quiera agregar."/>
          <p:cNvSpPr>
            <a:spLocks noGrp="1"/>
          </p:cNvSpPr>
          <p:nvPr>
            <p:ph type="pic" idx="1"/>
          </p:nvPr>
        </p:nvSpPr>
        <p:spPr>
          <a:xfrm>
            <a:off x="1746293" y="1884311"/>
            <a:ext cx="5670757" cy="4041648"/>
          </a:xfrm>
          <a:solidFill>
            <a:schemeClr val="bg1"/>
          </a:solidFill>
        </p:spPr>
        <p:txBody>
          <a:bodyPr tIns="914400"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grpSp>
        <p:nvGrpSpPr>
          <p:cNvPr id="614" name="marco" descr="Gráfico de cuadro"/>
          <p:cNvGrpSpPr/>
          <p:nvPr/>
        </p:nvGrpSpPr>
        <p:grpSpPr bwMode="invGray">
          <a:xfrm flipH="1">
            <a:off x="1447877" y="1630822"/>
            <a:ext cx="6292667" cy="4575885"/>
            <a:chOff x="4417839" y="1630821"/>
            <a:chExt cx="6291028" cy="4575885"/>
          </a:xfrm>
        </p:grpSpPr>
        <p:grpSp>
          <p:nvGrpSpPr>
            <p:cNvPr id="615" name="Grupo 614"/>
            <p:cNvGrpSpPr/>
            <p:nvPr/>
          </p:nvGrpSpPr>
          <p:grpSpPr bwMode="invGray">
            <a:xfrm>
              <a:off x="5414491" y="1630821"/>
              <a:ext cx="5294376" cy="4114800"/>
              <a:chOff x="3310555" y="716546"/>
              <a:chExt cx="5294376" cy="4114800"/>
            </a:xfrm>
          </p:grpSpPr>
          <p:grpSp>
            <p:nvGrpSpPr>
              <p:cNvPr id="767" name="Grupo 766"/>
              <p:cNvGrpSpPr/>
              <p:nvPr/>
            </p:nvGrpSpPr>
            <p:grpSpPr bwMode="invGray">
              <a:xfrm flipH="1">
                <a:off x="3310555" y="737968"/>
                <a:ext cx="5294376" cy="54864"/>
                <a:chOff x="1522413" y="1514475"/>
                <a:chExt cx="10569575" cy="64008"/>
              </a:xfrm>
              <a:solidFill>
                <a:schemeClr val="accent1"/>
              </a:solidFill>
            </p:grpSpPr>
            <p:sp>
              <p:nvSpPr>
                <p:cNvPr id="843" name="Forma libre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4" name="Forma libre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5" name="Forma libre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6"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7"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8"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9"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0"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1"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2"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3"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4"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5"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6"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7"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8"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59"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0"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1"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2"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3"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4"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5"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6"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7"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8"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69"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0"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1"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2"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3"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4"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5"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6"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7"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8"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79"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0"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1"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2"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3"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4"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5"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6"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7"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8"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89"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0"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1"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2"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3"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4"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5"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6"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7"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8"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99"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0"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1"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2"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3"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4"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5"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6"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7"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8"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09"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0"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1"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2"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3"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4"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5"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16"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nvGrpSpPr>
              <p:cNvPr id="768" name="Grupo 767"/>
              <p:cNvGrpSpPr/>
              <p:nvPr/>
            </p:nvGrpSpPr>
            <p:grpSpPr bwMode="invGray">
              <a:xfrm rot="16200000" flipH="1">
                <a:off x="6492229" y="2755658"/>
                <a:ext cx="4114800" cy="36576"/>
                <a:chOff x="1522413" y="1514475"/>
                <a:chExt cx="10569575" cy="64008"/>
              </a:xfrm>
              <a:solidFill>
                <a:schemeClr val="accent1"/>
              </a:solidFill>
            </p:grpSpPr>
            <p:sp>
              <p:nvSpPr>
                <p:cNvPr id="769" name="Forma libre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0" name="Forma libre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1" name="Forma libre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2"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3"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4"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5"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6"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7"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8"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9"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0"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1"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2"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3"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4"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5"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6"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7"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8"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9"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0"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1"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2"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3"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4"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5"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6"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7"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8"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9"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0"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1"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2"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3"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4"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5"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6"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7"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8"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9"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0"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1"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2"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3"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4"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5"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6"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7"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8"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9"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0"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1"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2"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3"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4"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5"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6"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7"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8"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29"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0"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1"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2"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3"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4"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5"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6"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7"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8"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39"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0"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1"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42"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grpSp>
          <p:nvGrpSpPr>
            <p:cNvPr id="616" name="Grupo 615"/>
            <p:cNvGrpSpPr/>
            <p:nvPr/>
          </p:nvGrpSpPr>
          <p:grpSpPr bwMode="invGray">
            <a:xfrm rot="10800000">
              <a:off x="4417839" y="2091906"/>
              <a:ext cx="5294376" cy="4114800"/>
              <a:chOff x="3310555" y="716546"/>
              <a:chExt cx="5294376" cy="4114800"/>
            </a:xfrm>
          </p:grpSpPr>
          <p:grpSp>
            <p:nvGrpSpPr>
              <p:cNvPr id="617" name="Grupo 616"/>
              <p:cNvGrpSpPr/>
              <p:nvPr/>
            </p:nvGrpSpPr>
            <p:grpSpPr bwMode="invGray">
              <a:xfrm flipH="1">
                <a:off x="3310555" y="737968"/>
                <a:ext cx="5294376" cy="54864"/>
                <a:chOff x="1522413" y="1514475"/>
                <a:chExt cx="10569575" cy="64008"/>
              </a:xfrm>
              <a:solidFill>
                <a:schemeClr val="accent1"/>
              </a:solidFill>
            </p:grpSpPr>
            <p:sp>
              <p:nvSpPr>
                <p:cNvPr id="693" name="Forma libre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4" name="Forma libre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5" name="Forma libre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6"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7"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8"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9"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0"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1"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2"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3"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4"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5"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6"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7"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8"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9"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0"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1"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2"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3"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4"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5"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6"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7"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8"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9"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0"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1"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2"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3"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4"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5"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6"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7"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8"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9"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0"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1"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2"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3"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4"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5"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6"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7"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8"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9"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0"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1"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2"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3"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4"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5"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6"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7"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8"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9"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0"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1"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2"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3"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4"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5"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6"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7"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8"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9"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0"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1"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2"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3"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4"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5"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6"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nvGrpSpPr>
              <p:cNvPr id="618" name="Grupo 617"/>
              <p:cNvGrpSpPr/>
              <p:nvPr/>
            </p:nvGrpSpPr>
            <p:grpSpPr bwMode="invGray">
              <a:xfrm rot="16200000" flipH="1">
                <a:off x="6492229" y="2755658"/>
                <a:ext cx="4114800" cy="36576"/>
                <a:chOff x="1522413" y="1514475"/>
                <a:chExt cx="10569575" cy="64008"/>
              </a:xfrm>
              <a:solidFill>
                <a:schemeClr val="accent1"/>
              </a:solidFill>
            </p:grpSpPr>
            <p:sp>
              <p:nvSpPr>
                <p:cNvPr id="619" name="Forma libre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0" name="Forma libre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1" name="Forma libre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2" name="Forma libre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3" name="Forma libre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4" name="Forma libre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5" name="Forma libre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6" name="Forma libre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7" name="Forma libre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8" name="Forma libre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9" name="Forma libre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0" name="Forma libre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1" name="Forma libre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2" name="Forma libre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3" name="Forma libre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4" name="Forma libre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5" name="Forma libre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6" name="Forma libre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7" name="Forma libre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8" name="Forma libre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9" name="Forma libre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0" name="Forma libre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1" name="Forma libre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2" name="Forma libre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3" name="Forma libre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4" name="Forma libre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5" name="Forma libre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6" name="Forma libre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7" name="Forma libre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8" name="Forma libre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9" name="Forma libre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0" name="Forma libre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1" name="Forma libre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2" name="Forma libre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3" name="Forma libre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4" name="Forma libre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5" name="Forma libre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6" name="Forma libre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7" name="Forma libre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8" name="Forma libre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9" name="Forma libre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0" name="Forma libre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1" name="Forma libre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2" name="Forma libre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3" name="Forma libre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4" name="Forma libre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5" name="Forma libre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6" name="Forma libre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7" name="Forma libre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8" name="Forma libre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9" name="Forma libre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0" name="Forma libre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1" name="Forma libre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2" name="Forma libre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3" name="Forma libre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4" name="Forma libre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5" name="Forma libre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6" name="Forma libre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7" name="Forma libre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8" name="Forma libre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9" name="Forma libre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0" name="Forma libre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1" name="Forma libre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2" name="Forma libre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3" name="Forma libre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4" name="Forma libre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5" name="Forma libre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6" name="Forma libre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7" name="Forma libre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8" name="Forma libre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9" name="Forma libre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0" name="Forma libre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1" name="Forma libre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2" name="Forma libre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grpSp>
      </p:grpSp>
      <p:sp>
        <p:nvSpPr>
          <p:cNvPr id="4" name="Marcador de posición de texto 3"/>
          <p:cNvSpPr>
            <a:spLocks noGrp="1"/>
          </p:cNvSpPr>
          <p:nvPr>
            <p:ph type="body" sz="half" idx="2"/>
          </p:nvPr>
        </p:nvSpPr>
        <p:spPr>
          <a:xfrm>
            <a:off x="7908018" y="3411748"/>
            <a:ext cx="2743915" cy="2743200"/>
          </a:xfrm>
        </p:spPr>
        <p:txBody>
          <a:bodyPr rtlCol="0"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noProof="0"/>
              <a:t>Haga clic para modificar los estilos de texto del patrón</a:t>
            </a:r>
          </a:p>
        </p:txBody>
      </p:sp>
      <p:sp>
        <p:nvSpPr>
          <p:cNvPr id="6" name="Marcador de posición de pie de página 5"/>
          <p:cNvSpPr>
            <a:spLocks noGrp="1"/>
          </p:cNvSpPr>
          <p:nvPr>
            <p:ph type="ftr" sz="quarter" idx="11"/>
          </p:nvPr>
        </p:nvSpPr>
        <p:spPr/>
        <p:txBody>
          <a:bodyPr rtlCol="0"/>
          <a:lstStyle/>
          <a:p>
            <a:pPr rtl="0"/>
            <a:endParaRPr lang="es-ES" noProof="0"/>
          </a:p>
        </p:txBody>
      </p:sp>
      <p:sp>
        <p:nvSpPr>
          <p:cNvPr id="5" name="Marcador de posición de fecha 4"/>
          <p:cNvSpPr>
            <a:spLocks noGrp="1"/>
          </p:cNvSpPr>
          <p:nvPr>
            <p:ph type="dt" sz="half" idx="10"/>
          </p:nvPr>
        </p:nvSpPr>
        <p:spPr/>
        <p:txBody>
          <a:bodyPr rtlCol="0"/>
          <a:lstStyle/>
          <a:p>
            <a:pPr rtl="0"/>
            <a:fld id="{AFD16348-E405-42B1-89B5-964AA77FE073}" type="datetime1">
              <a:rPr lang="es-ES" noProof="0" smtClean="0"/>
              <a:t>14/05/2026</a:t>
            </a:fld>
            <a:endParaRPr lang="es-ES" noProof="0"/>
          </a:p>
        </p:txBody>
      </p:sp>
      <p:sp>
        <p:nvSpPr>
          <p:cNvPr id="7" name="Marcador de posición de número de diapositiva 6"/>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1230017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a:t>Haga clic para modificar el estilo de título del patrón</a:t>
            </a:r>
          </a:p>
        </p:txBody>
      </p:sp>
      <p:grpSp>
        <p:nvGrpSpPr>
          <p:cNvPr id="7" name="línea" descr="Gráfico de líneas"/>
          <p:cNvGrpSpPr/>
          <p:nvPr/>
        </p:nvGrpSpPr>
        <p:grpSpPr bwMode="invGray">
          <a:xfrm>
            <a:off x="1522810" y="1514475"/>
            <a:ext cx="10572328" cy="64008"/>
            <a:chOff x="1522413" y="1514475"/>
            <a:chExt cx="10569575" cy="64008"/>
          </a:xfrm>
        </p:grpSpPr>
        <p:sp>
          <p:nvSpPr>
            <p:cNvPr id="8" name="Forma libre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 name="Forma libre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0" name="Forma libre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1"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2"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3"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4"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5"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4"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5"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6"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7"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8"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9"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0"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1"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2"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3"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4"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5"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6"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7"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8"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9"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0"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1"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2"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3"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4"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5"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6"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7"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8"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9"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0"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1"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2"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3"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4"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5"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6"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7"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8"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9"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0"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1"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3" name="Marcador de posición de texto vertical 2"/>
          <p:cNvSpPr>
            <a:spLocks noGrp="1"/>
          </p:cNvSpPr>
          <p:nvPr>
            <p:ph type="body" orient="vert" idx="1"/>
          </p:nvPr>
        </p:nvSpPr>
        <p:spPr/>
        <p:txBody>
          <a:bodyPr vert="eaVert" rtlCol="0"/>
          <a:lstStyle>
            <a:lvl5pPr>
              <a:defRPr/>
            </a:lvl5pPr>
            <a:lvl6pPr marL="1956816">
              <a:defRPr/>
            </a:lvl6pPr>
            <a:lvl7pPr marL="1956816">
              <a:defRPr/>
            </a:lvl7pPr>
            <a:lvl8pPr marL="1956816">
              <a:defRPr/>
            </a:lvl8pPr>
            <a:lvl9pPr marL="1956816">
              <a:defRPr/>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4" name="Marcador de posición de fecha 3"/>
          <p:cNvSpPr>
            <a:spLocks noGrp="1"/>
          </p:cNvSpPr>
          <p:nvPr>
            <p:ph type="dt" sz="half" idx="10"/>
          </p:nvPr>
        </p:nvSpPr>
        <p:spPr/>
        <p:txBody>
          <a:bodyPr rtlCol="0"/>
          <a:lstStyle/>
          <a:p>
            <a:pPr rtl="0"/>
            <a:fld id="{7422E2A2-B648-4842-9ED5-8E4D1828D625}" type="datetime1">
              <a:rPr lang="es-ES" noProof="0" smtClean="0"/>
              <a:t>14/05/2026</a:t>
            </a:fld>
            <a:endParaRPr lang="es-ES" noProof="0"/>
          </a:p>
        </p:txBody>
      </p:sp>
      <p:sp>
        <p:nvSpPr>
          <p:cNvPr id="6" name="Marcador de posición de número de diapositiva 5"/>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5960678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ítulo y text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364311" y="274640"/>
            <a:ext cx="1371957" cy="5901747"/>
          </a:xfrm>
        </p:spPr>
        <p:txBody>
          <a:bodyPr vert="eaVert" rtlCol="0"/>
          <a:lstStyle>
            <a:lvl1pPr rtl="0">
              <a:defRPr/>
            </a:lvl1pPr>
          </a:lstStyle>
          <a:p>
            <a:pPr rtl="0"/>
            <a:r>
              <a:rPr lang="es-ES" noProof="0"/>
              <a:t>Haga clic para modificar el estilo de título del patrón</a:t>
            </a:r>
          </a:p>
        </p:txBody>
      </p:sp>
      <p:grpSp>
        <p:nvGrpSpPr>
          <p:cNvPr id="7" name="línea" descr="Gráfico de líneas"/>
          <p:cNvGrpSpPr/>
          <p:nvPr/>
        </p:nvGrpSpPr>
        <p:grpSpPr bwMode="invGray">
          <a:xfrm rot="5400000">
            <a:off x="6867046" y="3472590"/>
            <a:ext cx="6492240" cy="64025"/>
            <a:chOff x="1522413" y="1514475"/>
            <a:chExt cx="10569575" cy="64008"/>
          </a:xfrm>
        </p:grpSpPr>
        <p:sp>
          <p:nvSpPr>
            <p:cNvPr id="8" name="Forma libre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9" name="Forma libre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0" name="Forma libre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1" name="Forma libre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2" name="Forma libre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3" name="Forma libre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4" name="Forma libre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5" name="Forma libre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6" name="Forma libre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7" name="Forma libre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8" name="Forma libre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19" name="Forma libre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0" name="Forma libre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1" name="Forma libre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2" name="Forma libre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3" name="Forma libre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4" name="Forma libre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5" name="Forma libre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6" name="Forma libre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7" name="Forma libre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8" name="Forma libre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29" name="Forma libre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0" name="Forma libre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1" name="Forma libre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2" name="Forma libre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3" name="Forma libre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4" name="Forma libre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5" name="Forma libre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6" name="Forma libre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7" name="Forma libre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8" name="Forma libre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39" name="Forma libre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0" name="Forma libre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1" name="Forma libre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2" name="Forma libre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3" name="Forma libre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4" name="Forma libre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5" name="Forma libre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6" name="Forma libre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7" name="Forma libre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8" name="Forma libre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49" name="Forma libre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0" name="Forma libre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1" name="Forma libre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2" name="Forma libre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3" name="Forma libre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4" name="Forma libre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5" name="Forma libre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6" name="Forma libre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7" name="Forma libre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8" name="Forma libre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59" name="Forma libre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0" name="Forma libre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1" name="Forma libre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2" name="Forma libre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3" name="Forma libre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4" name="Forma libre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5" name="Forma libre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6" name="Forma libre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7" name="Forma libre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8" name="Forma libre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69" name="Forma libre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0" name="Forma libre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1" name="Forma libre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2" name="Forma libre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3" name="Forma libre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4" name="Forma libre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5" name="Forma libre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6" name="Forma libre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7" name="Forma libre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8" name="Forma libre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79" name="Forma libre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0" name="Forma libre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sp>
          <p:nvSpPr>
            <p:cNvPr id="81" name="Forma libre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p>
              <a:pPr rtl="0"/>
              <a:endParaRPr lang="es-ES" sz="1800" noProof="0">
                <a:ln>
                  <a:noFill/>
                </a:ln>
              </a:endParaRPr>
            </a:p>
          </p:txBody>
        </p:sp>
      </p:grpSp>
      <p:sp>
        <p:nvSpPr>
          <p:cNvPr id="3" name="Marcador de posición de texto vertical 2"/>
          <p:cNvSpPr>
            <a:spLocks noGrp="1"/>
          </p:cNvSpPr>
          <p:nvPr>
            <p:ph type="body" orient="vert" idx="1"/>
          </p:nvPr>
        </p:nvSpPr>
        <p:spPr>
          <a:xfrm>
            <a:off x="608171" y="277814"/>
            <a:ext cx="9146383" cy="5898573"/>
          </a:xfrm>
        </p:spPr>
        <p:txBody>
          <a:bodyPr vert="eaVert" rtlCol="0"/>
          <a:lstStyle>
            <a:lvl5pPr>
              <a:defRPr/>
            </a:lvl5pPr>
            <a:lvl6pPr marL="1261872" indent="0">
              <a:buNone/>
              <a:defRPr/>
            </a:lvl6pPr>
            <a:lvl7pPr>
              <a:defRPr/>
            </a:lvl7pPr>
            <a:lvl8pPr>
              <a:defRPr baseline="0"/>
            </a:lvl8pPr>
            <a:lvl9pPr>
              <a:defRPr baseline="0"/>
            </a:lvl9pPr>
          </a:lstStyle>
          <a:p>
            <a:pPr lvl="0"/>
            <a:r>
              <a:rPr lang="es-ES" noProof="0"/>
              <a:t>Haga clic para modificar los estilos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5" name="Marcador de posición de pie de página 4"/>
          <p:cNvSpPr>
            <a:spLocks noGrp="1"/>
          </p:cNvSpPr>
          <p:nvPr>
            <p:ph type="ftr" sz="quarter" idx="11"/>
          </p:nvPr>
        </p:nvSpPr>
        <p:spPr/>
        <p:txBody>
          <a:bodyPr rtlCol="0"/>
          <a:lstStyle/>
          <a:p>
            <a:pPr rtl="0"/>
            <a:endParaRPr lang="es-ES" noProof="0"/>
          </a:p>
        </p:txBody>
      </p:sp>
      <p:sp>
        <p:nvSpPr>
          <p:cNvPr id="4" name="Marcador de posición de fecha 3"/>
          <p:cNvSpPr>
            <a:spLocks noGrp="1"/>
          </p:cNvSpPr>
          <p:nvPr>
            <p:ph type="dt" sz="half" idx="10"/>
          </p:nvPr>
        </p:nvSpPr>
        <p:spPr/>
        <p:txBody>
          <a:bodyPr rtlCol="0"/>
          <a:lstStyle/>
          <a:p>
            <a:pPr rtl="0"/>
            <a:fld id="{186AB9F2-CD8F-42EB-A63E-2B03D1B74C56}" type="datetime1">
              <a:rPr lang="es-ES" noProof="0" smtClean="0"/>
              <a:t>14/05/2026</a:t>
            </a:fld>
            <a:endParaRPr lang="es-ES" noProof="0"/>
          </a:p>
        </p:txBody>
      </p:sp>
      <p:sp>
        <p:nvSpPr>
          <p:cNvPr id="6" name="Marcador de posición de número de diapositiva 5"/>
          <p:cNvSpPr>
            <a:spLocks noGrp="1"/>
          </p:cNvSpPr>
          <p:nvPr>
            <p:ph type="sldNum" sz="quarter" idx="12"/>
          </p:nvPr>
        </p:nvSpPr>
        <p:spPr/>
        <p:txBody>
          <a:bodyPr rtlCol="0"/>
          <a:lstStyle/>
          <a:p>
            <a:pPr rtl="0"/>
            <a:fld id="{25BA54BD-C84D-46CE-8B72-31BFB26ABA43}" type="slidenum">
              <a:rPr lang="es-ES" noProof="0"/>
              <a:t>‹#›</a:t>
            </a:fld>
            <a:endParaRPr lang="es-ES" noProof="0"/>
          </a:p>
        </p:txBody>
      </p:sp>
    </p:spTree>
    <p:extLst>
      <p:ext uri="{BB962C8B-B14F-4D97-AF65-F5344CB8AC3E}">
        <p14:creationId xmlns:p14="http://schemas.microsoft.com/office/powerpoint/2010/main" val="24903158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82A36"/>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010D696-A3AB-D0C8-8503-8BEB77EE47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pt-BR"/>
          </a:p>
        </p:txBody>
      </p:sp>
      <p:sp>
        <p:nvSpPr>
          <p:cNvPr id="3" name="Marcador de texto 2">
            <a:extLst>
              <a:ext uri="{FF2B5EF4-FFF2-40B4-BE49-F238E27FC236}">
                <a16:creationId xmlns:a16="http://schemas.microsoft.com/office/drawing/2014/main" id="{7FC88058-ABB1-1E1A-C78D-FAB589124A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pt-BR"/>
          </a:p>
        </p:txBody>
      </p:sp>
      <p:sp>
        <p:nvSpPr>
          <p:cNvPr id="4" name="Marcador de fecha 3">
            <a:extLst>
              <a:ext uri="{FF2B5EF4-FFF2-40B4-BE49-F238E27FC236}">
                <a16:creationId xmlns:a16="http://schemas.microsoft.com/office/drawing/2014/main" id="{75E1B763-0134-BCFC-5C8C-0A74E5345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F8F8F2"/>
                </a:solidFill>
                <a:latin typeface="Calibri" panose="020F0502020204030204" pitchFamily="34" charset="0"/>
                <a:cs typeface="Calibri" panose="020F0502020204030204" pitchFamily="34" charset="0"/>
              </a:defRPr>
            </a:lvl1pPr>
          </a:lstStyle>
          <a:p>
            <a:fld id="{4B9A9A4E-3042-4604-968A-12BD889B065C}" type="datetimeFigureOut">
              <a:rPr lang="pt-BR" smtClean="0"/>
              <a:pPr/>
              <a:t>14/05/2026</a:t>
            </a:fld>
            <a:endParaRPr lang="pt-BR"/>
          </a:p>
        </p:txBody>
      </p:sp>
      <p:sp>
        <p:nvSpPr>
          <p:cNvPr id="5" name="Marcador de pie de página 4">
            <a:extLst>
              <a:ext uri="{FF2B5EF4-FFF2-40B4-BE49-F238E27FC236}">
                <a16:creationId xmlns:a16="http://schemas.microsoft.com/office/drawing/2014/main" id="{38FFF956-A946-2452-6532-D72FB1886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rgbClr val="F8F8F2"/>
                </a:solidFill>
                <a:latin typeface="Calibri" panose="020F0502020204030204" pitchFamily="34" charset="0"/>
                <a:cs typeface="Calibri" panose="020F0502020204030204" pitchFamily="34" charset="0"/>
              </a:defRPr>
            </a:lvl1pPr>
          </a:lstStyle>
          <a:p>
            <a:endParaRPr lang="pt-BR"/>
          </a:p>
        </p:txBody>
      </p:sp>
      <p:sp>
        <p:nvSpPr>
          <p:cNvPr id="6" name="Marcador de número de diapositiva 5">
            <a:extLst>
              <a:ext uri="{FF2B5EF4-FFF2-40B4-BE49-F238E27FC236}">
                <a16:creationId xmlns:a16="http://schemas.microsoft.com/office/drawing/2014/main" id="{6896BEDC-A4E0-4DAD-C68F-D4140EE061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Calibri" panose="020F0502020204030204" pitchFamily="34" charset="0"/>
                <a:cs typeface="Calibri" panose="020F0502020204030204" pitchFamily="34" charset="0"/>
              </a:defRPr>
            </a:lvl1pPr>
          </a:lstStyle>
          <a:p>
            <a:fld id="{81A04707-BC9A-4795-97CB-BBF4E2115A75}" type="slidenum">
              <a:rPr lang="pt-BR" smtClean="0"/>
              <a:pPr/>
              <a:t>‹#›</a:t>
            </a:fld>
            <a:endParaRPr lang="pt-BR"/>
          </a:p>
        </p:txBody>
      </p:sp>
    </p:spTree>
    <p:extLst>
      <p:ext uri="{BB962C8B-B14F-4D97-AF65-F5344CB8AC3E}">
        <p14:creationId xmlns:p14="http://schemas.microsoft.com/office/powerpoint/2010/main" val="1250959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solidFill>
          <a:latin typeface="Calibri" panose="020F0502020204030204" pitchFamily="34" charset="0"/>
          <a:ea typeface="Verdana" panose="020B060403050404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8F8F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8F8F2"/>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8F8F2"/>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8F8F2"/>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8F8F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duotone>
              <a:schemeClr val="bg1">
                <a:shade val="12000"/>
                <a:satMod val="240000"/>
              </a:schemeClr>
              <a:schemeClr val="bg1">
                <a:tint val="65000"/>
              </a:schemeClr>
            </a:duotone>
            <a:extLst>
              <a:ext uri="{BEBA8EAE-BF5A-486C-A8C5-ECC9F3942E4B}">
                <a14:imgProps xmlns:a14="http://schemas.microsoft.com/office/drawing/2010/main">
                  <a14:imgLayer r:embed="rId14">
                    <a14:imgEffect>
                      <a14:brightnessContrast bright="-5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1522811" y="274638"/>
            <a:ext cx="9146380" cy="1020762"/>
          </a:xfrm>
          <a:prstGeom prst="rect">
            <a:avLst/>
          </a:prstGeom>
        </p:spPr>
        <p:txBody>
          <a:bodyPr vert="horz" lIns="91440" tIns="45720" rIns="91440" bIns="45720" rtlCol="0" anchor="b">
            <a:normAutofit/>
          </a:bodyPr>
          <a:lstStyle/>
          <a:p>
            <a:pPr rtl="0"/>
            <a:r>
              <a:rPr lang="es-ES"/>
              <a:t>Haga clic para modificar el estilo de título del patrón</a:t>
            </a:r>
            <a:endParaRPr lang="es-ES" noProof="0"/>
          </a:p>
        </p:txBody>
      </p:sp>
      <p:sp>
        <p:nvSpPr>
          <p:cNvPr id="3" name="Marcador de posición de texto 2"/>
          <p:cNvSpPr>
            <a:spLocks noGrp="1"/>
          </p:cNvSpPr>
          <p:nvPr>
            <p:ph type="body" idx="1"/>
          </p:nvPr>
        </p:nvSpPr>
        <p:spPr>
          <a:xfrm>
            <a:off x="1522811" y="1905000"/>
            <a:ext cx="9146382" cy="4267200"/>
          </a:xfrm>
          <a:prstGeom prst="rect">
            <a:avLst/>
          </a:prstGeom>
        </p:spPr>
        <p:txBody>
          <a:bodyPr vert="horz" lIns="91440" tIns="45720" rIns="91440" bIns="45720" rtlCol="0">
            <a:normAutofit/>
          </a:bodyPr>
          <a:lstStyle/>
          <a:p>
            <a:pPr lvl="0"/>
            <a:r>
              <a:rPr lang="es-ES"/>
              <a:t>Editar el estilo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osición de pie de página 4"/>
          <p:cNvSpPr>
            <a:spLocks noGrp="1"/>
          </p:cNvSpPr>
          <p:nvPr>
            <p:ph type="ftr" sz="quarter" idx="3"/>
          </p:nvPr>
        </p:nvSpPr>
        <p:spPr>
          <a:xfrm>
            <a:off x="1522810" y="6400801"/>
            <a:ext cx="6326246" cy="276226"/>
          </a:xfrm>
          <a:prstGeom prst="rect">
            <a:avLst/>
          </a:prstGeom>
        </p:spPr>
        <p:txBody>
          <a:bodyPr vert="horz" lIns="91440" tIns="45720" rIns="91440" bIns="45720" rtlCol="0" anchor="ctr"/>
          <a:lstStyle>
            <a:lvl1pPr algn="l">
              <a:defRPr sz="1200">
                <a:solidFill>
                  <a:schemeClr val="tx1">
                    <a:tint val="75000"/>
                  </a:schemeClr>
                </a:solidFill>
              </a:defRPr>
            </a:lvl1pPr>
          </a:lstStyle>
          <a:p>
            <a:pPr rtl="0"/>
            <a:endParaRPr lang="es-ES" noProof="0"/>
          </a:p>
        </p:txBody>
      </p:sp>
      <p:sp>
        <p:nvSpPr>
          <p:cNvPr id="4" name="Marcador de posición de fecha 3"/>
          <p:cNvSpPr>
            <a:spLocks noGrp="1"/>
          </p:cNvSpPr>
          <p:nvPr>
            <p:ph type="dt" sz="half" idx="2"/>
          </p:nvPr>
        </p:nvSpPr>
        <p:spPr>
          <a:xfrm>
            <a:off x="8077716" y="6400801"/>
            <a:ext cx="1244183" cy="276226"/>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3EA5BF5C-F4C1-4C94-BD5F-F847F8EB8117}" type="datetime1">
              <a:rPr lang="es-ES" noProof="0" smtClean="0"/>
              <a:t>14/05/2026</a:t>
            </a:fld>
            <a:endParaRPr lang="es-ES" noProof="0"/>
          </a:p>
        </p:txBody>
      </p:sp>
      <p:sp>
        <p:nvSpPr>
          <p:cNvPr id="6" name="Marcador de posición de número de diapositiva 5"/>
          <p:cNvSpPr>
            <a:spLocks noGrp="1"/>
          </p:cNvSpPr>
          <p:nvPr>
            <p:ph type="sldNum" sz="quarter" idx="4"/>
          </p:nvPr>
        </p:nvSpPr>
        <p:spPr>
          <a:xfrm>
            <a:off x="9525893" y="6400801"/>
            <a:ext cx="1143300" cy="276226"/>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25BA54BD-C84D-46CE-8B72-31BFB26ABA43}" type="slidenum">
              <a:rPr lang="es-ES" noProof="0" smtClean="0"/>
              <a:pPr rtl="0"/>
              <a:t>‹#›</a:t>
            </a:fld>
            <a:endParaRPr lang="es-ES" noProof="0"/>
          </a:p>
        </p:txBody>
      </p:sp>
    </p:spTree>
    <p:extLst>
      <p:ext uri="{BB962C8B-B14F-4D97-AF65-F5344CB8AC3E}">
        <p14:creationId xmlns:p14="http://schemas.microsoft.com/office/powerpoint/2010/main" val="42177823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SergioACGiraldo" TargetMode="External"/><Relationship Id="rId2" Type="http://schemas.openxmlformats.org/officeDocument/2006/relationships/hyperlink" Target="https://controlautomaticoeducacion.com/"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instagram.com/sergioacgiraldo/" TargetMode="External"/><Relationship Id="rId4" Type="http://schemas.openxmlformats.org/officeDocument/2006/relationships/hyperlink" Target="https://br.linkedin.com/in/sergioacgiraldo" TargetMode="Externa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microsoft.com/office/2007/relationships/hdphoto" Target="../media/hdphoto2.wdp"/><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9.png"/><Relationship Id="rId4" Type="http://schemas.openxmlformats.org/officeDocument/2006/relationships/image" Target="../media/image68.png"/></Relationships>
</file>

<file path=ppt/slides/_rels/slide27.xml.rels><?xml version="1.0" encoding="UTF-8" standalone="yes"?>
<Relationships xmlns="http://schemas.openxmlformats.org/package/2006/relationships"><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9" Type="http://schemas.openxmlformats.org/officeDocument/2006/relationships/tags" Target="../tags/tag41.xml"/><Relationship Id="rId21" Type="http://schemas.openxmlformats.org/officeDocument/2006/relationships/tags" Target="../tags/tag23.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tags" Target="../tags/tag49.xml"/><Relationship Id="rId50" Type="http://schemas.openxmlformats.org/officeDocument/2006/relationships/tags" Target="../tags/tag52.xml"/><Relationship Id="rId7" Type="http://schemas.openxmlformats.org/officeDocument/2006/relationships/tags" Target="../tags/tag9.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tags" Target="../tags/tag31.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tags" Target="../tags/tag47.xml"/><Relationship Id="rId53" Type="http://schemas.openxmlformats.org/officeDocument/2006/relationships/slideLayout" Target="../slideLayouts/slideLayout2.xml"/><Relationship Id="rId5" Type="http://schemas.openxmlformats.org/officeDocument/2006/relationships/tags" Target="../tags/tag7.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tags" Target="../tags/tag33.xml"/><Relationship Id="rId44" Type="http://schemas.openxmlformats.org/officeDocument/2006/relationships/tags" Target="../tags/tag46.xml"/><Relationship Id="rId52" Type="http://schemas.openxmlformats.org/officeDocument/2006/relationships/tags" Target="../tags/tag54.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tags" Target="../tags/tag37.xml"/><Relationship Id="rId43" Type="http://schemas.openxmlformats.org/officeDocument/2006/relationships/tags" Target="../tags/tag45.xml"/><Relationship Id="rId48" Type="http://schemas.openxmlformats.org/officeDocument/2006/relationships/tags" Target="../tags/tag50.xml"/><Relationship Id="rId8" Type="http://schemas.openxmlformats.org/officeDocument/2006/relationships/tags" Target="../tags/tag10.xml"/><Relationship Id="rId51" Type="http://schemas.openxmlformats.org/officeDocument/2006/relationships/tags" Target="../tags/tag53.xml"/><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tags" Target="../tags/tag48.xml"/><Relationship Id="rId20" Type="http://schemas.openxmlformats.org/officeDocument/2006/relationships/tags" Target="../tags/tag22.xml"/><Relationship Id="rId41" Type="http://schemas.openxmlformats.org/officeDocument/2006/relationships/tags" Target="../tags/tag43.xml"/><Relationship Id="rId54" Type="http://schemas.openxmlformats.org/officeDocument/2006/relationships/notesSlide" Target="../notesSlides/notesSlide4.xml"/><Relationship Id="rId1" Type="http://schemas.openxmlformats.org/officeDocument/2006/relationships/tags" Target="../tags/tag3.xml"/><Relationship Id="rId6" Type="http://schemas.openxmlformats.org/officeDocument/2006/relationships/tags" Target="../tags/tag8.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36" Type="http://schemas.openxmlformats.org/officeDocument/2006/relationships/tags" Target="../tags/tag38.xml"/><Relationship Id="rId49" Type="http://schemas.openxmlformats.org/officeDocument/2006/relationships/tags" Target="../tags/tag51.xml"/></Relationships>
</file>

<file path=ppt/slides/_rels/slide2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tags" Target="../tags/tag57.xml"/><Relationship Id="rId7" Type="http://schemas.openxmlformats.org/officeDocument/2006/relationships/image" Target="../media/image7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70.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74.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73.png"/><Relationship Id="rId5" Type="http://schemas.openxmlformats.org/officeDocument/2006/relationships/image" Target="../media/image70.pn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6.png"/><Relationship Id="rId4" Type="http://schemas.openxmlformats.org/officeDocument/2006/relationships/notesSlide" Target="../notesSlides/notesSlide6.xml"/></Relationships>
</file>

<file path=ppt/slides/_rels/slide3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notesSlide" Target="../notesSlides/notesSlide7.xml"/><Relationship Id="rId7"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tags" Target="../tags/tag62.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_rels/slide35.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notesSlide" Target="../notesSlides/notesSlide8.xml"/><Relationship Id="rId18" Type="http://schemas.openxmlformats.org/officeDocument/2006/relationships/image" Target="../media/image88.pn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slideLayout" Target="../slideLayouts/slideLayout2.xml"/><Relationship Id="rId17" Type="http://schemas.openxmlformats.org/officeDocument/2006/relationships/image" Target="../media/image87.png"/><Relationship Id="rId2" Type="http://schemas.openxmlformats.org/officeDocument/2006/relationships/tags" Target="../tags/tag64.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image" Target="../media/image85.png"/><Relationship Id="rId10" Type="http://schemas.openxmlformats.org/officeDocument/2006/relationships/tags" Target="../tags/tag72.xml"/><Relationship Id="rId19" Type="http://schemas.openxmlformats.org/officeDocument/2006/relationships/image" Target="../media/image89.png"/><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image" Target="../media/image84.png"/></Relationships>
</file>

<file path=ppt/slides/_rels/slide36.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tags" Target="../tags/tag76.xml"/><Relationship Id="rId7" Type="http://schemas.openxmlformats.org/officeDocument/2006/relationships/image" Target="../media/image91.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90.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7.xml"/><Relationship Id="rId4" Type="http://schemas.openxmlformats.org/officeDocument/2006/relationships/image" Target="../media/image77.png"/></Relationships>
</file>

<file path=ppt/slides/_rels/slide40.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slideLayout" Target="../slideLayouts/slideLayout2.xml"/><Relationship Id="rId7" Type="http://schemas.openxmlformats.org/officeDocument/2006/relationships/image" Target="../media/image8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96.png"/><Relationship Id="rId5" Type="http://schemas.openxmlformats.org/officeDocument/2006/relationships/image" Target="../media/image79.png"/><Relationship Id="rId10" Type="http://schemas.openxmlformats.org/officeDocument/2006/relationships/image" Target="../media/image98.png"/><Relationship Id="rId4" Type="http://schemas.openxmlformats.org/officeDocument/2006/relationships/image" Target="../media/image95.png"/><Relationship Id="rId9" Type="http://schemas.openxmlformats.org/officeDocument/2006/relationships/image" Target="../media/image97.png"/></Relationships>
</file>

<file path=ppt/slides/_rels/slide41.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tags" Target="../tags/tag82.xml"/><Relationship Id="rId7" Type="http://schemas.openxmlformats.org/officeDocument/2006/relationships/image" Target="../media/image98.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slideLayout" Target="../slideLayouts/slideLayout2.xml"/><Relationship Id="rId11" Type="http://schemas.openxmlformats.org/officeDocument/2006/relationships/image" Target="../media/image102.png"/><Relationship Id="rId5" Type="http://schemas.openxmlformats.org/officeDocument/2006/relationships/tags" Target="../tags/tag84.xml"/><Relationship Id="rId10" Type="http://schemas.openxmlformats.org/officeDocument/2006/relationships/image" Target="../media/image101.png"/><Relationship Id="rId4" Type="http://schemas.openxmlformats.org/officeDocument/2006/relationships/tags" Target="../tags/tag83.xml"/><Relationship Id="rId9" Type="http://schemas.openxmlformats.org/officeDocument/2006/relationships/image" Target="../media/image10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104.pn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controlautomaticoeducacion.com/"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0.png"/></Relationships>
</file>

<file path=ppt/slides/_rels/slide48.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tags" Target="../tags/tag89.xml"/><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tags" Target="../tags/tag88.xml"/><Relationship Id="rId16" Type="http://schemas.openxmlformats.org/officeDocument/2006/relationships/image" Target="../media/image120.png"/><Relationship Id="rId1" Type="http://schemas.openxmlformats.org/officeDocument/2006/relationships/tags" Target="../tags/tag87.xml"/><Relationship Id="rId6" Type="http://schemas.openxmlformats.org/officeDocument/2006/relationships/notesSlide" Target="../notesSlides/notesSlide14.xml"/><Relationship Id="rId11" Type="http://schemas.openxmlformats.org/officeDocument/2006/relationships/image" Target="../media/image115.png"/><Relationship Id="rId5" Type="http://schemas.openxmlformats.org/officeDocument/2006/relationships/slideLayout" Target="../slideLayouts/slideLayout13.xml"/><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tags" Target="../tags/tag90.xml"/><Relationship Id="rId9" Type="http://schemas.openxmlformats.org/officeDocument/2006/relationships/image" Target="../media/image113.png"/><Relationship Id="rId14" Type="http://schemas.openxmlformats.org/officeDocument/2006/relationships/image" Target="../media/image118.png"/></Relationships>
</file>

<file path=ppt/slides/_rels/slide49.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20.png"/><Relationship Id="rId3" Type="http://schemas.openxmlformats.org/officeDocument/2006/relationships/tags" Target="../tags/tag93.xml"/><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notesSlide" Target="../notesSlides/notesSlide15.xml"/><Relationship Id="rId15" Type="http://schemas.openxmlformats.org/officeDocument/2006/relationships/image" Target="../media/image122.png"/><Relationship Id="rId10" Type="http://schemas.openxmlformats.org/officeDocument/2006/relationships/image" Target="../media/image115.png"/><Relationship Id="rId4" Type="http://schemas.openxmlformats.org/officeDocument/2006/relationships/slideLayout" Target="../slideLayouts/slideLayout13.xml"/><Relationship Id="rId9" Type="http://schemas.openxmlformats.org/officeDocument/2006/relationships/image" Target="../media/image114.png"/><Relationship Id="rId14" Type="http://schemas.openxmlformats.org/officeDocument/2006/relationships/image" Target="../media/image121.png"/></Relationships>
</file>

<file path=ppt/slides/_rels/slide50.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tags" Target="../tags/tag96.xml"/><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tags" Target="../tags/tag95.xml"/><Relationship Id="rId16" Type="http://schemas.openxmlformats.org/officeDocument/2006/relationships/image" Target="../media/image133.png"/><Relationship Id="rId1" Type="http://schemas.openxmlformats.org/officeDocument/2006/relationships/tags" Target="../tags/tag94.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notesSlide" Target="../notesSlides/notesSlide16.xml"/><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slideLayout" Target="../slideLayouts/slideLayout13.xml"/><Relationship Id="rId9" Type="http://schemas.openxmlformats.org/officeDocument/2006/relationships/image" Target="../media/image126.png"/><Relationship Id="rId14" Type="http://schemas.openxmlformats.org/officeDocument/2006/relationships/image" Target="../media/image131.png"/></Relationships>
</file>

<file path=ppt/slides/_rels/slide51.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5.png"/><Relationship Id="rId3" Type="http://schemas.openxmlformats.org/officeDocument/2006/relationships/tags" Target="../tags/tag99.xml"/><Relationship Id="rId21" Type="http://schemas.openxmlformats.org/officeDocument/2006/relationships/image" Target="../media/image138.png"/><Relationship Id="rId7" Type="http://schemas.openxmlformats.org/officeDocument/2006/relationships/notesSlide" Target="../notesSlides/notesSlide17.xml"/><Relationship Id="rId12" Type="http://schemas.openxmlformats.org/officeDocument/2006/relationships/image" Target="../media/image127.png"/><Relationship Id="rId17" Type="http://schemas.openxmlformats.org/officeDocument/2006/relationships/image" Target="../media/image134.png"/><Relationship Id="rId2" Type="http://schemas.openxmlformats.org/officeDocument/2006/relationships/tags" Target="../tags/tag98.xml"/><Relationship Id="rId16" Type="http://schemas.openxmlformats.org/officeDocument/2006/relationships/image" Target="../media/image131.png"/><Relationship Id="rId20" Type="http://schemas.openxmlformats.org/officeDocument/2006/relationships/image" Target="../media/image137.png"/><Relationship Id="rId1" Type="http://schemas.openxmlformats.org/officeDocument/2006/relationships/tags" Target="../tags/tag97.xml"/><Relationship Id="rId6" Type="http://schemas.openxmlformats.org/officeDocument/2006/relationships/slideLayout" Target="../slideLayouts/slideLayout13.xml"/><Relationship Id="rId11" Type="http://schemas.openxmlformats.org/officeDocument/2006/relationships/image" Target="../media/image126.png"/><Relationship Id="rId5" Type="http://schemas.openxmlformats.org/officeDocument/2006/relationships/tags" Target="../tags/tag101.xml"/><Relationship Id="rId15" Type="http://schemas.openxmlformats.org/officeDocument/2006/relationships/image" Target="../media/image130.png"/><Relationship Id="rId10" Type="http://schemas.openxmlformats.org/officeDocument/2006/relationships/image" Target="../media/image125.png"/><Relationship Id="rId19" Type="http://schemas.openxmlformats.org/officeDocument/2006/relationships/image" Target="../media/image136.png"/><Relationship Id="rId4" Type="http://schemas.openxmlformats.org/officeDocument/2006/relationships/tags" Target="../tags/tag100.xml"/><Relationship Id="rId9" Type="http://schemas.openxmlformats.org/officeDocument/2006/relationships/image" Target="../media/image124.png"/><Relationship Id="rId14" Type="http://schemas.openxmlformats.org/officeDocument/2006/relationships/image" Target="../media/image129.png"/></Relationships>
</file>

<file path=ppt/slides/_rels/slide52.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6.png"/><Relationship Id="rId3" Type="http://schemas.openxmlformats.org/officeDocument/2006/relationships/notesSlide" Target="../notesSlides/notesSlide18.xml"/><Relationship Id="rId7" Type="http://schemas.openxmlformats.org/officeDocument/2006/relationships/image" Target="../media/image142.png"/><Relationship Id="rId12" Type="http://schemas.openxmlformats.org/officeDocument/2006/relationships/image" Target="../media/image136.png"/><Relationship Id="rId2" Type="http://schemas.openxmlformats.org/officeDocument/2006/relationships/slideLayout" Target="../slideLayouts/slideLayout13.xml"/><Relationship Id="rId1" Type="http://schemas.openxmlformats.org/officeDocument/2006/relationships/tags" Target="../tags/tag102.xml"/><Relationship Id="rId6" Type="http://schemas.openxmlformats.org/officeDocument/2006/relationships/image" Target="../media/image141.png"/><Relationship Id="rId11" Type="http://schemas.openxmlformats.org/officeDocument/2006/relationships/image" Target="../media/image145.png"/><Relationship Id="rId5" Type="http://schemas.openxmlformats.org/officeDocument/2006/relationships/image" Target="../media/image140.png"/><Relationship Id="rId10" Type="http://schemas.openxmlformats.org/officeDocument/2006/relationships/image" Target="../media/image129.png"/><Relationship Id="rId4" Type="http://schemas.openxmlformats.org/officeDocument/2006/relationships/image" Target="../media/image139.png"/><Relationship Id="rId9" Type="http://schemas.openxmlformats.org/officeDocument/2006/relationships/image" Target="../media/image144.png"/><Relationship Id="rId14" Type="http://schemas.openxmlformats.org/officeDocument/2006/relationships/image" Target="../media/image147.png"/></Relationships>
</file>

<file path=ppt/slides/_rels/slide53.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tags" Target="../tags/tag105.xml"/><Relationship Id="rId7" Type="http://schemas.openxmlformats.org/officeDocument/2006/relationships/image" Target="../media/image118.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13.xml"/><Relationship Id="rId11" Type="http://schemas.openxmlformats.org/officeDocument/2006/relationships/image" Target="../media/image150.png"/><Relationship Id="rId5" Type="http://schemas.openxmlformats.org/officeDocument/2006/relationships/tags" Target="../tags/tag107.xml"/><Relationship Id="rId10" Type="http://schemas.openxmlformats.org/officeDocument/2006/relationships/image" Target="../media/image136.png"/><Relationship Id="rId4" Type="http://schemas.openxmlformats.org/officeDocument/2006/relationships/tags" Target="../tags/tag106.xml"/><Relationship Id="rId9" Type="http://schemas.openxmlformats.org/officeDocument/2006/relationships/image" Target="../media/image149.png"/></Relationships>
</file>

<file path=ppt/slides/_rels/slide54.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51.png"/><Relationship Id="rId18" Type="http://schemas.openxmlformats.org/officeDocument/2006/relationships/image" Target="../media/image155.png"/><Relationship Id="rId3" Type="http://schemas.openxmlformats.org/officeDocument/2006/relationships/tags" Target="../tags/tag110.xml"/><Relationship Id="rId7" Type="http://schemas.openxmlformats.org/officeDocument/2006/relationships/image" Target="../media/image140.png"/><Relationship Id="rId12" Type="http://schemas.openxmlformats.org/officeDocument/2006/relationships/image" Target="../media/image129.png"/><Relationship Id="rId17" Type="http://schemas.openxmlformats.org/officeDocument/2006/relationships/image" Target="../media/image154.png"/><Relationship Id="rId2" Type="http://schemas.openxmlformats.org/officeDocument/2006/relationships/tags" Target="../tags/tag109.xml"/><Relationship Id="rId16" Type="http://schemas.openxmlformats.org/officeDocument/2006/relationships/image" Target="../media/image131.png"/><Relationship Id="rId20" Type="http://schemas.openxmlformats.org/officeDocument/2006/relationships/image" Target="../media/image157.png"/><Relationship Id="rId1" Type="http://schemas.openxmlformats.org/officeDocument/2006/relationships/tags" Target="../tags/tag108.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notesSlide" Target="../notesSlides/notesSlide19.xml"/><Relationship Id="rId15" Type="http://schemas.openxmlformats.org/officeDocument/2006/relationships/image" Target="../media/image153.png"/><Relationship Id="rId10" Type="http://schemas.openxmlformats.org/officeDocument/2006/relationships/image" Target="../media/image143.png"/><Relationship Id="rId19" Type="http://schemas.openxmlformats.org/officeDocument/2006/relationships/image" Target="../media/image156.png"/><Relationship Id="rId4" Type="http://schemas.openxmlformats.org/officeDocument/2006/relationships/slideLayout" Target="../slideLayouts/slideLayout13.xml"/><Relationship Id="rId9" Type="http://schemas.openxmlformats.org/officeDocument/2006/relationships/image" Target="../media/image142.png"/><Relationship Id="rId14" Type="http://schemas.openxmlformats.org/officeDocument/2006/relationships/image" Target="../media/image152.png"/></Relationships>
</file>

<file path=ppt/slides/_rels/slide55.xml.rels><?xml version="1.0" encoding="UTF-8" standalone="yes"?>
<Relationships xmlns="http://schemas.openxmlformats.org/package/2006/relationships"><Relationship Id="rId3" Type="http://schemas.openxmlformats.org/officeDocument/2006/relationships/tags" Target="../tags/tag113.xml"/><Relationship Id="rId7" Type="http://schemas.openxmlformats.org/officeDocument/2006/relationships/image" Target="../media/image159.png"/><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158.png"/><Relationship Id="rId5" Type="http://schemas.openxmlformats.org/officeDocument/2006/relationships/image" Target="../media/image155.png"/><Relationship Id="rId4"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114.xml"/><Relationship Id="rId6" Type="http://schemas.openxmlformats.org/officeDocument/2006/relationships/image" Target="../media/image136.png"/><Relationship Id="rId5" Type="http://schemas.openxmlformats.org/officeDocument/2006/relationships/image" Target="../media/image161.png"/><Relationship Id="rId4" Type="http://schemas.openxmlformats.org/officeDocument/2006/relationships/image" Target="../media/image16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8" Type="http://schemas.openxmlformats.org/officeDocument/2006/relationships/tags" Target="../tags/tag122.xml"/><Relationship Id="rId13" Type="http://schemas.openxmlformats.org/officeDocument/2006/relationships/image" Target="../media/image162.png"/><Relationship Id="rId18" Type="http://schemas.openxmlformats.org/officeDocument/2006/relationships/image" Target="../media/image167.png"/><Relationship Id="rId3" Type="http://schemas.openxmlformats.org/officeDocument/2006/relationships/tags" Target="../tags/tag117.xml"/><Relationship Id="rId21" Type="http://schemas.openxmlformats.org/officeDocument/2006/relationships/image" Target="../media/image169.png"/><Relationship Id="rId7" Type="http://schemas.openxmlformats.org/officeDocument/2006/relationships/tags" Target="../tags/tag121.xml"/><Relationship Id="rId12" Type="http://schemas.openxmlformats.org/officeDocument/2006/relationships/notesSlide" Target="../notesSlides/notesSlide21.xml"/><Relationship Id="rId17" Type="http://schemas.openxmlformats.org/officeDocument/2006/relationships/image" Target="../media/image166.png"/><Relationship Id="rId2" Type="http://schemas.openxmlformats.org/officeDocument/2006/relationships/tags" Target="../tags/tag116.xml"/><Relationship Id="rId16" Type="http://schemas.openxmlformats.org/officeDocument/2006/relationships/image" Target="../media/image165.png"/><Relationship Id="rId20" Type="http://schemas.openxmlformats.org/officeDocument/2006/relationships/image" Target="../media/image168.png"/><Relationship Id="rId1" Type="http://schemas.openxmlformats.org/officeDocument/2006/relationships/tags" Target="../tags/tag115.xml"/><Relationship Id="rId6" Type="http://schemas.openxmlformats.org/officeDocument/2006/relationships/tags" Target="../tags/tag120.xml"/><Relationship Id="rId11" Type="http://schemas.openxmlformats.org/officeDocument/2006/relationships/slideLayout" Target="../slideLayouts/slideLayout13.xml"/><Relationship Id="rId5" Type="http://schemas.openxmlformats.org/officeDocument/2006/relationships/tags" Target="../tags/tag119.xml"/><Relationship Id="rId15" Type="http://schemas.openxmlformats.org/officeDocument/2006/relationships/image" Target="../media/image164.png"/><Relationship Id="rId23" Type="http://schemas.openxmlformats.org/officeDocument/2006/relationships/image" Target="../media/image171.svg"/><Relationship Id="rId10" Type="http://schemas.openxmlformats.org/officeDocument/2006/relationships/tags" Target="../tags/tag124.xml"/><Relationship Id="rId19" Type="http://schemas.openxmlformats.org/officeDocument/2006/relationships/image" Target="../media/image136.png"/><Relationship Id="rId4" Type="http://schemas.openxmlformats.org/officeDocument/2006/relationships/tags" Target="../tags/tag118.xml"/><Relationship Id="rId9" Type="http://schemas.openxmlformats.org/officeDocument/2006/relationships/tags" Target="../tags/tag123.xml"/><Relationship Id="rId14" Type="http://schemas.openxmlformats.org/officeDocument/2006/relationships/image" Target="../media/image163.png"/><Relationship Id="rId22" Type="http://schemas.openxmlformats.org/officeDocument/2006/relationships/image" Target="../media/image170.svg"/></Relationships>
</file>

<file path=ppt/slides/_rels/slide5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slideLayout" Target="../slideLayouts/slideLayout13.xml"/><Relationship Id="rId1" Type="http://schemas.openxmlformats.org/officeDocument/2006/relationships/tags" Target="../tags/tag125.xml"/></Relationships>
</file>

<file path=ppt/slides/_rels/slide60.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tags" Target="../tags/tag128.xml"/><Relationship Id="rId7" Type="http://schemas.openxmlformats.org/officeDocument/2006/relationships/image" Target="../media/image173.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72.png"/><Relationship Id="rId5" Type="http://schemas.openxmlformats.org/officeDocument/2006/relationships/notesSlide" Target="../notesSlides/notesSlide22.xml"/><Relationship Id="rId4"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image" Target="../media/image176.png"/><Relationship Id="rId18" Type="http://schemas.openxmlformats.org/officeDocument/2006/relationships/image" Target="../media/image181.png"/><Relationship Id="rId3" Type="http://schemas.openxmlformats.org/officeDocument/2006/relationships/tags" Target="../tags/tag131.xml"/><Relationship Id="rId7" Type="http://schemas.openxmlformats.org/officeDocument/2006/relationships/tags" Target="../tags/tag135.xml"/><Relationship Id="rId12" Type="http://schemas.openxmlformats.org/officeDocument/2006/relationships/image" Target="../media/image175.png"/><Relationship Id="rId17" Type="http://schemas.openxmlformats.org/officeDocument/2006/relationships/image" Target="../media/image180.png"/><Relationship Id="rId2" Type="http://schemas.openxmlformats.org/officeDocument/2006/relationships/tags" Target="../tags/tag130.xml"/><Relationship Id="rId16" Type="http://schemas.openxmlformats.org/officeDocument/2006/relationships/image" Target="../media/image179.png"/><Relationship Id="rId20" Type="http://schemas.openxmlformats.org/officeDocument/2006/relationships/image" Target="../media/image183.png"/><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notesSlide" Target="../notesSlides/notesSlide23.xml"/><Relationship Id="rId5" Type="http://schemas.openxmlformats.org/officeDocument/2006/relationships/tags" Target="../tags/tag133.xml"/><Relationship Id="rId15" Type="http://schemas.openxmlformats.org/officeDocument/2006/relationships/image" Target="../media/image178.png"/><Relationship Id="rId10" Type="http://schemas.openxmlformats.org/officeDocument/2006/relationships/slideLayout" Target="../slideLayouts/slideLayout13.xml"/><Relationship Id="rId19" Type="http://schemas.openxmlformats.org/officeDocument/2006/relationships/image" Target="../media/image182.png"/><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image" Target="../media/image177.png"/></Relationships>
</file>

<file path=ppt/slides/_rels/slide62.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tags" Target="../tags/tag140.xml"/><Relationship Id="rId7" Type="http://schemas.openxmlformats.org/officeDocument/2006/relationships/notesSlide" Target="../notesSlides/notesSlide24.xml"/><Relationship Id="rId12" Type="http://schemas.openxmlformats.org/officeDocument/2006/relationships/image" Target="../media/image187.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Layout" Target="../slideLayouts/slideLayout13.xml"/><Relationship Id="rId11" Type="http://schemas.openxmlformats.org/officeDocument/2006/relationships/image" Target="../media/image186.png"/><Relationship Id="rId5" Type="http://schemas.openxmlformats.org/officeDocument/2006/relationships/tags" Target="../tags/tag142.xml"/><Relationship Id="rId10" Type="http://schemas.openxmlformats.org/officeDocument/2006/relationships/image" Target="../media/image185.png"/><Relationship Id="rId4" Type="http://schemas.openxmlformats.org/officeDocument/2006/relationships/tags" Target="../tags/tag141.xml"/><Relationship Id="rId9" Type="http://schemas.openxmlformats.org/officeDocument/2006/relationships/image" Target="../media/image184.png"/></Relationships>
</file>

<file path=ppt/slides/_rels/slide63.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image" Target="../media/image187.png"/><Relationship Id="rId18" Type="http://schemas.openxmlformats.org/officeDocument/2006/relationships/image" Target="../media/image193.png"/><Relationship Id="rId3" Type="http://schemas.openxmlformats.org/officeDocument/2006/relationships/tags" Target="../tags/tag145.xml"/><Relationship Id="rId7" Type="http://schemas.openxmlformats.org/officeDocument/2006/relationships/tags" Target="../tags/tag149.xml"/><Relationship Id="rId12" Type="http://schemas.openxmlformats.org/officeDocument/2006/relationships/image" Target="../media/image189.png"/><Relationship Id="rId17" Type="http://schemas.openxmlformats.org/officeDocument/2006/relationships/image" Target="../media/image192.png"/><Relationship Id="rId2" Type="http://schemas.openxmlformats.org/officeDocument/2006/relationships/tags" Target="../tags/tag144.xml"/><Relationship Id="rId16" Type="http://schemas.openxmlformats.org/officeDocument/2006/relationships/image" Target="../media/image191.png"/><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188.png"/><Relationship Id="rId5" Type="http://schemas.openxmlformats.org/officeDocument/2006/relationships/tags" Target="../tags/tag147.xml"/><Relationship Id="rId15" Type="http://schemas.openxmlformats.org/officeDocument/2006/relationships/image" Target="../media/image186.png"/><Relationship Id="rId10" Type="http://schemas.openxmlformats.org/officeDocument/2006/relationships/notesSlide" Target="../notesSlides/notesSlide25.xml"/><Relationship Id="rId19" Type="http://schemas.openxmlformats.org/officeDocument/2006/relationships/image" Target="../media/image194.png"/><Relationship Id="rId4" Type="http://schemas.openxmlformats.org/officeDocument/2006/relationships/tags" Target="../tags/tag146.xml"/><Relationship Id="rId9" Type="http://schemas.openxmlformats.org/officeDocument/2006/relationships/slideLayout" Target="../slideLayouts/slideLayout13.xml"/><Relationship Id="rId14" Type="http://schemas.openxmlformats.org/officeDocument/2006/relationships/image" Target="../media/image190.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5.xml"/><Relationship Id="rId1" Type="http://schemas.openxmlformats.org/officeDocument/2006/relationships/tags" Target="../tags/tag151.xml"/><Relationship Id="rId5" Type="http://schemas.openxmlformats.org/officeDocument/2006/relationships/image" Target="../media/image194.png"/><Relationship Id="rId4" Type="http://schemas.openxmlformats.org/officeDocument/2006/relationships/image" Target="../media/image195.png"/></Relationships>
</file>

<file path=ppt/slides/_rels/slide65.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svg"/><Relationship Id="rId3" Type="http://schemas.openxmlformats.org/officeDocument/2006/relationships/tags" Target="../tags/tag154.xml"/><Relationship Id="rId7" Type="http://schemas.openxmlformats.org/officeDocument/2006/relationships/notesSlide" Target="../notesSlides/notesSlide29.xml"/><Relationship Id="rId12" Type="http://schemas.openxmlformats.org/officeDocument/2006/relationships/image" Target="../media/image201.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slideLayout" Target="../slideLayouts/slideLayout13.xml"/><Relationship Id="rId11" Type="http://schemas.openxmlformats.org/officeDocument/2006/relationships/image" Target="../media/image200.png"/><Relationship Id="rId5" Type="http://schemas.openxmlformats.org/officeDocument/2006/relationships/tags" Target="../tags/tag156.xml"/><Relationship Id="rId10" Type="http://schemas.openxmlformats.org/officeDocument/2006/relationships/image" Target="../media/image199.png"/><Relationship Id="rId4" Type="http://schemas.openxmlformats.org/officeDocument/2006/relationships/tags" Target="../tags/tag155.xml"/><Relationship Id="rId9" Type="http://schemas.openxmlformats.org/officeDocument/2006/relationships/image" Target="../media/image198.png"/></Relationships>
</file>

<file path=ppt/slides/_rels/slide68.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05.png"/><Relationship Id="rId3" Type="http://schemas.openxmlformats.org/officeDocument/2006/relationships/tags" Target="../tags/tag159.xml"/><Relationship Id="rId7" Type="http://schemas.openxmlformats.org/officeDocument/2006/relationships/tags" Target="../tags/tag163.xml"/><Relationship Id="rId12" Type="http://schemas.openxmlformats.org/officeDocument/2006/relationships/image" Target="../media/image204.png"/><Relationship Id="rId2" Type="http://schemas.openxmlformats.org/officeDocument/2006/relationships/tags" Target="../tags/tag158.xml"/><Relationship Id="rId16" Type="http://schemas.openxmlformats.org/officeDocument/2006/relationships/image" Target="../media/image208.png"/><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image" Target="../media/image203.png"/><Relationship Id="rId5" Type="http://schemas.openxmlformats.org/officeDocument/2006/relationships/tags" Target="../tags/tag161.xml"/><Relationship Id="rId15" Type="http://schemas.openxmlformats.org/officeDocument/2006/relationships/image" Target="../media/image207.png"/><Relationship Id="rId10" Type="http://schemas.openxmlformats.org/officeDocument/2006/relationships/image" Target="../media/image180.png"/><Relationship Id="rId4" Type="http://schemas.openxmlformats.org/officeDocument/2006/relationships/tags" Target="../tags/tag160.xml"/><Relationship Id="rId9" Type="http://schemas.openxmlformats.org/officeDocument/2006/relationships/notesSlide" Target="../notesSlides/notesSlide30.xml"/><Relationship Id="rId14" Type="http://schemas.openxmlformats.org/officeDocument/2006/relationships/image" Target="../media/image206.png"/></Relationships>
</file>

<file path=ppt/slides/_rels/slide69.xml.rels><?xml version="1.0" encoding="UTF-8" standalone="yes"?>
<Relationships xmlns="http://schemas.openxmlformats.org/package/2006/relationships"><Relationship Id="rId8" Type="http://schemas.openxmlformats.org/officeDocument/2006/relationships/image" Target="../media/image212.png"/><Relationship Id="rId3" Type="http://schemas.openxmlformats.org/officeDocument/2006/relationships/tags" Target="../tags/tag166.xml"/><Relationship Id="rId7" Type="http://schemas.openxmlformats.org/officeDocument/2006/relationships/image" Target="../media/image211.png"/><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image" Target="../media/image210.png"/><Relationship Id="rId5" Type="http://schemas.openxmlformats.org/officeDocument/2006/relationships/image" Target="../media/image209.png"/><Relationship Id="rId4"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8" Type="http://schemas.openxmlformats.org/officeDocument/2006/relationships/image" Target="../media/image216.png"/><Relationship Id="rId3" Type="http://schemas.openxmlformats.org/officeDocument/2006/relationships/tags" Target="../tags/tag169.xml"/><Relationship Id="rId7" Type="http://schemas.openxmlformats.org/officeDocument/2006/relationships/image" Target="../media/image215.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image" Target="../media/image219.png"/><Relationship Id="rId5" Type="http://schemas.openxmlformats.org/officeDocument/2006/relationships/image" Target="../media/image218.png"/><Relationship Id="rId4" Type="http://schemas.openxmlformats.org/officeDocument/2006/relationships/image" Target="../media/image217.png"/></Relationships>
</file>

<file path=ppt/slides/_rels/slide72.xml.rels><?xml version="1.0" encoding="UTF-8" standalone="yes"?>
<Relationships xmlns="http://schemas.openxmlformats.org/package/2006/relationships"><Relationship Id="rId8" Type="http://schemas.openxmlformats.org/officeDocument/2006/relationships/image" Target="../media/image219.png"/><Relationship Id="rId3" Type="http://schemas.openxmlformats.org/officeDocument/2006/relationships/tags" Target="../tags/tag174.xml"/><Relationship Id="rId7" Type="http://schemas.openxmlformats.org/officeDocument/2006/relationships/image" Target="../media/image220.png"/><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slideLayout" Target="../slideLayouts/slideLayout13.xml"/><Relationship Id="rId11" Type="http://schemas.openxmlformats.org/officeDocument/2006/relationships/image" Target="../media/image222.png"/><Relationship Id="rId5" Type="http://schemas.openxmlformats.org/officeDocument/2006/relationships/tags" Target="../tags/tag176.xml"/><Relationship Id="rId10" Type="http://schemas.openxmlformats.org/officeDocument/2006/relationships/image" Target="../media/image201.png"/><Relationship Id="rId4" Type="http://schemas.openxmlformats.org/officeDocument/2006/relationships/tags" Target="../tags/tag175.xml"/><Relationship Id="rId9" Type="http://schemas.openxmlformats.org/officeDocument/2006/relationships/image" Target="../media/image221.png"/></Relationships>
</file>

<file path=ppt/slides/_rels/slide73.xml.rels><?xml version="1.0" encoding="UTF-8" standalone="yes"?>
<Relationships xmlns="http://schemas.openxmlformats.org/package/2006/relationships"><Relationship Id="rId3" Type="http://schemas.openxmlformats.org/officeDocument/2006/relationships/tags" Target="../tags/tag179.xml"/><Relationship Id="rId7" Type="http://schemas.openxmlformats.org/officeDocument/2006/relationships/image" Target="../media/image224.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image" Target="../media/image223.png"/><Relationship Id="rId5" Type="http://schemas.openxmlformats.org/officeDocument/2006/relationships/image" Target="../media/image216.png"/><Relationship Id="rId4"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8" Type="http://schemas.openxmlformats.org/officeDocument/2006/relationships/notesSlide" Target="../notesSlides/notesSlide31.xml"/><Relationship Id="rId13" Type="http://schemas.openxmlformats.org/officeDocument/2006/relationships/image" Target="../media/image224.png"/><Relationship Id="rId3" Type="http://schemas.openxmlformats.org/officeDocument/2006/relationships/tags" Target="../tags/tag182.xml"/><Relationship Id="rId7" Type="http://schemas.openxmlformats.org/officeDocument/2006/relationships/slideLayout" Target="../slideLayouts/slideLayout15.xml"/><Relationship Id="rId12" Type="http://schemas.openxmlformats.org/officeDocument/2006/relationships/image" Target="../media/image134.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11" Type="http://schemas.openxmlformats.org/officeDocument/2006/relationships/image" Target="../media/image198.png"/><Relationship Id="rId5" Type="http://schemas.openxmlformats.org/officeDocument/2006/relationships/tags" Target="../tags/tag184.xml"/><Relationship Id="rId15" Type="http://schemas.openxmlformats.org/officeDocument/2006/relationships/image" Target="../media/image226.png"/><Relationship Id="rId10" Type="http://schemas.openxmlformats.org/officeDocument/2006/relationships/image" Target="../media/image197.png"/><Relationship Id="rId4" Type="http://schemas.openxmlformats.org/officeDocument/2006/relationships/tags" Target="../tags/tag183.xml"/><Relationship Id="rId9" Type="http://schemas.openxmlformats.org/officeDocument/2006/relationships/image" Target="../media/image225.png"/><Relationship Id="rId14" Type="http://schemas.openxmlformats.org/officeDocument/2006/relationships/image" Target="../media/image136.png"/></Relationships>
</file>

<file path=ppt/slides/_rels/slide75.xml.rels><?xml version="1.0" encoding="UTF-8" standalone="yes"?>
<Relationships xmlns="http://schemas.openxmlformats.org/package/2006/relationships"><Relationship Id="rId2" Type="http://schemas.openxmlformats.org/officeDocument/2006/relationships/hyperlink" Target="https://controlautomaticoeducacion.com/" TargetMode="Externa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8" Type="http://schemas.openxmlformats.org/officeDocument/2006/relationships/image" Target="../media/image228.png"/><Relationship Id="rId3" Type="http://schemas.openxmlformats.org/officeDocument/2006/relationships/tags" Target="../tags/tag188.xml"/><Relationship Id="rId7" Type="http://schemas.openxmlformats.org/officeDocument/2006/relationships/image" Target="../media/image227.pn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Layout" Target="../slideLayouts/slideLayout13.xml"/><Relationship Id="rId11" Type="http://schemas.openxmlformats.org/officeDocument/2006/relationships/image" Target="../media/image231.png"/><Relationship Id="rId5" Type="http://schemas.openxmlformats.org/officeDocument/2006/relationships/tags" Target="../tags/tag190.xml"/><Relationship Id="rId10" Type="http://schemas.openxmlformats.org/officeDocument/2006/relationships/image" Target="../media/image230.png"/><Relationship Id="rId4" Type="http://schemas.openxmlformats.org/officeDocument/2006/relationships/tags" Target="../tags/tag189.xml"/><Relationship Id="rId9" Type="http://schemas.openxmlformats.org/officeDocument/2006/relationships/image" Target="../media/image229.png"/></Relationships>
</file>

<file path=ppt/slides/_rels/slide77.xml.rels><?xml version="1.0" encoding="UTF-8" standalone="yes"?>
<Relationships xmlns="http://schemas.openxmlformats.org/package/2006/relationships"><Relationship Id="rId8" Type="http://schemas.openxmlformats.org/officeDocument/2006/relationships/image" Target="../media/image232.png"/><Relationship Id="rId13" Type="http://schemas.openxmlformats.org/officeDocument/2006/relationships/image" Target="../media/image236.png"/><Relationship Id="rId3" Type="http://schemas.openxmlformats.org/officeDocument/2006/relationships/tags" Target="../tags/tag193.xml"/><Relationship Id="rId7" Type="http://schemas.openxmlformats.org/officeDocument/2006/relationships/notesSlide" Target="../notesSlides/notesSlide32.xml"/><Relationship Id="rId12" Type="http://schemas.openxmlformats.org/officeDocument/2006/relationships/image" Target="../media/image202.svg"/><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13.xml"/><Relationship Id="rId11" Type="http://schemas.openxmlformats.org/officeDocument/2006/relationships/image" Target="../media/image235.png"/><Relationship Id="rId5" Type="http://schemas.openxmlformats.org/officeDocument/2006/relationships/tags" Target="../tags/tag195.xml"/><Relationship Id="rId10" Type="http://schemas.openxmlformats.org/officeDocument/2006/relationships/image" Target="../media/image234.png"/><Relationship Id="rId4" Type="http://schemas.openxmlformats.org/officeDocument/2006/relationships/tags" Target="../tags/tag194.xml"/><Relationship Id="rId9" Type="http://schemas.openxmlformats.org/officeDocument/2006/relationships/image" Target="../media/image233.png"/></Relationships>
</file>

<file path=ppt/slides/_rels/slide78.xml.rels><?xml version="1.0" encoding="UTF-8" standalone="yes"?>
<Relationships xmlns="http://schemas.openxmlformats.org/package/2006/relationships"><Relationship Id="rId8" Type="http://schemas.openxmlformats.org/officeDocument/2006/relationships/image" Target="../media/image237.png"/><Relationship Id="rId3" Type="http://schemas.openxmlformats.org/officeDocument/2006/relationships/tags" Target="../tags/tag198.xml"/><Relationship Id="rId7" Type="http://schemas.openxmlformats.org/officeDocument/2006/relationships/image" Target="../media/image228.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slideLayout" Target="../slideLayouts/slideLayout13.xml"/><Relationship Id="rId11" Type="http://schemas.openxmlformats.org/officeDocument/2006/relationships/image" Target="../media/image240.png"/><Relationship Id="rId5" Type="http://schemas.openxmlformats.org/officeDocument/2006/relationships/tags" Target="../tags/tag200.xml"/><Relationship Id="rId10" Type="http://schemas.openxmlformats.org/officeDocument/2006/relationships/image" Target="../media/image239.png"/><Relationship Id="rId4" Type="http://schemas.openxmlformats.org/officeDocument/2006/relationships/tags" Target="../tags/tag199.xml"/><Relationship Id="rId9" Type="http://schemas.openxmlformats.org/officeDocument/2006/relationships/image" Target="../media/image238.png"/></Relationships>
</file>

<file path=ppt/slides/_rels/slide79.xml.rels><?xml version="1.0" encoding="UTF-8" standalone="yes"?>
<Relationships xmlns="http://schemas.openxmlformats.org/package/2006/relationships"><Relationship Id="rId2" Type="http://schemas.openxmlformats.org/officeDocument/2006/relationships/hyperlink" Target="https://controlautomaticoeducacion.com/" TargetMode="Externa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8" Type="http://schemas.openxmlformats.org/officeDocument/2006/relationships/image" Target="../media/image242.png"/><Relationship Id="rId13" Type="http://schemas.openxmlformats.org/officeDocument/2006/relationships/image" Target="../media/image247.png"/><Relationship Id="rId3" Type="http://schemas.openxmlformats.org/officeDocument/2006/relationships/tags" Target="../tags/tag203.xml"/><Relationship Id="rId7" Type="http://schemas.openxmlformats.org/officeDocument/2006/relationships/image" Target="../media/image156.png"/><Relationship Id="rId12" Type="http://schemas.openxmlformats.org/officeDocument/2006/relationships/image" Target="../media/image246.png"/><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157.png"/><Relationship Id="rId11" Type="http://schemas.openxmlformats.org/officeDocument/2006/relationships/image" Target="../media/image245.png"/><Relationship Id="rId5" Type="http://schemas.openxmlformats.org/officeDocument/2006/relationships/image" Target="../media/image241.png"/><Relationship Id="rId15" Type="http://schemas.openxmlformats.org/officeDocument/2006/relationships/image" Target="../media/image249.png"/><Relationship Id="rId10" Type="http://schemas.openxmlformats.org/officeDocument/2006/relationships/image" Target="../media/image244.png"/><Relationship Id="rId4" Type="http://schemas.openxmlformats.org/officeDocument/2006/relationships/slideLayout" Target="../slideLayouts/slideLayout13.xml"/><Relationship Id="rId9" Type="http://schemas.openxmlformats.org/officeDocument/2006/relationships/image" Target="../media/image243.png"/><Relationship Id="rId14" Type="http://schemas.openxmlformats.org/officeDocument/2006/relationships/image" Target="../media/image24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57.png"/><Relationship Id="rId3" Type="http://schemas.openxmlformats.org/officeDocument/2006/relationships/image" Target="../media/image251.png"/><Relationship Id="rId7" Type="http://schemas.openxmlformats.org/officeDocument/2006/relationships/image" Target="../media/image255.png"/><Relationship Id="rId12" Type="http://schemas.openxmlformats.org/officeDocument/2006/relationships/image" Target="../media/image259.png"/><Relationship Id="rId2" Type="http://schemas.openxmlformats.org/officeDocument/2006/relationships/image" Target="../media/image250.png"/><Relationship Id="rId1" Type="http://schemas.openxmlformats.org/officeDocument/2006/relationships/slideLayout" Target="../slideLayouts/slideLayout13.xml"/><Relationship Id="rId6" Type="http://schemas.openxmlformats.org/officeDocument/2006/relationships/image" Target="../media/image254.png"/><Relationship Id="rId11" Type="http://schemas.openxmlformats.org/officeDocument/2006/relationships/image" Target="../media/image258.png"/><Relationship Id="rId5" Type="http://schemas.openxmlformats.org/officeDocument/2006/relationships/image" Target="../media/image253.png"/><Relationship Id="rId10" Type="http://schemas.openxmlformats.org/officeDocument/2006/relationships/image" Target="../media/image257.png"/><Relationship Id="rId4" Type="http://schemas.openxmlformats.org/officeDocument/2006/relationships/image" Target="../media/image252.png"/><Relationship Id="rId9" Type="http://schemas.openxmlformats.org/officeDocument/2006/relationships/image" Target="../media/image256.png"/><Relationship Id="rId14" Type="http://schemas.openxmlformats.org/officeDocument/2006/relationships/image" Target="../media/image260.png"/></Relationships>
</file>

<file path=ppt/slides/_rels/slide83.xml.rels><?xml version="1.0" encoding="UTF-8" standalone="yes"?>
<Relationships xmlns="http://schemas.openxmlformats.org/package/2006/relationships"><Relationship Id="rId8" Type="http://schemas.openxmlformats.org/officeDocument/2006/relationships/image" Target="../media/image262.png"/><Relationship Id="rId3" Type="http://schemas.openxmlformats.org/officeDocument/2006/relationships/tags" Target="../tags/tag206.xml"/><Relationship Id="rId7" Type="http://schemas.openxmlformats.org/officeDocument/2006/relationships/image" Target="../media/image261.png"/><Relationship Id="rId12" Type="http://schemas.openxmlformats.org/officeDocument/2006/relationships/image" Target="../media/image266.png"/><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slideLayout" Target="../slideLayouts/slideLayout13.xml"/><Relationship Id="rId11" Type="http://schemas.openxmlformats.org/officeDocument/2006/relationships/image" Target="../media/image265.png"/><Relationship Id="rId5" Type="http://schemas.openxmlformats.org/officeDocument/2006/relationships/tags" Target="../tags/tag208.xml"/><Relationship Id="rId10" Type="http://schemas.openxmlformats.org/officeDocument/2006/relationships/image" Target="../media/image264.png"/><Relationship Id="rId4" Type="http://schemas.openxmlformats.org/officeDocument/2006/relationships/tags" Target="../tags/tag207.xml"/><Relationship Id="rId9" Type="http://schemas.openxmlformats.org/officeDocument/2006/relationships/image" Target="../media/image263.png"/></Relationships>
</file>

<file path=ppt/slides/_rels/slide84.xml.rels><?xml version="1.0" encoding="UTF-8" standalone="yes"?>
<Relationships xmlns="http://schemas.openxmlformats.org/package/2006/relationships"><Relationship Id="rId8" Type="http://schemas.openxmlformats.org/officeDocument/2006/relationships/image" Target="../media/image269.png"/><Relationship Id="rId3" Type="http://schemas.openxmlformats.org/officeDocument/2006/relationships/tags" Target="../tags/tag211.xml"/><Relationship Id="rId7" Type="http://schemas.openxmlformats.org/officeDocument/2006/relationships/image" Target="../media/image265.pn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268.png"/><Relationship Id="rId5" Type="http://schemas.openxmlformats.org/officeDocument/2006/relationships/image" Target="../media/image267.png"/><Relationship Id="rId4" Type="http://schemas.openxmlformats.org/officeDocument/2006/relationships/slideLayout" Target="../slideLayouts/slideLayout13.xml"/><Relationship Id="rId9" Type="http://schemas.openxmlformats.org/officeDocument/2006/relationships/image" Target="../media/image266.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image" Target="../media/image266.png"/><Relationship Id="rId5" Type="http://schemas.openxmlformats.org/officeDocument/2006/relationships/image" Target="../media/image271.png"/><Relationship Id="rId4" Type="http://schemas.openxmlformats.org/officeDocument/2006/relationships/image" Target="../media/image270.png"/></Relationships>
</file>

<file path=ppt/slides/_rels/slide86.xml.rels><?xml version="1.0" encoding="UTF-8" standalone="yes"?>
<Relationships xmlns="http://schemas.openxmlformats.org/package/2006/relationships"><Relationship Id="rId2" Type="http://schemas.openxmlformats.org/officeDocument/2006/relationships/hyperlink" Target="https://controlautomaticoeducacion.com/" TargetMode="Externa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57.png"/><Relationship Id="rId18" Type="http://schemas.openxmlformats.org/officeDocument/2006/relationships/image" Target="../media/image277.png"/><Relationship Id="rId3" Type="http://schemas.openxmlformats.org/officeDocument/2006/relationships/image" Target="../media/image251.png"/><Relationship Id="rId7" Type="http://schemas.openxmlformats.org/officeDocument/2006/relationships/image" Target="../media/image255.png"/><Relationship Id="rId12" Type="http://schemas.openxmlformats.org/officeDocument/2006/relationships/image" Target="../media/image259.png"/><Relationship Id="rId17" Type="http://schemas.openxmlformats.org/officeDocument/2006/relationships/image" Target="../media/image276.png"/><Relationship Id="rId2" Type="http://schemas.openxmlformats.org/officeDocument/2006/relationships/image" Target="../media/image250.png"/><Relationship Id="rId16" Type="http://schemas.openxmlformats.org/officeDocument/2006/relationships/image" Target="../media/image156.png"/><Relationship Id="rId1" Type="http://schemas.openxmlformats.org/officeDocument/2006/relationships/slideLayout" Target="../slideLayouts/slideLayout13.xml"/><Relationship Id="rId6" Type="http://schemas.openxmlformats.org/officeDocument/2006/relationships/image" Target="../media/image254.png"/><Relationship Id="rId11" Type="http://schemas.openxmlformats.org/officeDocument/2006/relationships/image" Target="../media/image273.png"/><Relationship Id="rId5" Type="http://schemas.openxmlformats.org/officeDocument/2006/relationships/image" Target="../media/image253.png"/><Relationship Id="rId15" Type="http://schemas.openxmlformats.org/officeDocument/2006/relationships/image" Target="../media/image275.png"/><Relationship Id="rId10" Type="http://schemas.openxmlformats.org/officeDocument/2006/relationships/image" Target="../media/image272.png"/><Relationship Id="rId4" Type="http://schemas.openxmlformats.org/officeDocument/2006/relationships/image" Target="../media/image252.png"/><Relationship Id="rId9" Type="http://schemas.openxmlformats.org/officeDocument/2006/relationships/image" Target="../media/image256.png"/><Relationship Id="rId14" Type="http://schemas.openxmlformats.org/officeDocument/2006/relationships/image" Target="../media/image274.png"/></Relationships>
</file>

<file path=ppt/slides/_rels/slide89.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tags" Target="../tags/tag216.xml"/><Relationship Id="rId7" Type="http://schemas.openxmlformats.org/officeDocument/2006/relationships/image" Target="../media/image279.png"/><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278.png"/><Relationship Id="rId11" Type="http://schemas.openxmlformats.org/officeDocument/2006/relationships/image" Target="../media/image261.png"/><Relationship Id="rId5" Type="http://schemas.openxmlformats.org/officeDocument/2006/relationships/slideLayout" Target="../slideLayouts/slideLayout13.xml"/><Relationship Id="rId10" Type="http://schemas.openxmlformats.org/officeDocument/2006/relationships/image" Target="../media/image282.png"/><Relationship Id="rId4" Type="http://schemas.openxmlformats.org/officeDocument/2006/relationships/tags" Target="../tags/tag217.xml"/><Relationship Id="rId9" Type="http://schemas.openxmlformats.org/officeDocument/2006/relationships/image" Target="../media/image281.png"/></Relationships>
</file>

<file path=ppt/slides/_rels/slide90.xml.rels><?xml version="1.0" encoding="UTF-8" standalone="yes"?>
<Relationships xmlns="http://schemas.openxmlformats.org/package/2006/relationships"><Relationship Id="rId8" Type="http://schemas.openxmlformats.org/officeDocument/2006/relationships/tags" Target="../tags/tag225.xml"/><Relationship Id="rId13" Type="http://schemas.openxmlformats.org/officeDocument/2006/relationships/image" Target="../media/image284.png"/><Relationship Id="rId18" Type="http://schemas.openxmlformats.org/officeDocument/2006/relationships/image" Target="../media/image289.png"/><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image" Target="../media/image283.png"/><Relationship Id="rId17" Type="http://schemas.openxmlformats.org/officeDocument/2006/relationships/image" Target="../media/image288.png"/><Relationship Id="rId2" Type="http://schemas.openxmlformats.org/officeDocument/2006/relationships/tags" Target="../tags/tag219.xml"/><Relationship Id="rId16" Type="http://schemas.openxmlformats.org/officeDocument/2006/relationships/image" Target="../media/image287.png"/><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image" Target="../media/image282.png"/><Relationship Id="rId5" Type="http://schemas.openxmlformats.org/officeDocument/2006/relationships/tags" Target="../tags/tag222.xml"/><Relationship Id="rId15" Type="http://schemas.openxmlformats.org/officeDocument/2006/relationships/image" Target="../media/image286.png"/><Relationship Id="rId10" Type="http://schemas.openxmlformats.org/officeDocument/2006/relationships/image" Target="../media/image279.png"/><Relationship Id="rId4" Type="http://schemas.openxmlformats.org/officeDocument/2006/relationships/tags" Target="../tags/tag221.xml"/><Relationship Id="rId9" Type="http://schemas.openxmlformats.org/officeDocument/2006/relationships/slideLayout" Target="../slideLayouts/slideLayout13.xml"/><Relationship Id="rId14" Type="http://schemas.openxmlformats.org/officeDocument/2006/relationships/image" Target="../media/image285.png"/></Relationships>
</file>

<file path=ppt/slides/_rels/slide91.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7.xml"/><Relationship Id="rId1" Type="http://schemas.openxmlformats.org/officeDocument/2006/relationships/tags" Target="../tags/tag226.xml"/><Relationship Id="rId6" Type="http://schemas.openxmlformats.org/officeDocument/2006/relationships/image" Target="../media/image294.png"/><Relationship Id="rId5" Type="http://schemas.openxmlformats.org/officeDocument/2006/relationships/image" Target="../media/image293.png"/><Relationship Id="rId4" Type="http://schemas.openxmlformats.org/officeDocument/2006/relationships/image" Target="../media/image292.png"/></Relationships>
</file>

<file path=ppt/slides/_rels/slide93.xml.rels><?xml version="1.0" encoding="UTF-8" standalone="yes"?>
<Relationships xmlns="http://schemas.openxmlformats.org/package/2006/relationships"><Relationship Id="rId8" Type="http://schemas.openxmlformats.org/officeDocument/2006/relationships/image" Target="../media/image295.png"/><Relationship Id="rId13" Type="http://schemas.openxmlformats.org/officeDocument/2006/relationships/image" Target="../media/image300.png"/><Relationship Id="rId3" Type="http://schemas.openxmlformats.org/officeDocument/2006/relationships/tags" Target="../tags/tag230.xml"/><Relationship Id="rId7" Type="http://schemas.openxmlformats.org/officeDocument/2006/relationships/slideLayout" Target="../slideLayouts/slideLayout13.xml"/><Relationship Id="rId12" Type="http://schemas.openxmlformats.org/officeDocument/2006/relationships/image" Target="../media/image299.png"/><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image" Target="../media/image298.png"/><Relationship Id="rId5" Type="http://schemas.openxmlformats.org/officeDocument/2006/relationships/tags" Target="../tags/tag232.xml"/><Relationship Id="rId10" Type="http://schemas.openxmlformats.org/officeDocument/2006/relationships/image" Target="../media/image297.png"/><Relationship Id="rId4" Type="http://schemas.openxmlformats.org/officeDocument/2006/relationships/tags" Target="../tags/tag231.xml"/><Relationship Id="rId9" Type="http://schemas.openxmlformats.org/officeDocument/2006/relationships/image" Target="../media/image296.png"/><Relationship Id="rId14" Type="http://schemas.openxmlformats.org/officeDocument/2006/relationships/image" Target="../media/image301.png"/></Relationships>
</file>

<file path=ppt/slides/_rels/slide94.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84.png"/><Relationship Id="rId3" Type="http://schemas.openxmlformats.org/officeDocument/2006/relationships/tags" Target="../tags/tag236.xml"/><Relationship Id="rId7" Type="http://schemas.openxmlformats.org/officeDocument/2006/relationships/tags" Target="../tags/tag240.xml"/><Relationship Id="rId12" Type="http://schemas.openxmlformats.org/officeDocument/2006/relationships/image" Target="../media/image283.png"/><Relationship Id="rId2" Type="http://schemas.openxmlformats.org/officeDocument/2006/relationships/tags" Target="../tags/tag235.xml"/><Relationship Id="rId16" Type="http://schemas.openxmlformats.org/officeDocument/2006/relationships/image" Target="../media/image306.png"/><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image" Target="../media/image304.png"/><Relationship Id="rId5" Type="http://schemas.openxmlformats.org/officeDocument/2006/relationships/tags" Target="../tags/tag238.xml"/><Relationship Id="rId15" Type="http://schemas.openxmlformats.org/officeDocument/2006/relationships/image" Target="../media/image216.png"/><Relationship Id="rId10" Type="http://schemas.openxmlformats.org/officeDocument/2006/relationships/image" Target="../media/image303.png"/><Relationship Id="rId4" Type="http://schemas.openxmlformats.org/officeDocument/2006/relationships/tags" Target="../tags/tag237.xml"/><Relationship Id="rId9" Type="http://schemas.openxmlformats.org/officeDocument/2006/relationships/image" Target="../media/image302.png"/><Relationship Id="rId14" Type="http://schemas.openxmlformats.org/officeDocument/2006/relationships/image" Target="../media/image305.png"/></Relationships>
</file>

<file path=ppt/slides/_rels/slide95.xml.rels><?xml version="1.0" encoding="UTF-8" standalone="yes"?>
<Relationships xmlns="http://schemas.openxmlformats.org/package/2006/relationships"><Relationship Id="rId8" Type="http://schemas.openxmlformats.org/officeDocument/2006/relationships/image" Target="../media/image299.png"/><Relationship Id="rId3" Type="http://schemas.openxmlformats.org/officeDocument/2006/relationships/tags" Target="../tags/tag243.xml"/><Relationship Id="rId7" Type="http://schemas.openxmlformats.org/officeDocument/2006/relationships/image" Target="../media/image308.pn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image" Target="../media/image307.png"/><Relationship Id="rId5" Type="http://schemas.openxmlformats.org/officeDocument/2006/relationships/slideLayout" Target="../slideLayouts/slideLayout13.xml"/><Relationship Id="rId4" Type="http://schemas.openxmlformats.org/officeDocument/2006/relationships/tags" Target="../tags/tag244.xml"/><Relationship Id="rId9" Type="http://schemas.openxmlformats.org/officeDocument/2006/relationships/image" Target="../media/image305.png"/></Relationships>
</file>

<file path=ppt/slides/_rels/slide96.xml.rels><?xml version="1.0" encoding="UTF-8" standalone="yes"?>
<Relationships xmlns="http://schemas.openxmlformats.org/package/2006/relationships"><Relationship Id="rId8" Type="http://schemas.openxmlformats.org/officeDocument/2006/relationships/image" Target="../media/image255.png"/><Relationship Id="rId13" Type="http://schemas.openxmlformats.org/officeDocument/2006/relationships/image" Target="../media/image259.png"/><Relationship Id="rId18" Type="http://schemas.openxmlformats.org/officeDocument/2006/relationships/image" Target="../media/image276.png"/><Relationship Id="rId3" Type="http://schemas.openxmlformats.org/officeDocument/2006/relationships/image" Target="../media/image309.png"/><Relationship Id="rId7" Type="http://schemas.openxmlformats.org/officeDocument/2006/relationships/image" Target="../media/image254.png"/><Relationship Id="rId12" Type="http://schemas.openxmlformats.org/officeDocument/2006/relationships/image" Target="../media/image273.png"/><Relationship Id="rId17" Type="http://schemas.openxmlformats.org/officeDocument/2006/relationships/image" Target="../media/image156.png"/><Relationship Id="rId2" Type="http://schemas.openxmlformats.org/officeDocument/2006/relationships/slideLayout" Target="../slideLayouts/slideLayout13.xml"/><Relationship Id="rId16" Type="http://schemas.openxmlformats.org/officeDocument/2006/relationships/image" Target="../media/image275.png"/><Relationship Id="rId20" Type="http://schemas.openxmlformats.org/officeDocument/2006/relationships/image" Target="../media/image314.png"/><Relationship Id="rId1" Type="http://schemas.openxmlformats.org/officeDocument/2006/relationships/tags" Target="../tags/tag245.xml"/><Relationship Id="rId6" Type="http://schemas.openxmlformats.org/officeDocument/2006/relationships/image" Target="../media/image311.png"/><Relationship Id="rId11" Type="http://schemas.openxmlformats.org/officeDocument/2006/relationships/image" Target="../media/image312.png"/><Relationship Id="rId5" Type="http://schemas.openxmlformats.org/officeDocument/2006/relationships/image" Target="../media/image310.png"/><Relationship Id="rId15" Type="http://schemas.openxmlformats.org/officeDocument/2006/relationships/image" Target="../media/image313.png"/><Relationship Id="rId10" Type="http://schemas.openxmlformats.org/officeDocument/2006/relationships/image" Target="../media/image256.png"/><Relationship Id="rId19" Type="http://schemas.openxmlformats.org/officeDocument/2006/relationships/image" Target="../media/image277.png"/><Relationship Id="rId4" Type="http://schemas.openxmlformats.org/officeDocument/2006/relationships/image" Target="../media/image251.png"/><Relationship Id="rId9" Type="http://schemas.openxmlformats.org/officeDocument/2006/relationships/image" Target="../media/image129.png"/><Relationship Id="rId14" Type="http://schemas.openxmlformats.org/officeDocument/2006/relationships/image" Target="../media/image157.png"/></Relationships>
</file>

<file path=ppt/slides/_rels/slide97.xml.rels><?xml version="1.0" encoding="UTF-8" standalone="yes"?>
<Relationships xmlns="http://schemas.openxmlformats.org/package/2006/relationships"><Relationship Id="rId2" Type="http://schemas.openxmlformats.org/officeDocument/2006/relationships/hyperlink" Target="https://controlautomaticoeducacion.com/" TargetMode="Externa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8" Type="http://schemas.openxmlformats.org/officeDocument/2006/relationships/image" Target="../media/image319.png"/><Relationship Id="rId3" Type="http://schemas.openxmlformats.org/officeDocument/2006/relationships/image" Target="../media/image157.png"/><Relationship Id="rId7" Type="http://schemas.openxmlformats.org/officeDocument/2006/relationships/image" Target="../media/image318.png"/><Relationship Id="rId2" Type="http://schemas.openxmlformats.org/officeDocument/2006/relationships/image" Target="../media/image315.png"/><Relationship Id="rId1" Type="http://schemas.openxmlformats.org/officeDocument/2006/relationships/slideLayout" Target="../slideLayouts/slideLayout13.xml"/><Relationship Id="rId6" Type="http://schemas.openxmlformats.org/officeDocument/2006/relationships/image" Target="../media/image317.png"/><Relationship Id="rId5" Type="http://schemas.openxmlformats.org/officeDocument/2006/relationships/image" Target="../media/image115.png"/><Relationship Id="rId4" Type="http://schemas.openxmlformats.org/officeDocument/2006/relationships/image" Target="../media/image316.png"/><Relationship Id="rId9" Type="http://schemas.openxmlformats.org/officeDocument/2006/relationships/image" Target="../media/image246.png"/></Relationships>
</file>

<file path=ppt/slides/_rels/slide99.xml.rels><?xml version="1.0" encoding="UTF-8" standalone="yes"?>
<Relationships xmlns="http://schemas.openxmlformats.org/package/2006/relationships"><Relationship Id="rId8" Type="http://schemas.openxmlformats.org/officeDocument/2006/relationships/image" Target="../media/image321.png"/><Relationship Id="rId3" Type="http://schemas.openxmlformats.org/officeDocument/2006/relationships/tags" Target="../tags/tag248.xml"/><Relationship Id="rId7" Type="http://schemas.openxmlformats.org/officeDocument/2006/relationships/image" Target="../media/image320.png"/><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slideLayout" Target="../slideLayouts/slideLayout13.xml"/><Relationship Id="rId5" Type="http://schemas.openxmlformats.org/officeDocument/2006/relationships/tags" Target="../tags/tag250.xml"/><Relationship Id="rId10" Type="http://schemas.openxmlformats.org/officeDocument/2006/relationships/image" Target="../media/image323.png"/><Relationship Id="rId4" Type="http://schemas.openxmlformats.org/officeDocument/2006/relationships/tags" Target="../tags/tag249.xml"/><Relationship Id="rId9" Type="http://schemas.openxmlformats.org/officeDocument/2006/relationships/image" Target="../media/image322.png"/></Relationships>
</file>

<file path=ppt/slides/_rels/slide100.xml.rels><?xml version="1.0" encoding="UTF-8" standalone="yes"?>
<Relationships xmlns="http://schemas.openxmlformats.org/package/2006/relationships"><Relationship Id="rId8" Type="http://schemas.openxmlformats.org/officeDocument/2006/relationships/image" Target="../media/image328.png"/><Relationship Id="rId13" Type="http://schemas.openxmlformats.org/officeDocument/2006/relationships/image" Target="../media/image332.png"/><Relationship Id="rId18" Type="http://schemas.openxmlformats.org/officeDocument/2006/relationships/image" Target="../media/image335.png"/><Relationship Id="rId3" Type="http://schemas.openxmlformats.org/officeDocument/2006/relationships/slideLayout" Target="../slideLayouts/slideLayout13.xml"/><Relationship Id="rId21" Type="http://schemas.openxmlformats.org/officeDocument/2006/relationships/image" Target="../media/image338.png"/><Relationship Id="rId7" Type="http://schemas.openxmlformats.org/officeDocument/2006/relationships/image" Target="../media/image327.png"/><Relationship Id="rId12" Type="http://schemas.openxmlformats.org/officeDocument/2006/relationships/image" Target="../media/image331.png"/><Relationship Id="rId17" Type="http://schemas.openxmlformats.org/officeDocument/2006/relationships/image" Target="../media/image114.png"/><Relationship Id="rId2" Type="http://schemas.openxmlformats.org/officeDocument/2006/relationships/tags" Target="../tags/tag252.xml"/><Relationship Id="rId16" Type="http://schemas.openxmlformats.org/officeDocument/2006/relationships/image" Target="../media/image334.png"/><Relationship Id="rId20" Type="http://schemas.openxmlformats.org/officeDocument/2006/relationships/image" Target="../media/image337.png"/><Relationship Id="rId1" Type="http://schemas.openxmlformats.org/officeDocument/2006/relationships/tags" Target="../tags/tag251.xml"/><Relationship Id="rId6" Type="http://schemas.openxmlformats.org/officeDocument/2006/relationships/image" Target="../media/image326.png"/><Relationship Id="rId11" Type="http://schemas.openxmlformats.org/officeDocument/2006/relationships/image" Target="../media/image256.png"/><Relationship Id="rId24" Type="http://schemas.openxmlformats.org/officeDocument/2006/relationships/image" Target="../media/image321.png"/><Relationship Id="rId5" Type="http://schemas.openxmlformats.org/officeDocument/2006/relationships/image" Target="../media/image325.png"/><Relationship Id="rId15" Type="http://schemas.openxmlformats.org/officeDocument/2006/relationships/image" Target="../media/image333.png"/><Relationship Id="rId23" Type="http://schemas.openxmlformats.org/officeDocument/2006/relationships/image" Target="../media/image323.png"/><Relationship Id="rId10" Type="http://schemas.openxmlformats.org/officeDocument/2006/relationships/image" Target="../media/image330.png"/><Relationship Id="rId19" Type="http://schemas.openxmlformats.org/officeDocument/2006/relationships/image" Target="../media/image336.png"/><Relationship Id="rId4" Type="http://schemas.openxmlformats.org/officeDocument/2006/relationships/image" Target="../media/image324.png"/><Relationship Id="rId9" Type="http://schemas.openxmlformats.org/officeDocument/2006/relationships/image" Target="../media/image329.png"/><Relationship Id="rId14" Type="http://schemas.openxmlformats.org/officeDocument/2006/relationships/image" Target="../media/image157.png"/><Relationship Id="rId22" Type="http://schemas.openxmlformats.org/officeDocument/2006/relationships/image" Target="../media/image339.png"/></Relationships>
</file>

<file path=ppt/slides/_rels/slide101.xml.rels><?xml version="1.0" encoding="UTF-8" standalone="yes"?>
<Relationships xmlns="http://schemas.openxmlformats.org/package/2006/relationships"><Relationship Id="rId8" Type="http://schemas.openxmlformats.org/officeDocument/2006/relationships/image" Target="../media/image316.png"/><Relationship Id="rId13" Type="http://schemas.openxmlformats.org/officeDocument/2006/relationships/image" Target="../media/image319.png"/><Relationship Id="rId18" Type="http://schemas.openxmlformats.org/officeDocument/2006/relationships/image" Target="../media/image349.png"/><Relationship Id="rId3" Type="http://schemas.openxmlformats.org/officeDocument/2006/relationships/tags" Target="../tags/tag255.xml"/><Relationship Id="rId7" Type="http://schemas.openxmlformats.org/officeDocument/2006/relationships/image" Target="../media/image157.png"/><Relationship Id="rId12" Type="http://schemas.openxmlformats.org/officeDocument/2006/relationships/image" Target="../media/image344.png"/><Relationship Id="rId17" Type="http://schemas.openxmlformats.org/officeDocument/2006/relationships/image" Target="../media/image348.png"/><Relationship Id="rId2" Type="http://schemas.openxmlformats.org/officeDocument/2006/relationships/tags" Target="../tags/tag254.xml"/><Relationship Id="rId16" Type="http://schemas.openxmlformats.org/officeDocument/2006/relationships/image" Target="../media/image347.png"/><Relationship Id="rId1" Type="http://schemas.openxmlformats.org/officeDocument/2006/relationships/tags" Target="../tags/tag253.xml"/><Relationship Id="rId6" Type="http://schemas.openxmlformats.org/officeDocument/2006/relationships/image" Target="../media/image341.png"/><Relationship Id="rId11" Type="http://schemas.openxmlformats.org/officeDocument/2006/relationships/image" Target="../media/image343.png"/><Relationship Id="rId5" Type="http://schemas.openxmlformats.org/officeDocument/2006/relationships/image" Target="../media/image340.png"/><Relationship Id="rId15" Type="http://schemas.openxmlformats.org/officeDocument/2006/relationships/image" Target="../media/image346.png"/><Relationship Id="rId10" Type="http://schemas.openxmlformats.org/officeDocument/2006/relationships/image" Target="../media/image243.png"/><Relationship Id="rId19" Type="http://schemas.openxmlformats.org/officeDocument/2006/relationships/image" Target="../media/image350.png"/><Relationship Id="rId4" Type="http://schemas.openxmlformats.org/officeDocument/2006/relationships/slideLayout" Target="../slideLayouts/slideLayout13.xml"/><Relationship Id="rId9" Type="http://schemas.openxmlformats.org/officeDocument/2006/relationships/image" Target="../media/image342.png"/><Relationship Id="rId14" Type="http://schemas.openxmlformats.org/officeDocument/2006/relationships/image" Target="../media/image345.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7.xml"/><Relationship Id="rId1" Type="http://schemas.openxmlformats.org/officeDocument/2006/relationships/tags" Target="../tags/tag256.xml"/><Relationship Id="rId6" Type="http://schemas.openxmlformats.org/officeDocument/2006/relationships/image" Target="../media/image352.png"/><Relationship Id="rId5" Type="http://schemas.openxmlformats.org/officeDocument/2006/relationships/image" Target="../media/image351.png"/><Relationship Id="rId4" Type="http://schemas.openxmlformats.org/officeDocument/2006/relationships/image" Target="../media/image350.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9.xml"/><Relationship Id="rId1" Type="http://schemas.openxmlformats.org/officeDocument/2006/relationships/tags" Target="../tags/tag258.xml"/><Relationship Id="rId5" Type="http://schemas.openxmlformats.org/officeDocument/2006/relationships/image" Target="../media/image198.png"/><Relationship Id="rId4" Type="http://schemas.openxmlformats.org/officeDocument/2006/relationships/image" Target="../media/image35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2A36"/>
        </a:solidFill>
        <a:effectLst/>
      </p:bgPr>
    </p:bg>
    <p:spTree>
      <p:nvGrpSpPr>
        <p:cNvPr id="1" name="">
          <a:extLst>
            <a:ext uri="{FF2B5EF4-FFF2-40B4-BE49-F238E27FC236}">
              <a16:creationId xmlns:a16="http://schemas.microsoft.com/office/drawing/2014/main" id="{FE73BAD0-79C3-F4E5-B2C0-B947816D4C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86CE0A-EC86-5035-8188-8B40A4ABF22E}"/>
              </a:ext>
            </a:extLst>
          </p:cNvPr>
          <p:cNvSpPr>
            <a:spLocks noGrp="1"/>
          </p:cNvSpPr>
          <p:nvPr>
            <p:ph type="ctrTitle"/>
          </p:nvPr>
        </p:nvSpPr>
        <p:spPr>
          <a:xfrm>
            <a:off x="1524000" y="1741090"/>
            <a:ext cx="9144000" cy="2266379"/>
          </a:xfrm>
        </p:spPr>
        <p:txBody>
          <a:bodyPr>
            <a:normAutofit/>
          </a:bodyPr>
          <a:lstStyle/>
          <a:p>
            <a:r>
              <a:rPr lang="es-ES"/>
              <a:t>Espacio de Estados</a:t>
            </a:r>
            <a:endParaRPr lang="es-CO" noProof="0"/>
          </a:p>
        </p:txBody>
      </p:sp>
      <p:sp>
        <p:nvSpPr>
          <p:cNvPr id="3" name="Subtítulo 2">
            <a:extLst>
              <a:ext uri="{FF2B5EF4-FFF2-40B4-BE49-F238E27FC236}">
                <a16:creationId xmlns:a16="http://schemas.microsoft.com/office/drawing/2014/main" id="{D5FADE62-CDC9-93DA-A64B-417B6FD2E87E}"/>
              </a:ext>
            </a:extLst>
          </p:cNvPr>
          <p:cNvSpPr>
            <a:spLocks noGrp="1"/>
          </p:cNvSpPr>
          <p:nvPr>
            <p:ph type="subTitle" idx="1"/>
          </p:nvPr>
        </p:nvSpPr>
        <p:spPr>
          <a:xfrm>
            <a:off x="1981200" y="4507992"/>
            <a:ext cx="9144000" cy="1773936"/>
          </a:xfrm>
        </p:spPr>
        <p:txBody>
          <a:bodyPr>
            <a:normAutofit/>
          </a:bodyPr>
          <a:lstStyle/>
          <a:p>
            <a:r>
              <a:rPr lang="es-CO"/>
              <a:t>Prof. Sergio Andrés Castaño Giraldo</a:t>
            </a:r>
          </a:p>
          <a:p>
            <a:r>
              <a:rPr lang="es-CO" sz="1500">
                <a:hlinkClick r:id="rId2"/>
              </a:rPr>
              <a:t>https://controlautomaticoeducacion.com/</a:t>
            </a:r>
            <a:r>
              <a:rPr lang="es-CO" sz="1500"/>
              <a:t> </a:t>
            </a:r>
          </a:p>
          <a:p>
            <a:r>
              <a:rPr lang="es-CO" sz="1500">
                <a:hlinkClick r:id="rId3"/>
              </a:rPr>
              <a:t>https://www.youtube.com/@SergioACGiraldo</a:t>
            </a:r>
            <a:r>
              <a:rPr lang="es-CO" sz="1500"/>
              <a:t> </a:t>
            </a:r>
          </a:p>
          <a:p>
            <a:r>
              <a:rPr lang="es-CO" sz="1500">
                <a:solidFill>
                  <a:schemeClr val="bg2"/>
                </a:solidFill>
                <a:hlinkClick r:id="rId4">
                  <a:extLst>
                    <a:ext uri="{A12FA001-AC4F-418D-AE19-62706E023703}">
                      <ahyp:hlinkClr xmlns:ahyp="http://schemas.microsoft.com/office/drawing/2018/hyperlinkcolor" val="tx"/>
                    </a:ext>
                  </a:extLst>
                </a:hlinkClick>
              </a:rPr>
              <a:t>https://br.linkedin.com/in/sergioacgiraldo</a:t>
            </a:r>
            <a:r>
              <a:rPr lang="es-CO" sz="1500">
                <a:solidFill>
                  <a:schemeClr val="bg2"/>
                </a:solidFill>
              </a:rPr>
              <a:t> </a:t>
            </a:r>
          </a:p>
          <a:p>
            <a:r>
              <a:rPr lang="es-CO" sz="1500">
                <a:hlinkClick r:id="rId5"/>
              </a:rPr>
              <a:t>https://www.instagram.com/sergioacgiraldo/</a:t>
            </a:r>
            <a:r>
              <a:rPr lang="es-CO" sz="1500"/>
              <a:t> </a:t>
            </a:r>
          </a:p>
          <a:p>
            <a:endParaRPr lang="es-CO"/>
          </a:p>
        </p:txBody>
      </p:sp>
      <p:pic>
        <p:nvPicPr>
          <p:cNvPr id="5" name="Picture 4">
            <a:extLst>
              <a:ext uri="{FF2B5EF4-FFF2-40B4-BE49-F238E27FC236}">
                <a16:creationId xmlns:a16="http://schemas.microsoft.com/office/drawing/2014/main" id="{C2882B4A-8505-3006-71F2-3AC40E157489}"/>
              </a:ext>
            </a:extLst>
          </p:cNvPr>
          <p:cNvPicPr>
            <a:picLocks noChangeAspect="1"/>
          </p:cNvPicPr>
          <p:nvPr/>
        </p:nvPicPr>
        <p:blipFill>
          <a:blip r:embed="rId6"/>
          <a:stretch>
            <a:fillRect/>
          </a:stretch>
        </p:blipFill>
        <p:spPr>
          <a:xfrm>
            <a:off x="4226560" y="360346"/>
            <a:ext cx="3738880" cy="2103120"/>
          </a:xfrm>
          <a:prstGeom prst="rect">
            <a:avLst/>
          </a:prstGeom>
        </p:spPr>
      </p:pic>
      <p:sp>
        <p:nvSpPr>
          <p:cNvPr id="6" name="Subtítulo 2">
            <a:extLst>
              <a:ext uri="{FF2B5EF4-FFF2-40B4-BE49-F238E27FC236}">
                <a16:creationId xmlns:a16="http://schemas.microsoft.com/office/drawing/2014/main" id="{B56A13CB-E3B0-358C-E6FD-5F7AE53B33BF}"/>
              </a:ext>
            </a:extLst>
          </p:cNvPr>
          <p:cNvSpPr txBox="1">
            <a:spLocks/>
          </p:cNvSpPr>
          <p:nvPr/>
        </p:nvSpPr>
        <p:spPr>
          <a:xfrm>
            <a:off x="1889760" y="4123944"/>
            <a:ext cx="9144000" cy="6492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rgbClr val="F8F8F2"/>
                </a:solidFill>
                <a:latin typeface="Calibri" panose="020F0502020204030204" pitchFamily="34" charset="0"/>
                <a:ea typeface="+mn-ea"/>
                <a:cs typeface="Calibri" panose="020F050202020403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F8F8F2"/>
                </a:solidFill>
                <a:latin typeface="Calibri" panose="020F0502020204030204" pitchFamily="34" charset="0"/>
                <a:ea typeface="+mn-ea"/>
                <a:cs typeface="Calibri" panose="020F050202020403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F8F8F2"/>
                </a:solidFill>
                <a:latin typeface="Calibri" panose="020F0502020204030204" pitchFamily="34" charset="0"/>
                <a:ea typeface="+mn-ea"/>
                <a:cs typeface="Calibri" panose="020F050202020403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F8F8F2"/>
                </a:solidFill>
                <a:latin typeface="Calibri" panose="020F0502020204030204" pitchFamily="34" charset="0"/>
                <a:ea typeface="+mn-ea"/>
                <a:cs typeface="Calibri" panose="020F050202020403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F8F8F2"/>
                </a:solidFill>
                <a:latin typeface="Calibri" panose="020F0502020204030204" pitchFamily="34" charset="0"/>
                <a:ea typeface="+mn-ea"/>
                <a:cs typeface="Calibri" panose="020F050202020403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CO" sz="3200" b="0" i="0" u="none" strike="noStrike" kern="1200" cap="none" spc="0" normalizeH="0" baseline="0" noProof="0">
              <a:ln>
                <a:noFill/>
              </a:ln>
              <a:solidFill>
                <a:srgbClr val="50FA7B"/>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06207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ACBA2-C2A6-BC1C-941F-61B1DD9DC10D}"/>
              </a:ext>
            </a:extLst>
          </p:cNvPr>
          <p:cNvSpPr>
            <a:spLocks noGrp="1"/>
          </p:cNvSpPr>
          <p:nvPr>
            <p:ph type="title"/>
          </p:nvPr>
        </p:nvSpPr>
        <p:spPr>
          <a:xfrm>
            <a:off x="838200" y="365126"/>
            <a:ext cx="10515600" cy="959822"/>
          </a:xfrm>
        </p:spPr>
        <p:txBody>
          <a:bodyPr>
            <a:normAutofit/>
          </a:bodyPr>
          <a:lstStyle/>
          <a:p>
            <a:r>
              <a:rPr lang="es-ES" sz="4000"/>
              <a:t>Sistemas LTI: Lineales e Invariantes en el Tiempo</a:t>
            </a:r>
            <a:endParaRPr lang="es-CO" sz="4000"/>
          </a:p>
        </p:txBody>
      </p:sp>
      <p:sp>
        <p:nvSpPr>
          <p:cNvPr id="3" name="Content Placeholder 2">
            <a:extLst>
              <a:ext uri="{FF2B5EF4-FFF2-40B4-BE49-F238E27FC236}">
                <a16:creationId xmlns:a16="http://schemas.microsoft.com/office/drawing/2014/main" id="{97F9EE7B-A4ED-0E43-27B5-D62628A1B5B8}"/>
              </a:ext>
            </a:extLst>
          </p:cNvPr>
          <p:cNvSpPr>
            <a:spLocks noGrp="1"/>
          </p:cNvSpPr>
          <p:nvPr>
            <p:ph idx="1"/>
          </p:nvPr>
        </p:nvSpPr>
        <p:spPr>
          <a:xfrm>
            <a:off x="572604" y="3329370"/>
            <a:ext cx="4934339" cy="3061156"/>
          </a:xfrm>
        </p:spPr>
        <p:txBody>
          <a:bodyPr>
            <a:normAutofit fontScale="92500" lnSpcReduction="20000"/>
          </a:bodyPr>
          <a:lstStyle/>
          <a:p>
            <a:r>
              <a:rPr lang="es-ES" b="1">
                <a:solidFill>
                  <a:schemeClr val="accent1"/>
                </a:solidFill>
              </a:rPr>
              <a:t>Linealidad</a:t>
            </a:r>
            <a:r>
              <a:rPr lang="es-ES">
                <a:solidFill>
                  <a:schemeClr val="accent1"/>
                </a:solidFill>
              </a:rPr>
              <a:t>: </a:t>
            </a:r>
            <a:r>
              <a:rPr lang="es-ES"/>
              <a:t>Un sistema es lineal si cumple con el principio de superposición y la propiedad de homogeneidad</a:t>
            </a:r>
          </a:p>
          <a:p>
            <a:r>
              <a:rPr lang="pt-BR" b="1" err="1">
                <a:solidFill>
                  <a:schemeClr val="accent1"/>
                </a:solidFill>
              </a:rPr>
              <a:t>Invariancia</a:t>
            </a:r>
            <a:r>
              <a:rPr lang="pt-BR" b="1">
                <a:solidFill>
                  <a:schemeClr val="accent1"/>
                </a:solidFill>
              </a:rPr>
              <a:t> </a:t>
            </a:r>
            <a:r>
              <a:rPr lang="pt-BR" b="1" err="1">
                <a:solidFill>
                  <a:schemeClr val="accent1"/>
                </a:solidFill>
              </a:rPr>
              <a:t>en</a:t>
            </a:r>
            <a:r>
              <a:rPr lang="pt-BR" b="1">
                <a:solidFill>
                  <a:schemeClr val="accent1"/>
                </a:solidFill>
              </a:rPr>
              <a:t> </a:t>
            </a:r>
            <a:r>
              <a:rPr lang="pt-BR" b="1" err="1">
                <a:solidFill>
                  <a:schemeClr val="accent1"/>
                </a:solidFill>
              </a:rPr>
              <a:t>el</a:t>
            </a:r>
            <a:r>
              <a:rPr lang="pt-BR" b="1">
                <a:solidFill>
                  <a:schemeClr val="accent1"/>
                </a:solidFill>
              </a:rPr>
              <a:t> </a:t>
            </a:r>
            <a:r>
              <a:rPr lang="pt-BR" b="1" err="1">
                <a:solidFill>
                  <a:schemeClr val="accent1"/>
                </a:solidFill>
              </a:rPr>
              <a:t>Tiempo</a:t>
            </a:r>
            <a:r>
              <a:rPr lang="pt-BR" b="1">
                <a:solidFill>
                  <a:schemeClr val="accent1"/>
                </a:solidFill>
              </a:rPr>
              <a:t>: </a:t>
            </a:r>
            <a:r>
              <a:rPr lang="es-ES"/>
              <a:t>la relación entre la entrada y la salida es la misma sin importar en qué momento se aplique la entrada.</a:t>
            </a:r>
            <a:endParaRPr lang="es-CO"/>
          </a:p>
        </p:txBody>
      </p:sp>
      <p:sp>
        <p:nvSpPr>
          <p:cNvPr id="4" name="Rectángulo 10">
            <a:extLst>
              <a:ext uri="{FF2B5EF4-FFF2-40B4-BE49-F238E27FC236}">
                <a16:creationId xmlns:a16="http://schemas.microsoft.com/office/drawing/2014/main" id="{533440EE-B8E1-68F4-6DD4-82886456DCEB}"/>
              </a:ext>
            </a:extLst>
          </p:cNvPr>
          <p:cNvSpPr/>
          <p:nvPr/>
        </p:nvSpPr>
        <p:spPr>
          <a:xfrm>
            <a:off x="2040337" y="1966422"/>
            <a:ext cx="1455938" cy="721474"/>
          </a:xfrm>
          <a:prstGeom prst="rect">
            <a:avLst/>
          </a:prstGeom>
          <a:solidFill>
            <a:schemeClr val="accent6"/>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419" b="1">
                <a:solidFill>
                  <a:schemeClr val="tx1"/>
                </a:solidFill>
              </a:rPr>
              <a:t>Sistema</a:t>
            </a:r>
          </a:p>
        </p:txBody>
      </p:sp>
      <p:cxnSp>
        <p:nvCxnSpPr>
          <p:cNvPr id="5" name="Conector recto de flecha 12">
            <a:extLst>
              <a:ext uri="{FF2B5EF4-FFF2-40B4-BE49-F238E27FC236}">
                <a16:creationId xmlns:a16="http://schemas.microsoft.com/office/drawing/2014/main" id="{81D02A7E-80B5-1883-7543-35DDF6E3C630}"/>
              </a:ext>
            </a:extLst>
          </p:cNvPr>
          <p:cNvCxnSpPr>
            <a:cxnSpLocks/>
            <a:endCxn id="4" idx="1"/>
          </p:cNvCxnSpPr>
          <p:nvPr/>
        </p:nvCxnSpPr>
        <p:spPr>
          <a:xfrm>
            <a:off x="1208500" y="2327159"/>
            <a:ext cx="83183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14">
            <a:extLst>
              <a:ext uri="{FF2B5EF4-FFF2-40B4-BE49-F238E27FC236}">
                <a16:creationId xmlns:a16="http://schemas.microsoft.com/office/drawing/2014/main" id="{F2724E45-9990-ACDC-F236-DF96A2B06116}"/>
              </a:ext>
            </a:extLst>
          </p:cNvPr>
          <p:cNvCxnSpPr>
            <a:cxnSpLocks/>
            <a:stCxn id="4" idx="3"/>
          </p:cNvCxnSpPr>
          <p:nvPr/>
        </p:nvCxnSpPr>
        <p:spPr>
          <a:xfrm>
            <a:off x="3496275" y="2327159"/>
            <a:ext cx="83183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46BAE5AB-1749-405C-3224-ED29B4FDB80F}"/>
              </a:ext>
            </a:extLst>
          </p:cNvPr>
          <p:cNvSpPr txBox="1"/>
          <p:nvPr/>
        </p:nvSpPr>
        <p:spPr>
          <a:xfrm>
            <a:off x="838200" y="1777459"/>
            <a:ext cx="998543" cy="369332"/>
          </a:xfrm>
          <a:prstGeom prst="rect">
            <a:avLst/>
          </a:prstGeom>
          <a:noFill/>
        </p:spPr>
        <p:txBody>
          <a:bodyPr wrap="none" rtlCol="0">
            <a:spAutoFit/>
          </a:bodyPr>
          <a:lstStyle/>
          <a:p>
            <a:r>
              <a:rPr lang="es-419" b="1">
                <a:solidFill>
                  <a:schemeClr val="bg1"/>
                </a:solidFill>
              </a:rPr>
              <a:t>Entrada</a:t>
            </a:r>
          </a:p>
        </p:txBody>
      </p:sp>
      <p:sp>
        <p:nvSpPr>
          <p:cNvPr id="8" name="CuadroTexto 19">
            <a:extLst>
              <a:ext uri="{FF2B5EF4-FFF2-40B4-BE49-F238E27FC236}">
                <a16:creationId xmlns:a16="http://schemas.microsoft.com/office/drawing/2014/main" id="{5D914FAA-4984-746C-C694-046FF4039274}"/>
              </a:ext>
            </a:extLst>
          </p:cNvPr>
          <p:cNvSpPr txBox="1"/>
          <p:nvPr/>
        </p:nvSpPr>
        <p:spPr>
          <a:xfrm>
            <a:off x="3621738" y="1777459"/>
            <a:ext cx="841897" cy="369332"/>
          </a:xfrm>
          <a:prstGeom prst="rect">
            <a:avLst/>
          </a:prstGeom>
          <a:noFill/>
        </p:spPr>
        <p:txBody>
          <a:bodyPr wrap="none" rtlCol="0">
            <a:spAutoFit/>
          </a:bodyPr>
          <a:lstStyle/>
          <a:p>
            <a:r>
              <a:rPr lang="es-419" b="1">
                <a:solidFill>
                  <a:schemeClr val="bg1"/>
                </a:solidFill>
              </a:rPr>
              <a:t>Salida</a:t>
            </a:r>
          </a:p>
        </p:txBody>
      </p:sp>
      <p:sp>
        <p:nvSpPr>
          <p:cNvPr id="9" name="CuadroTexto 22">
            <a:extLst>
              <a:ext uri="{FF2B5EF4-FFF2-40B4-BE49-F238E27FC236}">
                <a16:creationId xmlns:a16="http://schemas.microsoft.com/office/drawing/2014/main" id="{C3210B84-A06B-D3C4-C2F2-B6B87F77337A}"/>
              </a:ext>
            </a:extLst>
          </p:cNvPr>
          <p:cNvSpPr txBox="1"/>
          <p:nvPr/>
        </p:nvSpPr>
        <p:spPr>
          <a:xfrm>
            <a:off x="1181019" y="2318564"/>
            <a:ext cx="312906" cy="369332"/>
          </a:xfrm>
          <a:prstGeom prst="rect">
            <a:avLst/>
          </a:prstGeom>
          <a:noFill/>
        </p:spPr>
        <p:txBody>
          <a:bodyPr wrap="none" rtlCol="0">
            <a:spAutoFit/>
          </a:bodyPr>
          <a:lstStyle/>
          <a:p>
            <a:r>
              <a:rPr lang="es-419">
                <a:solidFill>
                  <a:schemeClr val="bg1"/>
                </a:solidFill>
              </a:rPr>
              <a:t>u</a:t>
            </a:r>
          </a:p>
        </p:txBody>
      </p:sp>
      <p:sp>
        <p:nvSpPr>
          <p:cNvPr id="10" name="CuadroTexto 22">
            <a:extLst>
              <a:ext uri="{FF2B5EF4-FFF2-40B4-BE49-F238E27FC236}">
                <a16:creationId xmlns:a16="http://schemas.microsoft.com/office/drawing/2014/main" id="{26F474BF-21BA-D003-49AE-C3434D425DF8}"/>
              </a:ext>
            </a:extLst>
          </p:cNvPr>
          <p:cNvSpPr txBox="1"/>
          <p:nvPr/>
        </p:nvSpPr>
        <p:spPr>
          <a:xfrm>
            <a:off x="3755740" y="2318564"/>
            <a:ext cx="288862" cy="369332"/>
          </a:xfrm>
          <a:prstGeom prst="rect">
            <a:avLst/>
          </a:prstGeom>
          <a:noFill/>
        </p:spPr>
        <p:txBody>
          <a:bodyPr wrap="none" rtlCol="0">
            <a:spAutoFit/>
          </a:bodyPr>
          <a:lstStyle/>
          <a:p>
            <a:r>
              <a:rPr lang="es-419">
                <a:solidFill>
                  <a:schemeClr val="bg1"/>
                </a:solidFill>
              </a:rPr>
              <a:t>y</a:t>
            </a:r>
          </a:p>
        </p:txBody>
      </p:sp>
      <p:sp>
        <p:nvSpPr>
          <p:cNvPr id="11" name="TextBox 10">
            <a:extLst>
              <a:ext uri="{FF2B5EF4-FFF2-40B4-BE49-F238E27FC236}">
                <a16:creationId xmlns:a16="http://schemas.microsoft.com/office/drawing/2014/main" id="{FBEE4073-AFE4-46D9-86BD-8946087403D5}"/>
              </a:ext>
            </a:extLst>
          </p:cNvPr>
          <p:cNvSpPr txBox="1"/>
          <p:nvPr/>
        </p:nvSpPr>
        <p:spPr>
          <a:xfrm>
            <a:off x="5867980" y="1500460"/>
            <a:ext cx="761299" cy="646331"/>
          </a:xfrm>
          <a:prstGeom prst="rect">
            <a:avLst/>
          </a:prstGeom>
          <a:noFill/>
        </p:spPr>
        <p:txBody>
          <a:bodyPr wrap="none" rtlCol="0">
            <a:spAutoFit/>
          </a:bodyPr>
          <a:lstStyle/>
          <a:p>
            <a:r>
              <a:rPr lang="es-CO" sz="3600" b="1">
                <a:solidFill>
                  <a:schemeClr val="accent4"/>
                </a:solidFill>
              </a:rPr>
              <a:t>LTI</a:t>
            </a:r>
          </a:p>
        </p:txBody>
      </p:sp>
      <p:sp>
        <p:nvSpPr>
          <p:cNvPr id="12" name="Freeform: Shape 11">
            <a:extLst>
              <a:ext uri="{FF2B5EF4-FFF2-40B4-BE49-F238E27FC236}">
                <a16:creationId xmlns:a16="http://schemas.microsoft.com/office/drawing/2014/main" id="{A5578969-5B30-09A2-6C7E-2A0EBE4C51EA}"/>
              </a:ext>
            </a:extLst>
          </p:cNvPr>
          <p:cNvSpPr/>
          <p:nvPr/>
        </p:nvSpPr>
        <p:spPr>
          <a:xfrm>
            <a:off x="2799184" y="1448575"/>
            <a:ext cx="2957804" cy="632152"/>
          </a:xfrm>
          <a:custGeom>
            <a:avLst/>
            <a:gdLst>
              <a:gd name="connsiteX0" fmla="*/ 0 w 2957804"/>
              <a:gd name="connsiteY0" fmla="*/ 632152 h 632152"/>
              <a:gd name="connsiteX1" fmla="*/ 326571 w 2957804"/>
              <a:gd name="connsiteY1" fmla="*/ 221605 h 632152"/>
              <a:gd name="connsiteX2" fmla="*/ 765110 w 2957804"/>
              <a:gd name="connsiteY2" fmla="*/ 100307 h 632152"/>
              <a:gd name="connsiteX3" fmla="*/ 1464906 w 2957804"/>
              <a:gd name="connsiteY3" fmla="*/ 7001 h 632152"/>
              <a:gd name="connsiteX4" fmla="*/ 1940767 w 2957804"/>
              <a:gd name="connsiteY4" fmla="*/ 296249 h 632152"/>
              <a:gd name="connsiteX5" fmla="*/ 2481943 w 2957804"/>
              <a:gd name="connsiteY5" fmla="*/ 380225 h 632152"/>
              <a:gd name="connsiteX6" fmla="*/ 2957804 w 2957804"/>
              <a:gd name="connsiteY6" fmla="*/ 389556 h 632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57804" h="632152">
                <a:moveTo>
                  <a:pt x="0" y="632152"/>
                </a:moveTo>
                <a:cubicBezTo>
                  <a:pt x="99526" y="471199"/>
                  <a:pt x="199053" y="310246"/>
                  <a:pt x="326571" y="221605"/>
                </a:cubicBezTo>
                <a:cubicBezTo>
                  <a:pt x="454089" y="132964"/>
                  <a:pt x="575388" y="136074"/>
                  <a:pt x="765110" y="100307"/>
                </a:cubicBezTo>
                <a:cubicBezTo>
                  <a:pt x="954833" y="64540"/>
                  <a:pt x="1268963" y="-25656"/>
                  <a:pt x="1464906" y="7001"/>
                </a:cubicBezTo>
                <a:cubicBezTo>
                  <a:pt x="1660849" y="39658"/>
                  <a:pt x="1771261" y="234045"/>
                  <a:pt x="1940767" y="296249"/>
                </a:cubicBezTo>
                <a:cubicBezTo>
                  <a:pt x="2110273" y="358453"/>
                  <a:pt x="2312437" y="364674"/>
                  <a:pt x="2481943" y="380225"/>
                </a:cubicBezTo>
                <a:cubicBezTo>
                  <a:pt x="2651449" y="395776"/>
                  <a:pt x="2804626" y="392666"/>
                  <a:pt x="2957804" y="389556"/>
                </a:cubicBezTo>
              </a:path>
            </a:pathLst>
          </a:custGeom>
          <a:ln w="38100">
            <a:headEnd type="none" w="med" len="med"/>
            <a:tailEnd type="arrow"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s-CO"/>
          </a:p>
        </p:txBody>
      </p:sp>
      <p:sp>
        <p:nvSpPr>
          <p:cNvPr id="13" name="TextBox 12">
            <a:extLst>
              <a:ext uri="{FF2B5EF4-FFF2-40B4-BE49-F238E27FC236}">
                <a16:creationId xmlns:a16="http://schemas.microsoft.com/office/drawing/2014/main" id="{BE5898AC-CB14-A5A9-3D78-428A0D199676}"/>
              </a:ext>
            </a:extLst>
          </p:cNvPr>
          <p:cNvSpPr txBox="1"/>
          <p:nvPr/>
        </p:nvSpPr>
        <p:spPr>
          <a:xfrm>
            <a:off x="6719429" y="1472110"/>
            <a:ext cx="3360215" cy="707886"/>
          </a:xfrm>
          <a:prstGeom prst="rect">
            <a:avLst/>
          </a:prstGeom>
          <a:noFill/>
        </p:spPr>
        <p:txBody>
          <a:bodyPr wrap="none" rtlCol="0">
            <a:spAutoFit/>
          </a:bodyPr>
          <a:lstStyle/>
          <a:p>
            <a:r>
              <a:rPr lang="es-CO" sz="4000" b="1">
                <a:solidFill>
                  <a:schemeClr val="accent2"/>
                </a:solidFill>
                <a:latin typeface="Freestyle Script" panose="030804020302050B0404" pitchFamily="66" charset="0"/>
              </a:rPr>
              <a:t>(Linear Time-</a:t>
            </a:r>
            <a:r>
              <a:rPr lang="es-CO" sz="4000" b="1" err="1">
                <a:solidFill>
                  <a:schemeClr val="accent2"/>
                </a:solidFill>
                <a:latin typeface="Freestyle Script" panose="030804020302050B0404" pitchFamily="66" charset="0"/>
              </a:rPr>
              <a:t>Invariant</a:t>
            </a:r>
            <a:r>
              <a:rPr lang="es-CO" sz="4000" b="1">
                <a:solidFill>
                  <a:schemeClr val="accent2"/>
                </a:solidFill>
                <a:latin typeface="Freestyle Script" panose="030804020302050B0404" pitchFamily="66" charset="0"/>
              </a:rPr>
              <a:t>)</a:t>
            </a:r>
          </a:p>
        </p:txBody>
      </p:sp>
      <p:pic>
        <p:nvPicPr>
          <p:cNvPr id="14" name="Picture 13" descr="A diagram of a circuit&#10;&#10;AI-generated content may be incorrect.">
            <a:extLst>
              <a:ext uri="{FF2B5EF4-FFF2-40B4-BE49-F238E27FC236}">
                <a16:creationId xmlns:a16="http://schemas.microsoft.com/office/drawing/2014/main" id="{9392DB16-EDF2-17F0-EFDD-2F656A8DC5E6}"/>
              </a:ext>
            </a:extLst>
          </p:cNvPr>
          <p:cNvPicPr>
            <a:picLocks noChangeAspect="1"/>
          </p:cNvPicPr>
          <p:nvPr/>
        </p:nvPicPr>
        <p:blipFill>
          <a:blip r:embed="rId2">
            <a:alphaModFix/>
            <a:extLst>
              <a:ext uri="{BEBA8EAE-BF5A-486C-A8C5-ECC9F3942E4B}">
                <a14:imgProps xmlns:a14="http://schemas.microsoft.com/office/drawing/2010/main">
                  <a14:imgLayer r:embed="rId3">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7206279" y="3960845"/>
            <a:ext cx="3358556" cy="2144102"/>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DA55498-0042-50E2-087A-95FBD8BC9705}"/>
                  </a:ext>
                </a:extLst>
              </p:cNvPr>
              <p:cNvSpPr txBox="1"/>
              <p:nvPr/>
            </p:nvSpPr>
            <p:spPr>
              <a:xfrm>
                <a:off x="6361432" y="3105797"/>
                <a:ext cx="5048249" cy="523220"/>
              </a:xfrm>
              <a:prstGeom prst="rect">
                <a:avLst/>
              </a:prstGeom>
              <a:no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bg1"/>
                          </a:solidFill>
                          <a:latin typeface="Cambria Math" panose="02040503050406030204" pitchFamily="18" charset="0"/>
                        </a:rPr>
                        <m:t>𝑀</m:t>
                      </m:r>
                      <m:acc>
                        <m:accPr>
                          <m:chr m:val="̈"/>
                          <m:ctrlPr>
                            <a:rPr lang="en-US" sz="2800" i="1">
                              <a:solidFill>
                                <a:schemeClr val="bg1"/>
                              </a:solidFill>
                              <a:latin typeface="Cambria Math" panose="02040503050406030204" pitchFamily="18" charset="0"/>
                            </a:rPr>
                          </m:ctrlPr>
                        </m:accPr>
                        <m:e>
                          <m:r>
                            <a:rPr lang="en-US" sz="2800" i="1">
                              <a:solidFill>
                                <a:schemeClr val="bg1"/>
                              </a:solidFill>
                              <a:latin typeface="Cambria Math" panose="02040503050406030204" pitchFamily="18" charset="0"/>
                            </a:rPr>
                            <m:t>𝑥</m:t>
                          </m:r>
                        </m:e>
                      </m:acc>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𝑡</m:t>
                          </m:r>
                        </m:e>
                      </m:d>
                      <m:r>
                        <a:rPr lang="en-US" sz="2800" b="0" i="1" smtClean="0">
                          <a:solidFill>
                            <a:schemeClr val="bg1"/>
                          </a:solidFill>
                          <a:latin typeface="Cambria Math" panose="02040503050406030204" pitchFamily="18" charset="0"/>
                        </a:rPr>
                        <m:t>+</m:t>
                      </m:r>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𝑓</m:t>
                          </m:r>
                        </m:e>
                        <m:sub>
                          <m:r>
                            <a:rPr lang="en-US" sz="2800" i="1">
                              <a:solidFill>
                                <a:schemeClr val="bg1"/>
                              </a:solidFill>
                              <a:latin typeface="Cambria Math" panose="02040503050406030204" pitchFamily="18" charset="0"/>
                            </a:rPr>
                            <m:t>𝑣</m:t>
                          </m:r>
                        </m:sub>
                      </m:sSub>
                      <m:acc>
                        <m:accPr>
                          <m:chr m:val="̇"/>
                          <m:ctrlPr>
                            <a:rPr lang="en-US" sz="2800" i="1">
                              <a:solidFill>
                                <a:schemeClr val="bg1"/>
                              </a:solidFill>
                              <a:latin typeface="Cambria Math" panose="02040503050406030204" pitchFamily="18" charset="0"/>
                            </a:rPr>
                          </m:ctrlPr>
                        </m:accPr>
                        <m:e>
                          <m:r>
                            <a:rPr lang="en-US" sz="2800" i="1">
                              <a:solidFill>
                                <a:schemeClr val="bg1"/>
                              </a:solidFill>
                              <a:latin typeface="Cambria Math" panose="02040503050406030204" pitchFamily="18" charset="0"/>
                            </a:rPr>
                            <m:t>𝑥</m:t>
                          </m:r>
                        </m:e>
                      </m:acc>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𝑡</m:t>
                          </m:r>
                        </m:e>
                      </m:d>
                      <m:r>
                        <a:rPr lang="en-US" sz="2800" b="0" i="1" smtClean="0">
                          <a:solidFill>
                            <a:schemeClr val="bg1"/>
                          </a:solidFill>
                          <a:latin typeface="Cambria Math" panose="02040503050406030204" pitchFamily="18" charset="0"/>
                        </a:rPr>
                        <m:t>+</m:t>
                      </m:r>
                      <m:r>
                        <a:rPr lang="en-US" sz="2800" i="1">
                          <a:solidFill>
                            <a:schemeClr val="bg1"/>
                          </a:solidFill>
                          <a:latin typeface="Cambria Math" panose="02040503050406030204" pitchFamily="18" charset="0"/>
                        </a:rPr>
                        <m:t>𝐾𝑥</m:t>
                      </m:r>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𝑡</m:t>
                          </m:r>
                        </m:e>
                      </m:d>
                      <m:r>
                        <a:rPr lang="en-US" sz="2800" b="0" i="1" smtClean="0">
                          <a:solidFill>
                            <a:schemeClr val="bg1"/>
                          </a:solidFill>
                          <a:latin typeface="Cambria Math" panose="02040503050406030204" pitchFamily="18" charset="0"/>
                        </a:rPr>
                        <m:t>=</m:t>
                      </m:r>
                      <m:r>
                        <a:rPr lang="en-US" sz="2800" b="0" i="1" smtClean="0">
                          <a:solidFill>
                            <a:schemeClr val="bg1"/>
                          </a:solidFill>
                          <a:latin typeface="Cambria Math" panose="02040503050406030204" pitchFamily="18" charset="0"/>
                        </a:rPr>
                        <m:t>𝑓</m:t>
                      </m:r>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𝑡</m:t>
                          </m:r>
                        </m:e>
                      </m:d>
                    </m:oMath>
                  </m:oMathPara>
                </a14:m>
                <a:endParaRPr lang="es-CO" sz="2800"/>
              </a:p>
            </p:txBody>
          </p:sp>
        </mc:Choice>
        <mc:Fallback>
          <p:sp>
            <p:nvSpPr>
              <p:cNvPr id="15" name="TextBox 14">
                <a:extLst>
                  <a:ext uri="{FF2B5EF4-FFF2-40B4-BE49-F238E27FC236}">
                    <a16:creationId xmlns:a16="http://schemas.microsoft.com/office/drawing/2014/main" id="{EDA55498-0042-50E2-087A-95FBD8BC9705}"/>
                  </a:ext>
                </a:extLst>
              </p:cNvPr>
              <p:cNvSpPr txBox="1">
                <a:spLocks noRot="1" noChangeAspect="1" noMove="1" noResize="1" noEditPoints="1" noAdjustHandles="1" noChangeArrowheads="1" noChangeShapeType="1" noTextEdit="1"/>
              </p:cNvSpPr>
              <p:nvPr/>
            </p:nvSpPr>
            <p:spPr>
              <a:xfrm>
                <a:off x="6361432" y="3105797"/>
                <a:ext cx="5048249" cy="523220"/>
              </a:xfrm>
              <a:prstGeom prst="rect">
                <a:avLst/>
              </a:prstGeom>
              <a:blipFill>
                <a:blip r:embed="rId4"/>
                <a:stretch>
                  <a:fillRect/>
                </a:stretch>
              </a:blipFill>
              <a:ln>
                <a:solidFill>
                  <a:schemeClr val="accent1"/>
                </a:solidFill>
              </a:ln>
            </p:spPr>
            <p:txBody>
              <a:bodyPr/>
              <a:lstStyle/>
              <a:p>
                <a:r>
                  <a:rPr lang="en-US">
                    <a:noFill/>
                  </a:rPr>
                  <a:t> </a:t>
                </a:r>
              </a:p>
            </p:txBody>
          </p:sp>
        </mc:Fallback>
      </mc:AlternateContent>
      <p:sp>
        <p:nvSpPr>
          <p:cNvPr id="17" name="TextBox 16">
            <a:extLst>
              <a:ext uri="{FF2B5EF4-FFF2-40B4-BE49-F238E27FC236}">
                <a16:creationId xmlns:a16="http://schemas.microsoft.com/office/drawing/2014/main" id="{ACD89A4E-EA2A-4A2D-58CE-DEB344A3BEA2}"/>
              </a:ext>
            </a:extLst>
          </p:cNvPr>
          <p:cNvSpPr txBox="1"/>
          <p:nvPr/>
        </p:nvSpPr>
        <p:spPr>
          <a:xfrm>
            <a:off x="7389845" y="5913555"/>
            <a:ext cx="522514" cy="523220"/>
          </a:xfrm>
          <a:prstGeom prst="rect">
            <a:avLst/>
          </a:prstGeom>
          <a:noFill/>
        </p:spPr>
        <p:txBody>
          <a:bodyPr wrap="square">
            <a:spAutoFit/>
          </a:bodyPr>
          <a:lstStyle/>
          <a:p>
            <a:r>
              <a:rPr lang="es-CO" sz="2800" b="1" err="1">
                <a:solidFill>
                  <a:schemeClr val="accent5"/>
                </a:solidFill>
                <a:latin typeface="Freestyle Script" panose="030804020302050B0404" pitchFamily="66" charset="0"/>
              </a:rPr>
              <a:t>Cte</a:t>
            </a:r>
            <a:endParaRPr lang="es-CO" sz="2800">
              <a:solidFill>
                <a:schemeClr val="accent5"/>
              </a:solidFill>
            </a:endParaRPr>
          </a:p>
        </p:txBody>
      </p:sp>
      <p:sp>
        <p:nvSpPr>
          <p:cNvPr id="18" name="TextBox 17">
            <a:extLst>
              <a:ext uri="{FF2B5EF4-FFF2-40B4-BE49-F238E27FC236}">
                <a16:creationId xmlns:a16="http://schemas.microsoft.com/office/drawing/2014/main" id="{3DF3449D-46B1-EC3B-C23E-EE20C38B4458}"/>
              </a:ext>
            </a:extLst>
          </p:cNvPr>
          <p:cNvSpPr txBox="1"/>
          <p:nvPr/>
        </p:nvSpPr>
        <p:spPr>
          <a:xfrm>
            <a:off x="7206279" y="3941240"/>
            <a:ext cx="522514" cy="523220"/>
          </a:xfrm>
          <a:prstGeom prst="rect">
            <a:avLst/>
          </a:prstGeom>
          <a:noFill/>
        </p:spPr>
        <p:txBody>
          <a:bodyPr wrap="square">
            <a:spAutoFit/>
          </a:bodyPr>
          <a:lstStyle/>
          <a:p>
            <a:r>
              <a:rPr lang="es-CO" sz="2800" b="1" err="1">
                <a:solidFill>
                  <a:schemeClr val="accent5"/>
                </a:solidFill>
                <a:latin typeface="Freestyle Script" panose="030804020302050B0404" pitchFamily="66" charset="0"/>
              </a:rPr>
              <a:t>Cte</a:t>
            </a:r>
            <a:endParaRPr lang="es-CO" sz="2800">
              <a:solidFill>
                <a:schemeClr val="accent5"/>
              </a:solidFill>
            </a:endParaRPr>
          </a:p>
        </p:txBody>
      </p:sp>
      <p:sp>
        <p:nvSpPr>
          <p:cNvPr id="19" name="TextBox 18">
            <a:extLst>
              <a:ext uri="{FF2B5EF4-FFF2-40B4-BE49-F238E27FC236}">
                <a16:creationId xmlns:a16="http://schemas.microsoft.com/office/drawing/2014/main" id="{EBE10539-0746-C5AD-4549-35910D10DCA3}"/>
              </a:ext>
            </a:extLst>
          </p:cNvPr>
          <p:cNvSpPr txBox="1"/>
          <p:nvPr/>
        </p:nvSpPr>
        <p:spPr>
          <a:xfrm>
            <a:off x="9795261" y="5867306"/>
            <a:ext cx="522514" cy="523220"/>
          </a:xfrm>
          <a:prstGeom prst="rect">
            <a:avLst/>
          </a:prstGeom>
          <a:noFill/>
        </p:spPr>
        <p:txBody>
          <a:bodyPr wrap="square">
            <a:spAutoFit/>
          </a:bodyPr>
          <a:lstStyle/>
          <a:p>
            <a:r>
              <a:rPr lang="es-CO" sz="2800" b="1" err="1">
                <a:solidFill>
                  <a:schemeClr val="accent5"/>
                </a:solidFill>
                <a:latin typeface="Freestyle Script" panose="030804020302050B0404" pitchFamily="66" charset="0"/>
              </a:rPr>
              <a:t>Cte</a:t>
            </a:r>
            <a:endParaRPr lang="es-CO" sz="2800">
              <a:solidFill>
                <a:schemeClr val="accent5"/>
              </a:solidFill>
            </a:endParaRPr>
          </a:p>
        </p:txBody>
      </p:sp>
      <p:sp>
        <p:nvSpPr>
          <p:cNvPr id="20" name="Freeform: Shape 19">
            <a:extLst>
              <a:ext uri="{FF2B5EF4-FFF2-40B4-BE49-F238E27FC236}">
                <a16:creationId xmlns:a16="http://schemas.microsoft.com/office/drawing/2014/main" id="{BB1B3035-52E1-694D-2DC0-795B880B499F}"/>
              </a:ext>
            </a:extLst>
          </p:cNvPr>
          <p:cNvSpPr/>
          <p:nvPr/>
        </p:nvSpPr>
        <p:spPr>
          <a:xfrm>
            <a:off x="7697755" y="4156965"/>
            <a:ext cx="298580" cy="256415"/>
          </a:xfrm>
          <a:custGeom>
            <a:avLst/>
            <a:gdLst>
              <a:gd name="connsiteX0" fmla="*/ 0 w 298580"/>
              <a:gd name="connsiteY0" fmla="*/ 51141 h 256415"/>
              <a:gd name="connsiteX1" fmla="*/ 167951 w 298580"/>
              <a:gd name="connsiteY1" fmla="*/ 13819 h 256415"/>
              <a:gd name="connsiteX2" fmla="*/ 298580 w 298580"/>
              <a:gd name="connsiteY2" fmla="*/ 256415 h 256415"/>
            </a:gdLst>
            <a:ahLst/>
            <a:cxnLst>
              <a:cxn ang="0">
                <a:pos x="connsiteX0" y="connsiteY0"/>
              </a:cxn>
              <a:cxn ang="0">
                <a:pos x="connsiteX1" y="connsiteY1"/>
              </a:cxn>
              <a:cxn ang="0">
                <a:pos x="connsiteX2" y="connsiteY2"/>
              </a:cxn>
            </a:cxnLst>
            <a:rect l="l" t="t" r="r" b="b"/>
            <a:pathLst>
              <a:path w="298580" h="256415">
                <a:moveTo>
                  <a:pt x="0" y="51141"/>
                </a:moveTo>
                <a:cubicBezTo>
                  <a:pt x="59094" y="15374"/>
                  <a:pt x="118188" y="-20393"/>
                  <a:pt x="167951" y="13819"/>
                </a:cubicBezTo>
                <a:cubicBezTo>
                  <a:pt x="217714" y="48031"/>
                  <a:pt x="258147" y="152223"/>
                  <a:pt x="298580" y="256415"/>
                </a:cubicBezTo>
              </a:path>
            </a:pathLst>
          </a:custGeom>
          <a:ln>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a:p>
        </p:txBody>
      </p:sp>
      <p:sp>
        <p:nvSpPr>
          <p:cNvPr id="21" name="Freeform: Shape 20">
            <a:extLst>
              <a:ext uri="{FF2B5EF4-FFF2-40B4-BE49-F238E27FC236}">
                <a16:creationId xmlns:a16="http://schemas.microsoft.com/office/drawing/2014/main" id="{68F2061B-82A6-DB7F-FC9A-BD2C4FC38FDF}"/>
              </a:ext>
            </a:extLst>
          </p:cNvPr>
          <p:cNvSpPr/>
          <p:nvPr/>
        </p:nvSpPr>
        <p:spPr>
          <a:xfrm>
            <a:off x="7865706" y="5784980"/>
            <a:ext cx="205274" cy="408541"/>
          </a:xfrm>
          <a:custGeom>
            <a:avLst/>
            <a:gdLst>
              <a:gd name="connsiteX0" fmla="*/ 0 w 205274"/>
              <a:gd name="connsiteY0" fmla="*/ 401216 h 408541"/>
              <a:gd name="connsiteX1" fmla="*/ 102637 w 205274"/>
              <a:gd name="connsiteY1" fmla="*/ 354563 h 408541"/>
              <a:gd name="connsiteX2" fmla="*/ 205274 w 205274"/>
              <a:gd name="connsiteY2" fmla="*/ 0 h 408541"/>
            </a:gdLst>
            <a:ahLst/>
            <a:cxnLst>
              <a:cxn ang="0">
                <a:pos x="connsiteX0" y="connsiteY0"/>
              </a:cxn>
              <a:cxn ang="0">
                <a:pos x="connsiteX1" y="connsiteY1"/>
              </a:cxn>
              <a:cxn ang="0">
                <a:pos x="connsiteX2" y="connsiteY2"/>
              </a:cxn>
            </a:cxnLst>
            <a:rect l="l" t="t" r="r" b="b"/>
            <a:pathLst>
              <a:path w="205274" h="408541">
                <a:moveTo>
                  <a:pt x="0" y="401216"/>
                </a:moveTo>
                <a:cubicBezTo>
                  <a:pt x="34212" y="411324"/>
                  <a:pt x="68425" y="421432"/>
                  <a:pt x="102637" y="354563"/>
                </a:cubicBezTo>
                <a:cubicBezTo>
                  <a:pt x="136849" y="287694"/>
                  <a:pt x="171061" y="143847"/>
                  <a:pt x="205274" y="0"/>
                </a:cubicBezTo>
              </a:path>
            </a:pathLst>
          </a:custGeom>
          <a:ln>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a:p>
        </p:txBody>
      </p:sp>
      <p:sp>
        <p:nvSpPr>
          <p:cNvPr id="22" name="Freeform: Shape 21">
            <a:extLst>
              <a:ext uri="{FF2B5EF4-FFF2-40B4-BE49-F238E27FC236}">
                <a16:creationId xmlns:a16="http://schemas.microsoft.com/office/drawing/2014/main" id="{1102E05F-4ED2-55AC-37CF-3639A88EB49A}"/>
              </a:ext>
            </a:extLst>
          </p:cNvPr>
          <p:cNvSpPr/>
          <p:nvPr/>
        </p:nvSpPr>
        <p:spPr>
          <a:xfrm>
            <a:off x="9451910" y="5654351"/>
            <a:ext cx="410547" cy="500918"/>
          </a:xfrm>
          <a:custGeom>
            <a:avLst/>
            <a:gdLst>
              <a:gd name="connsiteX0" fmla="*/ 410547 w 410547"/>
              <a:gd name="connsiteY0" fmla="*/ 485192 h 500918"/>
              <a:gd name="connsiteX1" fmla="*/ 335902 w 410547"/>
              <a:gd name="connsiteY1" fmla="*/ 494522 h 500918"/>
              <a:gd name="connsiteX2" fmla="*/ 130629 w 410547"/>
              <a:gd name="connsiteY2" fmla="*/ 401216 h 500918"/>
              <a:gd name="connsiteX3" fmla="*/ 74645 w 410547"/>
              <a:gd name="connsiteY3" fmla="*/ 223935 h 500918"/>
              <a:gd name="connsiteX4" fmla="*/ 0 w 410547"/>
              <a:gd name="connsiteY4" fmla="*/ 0 h 50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547" h="500918">
                <a:moveTo>
                  <a:pt x="410547" y="485192"/>
                </a:moveTo>
                <a:cubicBezTo>
                  <a:pt x="396551" y="496855"/>
                  <a:pt x="382555" y="508518"/>
                  <a:pt x="335902" y="494522"/>
                </a:cubicBezTo>
                <a:cubicBezTo>
                  <a:pt x="289249" y="480526"/>
                  <a:pt x="174172" y="446314"/>
                  <a:pt x="130629" y="401216"/>
                </a:cubicBezTo>
                <a:cubicBezTo>
                  <a:pt x="87086" y="356118"/>
                  <a:pt x="96416" y="290804"/>
                  <a:pt x="74645" y="223935"/>
                </a:cubicBezTo>
                <a:cubicBezTo>
                  <a:pt x="52874" y="157066"/>
                  <a:pt x="26437" y="78533"/>
                  <a:pt x="0" y="0"/>
                </a:cubicBezTo>
              </a:path>
            </a:pathLst>
          </a:custGeom>
          <a:ln>
            <a:headEnd type="none" w="med" len="med"/>
            <a:tailEnd type="arrow" w="med" len="med"/>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s-CO"/>
          </a:p>
        </p:txBody>
      </p:sp>
    </p:spTree>
    <p:extLst>
      <p:ext uri="{BB962C8B-B14F-4D97-AF65-F5344CB8AC3E}">
        <p14:creationId xmlns:p14="http://schemas.microsoft.com/office/powerpoint/2010/main" val="409185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fade">
                                      <p:cBhvr>
                                        <p:cTn id="43" dur="500"/>
                                        <p:tgtEl>
                                          <p:spTgt spid="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1" end="1"/>
                                            </p:txEl>
                                          </p:spTgt>
                                        </p:tgtEl>
                                        <p:attrNameLst>
                                          <p:attrName>style.visibility</p:attrName>
                                        </p:attrNameLst>
                                      </p:cBhvr>
                                      <p:to>
                                        <p:strVal val="visible"/>
                                      </p:to>
                                    </p:set>
                                    <p:animEffect transition="in" filter="fade">
                                      <p:cBhvr>
                                        <p:cTn id="48" dur="500"/>
                                        <p:tgtEl>
                                          <p:spTgt spid="3">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7" grpId="0"/>
      <p:bldP spid="8" grpId="0"/>
      <p:bldP spid="9" grpId="0"/>
      <p:bldP spid="10" grpId="0"/>
      <p:bldP spid="11" grpId="0"/>
      <p:bldP spid="12" grpId="0" animBg="1"/>
      <p:bldP spid="13" grpId="0"/>
      <p:bldP spid="15" grpId="0" animBg="1"/>
      <p:bldP spid="17" grpId="0"/>
      <p:bldP spid="18" grpId="0"/>
      <p:bldP spid="19" grpId="0"/>
      <p:bldP spid="20"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645D-1264-77B0-4E84-A5EF30481447}"/>
              </a:ext>
            </a:extLst>
          </p:cNvPr>
          <p:cNvSpPr>
            <a:spLocks noGrp="1"/>
          </p:cNvSpPr>
          <p:nvPr>
            <p:ph type="title"/>
          </p:nvPr>
        </p:nvSpPr>
        <p:spPr>
          <a:xfrm>
            <a:off x="838200" y="42573"/>
            <a:ext cx="10515600" cy="797842"/>
          </a:xfrm>
        </p:spPr>
        <p:txBody>
          <a:bodyPr>
            <a:normAutofit/>
          </a:bodyPr>
          <a:lstStyle/>
          <a:p>
            <a:r>
              <a:rPr lang="es-ES" sz="3600"/>
              <a:t>El Rol de la Energía: ¿Quién la Guarda y Quién la Gasta?</a:t>
            </a:r>
            <a:endParaRPr lang="es-CO" sz="3600"/>
          </a:p>
        </p:txBody>
      </p:sp>
      <p:sp>
        <p:nvSpPr>
          <p:cNvPr id="4" name="Rectángulo 10">
            <a:extLst>
              <a:ext uri="{FF2B5EF4-FFF2-40B4-BE49-F238E27FC236}">
                <a16:creationId xmlns:a16="http://schemas.microsoft.com/office/drawing/2014/main" id="{731F62E3-B573-1CAA-B364-FFA526068856}"/>
              </a:ext>
            </a:extLst>
          </p:cNvPr>
          <p:cNvSpPr/>
          <p:nvPr/>
        </p:nvSpPr>
        <p:spPr>
          <a:xfrm>
            <a:off x="5376051" y="1335173"/>
            <a:ext cx="1455938" cy="721474"/>
          </a:xfrm>
          <a:prstGeom prst="rect">
            <a:avLst/>
          </a:prstGeom>
          <a:solidFill>
            <a:schemeClr val="accent6"/>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419" b="1">
                <a:solidFill>
                  <a:schemeClr val="tx1"/>
                </a:solidFill>
              </a:rPr>
              <a:t>Sistema</a:t>
            </a:r>
          </a:p>
        </p:txBody>
      </p:sp>
      <p:cxnSp>
        <p:nvCxnSpPr>
          <p:cNvPr id="5" name="Conector recto de flecha 12">
            <a:extLst>
              <a:ext uri="{FF2B5EF4-FFF2-40B4-BE49-F238E27FC236}">
                <a16:creationId xmlns:a16="http://schemas.microsoft.com/office/drawing/2014/main" id="{C979F7C8-DA7C-1D4D-23E2-BFF53F9DD896}"/>
              </a:ext>
            </a:extLst>
          </p:cNvPr>
          <p:cNvCxnSpPr>
            <a:cxnSpLocks/>
            <a:endCxn id="4" idx="1"/>
          </p:cNvCxnSpPr>
          <p:nvPr/>
        </p:nvCxnSpPr>
        <p:spPr>
          <a:xfrm>
            <a:off x="4544214" y="1695910"/>
            <a:ext cx="83183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14">
            <a:extLst>
              <a:ext uri="{FF2B5EF4-FFF2-40B4-BE49-F238E27FC236}">
                <a16:creationId xmlns:a16="http://schemas.microsoft.com/office/drawing/2014/main" id="{F0F8A6D9-F368-6B95-CBB6-024F8E0FF8C1}"/>
              </a:ext>
            </a:extLst>
          </p:cNvPr>
          <p:cNvCxnSpPr>
            <a:cxnSpLocks/>
            <a:stCxn id="4" idx="3"/>
          </p:cNvCxnSpPr>
          <p:nvPr/>
        </p:nvCxnSpPr>
        <p:spPr>
          <a:xfrm>
            <a:off x="6831989" y="1695910"/>
            <a:ext cx="831837"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FB726AC6-4D43-AD6D-9FAE-38720873D861}"/>
              </a:ext>
            </a:extLst>
          </p:cNvPr>
          <p:cNvSpPr txBox="1"/>
          <p:nvPr/>
        </p:nvSpPr>
        <p:spPr>
          <a:xfrm>
            <a:off x="4173914" y="1146210"/>
            <a:ext cx="998543" cy="369332"/>
          </a:xfrm>
          <a:prstGeom prst="rect">
            <a:avLst/>
          </a:prstGeom>
          <a:noFill/>
        </p:spPr>
        <p:txBody>
          <a:bodyPr wrap="none" rtlCol="0">
            <a:spAutoFit/>
          </a:bodyPr>
          <a:lstStyle/>
          <a:p>
            <a:r>
              <a:rPr lang="es-419" b="1">
                <a:solidFill>
                  <a:schemeClr val="bg1"/>
                </a:solidFill>
              </a:rPr>
              <a:t>Entrada</a:t>
            </a:r>
          </a:p>
        </p:txBody>
      </p:sp>
      <p:sp>
        <p:nvSpPr>
          <p:cNvPr id="8" name="CuadroTexto 19">
            <a:extLst>
              <a:ext uri="{FF2B5EF4-FFF2-40B4-BE49-F238E27FC236}">
                <a16:creationId xmlns:a16="http://schemas.microsoft.com/office/drawing/2014/main" id="{342F1438-823A-8793-0B27-91E1CF3DCF61}"/>
              </a:ext>
            </a:extLst>
          </p:cNvPr>
          <p:cNvSpPr txBox="1"/>
          <p:nvPr/>
        </p:nvSpPr>
        <p:spPr>
          <a:xfrm>
            <a:off x="6957452" y="1146210"/>
            <a:ext cx="841897" cy="369332"/>
          </a:xfrm>
          <a:prstGeom prst="rect">
            <a:avLst/>
          </a:prstGeom>
          <a:noFill/>
        </p:spPr>
        <p:txBody>
          <a:bodyPr wrap="none" rtlCol="0">
            <a:spAutoFit/>
          </a:bodyPr>
          <a:lstStyle/>
          <a:p>
            <a:r>
              <a:rPr lang="es-419" b="1">
                <a:solidFill>
                  <a:schemeClr val="bg1"/>
                </a:solidFill>
              </a:rPr>
              <a:t>Salida</a:t>
            </a:r>
          </a:p>
        </p:txBody>
      </p:sp>
      <p:sp>
        <p:nvSpPr>
          <p:cNvPr id="9" name="CuadroTexto 22">
            <a:extLst>
              <a:ext uri="{FF2B5EF4-FFF2-40B4-BE49-F238E27FC236}">
                <a16:creationId xmlns:a16="http://schemas.microsoft.com/office/drawing/2014/main" id="{BE3D4168-5364-0275-CAC0-5D57A81C55C4}"/>
              </a:ext>
            </a:extLst>
          </p:cNvPr>
          <p:cNvSpPr txBox="1"/>
          <p:nvPr/>
        </p:nvSpPr>
        <p:spPr>
          <a:xfrm>
            <a:off x="4516733" y="1687315"/>
            <a:ext cx="312906" cy="369332"/>
          </a:xfrm>
          <a:prstGeom prst="rect">
            <a:avLst/>
          </a:prstGeom>
          <a:noFill/>
        </p:spPr>
        <p:txBody>
          <a:bodyPr wrap="none" rtlCol="0">
            <a:spAutoFit/>
          </a:bodyPr>
          <a:lstStyle/>
          <a:p>
            <a:r>
              <a:rPr lang="es-419">
                <a:solidFill>
                  <a:schemeClr val="bg1"/>
                </a:solidFill>
              </a:rPr>
              <a:t>u</a:t>
            </a:r>
          </a:p>
        </p:txBody>
      </p:sp>
      <p:sp>
        <p:nvSpPr>
          <p:cNvPr id="10" name="CuadroTexto 22">
            <a:extLst>
              <a:ext uri="{FF2B5EF4-FFF2-40B4-BE49-F238E27FC236}">
                <a16:creationId xmlns:a16="http://schemas.microsoft.com/office/drawing/2014/main" id="{1616EC99-F509-DE41-5FC4-4970783C6C08}"/>
              </a:ext>
            </a:extLst>
          </p:cNvPr>
          <p:cNvSpPr txBox="1"/>
          <p:nvPr/>
        </p:nvSpPr>
        <p:spPr>
          <a:xfrm>
            <a:off x="7091454" y="1687315"/>
            <a:ext cx="288862" cy="369332"/>
          </a:xfrm>
          <a:prstGeom prst="rect">
            <a:avLst/>
          </a:prstGeom>
          <a:noFill/>
        </p:spPr>
        <p:txBody>
          <a:bodyPr wrap="none" rtlCol="0">
            <a:spAutoFit/>
          </a:bodyPr>
          <a:lstStyle/>
          <a:p>
            <a:r>
              <a:rPr lang="es-419">
                <a:solidFill>
                  <a:schemeClr val="bg1"/>
                </a:solidFill>
              </a:rPr>
              <a:t>y</a:t>
            </a:r>
          </a:p>
        </p:txBody>
      </p:sp>
      <p:pic>
        <p:nvPicPr>
          <p:cNvPr id="4098" name="Picture 2" descr="Fotos e imágenes de Dinero | Canva">
            <a:extLst>
              <a:ext uri="{FF2B5EF4-FFF2-40B4-BE49-F238E27FC236}">
                <a16:creationId xmlns:a16="http://schemas.microsoft.com/office/drawing/2014/main" id="{30BD0F96-EB52-8E0D-45F3-30FB4411F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740" y="618489"/>
            <a:ext cx="2260819" cy="1693559"/>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8">
            <a:extLst>
              <a:ext uri="{FF2B5EF4-FFF2-40B4-BE49-F238E27FC236}">
                <a16:creationId xmlns:a16="http://schemas.microsoft.com/office/drawing/2014/main" id="{9EE6DE9C-B524-C07B-57FB-2559D8AF3F4F}"/>
              </a:ext>
            </a:extLst>
          </p:cNvPr>
          <p:cNvSpPr txBox="1"/>
          <p:nvPr/>
        </p:nvSpPr>
        <p:spPr>
          <a:xfrm>
            <a:off x="1683606" y="2312048"/>
            <a:ext cx="1887953" cy="369332"/>
          </a:xfrm>
          <a:prstGeom prst="rect">
            <a:avLst/>
          </a:prstGeom>
          <a:noFill/>
        </p:spPr>
        <p:txBody>
          <a:bodyPr wrap="none" rtlCol="0">
            <a:spAutoFit/>
          </a:bodyPr>
          <a:lstStyle/>
          <a:p>
            <a:r>
              <a:rPr lang="es-419" b="1">
                <a:solidFill>
                  <a:schemeClr val="bg1"/>
                </a:solidFill>
              </a:rPr>
              <a:t>Energía = Dinero</a:t>
            </a:r>
          </a:p>
        </p:txBody>
      </p:sp>
      <p:sp>
        <p:nvSpPr>
          <p:cNvPr id="12" name="CuadroTexto 18">
            <a:extLst>
              <a:ext uri="{FF2B5EF4-FFF2-40B4-BE49-F238E27FC236}">
                <a16:creationId xmlns:a16="http://schemas.microsoft.com/office/drawing/2014/main" id="{A70D0256-A376-F942-A84E-30EA14251C44}"/>
              </a:ext>
            </a:extLst>
          </p:cNvPr>
          <p:cNvSpPr txBox="1"/>
          <p:nvPr/>
        </p:nvSpPr>
        <p:spPr>
          <a:xfrm>
            <a:off x="8588361" y="776878"/>
            <a:ext cx="2262607" cy="369332"/>
          </a:xfrm>
          <a:prstGeom prst="rect">
            <a:avLst/>
          </a:prstGeom>
          <a:noFill/>
        </p:spPr>
        <p:txBody>
          <a:bodyPr wrap="none" rtlCol="0">
            <a:spAutoFit/>
          </a:bodyPr>
          <a:lstStyle/>
          <a:p>
            <a:r>
              <a:rPr lang="es-419" b="1">
                <a:solidFill>
                  <a:schemeClr val="accent1"/>
                </a:solidFill>
              </a:rPr>
              <a:t>2 formas de guardar</a:t>
            </a:r>
          </a:p>
        </p:txBody>
      </p:sp>
      <p:sp>
        <p:nvSpPr>
          <p:cNvPr id="13" name="CuadroTexto 18">
            <a:extLst>
              <a:ext uri="{FF2B5EF4-FFF2-40B4-BE49-F238E27FC236}">
                <a16:creationId xmlns:a16="http://schemas.microsoft.com/office/drawing/2014/main" id="{F741686C-3E1E-26C7-59A6-03C77570D2CF}"/>
              </a:ext>
            </a:extLst>
          </p:cNvPr>
          <p:cNvSpPr txBox="1"/>
          <p:nvPr/>
        </p:nvSpPr>
        <p:spPr>
          <a:xfrm>
            <a:off x="8588361" y="1859178"/>
            <a:ext cx="1987595" cy="369332"/>
          </a:xfrm>
          <a:prstGeom prst="rect">
            <a:avLst/>
          </a:prstGeom>
          <a:noFill/>
        </p:spPr>
        <p:txBody>
          <a:bodyPr wrap="none" rtlCol="0">
            <a:spAutoFit/>
          </a:bodyPr>
          <a:lstStyle/>
          <a:p>
            <a:r>
              <a:rPr lang="es-419" b="1">
                <a:solidFill>
                  <a:schemeClr val="accent4"/>
                </a:solidFill>
              </a:rPr>
              <a:t>1 forma de gastar</a:t>
            </a:r>
          </a:p>
        </p:txBody>
      </p:sp>
      <p:sp>
        <p:nvSpPr>
          <p:cNvPr id="14" name="Left Brace 13">
            <a:extLst>
              <a:ext uri="{FF2B5EF4-FFF2-40B4-BE49-F238E27FC236}">
                <a16:creationId xmlns:a16="http://schemas.microsoft.com/office/drawing/2014/main" id="{49B66B46-8D1E-1DA1-44A3-3655AAEF1D6B}"/>
              </a:ext>
            </a:extLst>
          </p:cNvPr>
          <p:cNvSpPr/>
          <p:nvPr/>
        </p:nvSpPr>
        <p:spPr>
          <a:xfrm>
            <a:off x="7923291" y="738966"/>
            <a:ext cx="567566" cy="1573072"/>
          </a:xfrm>
          <a:prstGeom prst="lef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s-CO"/>
          </a:p>
        </p:txBody>
      </p:sp>
      <p:sp>
        <p:nvSpPr>
          <p:cNvPr id="16" name="TextBox 15">
            <a:extLst>
              <a:ext uri="{FF2B5EF4-FFF2-40B4-BE49-F238E27FC236}">
                <a16:creationId xmlns:a16="http://schemas.microsoft.com/office/drawing/2014/main" id="{E5073A66-C352-C5F3-DDCA-8FEAD7CFFF22}"/>
              </a:ext>
            </a:extLst>
          </p:cNvPr>
          <p:cNvSpPr txBox="1"/>
          <p:nvPr/>
        </p:nvSpPr>
        <p:spPr>
          <a:xfrm>
            <a:off x="461813" y="3088633"/>
            <a:ext cx="4331538" cy="1200329"/>
          </a:xfrm>
          <a:prstGeom prst="rect">
            <a:avLst/>
          </a:prstGeom>
          <a:noFill/>
        </p:spPr>
        <p:txBody>
          <a:bodyPr wrap="square">
            <a:spAutoFit/>
          </a:bodyPr>
          <a:lstStyle/>
          <a:p>
            <a:pPr algn="ctr">
              <a:buNone/>
            </a:pPr>
            <a:r>
              <a:rPr lang="es-ES" b="1">
                <a:solidFill>
                  <a:schemeClr val="accent1"/>
                </a:solidFill>
              </a:rPr>
              <a:t>Energía Cinética: La Energía del Movimiento</a:t>
            </a:r>
          </a:p>
          <a:p>
            <a:r>
              <a:rPr lang="es-ES">
                <a:solidFill>
                  <a:schemeClr val="bg1"/>
                </a:solidFill>
              </a:rPr>
              <a:t>Es la energía que un objeto posee por el hecho de </a:t>
            </a:r>
            <a:r>
              <a:rPr lang="es-ES" b="1">
                <a:solidFill>
                  <a:schemeClr val="accent5"/>
                </a:solidFill>
              </a:rPr>
              <a:t>estar en movimiento</a:t>
            </a:r>
            <a:r>
              <a:rPr lang="es-ES">
                <a:solidFill>
                  <a:schemeClr val="bg1"/>
                </a:solidFill>
              </a:rPr>
              <a:t>.</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F639C87C-4F85-75EE-2E4D-0A909CA60F6E}"/>
                  </a:ext>
                </a:extLst>
              </p:cNvPr>
              <p:cNvSpPr txBox="1"/>
              <p:nvPr/>
            </p:nvSpPr>
            <p:spPr>
              <a:xfrm>
                <a:off x="1856418" y="4318662"/>
                <a:ext cx="1374735"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𝐸</m:t>
                          </m:r>
                        </m:e>
                        <m:sub>
                          <m:r>
                            <a:rPr lang="en-US" b="0" i="1" smtClean="0">
                              <a:solidFill>
                                <a:schemeClr val="bg1"/>
                              </a:solidFill>
                              <a:latin typeface="Cambria Math" panose="02040503050406030204" pitchFamily="18" charset="0"/>
                            </a:rPr>
                            <m:t>𝑐</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r>
                        <a:rPr lang="en-US" b="0" i="1" smtClean="0">
                          <a:solidFill>
                            <a:schemeClr val="bg1"/>
                          </a:solidFill>
                          <a:latin typeface="Cambria Math" panose="02040503050406030204" pitchFamily="18" charset="0"/>
                        </a:rPr>
                        <m:t>𝑚</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𝑣</m:t>
                          </m:r>
                        </m:e>
                        <m:sup>
                          <m:r>
                            <a:rPr lang="en-US" b="0" i="1" smtClean="0">
                              <a:solidFill>
                                <a:schemeClr val="bg1"/>
                              </a:solidFill>
                              <a:latin typeface="Cambria Math" panose="02040503050406030204" pitchFamily="18" charset="0"/>
                            </a:rPr>
                            <m:t>2</m:t>
                          </m:r>
                        </m:sup>
                      </m:sSup>
                    </m:oMath>
                  </m:oMathPara>
                </a14:m>
                <a:endParaRPr lang="es-CO">
                  <a:solidFill>
                    <a:schemeClr val="bg1"/>
                  </a:solidFill>
                </a:endParaRPr>
              </a:p>
            </p:txBody>
          </p:sp>
        </mc:Choice>
        <mc:Fallback>
          <p:sp>
            <p:nvSpPr>
              <p:cNvPr id="17" name="TextBox 16">
                <a:extLst>
                  <a:ext uri="{FF2B5EF4-FFF2-40B4-BE49-F238E27FC236}">
                    <a16:creationId xmlns:a16="http://schemas.microsoft.com/office/drawing/2014/main" id="{F639C87C-4F85-75EE-2E4D-0A909CA60F6E}"/>
                  </a:ext>
                </a:extLst>
              </p:cNvPr>
              <p:cNvSpPr txBox="1">
                <a:spLocks noRot="1" noChangeAspect="1" noMove="1" noResize="1" noEditPoints="1" noAdjustHandles="1" noChangeArrowheads="1" noChangeShapeType="1" noTextEdit="1"/>
              </p:cNvSpPr>
              <p:nvPr/>
            </p:nvSpPr>
            <p:spPr>
              <a:xfrm>
                <a:off x="1856418" y="4318662"/>
                <a:ext cx="1374735" cy="610936"/>
              </a:xfrm>
              <a:prstGeom prst="rect">
                <a:avLst/>
              </a:prstGeom>
              <a:blipFill>
                <a:blip r:embed="rId3"/>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A56BF444-4F56-1D8F-E942-7BF9DCBAA9AA}"/>
              </a:ext>
            </a:extLst>
          </p:cNvPr>
          <p:cNvSpPr txBox="1"/>
          <p:nvPr/>
        </p:nvSpPr>
        <p:spPr>
          <a:xfrm>
            <a:off x="377892" y="5111625"/>
            <a:ext cx="4725954" cy="1200329"/>
          </a:xfrm>
          <a:prstGeom prst="rect">
            <a:avLst/>
          </a:prstGeom>
          <a:noFill/>
        </p:spPr>
        <p:txBody>
          <a:bodyPr wrap="square">
            <a:spAutoFit/>
          </a:bodyPr>
          <a:lstStyle/>
          <a:p>
            <a:pPr>
              <a:buNone/>
            </a:pPr>
            <a:r>
              <a:rPr lang="es-ES" b="1">
                <a:solidFill>
                  <a:schemeClr val="accent1"/>
                </a:solidFill>
              </a:rPr>
              <a:t>"Dinero en Efectivo"</a:t>
            </a:r>
            <a:r>
              <a:rPr lang="es-ES">
                <a:solidFill>
                  <a:schemeClr val="accent1"/>
                </a:solidFill>
              </a:rPr>
              <a:t>. </a:t>
            </a:r>
            <a:r>
              <a:rPr lang="es-ES">
                <a:solidFill>
                  <a:schemeClr val="bg1"/>
                </a:solidFill>
              </a:rPr>
              <a:t>Es el capital que estás usando activamente </a:t>
            </a:r>
            <a:r>
              <a:rPr lang="es-ES" i="1">
                <a:solidFill>
                  <a:schemeClr val="bg1"/>
                </a:solidFill>
              </a:rPr>
              <a:t>ahora mismo</a:t>
            </a:r>
            <a:r>
              <a:rPr lang="es-ES">
                <a:solidFill>
                  <a:schemeClr val="bg1"/>
                </a:solidFill>
              </a:rPr>
              <a:t> para generar movimiento. Si no hay movimiento (</a:t>
            </a:r>
            <a:r>
              <a:rPr lang="es-ES" b="1">
                <a:solidFill>
                  <a:schemeClr val="bg1"/>
                </a:solidFill>
              </a:rPr>
              <a:t>velocidad</a:t>
            </a:r>
            <a:r>
              <a:rPr lang="es-ES">
                <a:solidFill>
                  <a:schemeClr val="bg1"/>
                </a:solidFill>
              </a:rPr>
              <a:t> = 0), no tienes "efectivo".</a:t>
            </a:r>
          </a:p>
        </p:txBody>
      </p:sp>
      <p:sp>
        <p:nvSpPr>
          <p:cNvPr id="21" name="TextBox 20">
            <a:extLst>
              <a:ext uri="{FF2B5EF4-FFF2-40B4-BE49-F238E27FC236}">
                <a16:creationId xmlns:a16="http://schemas.microsoft.com/office/drawing/2014/main" id="{64BD88FF-50A3-9180-7D03-D9B8CC76C8D8}"/>
              </a:ext>
            </a:extLst>
          </p:cNvPr>
          <p:cNvSpPr txBox="1"/>
          <p:nvPr/>
        </p:nvSpPr>
        <p:spPr>
          <a:xfrm>
            <a:off x="5057636" y="2912142"/>
            <a:ext cx="3421223" cy="1477328"/>
          </a:xfrm>
          <a:prstGeom prst="rect">
            <a:avLst/>
          </a:prstGeom>
          <a:noFill/>
        </p:spPr>
        <p:txBody>
          <a:bodyPr wrap="square">
            <a:spAutoFit/>
          </a:bodyPr>
          <a:lstStyle/>
          <a:p>
            <a:pPr algn="ctr">
              <a:buNone/>
            </a:pPr>
            <a:r>
              <a:rPr lang="es-ES" b="1">
                <a:solidFill>
                  <a:schemeClr val="accent1"/>
                </a:solidFill>
              </a:rPr>
              <a:t>Energía Potencial: La Energía Almacenada por Posición</a:t>
            </a:r>
          </a:p>
          <a:p>
            <a:r>
              <a:rPr lang="es-ES">
                <a:solidFill>
                  <a:schemeClr val="bg1"/>
                </a:solidFill>
              </a:rPr>
              <a:t>Es la energía que un sistema ha guardado gracias a su </a:t>
            </a:r>
            <a:r>
              <a:rPr lang="es-ES" b="1">
                <a:solidFill>
                  <a:schemeClr val="bg1"/>
                </a:solidFill>
              </a:rPr>
              <a:t>posición o configuración</a:t>
            </a:r>
            <a:r>
              <a:rPr lang="es-ES">
                <a:solidFill>
                  <a:schemeClr val="bg1"/>
                </a:solidFill>
              </a:rPr>
              <a:t> </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EE784F73-7D48-4831-3D5C-9B45757D2E1E}"/>
                  </a:ext>
                </a:extLst>
              </p:cNvPr>
              <p:cNvSpPr txBox="1"/>
              <p:nvPr/>
            </p:nvSpPr>
            <p:spPr>
              <a:xfrm>
                <a:off x="6131256" y="4555173"/>
                <a:ext cx="1325299"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𝐸</m:t>
                          </m:r>
                        </m:e>
                        <m:sub>
                          <m:r>
                            <a:rPr lang="en-US" b="0" i="1" smtClean="0">
                              <a:solidFill>
                                <a:schemeClr val="bg1"/>
                              </a:solidFill>
                              <a:latin typeface="Cambria Math" panose="02040503050406030204" pitchFamily="18" charset="0"/>
                            </a:rPr>
                            <m:t>𝑝</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r>
                        <a:rPr lang="en-US" b="0" i="1" smtClean="0">
                          <a:solidFill>
                            <a:schemeClr val="bg1"/>
                          </a:solidFill>
                          <a:latin typeface="Cambria Math" panose="02040503050406030204" pitchFamily="18" charset="0"/>
                        </a:rPr>
                        <m:t>𝑘</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𝑥</m:t>
                          </m:r>
                        </m:e>
                        <m:sup>
                          <m:r>
                            <a:rPr lang="en-US" b="0" i="1" smtClean="0">
                              <a:solidFill>
                                <a:schemeClr val="bg1"/>
                              </a:solidFill>
                              <a:latin typeface="Cambria Math" panose="02040503050406030204" pitchFamily="18" charset="0"/>
                            </a:rPr>
                            <m:t>2</m:t>
                          </m:r>
                        </m:sup>
                      </m:sSup>
                    </m:oMath>
                  </m:oMathPara>
                </a14:m>
                <a:endParaRPr lang="es-CO">
                  <a:solidFill>
                    <a:schemeClr val="bg1"/>
                  </a:solidFill>
                </a:endParaRPr>
              </a:p>
            </p:txBody>
          </p:sp>
        </mc:Choice>
        <mc:Fallback>
          <p:sp>
            <p:nvSpPr>
              <p:cNvPr id="22" name="TextBox 21">
                <a:extLst>
                  <a:ext uri="{FF2B5EF4-FFF2-40B4-BE49-F238E27FC236}">
                    <a16:creationId xmlns:a16="http://schemas.microsoft.com/office/drawing/2014/main" id="{EE784F73-7D48-4831-3D5C-9B45757D2E1E}"/>
                  </a:ext>
                </a:extLst>
              </p:cNvPr>
              <p:cNvSpPr txBox="1">
                <a:spLocks noRot="1" noChangeAspect="1" noMove="1" noResize="1" noEditPoints="1" noAdjustHandles="1" noChangeArrowheads="1" noChangeShapeType="1" noTextEdit="1"/>
              </p:cNvSpPr>
              <p:nvPr/>
            </p:nvSpPr>
            <p:spPr>
              <a:xfrm>
                <a:off x="6131256" y="4555173"/>
                <a:ext cx="1325299" cy="610936"/>
              </a:xfrm>
              <a:prstGeom prst="rect">
                <a:avLst/>
              </a:prstGeom>
              <a:blipFill>
                <a:blip r:embed="rId4"/>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022ABD2-AB52-1B97-21C0-1DCAE1E9AF49}"/>
              </a:ext>
            </a:extLst>
          </p:cNvPr>
          <p:cNvSpPr txBox="1"/>
          <p:nvPr/>
        </p:nvSpPr>
        <p:spPr>
          <a:xfrm>
            <a:off x="5057636" y="5229595"/>
            <a:ext cx="3530725" cy="1200329"/>
          </a:xfrm>
          <a:prstGeom prst="rect">
            <a:avLst/>
          </a:prstGeom>
          <a:noFill/>
        </p:spPr>
        <p:txBody>
          <a:bodyPr wrap="square">
            <a:spAutoFit/>
          </a:bodyPr>
          <a:lstStyle/>
          <a:p>
            <a:r>
              <a:rPr lang="es-ES" b="1">
                <a:solidFill>
                  <a:schemeClr val="accent1"/>
                </a:solidFill>
              </a:rPr>
              <a:t>"Cuenta de Ahorros"</a:t>
            </a:r>
            <a:r>
              <a:rPr lang="es-ES">
                <a:solidFill>
                  <a:schemeClr val="accent1"/>
                </a:solidFill>
              </a:rPr>
              <a:t>. </a:t>
            </a:r>
            <a:r>
              <a:rPr lang="es-ES">
                <a:solidFill>
                  <a:schemeClr val="bg1"/>
                </a:solidFill>
              </a:rPr>
              <a:t>Es capital guardado, con el </a:t>
            </a:r>
            <a:r>
              <a:rPr lang="es-ES" i="1">
                <a:solidFill>
                  <a:schemeClr val="bg1"/>
                </a:solidFill>
              </a:rPr>
              <a:t>potencial</a:t>
            </a:r>
            <a:r>
              <a:rPr lang="es-ES">
                <a:solidFill>
                  <a:schemeClr val="bg1"/>
                </a:solidFill>
              </a:rPr>
              <a:t> de ser convertido en "efectivo" (energía cinética).</a:t>
            </a:r>
            <a:endParaRPr lang="es-CO">
              <a:solidFill>
                <a:schemeClr val="bg1"/>
              </a:solidFill>
            </a:endParaRPr>
          </a:p>
        </p:txBody>
      </p:sp>
      <p:sp>
        <p:nvSpPr>
          <p:cNvPr id="26" name="TextBox 25">
            <a:extLst>
              <a:ext uri="{FF2B5EF4-FFF2-40B4-BE49-F238E27FC236}">
                <a16:creationId xmlns:a16="http://schemas.microsoft.com/office/drawing/2014/main" id="{569C98D8-85AE-383A-4C73-5CDD6E8E5D78}"/>
              </a:ext>
            </a:extLst>
          </p:cNvPr>
          <p:cNvSpPr txBox="1"/>
          <p:nvPr/>
        </p:nvSpPr>
        <p:spPr>
          <a:xfrm>
            <a:off x="8966130" y="3391801"/>
            <a:ext cx="2932913" cy="2031325"/>
          </a:xfrm>
          <a:prstGeom prst="rect">
            <a:avLst/>
          </a:prstGeom>
          <a:noFill/>
        </p:spPr>
        <p:txBody>
          <a:bodyPr wrap="square">
            <a:spAutoFit/>
          </a:bodyPr>
          <a:lstStyle/>
          <a:p>
            <a:pPr algn="ctr">
              <a:buNone/>
            </a:pPr>
            <a:r>
              <a:rPr lang="es-ES" b="1">
                <a:solidFill>
                  <a:schemeClr val="accent4"/>
                </a:solidFill>
              </a:rPr>
              <a:t>Disipación: La Energía que se Gasta</a:t>
            </a:r>
          </a:p>
          <a:p>
            <a:r>
              <a:rPr lang="es-ES">
                <a:solidFill>
                  <a:schemeClr val="bg1"/>
                </a:solidFill>
              </a:rPr>
              <a:t>Es la energía que </a:t>
            </a:r>
            <a:r>
              <a:rPr lang="es-ES" b="1">
                <a:solidFill>
                  <a:schemeClr val="bg1"/>
                </a:solidFill>
              </a:rPr>
              <a:t>sale del sistema</a:t>
            </a:r>
            <a:r>
              <a:rPr lang="es-ES">
                <a:solidFill>
                  <a:schemeClr val="bg1"/>
                </a:solidFill>
              </a:rPr>
              <a:t> y no puede ser recuperada. Se convierte en otra forma, usualmente calor, debido al rozamiento.</a:t>
            </a:r>
          </a:p>
        </p:txBody>
      </p:sp>
      <p:sp>
        <p:nvSpPr>
          <p:cNvPr id="27" name="Rectangle 26">
            <a:extLst>
              <a:ext uri="{FF2B5EF4-FFF2-40B4-BE49-F238E27FC236}">
                <a16:creationId xmlns:a16="http://schemas.microsoft.com/office/drawing/2014/main" id="{8EE09CD3-51D0-C060-84C4-F5CCDA53A2A7}"/>
              </a:ext>
            </a:extLst>
          </p:cNvPr>
          <p:cNvSpPr/>
          <p:nvPr/>
        </p:nvSpPr>
        <p:spPr>
          <a:xfrm>
            <a:off x="298580" y="2912142"/>
            <a:ext cx="4646644" cy="360061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8" name="Rectangle 27">
            <a:extLst>
              <a:ext uri="{FF2B5EF4-FFF2-40B4-BE49-F238E27FC236}">
                <a16:creationId xmlns:a16="http://schemas.microsoft.com/office/drawing/2014/main" id="{AC2CBBD1-928B-6B98-87BF-DFCDF2397855}"/>
              </a:ext>
            </a:extLst>
          </p:cNvPr>
          <p:cNvSpPr/>
          <p:nvPr/>
        </p:nvSpPr>
        <p:spPr>
          <a:xfrm>
            <a:off x="5024536" y="2922465"/>
            <a:ext cx="3563825" cy="360061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Rectangle 28">
            <a:extLst>
              <a:ext uri="{FF2B5EF4-FFF2-40B4-BE49-F238E27FC236}">
                <a16:creationId xmlns:a16="http://schemas.microsoft.com/office/drawing/2014/main" id="{9A6AC956-CF99-E2C9-282D-48100322D706}"/>
              </a:ext>
            </a:extLst>
          </p:cNvPr>
          <p:cNvSpPr/>
          <p:nvPr/>
        </p:nvSpPr>
        <p:spPr>
          <a:xfrm>
            <a:off x="8700773" y="2921473"/>
            <a:ext cx="3341911" cy="3600617"/>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14252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098"/>
                                        </p:tgtEl>
                                        <p:attrNameLst>
                                          <p:attrName>style.visibility</p:attrName>
                                        </p:attrNameLst>
                                      </p:cBhvr>
                                      <p:to>
                                        <p:strVal val="visible"/>
                                      </p:to>
                                    </p:set>
                                    <p:animEffect transition="in" filter="fade">
                                      <p:cBhvr>
                                        <p:cTn id="30" dur="500"/>
                                        <p:tgtEl>
                                          <p:spTgt spid="409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p:bldP spid="10" grpId="0"/>
      <p:bldP spid="11" grpId="0"/>
      <p:bldP spid="12" grpId="0"/>
      <p:bldP spid="13" grpId="0"/>
      <p:bldP spid="14" grpId="0" animBg="1"/>
      <p:bldP spid="16" grpId="0"/>
      <p:bldP spid="17" grpId="0"/>
      <p:bldP spid="19" grpId="0"/>
      <p:bldP spid="21" grpId="0"/>
      <p:bldP spid="22" grpId="0"/>
      <p:bldP spid="24" grpId="0"/>
      <p:bldP spid="26" grpId="0"/>
      <p:bldP spid="27"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A4819-D08F-0390-5C46-B862DA1E0247}"/>
              </a:ext>
            </a:extLst>
          </p:cNvPr>
          <p:cNvSpPr>
            <a:spLocks noGrp="1"/>
          </p:cNvSpPr>
          <p:nvPr>
            <p:ph type="title"/>
          </p:nvPr>
        </p:nvSpPr>
        <p:spPr>
          <a:xfrm>
            <a:off x="929640" y="0"/>
            <a:ext cx="10515600" cy="807212"/>
          </a:xfrm>
        </p:spPr>
        <p:txBody>
          <a:bodyPr/>
          <a:lstStyle/>
          <a:p>
            <a:r>
              <a:rPr lang="es-ES"/>
              <a:t>Los 3 Componentes Pasivos Fundamentales</a:t>
            </a:r>
            <a:endParaRPr lang="es-CO" noProof="0"/>
          </a:p>
        </p:txBody>
      </p:sp>
      <p:sp>
        <p:nvSpPr>
          <p:cNvPr id="3" name="Content Placeholder 2">
            <a:extLst>
              <a:ext uri="{FF2B5EF4-FFF2-40B4-BE49-F238E27FC236}">
                <a16:creationId xmlns:a16="http://schemas.microsoft.com/office/drawing/2014/main" id="{51E0550A-2ED8-42EA-01FE-CCEDF2702C71}"/>
              </a:ext>
            </a:extLst>
          </p:cNvPr>
          <p:cNvSpPr>
            <a:spLocks noGrp="1"/>
          </p:cNvSpPr>
          <p:nvPr>
            <p:ph idx="1"/>
          </p:nvPr>
        </p:nvSpPr>
        <p:spPr>
          <a:xfrm>
            <a:off x="838200" y="807212"/>
            <a:ext cx="10515600" cy="1054735"/>
          </a:xfrm>
        </p:spPr>
        <p:txBody>
          <a:bodyPr/>
          <a:lstStyle/>
          <a:p>
            <a:pPr marL="0" indent="0">
              <a:buNone/>
            </a:pPr>
            <a:r>
              <a:rPr lang="es-ES"/>
              <a:t>Todo sistema mecánico traslacional lineal se puede modelar usando tres componentes ideales:</a:t>
            </a:r>
            <a:endParaRPr lang="es-CO"/>
          </a:p>
        </p:txBody>
      </p:sp>
      <p:pic>
        <p:nvPicPr>
          <p:cNvPr id="8" name="Picture 7" descr="A diagram of a circuit&#10;&#10;AI-generated content may be incorrect.">
            <a:extLst>
              <a:ext uri="{FF2B5EF4-FFF2-40B4-BE49-F238E27FC236}">
                <a16:creationId xmlns:a16="http://schemas.microsoft.com/office/drawing/2014/main" id="{D88B1C6F-2BED-0752-7640-574EB0EF63ED}"/>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2388680" y="2513711"/>
            <a:ext cx="4186378" cy="2672584"/>
          </a:xfrm>
          <a:prstGeom prst="rect">
            <a:avLst/>
          </a:prstGeom>
          <a:effectLst>
            <a:glow>
              <a:schemeClr val="bg1"/>
            </a:glow>
          </a:effectLst>
        </p:spPr>
      </p:pic>
      <p:sp>
        <p:nvSpPr>
          <p:cNvPr id="5" name="TextBox 4">
            <a:extLst>
              <a:ext uri="{FF2B5EF4-FFF2-40B4-BE49-F238E27FC236}">
                <a16:creationId xmlns:a16="http://schemas.microsoft.com/office/drawing/2014/main" id="{161C8EEB-8181-39E7-A5F1-D312322A3076}"/>
              </a:ext>
            </a:extLst>
          </p:cNvPr>
          <p:cNvSpPr txBox="1"/>
          <p:nvPr/>
        </p:nvSpPr>
        <p:spPr>
          <a:xfrm>
            <a:off x="2686372" y="1981910"/>
            <a:ext cx="5680387" cy="646331"/>
          </a:xfrm>
          <a:prstGeom prst="rect">
            <a:avLst/>
          </a:prstGeom>
          <a:noFill/>
        </p:spPr>
        <p:txBody>
          <a:bodyPr wrap="square">
            <a:spAutoFit/>
          </a:bodyPr>
          <a:lstStyle/>
          <a:p>
            <a:r>
              <a:rPr lang="pt-BR" err="1">
                <a:solidFill>
                  <a:schemeClr val="accent2"/>
                </a:solidFill>
              </a:rPr>
              <a:t>Resorte</a:t>
            </a:r>
            <a:r>
              <a:rPr lang="pt-BR">
                <a:solidFill>
                  <a:schemeClr val="accent2"/>
                </a:solidFill>
              </a:rPr>
              <a:t> (Spring): </a:t>
            </a:r>
            <a:r>
              <a:rPr lang="pt-BR" err="1">
                <a:solidFill>
                  <a:schemeClr val="bg1"/>
                </a:solidFill>
              </a:rPr>
              <a:t>Almacena</a:t>
            </a:r>
            <a:r>
              <a:rPr lang="pt-BR">
                <a:solidFill>
                  <a:schemeClr val="bg1"/>
                </a:solidFill>
              </a:rPr>
              <a:t> </a:t>
            </a:r>
            <a:r>
              <a:rPr lang="pt-BR" err="1">
                <a:solidFill>
                  <a:schemeClr val="bg1"/>
                </a:solidFill>
              </a:rPr>
              <a:t>energía</a:t>
            </a:r>
            <a:r>
              <a:rPr lang="pt-BR">
                <a:solidFill>
                  <a:schemeClr val="bg1"/>
                </a:solidFill>
              </a:rPr>
              <a:t> potencial.</a:t>
            </a:r>
          </a:p>
          <a:p>
            <a:pPr algn="r"/>
            <a:r>
              <a:rPr lang="pt-BR" err="1">
                <a:solidFill>
                  <a:schemeClr val="accent5"/>
                </a:solidFill>
              </a:rPr>
              <a:t>Unidad</a:t>
            </a:r>
            <a:r>
              <a:rPr lang="pt-BR">
                <a:solidFill>
                  <a:schemeClr val="accent5"/>
                </a:solidFill>
              </a:rPr>
              <a:t>: </a:t>
            </a:r>
            <a:r>
              <a:rPr lang="pt-BR">
                <a:solidFill>
                  <a:schemeClr val="bg1"/>
                </a:solidFill>
              </a:rPr>
              <a:t>N/m (newtons/metro)</a:t>
            </a:r>
            <a:endParaRPr lang="es-CO">
              <a:solidFill>
                <a:schemeClr val="bg1"/>
              </a:solidFill>
            </a:endParaRPr>
          </a:p>
        </p:txBody>
      </p:sp>
      <p:sp>
        <p:nvSpPr>
          <p:cNvPr id="7" name="TextBox 6">
            <a:extLst>
              <a:ext uri="{FF2B5EF4-FFF2-40B4-BE49-F238E27FC236}">
                <a16:creationId xmlns:a16="http://schemas.microsoft.com/office/drawing/2014/main" id="{08C6F80D-7497-7852-DB64-FED72316202D}"/>
              </a:ext>
            </a:extLst>
          </p:cNvPr>
          <p:cNvSpPr txBox="1"/>
          <p:nvPr/>
        </p:nvSpPr>
        <p:spPr>
          <a:xfrm>
            <a:off x="1610868" y="5546924"/>
            <a:ext cx="5868924" cy="923330"/>
          </a:xfrm>
          <a:prstGeom prst="rect">
            <a:avLst/>
          </a:prstGeom>
          <a:noFill/>
        </p:spPr>
        <p:txBody>
          <a:bodyPr wrap="square">
            <a:spAutoFit/>
          </a:bodyPr>
          <a:lstStyle/>
          <a:p>
            <a:r>
              <a:rPr lang="pt-BR" b="1" err="1">
                <a:solidFill>
                  <a:schemeClr val="accent2"/>
                </a:solidFill>
              </a:rPr>
              <a:t>Amortiguador</a:t>
            </a:r>
            <a:r>
              <a:rPr lang="pt-BR" b="1">
                <a:solidFill>
                  <a:schemeClr val="accent2"/>
                </a:solidFill>
              </a:rPr>
              <a:t> Viscoso (</a:t>
            </a:r>
            <a:r>
              <a:rPr lang="pt-BR" b="1" err="1">
                <a:solidFill>
                  <a:schemeClr val="accent2"/>
                </a:solidFill>
              </a:rPr>
              <a:t>Viscous</a:t>
            </a:r>
            <a:r>
              <a:rPr lang="pt-BR" b="1">
                <a:solidFill>
                  <a:schemeClr val="accent2"/>
                </a:solidFill>
              </a:rPr>
              <a:t> </a:t>
            </a:r>
            <a:r>
              <a:rPr lang="pt-BR" b="1" err="1">
                <a:solidFill>
                  <a:schemeClr val="accent2"/>
                </a:solidFill>
              </a:rPr>
              <a:t>Damper</a:t>
            </a:r>
            <a:r>
              <a:rPr lang="pt-BR" b="1">
                <a:solidFill>
                  <a:schemeClr val="accent2"/>
                </a:solidFill>
              </a:rPr>
              <a:t>):</a:t>
            </a:r>
            <a:r>
              <a:rPr lang="pt-BR">
                <a:solidFill>
                  <a:schemeClr val="accent2"/>
                </a:solidFill>
              </a:rPr>
              <a:t> </a:t>
            </a:r>
            <a:r>
              <a:rPr lang="pt-BR" err="1">
                <a:solidFill>
                  <a:schemeClr val="bg1"/>
                </a:solidFill>
              </a:rPr>
              <a:t>Disipa</a:t>
            </a:r>
            <a:r>
              <a:rPr lang="pt-BR">
                <a:solidFill>
                  <a:schemeClr val="bg1"/>
                </a:solidFill>
              </a:rPr>
              <a:t> </a:t>
            </a:r>
            <a:r>
              <a:rPr lang="pt-BR" err="1">
                <a:solidFill>
                  <a:schemeClr val="bg1"/>
                </a:solidFill>
              </a:rPr>
              <a:t>energía</a:t>
            </a:r>
            <a:r>
              <a:rPr lang="pt-BR">
                <a:solidFill>
                  <a:schemeClr val="bg1"/>
                </a:solidFill>
              </a:rPr>
              <a:t> </a:t>
            </a:r>
            <a:r>
              <a:rPr lang="pt-BR" err="1">
                <a:solidFill>
                  <a:schemeClr val="bg1"/>
                </a:solidFill>
              </a:rPr>
              <a:t>en</a:t>
            </a:r>
            <a:r>
              <a:rPr lang="pt-BR">
                <a:solidFill>
                  <a:schemeClr val="bg1"/>
                </a:solidFill>
              </a:rPr>
              <a:t> forma de calor.</a:t>
            </a:r>
          </a:p>
          <a:p>
            <a:pPr algn="ctr"/>
            <a:r>
              <a:rPr lang="pt-BR" err="1">
                <a:solidFill>
                  <a:schemeClr val="accent5"/>
                </a:solidFill>
              </a:rPr>
              <a:t>Unidad</a:t>
            </a:r>
            <a:r>
              <a:rPr lang="pt-BR">
                <a:solidFill>
                  <a:schemeClr val="accent5"/>
                </a:solidFill>
              </a:rPr>
              <a:t>: </a:t>
            </a:r>
            <a:r>
              <a:rPr lang="pt-BR" err="1">
                <a:solidFill>
                  <a:schemeClr val="accent5"/>
                </a:solidFill>
              </a:rPr>
              <a:t>N-s</a:t>
            </a:r>
            <a:r>
              <a:rPr lang="pt-BR">
                <a:solidFill>
                  <a:schemeClr val="accent5"/>
                </a:solidFill>
              </a:rPr>
              <a:t>/m (newton-segundo</a:t>
            </a:r>
            <a:r>
              <a:rPr lang="pt-BR"/>
              <a:t>/metro)</a:t>
            </a:r>
            <a:endParaRPr lang="es-CO">
              <a:solidFill>
                <a:schemeClr val="bg1"/>
              </a:solidFill>
            </a:endParaRPr>
          </a:p>
        </p:txBody>
      </p:sp>
      <p:sp>
        <p:nvSpPr>
          <p:cNvPr id="10" name="TextBox 9">
            <a:extLst>
              <a:ext uri="{FF2B5EF4-FFF2-40B4-BE49-F238E27FC236}">
                <a16:creationId xmlns:a16="http://schemas.microsoft.com/office/drawing/2014/main" id="{781B2065-97BE-0614-89F3-2F3E16CFABDC}"/>
              </a:ext>
            </a:extLst>
          </p:cNvPr>
          <p:cNvSpPr txBox="1"/>
          <p:nvPr/>
        </p:nvSpPr>
        <p:spPr>
          <a:xfrm>
            <a:off x="5966460" y="4539556"/>
            <a:ext cx="4302252" cy="646331"/>
          </a:xfrm>
          <a:prstGeom prst="rect">
            <a:avLst/>
          </a:prstGeom>
          <a:noFill/>
        </p:spPr>
        <p:txBody>
          <a:bodyPr wrap="square">
            <a:spAutoFit/>
          </a:bodyPr>
          <a:lstStyle/>
          <a:p>
            <a:r>
              <a:rPr lang="pt-BR" b="1" err="1">
                <a:solidFill>
                  <a:schemeClr val="accent2"/>
                </a:solidFill>
              </a:rPr>
              <a:t>Masa</a:t>
            </a:r>
            <a:r>
              <a:rPr lang="pt-BR" b="1">
                <a:solidFill>
                  <a:schemeClr val="accent2"/>
                </a:solidFill>
              </a:rPr>
              <a:t> (Mass):</a:t>
            </a:r>
            <a:r>
              <a:rPr lang="pt-BR">
                <a:solidFill>
                  <a:schemeClr val="accent2"/>
                </a:solidFill>
              </a:rPr>
              <a:t> </a:t>
            </a:r>
            <a:r>
              <a:rPr lang="pt-BR" err="1">
                <a:solidFill>
                  <a:schemeClr val="bg1"/>
                </a:solidFill>
              </a:rPr>
              <a:t>Almacena</a:t>
            </a:r>
            <a:r>
              <a:rPr lang="pt-BR">
                <a:solidFill>
                  <a:schemeClr val="bg1"/>
                </a:solidFill>
              </a:rPr>
              <a:t> </a:t>
            </a:r>
            <a:r>
              <a:rPr lang="pt-BR" err="1">
                <a:solidFill>
                  <a:schemeClr val="bg1"/>
                </a:solidFill>
              </a:rPr>
              <a:t>energía</a:t>
            </a:r>
            <a:r>
              <a:rPr lang="pt-BR">
                <a:solidFill>
                  <a:schemeClr val="bg1"/>
                </a:solidFill>
              </a:rPr>
              <a:t> cinética.</a:t>
            </a:r>
          </a:p>
          <a:p>
            <a:pPr algn="ctr"/>
            <a:r>
              <a:rPr lang="pt-BR" err="1">
                <a:solidFill>
                  <a:schemeClr val="accent5"/>
                </a:solidFill>
              </a:rPr>
              <a:t>Unidad</a:t>
            </a:r>
            <a:r>
              <a:rPr lang="pt-BR">
                <a:solidFill>
                  <a:schemeClr val="accent5"/>
                </a:solidFill>
              </a:rPr>
              <a:t>: kg (</a:t>
            </a:r>
            <a:r>
              <a:rPr lang="pt-BR" err="1">
                <a:solidFill>
                  <a:schemeClr val="accent5"/>
                </a:solidFill>
              </a:rPr>
              <a:t>kilogramos</a:t>
            </a:r>
            <a:r>
              <a:rPr lang="pt-BR">
                <a:solidFill>
                  <a:schemeClr val="accent5"/>
                </a:solidFill>
              </a:rPr>
              <a:t>) </a:t>
            </a:r>
            <a:endParaRPr lang="es-CO">
              <a:solidFill>
                <a:schemeClr val="accent5"/>
              </a:solidFill>
            </a:endParaRPr>
          </a:p>
        </p:txBody>
      </p:sp>
      <p:cxnSp>
        <p:nvCxnSpPr>
          <p:cNvPr id="12" name="Straight Arrow Connector 11">
            <a:extLst>
              <a:ext uri="{FF2B5EF4-FFF2-40B4-BE49-F238E27FC236}">
                <a16:creationId xmlns:a16="http://schemas.microsoft.com/office/drawing/2014/main" id="{8F71372C-E6E7-B753-B842-96A3F5CA9702}"/>
              </a:ext>
            </a:extLst>
          </p:cNvPr>
          <p:cNvCxnSpPr/>
          <p:nvPr/>
        </p:nvCxnSpPr>
        <p:spPr>
          <a:xfrm>
            <a:off x="5404104" y="4398264"/>
            <a:ext cx="562356" cy="256032"/>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A32A10F-A606-9516-5C69-3DB4E7C5D701}"/>
              </a:ext>
            </a:extLst>
          </p:cNvPr>
          <p:cNvCxnSpPr/>
          <p:nvPr/>
        </p:nvCxnSpPr>
        <p:spPr>
          <a:xfrm flipV="1">
            <a:off x="3483864" y="2441448"/>
            <a:ext cx="0" cy="905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54FDE48-D5EF-6FC7-B9C2-C1E1A5DA41B1}"/>
              </a:ext>
            </a:extLst>
          </p:cNvPr>
          <p:cNvCxnSpPr/>
          <p:nvPr/>
        </p:nvCxnSpPr>
        <p:spPr>
          <a:xfrm flipH="1">
            <a:off x="3127248" y="4539556"/>
            <a:ext cx="502920" cy="10073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284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up)">
                                      <p:cBhvr>
                                        <p:cTn id="26" dur="500"/>
                                        <p:tgtEl>
                                          <p:spTgt spid="16"/>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99F7-CF45-5C91-68AE-2A1842023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FBE58-5752-68D9-EB30-1E8696EA17E6}"/>
              </a:ext>
            </a:extLst>
          </p:cNvPr>
          <p:cNvSpPr>
            <a:spLocks noGrp="1"/>
          </p:cNvSpPr>
          <p:nvPr>
            <p:ph type="title"/>
          </p:nvPr>
        </p:nvSpPr>
        <p:spPr>
          <a:xfrm>
            <a:off x="223375" y="916940"/>
            <a:ext cx="10515600" cy="807212"/>
          </a:xfrm>
        </p:spPr>
        <p:txBody>
          <a:bodyPr/>
          <a:lstStyle/>
          <a:p>
            <a:r>
              <a:rPr lang="es-ES"/>
              <a:t>Ecuaciones del Sistema Traslacional</a:t>
            </a:r>
            <a:endParaRPr lang="es-CO" noProof="0"/>
          </a:p>
        </p:txBody>
      </p:sp>
      <p:pic>
        <p:nvPicPr>
          <p:cNvPr id="8" name="Picture 7" descr="A diagram of a circuit&#10;&#10;AI-generated content may be incorrect.">
            <a:extLst>
              <a:ext uri="{FF2B5EF4-FFF2-40B4-BE49-F238E27FC236}">
                <a16:creationId xmlns:a16="http://schemas.microsoft.com/office/drawing/2014/main" id="{787298E6-F367-04B4-8DA0-7D4E77F25024}"/>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770783" y="127127"/>
            <a:ext cx="3123873" cy="1994281"/>
          </a:xfrm>
          <a:prstGeom prst="rect">
            <a:avLst/>
          </a:prstGeom>
          <a:effectLst>
            <a:glow>
              <a:schemeClr val="bg1"/>
            </a:glow>
          </a:effectLst>
        </p:spPr>
      </p:pic>
      <p:sp>
        <p:nvSpPr>
          <p:cNvPr id="11" name="TextBox 10">
            <a:extLst>
              <a:ext uri="{FF2B5EF4-FFF2-40B4-BE49-F238E27FC236}">
                <a16:creationId xmlns:a16="http://schemas.microsoft.com/office/drawing/2014/main" id="{FC13DF93-97C5-FB2C-9F9A-2428215B5A39}"/>
              </a:ext>
            </a:extLst>
          </p:cNvPr>
          <p:cNvSpPr txBox="1"/>
          <p:nvPr/>
        </p:nvSpPr>
        <p:spPr>
          <a:xfrm>
            <a:off x="592100" y="2302502"/>
            <a:ext cx="1531620" cy="369332"/>
          </a:xfrm>
          <a:prstGeom prst="rect">
            <a:avLst/>
          </a:prstGeom>
          <a:noFill/>
        </p:spPr>
        <p:txBody>
          <a:bodyPr wrap="square">
            <a:spAutoFit/>
          </a:bodyPr>
          <a:lstStyle/>
          <a:p>
            <a:r>
              <a:rPr lang="es-ES" u="sng">
                <a:solidFill>
                  <a:schemeClr val="accent2"/>
                </a:solidFill>
              </a:rPr>
              <a:t>Componente</a:t>
            </a:r>
            <a:endParaRPr lang="es-CO" u="sng"/>
          </a:p>
        </p:txBody>
      </p:sp>
      <p:sp>
        <p:nvSpPr>
          <p:cNvPr id="13" name="TextBox 12">
            <a:extLst>
              <a:ext uri="{FF2B5EF4-FFF2-40B4-BE49-F238E27FC236}">
                <a16:creationId xmlns:a16="http://schemas.microsoft.com/office/drawing/2014/main" id="{AED1693D-2405-CFB8-BB45-2A8879A6058E}"/>
              </a:ext>
            </a:extLst>
          </p:cNvPr>
          <p:cNvSpPr txBox="1"/>
          <p:nvPr/>
        </p:nvSpPr>
        <p:spPr>
          <a:xfrm>
            <a:off x="2759228" y="2302502"/>
            <a:ext cx="1913356" cy="369332"/>
          </a:xfrm>
          <a:prstGeom prst="rect">
            <a:avLst/>
          </a:prstGeom>
          <a:noFill/>
        </p:spPr>
        <p:txBody>
          <a:bodyPr wrap="square">
            <a:spAutoFit/>
          </a:bodyPr>
          <a:lstStyle/>
          <a:p>
            <a:r>
              <a:rPr lang="es-ES" u="sng">
                <a:solidFill>
                  <a:schemeClr val="accent2"/>
                </a:solidFill>
              </a:rPr>
              <a:t>Fuerza-Velocidad</a:t>
            </a:r>
            <a:endParaRPr lang="es-CO" u="sng"/>
          </a:p>
        </p:txBody>
      </p:sp>
      <p:sp>
        <p:nvSpPr>
          <p:cNvPr id="15" name="TextBox 14">
            <a:extLst>
              <a:ext uri="{FF2B5EF4-FFF2-40B4-BE49-F238E27FC236}">
                <a16:creationId xmlns:a16="http://schemas.microsoft.com/office/drawing/2014/main" id="{0C2D101B-2821-86C2-CCCF-19A2153D904A}"/>
              </a:ext>
            </a:extLst>
          </p:cNvPr>
          <p:cNvSpPr txBox="1"/>
          <p:nvPr/>
        </p:nvSpPr>
        <p:spPr>
          <a:xfrm>
            <a:off x="5054372" y="2302502"/>
            <a:ext cx="2590012" cy="369332"/>
          </a:xfrm>
          <a:prstGeom prst="rect">
            <a:avLst/>
          </a:prstGeom>
          <a:noFill/>
        </p:spPr>
        <p:txBody>
          <a:bodyPr wrap="square">
            <a:spAutoFit/>
          </a:bodyPr>
          <a:lstStyle/>
          <a:p>
            <a:r>
              <a:rPr lang="es-ES" u="sng">
                <a:solidFill>
                  <a:schemeClr val="accent2"/>
                </a:solidFill>
              </a:rPr>
              <a:t>Fuerza-Desplazamiento</a:t>
            </a:r>
            <a:endParaRPr lang="es-CO" u="sng"/>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202BE325-CF5A-5939-1931-C42EE9E89E0B}"/>
                  </a:ext>
                </a:extLst>
              </p:cNvPr>
              <p:cNvSpPr txBox="1"/>
              <p:nvPr/>
            </p:nvSpPr>
            <p:spPr>
              <a:xfrm>
                <a:off x="8423845" y="2302502"/>
                <a:ext cx="3431260" cy="369332"/>
              </a:xfrm>
              <a:prstGeom prst="rect">
                <a:avLst/>
              </a:prstGeom>
              <a:noFill/>
            </p:spPr>
            <p:txBody>
              <a:bodyPr wrap="square">
                <a:spAutoFit/>
              </a:bodyPr>
              <a:lstStyle/>
              <a:p>
                <a:r>
                  <a:rPr lang="es-ES" u="sng">
                    <a:solidFill>
                      <a:schemeClr val="accent2"/>
                    </a:solidFill>
                  </a:rPr>
                  <a:t>Impedancia</a:t>
                </a:r>
                <a:r>
                  <a:rPr lang="es-ES">
                    <a:solidFill>
                      <a:schemeClr val="accent2"/>
                    </a:solidFill>
                  </a:rPr>
                  <a:t>  </a:t>
                </a:r>
                <a14:m>
                  <m:oMath xmlns:m="http://schemas.openxmlformats.org/officeDocument/2006/math">
                    <m:r>
                      <a:rPr lang="en-US" b="0" i="1" smtClean="0">
                        <a:solidFill>
                          <a:schemeClr val="accent2"/>
                        </a:solidFill>
                        <a:latin typeface="Cambria Math" panose="02040503050406030204" pitchFamily="18" charset="0"/>
                      </a:rPr>
                      <m:t>𝑍</m:t>
                    </m:r>
                    <m:d>
                      <m:dPr>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𝑠</m:t>
                        </m:r>
                      </m:e>
                    </m:d>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𝐹</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𝑠</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𝑋</m:t>
                    </m:r>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𝑠</m:t>
                    </m:r>
                    <m:r>
                      <a:rPr lang="en-US" b="0" i="1" smtClean="0">
                        <a:solidFill>
                          <a:schemeClr val="accent2"/>
                        </a:solidFill>
                        <a:latin typeface="Cambria Math" panose="02040503050406030204" pitchFamily="18" charset="0"/>
                      </a:rPr>
                      <m:t>)</m:t>
                    </m:r>
                  </m:oMath>
                </a14:m>
                <a:endParaRPr lang="es-CO"/>
              </a:p>
            </p:txBody>
          </p:sp>
        </mc:Choice>
        <mc:Fallback>
          <p:sp>
            <p:nvSpPr>
              <p:cNvPr id="17" name="TextBox 16">
                <a:extLst>
                  <a:ext uri="{FF2B5EF4-FFF2-40B4-BE49-F238E27FC236}">
                    <a16:creationId xmlns:a16="http://schemas.microsoft.com/office/drawing/2014/main" id="{202BE325-CF5A-5939-1931-C42EE9E89E0B}"/>
                  </a:ext>
                </a:extLst>
              </p:cNvPr>
              <p:cNvSpPr txBox="1">
                <a:spLocks noRot="1" noChangeAspect="1" noMove="1" noResize="1" noEditPoints="1" noAdjustHandles="1" noChangeArrowheads="1" noChangeShapeType="1" noTextEdit="1"/>
              </p:cNvSpPr>
              <p:nvPr/>
            </p:nvSpPr>
            <p:spPr>
              <a:xfrm>
                <a:off x="8423845" y="2302502"/>
                <a:ext cx="3431260" cy="369332"/>
              </a:xfrm>
              <a:prstGeom prst="rect">
                <a:avLst/>
              </a:prstGeom>
              <a:blipFill>
                <a:blip r:embed="rId5"/>
                <a:stretch>
                  <a:fillRect l="-1599" t="-10000" b="-26667"/>
                </a:stretch>
              </a:blipFill>
            </p:spPr>
            <p:txBody>
              <a:bodyPr/>
              <a:lstStyle/>
              <a:p>
                <a:r>
                  <a:rPr lang="en-US">
                    <a:noFill/>
                  </a:rPr>
                  <a:t> </a:t>
                </a:r>
              </a:p>
            </p:txBody>
          </p:sp>
        </mc:Fallback>
      </mc:AlternateContent>
      <p:pic>
        <p:nvPicPr>
          <p:cNvPr id="18" name="Picture 17" descr="A diagram of a circuit&#10;&#10;AI-generated content may be incorrect.">
            <a:extLst>
              <a:ext uri="{FF2B5EF4-FFF2-40B4-BE49-F238E27FC236}">
                <a16:creationId xmlns:a16="http://schemas.microsoft.com/office/drawing/2014/main" id="{720485A3-2D97-42F5-3020-05980D945EDA}"/>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rcRect r="48770" b="48736"/>
          <a:stretch>
            <a:fillRect/>
          </a:stretch>
        </p:blipFill>
        <p:spPr>
          <a:xfrm>
            <a:off x="8776879" y="128397"/>
            <a:ext cx="1600364" cy="1022342"/>
          </a:xfrm>
          <a:prstGeom prst="rect">
            <a:avLst/>
          </a:prstGeom>
          <a:effectLst>
            <a:glow>
              <a:schemeClr val="bg1"/>
            </a:glow>
          </a:effectLst>
        </p:spPr>
      </p:pic>
      <p:pic>
        <p:nvPicPr>
          <p:cNvPr id="19" name="Picture 18" descr="A diagram of a circuit&#10;&#10;AI-generated content may be incorrect.">
            <a:extLst>
              <a:ext uri="{FF2B5EF4-FFF2-40B4-BE49-F238E27FC236}">
                <a16:creationId xmlns:a16="http://schemas.microsoft.com/office/drawing/2014/main" id="{71777FAE-FDAC-6222-0326-E649C5C761CA}"/>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rcRect t="55677" r="50935"/>
          <a:stretch>
            <a:fillRect/>
          </a:stretch>
        </p:blipFill>
        <p:spPr>
          <a:xfrm>
            <a:off x="8770783" y="1236218"/>
            <a:ext cx="1532750" cy="883920"/>
          </a:xfrm>
          <a:prstGeom prst="rect">
            <a:avLst/>
          </a:prstGeom>
          <a:effectLst>
            <a:glow>
              <a:schemeClr val="bg1"/>
            </a:glow>
          </a:effectLst>
        </p:spPr>
      </p:pic>
      <p:pic>
        <p:nvPicPr>
          <p:cNvPr id="20" name="Picture 19" descr="A diagram of a circuit&#10;&#10;AI-generated content may be incorrect.">
            <a:extLst>
              <a:ext uri="{FF2B5EF4-FFF2-40B4-BE49-F238E27FC236}">
                <a16:creationId xmlns:a16="http://schemas.microsoft.com/office/drawing/2014/main" id="{124587F4-4DAF-F8F2-531D-4E9104D52217}"/>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rcRect l="51561"/>
          <a:stretch>
            <a:fillRect/>
          </a:stretch>
        </p:blipFill>
        <p:spPr>
          <a:xfrm>
            <a:off x="10380418" y="126238"/>
            <a:ext cx="1513168" cy="1994281"/>
          </a:xfrm>
          <a:prstGeom prst="rect">
            <a:avLst/>
          </a:prstGeom>
          <a:effectLst>
            <a:glow>
              <a:schemeClr val="bg1"/>
            </a:glow>
          </a:effectLst>
        </p:spPr>
      </p:pic>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46232D82-06E8-DE48-93FE-0B670A39804F}"/>
                  </a:ext>
                </a:extLst>
              </p:cNvPr>
              <p:cNvSpPr txBox="1"/>
              <p:nvPr/>
            </p:nvSpPr>
            <p:spPr>
              <a:xfrm>
                <a:off x="2674620" y="3054096"/>
                <a:ext cx="1920269" cy="6194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𝐾</m:t>
                      </m:r>
                      <m:nary>
                        <m:naryPr>
                          <m:ctrlPr>
                            <a:rPr lang="en-US" b="0" i="1" smtClean="0">
                              <a:solidFill>
                                <a:schemeClr val="bg1"/>
                              </a:solidFill>
                              <a:latin typeface="Cambria Math" panose="02040503050406030204" pitchFamily="18" charset="0"/>
                            </a:rPr>
                          </m:ctrlPr>
                        </m:naryPr>
                        <m:sub>
                          <m:r>
                            <m:rPr>
                              <m:brk m:alnAt="23"/>
                            </m:rPr>
                            <a:rPr lang="en-US" b="0" i="1" smtClean="0">
                              <a:solidFill>
                                <a:schemeClr val="bg1"/>
                              </a:solidFill>
                              <a:latin typeface="Cambria Math" panose="02040503050406030204" pitchFamily="18" charset="0"/>
                            </a:rPr>
                            <m:t>0</m:t>
                          </m:r>
                        </m:sub>
                        <m:sup>
                          <m:r>
                            <a:rPr lang="en-US" b="0" i="1" smtClean="0">
                              <a:solidFill>
                                <a:schemeClr val="bg1"/>
                              </a:solidFill>
                              <a:latin typeface="Cambria Math" panose="02040503050406030204" pitchFamily="18" charset="0"/>
                            </a:rPr>
                            <m:t>𝑡</m:t>
                          </m:r>
                        </m:sup>
                        <m:e>
                          <m:r>
                            <a:rPr lang="en-US" b="0" i="1" smtClean="0">
                              <a:solidFill>
                                <a:schemeClr val="bg1"/>
                              </a:solidFill>
                              <a:latin typeface="Cambria Math" panose="02040503050406030204" pitchFamily="18" charset="0"/>
                            </a:rPr>
                            <m:t>𝑣</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𝜏</m:t>
                              </m:r>
                            </m:e>
                          </m:d>
                          <m:r>
                            <a:rPr lang="en-US" b="0" i="1" smtClean="0">
                              <a:solidFill>
                                <a:schemeClr val="bg1"/>
                              </a:solidFill>
                              <a:latin typeface="Cambria Math" panose="02040503050406030204" pitchFamily="18" charset="0"/>
                            </a:rPr>
                            <m:t>𝑑</m:t>
                          </m:r>
                          <m:r>
                            <a:rPr lang="en-US" b="0" i="1" smtClean="0">
                              <a:solidFill>
                                <a:schemeClr val="bg1"/>
                              </a:solidFill>
                              <a:latin typeface="Cambria Math" panose="02040503050406030204" pitchFamily="18" charset="0"/>
                            </a:rPr>
                            <m:t>𝜏</m:t>
                          </m:r>
                        </m:e>
                      </m:nary>
                    </m:oMath>
                  </m:oMathPara>
                </a14:m>
                <a:endParaRPr lang="es-CO"/>
              </a:p>
            </p:txBody>
          </p:sp>
        </mc:Choice>
        <mc:Fallback>
          <p:sp>
            <p:nvSpPr>
              <p:cNvPr id="21" name="TextBox 20">
                <a:extLst>
                  <a:ext uri="{FF2B5EF4-FFF2-40B4-BE49-F238E27FC236}">
                    <a16:creationId xmlns:a16="http://schemas.microsoft.com/office/drawing/2014/main" id="{46232D82-06E8-DE48-93FE-0B670A39804F}"/>
                  </a:ext>
                </a:extLst>
              </p:cNvPr>
              <p:cNvSpPr txBox="1">
                <a:spLocks noRot="1" noChangeAspect="1" noMove="1" noResize="1" noEditPoints="1" noAdjustHandles="1" noChangeArrowheads="1" noChangeShapeType="1" noTextEdit="1"/>
              </p:cNvSpPr>
              <p:nvPr/>
            </p:nvSpPr>
            <p:spPr>
              <a:xfrm>
                <a:off x="2674620" y="3054096"/>
                <a:ext cx="1920269" cy="61940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728DDADA-7A9A-2755-2C82-A7678B73700C}"/>
                  </a:ext>
                </a:extLst>
              </p:cNvPr>
              <p:cNvSpPr txBox="1"/>
              <p:nvPr/>
            </p:nvSpPr>
            <p:spPr>
              <a:xfrm>
                <a:off x="5161388" y="3225296"/>
                <a:ext cx="13515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𝐾𝑥</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m:t>
                      </m:r>
                    </m:oMath>
                  </m:oMathPara>
                </a14:m>
                <a:endParaRPr lang="es-CO"/>
              </a:p>
            </p:txBody>
          </p:sp>
        </mc:Choice>
        <mc:Fallback>
          <p:sp>
            <p:nvSpPr>
              <p:cNvPr id="22" name="TextBox 21">
                <a:extLst>
                  <a:ext uri="{FF2B5EF4-FFF2-40B4-BE49-F238E27FC236}">
                    <a16:creationId xmlns:a16="http://schemas.microsoft.com/office/drawing/2014/main" id="{728DDADA-7A9A-2755-2C82-A7678B73700C}"/>
                  </a:ext>
                </a:extLst>
              </p:cNvPr>
              <p:cNvSpPr txBox="1">
                <a:spLocks noRot="1" noChangeAspect="1" noMove="1" noResize="1" noEditPoints="1" noAdjustHandles="1" noChangeArrowheads="1" noChangeShapeType="1" noTextEdit="1"/>
              </p:cNvSpPr>
              <p:nvPr/>
            </p:nvSpPr>
            <p:spPr>
              <a:xfrm>
                <a:off x="5161388" y="3225296"/>
                <a:ext cx="1351524" cy="276999"/>
              </a:xfrm>
              <a:prstGeom prst="rect">
                <a:avLst/>
              </a:prstGeom>
              <a:blipFill>
                <a:blip r:embed="rId7"/>
                <a:stretch>
                  <a:fillRect l="-5882" t="-2174" r="-6335"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E6DC232E-E17C-780E-664C-E9452B06A546}"/>
                  </a:ext>
                </a:extLst>
              </p:cNvPr>
              <p:cNvSpPr txBox="1"/>
              <p:nvPr/>
            </p:nvSpPr>
            <p:spPr>
              <a:xfrm>
                <a:off x="9326365" y="3225295"/>
                <a:ext cx="2153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𝐾</m:t>
                      </m:r>
                    </m:oMath>
                  </m:oMathPara>
                </a14:m>
                <a:endParaRPr lang="es-CO"/>
              </a:p>
            </p:txBody>
          </p:sp>
        </mc:Choice>
        <mc:Fallback>
          <p:sp>
            <p:nvSpPr>
              <p:cNvPr id="23" name="TextBox 22">
                <a:extLst>
                  <a:ext uri="{FF2B5EF4-FFF2-40B4-BE49-F238E27FC236}">
                    <a16:creationId xmlns:a16="http://schemas.microsoft.com/office/drawing/2014/main" id="{E6DC232E-E17C-780E-664C-E9452B06A546}"/>
                  </a:ext>
                </a:extLst>
              </p:cNvPr>
              <p:cNvSpPr txBox="1">
                <a:spLocks noRot="1" noChangeAspect="1" noMove="1" noResize="1" noEditPoints="1" noAdjustHandles="1" noChangeArrowheads="1" noChangeShapeType="1" noTextEdit="1"/>
              </p:cNvSpPr>
              <p:nvPr/>
            </p:nvSpPr>
            <p:spPr>
              <a:xfrm>
                <a:off x="9326365" y="3225295"/>
                <a:ext cx="215380" cy="276999"/>
              </a:xfrm>
              <a:prstGeom prst="rect">
                <a:avLst/>
              </a:prstGeom>
              <a:blipFill>
                <a:blip r:embed="rId8"/>
                <a:stretch>
                  <a:fillRect l="-28571" r="-25714"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D017C52F-FDE1-4ADA-B64A-2A181E11DC2C}"/>
                  </a:ext>
                </a:extLst>
              </p:cNvPr>
              <p:cNvSpPr txBox="1"/>
              <p:nvPr/>
            </p:nvSpPr>
            <p:spPr>
              <a:xfrm>
                <a:off x="2830067" y="4441444"/>
                <a:ext cx="13809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𝑓</m:t>
                          </m:r>
                        </m:e>
                        <m:sub>
                          <m:r>
                            <a:rPr lang="en-US" b="0" i="1" smtClean="0">
                              <a:solidFill>
                                <a:schemeClr val="bg1"/>
                              </a:solidFill>
                              <a:latin typeface="Cambria Math" panose="02040503050406030204" pitchFamily="18" charset="0"/>
                            </a:rPr>
                            <m:t>𝑣</m:t>
                          </m:r>
                        </m:sub>
                      </m:sSub>
                      <m:r>
                        <a:rPr lang="en-US" b="0" i="1" smtClean="0">
                          <a:solidFill>
                            <a:schemeClr val="bg1"/>
                          </a:solidFill>
                          <a:latin typeface="Cambria Math" panose="02040503050406030204" pitchFamily="18" charset="0"/>
                        </a:rPr>
                        <m:t>𝑣</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oMath>
                  </m:oMathPara>
                </a14:m>
                <a:endParaRPr lang="es-CO"/>
              </a:p>
            </p:txBody>
          </p:sp>
        </mc:Choice>
        <mc:Fallback>
          <p:sp>
            <p:nvSpPr>
              <p:cNvPr id="24" name="TextBox 23">
                <a:extLst>
                  <a:ext uri="{FF2B5EF4-FFF2-40B4-BE49-F238E27FC236}">
                    <a16:creationId xmlns:a16="http://schemas.microsoft.com/office/drawing/2014/main" id="{D017C52F-FDE1-4ADA-B64A-2A181E11DC2C}"/>
                  </a:ext>
                </a:extLst>
              </p:cNvPr>
              <p:cNvSpPr txBox="1">
                <a:spLocks noRot="1" noChangeAspect="1" noMove="1" noResize="1" noEditPoints="1" noAdjustHandles="1" noChangeArrowheads="1" noChangeShapeType="1" noTextEdit="1"/>
              </p:cNvSpPr>
              <p:nvPr/>
            </p:nvSpPr>
            <p:spPr>
              <a:xfrm>
                <a:off x="2830067" y="4441444"/>
                <a:ext cx="1380955" cy="276999"/>
              </a:xfrm>
              <a:prstGeom prst="rect">
                <a:avLst/>
              </a:prstGeom>
              <a:blipFill>
                <a:blip r:embed="rId9"/>
                <a:stretch>
                  <a:fillRect l="-5727" t="-4444" b="-355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924654C8-A367-AAF1-B58D-D621F5A8A5A6}"/>
                  </a:ext>
                </a:extLst>
              </p:cNvPr>
              <p:cNvSpPr txBox="1"/>
              <p:nvPr/>
            </p:nvSpPr>
            <p:spPr>
              <a:xfrm>
                <a:off x="5061296" y="4311183"/>
                <a:ext cx="1551707"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𝑓</m:t>
                          </m:r>
                        </m:e>
                        <m:sub>
                          <m:r>
                            <a:rPr lang="en-US" b="0" i="1" smtClean="0">
                              <a:solidFill>
                                <a:schemeClr val="bg1"/>
                              </a:solidFill>
                              <a:latin typeface="Cambria Math" panose="02040503050406030204" pitchFamily="18" charset="0"/>
                            </a:rPr>
                            <m:t>𝑣</m:t>
                          </m:r>
                        </m:sub>
                      </m:sSub>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𝑑𝑥</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num>
                        <m:den>
                          <m:r>
                            <a:rPr lang="en-US" b="0" i="1" smtClean="0">
                              <a:solidFill>
                                <a:schemeClr val="bg1"/>
                              </a:solidFill>
                              <a:latin typeface="Cambria Math" panose="02040503050406030204" pitchFamily="18" charset="0"/>
                            </a:rPr>
                            <m:t>𝑑𝑡</m:t>
                          </m:r>
                        </m:den>
                      </m:f>
                    </m:oMath>
                  </m:oMathPara>
                </a14:m>
                <a:endParaRPr lang="es-CO"/>
              </a:p>
            </p:txBody>
          </p:sp>
        </mc:Choice>
        <mc:Fallback>
          <p:sp>
            <p:nvSpPr>
              <p:cNvPr id="25" name="TextBox 24">
                <a:extLst>
                  <a:ext uri="{FF2B5EF4-FFF2-40B4-BE49-F238E27FC236}">
                    <a16:creationId xmlns:a16="http://schemas.microsoft.com/office/drawing/2014/main" id="{924654C8-A367-AAF1-B58D-D621F5A8A5A6}"/>
                  </a:ext>
                </a:extLst>
              </p:cNvPr>
              <p:cNvSpPr txBox="1">
                <a:spLocks noRot="1" noChangeAspect="1" noMove="1" noResize="1" noEditPoints="1" noAdjustHandles="1" noChangeArrowheads="1" noChangeShapeType="1" noTextEdit="1"/>
              </p:cNvSpPr>
              <p:nvPr/>
            </p:nvSpPr>
            <p:spPr>
              <a:xfrm>
                <a:off x="5061296" y="4311183"/>
                <a:ext cx="1551707" cy="53751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7A8A6FBA-947E-4A32-0563-82DE6864DF51}"/>
                  </a:ext>
                </a:extLst>
              </p:cNvPr>
              <p:cNvSpPr txBox="1"/>
              <p:nvPr/>
            </p:nvSpPr>
            <p:spPr>
              <a:xfrm>
                <a:off x="9326365" y="4441444"/>
                <a:ext cx="34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𝑓</m:t>
                          </m:r>
                        </m:e>
                        <m:sub>
                          <m:r>
                            <a:rPr lang="en-US" b="0" i="1" smtClean="0">
                              <a:solidFill>
                                <a:schemeClr val="bg1"/>
                              </a:solidFill>
                              <a:latin typeface="Cambria Math" panose="02040503050406030204" pitchFamily="18" charset="0"/>
                            </a:rPr>
                            <m:t>𝑣</m:t>
                          </m:r>
                        </m:sub>
                      </m:sSub>
                      <m:r>
                        <a:rPr lang="en-US" b="0" i="1" smtClean="0">
                          <a:solidFill>
                            <a:schemeClr val="bg1"/>
                          </a:solidFill>
                          <a:latin typeface="Cambria Math" panose="02040503050406030204" pitchFamily="18" charset="0"/>
                        </a:rPr>
                        <m:t>𝑠</m:t>
                      </m:r>
                    </m:oMath>
                  </m:oMathPara>
                </a14:m>
                <a:endParaRPr lang="es-CO"/>
              </a:p>
            </p:txBody>
          </p:sp>
        </mc:Choice>
        <mc:Fallback>
          <p:sp>
            <p:nvSpPr>
              <p:cNvPr id="26" name="TextBox 25">
                <a:extLst>
                  <a:ext uri="{FF2B5EF4-FFF2-40B4-BE49-F238E27FC236}">
                    <a16:creationId xmlns:a16="http://schemas.microsoft.com/office/drawing/2014/main" id="{7A8A6FBA-947E-4A32-0563-82DE6864DF51}"/>
                  </a:ext>
                </a:extLst>
              </p:cNvPr>
              <p:cNvSpPr txBox="1">
                <a:spLocks noRot="1" noChangeAspect="1" noMove="1" noResize="1" noEditPoints="1" noAdjustHandles="1" noChangeArrowheads="1" noChangeShapeType="1" noTextEdit="1"/>
              </p:cNvSpPr>
              <p:nvPr/>
            </p:nvSpPr>
            <p:spPr>
              <a:xfrm>
                <a:off x="9326365" y="4441444"/>
                <a:ext cx="348622" cy="276999"/>
              </a:xfrm>
              <a:prstGeom prst="rect">
                <a:avLst/>
              </a:prstGeom>
              <a:blipFill>
                <a:blip r:embed="rId11"/>
                <a:stretch>
                  <a:fillRect l="-24561" t="-4444" r="-10526" b="-355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433B750B-DCC5-536E-5451-87856B2A31C1}"/>
                  </a:ext>
                </a:extLst>
              </p:cNvPr>
              <p:cNvSpPr txBox="1"/>
              <p:nvPr/>
            </p:nvSpPr>
            <p:spPr>
              <a:xfrm>
                <a:off x="2738278" y="5810652"/>
                <a:ext cx="1564531"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𝑀</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𝑑𝑣</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num>
                        <m:den>
                          <m:r>
                            <a:rPr lang="en-US" b="0" i="1" smtClean="0">
                              <a:solidFill>
                                <a:schemeClr val="bg1"/>
                              </a:solidFill>
                              <a:latin typeface="Cambria Math" panose="02040503050406030204" pitchFamily="18" charset="0"/>
                            </a:rPr>
                            <m:t>𝑑𝑡</m:t>
                          </m:r>
                        </m:den>
                      </m:f>
                    </m:oMath>
                  </m:oMathPara>
                </a14:m>
                <a:endParaRPr lang="es-CO"/>
              </a:p>
            </p:txBody>
          </p:sp>
        </mc:Choice>
        <mc:Fallback>
          <p:sp>
            <p:nvSpPr>
              <p:cNvPr id="27" name="TextBox 26">
                <a:extLst>
                  <a:ext uri="{FF2B5EF4-FFF2-40B4-BE49-F238E27FC236}">
                    <a16:creationId xmlns:a16="http://schemas.microsoft.com/office/drawing/2014/main" id="{433B750B-DCC5-536E-5451-87856B2A31C1}"/>
                  </a:ext>
                </a:extLst>
              </p:cNvPr>
              <p:cNvSpPr txBox="1">
                <a:spLocks noRot="1" noChangeAspect="1" noMove="1" noResize="1" noEditPoints="1" noAdjustHandles="1" noChangeArrowheads="1" noChangeShapeType="1" noTextEdit="1"/>
              </p:cNvSpPr>
              <p:nvPr/>
            </p:nvSpPr>
            <p:spPr>
              <a:xfrm>
                <a:off x="2738278" y="5810652"/>
                <a:ext cx="1564531" cy="53751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E7098FC7-466A-0767-BE2F-909454A75233}"/>
                  </a:ext>
                </a:extLst>
              </p:cNvPr>
              <p:cNvSpPr txBox="1"/>
              <p:nvPr/>
            </p:nvSpPr>
            <p:spPr>
              <a:xfrm>
                <a:off x="5147233" y="5810651"/>
                <a:ext cx="1679178" cy="5557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𝑀</m:t>
                      </m:r>
                      <m:f>
                        <m:fPr>
                          <m:ctrlPr>
                            <a:rPr lang="en-US" b="0" i="1" smtClean="0">
                              <a:solidFill>
                                <a:schemeClr val="bg1"/>
                              </a:solidFill>
                              <a:latin typeface="Cambria Math" panose="02040503050406030204" pitchFamily="18" charset="0"/>
                            </a:rPr>
                          </m:ctrlPr>
                        </m:fPr>
                        <m:num>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𝑑</m:t>
                              </m:r>
                            </m:e>
                            <m:sup>
                              <m:r>
                                <a:rPr lang="en-US" b="0" i="1" smtClean="0">
                                  <a:solidFill>
                                    <a:schemeClr val="bg1"/>
                                  </a:solidFill>
                                  <a:latin typeface="Cambria Math" panose="02040503050406030204" pitchFamily="18" charset="0"/>
                                </a:rPr>
                                <m:t>2</m:t>
                              </m:r>
                            </m:sup>
                          </m:sSup>
                          <m:r>
                            <a:rPr lang="en-US" b="0" i="1" smtClean="0">
                              <a:solidFill>
                                <a:schemeClr val="bg1"/>
                              </a:solidFill>
                              <a:latin typeface="Cambria Math" panose="02040503050406030204" pitchFamily="18" charset="0"/>
                            </a:rPr>
                            <m:t>𝑥</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𝑡</m:t>
                              </m:r>
                            </m:e>
                          </m:d>
                        </m:num>
                        <m:den>
                          <m:r>
                            <a:rPr lang="en-US" b="0" i="1" smtClean="0">
                              <a:solidFill>
                                <a:schemeClr val="bg1"/>
                              </a:solidFill>
                              <a:latin typeface="Cambria Math" panose="02040503050406030204" pitchFamily="18" charset="0"/>
                            </a:rPr>
                            <m:t>𝑑</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𝑡</m:t>
                              </m:r>
                            </m:e>
                            <m:sup>
                              <m:r>
                                <a:rPr lang="en-US" b="0" i="1" smtClean="0">
                                  <a:solidFill>
                                    <a:schemeClr val="bg1"/>
                                  </a:solidFill>
                                  <a:latin typeface="Cambria Math" panose="02040503050406030204" pitchFamily="18" charset="0"/>
                                </a:rPr>
                                <m:t>2</m:t>
                              </m:r>
                            </m:sup>
                          </m:sSup>
                        </m:den>
                      </m:f>
                    </m:oMath>
                  </m:oMathPara>
                </a14:m>
                <a:endParaRPr lang="es-CO"/>
              </a:p>
            </p:txBody>
          </p:sp>
        </mc:Choice>
        <mc:Fallback>
          <p:sp>
            <p:nvSpPr>
              <p:cNvPr id="28" name="TextBox 27">
                <a:extLst>
                  <a:ext uri="{FF2B5EF4-FFF2-40B4-BE49-F238E27FC236}">
                    <a16:creationId xmlns:a16="http://schemas.microsoft.com/office/drawing/2014/main" id="{E7098FC7-466A-0767-BE2F-909454A75233}"/>
                  </a:ext>
                </a:extLst>
              </p:cNvPr>
              <p:cNvSpPr txBox="1">
                <a:spLocks noRot="1" noChangeAspect="1" noMove="1" noResize="1" noEditPoints="1" noAdjustHandles="1" noChangeArrowheads="1" noChangeShapeType="1" noTextEdit="1"/>
              </p:cNvSpPr>
              <p:nvPr/>
            </p:nvSpPr>
            <p:spPr>
              <a:xfrm>
                <a:off x="5147233" y="5810651"/>
                <a:ext cx="1679178" cy="555793"/>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4590AEFF-DA07-1F3D-804A-2AC2FE9E649C}"/>
                  </a:ext>
                </a:extLst>
              </p:cNvPr>
              <p:cNvSpPr txBox="1"/>
              <p:nvPr/>
            </p:nvSpPr>
            <p:spPr>
              <a:xfrm>
                <a:off x="9367434" y="5802412"/>
                <a:ext cx="4750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𝑀</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𝑠</m:t>
                          </m:r>
                        </m:e>
                        <m:sup>
                          <m:r>
                            <a:rPr lang="en-US" b="0" i="1" smtClean="0">
                              <a:solidFill>
                                <a:schemeClr val="bg1"/>
                              </a:solidFill>
                              <a:latin typeface="Cambria Math" panose="02040503050406030204" pitchFamily="18" charset="0"/>
                            </a:rPr>
                            <m:t>2</m:t>
                          </m:r>
                        </m:sup>
                      </m:sSup>
                    </m:oMath>
                  </m:oMathPara>
                </a14:m>
                <a:endParaRPr lang="es-CO"/>
              </a:p>
            </p:txBody>
          </p:sp>
        </mc:Choice>
        <mc:Fallback>
          <p:sp>
            <p:nvSpPr>
              <p:cNvPr id="29" name="TextBox 28">
                <a:extLst>
                  <a:ext uri="{FF2B5EF4-FFF2-40B4-BE49-F238E27FC236}">
                    <a16:creationId xmlns:a16="http://schemas.microsoft.com/office/drawing/2014/main" id="{4590AEFF-DA07-1F3D-804A-2AC2FE9E649C}"/>
                  </a:ext>
                </a:extLst>
              </p:cNvPr>
              <p:cNvSpPr txBox="1">
                <a:spLocks noRot="1" noChangeAspect="1" noMove="1" noResize="1" noEditPoints="1" noAdjustHandles="1" noChangeArrowheads="1" noChangeShapeType="1" noTextEdit="1"/>
              </p:cNvSpPr>
              <p:nvPr/>
            </p:nvSpPr>
            <p:spPr>
              <a:xfrm>
                <a:off x="9367434" y="5802412"/>
                <a:ext cx="475002" cy="276999"/>
              </a:xfrm>
              <a:prstGeom prst="rect">
                <a:avLst/>
              </a:prstGeom>
              <a:blipFill>
                <a:blip r:embed="rId14"/>
                <a:stretch>
                  <a:fillRect l="-12821" t="-2222" r="-5128" b="-6667"/>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B071A19A-F22D-C32D-61CC-FE8EA1AB22A3}"/>
              </a:ext>
            </a:extLst>
          </p:cNvPr>
          <p:cNvCxnSpPr>
            <a:cxnSpLocks/>
          </p:cNvCxnSpPr>
          <p:nvPr/>
        </p:nvCxnSpPr>
        <p:spPr>
          <a:xfrm>
            <a:off x="2407298" y="2397967"/>
            <a:ext cx="0" cy="4152123"/>
          </a:xfrm>
          <a:prstGeom prst="line">
            <a:avLst/>
          </a:prstGeom>
          <a:ln w="3175">
            <a:prstDash val="sysDot"/>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3A966FA-11AE-3DBF-C0B1-911206020064}"/>
              </a:ext>
            </a:extLst>
          </p:cNvPr>
          <p:cNvCxnSpPr>
            <a:cxnSpLocks/>
          </p:cNvCxnSpPr>
          <p:nvPr/>
        </p:nvCxnSpPr>
        <p:spPr>
          <a:xfrm>
            <a:off x="4907902" y="2302502"/>
            <a:ext cx="0" cy="4152123"/>
          </a:xfrm>
          <a:prstGeom prst="line">
            <a:avLst/>
          </a:prstGeom>
          <a:ln w="3175">
            <a:prstDash val="sysDot"/>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83A2DBE-F87A-F3B6-8CB5-72435401E45D}"/>
              </a:ext>
            </a:extLst>
          </p:cNvPr>
          <p:cNvCxnSpPr>
            <a:cxnSpLocks/>
          </p:cNvCxnSpPr>
          <p:nvPr/>
        </p:nvCxnSpPr>
        <p:spPr>
          <a:xfrm>
            <a:off x="8341572" y="2302502"/>
            <a:ext cx="0" cy="4152123"/>
          </a:xfrm>
          <a:prstGeom prst="line">
            <a:avLst/>
          </a:prstGeom>
          <a:ln w="3175">
            <a:prstDash val="sysDot"/>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4207F53E-41E7-7A08-04B9-610EF5156056}"/>
                  </a:ext>
                </a:extLst>
              </p:cNvPr>
              <p:cNvSpPr txBox="1"/>
              <p:nvPr/>
            </p:nvSpPr>
            <p:spPr>
              <a:xfrm>
                <a:off x="6450172" y="4416767"/>
                <a:ext cx="13515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sSub>
                        <m:sSubPr>
                          <m:ctrlPr>
                            <a:rPr lang="en-US" b="0" i="1" smtClean="0">
                              <a:solidFill>
                                <a:schemeClr val="accent6"/>
                              </a:solidFill>
                              <a:latin typeface="Cambria Math" panose="02040503050406030204" pitchFamily="18" charset="0"/>
                            </a:rPr>
                          </m:ctrlPr>
                        </m:sSubPr>
                        <m:e>
                          <m:r>
                            <a:rPr lang="en-US" b="0" i="1" smtClean="0">
                              <a:solidFill>
                                <a:schemeClr val="accent6"/>
                              </a:solidFill>
                              <a:latin typeface="Cambria Math" panose="02040503050406030204" pitchFamily="18" charset="0"/>
                            </a:rPr>
                            <m:t>𝑓</m:t>
                          </m:r>
                        </m:e>
                        <m:sub>
                          <m:r>
                            <a:rPr lang="en-US" b="0" i="1" smtClean="0">
                              <a:solidFill>
                                <a:schemeClr val="accent6"/>
                              </a:solidFill>
                              <a:latin typeface="Cambria Math" panose="02040503050406030204" pitchFamily="18" charset="0"/>
                            </a:rPr>
                            <m:t>𝑣</m:t>
                          </m:r>
                        </m:sub>
                      </m:sSub>
                      <m:acc>
                        <m:accPr>
                          <m:chr m:val="̇"/>
                          <m:ctrlPr>
                            <a:rPr lang="en-US" b="0" i="1" smtClean="0">
                              <a:solidFill>
                                <a:schemeClr val="accent6"/>
                              </a:solidFill>
                              <a:latin typeface="Cambria Math" panose="02040503050406030204" pitchFamily="18" charset="0"/>
                            </a:rPr>
                          </m:ctrlPr>
                        </m:accPr>
                        <m:e>
                          <m:r>
                            <a:rPr lang="en-US" b="0" i="1" smtClean="0">
                              <a:solidFill>
                                <a:schemeClr val="accent6"/>
                              </a:solidFill>
                              <a:latin typeface="Cambria Math" panose="02040503050406030204" pitchFamily="18" charset="0"/>
                            </a:rPr>
                            <m:t>𝑥</m:t>
                          </m:r>
                        </m:e>
                      </m:acc>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𝑡</m:t>
                      </m:r>
                      <m:r>
                        <a:rPr lang="en-US" b="0" i="1" smtClean="0">
                          <a:solidFill>
                            <a:schemeClr val="accent6"/>
                          </a:solidFill>
                          <a:latin typeface="Cambria Math" panose="02040503050406030204" pitchFamily="18" charset="0"/>
                        </a:rPr>
                        <m:t>)</m:t>
                      </m:r>
                    </m:oMath>
                  </m:oMathPara>
                </a14:m>
                <a:endParaRPr lang="es-CO">
                  <a:solidFill>
                    <a:schemeClr val="accent6"/>
                  </a:solidFill>
                </a:endParaRPr>
              </a:p>
            </p:txBody>
          </p:sp>
        </mc:Choice>
        <mc:Fallback>
          <p:sp>
            <p:nvSpPr>
              <p:cNvPr id="36" name="TextBox 35">
                <a:extLst>
                  <a:ext uri="{FF2B5EF4-FFF2-40B4-BE49-F238E27FC236}">
                    <a16:creationId xmlns:a16="http://schemas.microsoft.com/office/drawing/2014/main" id="{4207F53E-41E7-7A08-04B9-610EF5156056}"/>
                  </a:ext>
                </a:extLst>
              </p:cNvPr>
              <p:cNvSpPr txBox="1">
                <a:spLocks noRot="1" noChangeAspect="1" noMove="1" noResize="1" noEditPoints="1" noAdjustHandles="1" noChangeArrowheads="1" noChangeShapeType="1" noTextEdit="1"/>
              </p:cNvSpPr>
              <p:nvPr/>
            </p:nvSpPr>
            <p:spPr>
              <a:xfrm>
                <a:off x="6450172" y="4416767"/>
                <a:ext cx="1351524" cy="369332"/>
              </a:xfrm>
              <a:prstGeom prst="rect">
                <a:avLst/>
              </a:prstGeom>
              <a:blipFill>
                <a:blip r:embed="rId15"/>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1DA9D26E-A589-1C8C-A473-191520C026C8}"/>
                  </a:ext>
                </a:extLst>
              </p:cNvPr>
              <p:cNvSpPr txBox="1"/>
              <p:nvPr/>
            </p:nvSpPr>
            <p:spPr>
              <a:xfrm>
                <a:off x="6636472" y="5940911"/>
                <a:ext cx="13515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𝑀</m:t>
                      </m:r>
                      <m:acc>
                        <m:accPr>
                          <m:chr m:val="̈"/>
                          <m:ctrlPr>
                            <a:rPr lang="en-US" b="0" i="1" smtClean="0">
                              <a:solidFill>
                                <a:schemeClr val="accent6"/>
                              </a:solidFill>
                              <a:latin typeface="Cambria Math" panose="02040503050406030204" pitchFamily="18" charset="0"/>
                            </a:rPr>
                          </m:ctrlPr>
                        </m:accPr>
                        <m:e>
                          <m:r>
                            <a:rPr lang="en-US" b="0" i="1" smtClean="0">
                              <a:solidFill>
                                <a:schemeClr val="accent6"/>
                              </a:solidFill>
                              <a:latin typeface="Cambria Math" panose="02040503050406030204" pitchFamily="18" charset="0"/>
                            </a:rPr>
                            <m:t>𝑥</m:t>
                          </m:r>
                        </m:e>
                      </m:acc>
                      <m:d>
                        <m:dPr>
                          <m:ctrlPr>
                            <a:rPr lang="en-US" b="0" i="1" smtClean="0">
                              <a:solidFill>
                                <a:schemeClr val="accent6"/>
                              </a:solidFill>
                              <a:latin typeface="Cambria Math" panose="02040503050406030204" pitchFamily="18" charset="0"/>
                            </a:rPr>
                          </m:ctrlPr>
                        </m:dPr>
                        <m:e>
                          <m:r>
                            <a:rPr lang="en-US" b="0" i="1" smtClean="0">
                              <a:solidFill>
                                <a:schemeClr val="accent6"/>
                              </a:solidFill>
                              <a:latin typeface="Cambria Math" panose="02040503050406030204" pitchFamily="18" charset="0"/>
                            </a:rPr>
                            <m:t>𝑡</m:t>
                          </m:r>
                        </m:e>
                      </m:d>
                    </m:oMath>
                  </m:oMathPara>
                </a14:m>
                <a:endParaRPr lang="es-CO">
                  <a:solidFill>
                    <a:schemeClr val="accent6"/>
                  </a:solidFill>
                </a:endParaRPr>
              </a:p>
            </p:txBody>
          </p:sp>
        </mc:Choice>
        <mc:Fallback>
          <p:sp>
            <p:nvSpPr>
              <p:cNvPr id="37" name="TextBox 36">
                <a:extLst>
                  <a:ext uri="{FF2B5EF4-FFF2-40B4-BE49-F238E27FC236}">
                    <a16:creationId xmlns:a16="http://schemas.microsoft.com/office/drawing/2014/main" id="{1DA9D26E-A589-1C8C-A473-191520C026C8}"/>
                  </a:ext>
                </a:extLst>
              </p:cNvPr>
              <p:cNvSpPr txBox="1">
                <a:spLocks noRot="1" noChangeAspect="1" noMove="1" noResize="1" noEditPoints="1" noAdjustHandles="1" noChangeArrowheads="1" noChangeShapeType="1" noTextEdit="1"/>
              </p:cNvSpPr>
              <p:nvPr/>
            </p:nvSpPr>
            <p:spPr>
              <a:xfrm>
                <a:off x="6636472" y="5940911"/>
                <a:ext cx="1351524" cy="369332"/>
              </a:xfrm>
              <a:prstGeom prst="rect">
                <a:avLst/>
              </a:prstGeom>
              <a:blipFill>
                <a:blip r:embed="rId16"/>
                <a:stretch>
                  <a:fillRect/>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BC39A552-EA52-B802-613D-FD0B4F82502A}"/>
              </a:ext>
            </a:extLst>
          </p:cNvPr>
          <p:cNvSpPr txBox="1"/>
          <p:nvPr/>
        </p:nvSpPr>
        <p:spPr>
          <a:xfrm>
            <a:off x="6683288" y="3565036"/>
            <a:ext cx="1487908" cy="523220"/>
          </a:xfrm>
          <a:prstGeom prst="rect">
            <a:avLst/>
          </a:prstGeom>
          <a:noFill/>
        </p:spPr>
        <p:txBody>
          <a:bodyPr wrap="none" rtlCol="0">
            <a:spAutoFit/>
          </a:bodyPr>
          <a:lstStyle/>
          <a:p>
            <a:r>
              <a:rPr lang="es-CO" sz="1400">
                <a:solidFill>
                  <a:schemeClr val="accent5"/>
                </a:solidFill>
                <a:latin typeface="Lucida Handwriting" panose="03010101010101010101" pitchFamily="66" charset="0"/>
              </a:rPr>
              <a:t>Notación de </a:t>
            </a:r>
          </a:p>
          <a:p>
            <a:r>
              <a:rPr lang="es-CO" sz="1400">
                <a:solidFill>
                  <a:schemeClr val="accent5"/>
                </a:solidFill>
                <a:latin typeface="Lucida Handwriting" panose="03010101010101010101" pitchFamily="66" charset="0"/>
              </a:rPr>
              <a:t>Newton</a:t>
            </a:r>
          </a:p>
        </p:txBody>
      </p:sp>
      <p:sp>
        <p:nvSpPr>
          <p:cNvPr id="39" name="Freeform: Shape 38">
            <a:extLst>
              <a:ext uri="{FF2B5EF4-FFF2-40B4-BE49-F238E27FC236}">
                <a16:creationId xmlns:a16="http://schemas.microsoft.com/office/drawing/2014/main" id="{EBE9F332-1059-2B76-721F-24912A0CAEE8}"/>
              </a:ext>
            </a:extLst>
          </p:cNvPr>
          <p:cNvSpPr/>
          <p:nvPr/>
        </p:nvSpPr>
        <p:spPr>
          <a:xfrm>
            <a:off x="7555160" y="4104803"/>
            <a:ext cx="178448" cy="448118"/>
          </a:xfrm>
          <a:custGeom>
            <a:avLst/>
            <a:gdLst>
              <a:gd name="connsiteX0" fmla="*/ 83976 w 178448"/>
              <a:gd name="connsiteY0" fmla="*/ 447869 h 448118"/>
              <a:gd name="connsiteX1" fmla="*/ 167951 w 178448"/>
              <a:gd name="connsiteY1" fmla="*/ 419878 h 448118"/>
              <a:gd name="connsiteX2" fmla="*/ 167951 w 178448"/>
              <a:gd name="connsiteY2" fmla="*/ 270588 h 448118"/>
              <a:gd name="connsiteX3" fmla="*/ 83976 w 178448"/>
              <a:gd name="connsiteY3" fmla="*/ 139959 h 448118"/>
              <a:gd name="connsiteX4" fmla="*/ 0 w 178448"/>
              <a:gd name="connsiteY4" fmla="*/ 0 h 448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8" h="448118">
                <a:moveTo>
                  <a:pt x="83976" y="447869"/>
                </a:moveTo>
                <a:cubicBezTo>
                  <a:pt x="118965" y="448647"/>
                  <a:pt x="153955" y="449425"/>
                  <a:pt x="167951" y="419878"/>
                </a:cubicBezTo>
                <a:cubicBezTo>
                  <a:pt x="181947" y="390331"/>
                  <a:pt x="181947" y="317241"/>
                  <a:pt x="167951" y="270588"/>
                </a:cubicBezTo>
                <a:cubicBezTo>
                  <a:pt x="153955" y="223935"/>
                  <a:pt x="83976" y="139959"/>
                  <a:pt x="83976" y="139959"/>
                </a:cubicBezTo>
                <a:cubicBezTo>
                  <a:pt x="55984" y="94861"/>
                  <a:pt x="27992" y="47430"/>
                  <a:pt x="0" y="0"/>
                </a:cubicBezTo>
              </a:path>
            </a:pathLst>
          </a:custGeom>
          <a:noFill/>
          <a:ln>
            <a:solidFill>
              <a:schemeClr val="accent5"/>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0253600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7D57-4DEF-0EDA-1ADF-8F9932336F62}"/>
              </a:ext>
            </a:extLst>
          </p:cNvPr>
          <p:cNvSpPr>
            <a:spLocks noGrp="1"/>
          </p:cNvSpPr>
          <p:nvPr>
            <p:ph type="title"/>
          </p:nvPr>
        </p:nvSpPr>
        <p:spPr/>
        <p:txBody>
          <a:bodyPr>
            <a:normAutofit/>
          </a:bodyPr>
          <a:lstStyle/>
          <a:p>
            <a:r>
              <a:rPr lang="es-ES" sz="4000"/>
              <a:t>Más Allá de la Caja Negra: El Espacio de Estados</a:t>
            </a:r>
            <a:endParaRPr lang="es-CO" sz="4000"/>
          </a:p>
        </p:txBody>
      </p:sp>
      <p:sp>
        <p:nvSpPr>
          <p:cNvPr id="3" name="Content Placeholder 2">
            <a:extLst>
              <a:ext uri="{FF2B5EF4-FFF2-40B4-BE49-F238E27FC236}">
                <a16:creationId xmlns:a16="http://schemas.microsoft.com/office/drawing/2014/main" id="{F11BC8EE-A6A2-7D59-D89C-7D11C279ADB5}"/>
              </a:ext>
            </a:extLst>
          </p:cNvPr>
          <p:cNvSpPr>
            <a:spLocks noGrp="1"/>
          </p:cNvSpPr>
          <p:nvPr>
            <p:ph idx="1"/>
          </p:nvPr>
        </p:nvSpPr>
        <p:spPr>
          <a:xfrm>
            <a:off x="838200" y="1558212"/>
            <a:ext cx="10515600" cy="923731"/>
          </a:xfrm>
        </p:spPr>
        <p:txBody>
          <a:bodyPr/>
          <a:lstStyle/>
          <a:p>
            <a:pPr marL="0" indent="0">
              <a:buNone/>
            </a:pPr>
            <a:r>
              <a:rPr lang="es-ES"/>
              <a:t>Ya tenemos la EDO y la Función de Transferencia. La FT es genial, pero funciona como una </a:t>
            </a:r>
            <a:r>
              <a:rPr lang="es-ES" b="1">
                <a:solidFill>
                  <a:schemeClr val="accent2"/>
                </a:solidFill>
              </a:rPr>
              <a:t>caja negra</a:t>
            </a:r>
            <a:r>
              <a:rPr lang="es-ES"/>
              <a:t>:</a:t>
            </a:r>
            <a:endParaRPr lang="es-CO"/>
          </a:p>
        </p:txBody>
      </p:sp>
      <mc:AlternateContent xmlns:mc="http://schemas.openxmlformats.org/markup-compatibility/2006">
        <mc:Choice xmlns:a14="http://schemas.microsoft.com/office/drawing/2010/main" Requires="a14">
          <p:sp>
            <p:nvSpPr>
              <p:cNvPr id="4" name="Rectángulo 10">
                <a:extLst>
                  <a:ext uri="{FF2B5EF4-FFF2-40B4-BE49-F238E27FC236}">
                    <a16:creationId xmlns:a16="http://schemas.microsoft.com/office/drawing/2014/main" id="{81C7BB8B-359B-F308-A956-6571B687F679}"/>
                  </a:ext>
                </a:extLst>
              </p:cNvPr>
              <p:cNvSpPr/>
              <p:nvPr/>
            </p:nvSpPr>
            <p:spPr>
              <a:xfrm>
                <a:off x="1934183" y="2967134"/>
                <a:ext cx="1807391" cy="923731"/>
              </a:xfrm>
              <a:prstGeom prst="rect">
                <a:avLst/>
              </a:prstGeom>
              <a:solidFill>
                <a:schemeClr val="accent6"/>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𝑀</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𝑠</m:t>
                              </m:r>
                            </m:e>
                            <m:sup>
                              <m:r>
                                <a:rPr lang="en-US" i="1">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𝑣</m:t>
                              </m:r>
                            </m:sub>
                          </m:sSub>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𝐾</m:t>
                          </m:r>
                        </m:den>
                      </m:f>
                    </m:oMath>
                  </m:oMathPara>
                </a14:m>
                <a:endParaRPr lang="es-419" b="1">
                  <a:solidFill>
                    <a:schemeClr val="tx1"/>
                  </a:solidFill>
                </a:endParaRPr>
              </a:p>
            </p:txBody>
          </p:sp>
        </mc:Choice>
        <mc:Fallback>
          <p:sp>
            <p:nvSpPr>
              <p:cNvPr id="4" name="Rectángulo 10">
                <a:extLst>
                  <a:ext uri="{FF2B5EF4-FFF2-40B4-BE49-F238E27FC236}">
                    <a16:creationId xmlns:a16="http://schemas.microsoft.com/office/drawing/2014/main" id="{81C7BB8B-359B-F308-A956-6571B687F679}"/>
                  </a:ext>
                </a:extLst>
              </p:cNvPr>
              <p:cNvSpPr>
                <a:spLocks noRot="1" noChangeAspect="1" noMove="1" noResize="1" noEditPoints="1" noAdjustHandles="1" noChangeArrowheads="1" noChangeShapeType="1" noTextEdit="1"/>
              </p:cNvSpPr>
              <p:nvPr/>
            </p:nvSpPr>
            <p:spPr>
              <a:xfrm>
                <a:off x="1934183" y="2967134"/>
                <a:ext cx="1807391" cy="923731"/>
              </a:xfrm>
              <a:prstGeom prst="rect">
                <a:avLst/>
              </a:prstGeom>
              <a:blipFill>
                <a:blip r:embed="rId2"/>
                <a:stretch>
                  <a:fillRect/>
                </a:stretch>
              </a:blipFill>
              <a:ln>
                <a:solidFill>
                  <a:schemeClr val="accent1"/>
                </a:solidFill>
              </a:ln>
            </p:spPr>
            <p:txBody>
              <a:bodyPr/>
              <a:lstStyle/>
              <a:p>
                <a:r>
                  <a:rPr lang="en-US">
                    <a:noFill/>
                  </a:rPr>
                  <a:t> </a:t>
                </a:r>
              </a:p>
            </p:txBody>
          </p:sp>
        </mc:Fallback>
      </mc:AlternateContent>
      <p:cxnSp>
        <p:nvCxnSpPr>
          <p:cNvPr id="5" name="Conector recto de flecha 12">
            <a:extLst>
              <a:ext uri="{FF2B5EF4-FFF2-40B4-BE49-F238E27FC236}">
                <a16:creationId xmlns:a16="http://schemas.microsoft.com/office/drawing/2014/main" id="{EAB47CC8-429D-53DA-1159-820D92000510}"/>
              </a:ext>
            </a:extLst>
          </p:cNvPr>
          <p:cNvCxnSpPr>
            <a:cxnSpLocks/>
            <a:endCxn id="4" idx="1"/>
          </p:cNvCxnSpPr>
          <p:nvPr/>
        </p:nvCxnSpPr>
        <p:spPr>
          <a:xfrm>
            <a:off x="1048906" y="3418057"/>
            <a:ext cx="885277" cy="10943"/>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14">
            <a:extLst>
              <a:ext uri="{FF2B5EF4-FFF2-40B4-BE49-F238E27FC236}">
                <a16:creationId xmlns:a16="http://schemas.microsoft.com/office/drawing/2014/main" id="{E3AD8D6F-3927-3575-FD39-D8D5489F99AB}"/>
              </a:ext>
            </a:extLst>
          </p:cNvPr>
          <p:cNvCxnSpPr>
            <a:cxnSpLocks/>
            <a:stCxn id="4" idx="3"/>
          </p:cNvCxnSpPr>
          <p:nvPr/>
        </p:nvCxnSpPr>
        <p:spPr>
          <a:xfrm>
            <a:off x="3741574" y="3429000"/>
            <a:ext cx="727789"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CB3E94BA-7E9C-A224-6749-883A873011AB}"/>
              </a:ext>
            </a:extLst>
          </p:cNvPr>
          <p:cNvSpPr txBox="1"/>
          <p:nvPr/>
        </p:nvSpPr>
        <p:spPr>
          <a:xfrm>
            <a:off x="753390" y="2765334"/>
            <a:ext cx="998543" cy="369332"/>
          </a:xfrm>
          <a:prstGeom prst="rect">
            <a:avLst/>
          </a:prstGeom>
          <a:noFill/>
        </p:spPr>
        <p:txBody>
          <a:bodyPr wrap="none" rtlCol="0">
            <a:spAutoFit/>
          </a:bodyPr>
          <a:lstStyle/>
          <a:p>
            <a:r>
              <a:rPr lang="es-419" b="1">
                <a:solidFill>
                  <a:schemeClr val="bg1"/>
                </a:solidFill>
              </a:rPr>
              <a:t>Entrada</a:t>
            </a:r>
          </a:p>
        </p:txBody>
      </p:sp>
      <p:sp>
        <p:nvSpPr>
          <p:cNvPr id="8" name="CuadroTexto 19">
            <a:extLst>
              <a:ext uri="{FF2B5EF4-FFF2-40B4-BE49-F238E27FC236}">
                <a16:creationId xmlns:a16="http://schemas.microsoft.com/office/drawing/2014/main" id="{C3C08D1C-9C24-760D-A69B-A4EC73F6E576}"/>
              </a:ext>
            </a:extLst>
          </p:cNvPr>
          <p:cNvSpPr txBox="1"/>
          <p:nvPr/>
        </p:nvSpPr>
        <p:spPr>
          <a:xfrm>
            <a:off x="3923824" y="2765334"/>
            <a:ext cx="841897" cy="369332"/>
          </a:xfrm>
          <a:prstGeom prst="rect">
            <a:avLst/>
          </a:prstGeom>
          <a:noFill/>
        </p:spPr>
        <p:txBody>
          <a:bodyPr wrap="none" rtlCol="0">
            <a:spAutoFit/>
          </a:bodyPr>
          <a:lstStyle/>
          <a:p>
            <a:r>
              <a:rPr lang="es-419" b="1">
                <a:solidFill>
                  <a:schemeClr val="bg1"/>
                </a:solidFill>
              </a:rPr>
              <a:t>Salida</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37423FCD-3C37-CCB3-6095-B2EBA975027E}"/>
                  </a:ext>
                </a:extLst>
              </p:cNvPr>
              <p:cNvSpPr txBox="1"/>
              <p:nvPr/>
            </p:nvSpPr>
            <p:spPr>
              <a:xfrm>
                <a:off x="1048906" y="3521533"/>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𝐹</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𝑠</m:t>
                          </m:r>
                        </m:e>
                      </m:d>
                    </m:oMath>
                  </m:oMathPara>
                </a14:m>
                <a:endParaRPr lang="es-CO"/>
              </a:p>
            </p:txBody>
          </p:sp>
        </mc:Choice>
        <mc:Fallback>
          <p:sp>
            <p:nvSpPr>
              <p:cNvPr id="16" name="TextBox 15">
                <a:extLst>
                  <a:ext uri="{FF2B5EF4-FFF2-40B4-BE49-F238E27FC236}">
                    <a16:creationId xmlns:a16="http://schemas.microsoft.com/office/drawing/2014/main" id="{37423FCD-3C37-CCB3-6095-B2EBA975027E}"/>
                  </a:ext>
                </a:extLst>
              </p:cNvPr>
              <p:cNvSpPr txBox="1">
                <a:spLocks noRot="1" noChangeAspect="1" noMove="1" noResize="1" noEditPoints="1" noAdjustHandles="1" noChangeArrowheads="1" noChangeShapeType="1" noTextEdit="1"/>
              </p:cNvSpPr>
              <p:nvPr/>
            </p:nvSpPr>
            <p:spPr>
              <a:xfrm>
                <a:off x="1048906" y="3521533"/>
                <a:ext cx="72779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A163077E-F431-FA69-1DA8-57212A2D9E02}"/>
                  </a:ext>
                </a:extLst>
              </p:cNvPr>
              <p:cNvSpPr txBox="1"/>
              <p:nvPr/>
            </p:nvSpPr>
            <p:spPr>
              <a:xfrm>
                <a:off x="3867036" y="3484597"/>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𝑋</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𝑠</m:t>
                          </m:r>
                        </m:e>
                      </m:d>
                    </m:oMath>
                  </m:oMathPara>
                </a14:m>
                <a:endParaRPr lang="es-CO"/>
              </a:p>
            </p:txBody>
          </p:sp>
        </mc:Choice>
        <mc:Fallback>
          <p:sp>
            <p:nvSpPr>
              <p:cNvPr id="17" name="TextBox 16">
                <a:extLst>
                  <a:ext uri="{FF2B5EF4-FFF2-40B4-BE49-F238E27FC236}">
                    <a16:creationId xmlns:a16="http://schemas.microsoft.com/office/drawing/2014/main" id="{A163077E-F431-FA69-1DA8-57212A2D9E02}"/>
                  </a:ext>
                </a:extLst>
              </p:cNvPr>
              <p:cNvSpPr txBox="1">
                <a:spLocks noRot="1" noChangeAspect="1" noMove="1" noResize="1" noEditPoints="1" noAdjustHandles="1" noChangeArrowheads="1" noChangeShapeType="1" noTextEdit="1"/>
              </p:cNvSpPr>
              <p:nvPr/>
            </p:nvSpPr>
            <p:spPr>
              <a:xfrm>
                <a:off x="3867036" y="3484597"/>
                <a:ext cx="727790" cy="369332"/>
              </a:xfrm>
              <a:prstGeom prst="rect">
                <a:avLst/>
              </a:prstGeom>
              <a:blipFill>
                <a:blip r:embed="rId4"/>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ADF16C4E-B0E9-5E5A-9340-0696F02A811F}"/>
              </a:ext>
            </a:extLst>
          </p:cNvPr>
          <p:cNvSpPr txBox="1"/>
          <p:nvPr/>
        </p:nvSpPr>
        <p:spPr>
          <a:xfrm>
            <a:off x="686782" y="3027347"/>
            <a:ext cx="1168658" cy="369332"/>
          </a:xfrm>
          <a:prstGeom prst="rect">
            <a:avLst/>
          </a:prstGeom>
          <a:noFill/>
        </p:spPr>
        <p:txBody>
          <a:bodyPr wrap="square">
            <a:spAutoFit/>
          </a:bodyPr>
          <a:lstStyle/>
          <a:p>
            <a:r>
              <a:rPr lang="es-CO" sz="1800">
                <a:solidFill>
                  <a:schemeClr val="accent5"/>
                </a:solidFill>
                <a:latin typeface="Lucida Handwriting" panose="03010101010101010101" pitchFamily="66" charset="0"/>
              </a:rPr>
              <a:t>Fuerza</a:t>
            </a:r>
          </a:p>
        </p:txBody>
      </p:sp>
      <p:sp>
        <p:nvSpPr>
          <p:cNvPr id="20" name="TextBox 19">
            <a:extLst>
              <a:ext uri="{FF2B5EF4-FFF2-40B4-BE49-F238E27FC236}">
                <a16:creationId xmlns:a16="http://schemas.microsoft.com/office/drawing/2014/main" id="{1EDABD1B-1BDC-1A77-0471-4A48A51FB9D9}"/>
              </a:ext>
            </a:extLst>
          </p:cNvPr>
          <p:cNvSpPr txBox="1"/>
          <p:nvPr/>
        </p:nvSpPr>
        <p:spPr>
          <a:xfrm>
            <a:off x="3735679" y="3057336"/>
            <a:ext cx="1274859" cy="369332"/>
          </a:xfrm>
          <a:prstGeom prst="rect">
            <a:avLst/>
          </a:prstGeom>
          <a:noFill/>
        </p:spPr>
        <p:txBody>
          <a:bodyPr wrap="square">
            <a:spAutoFit/>
          </a:bodyPr>
          <a:lstStyle/>
          <a:p>
            <a:r>
              <a:rPr lang="es-CO" sz="1800">
                <a:solidFill>
                  <a:schemeClr val="accent5"/>
                </a:solidFill>
                <a:latin typeface="Lucida Handwriting" panose="03010101010101010101" pitchFamily="66" charset="0"/>
              </a:rPr>
              <a:t>Posición</a:t>
            </a:r>
          </a:p>
        </p:txBody>
      </p:sp>
      <p:sp>
        <p:nvSpPr>
          <p:cNvPr id="21" name="CuadroTexto 19">
            <a:extLst>
              <a:ext uri="{FF2B5EF4-FFF2-40B4-BE49-F238E27FC236}">
                <a16:creationId xmlns:a16="http://schemas.microsoft.com/office/drawing/2014/main" id="{C765DD70-EC0B-43E9-16ED-14453AE06936}"/>
              </a:ext>
            </a:extLst>
          </p:cNvPr>
          <p:cNvSpPr txBox="1"/>
          <p:nvPr/>
        </p:nvSpPr>
        <p:spPr>
          <a:xfrm>
            <a:off x="2285002" y="2629660"/>
            <a:ext cx="1105752" cy="369332"/>
          </a:xfrm>
          <a:prstGeom prst="rect">
            <a:avLst/>
          </a:prstGeom>
          <a:noFill/>
        </p:spPr>
        <p:txBody>
          <a:bodyPr wrap="none" rtlCol="0">
            <a:spAutoFit/>
          </a:bodyPr>
          <a:lstStyle/>
          <a:p>
            <a:r>
              <a:rPr lang="es-419" b="1">
                <a:solidFill>
                  <a:schemeClr val="accent6"/>
                </a:solidFill>
              </a:rPr>
              <a:t>SISTEMA</a:t>
            </a:r>
          </a:p>
        </p:txBody>
      </p:sp>
      <p:sp>
        <p:nvSpPr>
          <p:cNvPr id="22" name="TextBox 21">
            <a:extLst>
              <a:ext uri="{FF2B5EF4-FFF2-40B4-BE49-F238E27FC236}">
                <a16:creationId xmlns:a16="http://schemas.microsoft.com/office/drawing/2014/main" id="{55CAFBD6-09C2-EC13-5E5C-C2856A2FCB91}"/>
              </a:ext>
            </a:extLst>
          </p:cNvPr>
          <p:cNvSpPr txBox="1"/>
          <p:nvPr/>
        </p:nvSpPr>
        <p:spPr>
          <a:xfrm>
            <a:off x="131055" y="4025016"/>
            <a:ext cx="1140056"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Conocido</a:t>
            </a:r>
          </a:p>
        </p:txBody>
      </p:sp>
      <p:sp>
        <p:nvSpPr>
          <p:cNvPr id="23" name="TextBox 22">
            <a:extLst>
              <a:ext uri="{FF2B5EF4-FFF2-40B4-BE49-F238E27FC236}">
                <a16:creationId xmlns:a16="http://schemas.microsoft.com/office/drawing/2014/main" id="{90DA9B04-14DD-F600-D3DB-ECA669C023C5}"/>
              </a:ext>
            </a:extLst>
          </p:cNvPr>
          <p:cNvSpPr txBox="1"/>
          <p:nvPr/>
        </p:nvSpPr>
        <p:spPr>
          <a:xfrm>
            <a:off x="4469363" y="3909525"/>
            <a:ext cx="1140056"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Conocido</a:t>
            </a:r>
          </a:p>
        </p:txBody>
      </p:sp>
      <p:sp>
        <p:nvSpPr>
          <p:cNvPr id="24" name="TextBox 23">
            <a:extLst>
              <a:ext uri="{FF2B5EF4-FFF2-40B4-BE49-F238E27FC236}">
                <a16:creationId xmlns:a16="http://schemas.microsoft.com/office/drawing/2014/main" id="{663A073F-A2EF-8B7E-6E11-8526509B4A30}"/>
              </a:ext>
            </a:extLst>
          </p:cNvPr>
          <p:cNvSpPr txBox="1"/>
          <p:nvPr/>
        </p:nvSpPr>
        <p:spPr>
          <a:xfrm>
            <a:off x="2422275" y="4530880"/>
            <a:ext cx="2064989" cy="830997"/>
          </a:xfrm>
          <a:prstGeom prst="rect">
            <a:avLst/>
          </a:prstGeom>
          <a:noFill/>
        </p:spPr>
        <p:txBody>
          <a:bodyPr wrap="square" rtlCol="0">
            <a:spAutoFit/>
          </a:bodyPr>
          <a:lstStyle/>
          <a:p>
            <a:pPr algn="ctr"/>
            <a:r>
              <a:rPr lang="es-CO" sz="2400">
                <a:solidFill>
                  <a:schemeClr val="accent6"/>
                </a:solidFill>
                <a:latin typeface="Lucida Handwriting" panose="03010101010101010101" pitchFamily="66" charset="0"/>
              </a:rPr>
              <a:t>¿Qué pasa dentro?</a:t>
            </a:r>
          </a:p>
        </p:txBody>
      </p:sp>
      <p:pic>
        <p:nvPicPr>
          <p:cNvPr id="1026" name="Picture 2" descr="futurama point . fan art &amp; scans . vimp . 1">
            <a:extLst>
              <a:ext uri="{FF2B5EF4-FFF2-40B4-BE49-F238E27FC236}">
                <a16:creationId xmlns:a16="http://schemas.microsoft.com/office/drawing/2014/main" id="{9C0C5ED6-8983-9930-F841-DD64C65AF7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595" y="3983184"/>
            <a:ext cx="2065241" cy="2874816"/>
          </a:xfrm>
          <a:prstGeom prst="rect">
            <a:avLst/>
          </a:prstGeom>
          <a:noFill/>
          <a:extLst>
            <a:ext uri="{909E8E84-426E-40DD-AFC4-6F175D3DCCD1}">
              <a14:hiddenFill xmlns:a14="http://schemas.microsoft.com/office/drawing/2010/main">
                <a:solidFill>
                  <a:srgbClr val="FFFFFF"/>
                </a:solidFill>
              </a14:hiddenFill>
            </a:ext>
          </a:extLst>
        </p:spPr>
      </p:pic>
      <p:sp>
        <p:nvSpPr>
          <p:cNvPr id="25" name="Freeform: Shape 24">
            <a:extLst>
              <a:ext uri="{FF2B5EF4-FFF2-40B4-BE49-F238E27FC236}">
                <a16:creationId xmlns:a16="http://schemas.microsoft.com/office/drawing/2014/main" id="{A78DB915-F5B8-7979-9C4A-E68361DACF45}"/>
              </a:ext>
            </a:extLst>
          </p:cNvPr>
          <p:cNvSpPr/>
          <p:nvPr/>
        </p:nvSpPr>
        <p:spPr>
          <a:xfrm>
            <a:off x="521582" y="3610947"/>
            <a:ext cx="542108" cy="345233"/>
          </a:xfrm>
          <a:custGeom>
            <a:avLst/>
            <a:gdLst>
              <a:gd name="connsiteX0" fmla="*/ 47585 w 542108"/>
              <a:gd name="connsiteY0" fmla="*/ 345233 h 345233"/>
              <a:gd name="connsiteX1" fmla="*/ 47585 w 542108"/>
              <a:gd name="connsiteY1" fmla="*/ 186612 h 345233"/>
              <a:gd name="connsiteX2" fmla="*/ 542108 w 542108"/>
              <a:gd name="connsiteY2" fmla="*/ 0 h 345233"/>
            </a:gdLst>
            <a:ahLst/>
            <a:cxnLst>
              <a:cxn ang="0">
                <a:pos x="connsiteX0" y="connsiteY0"/>
              </a:cxn>
              <a:cxn ang="0">
                <a:pos x="connsiteX1" y="connsiteY1"/>
              </a:cxn>
              <a:cxn ang="0">
                <a:pos x="connsiteX2" y="connsiteY2"/>
              </a:cxn>
            </a:cxnLst>
            <a:rect l="l" t="t" r="r" b="b"/>
            <a:pathLst>
              <a:path w="542108" h="345233">
                <a:moveTo>
                  <a:pt x="47585" y="345233"/>
                </a:moveTo>
                <a:cubicBezTo>
                  <a:pt x="6375" y="294692"/>
                  <a:pt x="-34835" y="244151"/>
                  <a:pt x="47585" y="186612"/>
                </a:cubicBezTo>
                <a:cubicBezTo>
                  <a:pt x="130005" y="129073"/>
                  <a:pt x="336056" y="64536"/>
                  <a:pt x="542108"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6" name="Freeform: Shape 25">
            <a:extLst>
              <a:ext uri="{FF2B5EF4-FFF2-40B4-BE49-F238E27FC236}">
                <a16:creationId xmlns:a16="http://schemas.microsoft.com/office/drawing/2014/main" id="{B445484C-4378-B2BB-3EC1-F3E4BC8402F2}"/>
              </a:ext>
            </a:extLst>
          </p:cNvPr>
          <p:cNvSpPr/>
          <p:nvPr/>
        </p:nvSpPr>
        <p:spPr>
          <a:xfrm>
            <a:off x="4553339" y="3564294"/>
            <a:ext cx="429208" cy="317241"/>
          </a:xfrm>
          <a:custGeom>
            <a:avLst/>
            <a:gdLst>
              <a:gd name="connsiteX0" fmla="*/ 429208 w 429208"/>
              <a:gd name="connsiteY0" fmla="*/ 317241 h 317241"/>
              <a:gd name="connsiteX1" fmla="*/ 261257 w 429208"/>
              <a:gd name="connsiteY1" fmla="*/ 214604 h 317241"/>
              <a:gd name="connsiteX2" fmla="*/ 0 w 429208"/>
              <a:gd name="connsiteY2" fmla="*/ 0 h 317241"/>
            </a:gdLst>
            <a:ahLst/>
            <a:cxnLst>
              <a:cxn ang="0">
                <a:pos x="connsiteX0" y="connsiteY0"/>
              </a:cxn>
              <a:cxn ang="0">
                <a:pos x="connsiteX1" y="connsiteY1"/>
              </a:cxn>
              <a:cxn ang="0">
                <a:pos x="connsiteX2" y="connsiteY2"/>
              </a:cxn>
            </a:cxnLst>
            <a:rect l="l" t="t" r="r" b="b"/>
            <a:pathLst>
              <a:path w="429208" h="317241">
                <a:moveTo>
                  <a:pt x="429208" y="317241"/>
                </a:moveTo>
                <a:cubicBezTo>
                  <a:pt x="381000" y="292359"/>
                  <a:pt x="332792" y="267477"/>
                  <a:pt x="261257" y="214604"/>
                </a:cubicBezTo>
                <a:cubicBezTo>
                  <a:pt x="189722" y="161731"/>
                  <a:pt x="94861" y="80865"/>
                  <a:pt x="0"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7" name="Freeform: Shape 26">
            <a:extLst>
              <a:ext uri="{FF2B5EF4-FFF2-40B4-BE49-F238E27FC236}">
                <a16:creationId xmlns:a16="http://schemas.microsoft.com/office/drawing/2014/main" id="{AF94ED59-5013-66A7-D9A2-6D6928CC0BE3}"/>
              </a:ext>
            </a:extLst>
          </p:cNvPr>
          <p:cNvSpPr/>
          <p:nvPr/>
        </p:nvSpPr>
        <p:spPr>
          <a:xfrm>
            <a:off x="2911151" y="3984171"/>
            <a:ext cx="632333" cy="569168"/>
          </a:xfrm>
          <a:custGeom>
            <a:avLst/>
            <a:gdLst>
              <a:gd name="connsiteX0" fmla="*/ 625151 w 632333"/>
              <a:gd name="connsiteY0" fmla="*/ 569168 h 569168"/>
              <a:gd name="connsiteX1" fmla="*/ 625151 w 632333"/>
              <a:gd name="connsiteY1" fmla="*/ 447870 h 569168"/>
              <a:gd name="connsiteX2" fmla="*/ 550506 w 632333"/>
              <a:gd name="connsiteY2" fmla="*/ 345233 h 569168"/>
              <a:gd name="connsiteX3" fmla="*/ 326571 w 632333"/>
              <a:gd name="connsiteY3" fmla="*/ 410547 h 569168"/>
              <a:gd name="connsiteX4" fmla="*/ 55984 w 632333"/>
              <a:gd name="connsiteY4" fmla="*/ 419878 h 569168"/>
              <a:gd name="connsiteX5" fmla="*/ 0 w 632333"/>
              <a:gd name="connsiteY5" fmla="*/ 0 h 56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333" h="569168">
                <a:moveTo>
                  <a:pt x="625151" y="569168"/>
                </a:moveTo>
                <a:cubicBezTo>
                  <a:pt x="631371" y="527180"/>
                  <a:pt x="637592" y="485192"/>
                  <a:pt x="625151" y="447870"/>
                </a:cubicBezTo>
                <a:cubicBezTo>
                  <a:pt x="612710" y="410547"/>
                  <a:pt x="600269" y="351453"/>
                  <a:pt x="550506" y="345233"/>
                </a:cubicBezTo>
                <a:cubicBezTo>
                  <a:pt x="500743" y="339012"/>
                  <a:pt x="408991" y="398106"/>
                  <a:pt x="326571" y="410547"/>
                </a:cubicBezTo>
                <a:cubicBezTo>
                  <a:pt x="244151" y="422988"/>
                  <a:pt x="110413" y="488303"/>
                  <a:pt x="55984" y="419878"/>
                </a:cubicBezTo>
                <a:cubicBezTo>
                  <a:pt x="1555" y="351453"/>
                  <a:pt x="777" y="175726"/>
                  <a:pt x="0" y="0"/>
                </a:cubicBezTo>
              </a:path>
            </a:pathLst>
          </a:custGeom>
          <a:ln>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p:sp>
        <p:nvSpPr>
          <p:cNvPr id="28" name="Content Placeholder 2">
            <a:extLst>
              <a:ext uri="{FF2B5EF4-FFF2-40B4-BE49-F238E27FC236}">
                <a16:creationId xmlns:a16="http://schemas.microsoft.com/office/drawing/2014/main" id="{DF2C0112-FA9B-A051-DF45-67D4F241D5E5}"/>
              </a:ext>
            </a:extLst>
          </p:cNvPr>
          <p:cNvSpPr txBox="1">
            <a:spLocks/>
          </p:cNvSpPr>
          <p:nvPr/>
        </p:nvSpPr>
        <p:spPr>
          <a:xfrm>
            <a:off x="6276754" y="2518771"/>
            <a:ext cx="5228464" cy="3387507"/>
          </a:xfrm>
          <a:prstGeom prst="rect">
            <a:avLst/>
          </a:prstGeom>
          <a:ln>
            <a:solidFill>
              <a:schemeClr val="accent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F8F8F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8F8F2"/>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F8F8F2"/>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F8F8F2"/>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F8F8F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3500" b="1">
                <a:solidFill>
                  <a:schemeClr val="bg2"/>
                </a:solidFill>
              </a:rPr>
              <a:t>Limitaciones de la FT:</a:t>
            </a:r>
            <a:endParaRPr lang="es-ES" sz="3500">
              <a:solidFill>
                <a:schemeClr val="bg2"/>
              </a:solidFill>
            </a:endParaRPr>
          </a:p>
          <a:p>
            <a:r>
              <a:rPr lang="es-ES"/>
              <a:t>¿Qué pasa si el sistema tiene </a:t>
            </a:r>
            <a:r>
              <a:rPr lang="es-ES" b="1">
                <a:solidFill>
                  <a:schemeClr val="accent5"/>
                </a:solidFill>
              </a:rPr>
              <a:t>múltiples entradas y salidas (MIMO)</a:t>
            </a:r>
            <a:r>
              <a:rPr lang="es-ES"/>
              <a:t>? (</a:t>
            </a:r>
            <a:r>
              <a:rPr lang="es-ES" err="1"/>
              <a:t>Ej</a:t>
            </a:r>
            <a:r>
              <a:rPr lang="es-ES"/>
              <a:t>: un dron).</a:t>
            </a:r>
          </a:p>
          <a:p>
            <a:r>
              <a:rPr lang="es-ES"/>
              <a:t>¿Cómo describimos la </a:t>
            </a:r>
            <a:r>
              <a:rPr lang="es-ES" b="1">
                <a:solidFill>
                  <a:schemeClr val="accent5"/>
                </a:solidFill>
              </a:rPr>
              <a:t>energía interna</a:t>
            </a:r>
            <a:r>
              <a:rPr lang="es-ES"/>
              <a:t> del sistema en cada instante?</a:t>
            </a:r>
          </a:p>
          <a:p>
            <a:r>
              <a:rPr lang="es-ES"/>
              <a:t>¿Qué pasa si el sistema es </a:t>
            </a:r>
            <a:r>
              <a:rPr lang="es-ES" b="1">
                <a:solidFill>
                  <a:schemeClr val="accent5"/>
                </a:solidFill>
              </a:rPr>
              <a:t>no lineal</a:t>
            </a:r>
            <a:r>
              <a:rPr lang="es-ES"/>
              <a:t>?</a:t>
            </a:r>
          </a:p>
        </p:txBody>
      </p:sp>
    </p:spTree>
    <p:extLst>
      <p:ext uri="{BB962C8B-B14F-4D97-AF65-F5344CB8AC3E}">
        <p14:creationId xmlns:p14="http://schemas.microsoft.com/office/powerpoint/2010/main" val="5022034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animEffect transition="in" filter="fade">
                                      <p:cBhvr>
                                        <p:cTn id="23" dur="500"/>
                                        <p:tgtEl>
                                          <p:spTgt spid="10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animBg="1"/>
      <p:bldP spid="26"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001A0-58D9-4ADE-99C0-CA8D8431B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0B516-313C-6EC5-7C01-9F9615013BB7}"/>
              </a:ext>
            </a:extLst>
          </p:cNvPr>
          <p:cNvSpPr>
            <a:spLocks noGrp="1"/>
          </p:cNvSpPr>
          <p:nvPr>
            <p:ph type="title"/>
          </p:nvPr>
        </p:nvSpPr>
        <p:spPr/>
        <p:txBody>
          <a:bodyPr>
            <a:normAutofit/>
          </a:bodyPr>
          <a:lstStyle/>
          <a:p>
            <a:r>
              <a:rPr lang="es-ES" sz="4000"/>
              <a:t>Más Allá de la Caja Negra: El Espacio de Estados</a:t>
            </a:r>
            <a:endParaRPr lang="es-CO" sz="4000"/>
          </a:p>
        </p:txBody>
      </p:sp>
      <p:sp>
        <p:nvSpPr>
          <p:cNvPr id="3" name="Content Placeholder 2">
            <a:extLst>
              <a:ext uri="{FF2B5EF4-FFF2-40B4-BE49-F238E27FC236}">
                <a16:creationId xmlns:a16="http://schemas.microsoft.com/office/drawing/2014/main" id="{CC76FF1D-D242-27C6-2DAE-1640E8B69F6D}"/>
              </a:ext>
            </a:extLst>
          </p:cNvPr>
          <p:cNvSpPr>
            <a:spLocks noGrp="1"/>
          </p:cNvSpPr>
          <p:nvPr>
            <p:ph idx="1"/>
          </p:nvPr>
        </p:nvSpPr>
        <p:spPr>
          <a:xfrm>
            <a:off x="838200" y="1558212"/>
            <a:ext cx="10515600" cy="923731"/>
          </a:xfrm>
        </p:spPr>
        <p:txBody>
          <a:bodyPr/>
          <a:lstStyle/>
          <a:p>
            <a:pPr marL="0" indent="0">
              <a:buNone/>
            </a:pPr>
            <a:r>
              <a:rPr lang="es-ES"/>
              <a:t>Ya tenemos la EDO y la Función de Transferencia. La FT es genial, pero funciona como una </a:t>
            </a:r>
            <a:r>
              <a:rPr lang="es-ES" b="1">
                <a:solidFill>
                  <a:schemeClr val="accent2"/>
                </a:solidFill>
              </a:rPr>
              <a:t>caja negra</a:t>
            </a:r>
            <a:r>
              <a:rPr lang="es-ES"/>
              <a:t>:</a:t>
            </a:r>
            <a:endParaRPr lang="es-CO"/>
          </a:p>
        </p:txBody>
      </p:sp>
      <mc:AlternateContent xmlns:mc="http://schemas.openxmlformats.org/markup-compatibility/2006">
        <mc:Choice xmlns:a14="http://schemas.microsoft.com/office/drawing/2010/main" Requires="a14">
          <p:sp>
            <p:nvSpPr>
              <p:cNvPr id="4" name="Rectángulo 10">
                <a:extLst>
                  <a:ext uri="{FF2B5EF4-FFF2-40B4-BE49-F238E27FC236}">
                    <a16:creationId xmlns:a16="http://schemas.microsoft.com/office/drawing/2014/main" id="{C323C1AB-6961-7D8F-49B5-CCD2ADB36964}"/>
                  </a:ext>
                </a:extLst>
              </p:cNvPr>
              <p:cNvSpPr/>
              <p:nvPr/>
            </p:nvSpPr>
            <p:spPr>
              <a:xfrm>
                <a:off x="1934183" y="2967134"/>
                <a:ext cx="1807391" cy="923731"/>
              </a:xfrm>
              <a:prstGeom prst="rect">
                <a:avLst/>
              </a:prstGeom>
              <a:solidFill>
                <a:schemeClr val="accent6"/>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𝑀</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𝑠</m:t>
                              </m:r>
                            </m:e>
                            <m:sup>
                              <m:r>
                                <a:rPr lang="en-US" i="1">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𝑣</m:t>
                              </m:r>
                            </m:sub>
                          </m:sSub>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𝐾</m:t>
                          </m:r>
                        </m:den>
                      </m:f>
                    </m:oMath>
                  </m:oMathPara>
                </a14:m>
                <a:endParaRPr lang="es-419" b="1">
                  <a:solidFill>
                    <a:schemeClr val="tx1"/>
                  </a:solidFill>
                </a:endParaRPr>
              </a:p>
            </p:txBody>
          </p:sp>
        </mc:Choice>
        <mc:Fallback>
          <p:sp>
            <p:nvSpPr>
              <p:cNvPr id="4" name="Rectángulo 10">
                <a:extLst>
                  <a:ext uri="{FF2B5EF4-FFF2-40B4-BE49-F238E27FC236}">
                    <a16:creationId xmlns:a16="http://schemas.microsoft.com/office/drawing/2014/main" id="{C323C1AB-6961-7D8F-49B5-CCD2ADB36964}"/>
                  </a:ext>
                </a:extLst>
              </p:cNvPr>
              <p:cNvSpPr>
                <a:spLocks noRot="1" noChangeAspect="1" noMove="1" noResize="1" noEditPoints="1" noAdjustHandles="1" noChangeArrowheads="1" noChangeShapeType="1" noTextEdit="1"/>
              </p:cNvSpPr>
              <p:nvPr/>
            </p:nvSpPr>
            <p:spPr>
              <a:xfrm>
                <a:off x="1934183" y="2967134"/>
                <a:ext cx="1807391" cy="923731"/>
              </a:xfrm>
              <a:prstGeom prst="rect">
                <a:avLst/>
              </a:prstGeom>
              <a:blipFill>
                <a:blip r:embed="rId2"/>
                <a:stretch>
                  <a:fillRect/>
                </a:stretch>
              </a:blipFill>
              <a:ln>
                <a:solidFill>
                  <a:schemeClr val="accent1"/>
                </a:solidFill>
              </a:ln>
            </p:spPr>
            <p:txBody>
              <a:bodyPr/>
              <a:lstStyle/>
              <a:p>
                <a:r>
                  <a:rPr lang="en-US">
                    <a:noFill/>
                  </a:rPr>
                  <a:t> </a:t>
                </a:r>
              </a:p>
            </p:txBody>
          </p:sp>
        </mc:Fallback>
      </mc:AlternateContent>
      <p:cxnSp>
        <p:nvCxnSpPr>
          <p:cNvPr id="5" name="Conector recto de flecha 12">
            <a:extLst>
              <a:ext uri="{FF2B5EF4-FFF2-40B4-BE49-F238E27FC236}">
                <a16:creationId xmlns:a16="http://schemas.microsoft.com/office/drawing/2014/main" id="{B5FB9178-69B3-F874-BC35-150DA7844E89}"/>
              </a:ext>
            </a:extLst>
          </p:cNvPr>
          <p:cNvCxnSpPr>
            <a:cxnSpLocks/>
            <a:endCxn id="4" idx="1"/>
          </p:cNvCxnSpPr>
          <p:nvPr/>
        </p:nvCxnSpPr>
        <p:spPr>
          <a:xfrm>
            <a:off x="1048906" y="3418057"/>
            <a:ext cx="885277" cy="10943"/>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14">
            <a:extLst>
              <a:ext uri="{FF2B5EF4-FFF2-40B4-BE49-F238E27FC236}">
                <a16:creationId xmlns:a16="http://schemas.microsoft.com/office/drawing/2014/main" id="{D2D41520-D33A-50B4-E0CD-A7D8FE5C3788}"/>
              </a:ext>
            </a:extLst>
          </p:cNvPr>
          <p:cNvCxnSpPr>
            <a:cxnSpLocks/>
            <a:stCxn id="4" idx="3"/>
          </p:cNvCxnSpPr>
          <p:nvPr/>
        </p:nvCxnSpPr>
        <p:spPr>
          <a:xfrm>
            <a:off x="3741574" y="3429000"/>
            <a:ext cx="727789"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912CBB7A-3B8F-0532-9A45-5B6C052CECF8}"/>
              </a:ext>
            </a:extLst>
          </p:cNvPr>
          <p:cNvSpPr txBox="1"/>
          <p:nvPr/>
        </p:nvSpPr>
        <p:spPr>
          <a:xfrm>
            <a:off x="753390" y="2765334"/>
            <a:ext cx="998543" cy="369332"/>
          </a:xfrm>
          <a:prstGeom prst="rect">
            <a:avLst/>
          </a:prstGeom>
          <a:noFill/>
        </p:spPr>
        <p:txBody>
          <a:bodyPr wrap="none" rtlCol="0">
            <a:spAutoFit/>
          </a:bodyPr>
          <a:lstStyle/>
          <a:p>
            <a:r>
              <a:rPr lang="es-419" b="1">
                <a:solidFill>
                  <a:schemeClr val="bg1"/>
                </a:solidFill>
              </a:rPr>
              <a:t>Entrada</a:t>
            </a:r>
          </a:p>
        </p:txBody>
      </p:sp>
      <p:sp>
        <p:nvSpPr>
          <p:cNvPr id="8" name="CuadroTexto 19">
            <a:extLst>
              <a:ext uri="{FF2B5EF4-FFF2-40B4-BE49-F238E27FC236}">
                <a16:creationId xmlns:a16="http://schemas.microsoft.com/office/drawing/2014/main" id="{8356460A-024C-A7C4-8216-160BEC5168A2}"/>
              </a:ext>
            </a:extLst>
          </p:cNvPr>
          <p:cNvSpPr txBox="1"/>
          <p:nvPr/>
        </p:nvSpPr>
        <p:spPr>
          <a:xfrm>
            <a:off x="3923824" y="2765334"/>
            <a:ext cx="841897" cy="369332"/>
          </a:xfrm>
          <a:prstGeom prst="rect">
            <a:avLst/>
          </a:prstGeom>
          <a:noFill/>
        </p:spPr>
        <p:txBody>
          <a:bodyPr wrap="none" rtlCol="0">
            <a:spAutoFit/>
          </a:bodyPr>
          <a:lstStyle/>
          <a:p>
            <a:r>
              <a:rPr lang="es-419" b="1">
                <a:solidFill>
                  <a:schemeClr val="bg1"/>
                </a:solidFill>
              </a:rPr>
              <a:t>Salida</a:t>
            </a: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F6769224-4B49-F33E-BA7E-787650BB7D8C}"/>
                  </a:ext>
                </a:extLst>
              </p:cNvPr>
              <p:cNvSpPr txBox="1"/>
              <p:nvPr/>
            </p:nvSpPr>
            <p:spPr>
              <a:xfrm>
                <a:off x="1048906" y="3521533"/>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𝐹</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𝑠</m:t>
                          </m:r>
                        </m:e>
                      </m:d>
                    </m:oMath>
                  </m:oMathPara>
                </a14:m>
                <a:endParaRPr lang="es-CO"/>
              </a:p>
            </p:txBody>
          </p:sp>
        </mc:Choice>
        <mc:Fallback>
          <p:sp>
            <p:nvSpPr>
              <p:cNvPr id="16" name="TextBox 15">
                <a:extLst>
                  <a:ext uri="{FF2B5EF4-FFF2-40B4-BE49-F238E27FC236}">
                    <a16:creationId xmlns:a16="http://schemas.microsoft.com/office/drawing/2014/main" id="{F6769224-4B49-F33E-BA7E-787650BB7D8C}"/>
                  </a:ext>
                </a:extLst>
              </p:cNvPr>
              <p:cNvSpPr txBox="1">
                <a:spLocks noRot="1" noChangeAspect="1" noMove="1" noResize="1" noEditPoints="1" noAdjustHandles="1" noChangeArrowheads="1" noChangeShapeType="1" noTextEdit="1"/>
              </p:cNvSpPr>
              <p:nvPr/>
            </p:nvSpPr>
            <p:spPr>
              <a:xfrm>
                <a:off x="1048906" y="3521533"/>
                <a:ext cx="727790"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24A4D6F-05BB-02EB-E23D-1A5585B5C5B8}"/>
                  </a:ext>
                </a:extLst>
              </p:cNvPr>
              <p:cNvSpPr txBox="1"/>
              <p:nvPr/>
            </p:nvSpPr>
            <p:spPr>
              <a:xfrm>
                <a:off x="3867036" y="3484597"/>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𝑋</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𝑠</m:t>
                          </m:r>
                        </m:e>
                      </m:d>
                    </m:oMath>
                  </m:oMathPara>
                </a14:m>
                <a:endParaRPr lang="es-CO"/>
              </a:p>
            </p:txBody>
          </p:sp>
        </mc:Choice>
        <mc:Fallback>
          <p:sp>
            <p:nvSpPr>
              <p:cNvPr id="17" name="TextBox 16">
                <a:extLst>
                  <a:ext uri="{FF2B5EF4-FFF2-40B4-BE49-F238E27FC236}">
                    <a16:creationId xmlns:a16="http://schemas.microsoft.com/office/drawing/2014/main" id="{724A4D6F-05BB-02EB-E23D-1A5585B5C5B8}"/>
                  </a:ext>
                </a:extLst>
              </p:cNvPr>
              <p:cNvSpPr txBox="1">
                <a:spLocks noRot="1" noChangeAspect="1" noMove="1" noResize="1" noEditPoints="1" noAdjustHandles="1" noChangeArrowheads="1" noChangeShapeType="1" noTextEdit="1"/>
              </p:cNvSpPr>
              <p:nvPr/>
            </p:nvSpPr>
            <p:spPr>
              <a:xfrm>
                <a:off x="3867036" y="3484597"/>
                <a:ext cx="727790" cy="369332"/>
              </a:xfrm>
              <a:prstGeom prst="rect">
                <a:avLst/>
              </a:prstGeom>
              <a:blipFill>
                <a:blip r:embed="rId4"/>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529AC89F-92B1-6C24-E744-3EAEE42E31C6}"/>
              </a:ext>
            </a:extLst>
          </p:cNvPr>
          <p:cNvSpPr txBox="1"/>
          <p:nvPr/>
        </p:nvSpPr>
        <p:spPr>
          <a:xfrm>
            <a:off x="686782" y="3027347"/>
            <a:ext cx="1168658" cy="369332"/>
          </a:xfrm>
          <a:prstGeom prst="rect">
            <a:avLst/>
          </a:prstGeom>
          <a:noFill/>
        </p:spPr>
        <p:txBody>
          <a:bodyPr wrap="square">
            <a:spAutoFit/>
          </a:bodyPr>
          <a:lstStyle/>
          <a:p>
            <a:r>
              <a:rPr lang="es-CO" sz="1800">
                <a:solidFill>
                  <a:schemeClr val="accent5"/>
                </a:solidFill>
                <a:latin typeface="Lucida Handwriting" panose="03010101010101010101" pitchFamily="66" charset="0"/>
              </a:rPr>
              <a:t>Fuerza</a:t>
            </a:r>
          </a:p>
        </p:txBody>
      </p:sp>
      <p:sp>
        <p:nvSpPr>
          <p:cNvPr id="20" name="TextBox 19">
            <a:extLst>
              <a:ext uri="{FF2B5EF4-FFF2-40B4-BE49-F238E27FC236}">
                <a16:creationId xmlns:a16="http://schemas.microsoft.com/office/drawing/2014/main" id="{0886F601-101E-4886-381E-F0A4304025B2}"/>
              </a:ext>
            </a:extLst>
          </p:cNvPr>
          <p:cNvSpPr txBox="1"/>
          <p:nvPr/>
        </p:nvSpPr>
        <p:spPr>
          <a:xfrm>
            <a:off x="3735679" y="3057336"/>
            <a:ext cx="1274859" cy="369332"/>
          </a:xfrm>
          <a:prstGeom prst="rect">
            <a:avLst/>
          </a:prstGeom>
          <a:noFill/>
        </p:spPr>
        <p:txBody>
          <a:bodyPr wrap="square">
            <a:spAutoFit/>
          </a:bodyPr>
          <a:lstStyle/>
          <a:p>
            <a:r>
              <a:rPr lang="es-CO" sz="1800">
                <a:solidFill>
                  <a:schemeClr val="accent5"/>
                </a:solidFill>
                <a:latin typeface="Lucida Handwriting" panose="03010101010101010101" pitchFamily="66" charset="0"/>
              </a:rPr>
              <a:t>Posición</a:t>
            </a:r>
          </a:p>
        </p:txBody>
      </p:sp>
      <p:sp>
        <p:nvSpPr>
          <p:cNvPr id="21" name="CuadroTexto 19">
            <a:extLst>
              <a:ext uri="{FF2B5EF4-FFF2-40B4-BE49-F238E27FC236}">
                <a16:creationId xmlns:a16="http://schemas.microsoft.com/office/drawing/2014/main" id="{C50D34D0-599E-CD32-EB7B-063E75742502}"/>
              </a:ext>
            </a:extLst>
          </p:cNvPr>
          <p:cNvSpPr txBox="1"/>
          <p:nvPr/>
        </p:nvSpPr>
        <p:spPr>
          <a:xfrm>
            <a:off x="2285002" y="2629660"/>
            <a:ext cx="1105752" cy="369332"/>
          </a:xfrm>
          <a:prstGeom prst="rect">
            <a:avLst/>
          </a:prstGeom>
          <a:noFill/>
        </p:spPr>
        <p:txBody>
          <a:bodyPr wrap="none" rtlCol="0">
            <a:spAutoFit/>
          </a:bodyPr>
          <a:lstStyle/>
          <a:p>
            <a:r>
              <a:rPr lang="es-419" b="1">
                <a:solidFill>
                  <a:schemeClr val="accent6"/>
                </a:solidFill>
              </a:rPr>
              <a:t>SISTEMA</a:t>
            </a:r>
          </a:p>
        </p:txBody>
      </p:sp>
      <p:sp>
        <p:nvSpPr>
          <p:cNvPr id="22" name="TextBox 21">
            <a:extLst>
              <a:ext uri="{FF2B5EF4-FFF2-40B4-BE49-F238E27FC236}">
                <a16:creationId xmlns:a16="http://schemas.microsoft.com/office/drawing/2014/main" id="{FA0E2D83-532C-FADB-D64D-D79825A05792}"/>
              </a:ext>
            </a:extLst>
          </p:cNvPr>
          <p:cNvSpPr txBox="1"/>
          <p:nvPr/>
        </p:nvSpPr>
        <p:spPr>
          <a:xfrm>
            <a:off x="131055" y="4025016"/>
            <a:ext cx="1140056"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Conocido</a:t>
            </a:r>
          </a:p>
        </p:txBody>
      </p:sp>
      <p:sp>
        <p:nvSpPr>
          <p:cNvPr id="23" name="TextBox 22">
            <a:extLst>
              <a:ext uri="{FF2B5EF4-FFF2-40B4-BE49-F238E27FC236}">
                <a16:creationId xmlns:a16="http://schemas.microsoft.com/office/drawing/2014/main" id="{D1071AC1-78AE-EFDE-8846-CCEC85CEC09B}"/>
              </a:ext>
            </a:extLst>
          </p:cNvPr>
          <p:cNvSpPr txBox="1"/>
          <p:nvPr/>
        </p:nvSpPr>
        <p:spPr>
          <a:xfrm>
            <a:off x="4469363" y="3909525"/>
            <a:ext cx="1140056"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Conocido</a:t>
            </a:r>
          </a:p>
        </p:txBody>
      </p:sp>
      <p:sp>
        <p:nvSpPr>
          <p:cNvPr id="24" name="TextBox 23">
            <a:extLst>
              <a:ext uri="{FF2B5EF4-FFF2-40B4-BE49-F238E27FC236}">
                <a16:creationId xmlns:a16="http://schemas.microsoft.com/office/drawing/2014/main" id="{8616CF04-D66F-24B5-E3D4-F0BC427BE8A6}"/>
              </a:ext>
            </a:extLst>
          </p:cNvPr>
          <p:cNvSpPr txBox="1"/>
          <p:nvPr/>
        </p:nvSpPr>
        <p:spPr>
          <a:xfrm>
            <a:off x="2422275" y="4530880"/>
            <a:ext cx="2064989" cy="830997"/>
          </a:xfrm>
          <a:prstGeom prst="rect">
            <a:avLst/>
          </a:prstGeom>
          <a:noFill/>
        </p:spPr>
        <p:txBody>
          <a:bodyPr wrap="square" rtlCol="0">
            <a:spAutoFit/>
          </a:bodyPr>
          <a:lstStyle/>
          <a:p>
            <a:pPr algn="ctr"/>
            <a:r>
              <a:rPr lang="es-CO" sz="2400">
                <a:solidFill>
                  <a:schemeClr val="accent6"/>
                </a:solidFill>
                <a:latin typeface="Lucida Handwriting" panose="03010101010101010101" pitchFamily="66" charset="0"/>
              </a:rPr>
              <a:t>¿Qué pasa dentro?</a:t>
            </a:r>
          </a:p>
        </p:txBody>
      </p:sp>
      <p:pic>
        <p:nvPicPr>
          <p:cNvPr id="1026" name="Picture 2" descr="futurama point . fan art &amp; scans . vimp . 1">
            <a:extLst>
              <a:ext uri="{FF2B5EF4-FFF2-40B4-BE49-F238E27FC236}">
                <a16:creationId xmlns:a16="http://schemas.microsoft.com/office/drawing/2014/main" id="{D3B195FD-5B41-3D7E-EAEE-490B2C11AF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595" y="3983184"/>
            <a:ext cx="2065241" cy="2874816"/>
          </a:xfrm>
          <a:prstGeom prst="rect">
            <a:avLst/>
          </a:prstGeom>
          <a:noFill/>
          <a:extLst>
            <a:ext uri="{909E8E84-426E-40DD-AFC4-6F175D3DCCD1}">
              <a14:hiddenFill xmlns:a14="http://schemas.microsoft.com/office/drawing/2010/main">
                <a:solidFill>
                  <a:srgbClr val="FFFFFF"/>
                </a:solidFill>
              </a14:hiddenFill>
            </a:ext>
          </a:extLst>
        </p:spPr>
      </p:pic>
      <p:sp>
        <p:nvSpPr>
          <p:cNvPr id="25" name="Freeform: Shape 24">
            <a:extLst>
              <a:ext uri="{FF2B5EF4-FFF2-40B4-BE49-F238E27FC236}">
                <a16:creationId xmlns:a16="http://schemas.microsoft.com/office/drawing/2014/main" id="{6DBBCAE2-EC2F-FF20-3985-60C6E5317F81}"/>
              </a:ext>
            </a:extLst>
          </p:cNvPr>
          <p:cNvSpPr/>
          <p:nvPr/>
        </p:nvSpPr>
        <p:spPr>
          <a:xfrm>
            <a:off x="521582" y="3610947"/>
            <a:ext cx="542108" cy="345233"/>
          </a:xfrm>
          <a:custGeom>
            <a:avLst/>
            <a:gdLst>
              <a:gd name="connsiteX0" fmla="*/ 47585 w 542108"/>
              <a:gd name="connsiteY0" fmla="*/ 345233 h 345233"/>
              <a:gd name="connsiteX1" fmla="*/ 47585 w 542108"/>
              <a:gd name="connsiteY1" fmla="*/ 186612 h 345233"/>
              <a:gd name="connsiteX2" fmla="*/ 542108 w 542108"/>
              <a:gd name="connsiteY2" fmla="*/ 0 h 345233"/>
            </a:gdLst>
            <a:ahLst/>
            <a:cxnLst>
              <a:cxn ang="0">
                <a:pos x="connsiteX0" y="connsiteY0"/>
              </a:cxn>
              <a:cxn ang="0">
                <a:pos x="connsiteX1" y="connsiteY1"/>
              </a:cxn>
              <a:cxn ang="0">
                <a:pos x="connsiteX2" y="connsiteY2"/>
              </a:cxn>
            </a:cxnLst>
            <a:rect l="l" t="t" r="r" b="b"/>
            <a:pathLst>
              <a:path w="542108" h="345233">
                <a:moveTo>
                  <a:pt x="47585" y="345233"/>
                </a:moveTo>
                <a:cubicBezTo>
                  <a:pt x="6375" y="294692"/>
                  <a:pt x="-34835" y="244151"/>
                  <a:pt x="47585" y="186612"/>
                </a:cubicBezTo>
                <a:cubicBezTo>
                  <a:pt x="130005" y="129073"/>
                  <a:pt x="336056" y="64536"/>
                  <a:pt x="542108"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6" name="Freeform: Shape 25">
            <a:extLst>
              <a:ext uri="{FF2B5EF4-FFF2-40B4-BE49-F238E27FC236}">
                <a16:creationId xmlns:a16="http://schemas.microsoft.com/office/drawing/2014/main" id="{C5F7C15D-F13C-6D4B-6676-72E29CFFD78D}"/>
              </a:ext>
            </a:extLst>
          </p:cNvPr>
          <p:cNvSpPr/>
          <p:nvPr/>
        </p:nvSpPr>
        <p:spPr>
          <a:xfrm>
            <a:off x="4553339" y="3564294"/>
            <a:ext cx="429208" cy="317241"/>
          </a:xfrm>
          <a:custGeom>
            <a:avLst/>
            <a:gdLst>
              <a:gd name="connsiteX0" fmla="*/ 429208 w 429208"/>
              <a:gd name="connsiteY0" fmla="*/ 317241 h 317241"/>
              <a:gd name="connsiteX1" fmla="*/ 261257 w 429208"/>
              <a:gd name="connsiteY1" fmla="*/ 214604 h 317241"/>
              <a:gd name="connsiteX2" fmla="*/ 0 w 429208"/>
              <a:gd name="connsiteY2" fmla="*/ 0 h 317241"/>
            </a:gdLst>
            <a:ahLst/>
            <a:cxnLst>
              <a:cxn ang="0">
                <a:pos x="connsiteX0" y="connsiteY0"/>
              </a:cxn>
              <a:cxn ang="0">
                <a:pos x="connsiteX1" y="connsiteY1"/>
              </a:cxn>
              <a:cxn ang="0">
                <a:pos x="connsiteX2" y="connsiteY2"/>
              </a:cxn>
            </a:cxnLst>
            <a:rect l="l" t="t" r="r" b="b"/>
            <a:pathLst>
              <a:path w="429208" h="317241">
                <a:moveTo>
                  <a:pt x="429208" y="317241"/>
                </a:moveTo>
                <a:cubicBezTo>
                  <a:pt x="381000" y="292359"/>
                  <a:pt x="332792" y="267477"/>
                  <a:pt x="261257" y="214604"/>
                </a:cubicBezTo>
                <a:cubicBezTo>
                  <a:pt x="189722" y="161731"/>
                  <a:pt x="94861" y="80865"/>
                  <a:pt x="0" y="0"/>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7" name="Freeform: Shape 26">
            <a:extLst>
              <a:ext uri="{FF2B5EF4-FFF2-40B4-BE49-F238E27FC236}">
                <a16:creationId xmlns:a16="http://schemas.microsoft.com/office/drawing/2014/main" id="{F297C060-9D9F-364E-34D5-A3F5F209BFBE}"/>
              </a:ext>
            </a:extLst>
          </p:cNvPr>
          <p:cNvSpPr/>
          <p:nvPr/>
        </p:nvSpPr>
        <p:spPr>
          <a:xfrm>
            <a:off x="2911151" y="3984171"/>
            <a:ext cx="632333" cy="569168"/>
          </a:xfrm>
          <a:custGeom>
            <a:avLst/>
            <a:gdLst>
              <a:gd name="connsiteX0" fmla="*/ 625151 w 632333"/>
              <a:gd name="connsiteY0" fmla="*/ 569168 h 569168"/>
              <a:gd name="connsiteX1" fmla="*/ 625151 w 632333"/>
              <a:gd name="connsiteY1" fmla="*/ 447870 h 569168"/>
              <a:gd name="connsiteX2" fmla="*/ 550506 w 632333"/>
              <a:gd name="connsiteY2" fmla="*/ 345233 h 569168"/>
              <a:gd name="connsiteX3" fmla="*/ 326571 w 632333"/>
              <a:gd name="connsiteY3" fmla="*/ 410547 h 569168"/>
              <a:gd name="connsiteX4" fmla="*/ 55984 w 632333"/>
              <a:gd name="connsiteY4" fmla="*/ 419878 h 569168"/>
              <a:gd name="connsiteX5" fmla="*/ 0 w 632333"/>
              <a:gd name="connsiteY5" fmla="*/ 0 h 56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333" h="569168">
                <a:moveTo>
                  <a:pt x="625151" y="569168"/>
                </a:moveTo>
                <a:cubicBezTo>
                  <a:pt x="631371" y="527180"/>
                  <a:pt x="637592" y="485192"/>
                  <a:pt x="625151" y="447870"/>
                </a:cubicBezTo>
                <a:cubicBezTo>
                  <a:pt x="612710" y="410547"/>
                  <a:pt x="600269" y="351453"/>
                  <a:pt x="550506" y="345233"/>
                </a:cubicBezTo>
                <a:cubicBezTo>
                  <a:pt x="500743" y="339012"/>
                  <a:pt x="408991" y="398106"/>
                  <a:pt x="326571" y="410547"/>
                </a:cubicBezTo>
                <a:cubicBezTo>
                  <a:pt x="244151" y="422988"/>
                  <a:pt x="110413" y="488303"/>
                  <a:pt x="55984" y="419878"/>
                </a:cubicBezTo>
                <a:cubicBezTo>
                  <a:pt x="1555" y="351453"/>
                  <a:pt x="777" y="175726"/>
                  <a:pt x="0" y="0"/>
                </a:cubicBezTo>
              </a:path>
            </a:pathLst>
          </a:custGeom>
          <a:ln>
            <a:headEnd type="none" w="med" len="med"/>
            <a:tailEnd type="arrow" w="med" len="med"/>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9" name="Rectángulo 10">
                <a:extLst>
                  <a:ext uri="{FF2B5EF4-FFF2-40B4-BE49-F238E27FC236}">
                    <a16:creationId xmlns:a16="http://schemas.microsoft.com/office/drawing/2014/main" id="{A689AF89-01D3-ED8D-756B-80029660C033}"/>
                  </a:ext>
                </a:extLst>
              </p:cNvPr>
              <p:cNvSpPr/>
              <p:nvPr/>
            </p:nvSpPr>
            <p:spPr>
              <a:xfrm>
                <a:off x="7548946" y="3213164"/>
                <a:ext cx="2578727" cy="923731"/>
              </a:xfrm>
              <a:prstGeom prst="rect">
                <a:avLst/>
              </a:prstGeom>
              <a:solidFill>
                <a:schemeClr val="accent6"/>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𝑥</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𝐴𝑥</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𝐵𝑢</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oMath>
                    <m:oMath xmlns:m="http://schemas.openxmlformats.org/officeDocument/2006/math">
                      <m:r>
                        <a:rPr lang="en-US" b="0" i="1" smtClean="0">
                          <a:solidFill>
                            <a:schemeClr val="tx1"/>
                          </a:solidFill>
                          <a:latin typeface="Cambria Math" panose="02040503050406030204" pitchFamily="18" charset="0"/>
                        </a:rPr>
                        <m:t>𝑦</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𝐶𝑥</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𝑡</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𝐷𝑢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10">
                <a:extLst>
                  <a:ext uri="{FF2B5EF4-FFF2-40B4-BE49-F238E27FC236}">
                    <a16:creationId xmlns:a16="http://schemas.microsoft.com/office/drawing/2014/main" id="{A689AF89-01D3-ED8D-756B-80029660C033}"/>
                  </a:ext>
                </a:extLst>
              </p:cNvPr>
              <p:cNvSpPr>
                <a:spLocks noRot="1" noChangeAspect="1" noMove="1" noResize="1" noEditPoints="1" noAdjustHandles="1" noChangeArrowheads="1" noChangeShapeType="1" noTextEdit="1"/>
              </p:cNvSpPr>
              <p:nvPr/>
            </p:nvSpPr>
            <p:spPr>
              <a:xfrm>
                <a:off x="7548946" y="3213164"/>
                <a:ext cx="2578727" cy="923731"/>
              </a:xfrm>
              <a:prstGeom prst="rect">
                <a:avLst/>
              </a:prstGeom>
              <a:blipFill>
                <a:blip r:embed="rId6"/>
                <a:stretch>
                  <a:fillRect/>
                </a:stretch>
              </a:blipFill>
              <a:ln>
                <a:solidFill>
                  <a:schemeClr val="accent1"/>
                </a:solidFill>
              </a:ln>
            </p:spPr>
            <p:txBody>
              <a:bodyPr/>
              <a:lstStyle/>
              <a:p>
                <a:r>
                  <a:rPr lang="en-US">
                    <a:noFill/>
                  </a:rPr>
                  <a:t> </a:t>
                </a:r>
              </a:p>
            </p:txBody>
          </p:sp>
        </mc:Fallback>
      </mc:AlternateContent>
      <p:cxnSp>
        <p:nvCxnSpPr>
          <p:cNvPr id="10" name="Conector recto de flecha 12">
            <a:extLst>
              <a:ext uri="{FF2B5EF4-FFF2-40B4-BE49-F238E27FC236}">
                <a16:creationId xmlns:a16="http://schemas.microsoft.com/office/drawing/2014/main" id="{200C3EB1-ADF3-7069-B45A-959F92BE5E3D}"/>
              </a:ext>
            </a:extLst>
          </p:cNvPr>
          <p:cNvCxnSpPr>
            <a:cxnSpLocks/>
          </p:cNvCxnSpPr>
          <p:nvPr/>
        </p:nvCxnSpPr>
        <p:spPr>
          <a:xfrm>
            <a:off x="6605166" y="3673416"/>
            <a:ext cx="885277" cy="10943"/>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4">
            <a:extLst>
              <a:ext uri="{FF2B5EF4-FFF2-40B4-BE49-F238E27FC236}">
                <a16:creationId xmlns:a16="http://schemas.microsoft.com/office/drawing/2014/main" id="{5505864A-11B1-A7BD-942F-6659604CA21C}"/>
              </a:ext>
            </a:extLst>
          </p:cNvPr>
          <p:cNvCxnSpPr>
            <a:cxnSpLocks/>
            <a:stCxn id="9" idx="3"/>
          </p:cNvCxnSpPr>
          <p:nvPr/>
        </p:nvCxnSpPr>
        <p:spPr>
          <a:xfrm>
            <a:off x="10127673" y="3675030"/>
            <a:ext cx="727789"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8">
            <a:extLst>
              <a:ext uri="{FF2B5EF4-FFF2-40B4-BE49-F238E27FC236}">
                <a16:creationId xmlns:a16="http://schemas.microsoft.com/office/drawing/2014/main" id="{A81CB23A-79F9-D93B-68B9-D7892163DED8}"/>
              </a:ext>
            </a:extLst>
          </p:cNvPr>
          <p:cNvSpPr txBox="1"/>
          <p:nvPr/>
        </p:nvSpPr>
        <p:spPr>
          <a:xfrm>
            <a:off x="6431464" y="3227935"/>
            <a:ext cx="998543" cy="369332"/>
          </a:xfrm>
          <a:prstGeom prst="rect">
            <a:avLst/>
          </a:prstGeom>
          <a:noFill/>
        </p:spPr>
        <p:txBody>
          <a:bodyPr wrap="none" rtlCol="0">
            <a:spAutoFit/>
          </a:bodyPr>
          <a:lstStyle/>
          <a:p>
            <a:r>
              <a:rPr lang="es-419" b="1">
                <a:solidFill>
                  <a:schemeClr val="bg1"/>
                </a:solidFill>
              </a:rPr>
              <a:t>Entrada</a:t>
            </a:r>
          </a:p>
        </p:txBody>
      </p:sp>
      <p:sp>
        <p:nvSpPr>
          <p:cNvPr id="13" name="CuadroTexto 19">
            <a:extLst>
              <a:ext uri="{FF2B5EF4-FFF2-40B4-BE49-F238E27FC236}">
                <a16:creationId xmlns:a16="http://schemas.microsoft.com/office/drawing/2014/main" id="{B7A9BDCD-6186-B88A-A0BF-B845B9C963BE}"/>
              </a:ext>
            </a:extLst>
          </p:cNvPr>
          <p:cNvSpPr txBox="1"/>
          <p:nvPr/>
        </p:nvSpPr>
        <p:spPr>
          <a:xfrm>
            <a:off x="10156875" y="3180440"/>
            <a:ext cx="841897" cy="369332"/>
          </a:xfrm>
          <a:prstGeom prst="rect">
            <a:avLst/>
          </a:prstGeom>
          <a:noFill/>
        </p:spPr>
        <p:txBody>
          <a:bodyPr wrap="none" rtlCol="0">
            <a:spAutoFit/>
          </a:bodyPr>
          <a:lstStyle/>
          <a:p>
            <a:r>
              <a:rPr lang="es-419" b="1">
                <a:solidFill>
                  <a:schemeClr val="bg1"/>
                </a:solidFill>
              </a:rPr>
              <a:t>Salida</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B02FEE70-02D4-CD20-D2A4-53FA5FEE90FA}"/>
                  </a:ext>
                </a:extLst>
              </p:cNvPr>
              <p:cNvSpPr txBox="1"/>
              <p:nvPr/>
            </p:nvSpPr>
            <p:spPr>
              <a:xfrm>
                <a:off x="6605166" y="3776892"/>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𝑢</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m:t>
                      </m:r>
                    </m:oMath>
                  </m:oMathPara>
                </a14:m>
                <a:endParaRPr lang="es-CO"/>
              </a:p>
            </p:txBody>
          </p:sp>
        </mc:Choice>
        <mc:Fallback>
          <p:sp>
            <p:nvSpPr>
              <p:cNvPr id="14" name="TextBox 13">
                <a:extLst>
                  <a:ext uri="{FF2B5EF4-FFF2-40B4-BE49-F238E27FC236}">
                    <a16:creationId xmlns:a16="http://schemas.microsoft.com/office/drawing/2014/main" id="{B02FEE70-02D4-CD20-D2A4-53FA5FEE90FA}"/>
                  </a:ext>
                </a:extLst>
              </p:cNvPr>
              <p:cNvSpPr txBox="1">
                <a:spLocks noRot="1" noChangeAspect="1" noMove="1" noResize="1" noEditPoints="1" noAdjustHandles="1" noChangeArrowheads="1" noChangeShapeType="1" noTextEdit="1"/>
              </p:cNvSpPr>
              <p:nvPr/>
            </p:nvSpPr>
            <p:spPr>
              <a:xfrm>
                <a:off x="6605166" y="3776892"/>
                <a:ext cx="727790"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EFE9973-171C-8CF4-F00C-B21F22D332B5}"/>
                  </a:ext>
                </a:extLst>
              </p:cNvPr>
              <p:cNvSpPr txBox="1"/>
              <p:nvPr/>
            </p:nvSpPr>
            <p:spPr>
              <a:xfrm>
                <a:off x="10253135" y="3730627"/>
                <a:ext cx="7277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𝑦</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m:t>
                      </m:r>
                    </m:oMath>
                  </m:oMathPara>
                </a14:m>
                <a:endParaRPr lang="es-CO"/>
              </a:p>
            </p:txBody>
          </p:sp>
        </mc:Choice>
        <mc:Fallback>
          <p:sp>
            <p:nvSpPr>
              <p:cNvPr id="15" name="TextBox 14">
                <a:extLst>
                  <a:ext uri="{FF2B5EF4-FFF2-40B4-BE49-F238E27FC236}">
                    <a16:creationId xmlns:a16="http://schemas.microsoft.com/office/drawing/2014/main" id="{6EFE9973-171C-8CF4-F00C-B21F22D332B5}"/>
                  </a:ext>
                </a:extLst>
              </p:cNvPr>
              <p:cNvSpPr txBox="1">
                <a:spLocks noRot="1" noChangeAspect="1" noMove="1" noResize="1" noEditPoints="1" noAdjustHandles="1" noChangeArrowheads="1" noChangeShapeType="1" noTextEdit="1"/>
              </p:cNvSpPr>
              <p:nvPr/>
            </p:nvSpPr>
            <p:spPr>
              <a:xfrm>
                <a:off x="10253135" y="3730627"/>
                <a:ext cx="727790" cy="369332"/>
              </a:xfrm>
              <a:prstGeom prst="rect">
                <a:avLst/>
              </a:prstGeom>
              <a:blipFill>
                <a:blip r:embed="rId8"/>
                <a:stretch>
                  <a:fillRect b="-11475"/>
                </a:stretch>
              </a:blipFill>
            </p:spPr>
            <p:txBody>
              <a:bodyPr/>
              <a:lstStyle/>
              <a:p>
                <a:r>
                  <a:rPr lang="en-US">
                    <a:noFill/>
                  </a:rPr>
                  <a:t> </a:t>
                </a:r>
              </a:p>
            </p:txBody>
          </p:sp>
        </mc:Fallback>
      </mc:AlternateContent>
      <p:sp>
        <p:nvSpPr>
          <p:cNvPr id="30" name="CuadroTexto 19">
            <a:extLst>
              <a:ext uri="{FF2B5EF4-FFF2-40B4-BE49-F238E27FC236}">
                <a16:creationId xmlns:a16="http://schemas.microsoft.com/office/drawing/2014/main" id="{3B0249E3-7465-1C0E-53DB-9EE43D3BB9F0}"/>
              </a:ext>
            </a:extLst>
          </p:cNvPr>
          <p:cNvSpPr txBox="1"/>
          <p:nvPr/>
        </p:nvSpPr>
        <p:spPr>
          <a:xfrm>
            <a:off x="8256182" y="2858603"/>
            <a:ext cx="1105752" cy="369332"/>
          </a:xfrm>
          <a:prstGeom prst="rect">
            <a:avLst/>
          </a:prstGeom>
          <a:noFill/>
        </p:spPr>
        <p:txBody>
          <a:bodyPr wrap="none" rtlCol="0">
            <a:spAutoFit/>
          </a:bodyPr>
          <a:lstStyle/>
          <a:p>
            <a:r>
              <a:rPr lang="es-419" b="1">
                <a:solidFill>
                  <a:schemeClr val="accent6"/>
                </a:solidFill>
              </a:rPr>
              <a:t>SISTEMA</a:t>
            </a:r>
          </a:p>
        </p:txBody>
      </p:sp>
      <p:sp>
        <p:nvSpPr>
          <p:cNvPr id="37" name="TextBox 36">
            <a:extLst>
              <a:ext uri="{FF2B5EF4-FFF2-40B4-BE49-F238E27FC236}">
                <a16:creationId xmlns:a16="http://schemas.microsoft.com/office/drawing/2014/main" id="{49C19F89-61E4-7EC3-6FB4-C0B0D548A864}"/>
              </a:ext>
            </a:extLst>
          </p:cNvPr>
          <p:cNvSpPr txBox="1"/>
          <p:nvPr/>
        </p:nvSpPr>
        <p:spPr>
          <a:xfrm>
            <a:off x="6700339" y="4376058"/>
            <a:ext cx="4217438" cy="1569660"/>
          </a:xfrm>
          <a:prstGeom prst="rect">
            <a:avLst/>
          </a:prstGeom>
          <a:noFill/>
          <a:ln>
            <a:solidFill>
              <a:schemeClr val="accent1"/>
            </a:solidFill>
          </a:ln>
        </p:spPr>
        <p:txBody>
          <a:bodyPr wrap="square">
            <a:spAutoFit/>
          </a:bodyPr>
          <a:lstStyle/>
          <a:p>
            <a:r>
              <a:rPr lang="es-ES" sz="2400">
                <a:solidFill>
                  <a:schemeClr val="bg1"/>
                </a:solidFill>
              </a:rPr>
              <a:t>El </a:t>
            </a:r>
            <a:r>
              <a:rPr lang="es-ES" sz="2400" b="1">
                <a:solidFill>
                  <a:schemeClr val="accent1"/>
                </a:solidFill>
              </a:rPr>
              <a:t>Espacio de Estados</a:t>
            </a:r>
            <a:r>
              <a:rPr lang="es-ES" sz="2400">
                <a:solidFill>
                  <a:schemeClr val="accent1"/>
                </a:solidFill>
              </a:rPr>
              <a:t> </a:t>
            </a:r>
            <a:r>
              <a:rPr lang="es-ES" sz="2400">
                <a:solidFill>
                  <a:schemeClr val="bg1"/>
                </a:solidFill>
              </a:rPr>
              <a:t>es un modelo de </a:t>
            </a:r>
            <a:r>
              <a:rPr lang="es-ES" sz="2400" b="1">
                <a:solidFill>
                  <a:schemeClr val="accent1"/>
                </a:solidFill>
              </a:rPr>
              <a:t>caja blanca</a:t>
            </a:r>
            <a:r>
              <a:rPr lang="es-ES" sz="2400">
                <a:solidFill>
                  <a:schemeClr val="bg1"/>
                </a:solidFill>
              </a:rPr>
              <a:t>. Nos da un mapa interno completo de la dinámica del sistema.</a:t>
            </a:r>
            <a:endParaRPr lang="es-CO" sz="2400">
              <a:solidFill>
                <a:schemeClr val="bg1"/>
              </a:solidFill>
            </a:endParaRPr>
          </a:p>
        </p:txBody>
      </p:sp>
    </p:spTree>
    <p:extLst>
      <p:ext uri="{BB962C8B-B14F-4D97-AF65-F5344CB8AC3E}">
        <p14:creationId xmlns:p14="http://schemas.microsoft.com/office/powerpoint/2010/main" val="617534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12644-55AF-B19B-1D17-9A16E20768A9}"/>
              </a:ext>
            </a:extLst>
          </p:cNvPr>
          <p:cNvSpPr>
            <a:spLocks noGrp="1"/>
          </p:cNvSpPr>
          <p:nvPr>
            <p:ph type="title"/>
          </p:nvPr>
        </p:nvSpPr>
        <p:spPr>
          <a:xfrm>
            <a:off x="838200" y="191870"/>
            <a:ext cx="10515600" cy="703279"/>
          </a:xfrm>
        </p:spPr>
        <p:txBody>
          <a:bodyPr/>
          <a:lstStyle/>
          <a:p>
            <a:r>
              <a:rPr lang="es-ES"/>
              <a:t>El ADN del Sistema: ¿Qué es un "Estado"?</a:t>
            </a:r>
            <a:endParaRPr lang="es-CO"/>
          </a:p>
        </p:txBody>
      </p:sp>
      <p:sp>
        <p:nvSpPr>
          <p:cNvPr id="3" name="Content Placeholder 2">
            <a:extLst>
              <a:ext uri="{FF2B5EF4-FFF2-40B4-BE49-F238E27FC236}">
                <a16:creationId xmlns:a16="http://schemas.microsoft.com/office/drawing/2014/main" id="{BB1826F3-364A-B379-8A15-04F9C2F2EC1F}"/>
              </a:ext>
            </a:extLst>
          </p:cNvPr>
          <p:cNvSpPr>
            <a:spLocks noGrp="1"/>
          </p:cNvSpPr>
          <p:nvPr>
            <p:ph idx="1"/>
          </p:nvPr>
        </p:nvSpPr>
        <p:spPr>
          <a:xfrm>
            <a:off x="838200" y="895149"/>
            <a:ext cx="10515600" cy="1720008"/>
          </a:xfrm>
        </p:spPr>
        <p:txBody>
          <a:bodyPr/>
          <a:lstStyle/>
          <a:p>
            <a:pPr marL="0" indent="0">
              <a:buNone/>
            </a:pPr>
            <a:r>
              <a:rPr lang="es-ES"/>
              <a:t>Imaginen que quieren pausar el universo en un instante </a:t>
            </a:r>
            <a:r>
              <a:rPr lang="es-ES" i="1">
                <a:solidFill>
                  <a:schemeClr val="accent1"/>
                </a:solidFill>
              </a:rPr>
              <a:t>t</a:t>
            </a:r>
            <a:r>
              <a:rPr lang="es-ES"/>
              <a:t> para analizar nuestro sistema. El estado del sistema es el </a:t>
            </a:r>
            <a:r>
              <a:rPr lang="es-ES">
                <a:solidFill>
                  <a:schemeClr val="accent1"/>
                </a:solidFill>
              </a:rPr>
              <a:t>mínimo conjunto </a:t>
            </a:r>
            <a:r>
              <a:rPr lang="es-ES"/>
              <a:t>de variables que necesitan conocer en ese instante para predecir su comportamiento futuro si conocen la entrada.</a:t>
            </a:r>
            <a:endParaRPr lang="es-CO"/>
          </a:p>
        </p:txBody>
      </p:sp>
      <p:pic>
        <p:nvPicPr>
          <p:cNvPr id="5" name="Picture 4" descr="A diagram of a circuit&#10;&#10;AI-generated content may be incorrect.">
            <a:extLst>
              <a:ext uri="{FF2B5EF4-FFF2-40B4-BE49-F238E27FC236}">
                <a16:creationId xmlns:a16="http://schemas.microsoft.com/office/drawing/2014/main" id="{63ECF855-A4D6-5897-7F47-73F0A9E54899}"/>
              </a:ext>
            </a:extLst>
          </p:cNvPr>
          <p:cNvPicPr>
            <a:picLocks noChangeAspect="1"/>
          </p:cNvPicPr>
          <p:nvPr/>
        </p:nvPicPr>
        <p:blipFill>
          <a:blip r:embed="rId2">
            <a:alphaModFix/>
            <a:extLst>
              <a:ext uri="{BEBA8EAE-BF5A-486C-A8C5-ECC9F3942E4B}">
                <a14:imgProps xmlns:a14="http://schemas.microsoft.com/office/drawing/2010/main">
                  <a14:imgLayer r:embed="rId3">
                    <a14:imgEffect>
                      <a14:sharpenSoften amount="10000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1882025" y="3447379"/>
            <a:ext cx="3940277" cy="2515472"/>
          </a:xfrm>
          <a:prstGeom prst="rect">
            <a:avLst/>
          </a:prstGeom>
        </p:spPr>
      </p:pic>
      <p:sp>
        <p:nvSpPr>
          <p:cNvPr id="6" name="TextBox 5">
            <a:extLst>
              <a:ext uri="{FF2B5EF4-FFF2-40B4-BE49-F238E27FC236}">
                <a16:creationId xmlns:a16="http://schemas.microsoft.com/office/drawing/2014/main" id="{46D2B145-A90F-C656-3F11-E2F1100A86F5}"/>
              </a:ext>
            </a:extLst>
          </p:cNvPr>
          <p:cNvSpPr txBox="1"/>
          <p:nvPr/>
        </p:nvSpPr>
        <p:spPr>
          <a:xfrm>
            <a:off x="2254325" y="2995270"/>
            <a:ext cx="2812198" cy="646331"/>
          </a:xfrm>
          <a:prstGeom prst="rect">
            <a:avLst/>
          </a:prstGeom>
          <a:noFill/>
        </p:spPr>
        <p:txBody>
          <a:bodyPr wrap="square">
            <a:spAutoFit/>
          </a:bodyPr>
          <a:lstStyle/>
          <a:p>
            <a:pPr algn="ctr"/>
            <a:r>
              <a:rPr lang="es-ES" sz="1800">
                <a:solidFill>
                  <a:schemeClr val="accent5"/>
                </a:solidFill>
                <a:latin typeface="Lucida Handwriting" panose="03010101010101010101" pitchFamily="66" charset="0"/>
              </a:rPr>
              <a:t>¿dónde se guarda la energía?</a:t>
            </a:r>
            <a:endParaRPr lang="es-CO" sz="1800">
              <a:solidFill>
                <a:schemeClr val="accent5"/>
              </a:solidFill>
              <a:latin typeface="Lucida Handwriting" panose="03010101010101010101" pitchFamily="66" charset="0"/>
            </a:endParaRPr>
          </a:p>
        </p:txBody>
      </p:sp>
      <p:sp>
        <p:nvSpPr>
          <p:cNvPr id="7" name="TextBox 6">
            <a:extLst>
              <a:ext uri="{FF2B5EF4-FFF2-40B4-BE49-F238E27FC236}">
                <a16:creationId xmlns:a16="http://schemas.microsoft.com/office/drawing/2014/main" id="{1C84DF98-8E43-1108-4184-0B1DEC6484E7}"/>
              </a:ext>
            </a:extLst>
          </p:cNvPr>
          <p:cNvSpPr txBox="1"/>
          <p:nvPr/>
        </p:nvSpPr>
        <p:spPr>
          <a:xfrm>
            <a:off x="3852163" y="5225866"/>
            <a:ext cx="1045479"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Cinética</a:t>
            </a:r>
          </a:p>
        </p:txBody>
      </p:sp>
      <p:sp>
        <p:nvSpPr>
          <p:cNvPr id="8" name="TextBox 7">
            <a:extLst>
              <a:ext uri="{FF2B5EF4-FFF2-40B4-BE49-F238E27FC236}">
                <a16:creationId xmlns:a16="http://schemas.microsoft.com/office/drawing/2014/main" id="{B47B4A84-BFE6-D877-FD30-F041C066D3F7}"/>
              </a:ext>
            </a:extLst>
          </p:cNvPr>
          <p:cNvSpPr txBox="1"/>
          <p:nvPr/>
        </p:nvSpPr>
        <p:spPr>
          <a:xfrm>
            <a:off x="1882025" y="3814515"/>
            <a:ext cx="1156086" cy="307777"/>
          </a:xfrm>
          <a:prstGeom prst="rect">
            <a:avLst/>
          </a:prstGeom>
          <a:noFill/>
        </p:spPr>
        <p:txBody>
          <a:bodyPr wrap="none" rtlCol="0">
            <a:spAutoFit/>
          </a:bodyPr>
          <a:lstStyle/>
          <a:p>
            <a:r>
              <a:rPr lang="es-CO" sz="1400">
                <a:solidFill>
                  <a:schemeClr val="accent1"/>
                </a:solidFill>
                <a:latin typeface="Lucida Handwriting" panose="03010101010101010101" pitchFamily="66" charset="0"/>
              </a:rPr>
              <a:t>Potencial</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8E5966B-E2C5-95A4-527C-D9A67B0544FC}"/>
                  </a:ext>
                </a:extLst>
              </p:cNvPr>
              <p:cNvSpPr txBox="1"/>
              <p:nvPr/>
            </p:nvSpPr>
            <p:spPr>
              <a:xfrm>
                <a:off x="6465084" y="3447379"/>
                <a:ext cx="44047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bg1"/>
                          </a:solidFill>
                          <a:latin typeface="Cambria Math" panose="02040503050406030204" pitchFamily="18" charset="0"/>
                        </a:rPr>
                        <m:t>𝑀</m:t>
                      </m:r>
                      <m:acc>
                        <m:accPr>
                          <m:chr m:val="̈"/>
                          <m:ctrlPr>
                            <a:rPr lang="en-US" sz="2400" i="1">
                              <a:solidFill>
                                <a:schemeClr val="bg1"/>
                              </a:solidFill>
                              <a:latin typeface="Cambria Math" panose="02040503050406030204" pitchFamily="18" charset="0"/>
                            </a:rPr>
                          </m:ctrlPr>
                        </m:accPr>
                        <m:e>
                          <m:r>
                            <a:rPr lang="en-US" sz="2400" i="1">
                              <a:solidFill>
                                <a:schemeClr val="bg1"/>
                              </a:solidFill>
                              <a:latin typeface="Cambria Math" panose="02040503050406030204" pitchFamily="18" charset="0"/>
                            </a:rPr>
                            <m:t>𝑥</m:t>
                          </m:r>
                        </m:e>
                      </m:acc>
                      <m:d>
                        <m:dPr>
                          <m:ctrlPr>
                            <a:rPr lang="en-US" sz="2400" i="1">
                              <a:solidFill>
                                <a:schemeClr val="bg1"/>
                              </a:solidFill>
                              <a:latin typeface="Cambria Math" panose="02040503050406030204" pitchFamily="18" charset="0"/>
                            </a:rPr>
                          </m:ctrlPr>
                        </m:dPr>
                        <m:e>
                          <m:r>
                            <a:rPr lang="en-US" sz="2400" i="1">
                              <a:solidFill>
                                <a:schemeClr val="bg1"/>
                              </a:solidFill>
                              <a:latin typeface="Cambria Math" panose="02040503050406030204" pitchFamily="18" charset="0"/>
                            </a:rPr>
                            <m:t>𝑡</m:t>
                          </m:r>
                        </m:e>
                      </m:d>
                      <m:r>
                        <a:rPr lang="en-US" sz="2400" b="0" i="1" smtClean="0">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𝑓</m:t>
                          </m:r>
                        </m:e>
                        <m:sub>
                          <m:r>
                            <a:rPr lang="en-US" sz="2400" i="1">
                              <a:solidFill>
                                <a:schemeClr val="bg1"/>
                              </a:solidFill>
                              <a:latin typeface="Cambria Math" panose="02040503050406030204" pitchFamily="18" charset="0"/>
                            </a:rPr>
                            <m:t>𝑣</m:t>
                          </m:r>
                        </m:sub>
                      </m:sSub>
                      <m:acc>
                        <m:accPr>
                          <m:chr m:val="̇"/>
                          <m:ctrlPr>
                            <a:rPr lang="en-US" sz="2400" i="1">
                              <a:solidFill>
                                <a:schemeClr val="bg1"/>
                              </a:solidFill>
                              <a:latin typeface="Cambria Math" panose="02040503050406030204" pitchFamily="18" charset="0"/>
                            </a:rPr>
                          </m:ctrlPr>
                        </m:accPr>
                        <m:e>
                          <m:r>
                            <a:rPr lang="en-US" sz="2400" i="1">
                              <a:solidFill>
                                <a:schemeClr val="bg1"/>
                              </a:solidFill>
                              <a:latin typeface="Cambria Math" panose="02040503050406030204" pitchFamily="18" charset="0"/>
                            </a:rPr>
                            <m:t>𝑥</m:t>
                          </m:r>
                        </m:e>
                      </m:acc>
                      <m:d>
                        <m:dPr>
                          <m:ctrlPr>
                            <a:rPr lang="en-US" sz="2400" i="1">
                              <a:solidFill>
                                <a:schemeClr val="bg1"/>
                              </a:solidFill>
                              <a:latin typeface="Cambria Math" panose="02040503050406030204" pitchFamily="18" charset="0"/>
                            </a:rPr>
                          </m:ctrlPr>
                        </m:dPr>
                        <m:e>
                          <m:r>
                            <a:rPr lang="en-US" sz="2400" i="1">
                              <a:solidFill>
                                <a:schemeClr val="bg1"/>
                              </a:solidFill>
                              <a:latin typeface="Cambria Math" panose="02040503050406030204" pitchFamily="18" charset="0"/>
                            </a:rPr>
                            <m:t>𝑡</m:t>
                          </m:r>
                        </m:e>
                      </m:d>
                      <m:r>
                        <a:rPr lang="en-US" sz="2400" b="0" i="1" smtClean="0">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𝐾𝑥</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panose="02040503050406030204" pitchFamily="18" charset="0"/>
                            </a:rPr>
                            <m:t>𝑡</m:t>
                          </m:r>
                        </m:e>
                      </m:d>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𝑓</m:t>
                      </m:r>
                      <m:d>
                        <m:dPr>
                          <m:ctrlPr>
                            <a:rPr lang="en-US" sz="2400" i="1">
                              <a:solidFill>
                                <a:schemeClr val="bg1"/>
                              </a:solidFill>
                              <a:latin typeface="Cambria Math" panose="02040503050406030204" pitchFamily="18" charset="0"/>
                            </a:rPr>
                          </m:ctrlPr>
                        </m:dPr>
                        <m:e>
                          <m:r>
                            <a:rPr lang="en-US" sz="2400" i="1">
                              <a:solidFill>
                                <a:schemeClr val="bg1"/>
                              </a:solidFill>
                              <a:latin typeface="Cambria Math" panose="02040503050406030204" pitchFamily="18" charset="0"/>
                            </a:rPr>
                            <m:t>𝑡</m:t>
                          </m:r>
                        </m:e>
                      </m:d>
                    </m:oMath>
                  </m:oMathPara>
                </a14:m>
                <a:endParaRPr lang="es-CO" sz="2400"/>
              </a:p>
            </p:txBody>
          </p:sp>
        </mc:Choice>
        <mc:Fallback>
          <p:sp>
            <p:nvSpPr>
              <p:cNvPr id="9" name="TextBox 8">
                <a:extLst>
                  <a:ext uri="{FF2B5EF4-FFF2-40B4-BE49-F238E27FC236}">
                    <a16:creationId xmlns:a16="http://schemas.microsoft.com/office/drawing/2014/main" id="{28E5966B-E2C5-95A4-527C-D9A67B0544FC}"/>
                  </a:ext>
                </a:extLst>
              </p:cNvPr>
              <p:cNvSpPr txBox="1">
                <a:spLocks noRot="1" noChangeAspect="1" noMove="1" noResize="1" noEditPoints="1" noAdjustHandles="1" noChangeArrowheads="1" noChangeShapeType="1" noTextEdit="1"/>
              </p:cNvSpPr>
              <p:nvPr/>
            </p:nvSpPr>
            <p:spPr>
              <a:xfrm>
                <a:off x="6465084" y="3447379"/>
                <a:ext cx="4404700" cy="461665"/>
              </a:xfrm>
              <a:prstGeom prst="rect">
                <a:avLst/>
              </a:prstGeom>
              <a:blipFill>
                <a:blip r:embed="rId4"/>
                <a:stretch>
                  <a:fillRect b="-18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4B2E4CA-2FAD-7B98-E1A6-01B715105C25}"/>
                  </a:ext>
                </a:extLst>
              </p:cNvPr>
              <p:cNvSpPr txBox="1"/>
              <p:nvPr/>
            </p:nvSpPr>
            <p:spPr>
              <a:xfrm>
                <a:off x="3852163" y="5657383"/>
                <a:ext cx="1374735"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𝐸</m:t>
                          </m:r>
                        </m:e>
                        <m:sub>
                          <m:r>
                            <a:rPr lang="en-US" b="0" i="1" smtClean="0">
                              <a:solidFill>
                                <a:schemeClr val="bg1"/>
                              </a:solidFill>
                              <a:latin typeface="Cambria Math" panose="02040503050406030204" pitchFamily="18" charset="0"/>
                            </a:rPr>
                            <m:t>𝑐</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r>
                        <a:rPr lang="en-US" b="0" i="1" smtClean="0">
                          <a:solidFill>
                            <a:schemeClr val="bg1"/>
                          </a:solidFill>
                          <a:latin typeface="Cambria Math" panose="02040503050406030204" pitchFamily="18" charset="0"/>
                        </a:rPr>
                        <m:t>𝑚</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𝑣</m:t>
                          </m:r>
                        </m:e>
                        <m:sup>
                          <m:r>
                            <a:rPr lang="en-US" b="0" i="1" smtClean="0">
                              <a:solidFill>
                                <a:schemeClr val="bg1"/>
                              </a:solidFill>
                              <a:latin typeface="Cambria Math" panose="02040503050406030204" pitchFamily="18" charset="0"/>
                            </a:rPr>
                            <m:t>2</m:t>
                          </m:r>
                        </m:sup>
                      </m:sSup>
                    </m:oMath>
                  </m:oMathPara>
                </a14:m>
                <a:endParaRPr lang="es-CO">
                  <a:solidFill>
                    <a:schemeClr val="bg1"/>
                  </a:solidFill>
                </a:endParaRPr>
              </a:p>
            </p:txBody>
          </p:sp>
        </mc:Choice>
        <mc:Fallback>
          <p:sp>
            <p:nvSpPr>
              <p:cNvPr id="10" name="TextBox 9">
                <a:extLst>
                  <a:ext uri="{FF2B5EF4-FFF2-40B4-BE49-F238E27FC236}">
                    <a16:creationId xmlns:a16="http://schemas.microsoft.com/office/drawing/2014/main" id="{14B2E4CA-2FAD-7B98-E1A6-01B715105C25}"/>
                  </a:ext>
                </a:extLst>
              </p:cNvPr>
              <p:cNvSpPr txBox="1">
                <a:spLocks noRot="1" noChangeAspect="1" noMove="1" noResize="1" noEditPoints="1" noAdjustHandles="1" noChangeArrowheads="1" noChangeShapeType="1" noTextEdit="1"/>
              </p:cNvSpPr>
              <p:nvPr/>
            </p:nvSpPr>
            <p:spPr>
              <a:xfrm>
                <a:off x="3852163" y="5657383"/>
                <a:ext cx="1374735" cy="61093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70BF238-8026-F139-C073-38CEA77E054A}"/>
                  </a:ext>
                </a:extLst>
              </p:cNvPr>
              <p:cNvSpPr txBox="1"/>
              <p:nvPr/>
            </p:nvSpPr>
            <p:spPr>
              <a:xfrm>
                <a:off x="556726" y="3549267"/>
                <a:ext cx="1325299"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𝐸</m:t>
                          </m:r>
                        </m:e>
                        <m:sub>
                          <m:r>
                            <a:rPr lang="en-US" b="0" i="1" smtClean="0">
                              <a:solidFill>
                                <a:schemeClr val="bg1"/>
                              </a:solidFill>
                              <a:latin typeface="Cambria Math" panose="02040503050406030204" pitchFamily="18" charset="0"/>
                            </a:rPr>
                            <m:t>𝑝</m:t>
                          </m:r>
                        </m:sub>
                      </m:sSub>
                      <m:r>
                        <a:rPr lang="en-US" b="0" i="1" smtClean="0">
                          <a:solidFill>
                            <a:schemeClr val="bg1"/>
                          </a:solidFill>
                          <a:latin typeface="Cambria Math" panose="02040503050406030204" pitchFamily="18" charset="0"/>
                        </a:rPr>
                        <m:t>=</m:t>
                      </m:r>
                      <m:f>
                        <m:fPr>
                          <m:ctrlPr>
                            <a:rPr lang="en-US" b="0" i="1" smtClean="0">
                              <a:solidFill>
                                <a:schemeClr val="bg1"/>
                              </a:solidFill>
                              <a:latin typeface="Cambria Math" panose="02040503050406030204" pitchFamily="18" charset="0"/>
                            </a:rPr>
                          </m:ctrlPr>
                        </m:fPr>
                        <m:num>
                          <m:r>
                            <a:rPr lang="en-US" b="0" i="1" smtClean="0">
                              <a:solidFill>
                                <a:schemeClr val="bg1"/>
                              </a:solidFill>
                              <a:latin typeface="Cambria Math" panose="02040503050406030204" pitchFamily="18" charset="0"/>
                            </a:rPr>
                            <m:t>1</m:t>
                          </m:r>
                        </m:num>
                        <m:den>
                          <m:r>
                            <a:rPr lang="en-US" b="0" i="1" smtClean="0">
                              <a:solidFill>
                                <a:schemeClr val="bg1"/>
                              </a:solidFill>
                              <a:latin typeface="Cambria Math" panose="02040503050406030204" pitchFamily="18" charset="0"/>
                            </a:rPr>
                            <m:t>2</m:t>
                          </m:r>
                        </m:den>
                      </m:f>
                      <m:r>
                        <a:rPr lang="en-US" b="0" i="1" smtClean="0">
                          <a:solidFill>
                            <a:schemeClr val="bg1"/>
                          </a:solidFill>
                          <a:latin typeface="Cambria Math" panose="02040503050406030204" pitchFamily="18" charset="0"/>
                        </a:rPr>
                        <m:t>𝑘</m:t>
                      </m:r>
                      <m:sSup>
                        <m:sSupPr>
                          <m:ctrlPr>
                            <a:rPr lang="en-US" b="0" i="1" smtClean="0">
                              <a:solidFill>
                                <a:schemeClr val="bg1"/>
                              </a:solidFill>
                              <a:latin typeface="Cambria Math" panose="02040503050406030204" pitchFamily="18" charset="0"/>
                            </a:rPr>
                          </m:ctrlPr>
                        </m:sSupPr>
                        <m:e>
                          <m:r>
                            <a:rPr lang="en-US" b="0" i="1" smtClean="0">
                              <a:solidFill>
                                <a:schemeClr val="bg1"/>
                              </a:solidFill>
                              <a:latin typeface="Cambria Math" panose="02040503050406030204" pitchFamily="18" charset="0"/>
                            </a:rPr>
                            <m:t>𝑥</m:t>
                          </m:r>
                        </m:e>
                        <m:sup>
                          <m:r>
                            <a:rPr lang="en-US" b="0" i="1" smtClean="0">
                              <a:solidFill>
                                <a:schemeClr val="bg1"/>
                              </a:solidFill>
                              <a:latin typeface="Cambria Math" panose="02040503050406030204" pitchFamily="18" charset="0"/>
                            </a:rPr>
                            <m:t>2</m:t>
                          </m:r>
                        </m:sup>
                      </m:sSup>
                    </m:oMath>
                  </m:oMathPara>
                </a14:m>
                <a:endParaRPr lang="es-CO">
                  <a:solidFill>
                    <a:schemeClr val="bg1"/>
                  </a:solidFill>
                </a:endParaRPr>
              </a:p>
            </p:txBody>
          </p:sp>
        </mc:Choice>
        <mc:Fallback>
          <p:sp>
            <p:nvSpPr>
              <p:cNvPr id="11" name="TextBox 10">
                <a:extLst>
                  <a:ext uri="{FF2B5EF4-FFF2-40B4-BE49-F238E27FC236}">
                    <a16:creationId xmlns:a16="http://schemas.microsoft.com/office/drawing/2014/main" id="{070BF238-8026-F139-C073-38CEA77E054A}"/>
                  </a:ext>
                </a:extLst>
              </p:cNvPr>
              <p:cNvSpPr txBox="1">
                <a:spLocks noRot="1" noChangeAspect="1" noMove="1" noResize="1" noEditPoints="1" noAdjustHandles="1" noChangeArrowheads="1" noChangeShapeType="1" noTextEdit="1"/>
              </p:cNvSpPr>
              <p:nvPr/>
            </p:nvSpPr>
            <p:spPr>
              <a:xfrm>
                <a:off x="556726" y="3549267"/>
                <a:ext cx="1325299" cy="610936"/>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662D3B49-E27A-96F9-B64A-00BB54F8F1EC}"/>
              </a:ext>
            </a:extLst>
          </p:cNvPr>
          <p:cNvSpPr txBox="1"/>
          <p:nvPr/>
        </p:nvSpPr>
        <p:spPr>
          <a:xfrm>
            <a:off x="6465084" y="4456424"/>
            <a:ext cx="4586373" cy="1323439"/>
          </a:xfrm>
          <a:prstGeom prst="rect">
            <a:avLst/>
          </a:prstGeom>
          <a:noFill/>
          <a:ln>
            <a:solidFill>
              <a:schemeClr val="accent1"/>
            </a:solidFill>
          </a:ln>
        </p:spPr>
        <p:txBody>
          <a:bodyPr wrap="square">
            <a:spAutoFit/>
          </a:bodyPr>
          <a:lstStyle/>
          <a:p>
            <a:pPr algn="ctr"/>
            <a:r>
              <a:rPr lang="es-ES" sz="2000">
                <a:solidFill>
                  <a:schemeClr val="bg1"/>
                </a:solidFill>
              </a:rPr>
              <a:t>Las variables de estado son precisamente las variables que describen la energía almacenada en el sistema.</a:t>
            </a:r>
            <a:endParaRPr lang="es-CO" sz="2000">
              <a:solidFill>
                <a:schemeClr val="bg1"/>
              </a:solidFill>
            </a:endParaRPr>
          </a:p>
        </p:txBody>
      </p:sp>
      <p:sp>
        <p:nvSpPr>
          <p:cNvPr id="14" name="Rectangle 13">
            <a:extLst>
              <a:ext uri="{FF2B5EF4-FFF2-40B4-BE49-F238E27FC236}">
                <a16:creationId xmlns:a16="http://schemas.microsoft.com/office/drawing/2014/main" id="{9111F52C-D3E9-2522-3C3E-D82DE36D7EAA}"/>
              </a:ext>
            </a:extLst>
          </p:cNvPr>
          <p:cNvSpPr/>
          <p:nvPr/>
        </p:nvSpPr>
        <p:spPr>
          <a:xfrm>
            <a:off x="9173497" y="3352800"/>
            <a:ext cx="609600" cy="64633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5" name="Rectangle 14">
            <a:extLst>
              <a:ext uri="{FF2B5EF4-FFF2-40B4-BE49-F238E27FC236}">
                <a16:creationId xmlns:a16="http://schemas.microsoft.com/office/drawing/2014/main" id="{D3843967-4DF1-73EF-3078-DB9AA97D8394}"/>
              </a:ext>
            </a:extLst>
          </p:cNvPr>
          <p:cNvSpPr/>
          <p:nvPr/>
        </p:nvSpPr>
        <p:spPr>
          <a:xfrm>
            <a:off x="8057834" y="3368694"/>
            <a:ext cx="609600" cy="64633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73347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P spid="10" grpId="0"/>
      <p:bldP spid="11" grpId="0"/>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p:sp>
        <p:nvSpPr>
          <p:cNvPr id="3" name="Espaço Reservado para Conteúdo 2"/>
          <p:cNvSpPr>
            <a:spLocks noGrp="1"/>
          </p:cNvSpPr>
          <p:nvPr>
            <p:ph idx="1"/>
          </p:nvPr>
        </p:nvSpPr>
        <p:spPr/>
        <p:txBody>
          <a:bodyPr/>
          <a:lstStyle/>
          <a:p>
            <a:r>
              <a:rPr lang="es-CO"/>
              <a:t>Es una forma de representar un sistema dinámico en función de </a:t>
            </a:r>
            <a:r>
              <a:rPr lang="es-CO" i="1">
                <a:solidFill>
                  <a:schemeClr val="bg2"/>
                </a:solidFill>
              </a:rPr>
              <a:t>n</a:t>
            </a:r>
            <a:r>
              <a:rPr lang="es-CO" i="1"/>
              <a:t> </a:t>
            </a:r>
            <a:r>
              <a:rPr lang="es-CO"/>
              <a:t>ecuaciones en diferencia</a:t>
            </a:r>
          </a:p>
          <a:p>
            <a:r>
              <a:rPr lang="es-CO" b="1">
                <a:solidFill>
                  <a:schemeClr val="accent4"/>
                </a:solidFill>
              </a:rPr>
              <a:t>Variables de Estado: </a:t>
            </a:r>
            <a:r>
              <a:rPr lang="es-CO"/>
              <a:t>son el conjunto más pequeño de variables que determina el comportamiento dinámico de un sistema.</a:t>
            </a:r>
            <a:endParaRPr lang="es-CO" b="1"/>
          </a:p>
        </p:txBody>
      </p:sp>
    </p:spTree>
    <p:extLst>
      <p:ext uri="{BB962C8B-B14F-4D97-AF65-F5344CB8AC3E}">
        <p14:creationId xmlns:p14="http://schemas.microsoft.com/office/powerpoint/2010/main" val="288791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p:sp>
        <p:nvSpPr>
          <p:cNvPr id="4" name="Retângulo 3"/>
          <p:cNvSpPr/>
          <p:nvPr/>
        </p:nvSpPr>
        <p:spPr>
          <a:xfrm>
            <a:off x="4249271" y="2904565"/>
            <a:ext cx="3890682" cy="2008094"/>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4400" b="1">
                <a:solidFill>
                  <a:schemeClr val="tx2"/>
                </a:solidFill>
              </a:rPr>
              <a:t>SISTEMA</a:t>
            </a:r>
            <a:endParaRPr lang="es-CO" b="1">
              <a:solidFill>
                <a:schemeClr val="tx2"/>
              </a:solidFill>
            </a:endParaRPr>
          </a:p>
        </p:txBody>
      </p:sp>
      <p:cxnSp>
        <p:nvCxnSpPr>
          <p:cNvPr id="8" name="Conector de seta reta 7"/>
          <p:cNvCxnSpPr>
            <a:endCxn id="4" idx="1"/>
          </p:cNvCxnSpPr>
          <p:nvPr/>
        </p:nvCxnSpPr>
        <p:spPr>
          <a:xfrm flipV="1">
            <a:off x="2563906" y="3908612"/>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p:cNvCxnSpPr/>
          <p:nvPr/>
        </p:nvCxnSpPr>
        <p:spPr>
          <a:xfrm flipV="1">
            <a:off x="8139953" y="3890683"/>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CaixaDeTexto 10"/>
          <p:cNvSpPr txBox="1"/>
          <p:nvPr/>
        </p:nvSpPr>
        <p:spPr>
          <a:xfrm>
            <a:off x="2402541" y="3125828"/>
            <a:ext cx="1563826" cy="584775"/>
          </a:xfrm>
          <a:prstGeom prst="rect">
            <a:avLst/>
          </a:prstGeom>
          <a:noFill/>
        </p:spPr>
        <p:txBody>
          <a:bodyPr wrap="none" rtlCol="0">
            <a:spAutoFit/>
          </a:bodyPr>
          <a:lstStyle/>
          <a:p>
            <a:r>
              <a:rPr lang="es-CO" sz="3200">
                <a:solidFill>
                  <a:schemeClr val="bg1"/>
                </a:solidFill>
              </a:rPr>
              <a:t>Entrada</a:t>
            </a:r>
            <a:endParaRPr lang="es-CO">
              <a:solidFill>
                <a:schemeClr val="bg1"/>
              </a:solidFill>
            </a:endParaRPr>
          </a:p>
        </p:txBody>
      </p:sp>
      <p:sp>
        <p:nvSpPr>
          <p:cNvPr id="12" name="CaixaDeTexto 11"/>
          <p:cNvSpPr txBox="1"/>
          <p:nvPr/>
        </p:nvSpPr>
        <p:spPr>
          <a:xfrm>
            <a:off x="8506149" y="3105237"/>
            <a:ext cx="1289135" cy="584775"/>
          </a:xfrm>
          <a:prstGeom prst="rect">
            <a:avLst/>
          </a:prstGeom>
          <a:noFill/>
        </p:spPr>
        <p:txBody>
          <a:bodyPr wrap="none" rtlCol="0">
            <a:spAutoFit/>
          </a:bodyPr>
          <a:lstStyle/>
          <a:p>
            <a:r>
              <a:rPr lang="es-CO" sz="3200">
                <a:solidFill>
                  <a:schemeClr val="bg1"/>
                </a:solidFill>
              </a:rPr>
              <a:t>Salida</a:t>
            </a:r>
            <a:endParaRPr lang="es-CO">
              <a:solidFill>
                <a:schemeClr val="bg1"/>
              </a:solidFill>
            </a:endParaRPr>
          </a:p>
        </p:txBody>
      </p:sp>
    </p:spTree>
    <p:extLst>
      <p:ext uri="{BB962C8B-B14F-4D97-AF65-F5344CB8AC3E}">
        <p14:creationId xmlns:p14="http://schemas.microsoft.com/office/powerpoint/2010/main" val="2273033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p:cNvSpPr/>
              <p:nvPr/>
            </p:nvSpPr>
            <p:spPr>
              <a:xfrm>
                <a:off x="4894729" y="1690688"/>
                <a:ext cx="3245224" cy="4620465"/>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4400" b="1">
                    <a:solidFill>
                      <a:schemeClr val="tx2"/>
                    </a:solidFill>
                  </a:rPr>
                  <a:t>Variables de Estado</a:t>
                </a:r>
              </a:p>
              <a:p>
                <a:pPr algn="ctr"/>
                <a14:m>
                  <m:oMathPara xmlns:m="http://schemas.openxmlformats.org/officeDocument/2006/math">
                    <m:oMathParaPr>
                      <m:jc m:val="centerGroup"/>
                    </m:oMathParaPr>
                    <m:oMath xmlns:m="http://schemas.openxmlformats.org/officeDocument/2006/math">
                      <m:sSub>
                        <m:sSubPr>
                          <m:ctrlPr>
                            <a:rPr lang="es-CO" sz="2800" i="1" smtClean="0">
                              <a:solidFill>
                                <a:schemeClr val="tx2"/>
                              </a:solidFill>
                              <a:latin typeface="Cambria Math" panose="02040503050406030204" pitchFamily="18" charset="0"/>
                            </a:rPr>
                          </m:ctrlPr>
                        </m:sSubPr>
                        <m:e>
                          <m:r>
                            <a:rPr lang="pt-BR" sz="2800" b="0" i="1" smtClean="0">
                              <a:solidFill>
                                <a:schemeClr val="tx2"/>
                              </a:solidFill>
                              <a:latin typeface="Cambria Math" panose="02040503050406030204" pitchFamily="18" charset="0"/>
                            </a:rPr>
                            <m:t>𝑥</m:t>
                          </m:r>
                        </m:e>
                        <m:sub>
                          <m:r>
                            <a:rPr lang="pt-BR" sz="2800" b="0" i="1" smtClean="0">
                              <a:solidFill>
                                <a:schemeClr val="tx2"/>
                              </a:solidFill>
                              <a:latin typeface="Cambria Math" panose="02040503050406030204" pitchFamily="18" charset="0"/>
                            </a:rPr>
                            <m:t>1</m:t>
                          </m:r>
                        </m:sub>
                      </m:sSub>
                      <m:d>
                        <m:dPr>
                          <m:ctrlPr>
                            <a:rPr lang="pt-BR" sz="2800" b="0" i="1" smtClean="0">
                              <a:solidFill>
                                <a:schemeClr val="tx2"/>
                              </a:solidFill>
                              <a:latin typeface="Cambria Math" panose="02040503050406030204" pitchFamily="18" charset="0"/>
                            </a:rPr>
                          </m:ctrlPr>
                        </m:dPr>
                        <m:e>
                          <m:r>
                            <a:rPr lang="pt-BR" sz="2800" b="0" i="1" smtClean="0">
                              <a:solidFill>
                                <a:schemeClr val="tx2"/>
                              </a:solidFill>
                              <a:latin typeface="Cambria Math" panose="02040503050406030204" pitchFamily="18" charset="0"/>
                            </a:rPr>
                            <m:t>𝑘</m:t>
                          </m:r>
                        </m:e>
                      </m:d>
                    </m:oMath>
                  </m:oMathPara>
                </a14:m>
                <a:endParaRPr lang="pt-BR" sz="2800" b="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CO" sz="2800" i="1" smtClean="0">
                              <a:solidFill>
                                <a:schemeClr val="tx2"/>
                              </a:solidFill>
                              <a:latin typeface="Cambria Math" panose="02040503050406030204" pitchFamily="18" charset="0"/>
                            </a:rPr>
                          </m:ctrlPr>
                        </m:sSubPr>
                        <m:e>
                          <m:r>
                            <a:rPr lang="pt-BR" sz="2800" b="0" i="1" smtClean="0">
                              <a:solidFill>
                                <a:schemeClr val="tx2"/>
                              </a:solidFill>
                              <a:latin typeface="Cambria Math" panose="02040503050406030204" pitchFamily="18" charset="0"/>
                            </a:rPr>
                            <m:t>𝑥</m:t>
                          </m:r>
                        </m:e>
                        <m:sub>
                          <m:r>
                            <a:rPr lang="pt-BR" sz="2800" b="0" i="1" smtClean="0">
                              <a:solidFill>
                                <a:schemeClr val="tx2"/>
                              </a:solidFill>
                              <a:latin typeface="Cambria Math" panose="02040503050406030204" pitchFamily="18" charset="0"/>
                            </a:rPr>
                            <m:t>2</m:t>
                          </m:r>
                        </m:sub>
                      </m:sSub>
                      <m:r>
                        <a:rPr lang="pt-BR" sz="2800" b="0" i="1" smtClean="0">
                          <a:solidFill>
                            <a:schemeClr val="tx2"/>
                          </a:solidFill>
                          <a:latin typeface="Cambria Math" panose="02040503050406030204" pitchFamily="18" charset="0"/>
                        </a:rPr>
                        <m:t>(</m:t>
                      </m:r>
                      <m:r>
                        <a:rPr lang="pt-BR" sz="2800" b="0" i="1" smtClean="0">
                          <a:solidFill>
                            <a:schemeClr val="tx2"/>
                          </a:solidFill>
                          <a:latin typeface="Cambria Math" panose="02040503050406030204" pitchFamily="18" charset="0"/>
                        </a:rPr>
                        <m:t>𝑘</m:t>
                      </m:r>
                      <m:r>
                        <a:rPr lang="pt-BR" sz="2800" b="0" i="1" smtClean="0">
                          <a:solidFill>
                            <a:schemeClr val="tx2"/>
                          </a:solidFill>
                          <a:latin typeface="Cambria Math" panose="02040503050406030204" pitchFamily="18" charset="0"/>
                        </a:rPr>
                        <m:t>)</m:t>
                      </m:r>
                    </m:oMath>
                  </m:oMathPara>
                </a14:m>
                <a:endParaRPr lang="es-CO" sz="280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CO" sz="2800" i="1" smtClean="0">
                              <a:solidFill>
                                <a:schemeClr val="tx2"/>
                              </a:solidFill>
                              <a:latin typeface="Cambria Math" panose="02040503050406030204" pitchFamily="18" charset="0"/>
                            </a:rPr>
                          </m:ctrlPr>
                        </m:sSubPr>
                        <m:e>
                          <m:r>
                            <a:rPr lang="pt-BR" sz="2800" b="0" i="1" smtClean="0">
                              <a:solidFill>
                                <a:schemeClr val="tx2"/>
                              </a:solidFill>
                              <a:latin typeface="Cambria Math" panose="02040503050406030204" pitchFamily="18" charset="0"/>
                            </a:rPr>
                            <m:t>𝑥</m:t>
                          </m:r>
                        </m:e>
                        <m:sub>
                          <m:r>
                            <a:rPr lang="pt-BR" sz="2800" b="0" i="1" smtClean="0">
                              <a:solidFill>
                                <a:schemeClr val="tx2"/>
                              </a:solidFill>
                              <a:latin typeface="Cambria Math" panose="02040503050406030204" pitchFamily="18" charset="0"/>
                            </a:rPr>
                            <m:t>3</m:t>
                          </m:r>
                        </m:sub>
                      </m:sSub>
                      <m:r>
                        <a:rPr lang="pt-BR" sz="2800" b="0" i="1" smtClean="0">
                          <a:solidFill>
                            <a:schemeClr val="tx2"/>
                          </a:solidFill>
                          <a:latin typeface="Cambria Math" panose="02040503050406030204" pitchFamily="18" charset="0"/>
                        </a:rPr>
                        <m:t>(</m:t>
                      </m:r>
                      <m:r>
                        <a:rPr lang="pt-BR" sz="2800" b="0" i="1" smtClean="0">
                          <a:solidFill>
                            <a:schemeClr val="tx2"/>
                          </a:solidFill>
                          <a:latin typeface="Cambria Math" panose="02040503050406030204" pitchFamily="18" charset="0"/>
                        </a:rPr>
                        <m:t>𝑘</m:t>
                      </m:r>
                      <m:r>
                        <a:rPr lang="pt-BR" sz="2800" b="0" i="1" smtClean="0">
                          <a:solidFill>
                            <a:schemeClr val="tx2"/>
                          </a:solidFill>
                          <a:latin typeface="Cambria Math" panose="02040503050406030204" pitchFamily="18" charset="0"/>
                        </a:rPr>
                        <m:t>)</m:t>
                      </m:r>
                    </m:oMath>
                  </m:oMathPara>
                </a14:m>
                <a:endParaRPr lang="es-CO" sz="280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CO" sz="2800" i="1" smtClean="0">
                              <a:solidFill>
                                <a:schemeClr val="tx2"/>
                              </a:solidFill>
                              <a:latin typeface="Cambria Math" panose="02040503050406030204" pitchFamily="18" charset="0"/>
                            </a:rPr>
                          </m:ctrlPr>
                        </m:sSubPr>
                        <m:e>
                          <m:r>
                            <a:rPr lang="pt-BR" sz="2800" b="0" i="1" smtClean="0">
                              <a:solidFill>
                                <a:schemeClr val="tx2"/>
                              </a:solidFill>
                              <a:latin typeface="Cambria Math" panose="02040503050406030204" pitchFamily="18" charset="0"/>
                            </a:rPr>
                            <m:t>𝑥</m:t>
                          </m:r>
                        </m:e>
                        <m:sub>
                          <m:r>
                            <a:rPr lang="pt-BR" sz="2800" b="0" i="1" smtClean="0">
                              <a:solidFill>
                                <a:schemeClr val="tx2"/>
                              </a:solidFill>
                              <a:latin typeface="Cambria Math" panose="02040503050406030204" pitchFamily="18" charset="0"/>
                            </a:rPr>
                            <m:t>4</m:t>
                          </m:r>
                        </m:sub>
                      </m:sSub>
                      <m:d>
                        <m:dPr>
                          <m:ctrlPr>
                            <a:rPr lang="pt-BR" sz="2800" b="0" i="1" smtClean="0">
                              <a:solidFill>
                                <a:schemeClr val="tx2"/>
                              </a:solidFill>
                              <a:latin typeface="Cambria Math" panose="02040503050406030204" pitchFamily="18" charset="0"/>
                            </a:rPr>
                          </m:ctrlPr>
                        </m:dPr>
                        <m:e>
                          <m:r>
                            <a:rPr lang="pt-BR" sz="2800" b="0" i="1" smtClean="0">
                              <a:solidFill>
                                <a:schemeClr val="tx2"/>
                              </a:solidFill>
                              <a:latin typeface="Cambria Math" panose="02040503050406030204" pitchFamily="18" charset="0"/>
                            </a:rPr>
                            <m:t>𝑘</m:t>
                          </m:r>
                        </m:e>
                      </m:d>
                    </m:oMath>
                  </m:oMathPara>
                </a14:m>
                <a:endParaRPr lang="pt-BR" sz="2800" b="0">
                  <a:solidFill>
                    <a:schemeClr val="tx2"/>
                  </a:solidFill>
                </a:endParaRPr>
              </a:p>
              <a:p>
                <a:pPr algn="ctr"/>
                <a14:m>
                  <m:oMathPara xmlns:m="http://schemas.openxmlformats.org/officeDocument/2006/math">
                    <m:oMathParaPr>
                      <m:jc m:val="centerGroup"/>
                    </m:oMathParaPr>
                    <m:oMath xmlns:m="http://schemas.openxmlformats.org/officeDocument/2006/math">
                      <m:r>
                        <a:rPr lang="es-CO" sz="2800" i="1" smtClean="0">
                          <a:solidFill>
                            <a:schemeClr val="tx2"/>
                          </a:solidFill>
                          <a:latin typeface="Cambria Math" panose="02040503050406030204" pitchFamily="18" charset="0"/>
                        </a:rPr>
                        <m:t>⋮</m:t>
                      </m:r>
                    </m:oMath>
                  </m:oMathPara>
                </a14:m>
                <a:endParaRPr lang="es-CO" sz="2800">
                  <a:solidFill>
                    <a:schemeClr val="tx2"/>
                  </a:solidFill>
                </a:endParaRPr>
              </a:p>
              <a:p>
                <a:pPr algn="ctr"/>
                <a14:m>
                  <m:oMathPara xmlns:m="http://schemas.openxmlformats.org/officeDocument/2006/math">
                    <m:oMathParaPr>
                      <m:jc m:val="centerGroup"/>
                    </m:oMathParaPr>
                    <m:oMath xmlns:m="http://schemas.openxmlformats.org/officeDocument/2006/math">
                      <m:sSub>
                        <m:sSubPr>
                          <m:ctrlPr>
                            <a:rPr lang="es-CO" sz="2800" i="1" smtClean="0">
                              <a:solidFill>
                                <a:schemeClr val="tx2"/>
                              </a:solidFill>
                              <a:latin typeface="Cambria Math" panose="02040503050406030204" pitchFamily="18" charset="0"/>
                            </a:rPr>
                          </m:ctrlPr>
                        </m:sSubPr>
                        <m:e>
                          <m:r>
                            <a:rPr lang="pt-BR" sz="2800" b="0" i="1" smtClean="0">
                              <a:solidFill>
                                <a:schemeClr val="tx2"/>
                              </a:solidFill>
                              <a:latin typeface="Cambria Math" panose="02040503050406030204" pitchFamily="18" charset="0"/>
                            </a:rPr>
                            <m:t>𝑥</m:t>
                          </m:r>
                        </m:e>
                        <m:sub>
                          <m:r>
                            <a:rPr lang="pt-BR" sz="2800" b="0" i="1" smtClean="0">
                              <a:solidFill>
                                <a:schemeClr val="tx2"/>
                              </a:solidFill>
                              <a:latin typeface="Cambria Math" panose="02040503050406030204" pitchFamily="18" charset="0"/>
                            </a:rPr>
                            <m:t>𝑛</m:t>
                          </m:r>
                        </m:sub>
                      </m:sSub>
                      <m:r>
                        <a:rPr lang="pt-BR" sz="2800" b="0" i="1" smtClean="0">
                          <a:solidFill>
                            <a:schemeClr val="tx2"/>
                          </a:solidFill>
                          <a:latin typeface="Cambria Math" panose="02040503050406030204" pitchFamily="18" charset="0"/>
                        </a:rPr>
                        <m:t>(</m:t>
                      </m:r>
                      <m:r>
                        <a:rPr lang="pt-BR" sz="2800" b="0" i="1" smtClean="0">
                          <a:solidFill>
                            <a:schemeClr val="tx2"/>
                          </a:solidFill>
                          <a:latin typeface="Cambria Math" panose="02040503050406030204" pitchFamily="18" charset="0"/>
                        </a:rPr>
                        <m:t>𝑘</m:t>
                      </m:r>
                      <m:r>
                        <a:rPr lang="pt-BR" sz="2800" b="0" i="1" smtClean="0">
                          <a:solidFill>
                            <a:schemeClr val="tx2"/>
                          </a:solidFill>
                          <a:latin typeface="Cambria Math" panose="02040503050406030204" pitchFamily="18" charset="0"/>
                        </a:rPr>
                        <m:t>)</m:t>
                      </m:r>
                    </m:oMath>
                  </m:oMathPara>
                </a14:m>
                <a:endParaRPr lang="es-CO" sz="2800">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p:cNvSpPr>
                <a:spLocks noRot="1" noChangeAspect="1" noMove="1" noResize="1" noEditPoints="1" noAdjustHandles="1" noChangeArrowheads="1" noChangeShapeType="1" noTextEdit="1"/>
              </p:cNvSpPr>
              <p:nvPr/>
            </p:nvSpPr>
            <p:spPr>
              <a:xfrm>
                <a:off x="4894729" y="1690688"/>
                <a:ext cx="3245224" cy="4620465"/>
              </a:xfrm>
              <a:prstGeom prst="rect">
                <a:avLst/>
              </a:prstGeom>
              <a:blipFill>
                <a:blip r:embed="rId2"/>
                <a:stretch>
                  <a:fillRect l="-4112" t="-4993" r="-7477"/>
                </a:stretch>
              </a:blipFill>
              <a:ln>
                <a:solidFill>
                  <a:schemeClr val="tx1"/>
                </a:solidFill>
              </a:ln>
            </p:spPr>
            <p:txBody>
              <a:bodyPr/>
              <a:lstStyle/>
              <a:p>
                <a:r>
                  <a:rPr lang="en-US">
                    <a:noFill/>
                  </a:rPr>
                  <a:t> </a:t>
                </a:r>
              </a:p>
            </p:txBody>
          </p:sp>
        </mc:Fallback>
      </mc:AlternateContent>
      <p:cxnSp>
        <p:nvCxnSpPr>
          <p:cNvPr id="8" name="Conector de seta reta 7"/>
          <p:cNvCxnSpPr/>
          <p:nvPr/>
        </p:nvCxnSpPr>
        <p:spPr>
          <a:xfrm>
            <a:off x="2563906" y="2528047"/>
            <a:ext cx="233082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p:cNvCxnSpPr/>
          <p:nvPr/>
        </p:nvCxnSpPr>
        <p:spPr>
          <a:xfrm flipV="1">
            <a:off x="8157883" y="2528047"/>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tângulo 5"/>
              <p:cNvSpPr/>
              <p:nvPr/>
            </p:nvSpPr>
            <p:spPr>
              <a:xfrm>
                <a:off x="1184462" y="2200452"/>
                <a:ext cx="1391770" cy="34163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1</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2</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3</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4</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r>
                        <a:rPr lang="es-CO" sz="360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𝑛</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p:cNvSpPr>
                <a:spLocks noRot="1" noChangeAspect="1" noMove="1" noResize="1" noEditPoints="1" noAdjustHandles="1" noChangeArrowheads="1" noChangeShapeType="1" noTextEdit="1"/>
              </p:cNvSpPr>
              <p:nvPr/>
            </p:nvSpPr>
            <p:spPr>
              <a:xfrm>
                <a:off x="1184462" y="2200452"/>
                <a:ext cx="1391770" cy="3416320"/>
              </a:xfrm>
              <a:prstGeom prst="rect">
                <a:avLst/>
              </a:prstGeom>
              <a:blipFill>
                <a:blip r:embed="rId3"/>
                <a:stretch>
                  <a:fillRect/>
                </a:stretch>
              </a:blipFill>
            </p:spPr>
            <p:txBody>
              <a:bodyPr/>
              <a:lstStyle/>
              <a:p>
                <a:r>
                  <a:rPr lang="en-US">
                    <a:noFill/>
                  </a:rPr>
                  <a:t> </a:t>
                </a:r>
              </a:p>
            </p:txBody>
          </p:sp>
        </mc:Fallback>
      </mc:AlternateContent>
      <p:cxnSp>
        <p:nvCxnSpPr>
          <p:cNvPr id="13" name="Conector de seta reta 12"/>
          <p:cNvCxnSpPr/>
          <p:nvPr/>
        </p:nvCxnSpPr>
        <p:spPr>
          <a:xfrm>
            <a:off x="2581835" y="3101788"/>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p:nvPr/>
        </p:nvCxnSpPr>
        <p:spPr>
          <a:xfrm>
            <a:off x="2563906" y="3654152"/>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p:cNvCxnSpPr/>
          <p:nvPr/>
        </p:nvCxnSpPr>
        <p:spPr>
          <a:xfrm>
            <a:off x="2563906" y="4203338"/>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p:cNvCxnSpPr/>
          <p:nvPr/>
        </p:nvCxnSpPr>
        <p:spPr>
          <a:xfrm>
            <a:off x="2563905" y="5368750"/>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flipV="1">
            <a:off x="8157883" y="3083859"/>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p:nvPr/>
        </p:nvCxnSpPr>
        <p:spPr>
          <a:xfrm flipV="1">
            <a:off x="8157883" y="3654152"/>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p:cNvCxnSpPr/>
          <p:nvPr/>
        </p:nvCxnSpPr>
        <p:spPr>
          <a:xfrm flipV="1">
            <a:off x="8157883" y="4206516"/>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p:nvPr/>
        </p:nvCxnSpPr>
        <p:spPr>
          <a:xfrm flipV="1">
            <a:off x="8139953" y="5368750"/>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Retângulo 21"/>
              <p:cNvSpPr/>
              <p:nvPr/>
            </p:nvSpPr>
            <p:spPr>
              <a:xfrm>
                <a:off x="9843248" y="2200452"/>
                <a:ext cx="1391770" cy="34163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1</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2</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3</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4</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r>
                        <a:rPr lang="es-CO" sz="360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𝑛</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22" name="Retângulo 21"/>
              <p:cNvSpPr>
                <a:spLocks noRot="1" noChangeAspect="1" noMove="1" noResize="1" noEditPoints="1" noAdjustHandles="1" noChangeArrowheads="1" noChangeShapeType="1" noTextEdit="1"/>
              </p:cNvSpPr>
              <p:nvPr/>
            </p:nvSpPr>
            <p:spPr>
              <a:xfrm>
                <a:off x="9843248" y="2200452"/>
                <a:ext cx="1391770" cy="3416320"/>
              </a:xfrm>
              <a:prstGeom prst="rect">
                <a:avLst/>
              </a:prstGeom>
              <a:blipFill>
                <a:blip r:embed="rId4"/>
                <a:stretch>
                  <a:fillRect/>
                </a:stretch>
              </a:blipFill>
            </p:spPr>
            <p:txBody>
              <a:bodyPr/>
              <a:lstStyle/>
              <a:p>
                <a:r>
                  <a:rPr lang="en-US">
                    <a:noFill/>
                  </a:rPr>
                  <a:t> </a:t>
                </a:r>
              </a:p>
            </p:txBody>
          </p:sp>
        </mc:Fallback>
      </mc:AlternateContent>
      <p:sp>
        <p:nvSpPr>
          <p:cNvPr id="23" name="Elipse 22"/>
          <p:cNvSpPr/>
          <p:nvPr/>
        </p:nvSpPr>
        <p:spPr>
          <a:xfrm>
            <a:off x="5773271" y="2922494"/>
            <a:ext cx="1452282" cy="295835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2"/>
              </a:solidFill>
            </a:endParaRPr>
          </a:p>
        </p:txBody>
      </p:sp>
    </p:spTree>
    <p:extLst>
      <p:ext uri="{BB962C8B-B14F-4D97-AF65-F5344CB8AC3E}">
        <p14:creationId xmlns:p14="http://schemas.microsoft.com/office/powerpoint/2010/main" val="3364524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2" grpId="0"/>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p:cNvSpPr/>
              <p:nvPr/>
            </p:nvSpPr>
            <p:spPr>
              <a:xfrm>
                <a:off x="4894729" y="1690688"/>
                <a:ext cx="3245224" cy="4620465"/>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4400" b="1">
                    <a:solidFill>
                      <a:schemeClr val="tx2"/>
                    </a:solidFill>
                  </a:rPr>
                  <a:t>Vector de Estados</a:t>
                </a:r>
              </a:p>
              <a:p>
                <a:pPr algn="ctr"/>
                <a14:m>
                  <m:oMathPara xmlns:m="http://schemas.openxmlformats.org/officeDocument/2006/math">
                    <m:oMathParaPr>
                      <m:jc m:val="centerGroup"/>
                    </m:oMathParaPr>
                    <m:oMath xmlns:m="http://schemas.openxmlformats.org/officeDocument/2006/math">
                      <m:r>
                        <a:rPr lang="pt-BR" sz="3600" b="1" i="1" smtClean="0">
                          <a:solidFill>
                            <a:schemeClr val="tx2"/>
                          </a:solidFill>
                          <a:latin typeface="Cambria Math" panose="02040503050406030204" pitchFamily="18" charset="0"/>
                        </a:rPr>
                        <m:t>𝒙</m:t>
                      </m:r>
                      <m:r>
                        <a:rPr lang="pt-BR" sz="3600" b="1" i="1" smtClean="0">
                          <a:solidFill>
                            <a:schemeClr val="tx2"/>
                          </a:solidFill>
                          <a:latin typeface="Cambria Math" panose="02040503050406030204" pitchFamily="18" charset="0"/>
                        </a:rPr>
                        <m:t>(</m:t>
                      </m:r>
                      <m:r>
                        <a:rPr lang="pt-BR" sz="3600" b="1" i="1" smtClean="0">
                          <a:solidFill>
                            <a:schemeClr val="tx2"/>
                          </a:solidFill>
                          <a:latin typeface="Cambria Math" panose="02040503050406030204" pitchFamily="18" charset="0"/>
                        </a:rPr>
                        <m:t>𝒌</m:t>
                      </m:r>
                      <m:r>
                        <a:rPr lang="pt-BR" sz="3600" b="1" i="1" smtClean="0">
                          <a:solidFill>
                            <a:schemeClr val="tx2"/>
                          </a:solidFill>
                          <a:latin typeface="Cambria Math" panose="02040503050406030204" pitchFamily="18" charset="0"/>
                        </a:rPr>
                        <m:t>)</m:t>
                      </m:r>
                    </m:oMath>
                  </m:oMathPara>
                </a14:m>
                <a:endParaRPr lang="es-CO" sz="3600" b="1">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p:cNvSpPr>
                <a:spLocks noRot="1" noChangeAspect="1" noMove="1" noResize="1" noEditPoints="1" noAdjustHandles="1" noChangeArrowheads="1" noChangeShapeType="1" noTextEdit="1"/>
              </p:cNvSpPr>
              <p:nvPr/>
            </p:nvSpPr>
            <p:spPr>
              <a:xfrm>
                <a:off x="4894729" y="1690688"/>
                <a:ext cx="3245224" cy="4620465"/>
              </a:xfrm>
              <a:prstGeom prst="rect">
                <a:avLst/>
              </a:prstGeom>
              <a:blipFill>
                <a:blip r:embed="rId2"/>
                <a:stretch>
                  <a:fillRect/>
                </a:stretch>
              </a:blipFill>
              <a:ln>
                <a:solidFill>
                  <a:schemeClr val="tx1"/>
                </a:solidFill>
              </a:ln>
            </p:spPr>
            <p:txBody>
              <a:bodyPr/>
              <a:lstStyle/>
              <a:p>
                <a:r>
                  <a:rPr lang="en-US">
                    <a:noFill/>
                  </a:rPr>
                  <a:t> </a:t>
                </a:r>
              </a:p>
            </p:txBody>
          </p:sp>
        </mc:Fallback>
      </mc:AlternateContent>
      <p:cxnSp>
        <p:nvCxnSpPr>
          <p:cNvPr id="8" name="Conector de seta reta 7"/>
          <p:cNvCxnSpPr/>
          <p:nvPr/>
        </p:nvCxnSpPr>
        <p:spPr>
          <a:xfrm>
            <a:off x="2563906" y="2528047"/>
            <a:ext cx="2330823"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p:cNvCxnSpPr/>
          <p:nvPr/>
        </p:nvCxnSpPr>
        <p:spPr>
          <a:xfrm flipV="1">
            <a:off x="8157883" y="2528047"/>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tângulo 5"/>
              <p:cNvSpPr/>
              <p:nvPr/>
            </p:nvSpPr>
            <p:spPr>
              <a:xfrm>
                <a:off x="1184462" y="2200452"/>
                <a:ext cx="1391770" cy="34163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1</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2</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3</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4</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r>
                        <a:rPr lang="es-CO" sz="360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𝑛</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p:cNvSpPr>
                <a:spLocks noRot="1" noChangeAspect="1" noMove="1" noResize="1" noEditPoints="1" noAdjustHandles="1" noChangeArrowheads="1" noChangeShapeType="1" noTextEdit="1"/>
              </p:cNvSpPr>
              <p:nvPr/>
            </p:nvSpPr>
            <p:spPr>
              <a:xfrm>
                <a:off x="1184462" y="2200452"/>
                <a:ext cx="1391770" cy="3416320"/>
              </a:xfrm>
              <a:prstGeom prst="rect">
                <a:avLst/>
              </a:prstGeom>
              <a:blipFill>
                <a:blip r:embed="rId3"/>
                <a:stretch>
                  <a:fillRect/>
                </a:stretch>
              </a:blipFill>
            </p:spPr>
            <p:txBody>
              <a:bodyPr/>
              <a:lstStyle/>
              <a:p>
                <a:r>
                  <a:rPr lang="en-US">
                    <a:noFill/>
                  </a:rPr>
                  <a:t> </a:t>
                </a:r>
              </a:p>
            </p:txBody>
          </p:sp>
        </mc:Fallback>
      </mc:AlternateContent>
      <p:cxnSp>
        <p:nvCxnSpPr>
          <p:cNvPr id="13" name="Conector de seta reta 12"/>
          <p:cNvCxnSpPr/>
          <p:nvPr/>
        </p:nvCxnSpPr>
        <p:spPr>
          <a:xfrm>
            <a:off x="2581835" y="3101788"/>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p:nvPr/>
        </p:nvCxnSpPr>
        <p:spPr>
          <a:xfrm>
            <a:off x="2563906" y="3654152"/>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p:cNvCxnSpPr/>
          <p:nvPr/>
        </p:nvCxnSpPr>
        <p:spPr>
          <a:xfrm>
            <a:off x="2563906" y="4203338"/>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p:cNvCxnSpPr/>
          <p:nvPr/>
        </p:nvCxnSpPr>
        <p:spPr>
          <a:xfrm>
            <a:off x="2563905" y="5368750"/>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flipV="1">
            <a:off x="8157883" y="3083859"/>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p:nvPr/>
        </p:nvCxnSpPr>
        <p:spPr>
          <a:xfrm flipV="1">
            <a:off x="8157883" y="3654152"/>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p:cNvCxnSpPr/>
          <p:nvPr/>
        </p:nvCxnSpPr>
        <p:spPr>
          <a:xfrm flipV="1">
            <a:off x="8157883" y="4206516"/>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p:nvPr/>
        </p:nvCxnSpPr>
        <p:spPr>
          <a:xfrm flipV="1">
            <a:off x="8139953" y="5368750"/>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Retângulo 21"/>
              <p:cNvSpPr/>
              <p:nvPr/>
            </p:nvSpPr>
            <p:spPr>
              <a:xfrm>
                <a:off x="9843248" y="2200452"/>
                <a:ext cx="1391770" cy="34163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1</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2</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3</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4</m:t>
                          </m:r>
                        </m:sub>
                      </m:sSub>
                      <m:d>
                        <m:dPr>
                          <m:ctrlPr>
                            <a:rPr lang="pt-BR" sz="3600" b="0" i="1" smtClean="0">
                              <a:solidFill>
                                <a:schemeClr val="bg1"/>
                              </a:solidFill>
                              <a:latin typeface="Cambria Math" panose="02040503050406030204" pitchFamily="18" charset="0"/>
                            </a:rPr>
                          </m:ctrlPr>
                        </m:dPr>
                        <m:e>
                          <m:r>
                            <a:rPr lang="pt-BR" sz="3600" b="0" i="1" smtClean="0">
                              <a:solidFill>
                                <a:schemeClr val="bg1"/>
                              </a:solidFill>
                              <a:latin typeface="Cambria Math" panose="02040503050406030204" pitchFamily="18" charset="0"/>
                            </a:rPr>
                            <m:t>𝑘</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r>
                        <a:rPr lang="es-CO" sz="360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𝑛</m:t>
                          </m:r>
                        </m:sub>
                      </m:sSub>
                      <m:r>
                        <a:rPr lang="pt-BR" sz="3600" b="0" i="1" smtClean="0">
                          <a:solidFill>
                            <a:schemeClr val="bg1"/>
                          </a:solidFill>
                          <a:latin typeface="Cambria Math" panose="02040503050406030204" pitchFamily="18" charset="0"/>
                        </a:rPr>
                        <m:t>(</m:t>
                      </m:r>
                      <m:r>
                        <a:rPr lang="pt-BR" sz="3600" b="0" i="1" smtClean="0">
                          <a:solidFill>
                            <a:schemeClr val="bg1"/>
                          </a:solidFill>
                          <a:latin typeface="Cambria Math" panose="02040503050406030204" pitchFamily="18" charset="0"/>
                        </a:rPr>
                        <m:t>𝑘</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22" name="Retângulo 21"/>
              <p:cNvSpPr>
                <a:spLocks noRot="1" noChangeAspect="1" noMove="1" noResize="1" noEditPoints="1" noAdjustHandles="1" noChangeArrowheads="1" noChangeShapeType="1" noTextEdit="1"/>
              </p:cNvSpPr>
              <p:nvPr/>
            </p:nvSpPr>
            <p:spPr>
              <a:xfrm>
                <a:off x="9843248" y="2200452"/>
                <a:ext cx="1391770" cy="34163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8155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3"/>
                                        </p:tgtEl>
                                      </p:cBhvr>
                                    </p:animEffect>
                                    <p:set>
                                      <p:cBhvr>
                                        <p:cTn id="13" dur="1" fill="hold">
                                          <p:stCondLst>
                                            <p:cond delay="499"/>
                                          </p:stCondLst>
                                        </p:cTn>
                                        <p:tgtEl>
                                          <p:spTgt spid="13"/>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5"/>
                                        </p:tgtEl>
                                      </p:cBhvr>
                                    </p:animEffect>
                                    <p:set>
                                      <p:cBhvr>
                                        <p:cTn id="16" dur="1" fill="hold">
                                          <p:stCondLst>
                                            <p:cond delay="499"/>
                                          </p:stCondLst>
                                        </p:cTn>
                                        <p:tgtEl>
                                          <p:spTgt spid="15"/>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29266"/>
            <a:ext cx="10515600" cy="1325563"/>
          </a:xfrm>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p:cNvSpPr/>
              <p:nvPr/>
            </p:nvSpPr>
            <p:spPr>
              <a:xfrm>
                <a:off x="4894729" y="1690688"/>
                <a:ext cx="3245224" cy="4620465"/>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4400" b="1">
                    <a:solidFill>
                      <a:schemeClr val="tx2"/>
                    </a:solidFill>
                  </a:rPr>
                  <a:t>Vector de Estados</a:t>
                </a:r>
              </a:p>
              <a:p>
                <a:pPr algn="ctr"/>
                <a14:m>
                  <m:oMathPara xmlns:m="http://schemas.openxmlformats.org/officeDocument/2006/math">
                    <m:oMathParaPr>
                      <m:jc m:val="centerGroup"/>
                    </m:oMathParaPr>
                    <m:oMath xmlns:m="http://schemas.openxmlformats.org/officeDocument/2006/math">
                      <m:r>
                        <a:rPr lang="pt-BR" sz="3600" b="1" i="1" smtClean="0">
                          <a:solidFill>
                            <a:schemeClr val="tx2"/>
                          </a:solidFill>
                          <a:latin typeface="Cambria Math" panose="02040503050406030204" pitchFamily="18" charset="0"/>
                        </a:rPr>
                        <m:t>𝒙</m:t>
                      </m:r>
                      <m:r>
                        <a:rPr lang="pt-BR" sz="3600" b="1" i="1" smtClean="0">
                          <a:solidFill>
                            <a:schemeClr val="tx2"/>
                          </a:solidFill>
                          <a:latin typeface="Cambria Math" panose="02040503050406030204" pitchFamily="18" charset="0"/>
                        </a:rPr>
                        <m:t>(</m:t>
                      </m:r>
                      <m:r>
                        <a:rPr lang="en-US" sz="3600" b="1" i="1" smtClean="0">
                          <a:solidFill>
                            <a:schemeClr val="tx2"/>
                          </a:solidFill>
                          <a:latin typeface="Cambria Math" panose="02040503050406030204" pitchFamily="18" charset="0"/>
                        </a:rPr>
                        <m:t>𝒕</m:t>
                      </m:r>
                      <m:r>
                        <a:rPr lang="pt-BR" sz="3600" b="1" i="1" smtClean="0">
                          <a:solidFill>
                            <a:schemeClr val="tx2"/>
                          </a:solidFill>
                          <a:latin typeface="Cambria Math" panose="02040503050406030204" pitchFamily="18" charset="0"/>
                        </a:rPr>
                        <m:t>)</m:t>
                      </m:r>
                    </m:oMath>
                  </m:oMathPara>
                </a14:m>
                <a:endParaRPr lang="es-CO" sz="3600" b="1">
                  <a:solidFill>
                    <a:schemeClr val="tx2"/>
                  </a:solidFill>
                </a:endParaRPr>
              </a:p>
              <a:p>
                <a:pPr algn="ctr"/>
                <a:endParaRPr lang="es-CO" sz="2800">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p:cNvSpPr>
                <a:spLocks noRot="1" noChangeAspect="1" noMove="1" noResize="1" noEditPoints="1" noAdjustHandles="1" noChangeArrowheads="1" noChangeShapeType="1" noTextEdit="1"/>
              </p:cNvSpPr>
              <p:nvPr/>
            </p:nvSpPr>
            <p:spPr>
              <a:xfrm>
                <a:off x="4894729" y="1690688"/>
                <a:ext cx="3245224" cy="4620465"/>
              </a:xfrm>
              <a:prstGeom prst="rect">
                <a:avLst/>
              </a:prstGeom>
              <a:blipFill>
                <a:blip r:embed="rId2"/>
                <a:stretch>
                  <a:fillRect/>
                </a:stretch>
              </a:blipFill>
              <a:ln>
                <a:solidFill>
                  <a:schemeClr val="tx1"/>
                </a:solidFill>
              </a:ln>
            </p:spPr>
            <p:txBody>
              <a:bodyPr/>
              <a:lstStyle/>
              <a:p>
                <a:r>
                  <a:rPr lang="en-US">
                    <a:noFill/>
                  </a:rPr>
                  <a:t> </a:t>
                </a:r>
              </a:p>
            </p:txBody>
          </p:sp>
        </mc:Fallback>
      </mc:AlternateContent>
      <p:cxnSp>
        <p:nvCxnSpPr>
          <p:cNvPr id="10" name="Conector de seta reta 9"/>
          <p:cNvCxnSpPr/>
          <p:nvPr/>
        </p:nvCxnSpPr>
        <p:spPr>
          <a:xfrm flipV="1">
            <a:off x="8157883" y="2528047"/>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tângulo 5"/>
              <p:cNvSpPr/>
              <p:nvPr/>
            </p:nvSpPr>
            <p:spPr>
              <a:xfrm>
                <a:off x="2709583" y="3219617"/>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i="1" smtClean="0">
                          <a:solidFill>
                            <a:schemeClr val="bg1"/>
                          </a:solidFill>
                          <a:latin typeface="Cambria Math" panose="02040503050406030204" pitchFamily="18" charset="0"/>
                        </a:rPr>
                        <m:t>𝑢</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p:cNvSpPr>
                <a:spLocks noRot="1" noChangeAspect="1" noMove="1" noResize="1" noEditPoints="1" noAdjustHandles="1" noChangeArrowheads="1" noChangeShapeType="1" noTextEdit="1"/>
              </p:cNvSpPr>
              <p:nvPr/>
            </p:nvSpPr>
            <p:spPr>
              <a:xfrm>
                <a:off x="2709583" y="3219617"/>
                <a:ext cx="1391770" cy="646331"/>
              </a:xfrm>
              <a:prstGeom prst="rect">
                <a:avLst/>
              </a:prstGeom>
              <a:blipFill>
                <a:blip r:embed="rId3"/>
                <a:stretch>
                  <a:fillRect/>
                </a:stretch>
              </a:blipFill>
            </p:spPr>
            <p:txBody>
              <a:bodyPr/>
              <a:lstStyle/>
              <a:p>
                <a:r>
                  <a:rPr lang="en-US">
                    <a:noFill/>
                  </a:rPr>
                  <a:t> </a:t>
                </a:r>
              </a:p>
            </p:txBody>
          </p:sp>
        </mc:Fallback>
      </mc:AlternateContent>
      <p:cxnSp>
        <p:nvCxnSpPr>
          <p:cNvPr id="16" name="Conector de seta reta 15"/>
          <p:cNvCxnSpPr/>
          <p:nvPr/>
        </p:nvCxnSpPr>
        <p:spPr>
          <a:xfrm>
            <a:off x="2594162" y="3999331"/>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flipV="1">
            <a:off x="8157883" y="3083859"/>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p:nvPr/>
        </p:nvCxnSpPr>
        <p:spPr>
          <a:xfrm flipV="1">
            <a:off x="8157883" y="3654152"/>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p:cNvCxnSpPr/>
          <p:nvPr/>
        </p:nvCxnSpPr>
        <p:spPr>
          <a:xfrm flipV="1">
            <a:off x="8157883" y="4206516"/>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p:nvPr/>
        </p:nvCxnSpPr>
        <p:spPr>
          <a:xfrm flipV="1">
            <a:off x="8139953" y="5368750"/>
            <a:ext cx="1685365" cy="17929"/>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Retângulo 21"/>
              <p:cNvSpPr/>
              <p:nvPr/>
            </p:nvSpPr>
            <p:spPr>
              <a:xfrm>
                <a:off x="9843248" y="2200452"/>
                <a:ext cx="1391770" cy="3416320"/>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1</m:t>
                          </m:r>
                        </m:sub>
                      </m:sSub>
                      <m:d>
                        <m:dPr>
                          <m:ctrlPr>
                            <a:rPr lang="pt-BR"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2</m:t>
                          </m:r>
                        </m:sub>
                      </m:sSub>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3</m:t>
                          </m:r>
                        </m:sub>
                      </m:sSub>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4</m:t>
                          </m:r>
                        </m:sub>
                      </m:sSub>
                      <m:d>
                        <m:dPr>
                          <m:ctrlPr>
                            <a:rPr lang="pt-BR"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oMath>
                  </m:oMathPara>
                </a14:m>
                <a:endParaRPr lang="pt-BR" sz="3600" b="0">
                  <a:solidFill>
                    <a:schemeClr val="bg1"/>
                  </a:solidFill>
                </a:endParaRPr>
              </a:p>
              <a:p>
                <a:pPr algn="ctr"/>
                <a14:m>
                  <m:oMathPara xmlns:m="http://schemas.openxmlformats.org/officeDocument/2006/math">
                    <m:oMathParaPr>
                      <m:jc m:val="centerGroup"/>
                    </m:oMathParaPr>
                    <m:oMath xmlns:m="http://schemas.openxmlformats.org/officeDocument/2006/math">
                      <m:r>
                        <a:rPr lang="es-CO" sz="3600" i="1" smtClean="0">
                          <a:solidFill>
                            <a:schemeClr val="bg1"/>
                          </a:solidFill>
                          <a:latin typeface="Cambria Math" panose="02040503050406030204" pitchFamily="18" charset="0"/>
                        </a:rPr>
                        <m:t>⋮</m:t>
                      </m:r>
                    </m:oMath>
                  </m:oMathPara>
                </a14:m>
                <a:endParaRPr lang="es-CO" sz="3600">
                  <a:solidFill>
                    <a:schemeClr val="bg1"/>
                  </a:solidFill>
                </a:endParaRPr>
              </a:p>
              <a:p>
                <a:pPr algn="ctr"/>
                <a14:m>
                  <m:oMathPara xmlns:m="http://schemas.openxmlformats.org/officeDocument/2006/math">
                    <m:oMathParaPr>
                      <m:jc m:val="centerGroup"/>
                    </m:oMathParaPr>
                    <m:oMath xmlns:m="http://schemas.openxmlformats.org/officeDocument/2006/math">
                      <m:sSub>
                        <m:sSubPr>
                          <m:ctrlPr>
                            <a:rPr lang="es-CO" sz="360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𝑛</m:t>
                          </m:r>
                        </m:sub>
                      </m:sSub>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22" name="Retângulo 21"/>
              <p:cNvSpPr>
                <a:spLocks noRot="1" noChangeAspect="1" noMove="1" noResize="1" noEditPoints="1" noAdjustHandles="1" noChangeArrowheads="1" noChangeShapeType="1" noTextEdit="1"/>
              </p:cNvSpPr>
              <p:nvPr/>
            </p:nvSpPr>
            <p:spPr>
              <a:xfrm>
                <a:off x="9843248" y="2200452"/>
                <a:ext cx="1391770" cy="34163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6662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18"/>
                                        </p:tgtEl>
                                      </p:cBhvr>
                                    </p:animEffect>
                                    <p:set>
                                      <p:cBhvr>
                                        <p:cTn id="10" dur="1" fill="hold">
                                          <p:stCondLst>
                                            <p:cond delay="499"/>
                                          </p:stCondLst>
                                        </p:cTn>
                                        <p:tgtEl>
                                          <p:spTgt spid="18"/>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0"/>
                                        </p:tgtEl>
                                      </p:cBhvr>
                                    </p:animEffect>
                                    <p:set>
                                      <p:cBhvr>
                                        <p:cTn id="16" dur="1" fill="hold">
                                          <p:stCondLst>
                                            <p:cond delay="499"/>
                                          </p:stCondLst>
                                        </p:cTn>
                                        <p:tgtEl>
                                          <p:spTgt spid="2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21"/>
                                        </p:tgtEl>
                                      </p:cBhvr>
                                    </p:animEffect>
                                    <p:set>
                                      <p:cBhvr>
                                        <p:cTn id="19" dur="1" fill="hold">
                                          <p:stCondLst>
                                            <p:cond delay="499"/>
                                          </p:stCondLst>
                                        </p:cTn>
                                        <p:tgtEl>
                                          <p:spTgt spid="21"/>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500"/>
                                        <p:tgtEl>
                                          <p:spTgt spid="22"/>
                                        </p:tgtEl>
                                      </p:cBhvr>
                                    </p:animEffect>
                                    <p:set>
                                      <p:cBhvr>
                                        <p:cTn id="22"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p:cNvSpPr/>
              <p:nvPr/>
            </p:nvSpPr>
            <p:spPr>
              <a:xfrm>
                <a:off x="4894729" y="1690688"/>
                <a:ext cx="3245224" cy="4620465"/>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4400" b="1">
                    <a:solidFill>
                      <a:schemeClr val="tx2"/>
                    </a:solidFill>
                  </a:rPr>
                  <a:t>Vector de Estados</a:t>
                </a:r>
              </a:p>
              <a:p>
                <a:pPr algn="ctr"/>
                <a14:m>
                  <m:oMathPara xmlns:m="http://schemas.openxmlformats.org/officeDocument/2006/math">
                    <m:oMathParaPr>
                      <m:jc m:val="centerGroup"/>
                    </m:oMathParaPr>
                    <m:oMath xmlns:m="http://schemas.openxmlformats.org/officeDocument/2006/math">
                      <m:r>
                        <a:rPr lang="pt-BR" sz="3600" b="1" i="1" smtClean="0">
                          <a:solidFill>
                            <a:schemeClr val="tx2"/>
                          </a:solidFill>
                          <a:latin typeface="Cambria Math" panose="02040503050406030204" pitchFamily="18" charset="0"/>
                        </a:rPr>
                        <m:t>𝒙</m:t>
                      </m:r>
                      <m:r>
                        <a:rPr lang="pt-BR" sz="3600" b="1" i="1" smtClean="0">
                          <a:solidFill>
                            <a:schemeClr val="tx2"/>
                          </a:solidFill>
                          <a:latin typeface="Cambria Math" panose="02040503050406030204" pitchFamily="18" charset="0"/>
                        </a:rPr>
                        <m:t>(</m:t>
                      </m:r>
                      <m:r>
                        <a:rPr lang="en-US" sz="3600" b="1" i="1" smtClean="0">
                          <a:solidFill>
                            <a:schemeClr val="tx2"/>
                          </a:solidFill>
                          <a:latin typeface="Cambria Math" panose="02040503050406030204" pitchFamily="18" charset="0"/>
                        </a:rPr>
                        <m:t>𝒕</m:t>
                      </m:r>
                      <m:r>
                        <a:rPr lang="pt-BR" sz="3600" b="1" i="1" smtClean="0">
                          <a:solidFill>
                            <a:schemeClr val="tx2"/>
                          </a:solidFill>
                          <a:latin typeface="Cambria Math" panose="02040503050406030204" pitchFamily="18" charset="0"/>
                        </a:rPr>
                        <m:t>)</m:t>
                      </m:r>
                    </m:oMath>
                  </m:oMathPara>
                </a14:m>
                <a:endParaRPr lang="es-CO" sz="3600" b="1">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p:cNvSpPr>
                <a:spLocks noRot="1" noChangeAspect="1" noMove="1" noResize="1" noEditPoints="1" noAdjustHandles="1" noChangeArrowheads="1" noChangeShapeType="1" noTextEdit="1"/>
              </p:cNvSpPr>
              <p:nvPr/>
            </p:nvSpPr>
            <p:spPr>
              <a:xfrm>
                <a:off x="4894729" y="1690688"/>
                <a:ext cx="3245224" cy="4620465"/>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tângulo 5"/>
              <p:cNvSpPr/>
              <p:nvPr/>
            </p:nvSpPr>
            <p:spPr>
              <a:xfrm>
                <a:off x="2709583" y="3219617"/>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i="1" smtClean="0">
                          <a:solidFill>
                            <a:schemeClr val="bg1"/>
                          </a:solidFill>
                          <a:latin typeface="Cambria Math" panose="02040503050406030204" pitchFamily="18" charset="0"/>
                        </a:rPr>
                        <m:t>𝑢</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p:cNvSpPr>
                <a:spLocks noRot="1" noChangeAspect="1" noMove="1" noResize="1" noEditPoints="1" noAdjustHandles="1" noChangeArrowheads="1" noChangeShapeType="1" noTextEdit="1"/>
              </p:cNvSpPr>
              <p:nvPr/>
            </p:nvSpPr>
            <p:spPr>
              <a:xfrm>
                <a:off x="2709583" y="3219617"/>
                <a:ext cx="1391770" cy="646331"/>
              </a:xfrm>
              <a:prstGeom prst="rect">
                <a:avLst/>
              </a:prstGeom>
              <a:blipFill>
                <a:blip r:embed="rId3"/>
                <a:stretch>
                  <a:fillRect/>
                </a:stretch>
              </a:blipFill>
            </p:spPr>
            <p:txBody>
              <a:bodyPr/>
              <a:lstStyle/>
              <a:p>
                <a:r>
                  <a:rPr lang="en-US">
                    <a:noFill/>
                  </a:rPr>
                  <a:t> </a:t>
                </a:r>
              </a:p>
            </p:txBody>
          </p:sp>
        </mc:Fallback>
      </mc:AlternateContent>
      <p:cxnSp>
        <p:nvCxnSpPr>
          <p:cNvPr id="16" name="Conector de seta reta 15"/>
          <p:cNvCxnSpPr/>
          <p:nvPr/>
        </p:nvCxnSpPr>
        <p:spPr>
          <a:xfrm>
            <a:off x="2594162" y="3999331"/>
            <a:ext cx="2312893" cy="3178"/>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a:stCxn id="4" idx="3"/>
          </p:cNvCxnSpPr>
          <p:nvPr/>
        </p:nvCxnSpPr>
        <p:spPr>
          <a:xfrm flipV="1">
            <a:off x="8139953" y="3999331"/>
            <a:ext cx="1757082" cy="159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tângulo 13"/>
              <p:cNvSpPr/>
              <p:nvPr/>
            </p:nvSpPr>
            <p:spPr>
              <a:xfrm>
                <a:off x="8769724" y="3219616"/>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𝑦</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14" name="Retângulo 13"/>
              <p:cNvSpPr>
                <a:spLocks noRot="1" noChangeAspect="1" noMove="1" noResize="1" noEditPoints="1" noAdjustHandles="1" noChangeArrowheads="1" noChangeShapeType="1" noTextEdit="1"/>
              </p:cNvSpPr>
              <p:nvPr/>
            </p:nvSpPr>
            <p:spPr>
              <a:xfrm>
                <a:off x="8769724" y="3219616"/>
                <a:ext cx="1391770" cy="64633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363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p:cNvSpPr/>
              <p:nvPr/>
            </p:nvSpPr>
            <p:spPr>
              <a:xfrm>
                <a:off x="6514165" y="1487008"/>
                <a:ext cx="3232898" cy="1787618"/>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4400" b="1">
                    <a:solidFill>
                      <a:schemeClr val="tx2"/>
                    </a:solidFill>
                  </a:rPr>
                  <a:t>Vector de Estados</a:t>
                </a:r>
              </a:p>
              <a:p>
                <a:pPr algn="ctr"/>
                <a14:m>
                  <m:oMathPara xmlns:m="http://schemas.openxmlformats.org/officeDocument/2006/math">
                    <m:oMathParaPr>
                      <m:jc m:val="centerGroup"/>
                    </m:oMathParaPr>
                    <m:oMath xmlns:m="http://schemas.openxmlformats.org/officeDocument/2006/math">
                      <m:r>
                        <a:rPr lang="pt-BR" sz="2800" b="1" i="1" smtClean="0">
                          <a:solidFill>
                            <a:schemeClr val="tx2"/>
                          </a:solidFill>
                          <a:latin typeface="Cambria Math" panose="02040503050406030204" pitchFamily="18" charset="0"/>
                        </a:rPr>
                        <m:t>𝒙</m:t>
                      </m:r>
                      <m:r>
                        <a:rPr lang="pt-BR" sz="2800" b="1" i="1" smtClean="0">
                          <a:solidFill>
                            <a:schemeClr val="tx2"/>
                          </a:solidFill>
                          <a:latin typeface="Cambria Math" panose="02040503050406030204" pitchFamily="18" charset="0"/>
                        </a:rPr>
                        <m:t>(</m:t>
                      </m:r>
                      <m:r>
                        <a:rPr lang="en-US" sz="2800" b="1" i="1" smtClean="0">
                          <a:solidFill>
                            <a:schemeClr val="tx2"/>
                          </a:solidFill>
                          <a:latin typeface="Cambria Math" panose="02040503050406030204" pitchFamily="18" charset="0"/>
                        </a:rPr>
                        <m:t>𝒕</m:t>
                      </m:r>
                      <m:r>
                        <a:rPr lang="pt-BR" sz="2800" b="1" i="1" smtClean="0">
                          <a:solidFill>
                            <a:schemeClr val="tx2"/>
                          </a:solidFill>
                          <a:latin typeface="Cambria Math" panose="02040503050406030204" pitchFamily="18" charset="0"/>
                        </a:rPr>
                        <m:t>)</m:t>
                      </m:r>
                    </m:oMath>
                  </m:oMathPara>
                </a14:m>
                <a:endParaRPr lang="es-CO" sz="2800" b="1">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p:cNvSpPr>
                <a:spLocks noRot="1" noChangeAspect="1" noMove="1" noResize="1" noEditPoints="1" noAdjustHandles="1" noChangeArrowheads="1" noChangeShapeType="1" noTextEdit="1"/>
              </p:cNvSpPr>
              <p:nvPr/>
            </p:nvSpPr>
            <p:spPr>
              <a:xfrm>
                <a:off x="6514165" y="1487008"/>
                <a:ext cx="3232898" cy="1787618"/>
              </a:xfrm>
              <a:prstGeom prst="rect">
                <a:avLst/>
              </a:prstGeom>
              <a:blipFill>
                <a:blip r:embed="rId2"/>
                <a:stretch>
                  <a:fillRect t="-6757" b="-338"/>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tângulo 5"/>
              <p:cNvSpPr/>
              <p:nvPr/>
            </p:nvSpPr>
            <p:spPr>
              <a:xfrm>
                <a:off x="5028078" y="1734486"/>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i="1" smtClean="0">
                          <a:solidFill>
                            <a:schemeClr val="bg1"/>
                          </a:solidFill>
                          <a:latin typeface="Cambria Math" panose="02040503050406030204" pitchFamily="18" charset="0"/>
                        </a:rPr>
                        <m:t>𝑢</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p:cNvSpPr>
                <a:spLocks noRot="1" noChangeAspect="1" noMove="1" noResize="1" noEditPoints="1" noAdjustHandles="1" noChangeArrowheads="1" noChangeShapeType="1" noTextEdit="1"/>
              </p:cNvSpPr>
              <p:nvPr/>
            </p:nvSpPr>
            <p:spPr>
              <a:xfrm>
                <a:off x="5028078" y="1734486"/>
                <a:ext cx="1391770" cy="646331"/>
              </a:xfrm>
              <a:prstGeom prst="rect">
                <a:avLst/>
              </a:prstGeom>
              <a:blipFill>
                <a:blip r:embed="rId3"/>
                <a:stretch>
                  <a:fillRect/>
                </a:stretch>
              </a:blipFill>
            </p:spPr>
            <p:txBody>
              <a:bodyPr/>
              <a:lstStyle/>
              <a:p>
                <a:r>
                  <a:rPr lang="en-US">
                    <a:noFill/>
                  </a:rPr>
                  <a:t> </a:t>
                </a:r>
              </a:p>
            </p:txBody>
          </p:sp>
        </mc:Fallback>
      </mc:AlternateContent>
      <p:cxnSp>
        <p:nvCxnSpPr>
          <p:cNvPr id="16" name="Conector de seta reta 15"/>
          <p:cNvCxnSpPr>
            <a:endCxn id="4" idx="1"/>
          </p:cNvCxnSpPr>
          <p:nvPr/>
        </p:nvCxnSpPr>
        <p:spPr>
          <a:xfrm>
            <a:off x="5253318" y="2380817"/>
            <a:ext cx="1260847"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p:cNvCxnSpPr>
            <a:stCxn id="4" idx="3"/>
          </p:cNvCxnSpPr>
          <p:nvPr/>
        </p:nvCxnSpPr>
        <p:spPr>
          <a:xfrm flipV="1">
            <a:off x="9747063" y="2373655"/>
            <a:ext cx="1606737" cy="716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tângulo 13"/>
              <p:cNvSpPr/>
              <p:nvPr/>
            </p:nvSpPr>
            <p:spPr>
              <a:xfrm>
                <a:off x="9969501" y="1690688"/>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𝑦</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14" name="Retângulo 13"/>
              <p:cNvSpPr>
                <a:spLocks noRot="1" noChangeAspect="1" noMove="1" noResize="1" noEditPoints="1" noAdjustHandles="1" noChangeArrowheads="1" noChangeShapeType="1" noTextEdit="1"/>
              </p:cNvSpPr>
              <p:nvPr/>
            </p:nvSpPr>
            <p:spPr>
              <a:xfrm>
                <a:off x="9969501" y="1690688"/>
                <a:ext cx="1391770"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aixaDeTexto 16"/>
              <p:cNvSpPr txBox="1"/>
              <p:nvPr/>
            </p:nvSpPr>
            <p:spPr>
              <a:xfrm>
                <a:off x="528917" y="3980328"/>
                <a:ext cx="3070584" cy="2154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𝑢</m:t>
                      </m:r>
                      <m:d>
                        <m:dPr>
                          <m:ctrlPr>
                            <a:rPr lang="pt-BR"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pt-BR" sz="3600" b="0" i="1" smtClean="0">
                          <a:solidFill>
                            <a:schemeClr val="bg1"/>
                          </a:solidFill>
                          <a:latin typeface="Cambria Math" panose="02040503050406030204" pitchFamily="18" charset="0"/>
                        </a:rPr>
                        <m:t>=</m:t>
                      </m:r>
                      <m:d>
                        <m:dPr>
                          <m:begChr m:val="["/>
                          <m:endChr m:val="]"/>
                          <m:ctrlPr>
                            <a:rPr lang="pt-BR" sz="3600" b="0" i="1" smtClean="0">
                              <a:solidFill>
                                <a:schemeClr val="bg1"/>
                              </a:solidFill>
                              <a:latin typeface="Cambria Math" panose="02040503050406030204" pitchFamily="18" charset="0"/>
                            </a:rPr>
                          </m:ctrlPr>
                        </m:dP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1</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2</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r>
                                        <a:rPr lang="pt-BR" sz="3600" b="0" i="1" smtClean="0">
                                          <a:solidFill>
                                            <a:schemeClr val="bg1"/>
                                          </a:solidFill>
                                          <a:latin typeface="Cambria Math" panose="02040503050406030204" pitchFamily="18" charset="0"/>
                                        </a:rPr>
                                        <m:t>⋮</m:t>
                                      </m:r>
                                    </m:e>
                                  </m:m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𝑢</m:t>
                                          </m:r>
                                        </m:e>
                                        <m:sub>
                                          <m:r>
                                            <a:rPr lang="pt-BR" sz="3600" b="0" i="1" smtClean="0">
                                              <a:solidFill>
                                                <a:schemeClr val="bg1"/>
                                              </a:solidFill>
                                              <a:latin typeface="Cambria Math" panose="02040503050406030204" pitchFamily="18" charset="0"/>
                                            </a:rPr>
                                            <m:t>𝑟</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
                              </m:e>
                            </m:mr>
                          </m:m>
                        </m:e>
                      </m:d>
                    </m:oMath>
                  </m:oMathPara>
                </a14:m>
                <a:endParaRPr lang="es-CO" sz="3600">
                  <a:solidFill>
                    <a:schemeClr val="bg1"/>
                  </a:solidFill>
                </a:endParaRPr>
              </a:p>
            </p:txBody>
          </p:sp>
        </mc:Choice>
        <mc:Fallback>
          <p:sp>
            <p:nvSpPr>
              <p:cNvPr id="17" name="CaixaDeTexto 16"/>
              <p:cNvSpPr txBox="1">
                <a:spLocks noRot="1" noChangeAspect="1" noMove="1" noResize="1" noEditPoints="1" noAdjustHandles="1" noChangeArrowheads="1" noChangeShapeType="1" noTextEdit="1"/>
              </p:cNvSpPr>
              <p:nvPr/>
            </p:nvSpPr>
            <p:spPr>
              <a:xfrm>
                <a:off x="528917" y="3980328"/>
                <a:ext cx="3070584" cy="215482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CaixaDeTexto 19"/>
              <p:cNvSpPr txBox="1"/>
              <p:nvPr/>
            </p:nvSpPr>
            <p:spPr>
              <a:xfrm>
                <a:off x="4518709" y="3980328"/>
                <a:ext cx="3064942" cy="2154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𝑦</m:t>
                      </m:r>
                      <m:d>
                        <m:dPr>
                          <m:ctrlPr>
                            <a:rPr lang="pt-BR"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pt-BR" sz="3600" b="0" i="1" smtClean="0">
                          <a:solidFill>
                            <a:schemeClr val="bg1"/>
                          </a:solidFill>
                          <a:latin typeface="Cambria Math" panose="02040503050406030204" pitchFamily="18" charset="0"/>
                        </a:rPr>
                        <m:t>=</m:t>
                      </m:r>
                      <m:d>
                        <m:dPr>
                          <m:begChr m:val="["/>
                          <m:endChr m:val="]"/>
                          <m:ctrlPr>
                            <a:rPr lang="pt-BR" sz="3600" b="0" i="1" smtClean="0">
                              <a:solidFill>
                                <a:schemeClr val="bg1"/>
                              </a:solidFill>
                              <a:latin typeface="Cambria Math" panose="02040503050406030204" pitchFamily="18" charset="0"/>
                            </a:rPr>
                          </m:ctrlPr>
                        </m:dP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1</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2</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r>
                                        <a:rPr lang="pt-BR" sz="3600" b="0" i="1" smtClean="0">
                                          <a:solidFill>
                                            <a:schemeClr val="bg1"/>
                                          </a:solidFill>
                                          <a:latin typeface="Cambria Math" panose="02040503050406030204" pitchFamily="18" charset="0"/>
                                        </a:rPr>
                                        <m:t>⋮</m:t>
                                      </m:r>
                                    </m:e>
                                  </m:m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𝑦</m:t>
                                          </m:r>
                                        </m:e>
                                        <m:sub>
                                          <m:r>
                                            <a:rPr lang="pt-BR" sz="3600" b="0" i="1" smtClean="0">
                                              <a:solidFill>
                                                <a:schemeClr val="bg1"/>
                                              </a:solidFill>
                                              <a:latin typeface="Cambria Math" panose="02040503050406030204" pitchFamily="18" charset="0"/>
                                            </a:rPr>
                                            <m:t>𝑚</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
                              </m:e>
                            </m:mr>
                          </m:m>
                        </m:e>
                      </m:d>
                    </m:oMath>
                  </m:oMathPara>
                </a14:m>
                <a:endParaRPr lang="es-CO" sz="3600">
                  <a:solidFill>
                    <a:schemeClr val="bg1"/>
                  </a:solidFill>
                </a:endParaRPr>
              </a:p>
            </p:txBody>
          </p:sp>
        </mc:Choice>
        <mc:Fallback>
          <p:sp>
            <p:nvSpPr>
              <p:cNvPr id="20" name="CaixaDeTexto 19"/>
              <p:cNvSpPr txBox="1">
                <a:spLocks noRot="1" noChangeAspect="1" noMove="1" noResize="1" noEditPoints="1" noAdjustHandles="1" noChangeArrowheads="1" noChangeShapeType="1" noTextEdit="1"/>
              </p:cNvSpPr>
              <p:nvPr/>
            </p:nvSpPr>
            <p:spPr>
              <a:xfrm>
                <a:off x="4518709" y="3980328"/>
                <a:ext cx="3064942" cy="215482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CaixaDeTexto 20"/>
              <p:cNvSpPr txBox="1"/>
              <p:nvPr/>
            </p:nvSpPr>
            <p:spPr>
              <a:xfrm>
                <a:off x="8714191" y="3980328"/>
                <a:ext cx="2985304" cy="21548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𝑥</m:t>
                      </m:r>
                      <m:d>
                        <m:dPr>
                          <m:ctrlPr>
                            <a:rPr lang="pt-BR"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pt-BR" sz="3600" b="0" i="1" smtClean="0">
                          <a:solidFill>
                            <a:schemeClr val="bg1"/>
                          </a:solidFill>
                          <a:latin typeface="Cambria Math" panose="02040503050406030204" pitchFamily="18" charset="0"/>
                        </a:rPr>
                        <m:t>=</m:t>
                      </m:r>
                      <m:d>
                        <m:dPr>
                          <m:begChr m:val="["/>
                          <m:endChr m:val="]"/>
                          <m:ctrlPr>
                            <a:rPr lang="pt-BR" sz="3600" b="0" i="1" smtClean="0">
                              <a:solidFill>
                                <a:schemeClr val="bg1"/>
                              </a:solidFill>
                              <a:latin typeface="Cambria Math" panose="02040503050406030204" pitchFamily="18" charset="0"/>
                            </a:rPr>
                          </m:ctrlPr>
                        </m:dP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𝑥</m:t>
                                    </m:r>
                                  </m:e>
                                  <m:sub>
                                    <m:r>
                                      <a:rPr lang="pt-BR" sz="3600" b="0" i="1" smtClean="0">
                                        <a:solidFill>
                                          <a:schemeClr val="bg1"/>
                                        </a:solidFill>
                                        <a:latin typeface="Cambria Math" panose="02040503050406030204" pitchFamily="18" charset="0"/>
                                      </a:rPr>
                                      <m:t>1</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m>
                                  <m:mPr>
                                    <m:mcs>
                                      <m:mc>
                                        <m:mcPr>
                                          <m:count m:val="1"/>
                                          <m:mcJc m:val="center"/>
                                        </m:mcPr>
                                      </m:mc>
                                    </m:mcs>
                                    <m:ctrlPr>
                                      <a:rPr lang="pt-BR" sz="3600" b="0" i="1" smtClean="0">
                                        <a:solidFill>
                                          <a:schemeClr val="bg1"/>
                                        </a:solidFill>
                                        <a:latin typeface="Cambria Math" panose="02040503050406030204" pitchFamily="18" charset="0"/>
                                      </a:rPr>
                                    </m:ctrlPr>
                                  </m:mP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𝑥</m:t>
                                          </m:r>
                                        </m:e>
                                        <m:sub>
                                          <m:r>
                                            <a:rPr lang="pt-BR" sz="3600" b="0" i="1" smtClean="0">
                                              <a:solidFill>
                                                <a:schemeClr val="bg1"/>
                                              </a:solidFill>
                                              <a:latin typeface="Cambria Math" panose="02040503050406030204" pitchFamily="18" charset="0"/>
                                            </a:rPr>
                                            <m:t>2</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r>
                                    <m:e>
                                      <m:r>
                                        <a:rPr lang="pt-BR" sz="3600" b="0" i="1" smtClean="0">
                                          <a:solidFill>
                                            <a:schemeClr val="bg1"/>
                                          </a:solidFill>
                                          <a:latin typeface="Cambria Math" panose="02040503050406030204" pitchFamily="18" charset="0"/>
                                        </a:rPr>
                                        <m:t>⋮</m:t>
                                      </m:r>
                                    </m:e>
                                  </m:mr>
                                  <m:mr>
                                    <m:e>
                                      <m:sSub>
                                        <m:sSubPr>
                                          <m:ctrlPr>
                                            <a:rPr lang="pt-BR" sz="3600" b="0" i="1" smtClean="0">
                                              <a:solidFill>
                                                <a:schemeClr val="bg1"/>
                                              </a:solidFill>
                                              <a:latin typeface="Cambria Math" panose="02040503050406030204" pitchFamily="18" charset="0"/>
                                            </a:rPr>
                                          </m:ctrlPr>
                                        </m:sSubPr>
                                        <m:e>
                                          <m:r>
                                            <a:rPr lang="pt-BR" sz="3600" b="0" i="1" smtClean="0">
                                              <a:solidFill>
                                                <a:schemeClr val="bg1"/>
                                              </a:solidFill>
                                              <a:latin typeface="Cambria Math" panose="02040503050406030204" pitchFamily="18" charset="0"/>
                                            </a:rPr>
                                            <m:t>𝑥</m:t>
                                          </m:r>
                                        </m:e>
                                        <m:sub>
                                          <m:r>
                                            <a:rPr lang="pt-BR" sz="3600" b="0" i="1" smtClean="0">
                                              <a:solidFill>
                                                <a:schemeClr val="bg1"/>
                                              </a:solidFill>
                                              <a:latin typeface="Cambria Math" panose="02040503050406030204" pitchFamily="18" charset="0"/>
                                            </a:rPr>
                                            <m:t>𝑛</m:t>
                                          </m:r>
                                        </m:sub>
                                      </m:sSub>
                                      <m:r>
                                        <m:rPr>
                                          <m:brk m:alnAt="7"/>
                                        </m:rP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e>
                                  </m:mr>
                                </m:m>
                              </m:e>
                            </m:mr>
                          </m:m>
                        </m:e>
                      </m:d>
                    </m:oMath>
                  </m:oMathPara>
                </a14:m>
                <a:endParaRPr lang="es-CO" sz="3600">
                  <a:solidFill>
                    <a:schemeClr val="bg1"/>
                  </a:solidFill>
                </a:endParaRPr>
              </a:p>
            </p:txBody>
          </p:sp>
        </mc:Choice>
        <mc:Fallback>
          <p:sp>
            <p:nvSpPr>
              <p:cNvPr id="21" name="CaixaDeTexto 20"/>
              <p:cNvSpPr txBox="1">
                <a:spLocks noRot="1" noChangeAspect="1" noMove="1" noResize="1" noEditPoints="1" noAdjustHandles="1" noChangeArrowheads="1" noChangeShapeType="1" noTextEdit="1"/>
              </p:cNvSpPr>
              <p:nvPr/>
            </p:nvSpPr>
            <p:spPr>
              <a:xfrm>
                <a:off x="8714191" y="3980328"/>
                <a:ext cx="2985304" cy="2154821"/>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4172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48E6E-C01E-6ECA-ED73-9F075DE583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797ECA-8A46-7DCF-D647-43835380235C}"/>
              </a:ext>
            </a:extLst>
          </p:cNvPr>
          <p:cNvSpPr>
            <a:spLocks noGrp="1"/>
          </p:cNvSpPr>
          <p:nvPr>
            <p:ph type="title"/>
          </p:nvPr>
        </p:nvSpPr>
        <p:spPr/>
        <p:txBody>
          <a:bodyPr/>
          <a:lstStyle/>
          <a:p>
            <a:r>
              <a:rPr lang="es-CO" b="1"/>
              <a:t>Espacio de Estados</a:t>
            </a:r>
          </a:p>
        </p:txBody>
      </p:sp>
      <mc:AlternateContent xmlns:mc="http://schemas.openxmlformats.org/markup-compatibility/2006">
        <mc:Choice xmlns:a14="http://schemas.microsoft.com/office/drawing/2010/main" Requires="a14">
          <p:sp>
            <p:nvSpPr>
              <p:cNvPr id="4" name="Retângulo 3">
                <a:extLst>
                  <a:ext uri="{FF2B5EF4-FFF2-40B4-BE49-F238E27FC236}">
                    <a16:creationId xmlns:a16="http://schemas.microsoft.com/office/drawing/2014/main" id="{ACFE77AA-304F-1688-A5AA-A3854E8E460E}"/>
                  </a:ext>
                </a:extLst>
              </p:cNvPr>
              <p:cNvSpPr/>
              <p:nvPr/>
            </p:nvSpPr>
            <p:spPr>
              <a:xfrm>
                <a:off x="6514165" y="1487008"/>
                <a:ext cx="3232898" cy="1787618"/>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4400" b="1">
                    <a:solidFill>
                      <a:schemeClr val="tx2"/>
                    </a:solidFill>
                  </a:rPr>
                  <a:t>Vector de Estados</a:t>
                </a:r>
              </a:p>
              <a:p>
                <a:pPr algn="ctr"/>
                <a14:m>
                  <m:oMathPara xmlns:m="http://schemas.openxmlformats.org/officeDocument/2006/math">
                    <m:oMathParaPr>
                      <m:jc m:val="centerGroup"/>
                    </m:oMathParaPr>
                    <m:oMath xmlns:m="http://schemas.openxmlformats.org/officeDocument/2006/math">
                      <m:r>
                        <a:rPr lang="pt-BR" sz="2800" b="1" i="1" smtClean="0">
                          <a:solidFill>
                            <a:schemeClr val="tx2"/>
                          </a:solidFill>
                          <a:latin typeface="Cambria Math" panose="02040503050406030204" pitchFamily="18" charset="0"/>
                        </a:rPr>
                        <m:t>𝒙</m:t>
                      </m:r>
                      <m:r>
                        <a:rPr lang="pt-BR" sz="2800" b="1" i="1" smtClean="0">
                          <a:solidFill>
                            <a:schemeClr val="tx2"/>
                          </a:solidFill>
                          <a:latin typeface="Cambria Math" panose="02040503050406030204" pitchFamily="18" charset="0"/>
                        </a:rPr>
                        <m:t>(</m:t>
                      </m:r>
                      <m:r>
                        <a:rPr lang="en-US" sz="2800" b="1" i="1" smtClean="0">
                          <a:solidFill>
                            <a:schemeClr val="tx2"/>
                          </a:solidFill>
                          <a:latin typeface="Cambria Math" panose="02040503050406030204" pitchFamily="18" charset="0"/>
                        </a:rPr>
                        <m:t>𝒕</m:t>
                      </m:r>
                      <m:r>
                        <a:rPr lang="pt-BR" sz="2800" b="1" i="1" smtClean="0">
                          <a:solidFill>
                            <a:schemeClr val="tx2"/>
                          </a:solidFill>
                          <a:latin typeface="Cambria Math" panose="02040503050406030204" pitchFamily="18" charset="0"/>
                        </a:rPr>
                        <m:t>)</m:t>
                      </m:r>
                    </m:oMath>
                  </m:oMathPara>
                </a14:m>
                <a:endParaRPr lang="es-CO" sz="2800" b="1">
                  <a:solidFill>
                    <a:schemeClr val="tx2"/>
                  </a:solidFill>
                </a:endParaRPr>
              </a:p>
              <a:p>
                <a:pPr algn="ctr"/>
                <a:endParaRPr lang="es-CO" sz="2800">
                  <a:solidFill>
                    <a:schemeClr val="tx2"/>
                  </a:solidFill>
                </a:endParaRPr>
              </a:p>
              <a:p>
                <a:pPr algn="ctr"/>
                <a:endParaRPr lang="es-CO" sz="2800">
                  <a:solidFill>
                    <a:schemeClr val="tx2"/>
                  </a:solidFill>
                </a:endParaRPr>
              </a:p>
            </p:txBody>
          </p:sp>
        </mc:Choice>
        <mc:Fallback>
          <p:sp>
            <p:nvSpPr>
              <p:cNvPr id="4" name="Retângulo 3">
                <a:extLst>
                  <a:ext uri="{FF2B5EF4-FFF2-40B4-BE49-F238E27FC236}">
                    <a16:creationId xmlns:a16="http://schemas.microsoft.com/office/drawing/2014/main" id="{ACFE77AA-304F-1688-A5AA-A3854E8E460E}"/>
                  </a:ext>
                </a:extLst>
              </p:cNvPr>
              <p:cNvSpPr>
                <a:spLocks noRot="1" noChangeAspect="1" noMove="1" noResize="1" noEditPoints="1" noAdjustHandles="1" noChangeArrowheads="1" noChangeShapeType="1" noTextEdit="1"/>
              </p:cNvSpPr>
              <p:nvPr/>
            </p:nvSpPr>
            <p:spPr>
              <a:xfrm>
                <a:off x="6514165" y="1487008"/>
                <a:ext cx="3232898" cy="1787618"/>
              </a:xfrm>
              <a:prstGeom prst="rect">
                <a:avLst/>
              </a:prstGeom>
              <a:blipFill>
                <a:blip r:embed="rId2"/>
                <a:stretch>
                  <a:fillRect t="-6757" b="-338"/>
                </a:stretch>
              </a:blipFill>
              <a:ln>
                <a:solidFill>
                  <a:schemeClr val="tx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tângulo 5">
                <a:extLst>
                  <a:ext uri="{FF2B5EF4-FFF2-40B4-BE49-F238E27FC236}">
                    <a16:creationId xmlns:a16="http://schemas.microsoft.com/office/drawing/2014/main" id="{CFAEC3E1-EAB3-7660-F693-A5C589E5A23F}"/>
                  </a:ext>
                </a:extLst>
              </p:cNvPr>
              <p:cNvSpPr/>
              <p:nvPr/>
            </p:nvSpPr>
            <p:spPr>
              <a:xfrm>
                <a:off x="5028078" y="1734486"/>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i="1" smtClean="0">
                          <a:solidFill>
                            <a:schemeClr val="bg1"/>
                          </a:solidFill>
                          <a:latin typeface="Cambria Math" panose="02040503050406030204" pitchFamily="18" charset="0"/>
                        </a:rPr>
                        <m:t>𝑢</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6" name="Retângulo 5">
                <a:extLst>
                  <a:ext uri="{FF2B5EF4-FFF2-40B4-BE49-F238E27FC236}">
                    <a16:creationId xmlns:a16="http://schemas.microsoft.com/office/drawing/2014/main" id="{CFAEC3E1-EAB3-7660-F693-A5C589E5A23F}"/>
                  </a:ext>
                </a:extLst>
              </p:cNvPr>
              <p:cNvSpPr>
                <a:spLocks noRot="1" noChangeAspect="1" noMove="1" noResize="1" noEditPoints="1" noAdjustHandles="1" noChangeArrowheads="1" noChangeShapeType="1" noTextEdit="1"/>
              </p:cNvSpPr>
              <p:nvPr/>
            </p:nvSpPr>
            <p:spPr>
              <a:xfrm>
                <a:off x="5028078" y="1734486"/>
                <a:ext cx="1391770" cy="646331"/>
              </a:xfrm>
              <a:prstGeom prst="rect">
                <a:avLst/>
              </a:prstGeom>
              <a:blipFill>
                <a:blip r:embed="rId3"/>
                <a:stretch>
                  <a:fillRect/>
                </a:stretch>
              </a:blipFill>
            </p:spPr>
            <p:txBody>
              <a:bodyPr/>
              <a:lstStyle/>
              <a:p>
                <a:r>
                  <a:rPr lang="en-US">
                    <a:noFill/>
                  </a:rPr>
                  <a:t> </a:t>
                </a:r>
              </a:p>
            </p:txBody>
          </p:sp>
        </mc:Fallback>
      </mc:AlternateContent>
      <p:cxnSp>
        <p:nvCxnSpPr>
          <p:cNvPr id="16" name="Conector de seta reta 15">
            <a:extLst>
              <a:ext uri="{FF2B5EF4-FFF2-40B4-BE49-F238E27FC236}">
                <a16:creationId xmlns:a16="http://schemas.microsoft.com/office/drawing/2014/main" id="{4A50512A-4DDC-E9E8-A114-C063EF0593A8}"/>
              </a:ext>
            </a:extLst>
          </p:cNvPr>
          <p:cNvCxnSpPr>
            <a:endCxn id="4" idx="1"/>
          </p:cNvCxnSpPr>
          <p:nvPr/>
        </p:nvCxnSpPr>
        <p:spPr>
          <a:xfrm>
            <a:off x="5253318" y="2380817"/>
            <a:ext cx="1260847"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B6E135B2-ACE9-F809-EFFC-BD90338BD514}"/>
              </a:ext>
            </a:extLst>
          </p:cNvPr>
          <p:cNvCxnSpPr>
            <a:stCxn id="4" idx="3"/>
          </p:cNvCxnSpPr>
          <p:nvPr/>
        </p:nvCxnSpPr>
        <p:spPr>
          <a:xfrm flipV="1">
            <a:off x="9747063" y="2373655"/>
            <a:ext cx="1606737" cy="716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Retângulo 13">
                <a:extLst>
                  <a:ext uri="{FF2B5EF4-FFF2-40B4-BE49-F238E27FC236}">
                    <a16:creationId xmlns:a16="http://schemas.microsoft.com/office/drawing/2014/main" id="{F6C7D269-4A84-4422-0089-D323B506CE09}"/>
                  </a:ext>
                </a:extLst>
              </p:cNvPr>
              <p:cNvSpPr/>
              <p:nvPr/>
            </p:nvSpPr>
            <p:spPr>
              <a:xfrm>
                <a:off x="9969501" y="1690688"/>
                <a:ext cx="1391770" cy="646331"/>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3600" b="0" i="1" smtClean="0">
                          <a:solidFill>
                            <a:schemeClr val="bg1"/>
                          </a:solidFill>
                          <a:latin typeface="Cambria Math" panose="02040503050406030204" pitchFamily="18" charset="0"/>
                        </a:rPr>
                        <m:t>𝑦</m:t>
                      </m:r>
                      <m:r>
                        <a:rPr lang="pt-BR"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𝑡</m:t>
                      </m:r>
                      <m:r>
                        <a:rPr lang="pt-BR" sz="3600" b="0" i="1" smtClean="0">
                          <a:solidFill>
                            <a:schemeClr val="bg1"/>
                          </a:solidFill>
                          <a:latin typeface="Cambria Math" panose="02040503050406030204" pitchFamily="18" charset="0"/>
                        </a:rPr>
                        <m:t>)</m:t>
                      </m:r>
                    </m:oMath>
                  </m:oMathPara>
                </a14:m>
                <a:endParaRPr lang="es-CO" sz="3600">
                  <a:solidFill>
                    <a:schemeClr val="bg1"/>
                  </a:solidFill>
                </a:endParaRPr>
              </a:p>
            </p:txBody>
          </p:sp>
        </mc:Choice>
        <mc:Fallback>
          <p:sp>
            <p:nvSpPr>
              <p:cNvPr id="14" name="Retângulo 13">
                <a:extLst>
                  <a:ext uri="{FF2B5EF4-FFF2-40B4-BE49-F238E27FC236}">
                    <a16:creationId xmlns:a16="http://schemas.microsoft.com/office/drawing/2014/main" id="{F6C7D269-4A84-4422-0089-D323B506CE09}"/>
                  </a:ext>
                </a:extLst>
              </p:cNvPr>
              <p:cNvSpPr>
                <a:spLocks noRot="1" noChangeAspect="1" noMove="1" noResize="1" noEditPoints="1" noAdjustHandles="1" noChangeArrowheads="1" noChangeShapeType="1" noTextEdit="1"/>
              </p:cNvSpPr>
              <p:nvPr/>
            </p:nvSpPr>
            <p:spPr>
              <a:xfrm>
                <a:off x="9969501" y="1690688"/>
                <a:ext cx="1391770" cy="6463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D512DF5E-A66C-30EF-A639-736FD7163D89}"/>
                  </a:ext>
                </a:extLst>
              </p:cNvPr>
              <p:cNvSpPr txBox="1"/>
              <p:nvPr/>
            </p:nvSpPr>
            <p:spPr>
              <a:xfrm>
                <a:off x="528917" y="3980328"/>
                <a:ext cx="436658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600" b="0" i="1" smtClean="0">
                              <a:solidFill>
                                <a:schemeClr val="bg1"/>
                              </a:solidFill>
                              <a:latin typeface="Cambria Math" panose="02040503050406030204" pitchFamily="18" charset="0"/>
                            </a:rPr>
                          </m:ctrlPr>
                        </m:accPr>
                        <m:e>
                          <m:r>
                            <a:rPr lang="en-US" sz="3600" b="0" i="1" smtClean="0">
                              <a:solidFill>
                                <a:schemeClr val="bg1"/>
                              </a:solidFill>
                              <a:latin typeface="Cambria Math" panose="02040503050406030204" pitchFamily="18" charset="0"/>
                            </a:rPr>
                            <m:t>𝑥</m:t>
                          </m:r>
                        </m:e>
                      </m:acc>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en-US"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𝐴𝑥</m:t>
                      </m:r>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en-US"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𝐵𝑢</m:t>
                      </m:r>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oMath>
                  </m:oMathPara>
                </a14:m>
                <a:endParaRPr lang="es-CO" sz="3600">
                  <a:solidFill>
                    <a:schemeClr val="bg1"/>
                  </a:solidFill>
                </a:endParaRPr>
              </a:p>
            </p:txBody>
          </p:sp>
        </mc:Choice>
        <mc:Fallback>
          <p:sp>
            <p:nvSpPr>
              <p:cNvPr id="17" name="CaixaDeTexto 16">
                <a:extLst>
                  <a:ext uri="{FF2B5EF4-FFF2-40B4-BE49-F238E27FC236}">
                    <a16:creationId xmlns:a16="http://schemas.microsoft.com/office/drawing/2014/main" id="{D512DF5E-A66C-30EF-A639-736FD7163D89}"/>
                  </a:ext>
                </a:extLst>
              </p:cNvPr>
              <p:cNvSpPr txBox="1">
                <a:spLocks noRot="1" noChangeAspect="1" noMove="1" noResize="1" noEditPoints="1" noAdjustHandles="1" noChangeArrowheads="1" noChangeShapeType="1" noTextEdit="1"/>
              </p:cNvSpPr>
              <p:nvPr/>
            </p:nvSpPr>
            <p:spPr>
              <a:xfrm>
                <a:off x="528917" y="3980328"/>
                <a:ext cx="4366580" cy="5539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aixaDeTexto 16">
                <a:extLst>
                  <a:ext uri="{FF2B5EF4-FFF2-40B4-BE49-F238E27FC236}">
                    <a16:creationId xmlns:a16="http://schemas.microsoft.com/office/drawing/2014/main" id="{5F9D9022-3728-4861-9716-33EEA476CA0E}"/>
                  </a:ext>
                </a:extLst>
              </p:cNvPr>
              <p:cNvSpPr txBox="1"/>
              <p:nvPr/>
            </p:nvSpPr>
            <p:spPr>
              <a:xfrm>
                <a:off x="528917" y="4658754"/>
                <a:ext cx="4366580"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bg1"/>
                          </a:solidFill>
                          <a:latin typeface="Cambria Math" panose="02040503050406030204" pitchFamily="18" charset="0"/>
                        </a:rPr>
                        <m:t>𝑦</m:t>
                      </m:r>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en-US"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𝐶𝑥</m:t>
                      </m:r>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r>
                        <a:rPr lang="en-US" sz="3600" b="0" i="1" smtClean="0">
                          <a:solidFill>
                            <a:schemeClr val="bg1"/>
                          </a:solidFill>
                          <a:latin typeface="Cambria Math" panose="02040503050406030204" pitchFamily="18" charset="0"/>
                        </a:rPr>
                        <m:t>+</m:t>
                      </m:r>
                      <m:r>
                        <a:rPr lang="en-US" sz="3600" b="0" i="1" smtClean="0">
                          <a:solidFill>
                            <a:schemeClr val="bg1"/>
                          </a:solidFill>
                          <a:latin typeface="Cambria Math" panose="02040503050406030204" pitchFamily="18" charset="0"/>
                        </a:rPr>
                        <m:t>𝐷𝑢</m:t>
                      </m:r>
                      <m:d>
                        <m:dPr>
                          <m:ctrlPr>
                            <a:rPr lang="en-US" sz="3600" b="0" i="1" smtClean="0">
                              <a:solidFill>
                                <a:schemeClr val="bg1"/>
                              </a:solidFill>
                              <a:latin typeface="Cambria Math" panose="02040503050406030204" pitchFamily="18" charset="0"/>
                            </a:rPr>
                          </m:ctrlPr>
                        </m:dPr>
                        <m:e>
                          <m:r>
                            <a:rPr lang="en-US" sz="3600" b="0" i="1" smtClean="0">
                              <a:solidFill>
                                <a:schemeClr val="bg1"/>
                              </a:solidFill>
                              <a:latin typeface="Cambria Math" panose="02040503050406030204" pitchFamily="18" charset="0"/>
                            </a:rPr>
                            <m:t>𝑡</m:t>
                          </m:r>
                        </m:e>
                      </m:d>
                    </m:oMath>
                  </m:oMathPara>
                </a14:m>
                <a:endParaRPr lang="es-CO" sz="3600">
                  <a:solidFill>
                    <a:schemeClr val="bg1"/>
                  </a:solidFill>
                </a:endParaRPr>
              </a:p>
            </p:txBody>
          </p:sp>
        </mc:Choice>
        <mc:Fallback>
          <p:sp>
            <p:nvSpPr>
              <p:cNvPr id="3" name="CaixaDeTexto 16">
                <a:extLst>
                  <a:ext uri="{FF2B5EF4-FFF2-40B4-BE49-F238E27FC236}">
                    <a16:creationId xmlns:a16="http://schemas.microsoft.com/office/drawing/2014/main" id="{5F9D9022-3728-4861-9716-33EEA476CA0E}"/>
                  </a:ext>
                </a:extLst>
              </p:cNvPr>
              <p:cNvSpPr txBox="1">
                <a:spLocks noRot="1" noChangeAspect="1" noMove="1" noResize="1" noEditPoints="1" noAdjustHandles="1" noChangeArrowheads="1" noChangeShapeType="1" noTextEdit="1"/>
              </p:cNvSpPr>
              <p:nvPr/>
            </p:nvSpPr>
            <p:spPr>
              <a:xfrm>
                <a:off x="528917" y="4658754"/>
                <a:ext cx="4366580" cy="553998"/>
              </a:xfrm>
              <a:prstGeom prst="rect">
                <a:avLst/>
              </a:prstGeom>
              <a:blipFill>
                <a:blip r:embed="rId6"/>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22E711B-6B92-AAB9-9F60-816D2B7AF47B}"/>
              </a:ext>
            </a:extLst>
          </p:cNvPr>
          <p:cNvSpPr txBox="1"/>
          <p:nvPr/>
        </p:nvSpPr>
        <p:spPr>
          <a:xfrm>
            <a:off x="6198953" y="3957593"/>
            <a:ext cx="3863322" cy="1815882"/>
          </a:xfrm>
          <a:prstGeom prst="rect">
            <a:avLst/>
          </a:prstGeom>
          <a:noFill/>
        </p:spPr>
        <p:txBody>
          <a:bodyPr wrap="square">
            <a:spAutoFit/>
          </a:bodyPr>
          <a:lstStyle/>
          <a:p>
            <a:r>
              <a:rPr lang="es-CO" sz="2800">
                <a:solidFill>
                  <a:schemeClr val="bg1"/>
                </a:solidFill>
              </a:rPr>
              <a:t>A= Matriz dinámica</a:t>
            </a:r>
          </a:p>
          <a:p>
            <a:r>
              <a:rPr lang="es-CO" sz="2800">
                <a:solidFill>
                  <a:schemeClr val="bg1"/>
                </a:solidFill>
              </a:rPr>
              <a:t>B= Matriz de control</a:t>
            </a:r>
          </a:p>
          <a:p>
            <a:r>
              <a:rPr lang="es-CO" sz="2800">
                <a:solidFill>
                  <a:schemeClr val="bg1"/>
                </a:solidFill>
              </a:rPr>
              <a:t>C= Matriz de lectura</a:t>
            </a:r>
          </a:p>
          <a:p>
            <a:r>
              <a:rPr lang="es-CO" sz="2800">
                <a:solidFill>
                  <a:schemeClr val="bg1"/>
                </a:solidFill>
              </a:rPr>
              <a:t>D= Matriz de paso</a:t>
            </a:r>
          </a:p>
        </p:txBody>
      </p:sp>
    </p:spTree>
    <p:extLst>
      <p:ext uri="{BB962C8B-B14F-4D97-AF65-F5344CB8AC3E}">
        <p14:creationId xmlns:p14="http://schemas.microsoft.com/office/powerpoint/2010/main" val="163369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2460F4-AF0D-84E3-BA5C-8ED23F632E00}"/>
              </a:ext>
            </a:extLst>
          </p:cNvPr>
          <p:cNvSpPr>
            <a:spLocks noGrp="1"/>
          </p:cNvSpPr>
          <p:nvPr>
            <p:ph type="title"/>
          </p:nvPr>
        </p:nvSpPr>
        <p:spPr>
          <a:xfrm>
            <a:off x="838200" y="184151"/>
            <a:ext cx="10515600" cy="673100"/>
          </a:xfrm>
        </p:spPr>
        <p:txBody>
          <a:bodyPr>
            <a:normAutofit fontScale="90000"/>
          </a:bodyPr>
          <a:lstStyle/>
          <a:p>
            <a:r>
              <a:rPr lang="es-MX"/>
              <a:t>Solución de la Ecuación de Estados</a:t>
            </a:r>
            <a:endParaRPr lang="es-CO"/>
          </a:p>
        </p:txBody>
      </p:sp>
      <mc:AlternateContent xmlns:mc="http://schemas.openxmlformats.org/markup-compatibility/2006">
        <mc:Choice xmlns:a14="http://schemas.microsoft.com/office/drawing/2010/main" Requires="a14">
          <p:sp>
            <p:nvSpPr>
              <p:cNvPr id="4" name="TextBox 2">
                <a:extLst>
                  <a:ext uri="{FF2B5EF4-FFF2-40B4-BE49-F238E27FC236}">
                    <a16:creationId xmlns:a16="http://schemas.microsoft.com/office/drawing/2014/main" id="{6675330C-AC26-9805-4BA2-F7D970F5F379}"/>
                  </a:ext>
                </a:extLst>
              </p:cNvPr>
              <p:cNvSpPr txBox="1"/>
              <p:nvPr/>
            </p:nvSpPr>
            <p:spPr>
              <a:xfrm>
                <a:off x="666750" y="826294"/>
                <a:ext cx="2347822" cy="984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CO" sz="3200" i="1" smtClean="0">
                              <a:solidFill>
                                <a:schemeClr val="bg1"/>
                              </a:solidFill>
                              <a:latin typeface="Cambria Math" panose="02040503050406030204" pitchFamily="18" charset="0"/>
                            </a:rPr>
                          </m:ctrlPr>
                        </m:accPr>
                        <m:e>
                          <m:r>
                            <a:rPr lang="en-US" sz="3200" b="0" i="1" smtClean="0">
                              <a:solidFill>
                                <a:schemeClr val="bg1"/>
                              </a:solidFill>
                              <a:latin typeface="Cambria Math" panose="02040503050406030204" pitchFamily="18" charset="0"/>
                            </a:rPr>
                            <m:t>𝑥</m:t>
                          </m:r>
                        </m:e>
                      </m:acc>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𝐴𝑥</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𝐵𝑢</m:t>
                      </m:r>
                    </m:oMath>
                    <m:oMath xmlns:m="http://schemas.openxmlformats.org/officeDocument/2006/math">
                      <m:r>
                        <a:rPr lang="en-US" sz="3200" b="0" i="1" smtClean="0">
                          <a:solidFill>
                            <a:schemeClr val="bg1"/>
                          </a:solidFill>
                          <a:latin typeface="Cambria Math" panose="02040503050406030204" pitchFamily="18" charset="0"/>
                        </a:rPr>
                        <m:t>𝑦</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𝐶𝑥</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𝐷𝑢</m:t>
                      </m:r>
                    </m:oMath>
                  </m:oMathPara>
                </a14:m>
                <a:endParaRPr lang="es-CO" sz="2400"/>
              </a:p>
            </p:txBody>
          </p:sp>
        </mc:Choice>
        <mc:Fallback>
          <p:sp>
            <p:nvSpPr>
              <p:cNvPr id="4" name="TextBox 2">
                <a:extLst>
                  <a:ext uri="{FF2B5EF4-FFF2-40B4-BE49-F238E27FC236}">
                    <a16:creationId xmlns:a16="http://schemas.microsoft.com/office/drawing/2014/main" id="{6675330C-AC26-9805-4BA2-F7D970F5F379}"/>
                  </a:ext>
                </a:extLst>
              </p:cNvPr>
              <p:cNvSpPr txBox="1">
                <a:spLocks noRot="1" noChangeAspect="1" noMove="1" noResize="1" noEditPoints="1" noAdjustHandles="1" noChangeArrowheads="1" noChangeShapeType="1" noTextEdit="1"/>
              </p:cNvSpPr>
              <p:nvPr/>
            </p:nvSpPr>
            <p:spPr>
              <a:xfrm>
                <a:off x="666750" y="826294"/>
                <a:ext cx="2347822" cy="98488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3">
                <a:extLst>
                  <a:ext uri="{FF2B5EF4-FFF2-40B4-BE49-F238E27FC236}">
                    <a16:creationId xmlns:a16="http://schemas.microsoft.com/office/drawing/2014/main" id="{49179D8D-4A7B-AE1C-609B-5B2FC099988C}"/>
                  </a:ext>
                </a:extLst>
              </p:cNvPr>
              <p:cNvSpPr txBox="1"/>
              <p:nvPr/>
            </p:nvSpPr>
            <p:spPr>
              <a:xfrm>
                <a:off x="666750" y="2444115"/>
                <a:ext cx="5613203" cy="9848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𝑠𝑋</m:t>
                      </m:r>
                      <m:d>
                        <m:dPr>
                          <m:ctrlPr>
                            <a:rPr lang="en-US" sz="3200" b="0" i="1" smtClean="0">
                              <a:solidFill>
                                <a:schemeClr val="bg1"/>
                              </a:solidFill>
                              <a:latin typeface="Cambria Math" panose="02040503050406030204" pitchFamily="18" charset="0"/>
                            </a:rPr>
                          </m:ctrlPr>
                        </m:dPr>
                        <m:e>
                          <m:r>
                            <a:rPr lang="en-US" sz="3200" b="0" i="1" smtClean="0">
                              <a:solidFill>
                                <a:schemeClr val="bg1"/>
                              </a:solidFill>
                              <a:latin typeface="Cambria Math" panose="02040503050406030204" pitchFamily="18" charset="0"/>
                            </a:rPr>
                            <m:t>𝑠</m:t>
                          </m:r>
                        </m:e>
                      </m:d>
                      <m:r>
                        <a:rPr lang="es-MX" sz="3200" b="0" i="1" smtClean="0">
                          <a:solidFill>
                            <a:schemeClr val="bg1"/>
                          </a:solidFill>
                          <a:latin typeface="Cambria Math" panose="02040503050406030204" pitchFamily="18" charset="0"/>
                        </a:rPr>
                        <m:t>−</m:t>
                      </m:r>
                      <m:r>
                        <a:rPr lang="es-MX" sz="3200" b="0" i="1" smtClean="0">
                          <a:solidFill>
                            <a:schemeClr val="bg1"/>
                          </a:solidFill>
                          <a:latin typeface="Cambria Math" panose="02040503050406030204" pitchFamily="18" charset="0"/>
                        </a:rPr>
                        <m:t>𝑋</m:t>
                      </m:r>
                      <m:d>
                        <m:dPr>
                          <m:ctrlPr>
                            <a:rPr lang="es-MX"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0</m:t>
                          </m:r>
                        </m:e>
                      </m:d>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𝐴𝑋</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𝐵𝑈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 xmlns:m="http://schemas.openxmlformats.org/officeDocument/2006/math">
                      <m:r>
                        <m:rPr>
                          <m:sty m:val="p"/>
                        </m:rPr>
                        <a:rPr lang="en-US" sz="3200" b="0" i="0" smtClean="0">
                          <a:solidFill>
                            <a:schemeClr val="bg1"/>
                          </a:solidFill>
                          <a:latin typeface="Cambria Math" panose="02040503050406030204" pitchFamily="18" charset="0"/>
                        </a:rPr>
                        <m:t>Y</m:t>
                      </m:r>
                      <m:r>
                        <a:rPr lang="en-US" sz="3200" b="0" i="0" smtClean="0">
                          <a:solidFill>
                            <a:schemeClr val="bg1"/>
                          </a:solidFill>
                          <a:latin typeface="Cambria Math" panose="02040503050406030204" pitchFamily="18" charset="0"/>
                        </a:rPr>
                        <m:t>(</m:t>
                      </m:r>
                      <m:r>
                        <m:rPr>
                          <m:sty m:val="p"/>
                        </m:rPr>
                        <a:rPr lang="en-US" sz="3200" b="0" i="0" smtClean="0">
                          <a:solidFill>
                            <a:schemeClr val="bg1"/>
                          </a:solidFill>
                          <a:latin typeface="Cambria Math" panose="02040503050406030204" pitchFamily="18" charset="0"/>
                        </a:rPr>
                        <m:t>s</m:t>
                      </m:r>
                      <m:r>
                        <a:rPr lang="en-US" sz="3200" b="0" i="0"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𝐶𝑋</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𝐷𝑈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endParaRPr lang="es-CO" sz="2400"/>
              </a:p>
            </p:txBody>
          </p:sp>
        </mc:Choice>
        <mc:Fallback>
          <p:sp>
            <p:nvSpPr>
              <p:cNvPr id="5" name="TextBox 3">
                <a:extLst>
                  <a:ext uri="{FF2B5EF4-FFF2-40B4-BE49-F238E27FC236}">
                    <a16:creationId xmlns:a16="http://schemas.microsoft.com/office/drawing/2014/main" id="{49179D8D-4A7B-AE1C-609B-5B2FC099988C}"/>
                  </a:ext>
                </a:extLst>
              </p:cNvPr>
              <p:cNvSpPr txBox="1">
                <a:spLocks noRot="1" noChangeAspect="1" noMove="1" noResize="1" noEditPoints="1" noAdjustHandles="1" noChangeArrowheads="1" noChangeShapeType="1" noTextEdit="1"/>
              </p:cNvSpPr>
              <p:nvPr/>
            </p:nvSpPr>
            <p:spPr>
              <a:xfrm>
                <a:off x="666750" y="2444115"/>
                <a:ext cx="5613203" cy="984885"/>
              </a:xfrm>
              <a:prstGeom prst="rect">
                <a:avLst/>
              </a:prstGeom>
              <a:blipFill>
                <a:blip r:embed="rId3"/>
                <a:stretch>
                  <a:fillRect/>
                </a:stretch>
              </a:blipFill>
            </p:spPr>
            <p:txBody>
              <a:bodyPr/>
              <a:lstStyle/>
              <a:p>
                <a:r>
                  <a:rPr lang="en-US">
                    <a:noFill/>
                  </a:rPr>
                  <a:t> </a:t>
                </a:r>
              </a:p>
            </p:txBody>
          </p:sp>
        </mc:Fallback>
      </mc:AlternateContent>
      <p:sp>
        <p:nvSpPr>
          <p:cNvPr id="6" name="TextBox 4">
            <a:extLst>
              <a:ext uri="{FF2B5EF4-FFF2-40B4-BE49-F238E27FC236}">
                <a16:creationId xmlns:a16="http://schemas.microsoft.com/office/drawing/2014/main" id="{DA50C2F8-700D-BBCD-C5A5-B53D5E299344}"/>
              </a:ext>
            </a:extLst>
          </p:cNvPr>
          <p:cNvSpPr txBox="1"/>
          <p:nvPr/>
        </p:nvSpPr>
        <p:spPr>
          <a:xfrm>
            <a:off x="466725" y="2053589"/>
            <a:ext cx="2703241" cy="369332"/>
          </a:xfrm>
          <a:prstGeom prst="rect">
            <a:avLst/>
          </a:prstGeom>
          <a:noFill/>
        </p:spPr>
        <p:txBody>
          <a:bodyPr wrap="none" rtlCol="0">
            <a:spAutoFit/>
          </a:bodyPr>
          <a:lstStyle/>
          <a:p>
            <a:r>
              <a:rPr lang="es-CO">
                <a:solidFill>
                  <a:schemeClr val="accent1"/>
                </a:solidFill>
              </a:rPr>
              <a:t>Transformada de Laplace</a:t>
            </a:r>
          </a:p>
        </p:txBody>
      </p:sp>
      <mc:AlternateContent xmlns:mc="http://schemas.openxmlformats.org/markup-compatibility/2006">
        <mc:Choice xmlns:a14="http://schemas.microsoft.com/office/drawing/2010/main" Requires="a14">
          <p:sp>
            <p:nvSpPr>
              <p:cNvPr id="7" name="TextBox 12">
                <a:extLst>
                  <a:ext uri="{FF2B5EF4-FFF2-40B4-BE49-F238E27FC236}">
                    <a16:creationId xmlns:a16="http://schemas.microsoft.com/office/drawing/2014/main" id="{092B9D25-A3AA-6DA4-8362-0ED902133236}"/>
                  </a:ext>
                </a:extLst>
              </p:cNvPr>
              <p:cNvSpPr txBox="1"/>
              <p:nvPr/>
            </p:nvSpPr>
            <p:spPr>
              <a:xfrm>
                <a:off x="666750" y="3619259"/>
                <a:ext cx="5308826" cy="492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3200" i="1" smtClean="0">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r>
                        <a:rPr lang="en-US" sz="3200" b="0" i="1" smtClean="0">
                          <a:solidFill>
                            <a:schemeClr val="bg1"/>
                          </a:solidFill>
                          <a:latin typeface="Cambria Math" panose="02040503050406030204" pitchFamily="18" charset="0"/>
                        </a:rPr>
                        <m:t>𝑋</m:t>
                      </m:r>
                      <m:d>
                        <m:dPr>
                          <m:ctrlPr>
                            <a:rPr lang="en-US" sz="3200" b="0" i="1" smtClean="0">
                              <a:solidFill>
                                <a:schemeClr val="bg1"/>
                              </a:solidFill>
                              <a:latin typeface="Cambria Math" panose="02040503050406030204" pitchFamily="18" charset="0"/>
                            </a:rPr>
                          </m:ctrlPr>
                        </m:dPr>
                        <m:e>
                          <m:r>
                            <a:rPr lang="en-US" sz="3200" b="0" i="1" smtClean="0">
                              <a:solidFill>
                                <a:schemeClr val="bg1"/>
                              </a:solidFill>
                              <a:latin typeface="Cambria Math" panose="02040503050406030204" pitchFamily="18" charset="0"/>
                            </a:rPr>
                            <m:t>𝑠</m:t>
                          </m:r>
                        </m:e>
                      </m:d>
                      <m:r>
                        <a:rPr lang="en-US" sz="3200" b="0" i="1" smtClean="0">
                          <a:solidFill>
                            <a:schemeClr val="bg1"/>
                          </a:solidFill>
                          <a:latin typeface="Cambria Math" panose="02040503050406030204" pitchFamily="18" charset="0"/>
                        </a:rPr>
                        <m:t>=</m:t>
                      </m:r>
                      <m:r>
                        <a:rPr lang="es-MX" sz="3200" b="0" i="1" smtClean="0">
                          <a:solidFill>
                            <a:schemeClr val="bg1"/>
                          </a:solidFill>
                          <a:latin typeface="Cambria Math" panose="02040503050406030204" pitchFamily="18" charset="0"/>
                        </a:rPr>
                        <m:t>𝑋</m:t>
                      </m:r>
                      <m:d>
                        <m:dPr>
                          <m:ctrlPr>
                            <a:rPr lang="es-MX"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0</m:t>
                          </m:r>
                        </m:e>
                      </m:d>
                      <m:r>
                        <a:rPr lang="es-MX"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𝐵𝑈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br>
                  <a:rPr lang="en-US" sz="3200" b="0">
                    <a:solidFill>
                      <a:schemeClr val="bg1"/>
                    </a:solidFill>
                  </a:rPr>
                </a:br>
                <a:endParaRPr lang="es-CO" sz="2400"/>
              </a:p>
            </p:txBody>
          </p:sp>
        </mc:Choice>
        <mc:Fallback>
          <p:sp>
            <p:nvSpPr>
              <p:cNvPr id="7" name="TextBox 12">
                <a:extLst>
                  <a:ext uri="{FF2B5EF4-FFF2-40B4-BE49-F238E27FC236}">
                    <a16:creationId xmlns:a16="http://schemas.microsoft.com/office/drawing/2014/main" id="{092B9D25-A3AA-6DA4-8362-0ED902133236}"/>
                  </a:ext>
                </a:extLst>
              </p:cNvPr>
              <p:cNvSpPr txBox="1">
                <a:spLocks noRot="1" noChangeAspect="1" noMove="1" noResize="1" noEditPoints="1" noAdjustHandles="1" noChangeArrowheads="1" noChangeShapeType="1" noTextEdit="1"/>
              </p:cNvSpPr>
              <p:nvPr/>
            </p:nvSpPr>
            <p:spPr>
              <a:xfrm>
                <a:off x="666750" y="3619259"/>
                <a:ext cx="5308826" cy="49250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12">
                <a:extLst>
                  <a:ext uri="{FF2B5EF4-FFF2-40B4-BE49-F238E27FC236}">
                    <a16:creationId xmlns:a16="http://schemas.microsoft.com/office/drawing/2014/main" id="{5485DAB4-1D3E-D291-F08C-9FDA027FFA34}"/>
                  </a:ext>
                </a:extLst>
              </p:cNvPr>
              <p:cNvSpPr txBox="1"/>
              <p:nvPr/>
            </p:nvSpPr>
            <p:spPr>
              <a:xfrm>
                <a:off x="1162050" y="4523357"/>
                <a:ext cx="8111323" cy="492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𝑋</m:t>
                      </m:r>
                      <m:d>
                        <m:dPr>
                          <m:ctrlPr>
                            <a:rPr lang="en-US" sz="3200" b="0" i="1" smtClean="0">
                              <a:solidFill>
                                <a:schemeClr val="bg1"/>
                              </a:solidFill>
                              <a:latin typeface="Cambria Math" panose="02040503050406030204" pitchFamily="18" charset="0"/>
                            </a:rPr>
                          </m:ctrlPr>
                        </m:dPr>
                        <m:e>
                          <m:r>
                            <a:rPr lang="en-US" sz="3200" b="0" i="1" smtClean="0">
                              <a:solidFill>
                                <a:schemeClr val="bg1"/>
                              </a:solidFill>
                              <a:latin typeface="Cambria Math" panose="02040503050406030204" pitchFamily="18" charset="0"/>
                            </a:rPr>
                            <m:t>𝑠</m:t>
                          </m:r>
                        </m:e>
                      </m:d>
                      <m:r>
                        <a:rPr lang="en-US" sz="3200" b="0" i="1" smtClean="0">
                          <a:solidFill>
                            <a:schemeClr val="bg1"/>
                          </a:solidFill>
                          <a:latin typeface="Cambria Math" panose="02040503050406030204" pitchFamily="18" charset="0"/>
                        </a:rPr>
                        <m:t>=</m:t>
                      </m:r>
                      <m:sSup>
                        <m:sSupPr>
                          <m:ctrlPr>
                            <a:rPr lang="es-MX" sz="3200" b="0" i="1" smtClean="0">
                              <a:solidFill>
                                <a:schemeClr val="bg1"/>
                              </a:solidFill>
                              <a:latin typeface="Cambria Math" panose="02040503050406030204" pitchFamily="18" charset="0"/>
                            </a:rPr>
                          </m:ctrlPr>
                        </m:sSupPr>
                        <m:e>
                          <m:d>
                            <m:dPr>
                              <m:ctrlPr>
                                <a:rPr lang="en-US" sz="3200" i="1">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e>
                        <m:sup>
                          <m:r>
                            <a:rPr lang="es-MX" sz="3200" b="0" i="1" smtClean="0">
                              <a:solidFill>
                                <a:schemeClr val="bg1"/>
                              </a:solidFill>
                              <a:latin typeface="Cambria Math" panose="02040503050406030204" pitchFamily="18" charset="0"/>
                            </a:rPr>
                            <m:t>−1</m:t>
                          </m:r>
                        </m:sup>
                      </m:sSup>
                      <m:r>
                        <a:rPr lang="es-MX" sz="3200" b="0" i="1" smtClean="0">
                          <a:solidFill>
                            <a:schemeClr val="bg1"/>
                          </a:solidFill>
                          <a:latin typeface="Cambria Math" panose="02040503050406030204" pitchFamily="18" charset="0"/>
                        </a:rPr>
                        <m:t>𝑋</m:t>
                      </m:r>
                      <m:d>
                        <m:dPr>
                          <m:ctrlPr>
                            <a:rPr lang="es-MX"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0</m:t>
                          </m:r>
                        </m:e>
                      </m:d>
                      <m:r>
                        <a:rPr lang="es-MX" sz="3200" b="0" i="1" smtClean="0">
                          <a:solidFill>
                            <a:schemeClr val="bg1"/>
                          </a:solidFill>
                          <a:latin typeface="Cambria Math" panose="02040503050406030204" pitchFamily="18" charset="0"/>
                        </a:rPr>
                        <m:t>+</m:t>
                      </m:r>
                      <m:sSup>
                        <m:sSupPr>
                          <m:ctrlPr>
                            <a:rPr lang="es-MX" sz="3200" b="0" i="1" smtClean="0">
                              <a:solidFill>
                                <a:schemeClr val="bg1"/>
                              </a:solidFill>
                              <a:latin typeface="Cambria Math" panose="02040503050406030204" pitchFamily="18" charset="0"/>
                            </a:rPr>
                          </m:ctrlPr>
                        </m:sSupPr>
                        <m:e>
                          <m:d>
                            <m:dPr>
                              <m:ctrlPr>
                                <a:rPr lang="en-US" sz="3200" i="1">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e>
                        <m:sup>
                          <m:r>
                            <a:rPr lang="es-MX" sz="3200" b="0" i="1" smtClean="0">
                              <a:solidFill>
                                <a:schemeClr val="bg1"/>
                              </a:solidFill>
                              <a:latin typeface="Cambria Math" panose="02040503050406030204" pitchFamily="18" charset="0"/>
                            </a:rPr>
                            <m:t>−1</m:t>
                          </m:r>
                        </m:sup>
                      </m:sSup>
                      <m:r>
                        <a:rPr lang="en-US" sz="3200" b="0" i="1" smtClean="0">
                          <a:solidFill>
                            <a:schemeClr val="bg1"/>
                          </a:solidFill>
                          <a:latin typeface="Cambria Math" panose="02040503050406030204" pitchFamily="18" charset="0"/>
                        </a:rPr>
                        <m:t>𝐵𝑈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br>
                  <a:rPr lang="en-US" sz="3200" b="0">
                    <a:solidFill>
                      <a:schemeClr val="bg1"/>
                    </a:solidFill>
                  </a:rPr>
                </a:br>
                <a:endParaRPr lang="es-CO" sz="2400"/>
              </a:p>
            </p:txBody>
          </p:sp>
        </mc:Choice>
        <mc:Fallback>
          <p:sp>
            <p:nvSpPr>
              <p:cNvPr id="8" name="TextBox 12">
                <a:extLst>
                  <a:ext uri="{FF2B5EF4-FFF2-40B4-BE49-F238E27FC236}">
                    <a16:creationId xmlns:a16="http://schemas.microsoft.com/office/drawing/2014/main" id="{5485DAB4-1D3E-D291-F08C-9FDA027FFA34}"/>
                  </a:ext>
                </a:extLst>
              </p:cNvPr>
              <p:cNvSpPr txBox="1">
                <a:spLocks noRot="1" noChangeAspect="1" noMove="1" noResize="1" noEditPoints="1" noAdjustHandles="1" noChangeArrowheads="1" noChangeShapeType="1" noTextEdit="1"/>
              </p:cNvSpPr>
              <p:nvPr/>
            </p:nvSpPr>
            <p:spPr>
              <a:xfrm>
                <a:off x="1162050" y="4523357"/>
                <a:ext cx="8111323" cy="492507"/>
              </a:xfrm>
              <a:prstGeom prst="rect">
                <a:avLst/>
              </a:prstGeom>
              <a:blipFill>
                <a:blip r:embed="rId5"/>
                <a:stretch>
                  <a:fillRect/>
                </a:stretch>
              </a:blipFill>
            </p:spPr>
            <p:txBody>
              <a:bodyPr/>
              <a:lstStyle/>
              <a:p>
                <a:r>
                  <a:rPr lang="en-US">
                    <a:noFill/>
                  </a:rPr>
                  <a:t> </a:t>
                </a:r>
              </a:p>
            </p:txBody>
          </p:sp>
        </mc:Fallback>
      </mc:AlternateContent>
      <p:sp>
        <p:nvSpPr>
          <p:cNvPr id="9" name="Abrir llave 8">
            <a:extLst>
              <a:ext uri="{FF2B5EF4-FFF2-40B4-BE49-F238E27FC236}">
                <a16:creationId xmlns:a16="http://schemas.microsoft.com/office/drawing/2014/main" id="{FF57139C-C63F-E9F2-796D-23477FA65C62}"/>
              </a:ext>
            </a:extLst>
          </p:cNvPr>
          <p:cNvSpPr/>
          <p:nvPr/>
        </p:nvSpPr>
        <p:spPr>
          <a:xfrm rot="16200000">
            <a:off x="3903512" y="3979172"/>
            <a:ext cx="489049" cy="256243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0" name="Abrir llave 9">
            <a:extLst>
              <a:ext uri="{FF2B5EF4-FFF2-40B4-BE49-F238E27FC236}">
                <a16:creationId xmlns:a16="http://schemas.microsoft.com/office/drawing/2014/main" id="{4DC69E6F-87C8-2C2B-C89E-F2028CB89DD5}"/>
              </a:ext>
            </a:extLst>
          </p:cNvPr>
          <p:cNvSpPr/>
          <p:nvPr/>
        </p:nvSpPr>
        <p:spPr>
          <a:xfrm rot="16200000">
            <a:off x="7256413" y="3855451"/>
            <a:ext cx="489049" cy="280987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1" name="CuadroTexto 10">
            <a:extLst>
              <a:ext uri="{FF2B5EF4-FFF2-40B4-BE49-F238E27FC236}">
                <a16:creationId xmlns:a16="http://schemas.microsoft.com/office/drawing/2014/main" id="{F681EBE3-4ACA-32A1-6A36-BB42BFCF3893}"/>
              </a:ext>
            </a:extLst>
          </p:cNvPr>
          <p:cNvSpPr txBox="1"/>
          <p:nvPr/>
        </p:nvSpPr>
        <p:spPr>
          <a:xfrm>
            <a:off x="3321163" y="5504913"/>
            <a:ext cx="1788695" cy="369332"/>
          </a:xfrm>
          <a:prstGeom prst="rect">
            <a:avLst/>
          </a:prstGeom>
          <a:noFill/>
        </p:spPr>
        <p:txBody>
          <a:bodyPr wrap="none" rtlCol="0">
            <a:spAutoFit/>
          </a:bodyPr>
          <a:lstStyle/>
          <a:p>
            <a:r>
              <a:rPr lang="es-MX">
                <a:solidFill>
                  <a:schemeClr val="accent1"/>
                </a:solidFill>
              </a:rPr>
              <a:t>Respuesta Libre</a:t>
            </a:r>
            <a:endParaRPr lang="es-CO">
              <a:solidFill>
                <a:schemeClr val="accent1"/>
              </a:solidFill>
            </a:endParaRPr>
          </a:p>
        </p:txBody>
      </p:sp>
      <p:sp>
        <p:nvSpPr>
          <p:cNvPr id="12" name="CuadroTexto 11">
            <a:extLst>
              <a:ext uri="{FF2B5EF4-FFF2-40B4-BE49-F238E27FC236}">
                <a16:creationId xmlns:a16="http://schemas.microsoft.com/office/drawing/2014/main" id="{EF414C02-EDA7-6180-23AC-EDC0E83E1280}"/>
              </a:ext>
            </a:extLst>
          </p:cNvPr>
          <p:cNvSpPr txBox="1"/>
          <p:nvPr/>
        </p:nvSpPr>
        <p:spPr>
          <a:xfrm>
            <a:off x="6606589" y="5504913"/>
            <a:ext cx="2089739" cy="369332"/>
          </a:xfrm>
          <a:prstGeom prst="rect">
            <a:avLst/>
          </a:prstGeom>
          <a:noFill/>
        </p:spPr>
        <p:txBody>
          <a:bodyPr wrap="none" rtlCol="0">
            <a:spAutoFit/>
          </a:bodyPr>
          <a:lstStyle/>
          <a:p>
            <a:r>
              <a:rPr lang="es-MX">
                <a:solidFill>
                  <a:schemeClr val="accent1"/>
                </a:solidFill>
              </a:rPr>
              <a:t>Respuesta Forzada</a:t>
            </a:r>
            <a:endParaRPr lang="es-CO">
              <a:solidFill>
                <a:schemeClr val="accent1"/>
              </a:solidFill>
            </a:endParaRPr>
          </a:p>
        </p:txBody>
      </p:sp>
    </p:spTree>
    <p:extLst>
      <p:ext uri="{BB962C8B-B14F-4D97-AF65-F5344CB8AC3E}">
        <p14:creationId xmlns:p14="http://schemas.microsoft.com/office/powerpoint/2010/main" val="395225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P spid="10" grpId="0" animBg="1"/>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3935C-C4CB-A583-5274-2A07D5FF54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63058-DC93-5AF9-3A59-060BA2912E9E}"/>
              </a:ext>
            </a:extLst>
          </p:cNvPr>
          <p:cNvSpPr>
            <a:spLocks noGrp="1"/>
          </p:cNvSpPr>
          <p:nvPr>
            <p:ph type="title"/>
          </p:nvPr>
        </p:nvSpPr>
        <p:spPr>
          <a:xfrm>
            <a:off x="838200" y="184151"/>
            <a:ext cx="10515600" cy="673100"/>
          </a:xfrm>
        </p:spPr>
        <p:txBody>
          <a:bodyPr>
            <a:normAutofit fontScale="90000"/>
          </a:bodyPr>
          <a:lstStyle/>
          <a:p>
            <a:r>
              <a:rPr lang="es-MX"/>
              <a:t>Solución de la Ecuación de Estados</a:t>
            </a:r>
            <a:endParaRPr lang="es-CO"/>
          </a:p>
        </p:txBody>
      </p:sp>
      <mc:AlternateContent xmlns:mc="http://schemas.openxmlformats.org/markup-compatibility/2006">
        <mc:Choice xmlns:a14="http://schemas.microsoft.com/office/drawing/2010/main" Requires="a14">
          <p:sp>
            <p:nvSpPr>
              <p:cNvPr id="8" name="TextBox 12">
                <a:extLst>
                  <a:ext uri="{FF2B5EF4-FFF2-40B4-BE49-F238E27FC236}">
                    <a16:creationId xmlns:a16="http://schemas.microsoft.com/office/drawing/2014/main" id="{DE2665EE-287F-98E1-031B-A2FC8CDEA186}"/>
                  </a:ext>
                </a:extLst>
              </p:cNvPr>
              <p:cNvSpPr txBox="1"/>
              <p:nvPr/>
            </p:nvSpPr>
            <p:spPr>
              <a:xfrm>
                <a:off x="1400175" y="1189606"/>
                <a:ext cx="8111323" cy="492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𝑋</m:t>
                      </m:r>
                      <m:d>
                        <m:dPr>
                          <m:ctrlPr>
                            <a:rPr lang="en-US" sz="3200" b="0" i="1" smtClean="0">
                              <a:solidFill>
                                <a:schemeClr val="bg1"/>
                              </a:solidFill>
                              <a:latin typeface="Cambria Math" panose="02040503050406030204" pitchFamily="18" charset="0"/>
                            </a:rPr>
                          </m:ctrlPr>
                        </m:dPr>
                        <m:e>
                          <m:r>
                            <a:rPr lang="en-US" sz="3200" b="0" i="1" smtClean="0">
                              <a:solidFill>
                                <a:schemeClr val="bg1"/>
                              </a:solidFill>
                              <a:latin typeface="Cambria Math" panose="02040503050406030204" pitchFamily="18" charset="0"/>
                            </a:rPr>
                            <m:t>𝑠</m:t>
                          </m:r>
                        </m:e>
                      </m:d>
                      <m:r>
                        <a:rPr lang="en-US" sz="3200" b="0" i="1" smtClean="0">
                          <a:solidFill>
                            <a:schemeClr val="bg1"/>
                          </a:solidFill>
                          <a:latin typeface="Cambria Math" panose="02040503050406030204" pitchFamily="18" charset="0"/>
                        </a:rPr>
                        <m:t>=</m:t>
                      </m:r>
                      <m:sSup>
                        <m:sSupPr>
                          <m:ctrlPr>
                            <a:rPr lang="es-MX" sz="3200" b="0" i="1" smtClean="0">
                              <a:solidFill>
                                <a:schemeClr val="bg1"/>
                              </a:solidFill>
                              <a:latin typeface="Cambria Math" panose="02040503050406030204" pitchFamily="18" charset="0"/>
                            </a:rPr>
                          </m:ctrlPr>
                        </m:sSupPr>
                        <m:e>
                          <m:d>
                            <m:dPr>
                              <m:ctrlPr>
                                <a:rPr lang="en-US" sz="3200" i="1">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e>
                        <m:sup>
                          <m:r>
                            <a:rPr lang="es-MX" sz="3200" b="0" i="1" smtClean="0">
                              <a:solidFill>
                                <a:schemeClr val="bg1"/>
                              </a:solidFill>
                              <a:latin typeface="Cambria Math" panose="02040503050406030204" pitchFamily="18" charset="0"/>
                            </a:rPr>
                            <m:t>−1</m:t>
                          </m:r>
                        </m:sup>
                      </m:sSup>
                      <m:r>
                        <a:rPr lang="es-MX" sz="3200" b="0" i="1" smtClean="0">
                          <a:solidFill>
                            <a:schemeClr val="bg1"/>
                          </a:solidFill>
                          <a:latin typeface="Cambria Math" panose="02040503050406030204" pitchFamily="18" charset="0"/>
                        </a:rPr>
                        <m:t>𝑋</m:t>
                      </m:r>
                      <m:d>
                        <m:dPr>
                          <m:ctrlPr>
                            <a:rPr lang="es-MX"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0</m:t>
                          </m:r>
                        </m:e>
                      </m:d>
                      <m:r>
                        <a:rPr lang="es-MX" sz="3200" b="0" i="1" smtClean="0">
                          <a:solidFill>
                            <a:schemeClr val="bg1"/>
                          </a:solidFill>
                          <a:latin typeface="Cambria Math" panose="02040503050406030204" pitchFamily="18" charset="0"/>
                        </a:rPr>
                        <m:t>+</m:t>
                      </m:r>
                      <m:sSup>
                        <m:sSupPr>
                          <m:ctrlPr>
                            <a:rPr lang="es-MX" sz="3200" b="0" i="1" smtClean="0">
                              <a:solidFill>
                                <a:schemeClr val="bg1"/>
                              </a:solidFill>
                              <a:latin typeface="Cambria Math" panose="02040503050406030204" pitchFamily="18" charset="0"/>
                            </a:rPr>
                          </m:ctrlPr>
                        </m:sSupPr>
                        <m:e>
                          <m:d>
                            <m:dPr>
                              <m:ctrlPr>
                                <a:rPr lang="en-US" sz="3200" i="1">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e>
                        <m:sup>
                          <m:r>
                            <a:rPr lang="es-MX" sz="3200" b="0" i="1" smtClean="0">
                              <a:solidFill>
                                <a:schemeClr val="bg1"/>
                              </a:solidFill>
                              <a:latin typeface="Cambria Math" panose="02040503050406030204" pitchFamily="18" charset="0"/>
                            </a:rPr>
                            <m:t>−1</m:t>
                          </m:r>
                        </m:sup>
                      </m:sSup>
                      <m:r>
                        <a:rPr lang="en-US" sz="3200" b="0" i="1" smtClean="0">
                          <a:solidFill>
                            <a:schemeClr val="bg1"/>
                          </a:solidFill>
                          <a:latin typeface="Cambria Math" panose="02040503050406030204" pitchFamily="18" charset="0"/>
                        </a:rPr>
                        <m:t>𝐵𝑈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br>
                  <a:rPr lang="en-US" sz="3200" b="0">
                    <a:solidFill>
                      <a:schemeClr val="bg1"/>
                    </a:solidFill>
                  </a:rPr>
                </a:br>
                <a:endParaRPr lang="es-CO" sz="2400"/>
              </a:p>
            </p:txBody>
          </p:sp>
        </mc:Choice>
        <mc:Fallback>
          <p:sp>
            <p:nvSpPr>
              <p:cNvPr id="8" name="TextBox 12">
                <a:extLst>
                  <a:ext uri="{FF2B5EF4-FFF2-40B4-BE49-F238E27FC236}">
                    <a16:creationId xmlns:a16="http://schemas.microsoft.com/office/drawing/2014/main" id="{DE2665EE-287F-98E1-031B-A2FC8CDEA186}"/>
                  </a:ext>
                </a:extLst>
              </p:cNvPr>
              <p:cNvSpPr txBox="1">
                <a:spLocks noRot="1" noChangeAspect="1" noMove="1" noResize="1" noEditPoints="1" noAdjustHandles="1" noChangeArrowheads="1" noChangeShapeType="1" noTextEdit="1"/>
              </p:cNvSpPr>
              <p:nvPr/>
            </p:nvSpPr>
            <p:spPr>
              <a:xfrm>
                <a:off x="1400175" y="1189606"/>
                <a:ext cx="8111323" cy="492507"/>
              </a:xfrm>
              <a:prstGeom prst="rect">
                <a:avLst/>
              </a:prstGeom>
              <a:blipFill>
                <a:blip r:embed="rId2"/>
                <a:stretch>
                  <a:fillRect/>
                </a:stretch>
              </a:blipFill>
            </p:spPr>
            <p:txBody>
              <a:bodyPr/>
              <a:lstStyle/>
              <a:p>
                <a:r>
                  <a:rPr lang="en-US">
                    <a:noFill/>
                  </a:rPr>
                  <a:t> </a:t>
                </a:r>
              </a:p>
            </p:txBody>
          </p:sp>
        </mc:Fallback>
      </mc:AlternateContent>
      <p:sp>
        <p:nvSpPr>
          <p:cNvPr id="9" name="Abrir llave 8">
            <a:extLst>
              <a:ext uri="{FF2B5EF4-FFF2-40B4-BE49-F238E27FC236}">
                <a16:creationId xmlns:a16="http://schemas.microsoft.com/office/drawing/2014/main" id="{493BD7A4-2373-00D9-2F4A-FA77CDB5941B}"/>
              </a:ext>
            </a:extLst>
          </p:cNvPr>
          <p:cNvSpPr/>
          <p:nvPr/>
        </p:nvSpPr>
        <p:spPr>
          <a:xfrm rot="16200000">
            <a:off x="4141637" y="645421"/>
            <a:ext cx="489049" cy="256243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0" name="Abrir llave 9">
            <a:extLst>
              <a:ext uri="{FF2B5EF4-FFF2-40B4-BE49-F238E27FC236}">
                <a16:creationId xmlns:a16="http://schemas.microsoft.com/office/drawing/2014/main" id="{88AA540B-A2F6-03C7-9B47-19F1FFC200D7}"/>
              </a:ext>
            </a:extLst>
          </p:cNvPr>
          <p:cNvSpPr/>
          <p:nvPr/>
        </p:nvSpPr>
        <p:spPr>
          <a:xfrm rot="16200000">
            <a:off x="7494538" y="521700"/>
            <a:ext cx="489049" cy="280987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1" name="CuadroTexto 10">
            <a:extLst>
              <a:ext uri="{FF2B5EF4-FFF2-40B4-BE49-F238E27FC236}">
                <a16:creationId xmlns:a16="http://schemas.microsoft.com/office/drawing/2014/main" id="{3235EB66-EBE5-7631-6CA6-3FA4698CC7DD}"/>
              </a:ext>
            </a:extLst>
          </p:cNvPr>
          <p:cNvSpPr txBox="1"/>
          <p:nvPr/>
        </p:nvSpPr>
        <p:spPr>
          <a:xfrm>
            <a:off x="3559288" y="2171162"/>
            <a:ext cx="1788695" cy="369332"/>
          </a:xfrm>
          <a:prstGeom prst="rect">
            <a:avLst/>
          </a:prstGeom>
          <a:noFill/>
        </p:spPr>
        <p:txBody>
          <a:bodyPr wrap="none" rtlCol="0">
            <a:spAutoFit/>
          </a:bodyPr>
          <a:lstStyle/>
          <a:p>
            <a:r>
              <a:rPr lang="es-MX">
                <a:solidFill>
                  <a:schemeClr val="accent1"/>
                </a:solidFill>
              </a:rPr>
              <a:t>Respuesta Libre</a:t>
            </a:r>
            <a:endParaRPr lang="es-CO">
              <a:solidFill>
                <a:schemeClr val="accent1"/>
              </a:solidFill>
            </a:endParaRPr>
          </a:p>
        </p:txBody>
      </p:sp>
      <p:sp>
        <p:nvSpPr>
          <p:cNvPr id="12" name="CuadroTexto 11">
            <a:extLst>
              <a:ext uri="{FF2B5EF4-FFF2-40B4-BE49-F238E27FC236}">
                <a16:creationId xmlns:a16="http://schemas.microsoft.com/office/drawing/2014/main" id="{7C931DB8-4DCA-CD94-F5AA-B7D3E0BD7A4B}"/>
              </a:ext>
            </a:extLst>
          </p:cNvPr>
          <p:cNvSpPr txBox="1"/>
          <p:nvPr/>
        </p:nvSpPr>
        <p:spPr>
          <a:xfrm>
            <a:off x="6844714" y="2171162"/>
            <a:ext cx="2089739" cy="369332"/>
          </a:xfrm>
          <a:prstGeom prst="rect">
            <a:avLst/>
          </a:prstGeom>
          <a:noFill/>
        </p:spPr>
        <p:txBody>
          <a:bodyPr wrap="none" rtlCol="0">
            <a:spAutoFit/>
          </a:bodyPr>
          <a:lstStyle/>
          <a:p>
            <a:r>
              <a:rPr lang="es-MX">
                <a:solidFill>
                  <a:schemeClr val="accent1"/>
                </a:solidFill>
              </a:rPr>
              <a:t>Respuesta Forzada</a:t>
            </a:r>
            <a:endParaRPr lang="es-CO">
              <a:solidFill>
                <a:schemeClr val="accent1"/>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5CA3BB6-11C7-27D1-EF41-832E6EF9DF3C}"/>
                  </a:ext>
                </a:extLst>
              </p:cNvPr>
              <p:cNvSpPr txBox="1"/>
              <p:nvPr/>
            </p:nvSpPr>
            <p:spPr>
              <a:xfrm>
                <a:off x="2212561" y="4044717"/>
                <a:ext cx="6950492" cy="11013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𝑋</m:t>
                      </m:r>
                      <m:d>
                        <m:dPr>
                          <m:ctrlPr>
                            <a:rPr lang="en-US"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𝑡</m:t>
                          </m:r>
                        </m:e>
                      </m:d>
                      <m:r>
                        <a:rPr lang="en-US" sz="3200" b="0" i="1" smtClean="0">
                          <a:solidFill>
                            <a:schemeClr val="bg1"/>
                          </a:solidFill>
                          <a:latin typeface="Cambria Math" panose="02040503050406030204" pitchFamily="18" charset="0"/>
                        </a:rPr>
                        <m:t>=</m:t>
                      </m:r>
                      <m:sSup>
                        <m:sSupPr>
                          <m:ctrlPr>
                            <a:rPr lang="es-MX" sz="3200" b="0" i="1" smtClean="0">
                              <a:solidFill>
                                <a:schemeClr val="bg1"/>
                              </a:solidFill>
                              <a:latin typeface="Cambria Math" panose="02040503050406030204" pitchFamily="18" charset="0"/>
                            </a:rPr>
                          </m:ctrlPr>
                        </m:sSupPr>
                        <m:e>
                          <m:r>
                            <a:rPr lang="es-MX" sz="3200" b="0" i="1" smtClean="0">
                              <a:solidFill>
                                <a:schemeClr val="bg1"/>
                              </a:solidFill>
                              <a:latin typeface="Cambria Math" panose="02040503050406030204" pitchFamily="18" charset="0"/>
                            </a:rPr>
                            <m:t>𝑒</m:t>
                          </m:r>
                        </m:e>
                        <m:sup>
                          <m:r>
                            <a:rPr lang="es-MX" sz="3200" b="0" i="1" smtClean="0">
                              <a:solidFill>
                                <a:schemeClr val="bg1"/>
                              </a:solidFill>
                              <a:latin typeface="Cambria Math" panose="02040503050406030204" pitchFamily="18" charset="0"/>
                            </a:rPr>
                            <m:t>𝐴𝑡</m:t>
                          </m:r>
                        </m:sup>
                      </m:sSup>
                      <m:r>
                        <a:rPr lang="es-MX" sz="3200" b="0" i="1" smtClean="0">
                          <a:solidFill>
                            <a:schemeClr val="bg1"/>
                          </a:solidFill>
                          <a:latin typeface="Cambria Math" panose="02040503050406030204" pitchFamily="18" charset="0"/>
                        </a:rPr>
                        <m:t>𝑋</m:t>
                      </m:r>
                      <m:d>
                        <m:dPr>
                          <m:ctrlPr>
                            <a:rPr lang="es-MX" sz="3200" b="0" i="1" smtClean="0">
                              <a:solidFill>
                                <a:schemeClr val="bg1"/>
                              </a:solidFill>
                              <a:latin typeface="Cambria Math" panose="02040503050406030204" pitchFamily="18" charset="0"/>
                            </a:rPr>
                          </m:ctrlPr>
                        </m:dPr>
                        <m:e>
                          <m:r>
                            <a:rPr lang="es-MX" sz="3200" b="0" i="1" smtClean="0">
                              <a:solidFill>
                                <a:schemeClr val="bg1"/>
                              </a:solidFill>
                              <a:latin typeface="Cambria Math" panose="02040503050406030204" pitchFamily="18" charset="0"/>
                            </a:rPr>
                            <m:t>0</m:t>
                          </m:r>
                        </m:e>
                      </m:d>
                      <m:r>
                        <a:rPr lang="es-MX" sz="3200" b="0" i="1" smtClean="0">
                          <a:solidFill>
                            <a:schemeClr val="bg1"/>
                          </a:solidFill>
                          <a:latin typeface="Cambria Math" panose="02040503050406030204" pitchFamily="18" charset="0"/>
                        </a:rPr>
                        <m:t>+</m:t>
                      </m:r>
                      <m:sSup>
                        <m:sSupPr>
                          <m:ctrlPr>
                            <a:rPr lang="es-MX" sz="3200" i="1">
                              <a:solidFill>
                                <a:schemeClr val="bg1"/>
                              </a:solidFill>
                              <a:latin typeface="Cambria Math" panose="02040503050406030204" pitchFamily="18" charset="0"/>
                            </a:rPr>
                          </m:ctrlPr>
                        </m:sSupPr>
                        <m:e>
                          <m:r>
                            <a:rPr lang="es-MX" sz="3200" i="1">
                              <a:solidFill>
                                <a:schemeClr val="bg1"/>
                              </a:solidFill>
                              <a:latin typeface="Cambria Math" panose="02040503050406030204" pitchFamily="18" charset="0"/>
                            </a:rPr>
                            <m:t>𝑒</m:t>
                          </m:r>
                        </m:e>
                        <m:sup>
                          <m:r>
                            <a:rPr lang="es-MX" sz="3200" i="1">
                              <a:solidFill>
                                <a:schemeClr val="bg1"/>
                              </a:solidFill>
                              <a:latin typeface="Cambria Math" panose="02040503050406030204" pitchFamily="18" charset="0"/>
                            </a:rPr>
                            <m:t>𝐴𝑡</m:t>
                          </m:r>
                        </m:sup>
                      </m:sSup>
                      <m:nary>
                        <m:naryPr>
                          <m:ctrlPr>
                            <a:rPr lang="es-MX" sz="3200" i="1" smtClean="0">
                              <a:solidFill>
                                <a:schemeClr val="bg1"/>
                              </a:solidFill>
                              <a:latin typeface="Cambria Math" panose="02040503050406030204" pitchFamily="18" charset="0"/>
                            </a:rPr>
                          </m:ctrlPr>
                        </m:naryPr>
                        <m:sub>
                          <m:r>
                            <m:rPr>
                              <m:brk m:alnAt="23"/>
                            </m:rPr>
                            <a:rPr lang="es-MX" sz="3200" b="0" i="1" smtClean="0">
                              <a:solidFill>
                                <a:schemeClr val="bg1"/>
                              </a:solidFill>
                              <a:latin typeface="Cambria Math" panose="02040503050406030204" pitchFamily="18" charset="0"/>
                            </a:rPr>
                            <m:t>0</m:t>
                          </m:r>
                        </m:sub>
                        <m:sup>
                          <m:r>
                            <a:rPr lang="es-MX" sz="3200" b="0" i="1" smtClean="0">
                              <a:solidFill>
                                <a:schemeClr val="bg1"/>
                              </a:solidFill>
                              <a:latin typeface="Cambria Math" panose="02040503050406030204" pitchFamily="18" charset="0"/>
                            </a:rPr>
                            <m:t>𝑡</m:t>
                          </m:r>
                        </m:sup>
                        <m:e>
                          <m:sSup>
                            <m:sSupPr>
                              <m:ctrlPr>
                                <a:rPr lang="es-MX" sz="3200" i="1">
                                  <a:solidFill>
                                    <a:schemeClr val="bg1"/>
                                  </a:solidFill>
                                  <a:latin typeface="Cambria Math" panose="02040503050406030204" pitchFamily="18" charset="0"/>
                                </a:rPr>
                              </m:ctrlPr>
                            </m:sSupPr>
                            <m:e>
                              <m:r>
                                <a:rPr lang="es-MX" sz="3200" i="1">
                                  <a:solidFill>
                                    <a:schemeClr val="bg1"/>
                                  </a:solidFill>
                                  <a:latin typeface="Cambria Math" panose="02040503050406030204" pitchFamily="18" charset="0"/>
                                </a:rPr>
                                <m:t>𝑒</m:t>
                              </m:r>
                            </m:e>
                            <m:sup>
                              <m:r>
                                <a:rPr lang="es-MX" sz="3200" b="0" i="1" smtClean="0">
                                  <a:solidFill>
                                    <a:schemeClr val="bg1"/>
                                  </a:solidFill>
                                  <a:latin typeface="Cambria Math" panose="02040503050406030204" pitchFamily="18" charset="0"/>
                                </a:rPr>
                                <m:t>−</m:t>
                              </m:r>
                              <m:r>
                                <a:rPr lang="es-MX" sz="3200" i="1">
                                  <a:solidFill>
                                    <a:schemeClr val="bg1"/>
                                  </a:solidFill>
                                  <a:latin typeface="Cambria Math" panose="02040503050406030204" pitchFamily="18" charset="0"/>
                                </a:rPr>
                                <m:t>𝐴</m:t>
                              </m:r>
                              <m:r>
                                <a:rPr lang="es-MX" sz="3200" b="0" i="1" smtClean="0">
                                  <a:solidFill>
                                    <a:schemeClr val="bg1"/>
                                  </a:solidFill>
                                  <a:latin typeface="Cambria Math" panose="02040503050406030204" pitchFamily="18" charset="0"/>
                                </a:rPr>
                                <m:t>𝜏</m:t>
                              </m:r>
                            </m:sup>
                          </m:sSup>
                        </m:e>
                      </m:nary>
                      <m:r>
                        <a:rPr lang="en-US" sz="3200" b="0" i="1" smtClean="0">
                          <a:solidFill>
                            <a:schemeClr val="bg1"/>
                          </a:solidFill>
                          <a:latin typeface="Cambria Math" panose="02040503050406030204" pitchFamily="18" charset="0"/>
                        </a:rPr>
                        <m:t>𝐵𝑈</m:t>
                      </m:r>
                      <m:d>
                        <m:dPr>
                          <m:ctrlPr>
                            <a:rPr lang="en-US" sz="3200" b="0" i="1" smtClean="0">
                              <a:solidFill>
                                <a:schemeClr val="bg1"/>
                              </a:solidFill>
                              <a:latin typeface="Cambria Math" panose="02040503050406030204" pitchFamily="18" charset="0"/>
                            </a:rPr>
                          </m:ctrlPr>
                        </m:dPr>
                        <m:e>
                          <m:r>
                            <a:rPr lang="es-MX" sz="3200" i="1">
                              <a:solidFill>
                                <a:schemeClr val="bg1"/>
                              </a:solidFill>
                              <a:latin typeface="Cambria Math" panose="02040503050406030204" pitchFamily="18" charset="0"/>
                            </a:rPr>
                            <m:t>𝜏</m:t>
                          </m:r>
                        </m:e>
                      </m:d>
                      <m:r>
                        <a:rPr lang="es-MX" sz="3200" i="1">
                          <a:solidFill>
                            <a:schemeClr val="bg1"/>
                          </a:solidFill>
                          <a:latin typeface="Cambria Math" panose="02040503050406030204" pitchFamily="18" charset="0"/>
                        </a:rPr>
                        <m:t>𝑑</m:t>
                      </m:r>
                      <m:r>
                        <a:rPr lang="es-MX" sz="3200" i="1">
                          <a:solidFill>
                            <a:schemeClr val="bg1"/>
                          </a:solidFill>
                          <a:latin typeface="Cambria Math" panose="02040503050406030204" pitchFamily="18" charset="0"/>
                        </a:rPr>
                        <m:t>𝜏</m:t>
                      </m:r>
                    </m:oMath>
                  </m:oMathPara>
                </a14:m>
                <a:br>
                  <a:rPr lang="en-US" sz="3200" b="0">
                    <a:solidFill>
                      <a:schemeClr val="bg1"/>
                    </a:solidFill>
                  </a:rPr>
                </a:br>
                <a:endParaRPr lang="es-CO" sz="2400"/>
              </a:p>
            </p:txBody>
          </p:sp>
        </mc:Choice>
        <mc:Fallback>
          <p:sp>
            <p:nvSpPr>
              <p:cNvPr id="13" name="TextBox 12">
                <a:extLst>
                  <a:ext uri="{FF2B5EF4-FFF2-40B4-BE49-F238E27FC236}">
                    <a16:creationId xmlns:a16="http://schemas.microsoft.com/office/drawing/2014/main" id="{05CA3BB6-11C7-27D1-EF41-832E6EF9DF3C}"/>
                  </a:ext>
                </a:extLst>
              </p:cNvPr>
              <p:cNvSpPr txBox="1">
                <a:spLocks noRot="1" noChangeAspect="1" noMove="1" noResize="1" noEditPoints="1" noAdjustHandles="1" noChangeArrowheads="1" noChangeShapeType="1" noTextEdit="1"/>
              </p:cNvSpPr>
              <p:nvPr/>
            </p:nvSpPr>
            <p:spPr>
              <a:xfrm>
                <a:off x="2212561" y="4044717"/>
                <a:ext cx="6950492" cy="1101327"/>
              </a:xfrm>
              <a:prstGeom prst="rect">
                <a:avLst/>
              </a:prstGeom>
              <a:blipFill>
                <a:blip r:embed="rId3"/>
                <a:stretch>
                  <a:fillRect/>
                </a:stretch>
              </a:blipFill>
            </p:spPr>
            <p:txBody>
              <a:bodyPr/>
              <a:lstStyle/>
              <a:p>
                <a:r>
                  <a:rPr lang="en-US">
                    <a:noFill/>
                  </a:rPr>
                  <a:t> </a:t>
                </a:r>
              </a:p>
            </p:txBody>
          </p:sp>
        </mc:Fallback>
      </mc:AlternateContent>
      <p:sp>
        <p:nvSpPr>
          <p:cNvPr id="14" name="Abrir llave 13">
            <a:extLst>
              <a:ext uri="{FF2B5EF4-FFF2-40B4-BE49-F238E27FC236}">
                <a16:creationId xmlns:a16="http://schemas.microsoft.com/office/drawing/2014/main" id="{C0DCAF1B-38A3-9019-D572-311936E31C2F}"/>
              </a:ext>
            </a:extLst>
          </p:cNvPr>
          <p:cNvSpPr/>
          <p:nvPr/>
        </p:nvSpPr>
        <p:spPr>
          <a:xfrm rot="16200000">
            <a:off x="4175101" y="4466473"/>
            <a:ext cx="489049" cy="1895475"/>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5" name="Abrir llave 14">
            <a:extLst>
              <a:ext uri="{FF2B5EF4-FFF2-40B4-BE49-F238E27FC236}">
                <a16:creationId xmlns:a16="http://schemas.microsoft.com/office/drawing/2014/main" id="{7CD4D703-8700-3FC0-A6EB-87CF2F100E3E}"/>
              </a:ext>
            </a:extLst>
          </p:cNvPr>
          <p:cNvSpPr/>
          <p:nvPr/>
        </p:nvSpPr>
        <p:spPr>
          <a:xfrm rot="16200000">
            <a:off x="7032600" y="3847349"/>
            <a:ext cx="489049" cy="313372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O"/>
          </a:p>
        </p:txBody>
      </p:sp>
      <p:sp>
        <p:nvSpPr>
          <p:cNvPr id="16" name="CuadroTexto 15">
            <a:extLst>
              <a:ext uri="{FF2B5EF4-FFF2-40B4-BE49-F238E27FC236}">
                <a16:creationId xmlns:a16="http://schemas.microsoft.com/office/drawing/2014/main" id="{425F404E-2E4F-0FE7-16BC-77A79855EE31}"/>
              </a:ext>
            </a:extLst>
          </p:cNvPr>
          <p:cNvSpPr txBox="1"/>
          <p:nvPr/>
        </p:nvSpPr>
        <p:spPr>
          <a:xfrm>
            <a:off x="3259274" y="5658736"/>
            <a:ext cx="2233817" cy="646331"/>
          </a:xfrm>
          <a:prstGeom prst="rect">
            <a:avLst/>
          </a:prstGeom>
          <a:noFill/>
        </p:spPr>
        <p:txBody>
          <a:bodyPr wrap="none" rtlCol="0">
            <a:spAutoFit/>
          </a:bodyPr>
          <a:lstStyle/>
          <a:p>
            <a:r>
              <a:rPr lang="es-MX">
                <a:solidFill>
                  <a:schemeClr val="accent1"/>
                </a:solidFill>
              </a:rPr>
              <a:t>Respuesta a entrada</a:t>
            </a:r>
          </a:p>
          <a:p>
            <a:r>
              <a:rPr lang="es-MX">
                <a:solidFill>
                  <a:schemeClr val="accent1"/>
                </a:solidFill>
              </a:rPr>
              <a:t>cero</a:t>
            </a:r>
            <a:endParaRPr lang="es-CO">
              <a:solidFill>
                <a:schemeClr val="accent1"/>
              </a:solidFill>
            </a:endParaRPr>
          </a:p>
        </p:txBody>
      </p:sp>
      <p:sp>
        <p:nvSpPr>
          <p:cNvPr id="17" name="CuadroTexto 16">
            <a:extLst>
              <a:ext uri="{FF2B5EF4-FFF2-40B4-BE49-F238E27FC236}">
                <a16:creationId xmlns:a16="http://schemas.microsoft.com/office/drawing/2014/main" id="{34E12D65-E01A-72D0-3DF9-515B5DBCC83E}"/>
              </a:ext>
            </a:extLst>
          </p:cNvPr>
          <p:cNvSpPr txBox="1"/>
          <p:nvPr/>
        </p:nvSpPr>
        <p:spPr>
          <a:xfrm>
            <a:off x="6544700" y="5658736"/>
            <a:ext cx="2275303" cy="646331"/>
          </a:xfrm>
          <a:prstGeom prst="rect">
            <a:avLst/>
          </a:prstGeom>
          <a:noFill/>
        </p:spPr>
        <p:txBody>
          <a:bodyPr wrap="none" rtlCol="0">
            <a:spAutoFit/>
          </a:bodyPr>
          <a:lstStyle/>
          <a:p>
            <a:r>
              <a:rPr lang="es-MX">
                <a:solidFill>
                  <a:schemeClr val="accent1"/>
                </a:solidFill>
              </a:rPr>
              <a:t>Respuesta en estado</a:t>
            </a:r>
          </a:p>
          <a:p>
            <a:r>
              <a:rPr lang="es-MX">
                <a:solidFill>
                  <a:schemeClr val="accent1"/>
                </a:solidFill>
              </a:rPr>
              <a:t>cero</a:t>
            </a:r>
            <a:endParaRPr lang="es-CO">
              <a:solidFill>
                <a:schemeClr val="accent1"/>
              </a:solidFill>
            </a:endParaRPr>
          </a:p>
        </p:txBody>
      </p:sp>
      <p:cxnSp>
        <p:nvCxnSpPr>
          <p:cNvPr id="19" name="Conector recto de flecha 18">
            <a:extLst>
              <a:ext uri="{FF2B5EF4-FFF2-40B4-BE49-F238E27FC236}">
                <a16:creationId xmlns:a16="http://schemas.microsoft.com/office/drawing/2014/main" id="{E653FB92-5DE1-20D3-0E92-C3A3A9293A5F}"/>
              </a:ext>
            </a:extLst>
          </p:cNvPr>
          <p:cNvCxnSpPr>
            <a:endCxn id="13" idx="0"/>
          </p:cNvCxnSpPr>
          <p:nvPr/>
        </p:nvCxnSpPr>
        <p:spPr>
          <a:xfrm>
            <a:off x="5667378" y="2667000"/>
            <a:ext cx="20429" cy="13777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38548B8C-E8DE-250B-D837-EC4B1BBB07B1}"/>
              </a:ext>
            </a:extLst>
          </p:cNvPr>
          <p:cNvSpPr txBox="1"/>
          <p:nvPr/>
        </p:nvSpPr>
        <p:spPr>
          <a:xfrm>
            <a:off x="5719788" y="3089829"/>
            <a:ext cx="2478564" cy="369332"/>
          </a:xfrm>
          <a:prstGeom prst="rect">
            <a:avLst/>
          </a:prstGeom>
          <a:noFill/>
        </p:spPr>
        <p:txBody>
          <a:bodyPr wrap="none" rtlCol="0">
            <a:spAutoFit/>
          </a:bodyPr>
          <a:lstStyle/>
          <a:p>
            <a:r>
              <a:rPr lang="es-MX">
                <a:solidFill>
                  <a:schemeClr val="accent1"/>
                </a:solidFill>
              </a:rPr>
              <a:t>En el dominio temporal</a:t>
            </a:r>
            <a:endParaRPr lang="es-CO">
              <a:solidFill>
                <a:schemeClr val="accent1"/>
              </a:solidFill>
            </a:endParaRPr>
          </a:p>
        </p:txBody>
      </p:sp>
    </p:spTree>
    <p:extLst>
      <p:ext uri="{BB962C8B-B14F-4D97-AF65-F5344CB8AC3E}">
        <p14:creationId xmlns:p14="http://schemas.microsoft.com/office/powerpoint/2010/main" val="32772406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animBg="1"/>
      <p:bldP spid="16" grpId="0"/>
      <p:bldP spid="17"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6D32-FBB1-6A3D-813E-4A2EE991C5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90478C-E990-F302-9EC4-61BBF6AD1893}"/>
              </a:ext>
            </a:extLst>
          </p:cNvPr>
          <p:cNvSpPr>
            <a:spLocks noGrp="1"/>
          </p:cNvSpPr>
          <p:nvPr>
            <p:ph type="title"/>
          </p:nvPr>
        </p:nvSpPr>
        <p:spPr/>
        <p:txBody>
          <a:bodyPr>
            <a:normAutofit/>
          </a:bodyPr>
          <a:lstStyle/>
          <a:p>
            <a:r>
              <a:rPr lang="es-MX"/>
              <a:t>Solución de la Ecuación de Estados</a:t>
            </a:r>
            <a:endParaRPr lang="es-CO"/>
          </a:p>
        </p:txBody>
      </p:sp>
      <mc:AlternateContent xmlns:mc="http://schemas.openxmlformats.org/markup-compatibility/2006">
        <mc:Choice xmlns:a14="http://schemas.microsoft.com/office/drawing/2010/main" Requires="a14">
          <p:sp>
            <p:nvSpPr>
              <p:cNvPr id="18" name="Marcador de contenido 17">
                <a:extLst>
                  <a:ext uri="{FF2B5EF4-FFF2-40B4-BE49-F238E27FC236}">
                    <a16:creationId xmlns:a16="http://schemas.microsoft.com/office/drawing/2014/main" id="{E91C5A65-49DE-AF7D-A67F-8872D777BCFA}"/>
                  </a:ext>
                </a:extLst>
              </p:cNvPr>
              <p:cNvSpPr>
                <a:spLocks noGrp="1"/>
              </p:cNvSpPr>
              <p:nvPr>
                <p:ph idx="1"/>
              </p:nvPr>
            </p:nvSpPr>
            <p:spPr>
              <a:xfrm>
                <a:off x="838200" y="4162425"/>
                <a:ext cx="10515600" cy="2014538"/>
              </a:xfrm>
            </p:spPr>
            <p:txBody>
              <a:bodyPr/>
              <a:lstStyle/>
              <a:p>
                <a14:m>
                  <m:oMath xmlns:m="http://schemas.openxmlformats.org/officeDocument/2006/math">
                    <m:r>
                      <a:rPr lang="es-MX" b="0" i="1" smtClean="0">
                        <a:solidFill>
                          <a:schemeClr val="bg1"/>
                        </a:solidFill>
                        <a:latin typeface="Cambria Math" panose="02040503050406030204" pitchFamily="18" charset="0"/>
                      </a:rPr>
                      <m:t>𝑑𝑒𝑡</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𝑠𝐼</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𝐴</m:t>
                        </m:r>
                      </m:e>
                    </m:d>
                  </m:oMath>
                </a14:m>
                <a:r>
                  <a:rPr lang="es-CO"/>
                  <a:t> es la ecuación característica con la cual se encuentran los autovalores del sistema (que serian exactamente los polos)</a:t>
                </a:r>
              </a:p>
            </p:txBody>
          </p:sp>
        </mc:Choice>
        <mc:Fallback>
          <p:sp>
            <p:nvSpPr>
              <p:cNvPr id="18" name="Marcador de contenido 17">
                <a:extLst>
                  <a:ext uri="{FF2B5EF4-FFF2-40B4-BE49-F238E27FC236}">
                    <a16:creationId xmlns:a16="http://schemas.microsoft.com/office/drawing/2014/main" id="{E91C5A65-49DE-AF7D-A67F-8872D777BCFA}"/>
                  </a:ext>
                </a:extLst>
              </p:cNvPr>
              <p:cNvSpPr>
                <a:spLocks noGrp="1" noRot="1" noChangeAspect="1" noMove="1" noResize="1" noEditPoints="1" noAdjustHandles="1" noChangeArrowheads="1" noChangeShapeType="1" noTextEdit="1"/>
              </p:cNvSpPr>
              <p:nvPr>
                <p:ph idx="1"/>
              </p:nvPr>
            </p:nvSpPr>
            <p:spPr>
              <a:xfrm>
                <a:off x="838200" y="4162425"/>
                <a:ext cx="10515600" cy="2014538"/>
              </a:xfrm>
              <a:blipFill>
                <a:blip r:embed="rId2"/>
                <a:stretch>
                  <a:fillRect t="-5152" r="-1913"/>
                </a:stretch>
              </a:blipFill>
            </p:spPr>
            <p:txBody>
              <a:bodyPr/>
              <a:lstStyle/>
              <a:p>
                <a:r>
                  <a:rPr lang="en-US">
                    <a:noFill/>
                  </a:rPr>
                  <a:t> </a:t>
                </a:r>
              </a:p>
            </p:txBody>
          </p:sp>
        </mc:Fallback>
      </mc:AlternateContent>
      <p:sp>
        <p:nvSpPr>
          <p:cNvPr id="3" name="TextBox 4">
            <a:extLst>
              <a:ext uri="{FF2B5EF4-FFF2-40B4-BE49-F238E27FC236}">
                <a16:creationId xmlns:a16="http://schemas.microsoft.com/office/drawing/2014/main" id="{DEAC57F6-CC62-AB2A-76C0-9331DBFA1770}"/>
              </a:ext>
            </a:extLst>
          </p:cNvPr>
          <p:cNvSpPr txBox="1"/>
          <p:nvPr/>
        </p:nvSpPr>
        <p:spPr>
          <a:xfrm>
            <a:off x="723900" y="1485065"/>
            <a:ext cx="1522981" cy="369332"/>
          </a:xfrm>
          <a:prstGeom prst="rect">
            <a:avLst/>
          </a:prstGeom>
          <a:noFill/>
        </p:spPr>
        <p:txBody>
          <a:bodyPr wrap="none" rtlCol="0">
            <a:spAutoFit/>
          </a:bodyPr>
          <a:lstStyle/>
          <a:p>
            <a:r>
              <a:rPr lang="es-CO">
                <a:solidFill>
                  <a:schemeClr val="accent1"/>
                </a:solidFill>
              </a:rPr>
              <a:t>Para la Salida</a:t>
            </a:r>
          </a:p>
        </p:txBody>
      </p:sp>
      <mc:AlternateContent xmlns:mc="http://schemas.openxmlformats.org/markup-compatibility/2006">
        <mc:Choice xmlns:a14="http://schemas.microsoft.com/office/drawing/2010/main" Requires="a14">
          <p:sp>
            <p:nvSpPr>
              <p:cNvPr id="4" name="TextBox 6">
                <a:extLst>
                  <a:ext uri="{FF2B5EF4-FFF2-40B4-BE49-F238E27FC236}">
                    <a16:creationId xmlns:a16="http://schemas.microsoft.com/office/drawing/2014/main" id="{E2684F92-0B4B-0E81-9824-7F5E2CD9D3EE}"/>
                  </a:ext>
                </a:extLst>
              </p:cNvPr>
              <p:cNvSpPr txBox="1"/>
              <p:nvPr/>
            </p:nvSpPr>
            <p:spPr>
              <a:xfrm>
                <a:off x="723900" y="2060257"/>
                <a:ext cx="4024692"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200" b="0" i="0" smtClean="0">
                          <a:solidFill>
                            <a:schemeClr val="bg1"/>
                          </a:solidFill>
                          <a:latin typeface="Cambria Math" panose="02040503050406030204" pitchFamily="18" charset="0"/>
                        </a:rPr>
                        <m:t>Y</m:t>
                      </m:r>
                      <m:r>
                        <a:rPr lang="en-US" sz="3200" b="0" i="0" smtClean="0">
                          <a:solidFill>
                            <a:schemeClr val="bg1"/>
                          </a:solidFill>
                          <a:latin typeface="Cambria Math" panose="02040503050406030204" pitchFamily="18" charset="0"/>
                        </a:rPr>
                        <m:t>(</m:t>
                      </m:r>
                      <m:r>
                        <m:rPr>
                          <m:sty m:val="p"/>
                        </m:rPr>
                        <a:rPr lang="en-US" sz="3200" b="0" i="0" smtClean="0">
                          <a:solidFill>
                            <a:schemeClr val="bg1"/>
                          </a:solidFill>
                          <a:latin typeface="Cambria Math" panose="02040503050406030204" pitchFamily="18" charset="0"/>
                        </a:rPr>
                        <m:t>s</m:t>
                      </m:r>
                      <m:r>
                        <a:rPr lang="en-US" sz="3200" b="0" i="0"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𝐶𝑋</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𝐷𝑈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endParaRPr lang="es-CO" sz="2400"/>
              </a:p>
            </p:txBody>
          </p:sp>
        </mc:Choice>
        <mc:Fallback>
          <p:sp>
            <p:nvSpPr>
              <p:cNvPr id="4" name="TextBox 6">
                <a:extLst>
                  <a:ext uri="{FF2B5EF4-FFF2-40B4-BE49-F238E27FC236}">
                    <a16:creationId xmlns:a16="http://schemas.microsoft.com/office/drawing/2014/main" id="{E2684F92-0B4B-0E81-9824-7F5E2CD9D3EE}"/>
                  </a:ext>
                </a:extLst>
              </p:cNvPr>
              <p:cNvSpPr txBox="1">
                <a:spLocks noRot="1" noChangeAspect="1" noMove="1" noResize="1" noEditPoints="1" noAdjustHandles="1" noChangeArrowheads="1" noChangeShapeType="1" noTextEdit="1"/>
              </p:cNvSpPr>
              <p:nvPr/>
            </p:nvSpPr>
            <p:spPr>
              <a:xfrm>
                <a:off x="723900" y="2060257"/>
                <a:ext cx="4024692" cy="4924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10">
                <a:extLst>
                  <a:ext uri="{FF2B5EF4-FFF2-40B4-BE49-F238E27FC236}">
                    <a16:creationId xmlns:a16="http://schemas.microsoft.com/office/drawing/2014/main" id="{D533355F-5F78-ED2B-0598-B3D980BC8AEF}"/>
                  </a:ext>
                </a:extLst>
              </p:cNvPr>
              <p:cNvSpPr txBox="1"/>
              <p:nvPr/>
            </p:nvSpPr>
            <p:spPr>
              <a:xfrm>
                <a:off x="571500" y="3385750"/>
                <a:ext cx="6315075" cy="492443"/>
              </a:xfrm>
              <a:prstGeom prst="rect">
                <a:avLst/>
              </a:prstGeom>
              <a:noFill/>
              <a:ln>
                <a:solidFill>
                  <a:schemeClr val="accent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200" b="0" i="0" smtClean="0">
                          <a:solidFill>
                            <a:schemeClr val="bg1"/>
                          </a:solidFill>
                          <a:latin typeface="Cambria Math" panose="02040503050406030204" pitchFamily="18" charset="0"/>
                        </a:rPr>
                        <m:t>Y</m:t>
                      </m:r>
                      <m:d>
                        <m:dPr>
                          <m:ctrlPr>
                            <a:rPr lang="en-US" sz="3200" b="0" i="1" smtClean="0">
                              <a:solidFill>
                                <a:schemeClr val="bg1"/>
                              </a:solidFill>
                              <a:latin typeface="Cambria Math" panose="02040503050406030204" pitchFamily="18" charset="0"/>
                            </a:rPr>
                          </m:ctrlPr>
                        </m:dPr>
                        <m:e>
                          <m:r>
                            <m:rPr>
                              <m:sty m:val="p"/>
                            </m:rPr>
                            <a:rPr lang="en-US" sz="3200" b="0" i="0" smtClean="0">
                              <a:solidFill>
                                <a:schemeClr val="bg1"/>
                              </a:solidFill>
                              <a:latin typeface="Cambria Math" panose="02040503050406030204" pitchFamily="18" charset="0"/>
                            </a:rPr>
                            <m:t>s</m:t>
                          </m:r>
                        </m:e>
                      </m:d>
                      <m:r>
                        <a:rPr lang="en-US" sz="3200" b="0" i="1" smtClean="0">
                          <a:solidFill>
                            <a:schemeClr val="bg1"/>
                          </a:solidFill>
                          <a:latin typeface="Cambria Math" panose="02040503050406030204" pitchFamily="18" charset="0"/>
                        </a:rPr>
                        <m:t>=</m:t>
                      </m:r>
                      <m:d>
                        <m:dPr>
                          <m:begChr m:val="["/>
                          <m:endChr m:val="]"/>
                          <m:ctrlPr>
                            <a:rPr lang="en-US" sz="3200" b="0" i="1" smtClean="0">
                              <a:solidFill>
                                <a:schemeClr val="bg1"/>
                              </a:solidFill>
                              <a:latin typeface="Cambria Math" panose="02040503050406030204" pitchFamily="18" charset="0"/>
                            </a:rPr>
                          </m:ctrlPr>
                        </m:dPr>
                        <m:e>
                          <m:r>
                            <a:rPr lang="en-US" sz="3200" b="0" i="1" smtClean="0">
                              <a:solidFill>
                                <a:schemeClr val="bg1"/>
                              </a:solidFill>
                              <a:latin typeface="Cambria Math" panose="02040503050406030204" pitchFamily="18" charset="0"/>
                            </a:rPr>
                            <m:t>𝐶</m:t>
                          </m:r>
                          <m:sSup>
                            <m:sSupPr>
                              <m:ctrlPr>
                                <a:rPr lang="en-US" sz="3200" i="1" smtClean="0">
                                  <a:solidFill>
                                    <a:schemeClr val="bg1"/>
                                  </a:solidFill>
                                  <a:latin typeface="Cambria Math" panose="02040503050406030204" pitchFamily="18" charset="0"/>
                                </a:rPr>
                              </m:ctrlPr>
                            </m:sSupPr>
                            <m:e>
                              <m:d>
                                <m:dPr>
                                  <m:ctrlPr>
                                    <a:rPr lang="en-US" sz="3200" i="1">
                                      <a:solidFill>
                                        <a:schemeClr val="bg1"/>
                                      </a:solidFill>
                                      <a:latin typeface="Cambria Math" panose="02040503050406030204" pitchFamily="18" charset="0"/>
                                    </a:rPr>
                                  </m:ctrlPr>
                                </m:dPr>
                                <m:e>
                                  <m:r>
                                    <a:rPr lang="en-US" sz="3200" i="1">
                                      <a:solidFill>
                                        <a:schemeClr val="bg1"/>
                                      </a:solidFill>
                                      <a:latin typeface="Cambria Math" panose="02040503050406030204" pitchFamily="18" charset="0"/>
                                    </a:rPr>
                                    <m:t>𝑠𝐼</m:t>
                                  </m:r>
                                  <m:r>
                                    <a:rPr lang="en-US" sz="3200" i="1">
                                      <a:solidFill>
                                        <a:schemeClr val="bg1"/>
                                      </a:solidFill>
                                      <a:latin typeface="Cambria Math" panose="02040503050406030204" pitchFamily="18" charset="0"/>
                                    </a:rPr>
                                    <m:t>−</m:t>
                                  </m:r>
                                  <m:r>
                                    <a:rPr lang="en-US" sz="3200" i="1">
                                      <a:solidFill>
                                        <a:schemeClr val="bg1"/>
                                      </a:solidFill>
                                      <a:latin typeface="Cambria Math" panose="02040503050406030204" pitchFamily="18" charset="0"/>
                                    </a:rPr>
                                    <m:t>𝐴</m:t>
                                  </m:r>
                                </m:e>
                              </m:d>
                            </m:e>
                            <m:sup>
                              <m:r>
                                <a:rPr lang="en-US" sz="3200" i="1">
                                  <a:solidFill>
                                    <a:schemeClr val="bg1"/>
                                  </a:solidFill>
                                  <a:latin typeface="Cambria Math" panose="02040503050406030204" pitchFamily="18" charset="0"/>
                                </a:rPr>
                                <m:t>−1</m:t>
                              </m:r>
                            </m:sup>
                          </m:sSup>
                          <m:r>
                            <a:rPr lang="en-US" sz="3200" i="1">
                              <a:solidFill>
                                <a:schemeClr val="bg1"/>
                              </a:solidFill>
                              <a:latin typeface="Cambria Math" panose="02040503050406030204" pitchFamily="18" charset="0"/>
                            </a:rPr>
                            <m:t>𝐵</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𝐷</m:t>
                          </m:r>
                        </m:e>
                      </m:d>
                      <m:r>
                        <a:rPr lang="en-US" sz="3200" b="0" i="1" smtClean="0">
                          <a:solidFill>
                            <a:schemeClr val="bg1"/>
                          </a:solidFill>
                          <a:latin typeface="Cambria Math" panose="02040503050406030204" pitchFamily="18" charset="0"/>
                        </a:rPr>
                        <m:t> </m:t>
                      </m:r>
                      <m:r>
                        <a:rPr lang="en-US" sz="3200" b="0" i="1" smtClean="0">
                          <a:solidFill>
                            <a:schemeClr val="bg1"/>
                          </a:solidFill>
                          <a:latin typeface="Cambria Math" panose="02040503050406030204" pitchFamily="18" charset="0"/>
                        </a:rPr>
                        <m:t>𝑈</m:t>
                      </m:r>
                      <m:r>
                        <a:rPr lang="en-US" sz="3200" b="0" i="1" smtClean="0">
                          <a:solidFill>
                            <a:schemeClr val="bg1"/>
                          </a:solidFill>
                          <a:latin typeface="Cambria Math" panose="02040503050406030204" pitchFamily="18" charset="0"/>
                        </a:rPr>
                        <m:t>(</m:t>
                      </m:r>
                      <m:r>
                        <a:rPr lang="en-US" sz="3200" b="0" i="1" smtClean="0">
                          <a:solidFill>
                            <a:schemeClr val="bg1"/>
                          </a:solidFill>
                          <a:latin typeface="Cambria Math" panose="02040503050406030204" pitchFamily="18" charset="0"/>
                        </a:rPr>
                        <m:t>𝑠</m:t>
                      </m:r>
                      <m:r>
                        <a:rPr lang="en-US" sz="3200" b="0" i="1" smtClean="0">
                          <a:solidFill>
                            <a:schemeClr val="bg1"/>
                          </a:solidFill>
                          <a:latin typeface="Cambria Math" panose="02040503050406030204" pitchFamily="18" charset="0"/>
                        </a:rPr>
                        <m:t>)</m:t>
                      </m:r>
                    </m:oMath>
                  </m:oMathPara>
                </a14:m>
                <a:endParaRPr lang="es-CO" sz="2400">
                  <a:solidFill>
                    <a:schemeClr val="bg1"/>
                  </a:solidFill>
                </a:endParaRPr>
              </a:p>
            </p:txBody>
          </p:sp>
        </mc:Choice>
        <mc:Fallback>
          <p:sp>
            <p:nvSpPr>
              <p:cNvPr id="6" name="TextBox 10">
                <a:extLst>
                  <a:ext uri="{FF2B5EF4-FFF2-40B4-BE49-F238E27FC236}">
                    <a16:creationId xmlns:a16="http://schemas.microsoft.com/office/drawing/2014/main" id="{D533355F-5F78-ED2B-0598-B3D980BC8AEF}"/>
                  </a:ext>
                </a:extLst>
              </p:cNvPr>
              <p:cNvSpPr txBox="1">
                <a:spLocks noRot="1" noChangeAspect="1" noMove="1" noResize="1" noEditPoints="1" noAdjustHandles="1" noChangeArrowheads="1" noChangeShapeType="1" noTextEdit="1"/>
              </p:cNvSpPr>
              <p:nvPr/>
            </p:nvSpPr>
            <p:spPr>
              <a:xfrm>
                <a:off x="571500" y="3385750"/>
                <a:ext cx="6315075" cy="492443"/>
              </a:xfrm>
              <a:prstGeom prst="rect">
                <a:avLst/>
              </a:prstGeom>
              <a:blipFill>
                <a:blip r:embed="rId4"/>
                <a:stretch>
                  <a:fillRect/>
                </a:stretch>
              </a:blipFill>
              <a:ln>
                <a:solidFill>
                  <a:schemeClr val="accent1"/>
                </a:solidFill>
              </a:ln>
            </p:spPr>
            <p:txBody>
              <a:bodyPr/>
              <a:lstStyle/>
              <a:p>
                <a:r>
                  <a:rPr lang="en-US">
                    <a:noFill/>
                  </a:rPr>
                  <a:t> </a:t>
                </a:r>
              </a:p>
            </p:txBody>
          </p:sp>
        </mc:Fallback>
      </mc:AlternateContent>
      <p:sp>
        <p:nvSpPr>
          <p:cNvPr id="7" name="TextBox 4">
            <a:extLst>
              <a:ext uri="{FF2B5EF4-FFF2-40B4-BE49-F238E27FC236}">
                <a16:creationId xmlns:a16="http://schemas.microsoft.com/office/drawing/2014/main" id="{E37D2946-40A5-5401-EB0F-B1A8467E7701}"/>
              </a:ext>
            </a:extLst>
          </p:cNvPr>
          <p:cNvSpPr txBox="1"/>
          <p:nvPr/>
        </p:nvSpPr>
        <p:spPr>
          <a:xfrm>
            <a:off x="742950" y="2856697"/>
            <a:ext cx="3339376" cy="369332"/>
          </a:xfrm>
          <a:prstGeom prst="rect">
            <a:avLst/>
          </a:prstGeom>
          <a:noFill/>
        </p:spPr>
        <p:txBody>
          <a:bodyPr wrap="none" rtlCol="0">
            <a:spAutoFit/>
          </a:bodyPr>
          <a:lstStyle/>
          <a:p>
            <a:r>
              <a:rPr lang="es-CO">
                <a:solidFill>
                  <a:schemeClr val="accent1"/>
                </a:solidFill>
              </a:rPr>
              <a:t>Con condiciones iniciales nulas</a:t>
            </a:r>
          </a:p>
        </p:txBody>
      </p:sp>
    </p:spTree>
    <p:extLst>
      <p:ext uri="{BB962C8B-B14F-4D97-AF65-F5344CB8AC3E}">
        <p14:creationId xmlns:p14="http://schemas.microsoft.com/office/powerpoint/2010/main" val="25448781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3" grpId="0"/>
      <p:bldP spid="4" grpId="0"/>
      <p:bldP spid="6" grpId="0" animBg="1"/>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50F67-A29E-A13D-AE8F-F31C493BEAAF}"/>
              </a:ext>
            </a:extLst>
          </p:cNvPr>
          <p:cNvSpPr>
            <a:spLocks noGrp="1"/>
          </p:cNvSpPr>
          <p:nvPr>
            <p:ph type="title"/>
          </p:nvPr>
        </p:nvSpPr>
        <p:spPr/>
        <p:txBody>
          <a:bodyPr>
            <a:normAutofit/>
          </a:bodyPr>
          <a:lstStyle/>
          <a:p>
            <a:r>
              <a:rPr lang="pt-BR"/>
              <a:t>Autovalor (</a:t>
            </a:r>
            <a:r>
              <a:rPr lang="pt-BR" err="1"/>
              <a:t>Eigenvalue</a:t>
            </a:r>
            <a:r>
              <a:rPr lang="pt-BR"/>
              <a:t>)</a:t>
            </a:r>
            <a:endParaRPr lang="es-CO"/>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B28676-06B8-563A-02B9-9EE1731DF288}"/>
                  </a:ext>
                </a:extLst>
              </p:cNvPr>
              <p:cNvSpPr>
                <a:spLocks noGrp="1"/>
              </p:cNvSpPr>
              <p:nvPr>
                <p:ph idx="1"/>
              </p:nvPr>
            </p:nvSpPr>
            <p:spPr>
              <a:xfrm>
                <a:off x="838200" y="1545707"/>
                <a:ext cx="10515600" cy="4947168"/>
              </a:xfrm>
            </p:spPr>
            <p:txBody>
              <a:bodyPr>
                <a:normAutofit/>
              </a:bodyPr>
              <a:lstStyle/>
              <a:p>
                <a:r>
                  <a:rPr lang="es-ES"/>
                  <a:t>Sea </a:t>
                </a:r>
                <a14:m>
                  <m:oMath xmlns:m="http://schemas.openxmlformats.org/officeDocument/2006/math">
                    <m:r>
                      <a:rPr lang="en-US" b="0" i="1" smtClean="0">
                        <a:solidFill>
                          <a:schemeClr val="accent1"/>
                        </a:solidFill>
                        <a:latin typeface="Cambria Math" panose="02040503050406030204" pitchFamily="18" charset="0"/>
                      </a:rPr>
                      <m:t>𝐴</m:t>
                    </m:r>
                    <m:r>
                      <a:rPr lang="en-US" b="0" i="1" smtClean="0">
                        <a:latin typeface="Cambria Math" panose="02040503050406030204" pitchFamily="18" charset="0"/>
                      </a:rPr>
                      <m:t> </m:t>
                    </m:r>
                  </m:oMath>
                </a14:m>
                <a:r>
                  <a:rPr lang="es-ES"/>
                  <a:t>una matriz cuadrada de orden </a:t>
                </a:r>
                <a14:m>
                  <m:oMath xmlns:m="http://schemas.openxmlformats.org/officeDocument/2006/math">
                    <m:r>
                      <a:rPr lang="es-ES" i="1" dirty="0" smtClean="0">
                        <a:solidFill>
                          <a:schemeClr val="accent1"/>
                        </a:solidFill>
                        <a:latin typeface="Cambria Math" panose="02040503050406030204" pitchFamily="18" charset="0"/>
                      </a:rPr>
                      <m:t>𝑛</m:t>
                    </m:r>
                    <m:r>
                      <a:rPr lang="es-ES" i="1" dirty="0" smtClean="0">
                        <a:solidFill>
                          <a:schemeClr val="accent1"/>
                        </a:solidFill>
                        <a:latin typeface="Cambria Math" panose="02040503050406030204" pitchFamily="18" charset="0"/>
                      </a:rPr>
                      <m:t> ×</m:t>
                    </m:r>
                    <m:r>
                      <a:rPr lang="es-ES" i="1" dirty="0" smtClean="0">
                        <a:solidFill>
                          <a:schemeClr val="accent1"/>
                        </a:solidFill>
                        <a:latin typeface="Cambria Math" panose="02040503050406030204" pitchFamily="18" charset="0"/>
                      </a:rPr>
                      <m:t>𝑛</m:t>
                    </m:r>
                    <m:r>
                      <a:rPr lang="es-ES" i="1" dirty="0" smtClean="0">
                        <a:solidFill>
                          <a:schemeClr val="accent1"/>
                        </a:solidFill>
                        <a:latin typeface="Cambria Math" panose="02040503050406030204" pitchFamily="18" charset="0"/>
                      </a:rPr>
                      <m:t> </m:t>
                    </m:r>
                  </m:oMath>
                </a14:m>
                <a:r>
                  <a:rPr lang="es-ES"/>
                  <a:t>(la matriz de estados del sistema). Un escalar </a:t>
                </a:r>
                <a14:m>
                  <m:oMath xmlns:m="http://schemas.openxmlformats.org/officeDocument/2006/math">
                    <m:r>
                      <a:rPr lang="es-ES" i="1" dirty="0" smtClean="0">
                        <a:latin typeface="Cambria Math" panose="02040503050406030204" pitchFamily="18" charset="0"/>
                      </a:rPr>
                      <m:t>𝜆</m:t>
                    </m:r>
                    <m:r>
                      <a:rPr lang="es-ES" i="1" dirty="0" smtClean="0">
                        <a:latin typeface="Cambria Math" panose="02040503050406030204" pitchFamily="18" charset="0"/>
                      </a:rPr>
                      <m:t> </m:t>
                    </m:r>
                  </m:oMath>
                </a14:m>
                <a:r>
                  <a:rPr lang="es-ES"/>
                  <a:t>se denomina autovalor de </a:t>
                </a:r>
                <a14:m>
                  <m:oMath xmlns:m="http://schemas.openxmlformats.org/officeDocument/2006/math">
                    <m:r>
                      <a:rPr lang="en-US" b="1" i="1" dirty="0" smtClean="0">
                        <a:solidFill>
                          <a:schemeClr val="accent1"/>
                        </a:solidFill>
                        <a:latin typeface="Cambria Math" panose="02040503050406030204" pitchFamily="18" charset="0"/>
                      </a:rPr>
                      <m:t>𝑨</m:t>
                    </m:r>
                  </m:oMath>
                </a14:m>
                <a:r>
                  <a:rPr lang="es-ES"/>
                  <a:t> si existe un vector no nulo </a:t>
                </a:r>
                <a14:m>
                  <m:oMath xmlns:m="http://schemas.openxmlformats.org/officeDocument/2006/math">
                    <m:r>
                      <a:rPr lang="es-ES" i="1" dirty="0" smtClean="0">
                        <a:solidFill>
                          <a:schemeClr val="accent1"/>
                        </a:solidFill>
                        <a:latin typeface="Cambria Math" panose="02040503050406030204" pitchFamily="18" charset="0"/>
                      </a:rPr>
                      <m:t>𝐯</m:t>
                    </m:r>
                  </m:oMath>
                </a14:m>
                <a:r>
                  <a:rPr lang="es-ES"/>
                  <a:t> (denominado </a:t>
                </a:r>
                <a:r>
                  <a:rPr lang="es-ES" err="1"/>
                  <a:t>autovector</a:t>
                </a:r>
                <a:r>
                  <a:rPr lang="es-ES"/>
                  <a:t>) tal que se satisface la siguiente igualdad:</a:t>
                </a:r>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𝐀𝐯</m:t>
                      </m:r>
                      <m:r>
                        <a:rPr lang="es-ES" i="1" dirty="0" smtClean="0">
                          <a:latin typeface="Cambria Math" panose="02040503050406030204" pitchFamily="18" charset="0"/>
                        </a:rPr>
                        <m:t>=</m:t>
                      </m:r>
                      <m:r>
                        <a:rPr lang="es-ES" i="1" dirty="0" smtClean="0">
                          <a:latin typeface="Cambria Math" panose="02040503050406030204" pitchFamily="18" charset="0"/>
                        </a:rPr>
                        <m:t>𝜆</m:t>
                      </m:r>
                      <m:r>
                        <a:rPr lang="es-ES" i="1" dirty="0" smtClean="0">
                          <a:latin typeface="Cambria Math" panose="02040503050406030204" pitchFamily="18" charset="0"/>
                        </a:rPr>
                        <m:t>𝐯</m:t>
                      </m:r>
                    </m:oMath>
                  </m:oMathPara>
                </a14:m>
                <a:endParaRPr lang="es-ES"/>
              </a:p>
              <a:p>
                <a:pPr marL="0" indent="0">
                  <a:buNone/>
                </a:pPr>
                <a:endParaRPr lang="es-ES"/>
              </a:p>
              <a:p>
                <a:r>
                  <a:rPr lang="es-ES">
                    <a:solidFill>
                      <a:schemeClr val="accent1"/>
                    </a:solidFill>
                  </a:rPr>
                  <a:t>En términos de Ingeniería de Control: </a:t>
                </a:r>
                <a:r>
                  <a:rPr lang="es-ES"/>
                  <a:t>El autovalor </a:t>
                </a:r>
                <a14:m>
                  <m:oMath xmlns:m="http://schemas.openxmlformats.org/officeDocument/2006/math">
                    <m:r>
                      <a:rPr lang="es-ES" i="1" dirty="0" smtClean="0">
                        <a:latin typeface="Cambria Math" panose="02040503050406030204" pitchFamily="18" charset="0"/>
                      </a:rPr>
                      <m:t>𝜆</m:t>
                    </m:r>
                  </m:oMath>
                </a14:m>
                <a:r>
                  <a:rPr lang="es-ES"/>
                  <a:t> representa una frecuencia compleja característica del sistema. Determina la tasa de crecimiento, decaimiento u oscilación de los estados del sistema cuando no hay entradas externas (respuesta libre).</a:t>
                </a:r>
                <a:endParaRPr lang="es-CO"/>
              </a:p>
            </p:txBody>
          </p:sp>
        </mc:Choice>
        <mc:Fallback>
          <p:sp>
            <p:nvSpPr>
              <p:cNvPr id="3" name="Content Placeholder 2">
                <a:extLst>
                  <a:ext uri="{FF2B5EF4-FFF2-40B4-BE49-F238E27FC236}">
                    <a16:creationId xmlns:a16="http://schemas.microsoft.com/office/drawing/2014/main" id="{A6B28676-06B8-563A-02B9-9EE1731DF288}"/>
                  </a:ext>
                </a:extLst>
              </p:cNvPr>
              <p:cNvSpPr>
                <a:spLocks noGrp="1" noRot="1" noChangeAspect="1" noMove="1" noResize="1" noEditPoints="1" noAdjustHandles="1" noChangeArrowheads="1" noChangeShapeType="1" noTextEdit="1"/>
              </p:cNvSpPr>
              <p:nvPr>
                <p:ph idx="1"/>
              </p:nvPr>
            </p:nvSpPr>
            <p:spPr>
              <a:xfrm>
                <a:off x="838200" y="1545707"/>
                <a:ext cx="10515600" cy="4947168"/>
              </a:xfrm>
              <a:blipFill>
                <a:blip r:embed="rId2"/>
                <a:stretch>
                  <a:fillRect l="-1043" t="-2096" r="-754"/>
                </a:stretch>
              </a:blipFill>
            </p:spPr>
            <p:txBody>
              <a:bodyPr/>
              <a:lstStyle/>
              <a:p>
                <a:r>
                  <a:rPr lang="en-US">
                    <a:noFill/>
                  </a:rPr>
                  <a:t> </a:t>
                </a:r>
              </a:p>
            </p:txBody>
          </p:sp>
        </mc:Fallback>
      </mc:AlternateContent>
    </p:spTree>
    <p:extLst>
      <p:ext uri="{BB962C8B-B14F-4D97-AF65-F5344CB8AC3E}">
        <p14:creationId xmlns:p14="http://schemas.microsoft.com/office/powerpoint/2010/main" val="553681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6FFE-18A6-7FD5-0C0C-F8E2E702D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AA023-EB26-FEA2-22ED-6B186F3AB159}"/>
              </a:ext>
            </a:extLst>
          </p:cNvPr>
          <p:cNvSpPr>
            <a:spLocks noGrp="1"/>
          </p:cNvSpPr>
          <p:nvPr>
            <p:ph type="title"/>
          </p:nvPr>
        </p:nvSpPr>
        <p:spPr/>
        <p:txBody>
          <a:bodyPr>
            <a:normAutofit/>
          </a:bodyPr>
          <a:lstStyle/>
          <a:p>
            <a:r>
              <a:rPr lang="pt-BR"/>
              <a:t>Autovalor (</a:t>
            </a:r>
            <a:r>
              <a:rPr lang="pt-BR" err="1"/>
              <a:t>Eigenvalue</a:t>
            </a:r>
            <a:r>
              <a:rPr lang="pt-BR"/>
              <a:t>)</a:t>
            </a:r>
            <a:endParaRPr lang="es-CO"/>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D6CF40-BC13-4399-4EED-F0F413BFD5A8}"/>
                  </a:ext>
                </a:extLst>
              </p:cNvPr>
              <p:cNvSpPr>
                <a:spLocks noGrp="1"/>
              </p:cNvSpPr>
              <p:nvPr>
                <p:ph idx="1"/>
              </p:nvPr>
            </p:nvSpPr>
            <p:spPr>
              <a:xfrm>
                <a:off x="838200" y="1564998"/>
                <a:ext cx="10515600" cy="4947168"/>
              </a:xfrm>
            </p:spPr>
            <p:txBody>
              <a:bodyPr>
                <a:normAutofit/>
              </a:bodyPr>
              <a:lstStyle/>
              <a:p>
                <a:r>
                  <a:rPr lang="es-ES"/>
                  <a:t>En la ecuación </a:t>
                </a:r>
                <a14:m>
                  <m:oMath xmlns:m="http://schemas.openxmlformats.org/officeDocument/2006/math">
                    <m:acc>
                      <m:accPr>
                        <m:chr m:val="̇"/>
                        <m:ctrlPr>
                          <a:rPr lang="es-ES" i="1" dirty="0" smtClean="0">
                            <a:solidFill>
                              <a:schemeClr val="accent1"/>
                            </a:solidFill>
                            <a:latin typeface="Cambria Math" panose="02040503050406030204" pitchFamily="18" charset="0"/>
                          </a:rPr>
                        </m:ctrlPr>
                      </m:accPr>
                      <m:e>
                        <m:r>
                          <a:rPr lang="es-ES" i="1" dirty="0" smtClean="0">
                            <a:solidFill>
                              <a:schemeClr val="accent1"/>
                            </a:solidFill>
                            <a:latin typeface="Cambria Math" panose="02040503050406030204" pitchFamily="18" charset="0"/>
                          </a:rPr>
                          <m:t>𝐱</m:t>
                        </m:r>
                      </m:e>
                    </m:acc>
                    <m:r>
                      <a:rPr lang="es-ES" i="1" dirty="0" smtClean="0">
                        <a:solidFill>
                          <a:schemeClr val="accent1"/>
                        </a:solidFill>
                        <a:latin typeface="Cambria Math" panose="02040503050406030204" pitchFamily="18" charset="0"/>
                      </a:rPr>
                      <m:t>=</m:t>
                    </m:r>
                    <m:r>
                      <a:rPr lang="es-ES" i="1" dirty="0" smtClean="0">
                        <a:solidFill>
                          <a:schemeClr val="accent1"/>
                        </a:solidFill>
                        <a:latin typeface="Cambria Math" panose="02040503050406030204" pitchFamily="18" charset="0"/>
                      </a:rPr>
                      <m:t>𝐀𝐱</m:t>
                    </m:r>
                  </m:oMath>
                </a14:m>
                <a:r>
                  <a:rPr lang="es-ES"/>
                  <a:t>, buscamos direcciones especiales (</a:t>
                </a:r>
                <a:r>
                  <a:rPr lang="es-ES" err="1"/>
                  <a:t>autovectores</a:t>
                </a:r>
                <a:r>
                  <a:rPr lang="es-ES"/>
                  <a:t>) donde el sistema no cambia de dirección, solo se estira o se encoge. Ese factor de estiramiento es el autovalor (</a:t>
                </a:r>
                <a14:m>
                  <m:oMath xmlns:m="http://schemas.openxmlformats.org/officeDocument/2006/math">
                    <m:r>
                      <a:rPr lang="es-ES" i="1" dirty="0" smtClean="0">
                        <a:solidFill>
                          <a:schemeClr val="accent1"/>
                        </a:solidFill>
                        <a:latin typeface="Cambria Math" panose="02040503050406030204" pitchFamily="18" charset="0"/>
                      </a:rPr>
                      <m:t>𝜆</m:t>
                    </m:r>
                  </m:oMath>
                </a14:m>
                <a:r>
                  <a:rPr lang="es-ES"/>
                  <a:t>).</a:t>
                </a:r>
                <a:endParaRPr lang="es-CO"/>
              </a:p>
            </p:txBody>
          </p:sp>
        </mc:Choice>
        <mc:Fallback>
          <p:sp>
            <p:nvSpPr>
              <p:cNvPr id="3" name="Content Placeholder 2">
                <a:extLst>
                  <a:ext uri="{FF2B5EF4-FFF2-40B4-BE49-F238E27FC236}">
                    <a16:creationId xmlns:a16="http://schemas.microsoft.com/office/drawing/2014/main" id="{72D6CF40-BC13-4399-4EED-F0F413BFD5A8}"/>
                  </a:ext>
                </a:extLst>
              </p:cNvPr>
              <p:cNvSpPr>
                <a:spLocks noGrp="1" noRot="1" noChangeAspect="1" noMove="1" noResize="1" noEditPoints="1" noAdjustHandles="1" noChangeArrowheads="1" noChangeShapeType="1" noTextEdit="1"/>
              </p:cNvSpPr>
              <p:nvPr>
                <p:ph idx="1"/>
              </p:nvPr>
            </p:nvSpPr>
            <p:spPr>
              <a:xfrm>
                <a:off x="838200" y="1564998"/>
                <a:ext cx="10515600" cy="4947168"/>
              </a:xfrm>
              <a:blipFill>
                <a:blip r:embed="rId2"/>
                <a:stretch>
                  <a:fillRect l="-1043" t="-2096" r="-179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FE448FD5-9060-3136-AAE9-78B8631F5E6F}"/>
              </a:ext>
            </a:extLst>
          </p:cNvPr>
          <p:cNvPicPr>
            <a:picLocks noChangeAspect="1"/>
          </p:cNvPicPr>
          <p:nvPr/>
        </p:nvPicPr>
        <p:blipFill>
          <a:blip r:embed="rId3"/>
          <a:stretch>
            <a:fillRect/>
          </a:stretch>
        </p:blipFill>
        <p:spPr>
          <a:xfrm>
            <a:off x="927829" y="3084285"/>
            <a:ext cx="9888471" cy="2787585"/>
          </a:xfrm>
          <a:prstGeom prst="rect">
            <a:avLst/>
          </a:prstGeom>
        </p:spPr>
      </p:pic>
    </p:spTree>
    <p:extLst>
      <p:ext uri="{BB962C8B-B14F-4D97-AF65-F5344CB8AC3E}">
        <p14:creationId xmlns:p14="http://schemas.microsoft.com/office/powerpoint/2010/main" val="3329385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63627-20AE-9B19-626F-142C1B4AC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3F324-AD9C-F990-DC52-DD67D2694535}"/>
              </a:ext>
            </a:extLst>
          </p:cNvPr>
          <p:cNvSpPr>
            <a:spLocks noGrp="1"/>
          </p:cNvSpPr>
          <p:nvPr>
            <p:ph type="title"/>
          </p:nvPr>
        </p:nvSpPr>
        <p:spPr/>
        <p:txBody>
          <a:bodyPr>
            <a:normAutofit/>
          </a:bodyPr>
          <a:lstStyle/>
          <a:p>
            <a:r>
              <a:rPr lang="pt-BR"/>
              <a:t>Autovalor (</a:t>
            </a:r>
            <a:r>
              <a:rPr lang="pt-BR" err="1"/>
              <a:t>Eigenvalue</a:t>
            </a:r>
            <a:r>
              <a:rPr lang="pt-BR"/>
              <a:t>)</a:t>
            </a:r>
            <a:endParaRPr lang="es-CO"/>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C6ABEC8-F894-5399-AED5-1DCC6FB731BD}"/>
                  </a:ext>
                </a:extLst>
              </p:cNvPr>
              <p:cNvSpPr>
                <a:spLocks noGrp="1"/>
              </p:cNvSpPr>
              <p:nvPr>
                <p:ph idx="1"/>
              </p:nvPr>
            </p:nvSpPr>
            <p:spPr>
              <a:xfrm>
                <a:off x="838200" y="1545707"/>
                <a:ext cx="10515600" cy="4947168"/>
              </a:xfrm>
            </p:spPr>
            <p:txBody>
              <a:bodyPr>
                <a:normAutofit/>
              </a:bodyPr>
              <a:lstStyle/>
              <a:p>
                <a:r>
                  <a:rPr lang="es-ES"/>
                  <a:t>En la ecuación </a:t>
                </a:r>
                <a14:m>
                  <m:oMath xmlns:m="http://schemas.openxmlformats.org/officeDocument/2006/math">
                    <m:acc>
                      <m:accPr>
                        <m:chr m:val="̇"/>
                        <m:ctrlPr>
                          <a:rPr lang="es-ES" i="1" dirty="0" smtClean="0">
                            <a:solidFill>
                              <a:schemeClr val="accent1"/>
                            </a:solidFill>
                            <a:latin typeface="Cambria Math" panose="02040503050406030204" pitchFamily="18" charset="0"/>
                          </a:rPr>
                        </m:ctrlPr>
                      </m:accPr>
                      <m:e>
                        <m:r>
                          <a:rPr lang="es-ES" i="1" dirty="0" smtClean="0">
                            <a:solidFill>
                              <a:schemeClr val="accent1"/>
                            </a:solidFill>
                            <a:latin typeface="Cambria Math" panose="02040503050406030204" pitchFamily="18" charset="0"/>
                          </a:rPr>
                          <m:t>𝐱</m:t>
                        </m:r>
                      </m:e>
                    </m:acc>
                    <m:r>
                      <a:rPr lang="es-ES" i="1" dirty="0" smtClean="0">
                        <a:solidFill>
                          <a:schemeClr val="accent1"/>
                        </a:solidFill>
                        <a:latin typeface="Cambria Math" panose="02040503050406030204" pitchFamily="18" charset="0"/>
                      </a:rPr>
                      <m:t>=</m:t>
                    </m:r>
                    <m:r>
                      <a:rPr lang="es-ES" i="1" dirty="0" smtClean="0">
                        <a:solidFill>
                          <a:schemeClr val="accent1"/>
                        </a:solidFill>
                        <a:latin typeface="Cambria Math" panose="02040503050406030204" pitchFamily="18" charset="0"/>
                      </a:rPr>
                      <m:t>𝐀𝐱</m:t>
                    </m:r>
                  </m:oMath>
                </a14:m>
                <a:r>
                  <a:rPr lang="es-ES"/>
                  <a:t>, buscamos direcciones especiales (</a:t>
                </a:r>
                <a:r>
                  <a:rPr lang="es-ES" err="1"/>
                  <a:t>autovectores</a:t>
                </a:r>
                <a:r>
                  <a:rPr lang="es-ES"/>
                  <a:t>) donde el sistema no cambia de dirección, solo se estira o se encoge. Ese factor de estiramiento es el autovalor (</a:t>
                </a:r>
                <a14:m>
                  <m:oMath xmlns:m="http://schemas.openxmlformats.org/officeDocument/2006/math">
                    <m:r>
                      <a:rPr lang="es-ES" i="1" dirty="0" smtClean="0">
                        <a:solidFill>
                          <a:schemeClr val="accent1"/>
                        </a:solidFill>
                        <a:latin typeface="Cambria Math" panose="02040503050406030204" pitchFamily="18" charset="0"/>
                      </a:rPr>
                      <m:t>𝜆</m:t>
                    </m:r>
                  </m:oMath>
                </a14:m>
                <a:r>
                  <a:rPr lang="es-ES"/>
                  <a:t>).</a:t>
                </a:r>
                <a:endParaRPr lang="es-CO"/>
              </a:p>
            </p:txBody>
          </p:sp>
        </mc:Choice>
        <mc:Fallback>
          <p:sp>
            <p:nvSpPr>
              <p:cNvPr id="3" name="Content Placeholder 2">
                <a:extLst>
                  <a:ext uri="{FF2B5EF4-FFF2-40B4-BE49-F238E27FC236}">
                    <a16:creationId xmlns:a16="http://schemas.microsoft.com/office/drawing/2014/main" id="{BC6ABEC8-F894-5399-AED5-1DCC6FB731BD}"/>
                  </a:ext>
                </a:extLst>
              </p:cNvPr>
              <p:cNvSpPr>
                <a:spLocks noGrp="1" noRot="1" noChangeAspect="1" noMove="1" noResize="1" noEditPoints="1" noAdjustHandles="1" noChangeArrowheads="1" noChangeShapeType="1" noTextEdit="1"/>
              </p:cNvSpPr>
              <p:nvPr>
                <p:ph idx="1"/>
              </p:nvPr>
            </p:nvSpPr>
            <p:spPr>
              <a:xfrm>
                <a:off x="838200" y="1545707"/>
                <a:ext cx="10515600" cy="4947168"/>
              </a:xfrm>
              <a:blipFill>
                <a:blip r:embed="rId2"/>
                <a:stretch>
                  <a:fillRect l="-1043" t="-2096" r="-179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B61BCFE5-A862-BC60-A651-FCE050C82488}"/>
              </a:ext>
            </a:extLst>
          </p:cNvPr>
          <p:cNvPicPr>
            <a:picLocks noChangeAspect="1"/>
          </p:cNvPicPr>
          <p:nvPr/>
        </p:nvPicPr>
        <p:blipFill>
          <a:blip r:embed="rId3"/>
          <a:stretch>
            <a:fillRect/>
          </a:stretch>
        </p:blipFill>
        <p:spPr>
          <a:xfrm>
            <a:off x="927829" y="3084285"/>
            <a:ext cx="9888471" cy="2787585"/>
          </a:xfrm>
          <a:prstGeom prst="rect">
            <a:avLst/>
          </a:prstGeom>
        </p:spPr>
      </p:pic>
    </p:spTree>
    <p:extLst>
      <p:ext uri="{BB962C8B-B14F-4D97-AF65-F5344CB8AC3E}">
        <p14:creationId xmlns:p14="http://schemas.microsoft.com/office/powerpoint/2010/main" val="3976181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E5098-BF2C-7AA8-016B-A3E847AA896A}"/>
              </a:ext>
            </a:extLst>
          </p:cNvPr>
          <p:cNvSpPr>
            <a:spLocks noGrp="1"/>
          </p:cNvSpPr>
          <p:nvPr>
            <p:ph type="title"/>
          </p:nvPr>
        </p:nvSpPr>
        <p:spPr>
          <a:xfrm>
            <a:off x="838200" y="365126"/>
            <a:ext cx="10515600" cy="773210"/>
          </a:xfrm>
        </p:spPr>
        <p:txBody>
          <a:bodyPr/>
          <a:lstStyle/>
          <a:p>
            <a:r>
              <a:rPr lang="pt-BR"/>
              <a:t>¿</a:t>
            </a:r>
            <a:r>
              <a:rPr lang="pt-BR" err="1"/>
              <a:t>Cómo</a:t>
            </a:r>
            <a:r>
              <a:rPr lang="pt-BR"/>
              <a:t> se </a:t>
            </a:r>
            <a:r>
              <a:rPr lang="pt-BR" err="1"/>
              <a:t>calculan</a:t>
            </a:r>
            <a:r>
              <a:rPr lang="pt-BR"/>
              <a:t>?</a:t>
            </a:r>
            <a:endParaRPr lang="es-CO"/>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0F94C16-5F71-66AA-D748-CD16A8974D62}"/>
                  </a:ext>
                </a:extLst>
              </p:cNvPr>
              <p:cNvSpPr>
                <a:spLocks noGrp="1"/>
              </p:cNvSpPr>
              <p:nvPr>
                <p:ph idx="1"/>
              </p:nvPr>
            </p:nvSpPr>
            <p:spPr>
              <a:xfrm>
                <a:off x="838200" y="1138336"/>
                <a:ext cx="10515600" cy="5486399"/>
              </a:xfrm>
            </p:spPr>
            <p:txBody>
              <a:bodyPr>
                <a:normAutofit fontScale="92500" lnSpcReduction="10000"/>
              </a:bodyPr>
              <a:lstStyle/>
              <a:p>
                <a:pPr marL="0" indent="0">
                  <a:buNone/>
                </a:pPr>
                <a:r>
                  <a:rPr lang="es-ES"/>
                  <a:t>Para sacar los autovalores de la matriz de estado </a:t>
                </a:r>
                <a14:m>
                  <m:oMath xmlns:m="http://schemas.openxmlformats.org/officeDocument/2006/math">
                    <m:r>
                      <a:rPr lang="es-ES" i="1" dirty="0" smtClean="0">
                        <a:solidFill>
                          <a:schemeClr val="accent1"/>
                        </a:solidFill>
                        <a:latin typeface="Cambria Math" panose="02040503050406030204" pitchFamily="18" charset="0"/>
                      </a:rPr>
                      <m:t>𝐀</m:t>
                    </m:r>
                  </m:oMath>
                </a14:m>
                <a:r>
                  <a:rPr lang="es-ES"/>
                  <a:t>, usamos la Ecuación Característica. Aquí es donde conectamos el álgebra con la física.</a:t>
                </a:r>
              </a:p>
              <a:p>
                <a:pPr marL="0" indent="0">
                  <a:buNone/>
                </a:pPr>
                <a:r>
                  <a:rPr lang="es-ES"/>
                  <a:t>Partimos de la definición:</a:t>
                </a:r>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𝐀𝐯</m:t>
                      </m:r>
                      <m:r>
                        <a:rPr lang="es-ES" i="1" dirty="0" smtClean="0">
                          <a:latin typeface="Cambria Math" panose="02040503050406030204" pitchFamily="18" charset="0"/>
                        </a:rPr>
                        <m:t>=</m:t>
                      </m:r>
                      <m:r>
                        <a:rPr lang="es-ES" i="1" dirty="0" smtClean="0">
                          <a:latin typeface="Cambria Math" panose="02040503050406030204" pitchFamily="18" charset="0"/>
                        </a:rPr>
                        <m:t>𝜆</m:t>
                      </m:r>
                      <m:r>
                        <a:rPr lang="es-ES" i="1" dirty="0" smtClean="0">
                          <a:latin typeface="Cambria Math" panose="02040503050406030204" pitchFamily="18" charset="0"/>
                        </a:rPr>
                        <m:t>𝐯</m:t>
                      </m:r>
                    </m:oMath>
                  </m:oMathPara>
                </a14:m>
                <a:endParaRPr lang="es-ES"/>
              </a:p>
              <a:p>
                <a:pPr marL="0" indent="0">
                  <a:buNone/>
                </a:pPr>
                <a:endParaRPr lang="es-ES"/>
              </a:p>
              <a:p>
                <a:pPr marL="0" indent="0">
                  <a:buNone/>
                </a:pPr>
                <a:r>
                  <a:rPr lang="es-ES"/>
                  <a:t>Para resolver esto, agrupamos términos:</a:t>
                </a:r>
              </a:p>
              <a:p>
                <a:pPr marL="0" indent="0">
                  <a:buNone/>
                </a:pPr>
                <a:endParaRPr lang="es-ES"/>
              </a:p>
              <a:p>
                <a:pPr marL="0" indent="0">
                  <a:buNone/>
                </a:pPr>
                <a14:m>
                  <m:oMathPara xmlns:m="http://schemas.openxmlformats.org/officeDocument/2006/math">
                    <m:oMathParaPr>
                      <m:jc m:val="centerGroup"/>
                    </m:oMathParaPr>
                    <m:oMath xmlns:m="http://schemas.openxmlformats.org/officeDocument/2006/math">
                      <m:d>
                        <m:dPr>
                          <m:ctrlPr>
                            <a:rPr lang="es-ES" i="1" dirty="0" smtClean="0">
                              <a:latin typeface="Cambria Math" panose="02040503050406030204" pitchFamily="18" charset="0"/>
                            </a:rPr>
                          </m:ctrlPr>
                        </m:dPr>
                        <m:e>
                          <m:r>
                            <a:rPr lang="es-ES" i="1" dirty="0" smtClean="0">
                              <a:latin typeface="Cambria Math" panose="02040503050406030204" pitchFamily="18" charset="0"/>
                            </a:rPr>
                            <m:t>𝜆</m:t>
                          </m:r>
                          <m:r>
                            <a:rPr lang="es-ES" i="1" dirty="0" smtClean="0">
                              <a:latin typeface="Cambria Math" panose="02040503050406030204" pitchFamily="18" charset="0"/>
                            </a:rPr>
                            <m:t>𝐈</m:t>
                          </m:r>
                          <m:r>
                            <a:rPr lang="es-ES" i="1" dirty="0" smtClean="0">
                              <a:latin typeface="Cambria Math" panose="02040503050406030204" pitchFamily="18" charset="0"/>
                            </a:rPr>
                            <m:t>−</m:t>
                          </m:r>
                          <m:r>
                            <a:rPr lang="es-ES" i="1" dirty="0" smtClean="0">
                              <a:latin typeface="Cambria Math" panose="02040503050406030204" pitchFamily="18" charset="0"/>
                            </a:rPr>
                            <m:t>𝐀</m:t>
                          </m:r>
                        </m:e>
                      </m:d>
                      <m:r>
                        <a:rPr lang="es-ES" i="1" dirty="0" smtClean="0">
                          <a:latin typeface="Cambria Math" panose="02040503050406030204" pitchFamily="18" charset="0"/>
                        </a:rPr>
                        <m:t>𝐯</m:t>
                      </m:r>
                      <m:r>
                        <a:rPr lang="es-ES" i="1" dirty="0" smtClean="0">
                          <a:latin typeface="Cambria Math" panose="02040503050406030204" pitchFamily="18" charset="0"/>
                        </a:rPr>
                        <m:t>=0</m:t>
                      </m:r>
                    </m:oMath>
                  </m:oMathPara>
                </a14:m>
                <a:endParaRPr lang="es-ES"/>
              </a:p>
              <a:p>
                <a:pPr marL="0" indent="0">
                  <a:buNone/>
                </a:pPr>
                <a:r>
                  <a:rPr lang="es-ES"/>
                  <a:t>Como no queremos la solución trivial (</a:t>
                </a:r>
                <a14:m>
                  <m:oMath xmlns:m="http://schemas.openxmlformats.org/officeDocument/2006/math">
                    <m:r>
                      <a:rPr lang="es-ES" i="1" dirty="0" smtClean="0">
                        <a:solidFill>
                          <a:schemeClr val="accent1"/>
                        </a:solidFill>
                        <a:latin typeface="Cambria Math" panose="02040503050406030204" pitchFamily="18" charset="0"/>
                      </a:rPr>
                      <m:t>𝐯</m:t>
                    </m:r>
                    <m:r>
                      <a:rPr lang="es-ES" i="1" dirty="0" smtClean="0">
                        <a:solidFill>
                          <a:schemeClr val="accent1"/>
                        </a:solidFill>
                        <a:latin typeface="Cambria Math" panose="02040503050406030204" pitchFamily="18" charset="0"/>
                      </a:rPr>
                      <m:t>=0</m:t>
                    </m:r>
                  </m:oMath>
                </a14:m>
                <a:r>
                  <a:rPr lang="es-ES"/>
                  <a:t>, que significaría que la máquina no se mueve), forzamos a que la matriz </a:t>
                </a:r>
                <a14:m>
                  <m:oMath xmlns:m="http://schemas.openxmlformats.org/officeDocument/2006/math">
                    <m:d>
                      <m:dPr>
                        <m:ctrlPr>
                          <a:rPr lang="es-ES" i="1" dirty="0" smtClean="0">
                            <a:solidFill>
                              <a:schemeClr val="accent1"/>
                            </a:solidFill>
                            <a:latin typeface="Cambria Math" panose="02040503050406030204" pitchFamily="18" charset="0"/>
                          </a:rPr>
                        </m:ctrlPr>
                      </m:dPr>
                      <m:e>
                        <m:r>
                          <a:rPr lang="es-ES" i="1" dirty="0" smtClean="0">
                            <a:solidFill>
                              <a:schemeClr val="accent1"/>
                            </a:solidFill>
                            <a:latin typeface="Cambria Math" panose="02040503050406030204" pitchFamily="18" charset="0"/>
                          </a:rPr>
                          <m:t>𝜆</m:t>
                        </m:r>
                        <m:r>
                          <a:rPr lang="es-ES" i="1" dirty="0" smtClean="0">
                            <a:solidFill>
                              <a:schemeClr val="accent1"/>
                            </a:solidFill>
                            <a:latin typeface="Cambria Math" panose="02040503050406030204" pitchFamily="18" charset="0"/>
                          </a:rPr>
                          <m:t>𝐈</m:t>
                        </m:r>
                        <m:r>
                          <a:rPr lang="es-ES" i="1" dirty="0" smtClean="0">
                            <a:solidFill>
                              <a:schemeClr val="accent1"/>
                            </a:solidFill>
                            <a:latin typeface="Cambria Math" panose="02040503050406030204" pitchFamily="18" charset="0"/>
                          </a:rPr>
                          <m:t>−</m:t>
                        </m:r>
                        <m:r>
                          <a:rPr lang="es-ES" i="1" dirty="0" smtClean="0">
                            <a:solidFill>
                              <a:schemeClr val="accent1"/>
                            </a:solidFill>
                            <a:latin typeface="Cambria Math" panose="02040503050406030204" pitchFamily="18" charset="0"/>
                          </a:rPr>
                          <m:t>𝐀</m:t>
                        </m:r>
                      </m:e>
                    </m:d>
                  </m:oMath>
                </a14:m>
                <a:r>
                  <a:rPr lang="es-ES"/>
                  <a:t> sea singular. Esto se logra calculando el determinante:</a:t>
                </a:r>
              </a:p>
              <a:p>
                <a:pPr marL="0" indent="0">
                  <a:buNone/>
                </a:pPr>
                <a:endParaRPr lang="es-ES"/>
              </a:p>
              <a:p>
                <a:pPr marL="0" indent="0">
                  <a:buNone/>
                </a:pPr>
                <a14:m>
                  <m:oMathPara xmlns:m="http://schemas.openxmlformats.org/officeDocument/2006/math">
                    <m:oMathParaPr>
                      <m:jc m:val="centerGroup"/>
                    </m:oMathParaPr>
                    <m:oMath xmlns:m="http://schemas.openxmlformats.org/officeDocument/2006/math">
                      <m:func>
                        <m:funcPr>
                          <m:ctrlPr>
                            <a:rPr lang="es-ES" i="1" dirty="0" smtClean="0">
                              <a:latin typeface="Cambria Math" panose="02040503050406030204" pitchFamily="18" charset="0"/>
                            </a:rPr>
                          </m:ctrlPr>
                        </m:funcPr>
                        <m:fName>
                          <m:r>
                            <m:rPr>
                              <m:sty m:val="p"/>
                            </m:rPr>
                            <a:rPr lang="es-ES" i="0" dirty="0" err="1" smtClean="0">
                              <a:latin typeface="Cambria Math" panose="02040503050406030204" pitchFamily="18" charset="0"/>
                            </a:rPr>
                            <m:t>det</m:t>
                          </m:r>
                        </m:fName>
                        <m:e>
                          <m:d>
                            <m:dPr>
                              <m:ctrlPr>
                                <a:rPr lang="es-ES" i="1" dirty="0" smtClean="0">
                                  <a:latin typeface="Cambria Math" panose="02040503050406030204" pitchFamily="18" charset="0"/>
                                </a:rPr>
                              </m:ctrlPr>
                            </m:dPr>
                            <m:e>
                              <m:r>
                                <a:rPr lang="es-ES" i="1" dirty="0" smtClean="0">
                                  <a:latin typeface="Cambria Math" panose="02040503050406030204" pitchFamily="18" charset="0"/>
                                </a:rPr>
                                <m:t>𝜆</m:t>
                              </m:r>
                              <m:r>
                                <a:rPr lang="es-ES" i="1" dirty="0" smtClean="0">
                                  <a:latin typeface="Cambria Math" panose="02040503050406030204" pitchFamily="18" charset="0"/>
                                </a:rPr>
                                <m:t>𝐈</m:t>
                              </m:r>
                              <m:r>
                                <a:rPr lang="es-ES" i="1" dirty="0" smtClean="0">
                                  <a:latin typeface="Cambria Math" panose="02040503050406030204" pitchFamily="18" charset="0"/>
                                </a:rPr>
                                <m:t>−</m:t>
                              </m:r>
                              <m:r>
                                <a:rPr lang="es-ES" i="1" dirty="0" smtClean="0">
                                  <a:latin typeface="Cambria Math" panose="02040503050406030204" pitchFamily="18" charset="0"/>
                                </a:rPr>
                                <m:t>𝐀</m:t>
                              </m:r>
                            </m:e>
                          </m:d>
                        </m:e>
                      </m:func>
                      <m:r>
                        <a:rPr lang="es-ES" i="1" dirty="0" smtClean="0">
                          <a:latin typeface="Cambria Math" panose="02040503050406030204" pitchFamily="18" charset="0"/>
                        </a:rPr>
                        <m:t>=0</m:t>
                      </m:r>
                    </m:oMath>
                  </m:oMathPara>
                </a14:m>
                <a:endParaRPr lang="es-CO"/>
              </a:p>
            </p:txBody>
          </p:sp>
        </mc:Choice>
        <mc:Fallback>
          <p:sp>
            <p:nvSpPr>
              <p:cNvPr id="3" name="Content Placeholder 2">
                <a:extLst>
                  <a:ext uri="{FF2B5EF4-FFF2-40B4-BE49-F238E27FC236}">
                    <a16:creationId xmlns:a16="http://schemas.microsoft.com/office/drawing/2014/main" id="{50F94C16-5F71-66AA-D748-CD16A8974D62}"/>
                  </a:ext>
                </a:extLst>
              </p:cNvPr>
              <p:cNvSpPr>
                <a:spLocks noGrp="1" noRot="1" noChangeAspect="1" noMove="1" noResize="1" noEditPoints="1" noAdjustHandles="1" noChangeArrowheads="1" noChangeShapeType="1" noTextEdit="1"/>
              </p:cNvSpPr>
              <p:nvPr>
                <p:ph idx="1"/>
              </p:nvPr>
            </p:nvSpPr>
            <p:spPr>
              <a:xfrm>
                <a:off x="838200" y="1138336"/>
                <a:ext cx="10515600" cy="5486399"/>
              </a:xfrm>
              <a:blipFill>
                <a:blip r:embed="rId2"/>
                <a:stretch>
                  <a:fillRect l="-1043" t="-2333" r="-104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18F9D3B-00E7-E891-02DE-5F3636FBC25B}"/>
              </a:ext>
            </a:extLst>
          </p:cNvPr>
          <p:cNvPicPr>
            <a:picLocks noChangeAspect="1"/>
          </p:cNvPicPr>
          <p:nvPr/>
        </p:nvPicPr>
        <p:blipFill>
          <a:blip r:embed="rId3"/>
          <a:stretch>
            <a:fillRect/>
          </a:stretch>
        </p:blipFill>
        <p:spPr>
          <a:xfrm>
            <a:off x="7593667" y="5343150"/>
            <a:ext cx="4077269" cy="1295581"/>
          </a:xfrm>
          <a:prstGeom prst="rect">
            <a:avLst/>
          </a:prstGeom>
        </p:spPr>
      </p:pic>
    </p:spTree>
    <p:extLst>
      <p:ext uri="{BB962C8B-B14F-4D97-AF65-F5344CB8AC3E}">
        <p14:creationId xmlns:p14="http://schemas.microsoft.com/office/powerpoint/2010/main" val="338740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D56BB86-E152-C968-7FFA-62547187494E}"/>
                  </a:ext>
                </a:extLst>
              </p:cNvPr>
              <p:cNvSpPr>
                <a:spLocks noGrp="1"/>
              </p:cNvSpPr>
              <p:nvPr>
                <p:ph type="title"/>
              </p:nvPr>
            </p:nvSpPr>
            <p:spPr/>
            <p:txBody>
              <a:bodyPr>
                <a:normAutofit/>
              </a:bodyPr>
              <a:lstStyle/>
              <a:p>
                <a:r>
                  <a:rPr lang="pt-BR"/>
                  <a:t>De Autovalores (</a:t>
                </a:r>
                <a14:m>
                  <m:oMath xmlns:m="http://schemas.openxmlformats.org/officeDocument/2006/math">
                    <m:r>
                      <a:rPr lang="pt-BR" i="1" dirty="0" smtClean="0">
                        <a:latin typeface="Cambria Math" panose="02040503050406030204" pitchFamily="18" charset="0"/>
                      </a:rPr>
                      <m:t>𝜆</m:t>
                    </m:r>
                  </m:oMath>
                </a14:m>
                <a:r>
                  <a:rPr lang="pt-BR"/>
                  <a:t>) a Polos (</a:t>
                </a:r>
                <a14:m>
                  <m:oMath xmlns:m="http://schemas.openxmlformats.org/officeDocument/2006/math">
                    <m:r>
                      <a:rPr lang="pt-BR" i="1" dirty="0" smtClean="0">
                        <a:latin typeface="Cambria Math" panose="02040503050406030204" pitchFamily="18" charset="0"/>
                      </a:rPr>
                      <m:t>𝑠</m:t>
                    </m:r>
                  </m:oMath>
                </a14:m>
                <a:r>
                  <a:rPr lang="pt-BR"/>
                  <a:t>)</a:t>
                </a:r>
                <a:endParaRPr lang="es-CO"/>
              </a:p>
            </p:txBody>
          </p:sp>
        </mc:Choice>
        <mc:Fallback>
          <p:sp>
            <p:nvSpPr>
              <p:cNvPr id="2" name="Title 1">
                <a:extLst>
                  <a:ext uri="{FF2B5EF4-FFF2-40B4-BE49-F238E27FC236}">
                    <a16:creationId xmlns:a16="http://schemas.microsoft.com/office/drawing/2014/main" id="{7D56BB86-E152-C968-7FFA-62547187494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9F72BB60-8F30-82E7-E70A-94A17C8D2458}"/>
              </a:ext>
            </a:extLst>
          </p:cNvPr>
          <p:cNvSpPr>
            <a:spLocks noGrp="1"/>
          </p:cNvSpPr>
          <p:nvPr>
            <p:ph idx="1"/>
          </p:nvPr>
        </p:nvSpPr>
        <p:spPr>
          <a:xfrm>
            <a:off x="838200" y="1825625"/>
            <a:ext cx="10515600" cy="693640"/>
          </a:xfrm>
          <a:ln>
            <a:solidFill>
              <a:schemeClr val="accent1"/>
            </a:solidFill>
          </a:ln>
        </p:spPr>
        <p:txBody>
          <a:bodyPr/>
          <a:lstStyle/>
          <a:p>
            <a:pPr marL="0" indent="0">
              <a:buNone/>
            </a:pPr>
            <a:r>
              <a:rPr lang="es-ES"/>
              <a:t>El autovalor es el nombre matemático; el polo es su nombre en Control</a:t>
            </a:r>
            <a:endParaRPr lang="es-CO"/>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52599A1-BC9F-8D0E-C615-8DF3DA7FD245}"/>
                  </a:ext>
                </a:extLst>
              </p:cNvPr>
              <p:cNvSpPr txBox="1"/>
              <p:nvPr/>
            </p:nvSpPr>
            <p:spPr>
              <a:xfrm>
                <a:off x="2936809" y="4849199"/>
                <a:ext cx="6097554" cy="584775"/>
              </a:xfrm>
              <a:prstGeom prst="rect">
                <a:avLst/>
              </a:prstGeom>
              <a:noFill/>
              <a:ln>
                <a:solidFill>
                  <a:schemeClr val="accent6"/>
                </a:solidFill>
              </a:ln>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s-ES" sz="3200" i="1" dirty="0" smtClean="0">
                              <a:solidFill>
                                <a:schemeClr val="bg1"/>
                              </a:solidFill>
                              <a:latin typeface="Cambria Math" panose="02040503050406030204" pitchFamily="18" charset="0"/>
                            </a:rPr>
                          </m:ctrlPr>
                        </m:funcPr>
                        <m:fName>
                          <m:r>
                            <m:rPr>
                              <m:sty m:val="p"/>
                            </m:rPr>
                            <a:rPr lang="es-ES" sz="3200" i="0" dirty="0" err="1" smtClean="0">
                              <a:solidFill>
                                <a:schemeClr val="bg1"/>
                              </a:solidFill>
                              <a:latin typeface="Cambria Math" panose="02040503050406030204" pitchFamily="18" charset="0"/>
                            </a:rPr>
                            <m:t>det</m:t>
                          </m:r>
                        </m:fName>
                        <m:e>
                          <m:d>
                            <m:dPr>
                              <m:ctrlPr>
                                <a:rPr lang="es-ES" sz="3200" i="1" dirty="0" smtClean="0">
                                  <a:solidFill>
                                    <a:schemeClr val="bg1"/>
                                  </a:solidFill>
                                  <a:latin typeface="Cambria Math" panose="02040503050406030204" pitchFamily="18" charset="0"/>
                                </a:rPr>
                              </m:ctrlPr>
                            </m:dPr>
                            <m:e>
                              <m:r>
                                <m:rPr>
                                  <m:sty m:val="p"/>
                                </m:rPr>
                                <a:rPr lang="en-US" sz="3200" b="0" i="1" dirty="0" smtClean="0">
                                  <a:solidFill>
                                    <a:schemeClr val="bg1"/>
                                  </a:solidFill>
                                  <a:latin typeface="Cambria Math" panose="02040503050406030204" pitchFamily="18" charset="0"/>
                                </a:rPr>
                                <m:t>s</m:t>
                              </m:r>
                              <m:r>
                                <a:rPr lang="es-ES" sz="3200" i="1" dirty="0" smtClean="0">
                                  <a:solidFill>
                                    <a:schemeClr val="bg1"/>
                                  </a:solidFill>
                                  <a:latin typeface="Cambria Math" panose="02040503050406030204" pitchFamily="18" charset="0"/>
                                </a:rPr>
                                <m:t>𝐈</m:t>
                              </m:r>
                              <m:r>
                                <a:rPr lang="es-ES" sz="3200" i="1" dirty="0" smtClean="0">
                                  <a:solidFill>
                                    <a:schemeClr val="bg1"/>
                                  </a:solidFill>
                                  <a:latin typeface="Cambria Math" panose="02040503050406030204" pitchFamily="18" charset="0"/>
                                </a:rPr>
                                <m:t>−</m:t>
                              </m:r>
                              <m:r>
                                <a:rPr lang="es-ES" sz="3200" i="1" dirty="0" smtClean="0">
                                  <a:solidFill>
                                    <a:schemeClr val="bg1"/>
                                  </a:solidFill>
                                  <a:latin typeface="Cambria Math" panose="02040503050406030204" pitchFamily="18" charset="0"/>
                                </a:rPr>
                                <m:t>𝐀</m:t>
                              </m:r>
                            </m:e>
                          </m:d>
                        </m:e>
                      </m:func>
                      <m:r>
                        <a:rPr lang="es-ES" sz="3200" i="1" dirty="0" smtClean="0">
                          <a:solidFill>
                            <a:schemeClr val="bg1"/>
                          </a:solidFill>
                          <a:latin typeface="Cambria Math" panose="02040503050406030204" pitchFamily="18" charset="0"/>
                        </a:rPr>
                        <m:t>=0</m:t>
                      </m:r>
                    </m:oMath>
                  </m:oMathPara>
                </a14:m>
                <a:endParaRPr lang="es-CO" sz="3200">
                  <a:solidFill>
                    <a:schemeClr val="bg1"/>
                  </a:solidFill>
                </a:endParaRPr>
              </a:p>
            </p:txBody>
          </p:sp>
        </mc:Choice>
        <mc:Fallback>
          <p:sp>
            <p:nvSpPr>
              <p:cNvPr id="7" name="TextBox 6">
                <a:extLst>
                  <a:ext uri="{FF2B5EF4-FFF2-40B4-BE49-F238E27FC236}">
                    <a16:creationId xmlns:a16="http://schemas.microsoft.com/office/drawing/2014/main" id="{252599A1-BC9F-8D0E-C615-8DF3DA7FD245}"/>
                  </a:ext>
                </a:extLst>
              </p:cNvPr>
              <p:cNvSpPr txBox="1">
                <a:spLocks noRot="1" noChangeAspect="1" noMove="1" noResize="1" noEditPoints="1" noAdjustHandles="1" noChangeArrowheads="1" noChangeShapeType="1" noTextEdit="1"/>
              </p:cNvSpPr>
              <p:nvPr/>
            </p:nvSpPr>
            <p:spPr>
              <a:xfrm>
                <a:off x="2936809" y="4849199"/>
                <a:ext cx="6097554" cy="584775"/>
              </a:xfrm>
              <a:prstGeom prst="rect">
                <a:avLst/>
              </a:prstGeom>
              <a:blipFill>
                <a:blip r:embed="rId3"/>
                <a:stretch>
                  <a:fillRect/>
                </a:stretch>
              </a:blipFill>
              <a:ln>
                <a:solidFill>
                  <a:schemeClr val="accent6"/>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D20E366-2CD0-7DA2-14D5-BBA9DD9FD978}"/>
                  </a:ext>
                </a:extLst>
              </p:cNvPr>
              <p:cNvSpPr txBox="1"/>
              <p:nvPr/>
            </p:nvSpPr>
            <p:spPr>
              <a:xfrm>
                <a:off x="4461198" y="2737090"/>
                <a:ext cx="3048777" cy="769441"/>
              </a:xfrm>
              <a:prstGeom prst="rect">
                <a:avLst/>
              </a:prstGeom>
              <a:noFill/>
              <a:ln>
                <a:solidFill>
                  <a:schemeClr val="accent4"/>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s-ES" sz="4400" i="1" dirty="0">
                          <a:solidFill>
                            <a:schemeClr val="bg1"/>
                          </a:solidFill>
                          <a:latin typeface="Cambria Math" panose="02040503050406030204" pitchFamily="18" charset="0"/>
                        </a:rPr>
                        <m:t>𝜆</m:t>
                      </m:r>
                      <m:r>
                        <a:rPr lang="en-US" sz="4400" b="0" i="1" dirty="0" smtClean="0">
                          <a:solidFill>
                            <a:schemeClr val="bg1"/>
                          </a:solidFill>
                          <a:latin typeface="Cambria Math" panose="02040503050406030204" pitchFamily="18" charset="0"/>
                        </a:rPr>
                        <m:t>=</m:t>
                      </m:r>
                      <m:r>
                        <m:rPr>
                          <m:sty m:val="p"/>
                        </m:rPr>
                        <a:rPr lang="en-US" sz="4400" b="0" i="1" dirty="0" smtClean="0">
                          <a:solidFill>
                            <a:schemeClr val="bg1"/>
                          </a:solidFill>
                          <a:latin typeface="Cambria Math" panose="02040503050406030204" pitchFamily="18" charset="0"/>
                        </a:rPr>
                        <m:t>s</m:t>
                      </m:r>
                    </m:oMath>
                  </m:oMathPara>
                </a14:m>
                <a:endParaRPr lang="es-CO" sz="4400">
                  <a:solidFill>
                    <a:schemeClr val="bg1"/>
                  </a:solidFill>
                </a:endParaRPr>
              </a:p>
            </p:txBody>
          </p:sp>
        </mc:Choice>
        <mc:Fallback>
          <p:sp>
            <p:nvSpPr>
              <p:cNvPr id="8" name="TextBox 7">
                <a:extLst>
                  <a:ext uri="{FF2B5EF4-FFF2-40B4-BE49-F238E27FC236}">
                    <a16:creationId xmlns:a16="http://schemas.microsoft.com/office/drawing/2014/main" id="{FD20E366-2CD0-7DA2-14D5-BBA9DD9FD978}"/>
                  </a:ext>
                </a:extLst>
              </p:cNvPr>
              <p:cNvSpPr txBox="1">
                <a:spLocks noRot="1" noChangeAspect="1" noMove="1" noResize="1" noEditPoints="1" noAdjustHandles="1" noChangeArrowheads="1" noChangeShapeType="1" noTextEdit="1"/>
              </p:cNvSpPr>
              <p:nvPr/>
            </p:nvSpPr>
            <p:spPr>
              <a:xfrm>
                <a:off x="4461198" y="2737090"/>
                <a:ext cx="3048777" cy="769441"/>
              </a:xfrm>
              <a:prstGeom prst="rect">
                <a:avLst/>
              </a:prstGeom>
              <a:blipFill>
                <a:blip r:embed="rId4"/>
                <a:stretch>
                  <a:fillRect/>
                </a:stretch>
              </a:blipFill>
              <a:ln>
                <a:solidFill>
                  <a:schemeClr val="accent4"/>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E2D25EB7-0B48-D87D-DBA0-57501ED1B71D}"/>
              </a:ext>
            </a:extLst>
          </p:cNvPr>
          <p:cNvSpPr txBox="1"/>
          <p:nvPr/>
        </p:nvSpPr>
        <p:spPr>
          <a:xfrm>
            <a:off x="1033366" y="4046767"/>
            <a:ext cx="6097554" cy="369332"/>
          </a:xfrm>
          <a:prstGeom prst="rect">
            <a:avLst/>
          </a:prstGeom>
          <a:noFill/>
        </p:spPr>
        <p:txBody>
          <a:bodyPr wrap="square">
            <a:spAutoFit/>
          </a:bodyPr>
          <a:lstStyle/>
          <a:p>
            <a:r>
              <a:rPr lang="es-ES">
                <a:solidFill>
                  <a:schemeClr val="bg1"/>
                </a:solidFill>
              </a:rPr>
              <a:t>Por lo tanto la ecuación se convierte en:</a:t>
            </a:r>
            <a:endParaRPr lang="es-CO">
              <a:solidFill>
                <a:schemeClr val="bg1"/>
              </a:solidFill>
            </a:endParaRPr>
          </a:p>
        </p:txBody>
      </p:sp>
    </p:spTree>
    <p:extLst>
      <p:ext uri="{BB962C8B-B14F-4D97-AF65-F5344CB8AC3E}">
        <p14:creationId xmlns:p14="http://schemas.microsoft.com/office/powerpoint/2010/main" val="3897887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AFC9-1A1E-4BE2-4CC2-F3DE6BB1C7E9}"/>
              </a:ext>
            </a:extLst>
          </p:cNvPr>
          <p:cNvSpPr>
            <a:spLocks noGrp="1"/>
          </p:cNvSpPr>
          <p:nvPr>
            <p:ph type="title"/>
          </p:nvPr>
        </p:nvSpPr>
        <p:spPr>
          <a:xfrm>
            <a:off x="511629" y="122431"/>
            <a:ext cx="10515600" cy="558606"/>
          </a:xfrm>
        </p:spPr>
        <p:txBody>
          <a:bodyPr>
            <a:normAutofit fontScale="90000"/>
          </a:bodyPr>
          <a:lstStyle/>
          <a:p>
            <a:r>
              <a:rPr lang="es-CO"/>
              <a:t>Ejemplo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21CA50-BD1F-6885-3123-A31B65757C3E}"/>
                  </a:ext>
                </a:extLst>
              </p:cNvPr>
              <p:cNvSpPr>
                <a:spLocks noGrp="1"/>
              </p:cNvSpPr>
              <p:nvPr>
                <p:ph sz="half" idx="1"/>
              </p:nvPr>
            </p:nvSpPr>
            <p:spPr>
              <a:xfrm>
                <a:off x="278362" y="929885"/>
                <a:ext cx="5817637" cy="5358947"/>
              </a:xfrm>
            </p:spPr>
            <p:txBody>
              <a:bodyPr>
                <a:normAutofit fontScale="85000" lnSpcReduction="20000"/>
              </a:bodyPr>
              <a:lstStyle/>
              <a:p>
                <a:pPr marL="0" indent="0">
                  <a:buNone/>
                </a:pPr>
                <a:r>
                  <a:rPr lang="es-CO"/>
                  <a:t>Tenemos un bloque cuya dinámica interna ya hemos representado en Espacio de Estados con la siguiente matriz de sistema</a:t>
                </a:r>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𝐀</m:t>
                      </m:r>
                      <m:r>
                        <a:rPr lang="es-CO" i="1" smtClean="0">
                          <a:latin typeface="Cambria Math" panose="02040503050406030204" pitchFamily="18" charset="0"/>
                        </a:rPr>
                        <m:t>=</m:t>
                      </m:r>
                      <m:d>
                        <m:dPr>
                          <m:begChr m:val="["/>
                          <m:endChr m:val="]"/>
                          <m:ctrlPr>
                            <a:rPr lang="es-CO" i="1" smtClean="0">
                              <a:latin typeface="Cambria Math" panose="02040503050406030204" pitchFamily="18" charset="0"/>
                            </a:rPr>
                          </m:ctrlPr>
                        </m:dPr>
                        <m:e>
                          <m:m>
                            <m:mPr>
                              <m:plcHide m:val="on"/>
                              <m:mcs>
                                <m:mc>
                                  <m:mcPr>
                                    <m:count m:val="2"/>
                                    <m:mcJc m:val="center"/>
                                  </m:mcPr>
                                </m:mc>
                              </m:mcs>
                              <m:ctrlPr>
                                <a:rPr lang="es-CO" i="1" smtClean="0">
                                  <a:latin typeface="Cambria Math" panose="02040503050406030204" pitchFamily="18" charset="0"/>
                                </a:rPr>
                              </m:ctrlPr>
                            </m:mPr>
                            <m:mr>
                              <m:e>
                                <m:r>
                                  <a:rPr lang="es-CO" i="1" smtClean="0">
                                    <a:latin typeface="Cambria Math" panose="02040503050406030204" pitchFamily="18" charset="0"/>
                                  </a:rPr>
                                  <m:t>0</m:t>
                                </m:r>
                              </m:e>
                              <m:e>
                                <m:r>
                                  <a:rPr lang="es-CO" i="1" smtClean="0">
                                    <a:latin typeface="Cambria Math" panose="02040503050406030204" pitchFamily="18" charset="0"/>
                                  </a:rPr>
                                  <m:t>1</m:t>
                                </m:r>
                              </m:e>
                            </m:mr>
                            <m:mr>
                              <m:e>
                                <m:r>
                                  <a:rPr lang="es-CO" i="1" smtClean="0">
                                    <a:latin typeface="Cambria Math" panose="02040503050406030204" pitchFamily="18" charset="0"/>
                                  </a:rPr>
                                  <m:t>−6</m:t>
                                </m:r>
                              </m:e>
                              <m:e>
                                <m:r>
                                  <a:rPr lang="es-CO" i="1" smtClean="0">
                                    <a:latin typeface="Cambria Math" panose="02040503050406030204" pitchFamily="18" charset="0"/>
                                  </a:rPr>
                                  <m:t>−5</m:t>
                                </m:r>
                              </m:e>
                            </m:mr>
                          </m:m>
                        </m:e>
                      </m:d>
                    </m:oMath>
                  </m:oMathPara>
                </a14:m>
                <a:endParaRPr lang="es-CO"/>
              </a:p>
              <a:p>
                <a:pPr marL="0" indent="0">
                  <a:buNone/>
                </a:pPr>
                <a:endParaRPr lang="es-CO"/>
              </a:p>
              <a:p>
                <a:pPr marL="0" indent="0">
                  <a:buNone/>
                </a:pPr>
                <a:r>
                  <a:rPr lang="es-CO"/>
                  <a:t>la ecuación característica:</a:t>
                </a:r>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func>
                        <m:funcPr>
                          <m:ctrlPr>
                            <a:rPr lang="es-CO" i="1" dirty="0" smtClean="0">
                              <a:latin typeface="Cambria Math" panose="02040503050406030204" pitchFamily="18" charset="0"/>
                            </a:rPr>
                          </m:ctrlPr>
                        </m:funcPr>
                        <m:fName>
                          <m:r>
                            <m:rPr>
                              <m:sty m:val="p"/>
                            </m:rPr>
                            <a:rPr lang="es-CO" i="0" dirty="0" err="1" smtClean="0">
                              <a:latin typeface="Cambria Math" panose="02040503050406030204" pitchFamily="18" charset="0"/>
                            </a:rPr>
                            <m:t>det</m:t>
                          </m:r>
                        </m:fName>
                        <m:e>
                          <m:d>
                            <m:dPr>
                              <m:ctrlPr>
                                <a:rPr lang="es-CO" i="1" dirty="0" smtClean="0">
                                  <a:latin typeface="Cambria Math" panose="02040503050406030204" pitchFamily="18" charset="0"/>
                                </a:rPr>
                              </m:ctrlPr>
                            </m:dPr>
                            <m:e>
                              <m:r>
                                <a:rPr lang="es-CO" i="1" dirty="0" smtClean="0">
                                  <a:latin typeface="Cambria Math" panose="02040503050406030204" pitchFamily="18" charset="0"/>
                                </a:rPr>
                                <m:t>𝑠</m:t>
                              </m:r>
                              <m:r>
                                <a:rPr lang="es-CO" i="1" dirty="0" smtClean="0">
                                  <a:latin typeface="Cambria Math" panose="02040503050406030204" pitchFamily="18" charset="0"/>
                                </a:rPr>
                                <m:t>𝐈</m:t>
                              </m:r>
                              <m:r>
                                <a:rPr lang="es-CO" i="1" dirty="0" smtClean="0">
                                  <a:latin typeface="Cambria Math" panose="02040503050406030204" pitchFamily="18" charset="0"/>
                                </a:rPr>
                                <m:t>−</m:t>
                              </m:r>
                              <m:r>
                                <a:rPr lang="es-CO" i="1" dirty="0" smtClean="0">
                                  <a:latin typeface="Cambria Math" panose="02040503050406030204" pitchFamily="18" charset="0"/>
                                </a:rPr>
                                <m:t>𝐀</m:t>
                              </m:r>
                            </m:e>
                          </m:d>
                        </m:e>
                      </m:func>
                      <m:r>
                        <a:rPr lang="es-CO" i="1" dirty="0" smtClean="0">
                          <a:latin typeface="Cambria Math" panose="02040503050406030204" pitchFamily="18" charset="0"/>
                        </a:rPr>
                        <m:t>=0</m:t>
                      </m:r>
                    </m:oMath>
                  </m:oMathPara>
                </a14:m>
                <a:endParaRPr lang="es-CO"/>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func>
                        <m:funcPr>
                          <m:ctrlPr>
                            <a:rPr lang="es-CO" i="1" dirty="0" smtClean="0">
                              <a:latin typeface="Cambria Math" panose="02040503050406030204" pitchFamily="18" charset="0"/>
                            </a:rPr>
                          </m:ctrlPr>
                        </m:funcPr>
                        <m:fName>
                          <m:r>
                            <m:rPr>
                              <m:sty m:val="p"/>
                            </m:rPr>
                            <a:rPr lang="es-CO" i="0" dirty="0" err="1" smtClean="0">
                              <a:latin typeface="Cambria Math" panose="02040503050406030204" pitchFamily="18" charset="0"/>
                            </a:rPr>
                            <m:t>det</m:t>
                          </m:r>
                        </m:fName>
                        <m:e>
                          <m:d>
                            <m:dPr>
                              <m:ctrlPr>
                                <a:rPr lang="es-CO" i="1" dirty="0" smtClean="0">
                                  <a:latin typeface="Cambria Math" panose="02040503050406030204" pitchFamily="18" charset="0"/>
                                </a:rPr>
                              </m:ctrlPr>
                            </m:dPr>
                            <m:e>
                              <m:r>
                                <a:rPr lang="es-CO" i="1" dirty="0" smtClean="0">
                                  <a:latin typeface="Cambria Math" panose="02040503050406030204" pitchFamily="18" charset="0"/>
                                </a:rPr>
                                <m:t>𝑠</m:t>
                              </m:r>
                              <m:d>
                                <m:dPr>
                                  <m:begChr m:val="["/>
                                  <m:endChr m:val="]"/>
                                  <m:ctrlPr>
                                    <a:rPr lang="es-CO" i="1" dirty="0" smtClean="0">
                                      <a:latin typeface="Cambria Math" panose="02040503050406030204" pitchFamily="18" charset="0"/>
                                    </a:rPr>
                                  </m:ctrlPr>
                                </m:dPr>
                                <m:e>
                                  <m:m>
                                    <m:mPr>
                                      <m:plcHide m:val="on"/>
                                      <m:mcs>
                                        <m:mc>
                                          <m:mcPr>
                                            <m:count m:val="2"/>
                                            <m:mcJc m:val="center"/>
                                          </m:mcPr>
                                        </m:mc>
                                      </m:mcs>
                                      <m:ctrlPr>
                                        <a:rPr lang="es-CO" i="1" dirty="0" smtClean="0">
                                          <a:latin typeface="Cambria Math" panose="02040503050406030204" pitchFamily="18" charset="0"/>
                                        </a:rPr>
                                      </m:ctrlPr>
                                    </m:mPr>
                                    <m:mr>
                                      <m:e>
                                        <m:r>
                                          <a:rPr lang="es-CO" i="1" dirty="0" smtClean="0">
                                            <a:latin typeface="Cambria Math" panose="02040503050406030204" pitchFamily="18" charset="0"/>
                                          </a:rPr>
                                          <m:t>1</m:t>
                                        </m:r>
                                      </m:e>
                                      <m:e>
                                        <m:r>
                                          <a:rPr lang="es-CO" i="1" dirty="0" smtClean="0">
                                            <a:latin typeface="Cambria Math" panose="02040503050406030204" pitchFamily="18" charset="0"/>
                                          </a:rPr>
                                          <m:t>0</m:t>
                                        </m:r>
                                      </m:e>
                                    </m:mr>
                                    <m:mr>
                                      <m:e>
                                        <m:r>
                                          <a:rPr lang="es-CO" i="1" dirty="0" smtClean="0">
                                            <a:latin typeface="Cambria Math" panose="02040503050406030204" pitchFamily="18" charset="0"/>
                                          </a:rPr>
                                          <m:t>0</m:t>
                                        </m:r>
                                      </m:e>
                                      <m:e>
                                        <m:r>
                                          <a:rPr lang="es-CO" i="1" dirty="0" smtClean="0">
                                            <a:latin typeface="Cambria Math" panose="02040503050406030204" pitchFamily="18" charset="0"/>
                                          </a:rPr>
                                          <m:t>1</m:t>
                                        </m:r>
                                      </m:e>
                                    </m:mr>
                                  </m:m>
                                </m:e>
                              </m:d>
                              <m:r>
                                <a:rPr lang="es-CO" i="1" dirty="0" smtClean="0">
                                  <a:latin typeface="Cambria Math" panose="02040503050406030204" pitchFamily="18" charset="0"/>
                                </a:rPr>
                                <m:t>−</m:t>
                              </m:r>
                              <m:d>
                                <m:dPr>
                                  <m:begChr m:val="["/>
                                  <m:endChr m:val="]"/>
                                  <m:ctrlPr>
                                    <a:rPr lang="es-CO" i="1" dirty="0" smtClean="0">
                                      <a:latin typeface="Cambria Math" panose="02040503050406030204" pitchFamily="18" charset="0"/>
                                    </a:rPr>
                                  </m:ctrlPr>
                                </m:dPr>
                                <m:e>
                                  <m:m>
                                    <m:mPr>
                                      <m:plcHide m:val="on"/>
                                      <m:mcs>
                                        <m:mc>
                                          <m:mcPr>
                                            <m:count m:val="2"/>
                                            <m:mcJc m:val="center"/>
                                          </m:mcPr>
                                        </m:mc>
                                      </m:mcs>
                                      <m:ctrlPr>
                                        <a:rPr lang="es-CO" i="1" dirty="0" smtClean="0">
                                          <a:latin typeface="Cambria Math" panose="02040503050406030204" pitchFamily="18" charset="0"/>
                                        </a:rPr>
                                      </m:ctrlPr>
                                    </m:mPr>
                                    <m:mr>
                                      <m:e>
                                        <m:r>
                                          <a:rPr lang="es-CO" i="1" dirty="0" smtClean="0">
                                            <a:latin typeface="Cambria Math" panose="02040503050406030204" pitchFamily="18" charset="0"/>
                                          </a:rPr>
                                          <m:t>0</m:t>
                                        </m:r>
                                      </m:e>
                                      <m:e>
                                        <m:r>
                                          <a:rPr lang="es-CO" i="1" dirty="0" smtClean="0">
                                            <a:latin typeface="Cambria Math" panose="02040503050406030204" pitchFamily="18" charset="0"/>
                                          </a:rPr>
                                          <m:t>1</m:t>
                                        </m:r>
                                      </m:e>
                                    </m:mr>
                                    <m:mr>
                                      <m:e>
                                        <m:r>
                                          <a:rPr lang="es-CO" i="1" dirty="0" smtClean="0">
                                            <a:latin typeface="Cambria Math" panose="02040503050406030204" pitchFamily="18" charset="0"/>
                                          </a:rPr>
                                          <m:t>−6</m:t>
                                        </m:r>
                                      </m:e>
                                      <m:e>
                                        <m:r>
                                          <a:rPr lang="es-CO" i="1" dirty="0" smtClean="0">
                                            <a:latin typeface="Cambria Math" panose="02040503050406030204" pitchFamily="18" charset="0"/>
                                          </a:rPr>
                                          <m:t>−5</m:t>
                                        </m:r>
                                      </m:e>
                                    </m:mr>
                                  </m:m>
                                </m:e>
                              </m:d>
                            </m:e>
                          </m:d>
                        </m:e>
                      </m:func>
                      <m:r>
                        <a:rPr lang="es-CO" i="1" dirty="0" smtClean="0">
                          <a:latin typeface="Cambria Math" panose="02040503050406030204" pitchFamily="18" charset="0"/>
                        </a:rPr>
                        <m:t>=0</m:t>
                      </m:r>
                    </m:oMath>
                  </m:oMathPara>
                </a14:m>
                <a:endParaRPr lang="es-CO"/>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func>
                        <m:funcPr>
                          <m:ctrlPr>
                            <a:rPr lang="es-CO" i="1" dirty="0" smtClean="0">
                              <a:latin typeface="Cambria Math" panose="02040503050406030204" pitchFamily="18" charset="0"/>
                            </a:rPr>
                          </m:ctrlPr>
                        </m:funcPr>
                        <m:fName>
                          <m:r>
                            <m:rPr>
                              <m:sty m:val="p"/>
                            </m:rPr>
                            <a:rPr lang="es-CO" i="0" dirty="0" err="1" smtClean="0">
                              <a:latin typeface="Cambria Math" panose="02040503050406030204" pitchFamily="18" charset="0"/>
                            </a:rPr>
                            <m:t>det</m:t>
                          </m:r>
                        </m:fName>
                        <m:e>
                          <m:d>
                            <m:dPr>
                              <m:begChr m:val="["/>
                              <m:endChr m:val="]"/>
                              <m:ctrlPr>
                                <a:rPr lang="es-CO" i="1" dirty="0" smtClean="0">
                                  <a:latin typeface="Cambria Math" panose="02040503050406030204" pitchFamily="18" charset="0"/>
                                </a:rPr>
                              </m:ctrlPr>
                            </m:dPr>
                            <m:e>
                              <m:m>
                                <m:mPr>
                                  <m:plcHide m:val="on"/>
                                  <m:mcs>
                                    <m:mc>
                                      <m:mcPr>
                                        <m:count m:val="2"/>
                                        <m:mcJc m:val="center"/>
                                      </m:mcPr>
                                    </m:mc>
                                  </m:mcs>
                                  <m:ctrlPr>
                                    <a:rPr lang="es-CO" i="1" dirty="0" smtClean="0">
                                      <a:latin typeface="Cambria Math" panose="02040503050406030204" pitchFamily="18" charset="0"/>
                                    </a:rPr>
                                  </m:ctrlPr>
                                </m:mPr>
                                <m:mr>
                                  <m:e>
                                    <m:r>
                                      <a:rPr lang="es-CO" i="1" dirty="0" smtClean="0">
                                        <a:latin typeface="Cambria Math" panose="02040503050406030204" pitchFamily="18" charset="0"/>
                                      </a:rPr>
                                      <m:t>𝑠</m:t>
                                    </m:r>
                                  </m:e>
                                  <m:e>
                                    <m:r>
                                      <a:rPr lang="es-CO" i="1" dirty="0" smtClean="0">
                                        <a:latin typeface="Cambria Math" panose="02040503050406030204" pitchFamily="18" charset="0"/>
                                      </a:rPr>
                                      <m:t>−1</m:t>
                                    </m:r>
                                  </m:e>
                                </m:mr>
                                <m:mr>
                                  <m:e>
                                    <m:r>
                                      <a:rPr lang="es-CO" i="1" dirty="0" smtClean="0">
                                        <a:latin typeface="Cambria Math" panose="02040503050406030204" pitchFamily="18" charset="0"/>
                                      </a:rPr>
                                      <m:t>6</m:t>
                                    </m:r>
                                  </m:e>
                                  <m:e>
                                    <m:r>
                                      <a:rPr lang="es-CO" i="1" dirty="0" smtClean="0">
                                        <a:latin typeface="Cambria Math" panose="02040503050406030204" pitchFamily="18" charset="0"/>
                                      </a:rPr>
                                      <m:t>𝑠</m:t>
                                    </m:r>
                                    <m:r>
                                      <a:rPr lang="es-CO" i="1" dirty="0" smtClean="0">
                                        <a:latin typeface="Cambria Math" panose="02040503050406030204" pitchFamily="18" charset="0"/>
                                      </a:rPr>
                                      <m:t>+5</m:t>
                                    </m:r>
                                  </m:e>
                                </m:mr>
                              </m:m>
                            </m:e>
                          </m:d>
                        </m:e>
                      </m:func>
                      <m:r>
                        <a:rPr lang="es-CO" i="1" dirty="0" smtClean="0">
                          <a:latin typeface="Cambria Math" panose="02040503050406030204" pitchFamily="18" charset="0"/>
                        </a:rPr>
                        <m:t>=0</m:t>
                      </m:r>
                    </m:oMath>
                  </m:oMathPara>
                </a14:m>
                <a:endParaRPr lang="es-CO"/>
              </a:p>
            </p:txBody>
          </p:sp>
        </mc:Choice>
        <mc:Fallback>
          <p:sp>
            <p:nvSpPr>
              <p:cNvPr id="3" name="Content Placeholder 2">
                <a:extLst>
                  <a:ext uri="{FF2B5EF4-FFF2-40B4-BE49-F238E27FC236}">
                    <a16:creationId xmlns:a16="http://schemas.microsoft.com/office/drawing/2014/main" id="{3721CA50-BD1F-6885-3123-A31B65757C3E}"/>
                  </a:ext>
                </a:extLst>
              </p:cNvPr>
              <p:cNvSpPr>
                <a:spLocks noGrp="1" noRot="1" noChangeAspect="1" noMove="1" noResize="1" noEditPoints="1" noAdjustHandles="1" noChangeArrowheads="1" noChangeShapeType="1" noTextEdit="1"/>
              </p:cNvSpPr>
              <p:nvPr>
                <p:ph sz="half" idx="1"/>
              </p:nvPr>
            </p:nvSpPr>
            <p:spPr>
              <a:xfrm>
                <a:off x="278362" y="929885"/>
                <a:ext cx="5817637" cy="5358947"/>
              </a:xfrm>
              <a:blipFill>
                <a:blip r:embed="rId2"/>
                <a:stretch>
                  <a:fillRect l="-1677" t="-2617" r="-15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Content Placeholder 17">
                <a:extLst>
                  <a:ext uri="{FF2B5EF4-FFF2-40B4-BE49-F238E27FC236}">
                    <a16:creationId xmlns:a16="http://schemas.microsoft.com/office/drawing/2014/main" id="{68F885B9-8C94-64A5-03B9-6EE60BC4740A}"/>
                  </a:ext>
                </a:extLst>
              </p:cNvPr>
              <p:cNvSpPr>
                <a:spLocks noGrp="1"/>
              </p:cNvSpPr>
              <p:nvPr>
                <p:ph sz="half" idx="2"/>
              </p:nvPr>
            </p:nvSpPr>
            <p:spPr>
              <a:xfrm>
                <a:off x="6330820" y="982694"/>
                <a:ext cx="5181600" cy="5306137"/>
              </a:xfrm>
            </p:spPr>
            <p:txBody>
              <a:bodyPr>
                <a:normAutofit fontScale="85000" lnSpcReduction="20000"/>
              </a:bodyPr>
              <a:lstStyle/>
              <a:p>
                <a:pPr marL="0" indent="0">
                  <a:buNone/>
                </a:pPr>
                <a:r>
                  <a:rPr lang="es-CO"/>
                  <a:t>Resolver el </a:t>
                </a:r>
              </a:p>
              <a:p>
                <a:pPr marL="0" indent="0">
                  <a:buNone/>
                </a:pPr>
                <a14:m>
                  <m:oMathPara xmlns:m="http://schemas.openxmlformats.org/officeDocument/2006/math">
                    <m:oMathParaPr>
                      <m:jc m:val="centerGroup"/>
                    </m:oMathParaPr>
                    <m:oMath xmlns:m="http://schemas.openxmlformats.org/officeDocument/2006/math">
                      <m:d>
                        <m:dPr>
                          <m:ctrlPr>
                            <a:rPr lang="es-CO" i="1" dirty="0">
                              <a:latin typeface="Cambria Math" panose="02040503050406030204" pitchFamily="18" charset="0"/>
                            </a:rPr>
                          </m:ctrlPr>
                        </m:dPr>
                        <m:e>
                          <m:r>
                            <a:rPr lang="es-CO" i="1" dirty="0">
                              <a:latin typeface="Cambria Math" panose="02040503050406030204" pitchFamily="18" charset="0"/>
                            </a:rPr>
                            <m:t>𝑠</m:t>
                          </m:r>
                        </m:e>
                      </m:d>
                      <m:d>
                        <m:dPr>
                          <m:ctrlPr>
                            <a:rPr lang="es-CO" i="1" dirty="0">
                              <a:latin typeface="Cambria Math" panose="02040503050406030204" pitchFamily="18" charset="0"/>
                            </a:rPr>
                          </m:ctrlPr>
                        </m:dPr>
                        <m:e>
                          <m:r>
                            <a:rPr lang="es-CO" i="1" dirty="0">
                              <a:latin typeface="Cambria Math" panose="02040503050406030204" pitchFamily="18" charset="0"/>
                            </a:rPr>
                            <m:t>𝑠</m:t>
                          </m:r>
                          <m:r>
                            <a:rPr lang="es-CO" i="1" dirty="0">
                              <a:latin typeface="Cambria Math" panose="02040503050406030204" pitchFamily="18" charset="0"/>
                            </a:rPr>
                            <m:t>+5</m:t>
                          </m:r>
                        </m:e>
                      </m:d>
                      <m:r>
                        <a:rPr lang="es-CO" i="1" dirty="0">
                          <a:latin typeface="Cambria Math" panose="02040503050406030204" pitchFamily="18" charset="0"/>
                        </a:rPr>
                        <m:t>−</m:t>
                      </m:r>
                      <m:d>
                        <m:dPr>
                          <m:ctrlPr>
                            <a:rPr lang="es-CO" i="1" dirty="0">
                              <a:latin typeface="Cambria Math" panose="02040503050406030204" pitchFamily="18" charset="0"/>
                            </a:rPr>
                          </m:ctrlPr>
                        </m:dPr>
                        <m:e>
                          <m:r>
                            <a:rPr lang="es-CO" i="1" dirty="0">
                              <a:latin typeface="Cambria Math" panose="02040503050406030204" pitchFamily="18" charset="0"/>
                            </a:rPr>
                            <m:t>−1</m:t>
                          </m:r>
                        </m:e>
                      </m:d>
                      <m:d>
                        <m:dPr>
                          <m:ctrlPr>
                            <a:rPr lang="es-CO" i="1" dirty="0">
                              <a:latin typeface="Cambria Math" panose="02040503050406030204" pitchFamily="18" charset="0"/>
                            </a:rPr>
                          </m:ctrlPr>
                        </m:dPr>
                        <m:e>
                          <m:r>
                            <a:rPr lang="es-CO" i="1" dirty="0">
                              <a:latin typeface="Cambria Math" panose="02040503050406030204" pitchFamily="18" charset="0"/>
                            </a:rPr>
                            <m:t>6</m:t>
                          </m:r>
                        </m:e>
                      </m:d>
                      <m:r>
                        <a:rPr lang="es-CO" i="1" dirty="0">
                          <a:latin typeface="Cambria Math" panose="02040503050406030204" pitchFamily="18" charset="0"/>
                        </a:rPr>
                        <m:t>=0</m:t>
                      </m:r>
                    </m:oMath>
                  </m:oMathPara>
                </a14:m>
                <a:endParaRPr lang="es-CO"/>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sSup>
                        <m:sSupPr>
                          <m:ctrlPr>
                            <a:rPr lang="es-CO" i="1" dirty="0">
                              <a:latin typeface="Cambria Math" panose="02040503050406030204" pitchFamily="18" charset="0"/>
                            </a:rPr>
                          </m:ctrlPr>
                        </m:sSupPr>
                        <m:e>
                          <m:r>
                            <a:rPr lang="es-CO" i="1" dirty="0">
                              <a:latin typeface="Cambria Math" panose="02040503050406030204" pitchFamily="18" charset="0"/>
                            </a:rPr>
                            <m:t>𝑠</m:t>
                          </m:r>
                        </m:e>
                        <m:sup>
                          <m:r>
                            <a:rPr lang="es-CO" i="1" dirty="0">
                              <a:latin typeface="Cambria Math" panose="02040503050406030204" pitchFamily="18" charset="0"/>
                            </a:rPr>
                            <m:t>2</m:t>
                          </m:r>
                        </m:sup>
                      </m:sSup>
                      <m:r>
                        <a:rPr lang="es-CO" i="1" dirty="0">
                          <a:latin typeface="Cambria Math" panose="02040503050406030204" pitchFamily="18" charset="0"/>
                        </a:rPr>
                        <m:t>+5</m:t>
                      </m:r>
                      <m:r>
                        <a:rPr lang="es-CO" i="1" dirty="0">
                          <a:latin typeface="Cambria Math" panose="02040503050406030204" pitchFamily="18" charset="0"/>
                        </a:rPr>
                        <m:t>𝑠</m:t>
                      </m:r>
                      <m:r>
                        <a:rPr lang="es-CO" i="1" dirty="0">
                          <a:latin typeface="Cambria Math" panose="02040503050406030204" pitchFamily="18" charset="0"/>
                        </a:rPr>
                        <m:t>+6=0</m:t>
                      </m:r>
                    </m:oMath>
                  </m:oMathPara>
                </a14:m>
                <a:endParaRPr lang="es-CO"/>
              </a:p>
              <a:p>
                <a:pPr marL="0" indent="0">
                  <a:buNone/>
                </a:pPr>
                <a:endParaRPr lang="es-CO"/>
              </a:p>
              <a:p>
                <a:pPr marL="0" indent="0">
                  <a:buNone/>
                </a:pPr>
                <a:r>
                  <a:rPr lang="es-CO"/>
                  <a:t>Encontrar los autovalores (raíces)</a:t>
                </a:r>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d>
                        <m:dPr>
                          <m:ctrlPr>
                            <a:rPr lang="es-CO" i="1" dirty="0">
                              <a:latin typeface="Cambria Math" panose="02040503050406030204" pitchFamily="18" charset="0"/>
                            </a:rPr>
                          </m:ctrlPr>
                        </m:dPr>
                        <m:e>
                          <m:r>
                            <a:rPr lang="es-CO" i="1" dirty="0">
                              <a:latin typeface="Cambria Math" panose="02040503050406030204" pitchFamily="18" charset="0"/>
                            </a:rPr>
                            <m:t>𝑠</m:t>
                          </m:r>
                          <m:r>
                            <a:rPr lang="es-CO" i="1" dirty="0">
                              <a:latin typeface="Cambria Math" panose="02040503050406030204" pitchFamily="18" charset="0"/>
                            </a:rPr>
                            <m:t>+3</m:t>
                          </m:r>
                        </m:e>
                      </m:d>
                      <m:d>
                        <m:dPr>
                          <m:ctrlPr>
                            <a:rPr lang="es-CO" i="1" dirty="0">
                              <a:latin typeface="Cambria Math" panose="02040503050406030204" pitchFamily="18" charset="0"/>
                            </a:rPr>
                          </m:ctrlPr>
                        </m:dPr>
                        <m:e>
                          <m:r>
                            <a:rPr lang="es-CO" i="1" dirty="0">
                              <a:latin typeface="Cambria Math" panose="02040503050406030204" pitchFamily="18" charset="0"/>
                            </a:rPr>
                            <m:t>𝑠</m:t>
                          </m:r>
                          <m:r>
                            <a:rPr lang="es-CO" i="1" dirty="0">
                              <a:latin typeface="Cambria Math" panose="02040503050406030204" pitchFamily="18" charset="0"/>
                            </a:rPr>
                            <m:t>+2</m:t>
                          </m:r>
                        </m:e>
                      </m:d>
                      <m:r>
                        <a:rPr lang="es-CO" i="1" dirty="0">
                          <a:latin typeface="Cambria Math" panose="02040503050406030204" pitchFamily="18" charset="0"/>
                        </a:rPr>
                        <m:t>=0</m:t>
                      </m:r>
                    </m:oMath>
                  </m:oMathPara>
                </a14:m>
                <a:endParaRPr lang="es-CO"/>
              </a:p>
              <a:p>
                <a:pPr marL="0" indent="0">
                  <a:buNone/>
                </a:pPr>
                <a:endParaRPr lang="es-CO"/>
              </a:p>
              <a:p>
                <a:pPr marL="0" indent="0">
                  <a:buNone/>
                </a:pPr>
                <a:r>
                  <a:rPr lang="es-CO"/>
                  <a:t>Por lo tanto, nuestros autovalores son:</a:t>
                </a:r>
              </a:p>
              <a:p>
                <a:pPr marL="0" indent="0">
                  <a:buNone/>
                </a:pPr>
                <a:endParaRPr lang="es-CO"/>
              </a:p>
              <a:p>
                <a:pPr marL="0" indent="0">
                  <a:buNone/>
                </a:pPr>
                <a14:m>
                  <m:oMathPara xmlns:m="http://schemas.openxmlformats.org/officeDocument/2006/math">
                    <m:oMathParaPr>
                      <m:jc m:val="centerGroup"/>
                    </m:oMathParaPr>
                    <m:oMath xmlns:m="http://schemas.openxmlformats.org/officeDocument/2006/math">
                      <m:sSub>
                        <m:sSubPr>
                          <m:ctrlPr>
                            <a:rPr lang="es-CO" i="1" dirty="0">
                              <a:latin typeface="Cambria Math" panose="02040503050406030204" pitchFamily="18" charset="0"/>
                            </a:rPr>
                          </m:ctrlPr>
                        </m:sSubPr>
                        <m:e>
                          <m:r>
                            <a:rPr lang="es-CO" i="1" dirty="0">
                              <a:latin typeface="Cambria Math" panose="02040503050406030204" pitchFamily="18" charset="0"/>
                            </a:rPr>
                            <m:t>𝑠</m:t>
                          </m:r>
                        </m:e>
                        <m:sub>
                          <m:r>
                            <a:rPr lang="es-CO" i="1" dirty="0">
                              <a:latin typeface="Cambria Math" panose="02040503050406030204" pitchFamily="18" charset="0"/>
                            </a:rPr>
                            <m:t>1</m:t>
                          </m:r>
                        </m:sub>
                      </m:sSub>
                      <m:r>
                        <a:rPr lang="es-CO" i="1" dirty="0">
                          <a:latin typeface="Cambria Math" panose="02040503050406030204" pitchFamily="18" charset="0"/>
                        </a:rPr>
                        <m:t>=−2</m:t>
                      </m:r>
                    </m:oMath>
                  </m:oMathPara>
                </a14:m>
                <a:endParaRPr lang="es-CO"/>
              </a:p>
              <a:p>
                <a:pPr marL="0" indent="0">
                  <a:buNone/>
                </a:pPr>
                <a14:m>
                  <m:oMathPara xmlns:m="http://schemas.openxmlformats.org/officeDocument/2006/math">
                    <m:oMathParaPr>
                      <m:jc m:val="centerGroup"/>
                    </m:oMathParaPr>
                    <m:oMath xmlns:m="http://schemas.openxmlformats.org/officeDocument/2006/math">
                      <m:sSub>
                        <m:sSubPr>
                          <m:ctrlPr>
                            <a:rPr lang="es-CO" i="1" dirty="0">
                              <a:latin typeface="Cambria Math" panose="02040503050406030204" pitchFamily="18" charset="0"/>
                            </a:rPr>
                          </m:ctrlPr>
                        </m:sSubPr>
                        <m:e>
                          <m:r>
                            <a:rPr lang="es-CO" i="1" dirty="0">
                              <a:latin typeface="Cambria Math" panose="02040503050406030204" pitchFamily="18" charset="0"/>
                            </a:rPr>
                            <m:t>𝑠</m:t>
                          </m:r>
                        </m:e>
                        <m:sub>
                          <m:r>
                            <a:rPr lang="es-CO" i="1" dirty="0">
                              <a:latin typeface="Cambria Math" panose="02040503050406030204" pitchFamily="18" charset="0"/>
                            </a:rPr>
                            <m:t>2</m:t>
                          </m:r>
                        </m:sub>
                      </m:sSub>
                      <m:r>
                        <a:rPr lang="es-CO" i="1" dirty="0">
                          <a:latin typeface="Cambria Math" panose="02040503050406030204" pitchFamily="18" charset="0"/>
                        </a:rPr>
                        <m:t>=−3</m:t>
                      </m:r>
                    </m:oMath>
                  </m:oMathPara>
                </a14:m>
                <a:endParaRPr lang="es-CO"/>
              </a:p>
              <a:p>
                <a:endParaRPr lang="es-CO"/>
              </a:p>
            </p:txBody>
          </p:sp>
        </mc:Choice>
        <mc:Fallback>
          <p:sp>
            <p:nvSpPr>
              <p:cNvPr id="18" name="Content Placeholder 17">
                <a:extLst>
                  <a:ext uri="{FF2B5EF4-FFF2-40B4-BE49-F238E27FC236}">
                    <a16:creationId xmlns:a16="http://schemas.microsoft.com/office/drawing/2014/main" id="{68F885B9-8C94-64A5-03B9-6EE60BC4740A}"/>
                  </a:ext>
                </a:extLst>
              </p:cNvPr>
              <p:cNvSpPr>
                <a:spLocks noGrp="1" noRot="1" noChangeAspect="1" noMove="1" noResize="1" noEditPoints="1" noAdjustHandles="1" noChangeArrowheads="1" noChangeShapeType="1" noTextEdit="1"/>
              </p:cNvSpPr>
              <p:nvPr>
                <p:ph sz="half" idx="2"/>
              </p:nvPr>
            </p:nvSpPr>
            <p:spPr>
              <a:xfrm>
                <a:off x="6330820" y="982694"/>
                <a:ext cx="5181600" cy="5306137"/>
              </a:xfrm>
              <a:blipFill>
                <a:blip r:embed="rId3"/>
                <a:stretch>
                  <a:fillRect l="-1882" t="-2641"/>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86590009-061E-F930-2CE9-1C69C35429E6}"/>
              </a:ext>
            </a:extLst>
          </p:cNvPr>
          <p:cNvCxnSpPr/>
          <p:nvPr/>
        </p:nvCxnSpPr>
        <p:spPr>
          <a:xfrm>
            <a:off x="6096000" y="681037"/>
            <a:ext cx="0" cy="579440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888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Effect transition="in" filter="fade">
                                      <p:cBhvr>
                                        <p:cTn id="37" dur="500"/>
                                        <p:tgtEl>
                                          <p:spTgt spid="1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
                                            <p:txEl>
                                              <p:pRg st="1" end="1"/>
                                            </p:txEl>
                                          </p:spTgt>
                                        </p:tgtEl>
                                        <p:attrNameLst>
                                          <p:attrName>style.visibility</p:attrName>
                                        </p:attrNameLst>
                                      </p:cBhvr>
                                      <p:to>
                                        <p:strVal val="visible"/>
                                      </p:to>
                                    </p:set>
                                    <p:animEffect transition="in" filter="fade">
                                      <p:cBhvr>
                                        <p:cTn id="42" dur="500"/>
                                        <p:tgtEl>
                                          <p:spTgt spid="1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xEl>
                                              <p:pRg st="3" end="3"/>
                                            </p:txEl>
                                          </p:spTgt>
                                        </p:tgtEl>
                                        <p:attrNameLst>
                                          <p:attrName>style.visibility</p:attrName>
                                        </p:attrNameLst>
                                      </p:cBhvr>
                                      <p:to>
                                        <p:strVal val="visible"/>
                                      </p:to>
                                    </p:set>
                                    <p:animEffect transition="in" filter="fade">
                                      <p:cBhvr>
                                        <p:cTn id="47" dur="500"/>
                                        <p:tgtEl>
                                          <p:spTgt spid="18">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xEl>
                                              <p:pRg st="5" end="5"/>
                                            </p:txEl>
                                          </p:spTgt>
                                        </p:tgtEl>
                                        <p:attrNameLst>
                                          <p:attrName>style.visibility</p:attrName>
                                        </p:attrNameLst>
                                      </p:cBhvr>
                                      <p:to>
                                        <p:strVal val="visible"/>
                                      </p:to>
                                    </p:set>
                                    <p:animEffect transition="in" filter="fade">
                                      <p:cBhvr>
                                        <p:cTn id="52" dur="500"/>
                                        <p:tgtEl>
                                          <p:spTgt spid="18">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xEl>
                                              <p:pRg st="7" end="7"/>
                                            </p:txEl>
                                          </p:spTgt>
                                        </p:tgtEl>
                                        <p:attrNameLst>
                                          <p:attrName>style.visibility</p:attrName>
                                        </p:attrNameLst>
                                      </p:cBhvr>
                                      <p:to>
                                        <p:strVal val="visible"/>
                                      </p:to>
                                    </p:set>
                                    <p:animEffect transition="in" filter="fade">
                                      <p:cBhvr>
                                        <p:cTn id="57" dur="500"/>
                                        <p:tgtEl>
                                          <p:spTgt spid="18">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xEl>
                                              <p:pRg st="9" end="9"/>
                                            </p:txEl>
                                          </p:spTgt>
                                        </p:tgtEl>
                                        <p:attrNameLst>
                                          <p:attrName>style.visibility</p:attrName>
                                        </p:attrNameLst>
                                      </p:cBhvr>
                                      <p:to>
                                        <p:strVal val="visible"/>
                                      </p:to>
                                    </p:set>
                                    <p:animEffect transition="in" filter="fade">
                                      <p:cBhvr>
                                        <p:cTn id="62" dur="500"/>
                                        <p:tgtEl>
                                          <p:spTgt spid="18">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8">
                                            <p:txEl>
                                              <p:pRg st="11" end="11"/>
                                            </p:txEl>
                                          </p:spTgt>
                                        </p:tgtEl>
                                        <p:attrNameLst>
                                          <p:attrName>style.visibility</p:attrName>
                                        </p:attrNameLst>
                                      </p:cBhvr>
                                      <p:to>
                                        <p:strVal val="visible"/>
                                      </p:to>
                                    </p:set>
                                    <p:animEffect transition="in" filter="fade">
                                      <p:cBhvr>
                                        <p:cTn id="67" dur="500"/>
                                        <p:tgtEl>
                                          <p:spTgt spid="18">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xEl>
                                              <p:pRg st="12" end="12"/>
                                            </p:txEl>
                                          </p:spTgt>
                                        </p:tgtEl>
                                        <p:attrNameLst>
                                          <p:attrName>style.visibility</p:attrName>
                                        </p:attrNameLst>
                                      </p:cBhvr>
                                      <p:to>
                                        <p:strVal val="visible"/>
                                      </p:to>
                                    </p:set>
                                    <p:animEffect transition="in" filter="fade">
                                      <p:cBhvr>
                                        <p:cTn id="72" dur="500"/>
                                        <p:tgtEl>
                                          <p:spTgt spid="1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Realización de Funciones de Transferencia</a:t>
            </a:r>
          </a:p>
        </p:txBody>
      </p:sp>
      <p:sp>
        <p:nvSpPr>
          <p:cNvPr id="3" name="Espaço Reservado para Conteúdo 2"/>
          <p:cNvSpPr>
            <a:spLocks noGrp="1"/>
          </p:cNvSpPr>
          <p:nvPr>
            <p:ph idx="1"/>
          </p:nvPr>
        </p:nvSpPr>
        <p:spPr/>
        <p:txBody>
          <a:bodyPr/>
          <a:lstStyle/>
          <a:p>
            <a:r>
              <a:rPr lang="es-CO"/>
              <a:t>Ya habíamos visto que podíamos pasar fácilmente de espacio de estados para función de transferencia</a:t>
            </a:r>
          </a:p>
          <a:p>
            <a:endParaRPr lang="es-CO"/>
          </a:p>
          <a:p>
            <a:endParaRPr lang="es-CO"/>
          </a:p>
          <a:p>
            <a:r>
              <a:rPr lang="es-CO"/>
              <a:t>El problema es la realización inversa (pasar de una función de transferencia para el espacio de estados)</a:t>
            </a:r>
          </a:p>
        </p:txBody>
      </p:sp>
      <p:pic>
        <p:nvPicPr>
          <p:cNvPr id="4" name="Imagem 3"/>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536700" y="2946399"/>
            <a:ext cx="2897505" cy="697230"/>
          </a:xfrm>
          <a:prstGeom prst="rect">
            <a:avLst/>
          </a:prstGeom>
        </p:spPr>
      </p:pic>
      <p:sp>
        <p:nvSpPr>
          <p:cNvPr id="6" name="Seta para a direita 5"/>
          <p:cNvSpPr/>
          <p:nvPr/>
        </p:nvSpPr>
        <p:spPr>
          <a:xfrm>
            <a:off x="5283200" y="3183570"/>
            <a:ext cx="812800" cy="22288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m 6"/>
          <p:cNvPicPr>
            <a:picLocks noChangeAspect="1"/>
          </p:cNvPicPr>
          <p:nvPr>
            <p:custDataLst>
              <p:tags r:id="rId2"/>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866572" y="3124515"/>
            <a:ext cx="3716655" cy="340995"/>
          </a:xfrm>
          <a:prstGeom prst="rect">
            <a:avLst/>
          </a:prstGeom>
        </p:spPr>
      </p:pic>
    </p:spTree>
    <p:extLst>
      <p:ext uri="{BB962C8B-B14F-4D97-AF65-F5344CB8AC3E}">
        <p14:creationId xmlns:p14="http://schemas.microsoft.com/office/powerpoint/2010/main" val="164988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Realización de Funciones de Transferencia</a:t>
            </a:r>
          </a:p>
        </p:txBody>
      </p:sp>
      <p:sp>
        <p:nvSpPr>
          <p:cNvPr id="3" name="Espaço Reservado para Conteúdo 2"/>
          <p:cNvSpPr>
            <a:spLocks noGrp="1"/>
          </p:cNvSpPr>
          <p:nvPr>
            <p:ph idx="1"/>
          </p:nvPr>
        </p:nvSpPr>
        <p:spPr/>
        <p:txBody>
          <a:bodyPr/>
          <a:lstStyle/>
          <a:p>
            <a:r>
              <a:rPr lang="es-CO"/>
              <a:t>Para sistemas SISO se puede obtener una realización de G(s) utilizando las llamadas formas compañeras.</a:t>
            </a:r>
          </a:p>
          <a:p>
            <a:endParaRPr lang="es-CO"/>
          </a:p>
          <a:p>
            <a:endParaRPr lang="es-CO"/>
          </a:p>
          <a:p>
            <a:pPr algn="just"/>
            <a:r>
              <a:rPr lang="es-CO"/>
              <a:t>Veremos como a partir de una función de transferencia podemos obtener una representación de Variables de Estado (Eso es conocido como una realización por Variables de Estado)</a:t>
            </a:r>
          </a:p>
          <a:p>
            <a:pPr marL="0" indent="0">
              <a:buNone/>
            </a:pPr>
            <a:endParaRPr lang="es-CO"/>
          </a:p>
        </p:txBody>
      </p:sp>
      <p:grpSp>
        <p:nvGrpSpPr>
          <p:cNvPr id="59" name="Group 58" descr="\documentclass{article}&#10;\usepackage[brazil]{babel}&#10;\usepackage[T1]{fontenc}&#10;\usepackage{ae} %incluido&#10;\usepackage{amsmath}&#10;\usepackage{multirow}&#10;\pagestyle{empty}&#10;\begin{document}&#10;&#10;&#10;$G(s)=\dfrac{b_1s^{n-1}+...+b_{n-1}s^{n-1}s+b_n}{s^n+a_1s^{n-1}+...+a_{n-1}s+a_n}$&#10;&#10;\end{document}" title="IguanaTex Vector Display">
            <a:extLst>
              <a:ext uri="{FF2B5EF4-FFF2-40B4-BE49-F238E27FC236}">
                <a16:creationId xmlns:a16="http://schemas.microsoft.com/office/drawing/2014/main" id="{C08A42C3-2790-C896-AF03-113C5091C360}"/>
              </a:ext>
            </a:extLst>
          </p:cNvPr>
          <p:cNvGrpSpPr>
            <a:grpSpLocks noChangeAspect="1"/>
          </p:cNvGrpSpPr>
          <p:nvPr>
            <p:custDataLst>
              <p:tags r:id="rId1"/>
            </p:custDataLst>
          </p:nvPr>
        </p:nvGrpSpPr>
        <p:grpSpPr>
          <a:xfrm>
            <a:off x="2794000" y="2794000"/>
            <a:ext cx="5322644" cy="744349"/>
            <a:chOff x="5241341" y="4465823"/>
            <a:chExt cx="5322644" cy="744349"/>
          </a:xfrm>
          <a:solidFill>
            <a:schemeClr val="bg1"/>
          </a:solidFill>
        </p:grpSpPr>
        <p:sp>
          <p:nvSpPr>
            <p:cNvPr id="7" name="Freeform: Shape 6">
              <a:extLst>
                <a:ext uri="{FF2B5EF4-FFF2-40B4-BE49-F238E27FC236}">
                  <a16:creationId xmlns:a16="http://schemas.microsoft.com/office/drawing/2014/main" id="{0FDB270F-AAE2-83DE-F71F-E5A7CAD1225C}"/>
                </a:ext>
              </a:extLst>
            </p:cNvPr>
            <p:cNvSpPr/>
            <p:nvPr>
              <p:custDataLst>
                <p:tags r:id="rId2"/>
              </p:custDataLst>
            </p:nvPr>
          </p:nvSpPr>
          <p:spPr>
            <a:xfrm>
              <a:off x="5241341" y="4719273"/>
              <a:ext cx="224631" cy="230552"/>
            </a:xfrm>
            <a:custGeom>
              <a:avLst/>
              <a:gdLst>
                <a:gd name="csX0" fmla="*/ 224708 w 224631"/>
                <a:gd name="csY0" fmla="*/ 3239 h 230552"/>
                <a:gd name="csX1" fmla="*/ 221228 w 224631"/>
                <a:gd name="csY1" fmla="*/ 68 h 230552"/>
                <a:gd name="csX2" fmla="*/ 216482 w 224631"/>
                <a:gd name="csY2" fmla="*/ 3873 h 230552"/>
                <a:gd name="csX3" fmla="*/ 194335 w 224631"/>
                <a:gd name="csY3" fmla="*/ 28292 h 230552"/>
                <a:gd name="csX4" fmla="*/ 141816 w 224631"/>
                <a:gd name="csY4" fmla="*/ 68 h 230552"/>
                <a:gd name="csX5" fmla="*/ 77 w 224631"/>
                <a:gd name="csY5" fmla="*/ 143727 h 230552"/>
                <a:gd name="csX6" fmla="*/ 86449 w 224631"/>
                <a:gd name="csY6" fmla="*/ 230621 h 230552"/>
                <a:gd name="csX7" fmla="*/ 125997 w 224631"/>
                <a:gd name="csY7" fmla="*/ 223009 h 230552"/>
                <a:gd name="csX8" fmla="*/ 153522 w 224631"/>
                <a:gd name="csY8" fmla="*/ 203665 h 230552"/>
                <a:gd name="csX9" fmla="*/ 167759 w 224631"/>
                <a:gd name="csY9" fmla="*/ 223327 h 230552"/>
                <a:gd name="csX10" fmla="*/ 169974 w 224631"/>
                <a:gd name="csY10" fmla="*/ 222058 h 230552"/>
                <a:gd name="csX11" fmla="*/ 175352 w 224631"/>
                <a:gd name="csY11" fmla="*/ 202713 h 230552"/>
                <a:gd name="csX12" fmla="*/ 181364 w 224631"/>
                <a:gd name="csY12" fmla="*/ 178294 h 230552"/>
                <a:gd name="csX13" fmla="*/ 185476 w 224631"/>
                <a:gd name="csY13" fmla="*/ 162121 h 230552"/>
                <a:gd name="csX14" fmla="*/ 207307 w 224631"/>
                <a:gd name="csY14" fmla="*/ 146898 h 230552"/>
                <a:gd name="csX15" fmla="*/ 212369 w 224631"/>
                <a:gd name="csY15" fmla="*/ 140556 h 230552"/>
                <a:gd name="csX16" fmla="*/ 208256 w 224631"/>
                <a:gd name="csY16" fmla="*/ 137067 h 230552"/>
                <a:gd name="csX17" fmla="*/ 175036 w 224631"/>
                <a:gd name="csY17" fmla="*/ 138019 h 230552"/>
                <a:gd name="csX18" fmla="*/ 130742 w 224631"/>
                <a:gd name="csY18" fmla="*/ 137067 h 230552"/>
                <a:gd name="csX19" fmla="*/ 124098 w 224631"/>
                <a:gd name="csY19" fmla="*/ 143410 h 230552"/>
                <a:gd name="csX20" fmla="*/ 133590 w 224631"/>
                <a:gd name="csY20" fmla="*/ 146898 h 230552"/>
                <a:gd name="csX21" fmla="*/ 150358 w 224631"/>
                <a:gd name="csY21" fmla="*/ 147533 h 230552"/>
                <a:gd name="csX22" fmla="*/ 160166 w 224631"/>
                <a:gd name="csY22" fmla="*/ 153558 h 230552"/>
                <a:gd name="csX23" fmla="*/ 153522 w 224631"/>
                <a:gd name="csY23" fmla="*/ 182417 h 230552"/>
                <a:gd name="csX24" fmla="*/ 92460 w 224631"/>
                <a:gd name="csY24" fmla="*/ 220790 h 230552"/>
                <a:gd name="csX25" fmla="*/ 28867 w 224631"/>
                <a:gd name="csY25" fmla="*/ 154192 h 230552"/>
                <a:gd name="csX26" fmla="*/ 65251 w 224631"/>
                <a:gd name="csY26" fmla="*/ 50808 h 230552"/>
                <a:gd name="csX27" fmla="*/ 144347 w 224631"/>
                <a:gd name="csY27" fmla="*/ 9899 h 230552"/>
                <a:gd name="csX28" fmla="*/ 195284 w 224631"/>
                <a:gd name="csY28" fmla="*/ 71105 h 230552"/>
                <a:gd name="csX29" fmla="*/ 194335 w 224631"/>
                <a:gd name="csY29" fmla="*/ 87278 h 230552"/>
                <a:gd name="csX30" fmla="*/ 199081 w 224631"/>
                <a:gd name="csY30" fmla="*/ 90449 h 230552"/>
                <a:gd name="csX31" fmla="*/ 204776 w 224631"/>
                <a:gd name="csY31" fmla="*/ 84107 h 230552"/>
                <a:gd name="csX32" fmla="*/ 224708 w 224631"/>
                <a:gd name="csY32" fmla="*/ 3239 h 230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24631" h="230552">
                  <a:moveTo>
                    <a:pt x="224708" y="3239"/>
                  </a:moveTo>
                  <a:cubicBezTo>
                    <a:pt x="224708" y="2288"/>
                    <a:pt x="224075" y="68"/>
                    <a:pt x="221228" y="68"/>
                  </a:cubicBezTo>
                  <a:cubicBezTo>
                    <a:pt x="220278" y="68"/>
                    <a:pt x="219962" y="385"/>
                    <a:pt x="216482" y="3873"/>
                  </a:cubicBezTo>
                  <a:lnTo>
                    <a:pt x="194335" y="28292"/>
                  </a:lnTo>
                  <a:cubicBezTo>
                    <a:pt x="191488" y="23852"/>
                    <a:pt x="176934" y="68"/>
                    <a:pt x="141816" y="68"/>
                  </a:cubicBezTo>
                  <a:cubicBezTo>
                    <a:pt x="71263" y="68"/>
                    <a:pt x="77" y="70153"/>
                    <a:pt x="77" y="143727"/>
                  </a:cubicBezTo>
                  <a:cubicBezTo>
                    <a:pt x="77" y="194151"/>
                    <a:pt x="35195" y="230621"/>
                    <a:pt x="86449" y="230621"/>
                  </a:cubicBezTo>
                  <a:cubicBezTo>
                    <a:pt x="100370" y="230621"/>
                    <a:pt x="114607" y="227766"/>
                    <a:pt x="125997" y="223009"/>
                  </a:cubicBezTo>
                  <a:cubicBezTo>
                    <a:pt x="141816" y="216667"/>
                    <a:pt x="147827" y="210007"/>
                    <a:pt x="153522" y="203665"/>
                  </a:cubicBezTo>
                  <a:cubicBezTo>
                    <a:pt x="156369" y="211593"/>
                    <a:pt x="164595" y="223327"/>
                    <a:pt x="167759" y="223327"/>
                  </a:cubicBezTo>
                  <a:cubicBezTo>
                    <a:pt x="169341" y="223327"/>
                    <a:pt x="169974" y="222375"/>
                    <a:pt x="169974" y="222058"/>
                  </a:cubicBezTo>
                  <a:cubicBezTo>
                    <a:pt x="170607" y="221424"/>
                    <a:pt x="173770" y="209373"/>
                    <a:pt x="175352" y="202713"/>
                  </a:cubicBezTo>
                  <a:lnTo>
                    <a:pt x="181364" y="178294"/>
                  </a:lnTo>
                  <a:cubicBezTo>
                    <a:pt x="182629" y="172903"/>
                    <a:pt x="184211" y="167512"/>
                    <a:pt x="185476" y="162121"/>
                  </a:cubicBezTo>
                  <a:cubicBezTo>
                    <a:pt x="188957" y="147850"/>
                    <a:pt x="189273" y="147216"/>
                    <a:pt x="207307" y="146898"/>
                  </a:cubicBezTo>
                  <a:cubicBezTo>
                    <a:pt x="208889" y="146898"/>
                    <a:pt x="212369" y="146581"/>
                    <a:pt x="212369" y="140556"/>
                  </a:cubicBezTo>
                  <a:cubicBezTo>
                    <a:pt x="212369" y="138336"/>
                    <a:pt x="210787" y="137067"/>
                    <a:pt x="208256" y="137067"/>
                  </a:cubicBezTo>
                  <a:cubicBezTo>
                    <a:pt x="200979" y="137067"/>
                    <a:pt x="182313" y="138019"/>
                    <a:pt x="175036" y="138019"/>
                  </a:cubicBezTo>
                  <a:cubicBezTo>
                    <a:pt x="165228" y="138019"/>
                    <a:pt x="140550" y="137067"/>
                    <a:pt x="130742" y="137067"/>
                  </a:cubicBezTo>
                  <a:cubicBezTo>
                    <a:pt x="127895" y="137067"/>
                    <a:pt x="124098" y="137067"/>
                    <a:pt x="124098" y="143410"/>
                  </a:cubicBezTo>
                  <a:cubicBezTo>
                    <a:pt x="124098" y="146898"/>
                    <a:pt x="126629" y="146898"/>
                    <a:pt x="133590" y="146898"/>
                  </a:cubicBezTo>
                  <a:cubicBezTo>
                    <a:pt x="133906" y="146898"/>
                    <a:pt x="143081" y="146898"/>
                    <a:pt x="150358" y="147533"/>
                  </a:cubicBezTo>
                  <a:cubicBezTo>
                    <a:pt x="158584" y="148484"/>
                    <a:pt x="160166" y="149435"/>
                    <a:pt x="160166" y="153558"/>
                  </a:cubicBezTo>
                  <a:cubicBezTo>
                    <a:pt x="160166" y="156412"/>
                    <a:pt x="156686" y="170683"/>
                    <a:pt x="153522" y="182417"/>
                  </a:cubicBezTo>
                  <a:cubicBezTo>
                    <a:pt x="144663" y="217301"/>
                    <a:pt x="103534" y="220790"/>
                    <a:pt x="92460" y="220790"/>
                  </a:cubicBezTo>
                  <a:cubicBezTo>
                    <a:pt x="62088" y="220790"/>
                    <a:pt x="28867" y="202713"/>
                    <a:pt x="28867" y="154192"/>
                  </a:cubicBezTo>
                  <a:cubicBezTo>
                    <a:pt x="28867" y="144361"/>
                    <a:pt x="32031" y="92035"/>
                    <a:pt x="65251" y="50808"/>
                  </a:cubicBezTo>
                  <a:cubicBezTo>
                    <a:pt x="82336" y="29244"/>
                    <a:pt x="113025" y="9899"/>
                    <a:pt x="144347" y="9899"/>
                  </a:cubicBezTo>
                  <a:cubicBezTo>
                    <a:pt x="176618" y="9899"/>
                    <a:pt x="195284" y="34318"/>
                    <a:pt x="195284" y="71105"/>
                  </a:cubicBezTo>
                  <a:cubicBezTo>
                    <a:pt x="195284" y="83790"/>
                    <a:pt x="194335" y="84107"/>
                    <a:pt x="194335" y="87278"/>
                  </a:cubicBezTo>
                  <a:cubicBezTo>
                    <a:pt x="194335" y="90449"/>
                    <a:pt x="197815" y="90449"/>
                    <a:pt x="199081" y="90449"/>
                  </a:cubicBezTo>
                  <a:cubicBezTo>
                    <a:pt x="203194" y="90449"/>
                    <a:pt x="203194" y="89815"/>
                    <a:pt x="204776" y="84107"/>
                  </a:cubicBezTo>
                  <a:lnTo>
                    <a:pt x="224708" y="3239"/>
                  </a:lnTo>
                  <a:close/>
                </a:path>
              </a:pathLst>
            </a:custGeom>
            <a:grpFill/>
            <a:ln w="31750" cap="flat">
              <a:noFill/>
              <a:prstDash val="solid"/>
              <a:miter/>
            </a:ln>
          </p:spPr>
          <p:txBody>
            <a:bodyPr/>
            <a:lstStyle/>
            <a:p>
              <a:endParaRPr lang="es-CO"/>
            </a:p>
          </p:txBody>
        </p:sp>
        <p:sp>
          <p:nvSpPr>
            <p:cNvPr id="8" name="Freeform: Shape 7">
              <a:extLst>
                <a:ext uri="{FF2B5EF4-FFF2-40B4-BE49-F238E27FC236}">
                  <a16:creationId xmlns:a16="http://schemas.microsoft.com/office/drawing/2014/main" id="{FD14638A-D023-A3C9-6349-8E2C21DF534C}"/>
                </a:ext>
              </a:extLst>
            </p:cNvPr>
            <p:cNvSpPr/>
            <p:nvPr>
              <p:custDataLst>
                <p:tags r:id="rId3"/>
              </p:custDataLst>
            </p:nvPr>
          </p:nvSpPr>
          <p:spPr>
            <a:xfrm>
              <a:off x="5505598" y="4705002"/>
              <a:ext cx="73400" cy="317129"/>
            </a:xfrm>
            <a:custGeom>
              <a:avLst/>
              <a:gdLst>
                <a:gd name="csX0" fmla="*/ 73485 w 73400"/>
                <a:gd name="csY0" fmla="*/ 314025 h 317129"/>
                <a:gd name="csX1" fmla="*/ 68107 w 73400"/>
                <a:gd name="csY1" fmla="*/ 307049 h 317129"/>
                <a:gd name="csX2" fmla="*/ 18435 w 73400"/>
                <a:gd name="csY2" fmla="*/ 158632 h 317129"/>
                <a:gd name="csX3" fmla="*/ 69372 w 73400"/>
                <a:gd name="csY3" fmla="*/ 8630 h 317129"/>
                <a:gd name="csX4" fmla="*/ 73485 w 73400"/>
                <a:gd name="csY4" fmla="*/ 3239 h 317129"/>
                <a:gd name="csX5" fmla="*/ 70321 w 73400"/>
                <a:gd name="csY5" fmla="*/ 68 h 317129"/>
                <a:gd name="csX6" fmla="*/ 20017 w 73400"/>
                <a:gd name="csY6" fmla="*/ 61908 h 317129"/>
                <a:gd name="csX7" fmla="*/ 85 w 73400"/>
                <a:gd name="csY7" fmla="*/ 158632 h 317129"/>
                <a:gd name="csX8" fmla="*/ 20966 w 73400"/>
                <a:gd name="csY8" fmla="*/ 257576 h 317129"/>
                <a:gd name="csX9" fmla="*/ 70321 w 73400"/>
                <a:gd name="csY9" fmla="*/ 317197 h 317129"/>
                <a:gd name="csX10" fmla="*/ 73485 w 73400"/>
                <a:gd name="csY10" fmla="*/ 314025 h 317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3400" h="317129">
                  <a:moveTo>
                    <a:pt x="73485" y="314025"/>
                  </a:moveTo>
                  <a:cubicBezTo>
                    <a:pt x="73485" y="313074"/>
                    <a:pt x="73485" y="312440"/>
                    <a:pt x="68107" y="307049"/>
                  </a:cubicBezTo>
                  <a:cubicBezTo>
                    <a:pt x="28559" y="267090"/>
                    <a:pt x="18435" y="207153"/>
                    <a:pt x="18435" y="158632"/>
                  </a:cubicBezTo>
                  <a:cubicBezTo>
                    <a:pt x="18435" y="103452"/>
                    <a:pt x="30457" y="48271"/>
                    <a:pt x="69372" y="8630"/>
                  </a:cubicBezTo>
                  <a:cubicBezTo>
                    <a:pt x="73485" y="4825"/>
                    <a:pt x="73485" y="4190"/>
                    <a:pt x="73485" y="3239"/>
                  </a:cubicBezTo>
                  <a:cubicBezTo>
                    <a:pt x="73485" y="1019"/>
                    <a:pt x="72220" y="68"/>
                    <a:pt x="70321" y="68"/>
                  </a:cubicBezTo>
                  <a:cubicBezTo>
                    <a:pt x="67158" y="68"/>
                    <a:pt x="38683" y="21632"/>
                    <a:pt x="20017" y="61908"/>
                  </a:cubicBezTo>
                  <a:cubicBezTo>
                    <a:pt x="3881" y="96792"/>
                    <a:pt x="85" y="131993"/>
                    <a:pt x="85" y="158632"/>
                  </a:cubicBezTo>
                  <a:cubicBezTo>
                    <a:pt x="85" y="183368"/>
                    <a:pt x="3565" y="221741"/>
                    <a:pt x="20966" y="257576"/>
                  </a:cubicBezTo>
                  <a:cubicBezTo>
                    <a:pt x="39949" y="296583"/>
                    <a:pt x="67158" y="317197"/>
                    <a:pt x="70321" y="317197"/>
                  </a:cubicBezTo>
                  <a:cubicBezTo>
                    <a:pt x="72220" y="317197"/>
                    <a:pt x="73485" y="316245"/>
                    <a:pt x="73485" y="314025"/>
                  </a:cubicBezTo>
                  <a:close/>
                </a:path>
              </a:pathLst>
            </a:custGeom>
            <a:grpFill/>
            <a:ln w="31750" cap="flat">
              <a:noFill/>
              <a:prstDash val="solid"/>
              <a:miter/>
            </a:ln>
          </p:spPr>
          <p:txBody>
            <a:bodyPr/>
            <a:lstStyle/>
            <a:p>
              <a:endParaRPr lang="es-CO"/>
            </a:p>
          </p:txBody>
        </p:sp>
        <p:sp>
          <p:nvSpPr>
            <p:cNvPr id="10" name="Freeform: Shape 9">
              <a:extLst>
                <a:ext uri="{FF2B5EF4-FFF2-40B4-BE49-F238E27FC236}">
                  <a16:creationId xmlns:a16="http://schemas.microsoft.com/office/drawing/2014/main" id="{3AADB41B-9E84-F04C-A078-637CD1D117E9}"/>
                </a:ext>
              </a:extLst>
            </p:cNvPr>
            <p:cNvSpPr/>
            <p:nvPr>
              <p:custDataLst>
                <p:tags r:id="rId4"/>
              </p:custDataLst>
            </p:nvPr>
          </p:nvSpPr>
          <p:spPr>
            <a:xfrm>
              <a:off x="5613766" y="4802678"/>
              <a:ext cx="116428" cy="143659"/>
            </a:xfrm>
            <a:custGeom>
              <a:avLst/>
              <a:gdLst>
                <a:gd name="csX0" fmla="*/ 107342 w 116428"/>
                <a:gd name="csY0" fmla="*/ 21632 h 143659"/>
                <a:gd name="csX1" fmla="*/ 92156 w 116428"/>
                <a:gd name="csY1" fmla="*/ 35903 h 143659"/>
                <a:gd name="csX2" fmla="*/ 101963 w 116428"/>
                <a:gd name="csY2" fmla="*/ 45100 h 143659"/>
                <a:gd name="csX3" fmla="*/ 116517 w 116428"/>
                <a:gd name="csY3" fmla="*/ 27341 h 143659"/>
                <a:gd name="csX4" fmla="*/ 78868 w 116428"/>
                <a:gd name="csY4" fmla="*/ 68 h 143659"/>
                <a:gd name="csX5" fmla="*/ 25399 w 116428"/>
                <a:gd name="csY5" fmla="*/ 46369 h 143659"/>
                <a:gd name="csX6" fmla="*/ 57986 w 116428"/>
                <a:gd name="csY6" fmla="*/ 77764 h 143659"/>
                <a:gd name="csX7" fmla="*/ 90890 w 116428"/>
                <a:gd name="csY7" fmla="*/ 101866 h 143659"/>
                <a:gd name="csX8" fmla="*/ 45647 w 116428"/>
                <a:gd name="csY8" fmla="*/ 136750 h 143659"/>
                <a:gd name="csX9" fmla="*/ 9580 w 116428"/>
                <a:gd name="csY9" fmla="*/ 119942 h 143659"/>
                <a:gd name="csX10" fmla="*/ 29512 w 116428"/>
                <a:gd name="csY10" fmla="*/ 103135 h 143659"/>
                <a:gd name="csX11" fmla="*/ 17806 w 116428"/>
                <a:gd name="csY11" fmla="*/ 92035 h 143659"/>
                <a:gd name="csX12" fmla="*/ 88 w 116428"/>
                <a:gd name="csY12" fmla="*/ 112966 h 143659"/>
                <a:gd name="csX13" fmla="*/ 45331 w 116428"/>
                <a:gd name="csY13" fmla="*/ 143727 h 143659"/>
                <a:gd name="csX14" fmla="*/ 108924 w 116428"/>
                <a:gd name="csY14" fmla="*/ 91084 h 143659"/>
                <a:gd name="csX15" fmla="*/ 99116 w 116428"/>
                <a:gd name="csY15" fmla="*/ 67933 h 143659"/>
                <a:gd name="csX16" fmla="*/ 67478 w 116428"/>
                <a:gd name="csY16" fmla="*/ 54614 h 143659"/>
                <a:gd name="csX17" fmla="*/ 43433 w 116428"/>
                <a:gd name="csY17" fmla="*/ 35586 h 143659"/>
                <a:gd name="csX18" fmla="*/ 78868 w 116428"/>
                <a:gd name="csY18" fmla="*/ 7044 h 143659"/>
                <a:gd name="csX19" fmla="*/ 107342 w 116428"/>
                <a:gd name="csY19" fmla="*/ 21632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342" y="21632"/>
                  </a:moveTo>
                  <a:cubicBezTo>
                    <a:pt x="98483" y="21950"/>
                    <a:pt x="92156" y="28926"/>
                    <a:pt x="92156" y="35903"/>
                  </a:cubicBezTo>
                  <a:cubicBezTo>
                    <a:pt x="92156" y="40343"/>
                    <a:pt x="95003" y="45100"/>
                    <a:pt x="101963" y="45100"/>
                  </a:cubicBezTo>
                  <a:cubicBezTo>
                    <a:pt x="108924" y="45100"/>
                    <a:pt x="116517" y="39709"/>
                    <a:pt x="116517" y="27341"/>
                  </a:cubicBezTo>
                  <a:cubicBezTo>
                    <a:pt x="116517" y="13070"/>
                    <a:pt x="102913" y="68"/>
                    <a:pt x="78868" y="68"/>
                  </a:cubicBezTo>
                  <a:cubicBezTo>
                    <a:pt x="37105" y="68"/>
                    <a:pt x="25399" y="32415"/>
                    <a:pt x="25399" y="46369"/>
                  </a:cubicBezTo>
                  <a:cubicBezTo>
                    <a:pt x="25399" y="71105"/>
                    <a:pt x="48811" y="75862"/>
                    <a:pt x="57986" y="77764"/>
                  </a:cubicBezTo>
                  <a:cubicBezTo>
                    <a:pt x="74438" y="80936"/>
                    <a:pt x="90890" y="84424"/>
                    <a:pt x="90890" y="101866"/>
                  </a:cubicBezTo>
                  <a:cubicBezTo>
                    <a:pt x="90890" y="110111"/>
                    <a:pt x="83613" y="136750"/>
                    <a:pt x="45647" y="136750"/>
                  </a:cubicBezTo>
                  <a:cubicBezTo>
                    <a:pt x="41218" y="136750"/>
                    <a:pt x="16857" y="136750"/>
                    <a:pt x="9580" y="119942"/>
                  </a:cubicBezTo>
                  <a:cubicBezTo>
                    <a:pt x="21602" y="121528"/>
                    <a:pt x="29512" y="112014"/>
                    <a:pt x="29512" y="103135"/>
                  </a:cubicBezTo>
                  <a:cubicBezTo>
                    <a:pt x="29512" y="95841"/>
                    <a:pt x="24450" y="92035"/>
                    <a:pt x="17806" y="92035"/>
                  </a:cubicBezTo>
                  <a:cubicBezTo>
                    <a:pt x="9580" y="92035"/>
                    <a:pt x="88" y="98695"/>
                    <a:pt x="88" y="112966"/>
                  </a:cubicBezTo>
                  <a:cubicBezTo>
                    <a:pt x="88" y="131042"/>
                    <a:pt x="18122" y="143727"/>
                    <a:pt x="45331" y="143727"/>
                  </a:cubicBezTo>
                  <a:cubicBezTo>
                    <a:pt x="96585" y="143727"/>
                    <a:pt x="108924" y="105355"/>
                    <a:pt x="108924" y="91084"/>
                  </a:cubicBezTo>
                  <a:cubicBezTo>
                    <a:pt x="108924" y="79667"/>
                    <a:pt x="102913" y="71739"/>
                    <a:pt x="99116" y="67933"/>
                  </a:cubicBezTo>
                  <a:cubicBezTo>
                    <a:pt x="90574" y="59054"/>
                    <a:pt x="81399" y="57468"/>
                    <a:pt x="67478" y="54614"/>
                  </a:cubicBezTo>
                  <a:cubicBezTo>
                    <a:pt x="56088" y="52077"/>
                    <a:pt x="43433" y="49857"/>
                    <a:pt x="43433" y="35586"/>
                  </a:cubicBezTo>
                  <a:cubicBezTo>
                    <a:pt x="43433" y="26389"/>
                    <a:pt x="51026" y="7044"/>
                    <a:pt x="78868" y="7044"/>
                  </a:cubicBezTo>
                  <a:cubicBezTo>
                    <a:pt x="86777" y="7044"/>
                    <a:pt x="102596" y="9264"/>
                    <a:pt x="107342" y="21632"/>
                  </a:cubicBezTo>
                  <a:close/>
                </a:path>
              </a:pathLst>
            </a:custGeom>
            <a:grpFill/>
            <a:ln w="31750" cap="flat">
              <a:noFill/>
              <a:prstDash val="solid"/>
              <a:miter/>
            </a:ln>
          </p:spPr>
          <p:txBody>
            <a:bodyPr/>
            <a:lstStyle/>
            <a:p>
              <a:endParaRPr lang="es-CO"/>
            </a:p>
          </p:txBody>
        </p:sp>
        <p:sp>
          <p:nvSpPr>
            <p:cNvPr id="11" name="Freeform: Shape 10">
              <a:extLst>
                <a:ext uri="{FF2B5EF4-FFF2-40B4-BE49-F238E27FC236}">
                  <a16:creationId xmlns:a16="http://schemas.microsoft.com/office/drawing/2014/main" id="{64A4C87E-17C4-CE3D-1D45-334AA2F866D1}"/>
                </a:ext>
              </a:extLst>
            </p:cNvPr>
            <p:cNvSpPr/>
            <p:nvPr>
              <p:custDataLst>
                <p:tags r:id="rId5"/>
              </p:custDataLst>
            </p:nvPr>
          </p:nvSpPr>
          <p:spPr>
            <a:xfrm>
              <a:off x="5763652" y="4705002"/>
              <a:ext cx="73400" cy="317129"/>
            </a:xfrm>
            <a:custGeom>
              <a:avLst/>
              <a:gdLst>
                <a:gd name="csX0" fmla="*/ 73494 w 73400"/>
                <a:gd name="csY0" fmla="*/ 158632 h 317129"/>
                <a:gd name="csX1" fmla="*/ 52612 w 73400"/>
                <a:gd name="csY1" fmla="*/ 59688 h 317129"/>
                <a:gd name="csX2" fmla="*/ 3257 w 73400"/>
                <a:gd name="csY2" fmla="*/ 68 h 317129"/>
                <a:gd name="csX3" fmla="*/ 93 w 73400"/>
                <a:gd name="csY3" fmla="*/ 3239 h 317129"/>
                <a:gd name="csX4" fmla="*/ 6104 w 73400"/>
                <a:gd name="csY4" fmla="*/ 10533 h 317129"/>
                <a:gd name="csX5" fmla="*/ 55144 w 73400"/>
                <a:gd name="csY5" fmla="*/ 158632 h 317129"/>
                <a:gd name="csX6" fmla="*/ 4206 w 73400"/>
                <a:gd name="csY6" fmla="*/ 308634 h 317129"/>
                <a:gd name="csX7" fmla="*/ 93 w 73400"/>
                <a:gd name="csY7" fmla="*/ 314025 h 317129"/>
                <a:gd name="csX8" fmla="*/ 3257 w 73400"/>
                <a:gd name="csY8" fmla="*/ 317197 h 317129"/>
                <a:gd name="csX9" fmla="*/ 53562 w 73400"/>
                <a:gd name="csY9" fmla="*/ 255357 h 317129"/>
                <a:gd name="csX10" fmla="*/ 73494 w 73400"/>
                <a:gd name="csY10" fmla="*/ 158632 h 317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3400" h="317129">
                  <a:moveTo>
                    <a:pt x="73494" y="158632"/>
                  </a:moveTo>
                  <a:cubicBezTo>
                    <a:pt x="73494" y="133896"/>
                    <a:pt x="70013" y="95524"/>
                    <a:pt x="52612" y="59688"/>
                  </a:cubicBezTo>
                  <a:cubicBezTo>
                    <a:pt x="33630" y="20681"/>
                    <a:pt x="6421" y="68"/>
                    <a:pt x="3257" y="68"/>
                  </a:cubicBezTo>
                  <a:cubicBezTo>
                    <a:pt x="1359" y="68"/>
                    <a:pt x="93" y="1336"/>
                    <a:pt x="93" y="3239"/>
                  </a:cubicBezTo>
                  <a:cubicBezTo>
                    <a:pt x="93" y="4190"/>
                    <a:pt x="93" y="4825"/>
                    <a:pt x="6104" y="10533"/>
                  </a:cubicBezTo>
                  <a:cubicBezTo>
                    <a:pt x="37110" y="41929"/>
                    <a:pt x="55144" y="92352"/>
                    <a:pt x="55144" y="158632"/>
                  </a:cubicBezTo>
                  <a:cubicBezTo>
                    <a:pt x="55144" y="212861"/>
                    <a:pt x="43437" y="268676"/>
                    <a:pt x="4206" y="308634"/>
                  </a:cubicBezTo>
                  <a:cubicBezTo>
                    <a:pt x="93" y="312440"/>
                    <a:pt x="93" y="313074"/>
                    <a:pt x="93" y="314025"/>
                  </a:cubicBezTo>
                  <a:cubicBezTo>
                    <a:pt x="93" y="315928"/>
                    <a:pt x="1359" y="317197"/>
                    <a:pt x="3257" y="317197"/>
                  </a:cubicBezTo>
                  <a:cubicBezTo>
                    <a:pt x="6421" y="317197"/>
                    <a:pt x="34895" y="295632"/>
                    <a:pt x="53562" y="255357"/>
                  </a:cubicBezTo>
                  <a:cubicBezTo>
                    <a:pt x="69697" y="220472"/>
                    <a:pt x="73494" y="185271"/>
                    <a:pt x="73494" y="158632"/>
                  </a:cubicBezTo>
                  <a:close/>
                </a:path>
              </a:pathLst>
            </a:custGeom>
            <a:grpFill/>
            <a:ln w="31750" cap="flat">
              <a:noFill/>
              <a:prstDash val="solid"/>
              <a:miter/>
            </a:ln>
          </p:spPr>
          <p:txBody>
            <a:bodyPr/>
            <a:lstStyle/>
            <a:p>
              <a:endParaRPr lang="es-CO"/>
            </a:p>
          </p:txBody>
        </p:sp>
        <p:sp>
          <p:nvSpPr>
            <p:cNvPr id="12" name="Freeform: Shape 11">
              <a:extLst>
                <a:ext uri="{FF2B5EF4-FFF2-40B4-BE49-F238E27FC236}">
                  <a16:creationId xmlns:a16="http://schemas.microsoft.com/office/drawing/2014/main" id="{4E10846F-875B-62CF-68F6-24C82AB5F632}"/>
                </a:ext>
              </a:extLst>
            </p:cNvPr>
            <p:cNvSpPr/>
            <p:nvPr>
              <p:custDataLst>
                <p:tags r:id="rId6"/>
              </p:custDataLst>
            </p:nvPr>
          </p:nvSpPr>
          <p:spPr>
            <a:xfrm>
              <a:off x="5974255" y="4826463"/>
              <a:ext cx="210393" cy="74208"/>
            </a:xfrm>
            <a:custGeom>
              <a:avLst/>
              <a:gdLst>
                <a:gd name="csX0" fmla="*/ 199737 w 210393"/>
                <a:gd name="csY0" fmla="*/ 12753 h 74208"/>
                <a:gd name="csX1" fmla="*/ 210494 w 210393"/>
                <a:gd name="csY1" fmla="*/ 6410 h 74208"/>
                <a:gd name="csX2" fmla="*/ 200053 w 210393"/>
                <a:gd name="csY2" fmla="*/ 68 h 74208"/>
                <a:gd name="csX3" fmla="*/ 10540 w 210393"/>
                <a:gd name="csY3" fmla="*/ 68 h 74208"/>
                <a:gd name="csX4" fmla="*/ 100 w 210393"/>
                <a:gd name="csY4" fmla="*/ 6410 h 74208"/>
                <a:gd name="csX5" fmla="*/ 10857 w 210393"/>
                <a:gd name="csY5" fmla="*/ 12753 h 74208"/>
                <a:gd name="csX6" fmla="*/ 199737 w 210393"/>
                <a:gd name="csY6" fmla="*/ 12753 h 74208"/>
                <a:gd name="csX7" fmla="*/ 200053 w 210393"/>
                <a:gd name="csY7" fmla="*/ 74276 h 74208"/>
                <a:gd name="csX8" fmla="*/ 210494 w 210393"/>
                <a:gd name="csY8" fmla="*/ 67933 h 74208"/>
                <a:gd name="csX9" fmla="*/ 199737 w 210393"/>
                <a:gd name="csY9" fmla="*/ 61591 h 74208"/>
                <a:gd name="csX10" fmla="*/ 10857 w 210393"/>
                <a:gd name="csY10" fmla="*/ 61591 h 74208"/>
                <a:gd name="csX11" fmla="*/ 100 w 210393"/>
                <a:gd name="csY11" fmla="*/ 67933 h 74208"/>
                <a:gd name="csX12" fmla="*/ 10540 w 210393"/>
                <a:gd name="csY12" fmla="*/ 74276 h 74208"/>
                <a:gd name="csX13" fmla="*/ 200053 w 210393"/>
                <a:gd name="csY13" fmla="*/ 74276 h 742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393" h="74208">
                  <a:moveTo>
                    <a:pt x="199737" y="12753"/>
                  </a:moveTo>
                  <a:cubicBezTo>
                    <a:pt x="204482" y="12753"/>
                    <a:pt x="210494" y="12753"/>
                    <a:pt x="210494" y="6410"/>
                  </a:cubicBezTo>
                  <a:cubicBezTo>
                    <a:pt x="210494" y="68"/>
                    <a:pt x="204482" y="68"/>
                    <a:pt x="200053" y="68"/>
                  </a:cubicBezTo>
                  <a:lnTo>
                    <a:pt x="10540" y="68"/>
                  </a:lnTo>
                  <a:cubicBezTo>
                    <a:pt x="6111" y="68"/>
                    <a:pt x="100" y="68"/>
                    <a:pt x="100" y="6410"/>
                  </a:cubicBezTo>
                  <a:cubicBezTo>
                    <a:pt x="100" y="12753"/>
                    <a:pt x="6111" y="12753"/>
                    <a:pt x="10857" y="12753"/>
                  </a:cubicBezTo>
                  <a:lnTo>
                    <a:pt x="199737" y="12753"/>
                  </a:lnTo>
                  <a:close/>
                  <a:moveTo>
                    <a:pt x="200053" y="74276"/>
                  </a:moveTo>
                  <a:cubicBezTo>
                    <a:pt x="204482" y="74276"/>
                    <a:pt x="210494" y="74276"/>
                    <a:pt x="210494" y="67933"/>
                  </a:cubicBezTo>
                  <a:cubicBezTo>
                    <a:pt x="210494" y="61591"/>
                    <a:pt x="204482" y="61591"/>
                    <a:pt x="199737" y="61591"/>
                  </a:cubicBezTo>
                  <a:lnTo>
                    <a:pt x="10857" y="61591"/>
                  </a:lnTo>
                  <a:cubicBezTo>
                    <a:pt x="6111" y="61591"/>
                    <a:pt x="100" y="61591"/>
                    <a:pt x="100" y="67933"/>
                  </a:cubicBezTo>
                  <a:cubicBezTo>
                    <a:pt x="100" y="74276"/>
                    <a:pt x="6111" y="74276"/>
                    <a:pt x="10540" y="74276"/>
                  </a:cubicBezTo>
                  <a:lnTo>
                    <a:pt x="200053" y="74276"/>
                  </a:lnTo>
                  <a:close/>
                </a:path>
              </a:pathLst>
            </a:custGeom>
            <a:grpFill/>
            <a:ln w="31750" cap="flat">
              <a:noFill/>
              <a:prstDash val="solid"/>
              <a:miter/>
            </a:ln>
          </p:spPr>
          <p:txBody>
            <a:bodyPr/>
            <a:lstStyle/>
            <a:p>
              <a:endParaRPr lang="es-CO"/>
            </a:p>
          </p:txBody>
        </p:sp>
        <p:sp>
          <p:nvSpPr>
            <p:cNvPr id="13" name="Freeform: Shape 12">
              <a:extLst>
                <a:ext uri="{FF2B5EF4-FFF2-40B4-BE49-F238E27FC236}">
                  <a16:creationId xmlns:a16="http://schemas.microsoft.com/office/drawing/2014/main" id="{7D70BBD9-C67F-7AA9-F021-53B85CFB359B}"/>
                </a:ext>
              </a:extLst>
            </p:cNvPr>
            <p:cNvSpPr/>
            <p:nvPr>
              <p:custDataLst>
                <p:tags r:id="rId7"/>
              </p:custDataLst>
            </p:nvPr>
          </p:nvSpPr>
          <p:spPr>
            <a:xfrm>
              <a:off x="6421931" y="4508221"/>
              <a:ext cx="116428" cy="223576"/>
            </a:xfrm>
            <a:custGeom>
              <a:avLst/>
              <a:gdLst>
                <a:gd name="csX0" fmla="*/ 60859 w 116428"/>
                <a:gd name="csY0" fmla="*/ 3549 h 223576"/>
                <a:gd name="csX1" fmla="*/ 56746 w 116428"/>
                <a:gd name="csY1" fmla="*/ 61 h 223576"/>
                <a:gd name="csX2" fmla="*/ 18148 w 116428"/>
                <a:gd name="csY2" fmla="*/ 3232 h 223576"/>
                <a:gd name="csX3" fmla="*/ 12136 w 116428"/>
                <a:gd name="csY3" fmla="*/ 9575 h 223576"/>
                <a:gd name="csX4" fmla="*/ 19730 w 116428"/>
                <a:gd name="csY4" fmla="*/ 13380 h 223576"/>
                <a:gd name="csX5" fmla="*/ 35549 w 116428"/>
                <a:gd name="csY5" fmla="*/ 18772 h 223576"/>
                <a:gd name="csX6" fmla="*/ 31119 w 116428"/>
                <a:gd name="csY6" fmla="*/ 38434 h 223576"/>
                <a:gd name="csX7" fmla="*/ 5176 w 116428"/>
                <a:gd name="csY7" fmla="*/ 141818 h 223576"/>
                <a:gd name="csX8" fmla="*/ 114 w 116428"/>
                <a:gd name="csY8" fmla="*/ 173848 h 223576"/>
                <a:gd name="csX9" fmla="*/ 40294 w 116428"/>
                <a:gd name="csY9" fmla="*/ 223637 h 223576"/>
                <a:gd name="csX10" fmla="*/ 116542 w 116428"/>
                <a:gd name="csY10" fmla="*/ 130718 h 223576"/>
                <a:gd name="csX11" fmla="*/ 74464 w 116428"/>
                <a:gd name="csY11" fmla="*/ 79977 h 223576"/>
                <a:gd name="csX12" fmla="*/ 37447 w 116428"/>
                <a:gd name="csY12" fmla="*/ 99005 h 223576"/>
                <a:gd name="csX13" fmla="*/ 60859 w 116428"/>
                <a:gd name="csY13" fmla="*/ 3549 h 223576"/>
                <a:gd name="csX14" fmla="*/ 31119 w 116428"/>
                <a:gd name="csY14" fmla="*/ 123424 h 223576"/>
                <a:gd name="csX15" fmla="*/ 35865 w 116428"/>
                <a:gd name="csY15" fmla="*/ 112325 h 223576"/>
                <a:gd name="csX16" fmla="*/ 73831 w 116428"/>
                <a:gd name="csY16" fmla="*/ 86954 h 223576"/>
                <a:gd name="csX17" fmla="*/ 93763 w 116428"/>
                <a:gd name="csY17" fmla="*/ 116764 h 223576"/>
                <a:gd name="csX18" fmla="*/ 77627 w 116428"/>
                <a:gd name="csY18" fmla="*/ 183996 h 223576"/>
                <a:gd name="csX19" fmla="*/ 40294 w 116428"/>
                <a:gd name="csY19" fmla="*/ 216660 h 223576"/>
                <a:gd name="csX20" fmla="*/ 19097 w 116428"/>
                <a:gd name="csY20" fmla="*/ 184630 h 223576"/>
                <a:gd name="csX21" fmla="*/ 24159 w 116428"/>
                <a:gd name="csY21" fmla="*/ 152600 h 223576"/>
                <a:gd name="csX22" fmla="*/ 31119 w 116428"/>
                <a:gd name="csY22" fmla="*/ 123424 h 223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16428" h="223576">
                  <a:moveTo>
                    <a:pt x="60859" y="3549"/>
                  </a:moveTo>
                  <a:cubicBezTo>
                    <a:pt x="60859" y="3232"/>
                    <a:pt x="60859" y="61"/>
                    <a:pt x="56746" y="61"/>
                  </a:cubicBezTo>
                  <a:cubicBezTo>
                    <a:pt x="49469" y="61"/>
                    <a:pt x="26374" y="2598"/>
                    <a:pt x="18148" y="3232"/>
                  </a:cubicBezTo>
                  <a:cubicBezTo>
                    <a:pt x="15617" y="3549"/>
                    <a:pt x="12136" y="3866"/>
                    <a:pt x="12136" y="9575"/>
                  </a:cubicBezTo>
                  <a:cubicBezTo>
                    <a:pt x="12136" y="13380"/>
                    <a:pt x="14984" y="13380"/>
                    <a:pt x="19730" y="13380"/>
                  </a:cubicBezTo>
                  <a:cubicBezTo>
                    <a:pt x="34916" y="13380"/>
                    <a:pt x="35549" y="15600"/>
                    <a:pt x="35549" y="18772"/>
                  </a:cubicBezTo>
                  <a:cubicBezTo>
                    <a:pt x="35549" y="20991"/>
                    <a:pt x="32701" y="31774"/>
                    <a:pt x="31119" y="38434"/>
                  </a:cubicBezTo>
                  <a:lnTo>
                    <a:pt x="5176" y="141818"/>
                  </a:lnTo>
                  <a:cubicBezTo>
                    <a:pt x="1379" y="157674"/>
                    <a:pt x="114" y="162748"/>
                    <a:pt x="114" y="173848"/>
                  </a:cubicBezTo>
                  <a:cubicBezTo>
                    <a:pt x="114" y="203975"/>
                    <a:pt x="16882" y="223637"/>
                    <a:pt x="40294" y="223637"/>
                  </a:cubicBezTo>
                  <a:cubicBezTo>
                    <a:pt x="77627" y="223637"/>
                    <a:pt x="116542" y="176385"/>
                    <a:pt x="116542" y="130718"/>
                  </a:cubicBezTo>
                  <a:cubicBezTo>
                    <a:pt x="116542" y="101859"/>
                    <a:pt x="99774" y="79977"/>
                    <a:pt x="74464" y="79977"/>
                  </a:cubicBezTo>
                  <a:cubicBezTo>
                    <a:pt x="59910" y="79977"/>
                    <a:pt x="46938" y="89174"/>
                    <a:pt x="37447" y="99005"/>
                  </a:cubicBezTo>
                  <a:lnTo>
                    <a:pt x="60859" y="3549"/>
                  </a:lnTo>
                  <a:close/>
                  <a:moveTo>
                    <a:pt x="31119" y="123424"/>
                  </a:moveTo>
                  <a:cubicBezTo>
                    <a:pt x="33018" y="116447"/>
                    <a:pt x="33018" y="115813"/>
                    <a:pt x="35865" y="112325"/>
                  </a:cubicBezTo>
                  <a:cubicBezTo>
                    <a:pt x="51368" y="91711"/>
                    <a:pt x="65605" y="86954"/>
                    <a:pt x="73831" y="86954"/>
                  </a:cubicBezTo>
                  <a:cubicBezTo>
                    <a:pt x="85221" y="86954"/>
                    <a:pt x="93763" y="96468"/>
                    <a:pt x="93763" y="116764"/>
                  </a:cubicBezTo>
                  <a:cubicBezTo>
                    <a:pt x="93763" y="135475"/>
                    <a:pt x="83322" y="171945"/>
                    <a:pt x="77627" y="183996"/>
                  </a:cubicBezTo>
                  <a:cubicBezTo>
                    <a:pt x="67187" y="205243"/>
                    <a:pt x="52633" y="216660"/>
                    <a:pt x="40294" y="216660"/>
                  </a:cubicBezTo>
                  <a:cubicBezTo>
                    <a:pt x="29537" y="216660"/>
                    <a:pt x="19097" y="208098"/>
                    <a:pt x="19097" y="184630"/>
                  </a:cubicBezTo>
                  <a:cubicBezTo>
                    <a:pt x="19097" y="178605"/>
                    <a:pt x="19097" y="172579"/>
                    <a:pt x="24159" y="152600"/>
                  </a:cubicBezTo>
                  <a:lnTo>
                    <a:pt x="31119" y="123424"/>
                  </a:lnTo>
                  <a:close/>
                </a:path>
              </a:pathLst>
            </a:custGeom>
            <a:grpFill/>
            <a:ln w="31750" cap="flat">
              <a:noFill/>
              <a:prstDash val="solid"/>
              <a:miter/>
            </a:ln>
          </p:spPr>
          <p:txBody>
            <a:bodyPr/>
            <a:lstStyle/>
            <a:p>
              <a:endParaRPr lang="es-CO"/>
            </a:p>
          </p:txBody>
        </p:sp>
        <p:sp>
          <p:nvSpPr>
            <p:cNvPr id="14" name="Freeform: Shape 13">
              <a:extLst>
                <a:ext uri="{FF2B5EF4-FFF2-40B4-BE49-F238E27FC236}">
                  <a16:creationId xmlns:a16="http://schemas.microsoft.com/office/drawing/2014/main" id="{D037A8CF-28DE-961F-FEEC-17A4EFD61657}"/>
                </a:ext>
              </a:extLst>
            </p:cNvPr>
            <p:cNvSpPr/>
            <p:nvPr>
              <p:custDataLst>
                <p:tags r:id="rId8"/>
              </p:custDataLst>
            </p:nvPr>
          </p:nvSpPr>
          <p:spPr>
            <a:xfrm>
              <a:off x="6566982" y="4628476"/>
              <a:ext cx="80614" cy="147401"/>
            </a:xfrm>
            <a:custGeom>
              <a:avLst/>
              <a:gdLst>
                <a:gd name="csX0" fmla="*/ 50170 w 80614"/>
                <a:gd name="csY0" fmla="*/ 6278 h 147401"/>
                <a:gd name="csX1" fmla="*/ 43526 w 80614"/>
                <a:gd name="csY1" fmla="*/ 62 h 147401"/>
                <a:gd name="csX2" fmla="*/ 118 w 80614"/>
                <a:gd name="csY2" fmla="*/ 14270 h 147401"/>
                <a:gd name="csX3" fmla="*/ 118 w 80614"/>
                <a:gd name="csY3" fmla="*/ 22261 h 147401"/>
                <a:gd name="csX4" fmla="*/ 32231 w 80614"/>
                <a:gd name="csY4" fmla="*/ 16046 h 147401"/>
                <a:gd name="csX5" fmla="*/ 32231 w 80614"/>
                <a:gd name="csY5" fmla="*/ 129261 h 147401"/>
                <a:gd name="csX6" fmla="*/ 10084 w 80614"/>
                <a:gd name="csY6" fmla="*/ 139472 h 147401"/>
                <a:gd name="csX7" fmla="*/ 1668 w 80614"/>
                <a:gd name="csY7" fmla="*/ 139472 h 147401"/>
                <a:gd name="csX8" fmla="*/ 1668 w 80614"/>
                <a:gd name="csY8" fmla="*/ 147464 h 147401"/>
                <a:gd name="csX9" fmla="*/ 41090 w 80614"/>
                <a:gd name="csY9" fmla="*/ 146576 h 147401"/>
                <a:gd name="csX10" fmla="*/ 80732 w 80614"/>
                <a:gd name="csY10" fmla="*/ 147464 h 147401"/>
                <a:gd name="csX11" fmla="*/ 80732 w 80614"/>
                <a:gd name="csY11" fmla="*/ 139472 h 147401"/>
                <a:gd name="csX12" fmla="*/ 72317 w 80614"/>
                <a:gd name="csY12" fmla="*/ 139472 h 147401"/>
                <a:gd name="csX13" fmla="*/ 50170 w 80614"/>
                <a:gd name="csY13" fmla="*/ 129261 h 147401"/>
                <a:gd name="csX14" fmla="*/ 50170 w 80614"/>
                <a:gd name="csY14" fmla="*/ 6278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170" y="6278"/>
                  </a:moveTo>
                  <a:cubicBezTo>
                    <a:pt x="50170" y="284"/>
                    <a:pt x="49727" y="62"/>
                    <a:pt x="43526" y="62"/>
                  </a:cubicBezTo>
                  <a:cubicBezTo>
                    <a:pt x="29352" y="14048"/>
                    <a:pt x="9198" y="14270"/>
                    <a:pt x="118" y="14270"/>
                  </a:cubicBezTo>
                  <a:lnTo>
                    <a:pt x="118" y="22261"/>
                  </a:lnTo>
                  <a:cubicBezTo>
                    <a:pt x="5433" y="22261"/>
                    <a:pt x="20050" y="22261"/>
                    <a:pt x="32231" y="16046"/>
                  </a:cubicBezTo>
                  <a:lnTo>
                    <a:pt x="32231" y="129261"/>
                  </a:lnTo>
                  <a:cubicBezTo>
                    <a:pt x="32231" y="136586"/>
                    <a:pt x="32231" y="139472"/>
                    <a:pt x="10084" y="139472"/>
                  </a:cubicBezTo>
                  <a:lnTo>
                    <a:pt x="1668" y="139472"/>
                  </a:lnTo>
                  <a:lnTo>
                    <a:pt x="1668" y="147464"/>
                  </a:lnTo>
                  <a:cubicBezTo>
                    <a:pt x="5655" y="147242"/>
                    <a:pt x="32895" y="146576"/>
                    <a:pt x="41090" y="146576"/>
                  </a:cubicBezTo>
                  <a:cubicBezTo>
                    <a:pt x="47955" y="146576"/>
                    <a:pt x="75860" y="147242"/>
                    <a:pt x="80732" y="147464"/>
                  </a:cubicBezTo>
                  <a:lnTo>
                    <a:pt x="80732" y="139472"/>
                  </a:lnTo>
                  <a:lnTo>
                    <a:pt x="72317" y="139472"/>
                  </a:lnTo>
                  <a:cubicBezTo>
                    <a:pt x="50170" y="139472"/>
                    <a:pt x="50170" y="136586"/>
                    <a:pt x="50170" y="129261"/>
                  </a:cubicBezTo>
                  <a:lnTo>
                    <a:pt x="50170" y="6278"/>
                  </a:lnTo>
                  <a:close/>
                </a:path>
              </a:pathLst>
            </a:custGeom>
            <a:grpFill/>
            <a:ln w="31750" cap="flat">
              <a:noFill/>
              <a:prstDash val="solid"/>
              <a:miter/>
            </a:ln>
          </p:spPr>
          <p:txBody>
            <a:bodyPr/>
            <a:lstStyle/>
            <a:p>
              <a:endParaRPr lang="es-CO"/>
            </a:p>
          </p:txBody>
        </p:sp>
        <p:sp>
          <p:nvSpPr>
            <p:cNvPr id="15" name="Freeform: Shape 14">
              <a:extLst>
                <a:ext uri="{FF2B5EF4-FFF2-40B4-BE49-F238E27FC236}">
                  <a16:creationId xmlns:a16="http://schemas.microsoft.com/office/drawing/2014/main" id="{B7DEF971-5C57-F445-24EF-1D41F2365BB8}"/>
                </a:ext>
              </a:extLst>
            </p:cNvPr>
            <p:cNvSpPr/>
            <p:nvPr>
              <p:custDataLst>
                <p:tags r:id="rId9"/>
              </p:custDataLst>
            </p:nvPr>
          </p:nvSpPr>
          <p:spPr>
            <a:xfrm>
              <a:off x="6701227" y="4588138"/>
              <a:ext cx="116428" cy="143659"/>
            </a:xfrm>
            <a:custGeom>
              <a:avLst/>
              <a:gdLst>
                <a:gd name="csX0" fmla="*/ 107376 w 116428"/>
                <a:gd name="csY0" fmla="*/ 21626 h 143659"/>
                <a:gd name="csX1" fmla="*/ 92190 w 116428"/>
                <a:gd name="csY1" fmla="*/ 35896 h 143659"/>
                <a:gd name="csX2" fmla="*/ 101998 w 116428"/>
                <a:gd name="csY2" fmla="*/ 45093 h 143659"/>
                <a:gd name="csX3" fmla="*/ 116551 w 116428"/>
                <a:gd name="csY3" fmla="*/ 27334 h 143659"/>
                <a:gd name="csX4" fmla="*/ 78902 w 116428"/>
                <a:gd name="csY4" fmla="*/ 61 h 143659"/>
                <a:gd name="csX5" fmla="*/ 25433 w 116428"/>
                <a:gd name="csY5" fmla="*/ 46362 h 143659"/>
                <a:gd name="csX6" fmla="*/ 58021 w 116428"/>
                <a:gd name="csY6" fmla="*/ 77758 h 143659"/>
                <a:gd name="csX7" fmla="*/ 90924 w 116428"/>
                <a:gd name="csY7" fmla="*/ 101859 h 143659"/>
                <a:gd name="csX8" fmla="*/ 45682 w 116428"/>
                <a:gd name="csY8" fmla="*/ 136744 h 143659"/>
                <a:gd name="csX9" fmla="*/ 9614 w 116428"/>
                <a:gd name="csY9" fmla="*/ 119936 h 143659"/>
                <a:gd name="csX10" fmla="*/ 29546 w 116428"/>
                <a:gd name="csY10" fmla="*/ 103128 h 143659"/>
                <a:gd name="csX11" fmla="*/ 17840 w 116428"/>
                <a:gd name="csY11" fmla="*/ 92028 h 143659"/>
                <a:gd name="csX12" fmla="*/ 123 w 116428"/>
                <a:gd name="csY12" fmla="*/ 112959 h 143659"/>
                <a:gd name="csX13" fmla="*/ 45365 w 116428"/>
                <a:gd name="csY13" fmla="*/ 143720 h 143659"/>
                <a:gd name="csX14" fmla="*/ 108958 w 116428"/>
                <a:gd name="csY14" fmla="*/ 91077 h 143659"/>
                <a:gd name="csX15" fmla="*/ 99150 w 116428"/>
                <a:gd name="csY15" fmla="*/ 67927 h 143659"/>
                <a:gd name="csX16" fmla="*/ 67512 w 116428"/>
                <a:gd name="csY16" fmla="*/ 54607 h 143659"/>
                <a:gd name="csX17" fmla="*/ 43467 w 116428"/>
                <a:gd name="csY17" fmla="*/ 35579 h 143659"/>
                <a:gd name="csX18" fmla="*/ 78902 w 116428"/>
                <a:gd name="csY18" fmla="*/ 7038 h 143659"/>
                <a:gd name="csX19" fmla="*/ 107376 w 116428"/>
                <a:gd name="csY19" fmla="*/ 21626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376" y="21626"/>
                  </a:moveTo>
                  <a:cubicBezTo>
                    <a:pt x="98517" y="21943"/>
                    <a:pt x="92190" y="28920"/>
                    <a:pt x="92190" y="35896"/>
                  </a:cubicBezTo>
                  <a:cubicBezTo>
                    <a:pt x="92190" y="40336"/>
                    <a:pt x="95037" y="45093"/>
                    <a:pt x="101998" y="45093"/>
                  </a:cubicBezTo>
                  <a:cubicBezTo>
                    <a:pt x="108958" y="45093"/>
                    <a:pt x="116551" y="39702"/>
                    <a:pt x="116551" y="27334"/>
                  </a:cubicBezTo>
                  <a:cubicBezTo>
                    <a:pt x="116551" y="13063"/>
                    <a:pt x="102947" y="61"/>
                    <a:pt x="78902" y="61"/>
                  </a:cubicBezTo>
                  <a:cubicBezTo>
                    <a:pt x="37139" y="61"/>
                    <a:pt x="25433" y="32408"/>
                    <a:pt x="25433" y="46362"/>
                  </a:cubicBezTo>
                  <a:cubicBezTo>
                    <a:pt x="25433" y="71098"/>
                    <a:pt x="48845" y="75855"/>
                    <a:pt x="58021" y="77758"/>
                  </a:cubicBezTo>
                  <a:cubicBezTo>
                    <a:pt x="74472" y="80929"/>
                    <a:pt x="90924" y="84417"/>
                    <a:pt x="90924" y="101859"/>
                  </a:cubicBezTo>
                  <a:cubicBezTo>
                    <a:pt x="90924" y="110105"/>
                    <a:pt x="83647" y="136744"/>
                    <a:pt x="45682" y="136744"/>
                  </a:cubicBezTo>
                  <a:cubicBezTo>
                    <a:pt x="41252" y="136744"/>
                    <a:pt x="16891" y="136744"/>
                    <a:pt x="9614" y="119936"/>
                  </a:cubicBezTo>
                  <a:cubicBezTo>
                    <a:pt x="21637" y="121521"/>
                    <a:pt x="29546" y="112007"/>
                    <a:pt x="29546" y="103128"/>
                  </a:cubicBezTo>
                  <a:cubicBezTo>
                    <a:pt x="29546" y="95834"/>
                    <a:pt x="24484" y="92028"/>
                    <a:pt x="17840" y="92028"/>
                  </a:cubicBezTo>
                  <a:cubicBezTo>
                    <a:pt x="9614" y="92028"/>
                    <a:pt x="123" y="98688"/>
                    <a:pt x="123" y="112959"/>
                  </a:cubicBezTo>
                  <a:cubicBezTo>
                    <a:pt x="123" y="131035"/>
                    <a:pt x="18156" y="143720"/>
                    <a:pt x="45365" y="143720"/>
                  </a:cubicBezTo>
                  <a:cubicBezTo>
                    <a:pt x="96619" y="143720"/>
                    <a:pt x="108958" y="105348"/>
                    <a:pt x="108958" y="91077"/>
                  </a:cubicBezTo>
                  <a:cubicBezTo>
                    <a:pt x="108958" y="79660"/>
                    <a:pt x="102947" y="71732"/>
                    <a:pt x="99150" y="67927"/>
                  </a:cubicBezTo>
                  <a:cubicBezTo>
                    <a:pt x="90608" y="59047"/>
                    <a:pt x="81433" y="57461"/>
                    <a:pt x="67512" y="54607"/>
                  </a:cubicBezTo>
                  <a:cubicBezTo>
                    <a:pt x="56122" y="52070"/>
                    <a:pt x="43467" y="49850"/>
                    <a:pt x="43467" y="35579"/>
                  </a:cubicBezTo>
                  <a:cubicBezTo>
                    <a:pt x="43467" y="26383"/>
                    <a:pt x="51060" y="7038"/>
                    <a:pt x="78902" y="7038"/>
                  </a:cubicBezTo>
                  <a:cubicBezTo>
                    <a:pt x="86811" y="7038"/>
                    <a:pt x="102630" y="9258"/>
                    <a:pt x="107376" y="21626"/>
                  </a:cubicBezTo>
                  <a:close/>
                </a:path>
              </a:pathLst>
            </a:custGeom>
            <a:grpFill/>
            <a:ln w="31750" cap="flat">
              <a:noFill/>
              <a:prstDash val="solid"/>
              <a:miter/>
            </a:ln>
          </p:spPr>
          <p:txBody>
            <a:bodyPr/>
            <a:lstStyle/>
            <a:p>
              <a:endParaRPr lang="es-CO"/>
            </a:p>
          </p:txBody>
        </p:sp>
        <p:sp>
          <p:nvSpPr>
            <p:cNvPr id="16" name="Freeform: Shape 15">
              <a:extLst>
                <a:ext uri="{FF2B5EF4-FFF2-40B4-BE49-F238E27FC236}">
                  <a16:creationId xmlns:a16="http://schemas.microsoft.com/office/drawing/2014/main" id="{61E9FF2A-5D80-3ED2-F116-8C76D1ED4B91}"/>
                </a:ext>
              </a:extLst>
            </p:cNvPr>
            <p:cNvSpPr/>
            <p:nvPr>
              <p:custDataLst>
                <p:tags r:id="rId10"/>
              </p:custDataLst>
            </p:nvPr>
          </p:nvSpPr>
          <p:spPr>
            <a:xfrm>
              <a:off x="6843488" y="4515327"/>
              <a:ext cx="135316" cy="100117"/>
            </a:xfrm>
            <a:custGeom>
              <a:avLst/>
              <a:gdLst>
                <a:gd name="csX0" fmla="*/ 16737 w 135316"/>
                <a:gd name="csY0" fmla="*/ 83970 h 100117"/>
                <a:gd name="csX1" fmla="*/ 14523 w 135316"/>
                <a:gd name="csY1" fmla="*/ 93071 h 100117"/>
                <a:gd name="csX2" fmla="*/ 22053 w 135316"/>
                <a:gd name="csY2" fmla="*/ 100175 h 100117"/>
                <a:gd name="csX3" fmla="*/ 30690 w 135316"/>
                <a:gd name="csY3" fmla="*/ 95291 h 100117"/>
                <a:gd name="csX4" fmla="*/ 34676 w 135316"/>
                <a:gd name="csY4" fmla="*/ 81528 h 100117"/>
                <a:gd name="csX5" fmla="*/ 39549 w 135316"/>
                <a:gd name="csY5" fmla="*/ 61549 h 100117"/>
                <a:gd name="csX6" fmla="*/ 43313 w 135316"/>
                <a:gd name="csY6" fmla="*/ 46675 h 100117"/>
                <a:gd name="csX7" fmla="*/ 52615 w 135316"/>
                <a:gd name="csY7" fmla="*/ 26696 h 100117"/>
                <a:gd name="csX8" fmla="*/ 85835 w 135316"/>
                <a:gd name="csY8" fmla="*/ 6273 h 100117"/>
                <a:gd name="csX9" fmla="*/ 98902 w 135316"/>
                <a:gd name="csY9" fmla="*/ 21812 h 100117"/>
                <a:gd name="csX10" fmla="*/ 85835 w 135316"/>
                <a:gd name="csY10" fmla="*/ 69096 h 100117"/>
                <a:gd name="csX11" fmla="*/ 82513 w 135316"/>
                <a:gd name="csY11" fmla="*/ 81084 h 100117"/>
                <a:gd name="csX12" fmla="*/ 103553 w 135316"/>
                <a:gd name="csY12" fmla="*/ 100175 h 100117"/>
                <a:gd name="csX13" fmla="*/ 135444 w 135316"/>
                <a:gd name="csY13" fmla="*/ 66210 h 100117"/>
                <a:gd name="csX14" fmla="*/ 131900 w 135316"/>
                <a:gd name="csY14" fmla="*/ 63325 h 100117"/>
                <a:gd name="csX15" fmla="*/ 127692 w 135316"/>
                <a:gd name="csY15" fmla="*/ 67098 h 100117"/>
                <a:gd name="csX16" fmla="*/ 104217 w 135316"/>
                <a:gd name="csY16" fmla="*/ 93959 h 100117"/>
                <a:gd name="csX17" fmla="*/ 98680 w 135316"/>
                <a:gd name="csY17" fmla="*/ 86190 h 100117"/>
                <a:gd name="csX18" fmla="*/ 103774 w 135316"/>
                <a:gd name="csY18" fmla="*/ 68208 h 100117"/>
                <a:gd name="csX19" fmla="*/ 115512 w 135316"/>
                <a:gd name="csY19" fmla="*/ 25364 h 100117"/>
                <a:gd name="csX20" fmla="*/ 86721 w 135316"/>
                <a:gd name="csY20" fmla="*/ 57 h 100117"/>
                <a:gd name="csX21" fmla="*/ 49293 w 135316"/>
                <a:gd name="csY21" fmla="*/ 20258 h 100117"/>
                <a:gd name="csX22" fmla="*/ 25596 w 135316"/>
                <a:gd name="csY22" fmla="*/ 57 h 100117"/>
                <a:gd name="csX23" fmla="*/ 8100 w 135316"/>
                <a:gd name="csY23" fmla="*/ 12045 h 100117"/>
                <a:gd name="csX24" fmla="*/ 127 w 135316"/>
                <a:gd name="csY24" fmla="*/ 34022 h 100117"/>
                <a:gd name="csX25" fmla="*/ 3892 w 135316"/>
                <a:gd name="csY25" fmla="*/ 36908 h 100117"/>
                <a:gd name="csX26" fmla="*/ 8765 w 135316"/>
                <a:gd name="csY26" fmla="*/ 30248 h 100117"/>
                <a:gd name="csX27" fmla="*/ 24932 w 135316"/>
                <a:gd name="csY27" fmla="*/ 6273 h 100117"/>
                <a:gd name="csX28" fmla="*/ 32240 w 135316"/>
                <a:gd name="csY28" fmla="*/ 17151 h 100117"/>
                <a:gd name="csX29" fmla="*/ 28697 w 135316"/>
                <a:gd name="csY29" fmla="*/ 35576 h 100117"/>
                <a:gd name="csX30" fmla="*/ 23824 w 135316"/>
                <a:gd name="csY30" fmla="*/ 55555 h 100117"/>
                <a:gd name="csX31" fmla="*/ 16737 w 135316"/>
                <a:gd name="csY31" fmla="*/ 83970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737" y="83970"/>
                  </a:moveTo>
                  <a:cubicBezTo>
                    <a:pt x="15852" y="86856"/>
                    <a:pt x="14523" y="92405"/>
                    <a:pt x="14523" y="93071"/>
                  </a:cubicBezTo>
                  <a:cubicBezTo>
                    <a:pt x="14523" y="97955"/>
                    <a:pt x="18509" y="100175"/>
                    <a:pt x="22053" y="100175"/>
                  </a:cubicBezTo>
                  <a:cubicBezTo>
                    <a:pt x="26039" y="100175"/>
                    <a:pt x="29582" y="97289"/>
                    <a:pt x="30690" y="95291"/>
                  </a:cubicBezTo>
                  <a:cubicBezTo>
                    <a:pt x="31797" y="93293"/>
                    <a:pt x="33569" y="86190"/>
                    <a:pt x="34676" y="81528"/>
                  </a:cubicBezTo>
                  <a:cubicBezTo>
                    <a:pt x="35784" y="77310"/>
                    <a:pt x="38220" y="67098"/>
                    <a:pt x="39549" y="61549"/>
                  </a:cubicBezTo>
                  <a:cubicBezTo>
                    <a:pt x="40877" y="56665"/>
                    <a:pt x="42206" y="51781"/>
                    <a:pt x="43313" y="46675"/>
                  </a:cubicBezTo>
                  <a:cubicBezTo>
                    <a:pt x="45750" y="37574"/>
                    <a:pt x="46193" y="35798"/>
                    <a:pt x="52615" y="26696"/>
                  </a:cubicBezTo>
                  <a:cubicBezTo>
                    <a:pt x="58816" y="17817"/>
                    <a:pt x="69225" y="6273"/>
                    <a:pt x="85835" y="6273"/>
                  </a:cubicBezTo>
                  <a:cubicBezTo>
                    <a:pt x="98680" y="6273"/>
                    <a:pt x="98902" y="17595"/>
                    <a:pt x="98902" y="21812"/>
                  </a:cubicBezTo>
                  <a:cubicBezTo>
                    <a:pt x="98902" y="35132"/>
                    <a:pt x="89379" y="59773"/>
                    <a:pt x="85835" y="69096"/>
                  </a:cubicBezTo>
                  <a:cubicBezTo>
                    <a:pt x="83399" y="75312"/>
                    <a:pt x="82513" y="77310"/>
                    <a:pt x="82513" y="81084"/>
                  </a:cubicBezTo>
                  <a:cubicBezTo>
                    <a:pt x="82513" y="92849"/>
                    <a:pt x="92258" y="100175"/>
                    <a:pt x="103553" y="100175"/>
                  </a:cubicBezTo>
                  <a:cubicBezTo>
                    <a:pt x="125699" y="100175"/>
                    <a:pt x="135444" y="69540"/>
                    <a:pt x="135444" y="66210"/>
                  </a:cubicBezTo>
                  <a:cubicBezTo>
                    <a:pt x="135444" y="63325"/>
                    <a:pt x="132565" y="63325"/>
                    <a:pt x="131900" y="63325"/>
                  </a:cubicBezTo>
                  <a:cubicBezTo>
                    <a:pt x="128800" y="63325"/>
                    <a:pt x="128578" y="64657"/>
                    <a:pt x="127692" y="67098"/>
                  </a:cubicBezTo>
                  <a:cubicBezTo>
                    <a:pt x="122599" y="84858"/>
                    <a:pt x="113076" y="93959"/>
                    <a:pt x="104217" y="93959"/>
                  </a:cubicBezTo>
                  <a:cubicBezTo>
                    <a:pt x="99566" y="93959"/>
                    <a:pt x="98680" y="90851"/>
                    <a:pt x="98680" y="86190"/>
                  </a:cubicBezTo>
                  <a:cubicBezTo>
                    <a:pt x="98680" y="81084"/>
                    <a:pt x="99788" y="78198"/>
                    <a:pt x="103774" y="68208"/>
                  </a:cubicBezTo>
                  <a:cubicBezTo>
                    <a:pt x="106432" y="61327"/>
                    <a:pt x="115512" y="37796"/>
                    <a:pt x="115512" y="25364"/>
                  </a:cubicBezTo>
                  <a:cubicBezTo>
                    <a:pt x="115512" y="3831"/>
                    <a:pt x="98459" y="57"/>
                    <a:pt x="86721" y="57"/>
                  </a:cubicBezTo>
                  <a:cubicBezTo>
                    <a:pt x="68339" y="57"/>
                    <a:pt x="55937" y="11379"/>
                    <a:pt x="49293" y="20258"/>
                  </a:cubicBezTo>
                  <a:cubicBezTo>
                    <a:pt x="47743" y="4941"/>
                    <a:pt x="34676" y="57"/>
                    <a:pt x="25596" y="57"/>
                  </a:cubicBezTo>
                  <a:cubicBezTo>
                    <a:pt x="16073" y="57"/>
                    <a:pt x="10979" y="6939"/>
                    <a:pt x="8100" y="12045"/>
                  </a:cubicBezTo>
                  <a:cubicBezTo>
                    <a:pt x="3228" y="20258"/>
                    <a:pt x="127" y="32912"/>
                    <a:pt x="127" y="34022"/>
                  </a:cubicBezTo>
                  <a:cubicBezTo>
                    <a:pt x="127" y="36908"/>
                    <a:pt x="3228" y="36908"/>
                    <a:pt x="3892" y="36908"/>
                  </a:cubicBezTo>
                  <a:cubicBezTo>
                    <a:pt x="6993" y="36908"/>
                    <a:pt x="7214" y="36242"/>
                    <a:pt x="8765" y="30248"/>
                  </a:cubicBezTo>
                  <a:cubicBezTo>
                    <a:pt x="12087" y="17151"/>
                    <a:pt x="16294" y="6273"/>
                    <a:pt x="24932" y="6273"/>
                  </a:cubicBezTo>
                  <a:cubicBezTo>
                    <a:pt x="30690" y="6273"/>
                    <a:pt x="32240" y="11157"/>
                    <a:pt x="32240" y="17151"/>
                  </a:cubicBezTo>
                  <a:cubicBezTo>
                    <a:pt x="32240" y="21368"/>
                    <a:pt x="30247" y="29582"/>
                    <a:pt x="28697" y="35576"/>
                  </a:cubicBezTo>
                  <a:cubicBezTo>
                    <a:pt x="27146" y="41570"/>
                    <a:pt x="24932" y="50671"/>
                    <a:pt x="23824" y="55555"/>
                  </a:cubicBezTo>
                  <a:lnTo>
                    <a:pt x="16737" y="83970"/>
                  </a:lnTo>
                  <a:close/>
                </a:path>
              </a:pathLst>
            </a:custGeom>
            <a:grpFill/>
            <a:ln w="31750" cap="flat">
              <a:noFill/>
              <a:prstDash val="solid"/>
              <a:miter/>
            </a:ln>
          </p:spPr>
          <p:txBody>
            <a:bodyPr/>
            <a:lstStyle/>
            <a:p>
              <a:endParaRPr lang="es-CO"/>
            </a:p>
          </p:txBody>
        </p:sp>
        <p:sp>
          <p:nvSpPr>
            <p:cNvPr id="17" name="Freeform: Shape 16">
              <a:extLst>
                <a:ext uri="{FF2B5EF4-FFF2-40B4-BE49-F238E27FC236}">
                  <a16:creationId xmlns:a16="http://schemas.microsoft.com/office/drawing/2014/main" id="{31F822BB-012A-2CAF-84EE-389EA59767E6}"/>
                </a:ext>
              </a:extLst>
            </p:cNvPr>
            <p:cNvSpPr/>
            <p:nvPr>
              <p:custDataLst>
                <p:tags r:id="rId11"/>
              </p:custDataLst>
            </p:nvPr>
          </p:nvSpPr>
          <p:spPr>
            <a:xfrm>
              <a:off x="7013395" y="4552178"/>
              <a:ext cx="149711" cy="10877"/>
            </a:xfrm>
            <a:custGeom>
              <a:avLst/>
              <a:gdLst>
                <a:gd name="csX0" fmla="*/ 140985 w 149711"/>
                <a:gd name="csY0" fmla="*/ 10935 h 10877"/>
                <a:gd name="csX1" fmla="*/ 149844 w 149711"/>
                <a:gd name="csY1" fmla="*/ 5607 h 10877"/>
                <a:gd name="csX2" fmla="*/ 140985 w 149711"/>
                <a:gd name="csY2" fmla="*/ 57 h 10877"/>
                <a:gd name="csX3" fmla="*/ 8991 w 149711"/>
                <a:gd name="csY3" fmla="*/ 57 h 10877"/>
                <a:gd name="csX4" fmla="*/ 132 w 149711"/>
                <a:gd name="csY4" fmla="*/ 5385 h 10877"/>
                <a:gd name="csX5" fmla="*/ 8991 w 149711"/>
                <a:gd name="csY5" fmla="*/ 10935 h 10877"/>
                <a:gd name="csX6" fmla="*/ 140985 w 149711"/>
                <a:gd name="csY6" fmla="*/ 10935 h 10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9711" h="10877">
                  <a:moveTo>
                    <a:pt x="140985" y="10935"/>
                  </a:moveTo>
                  <a:cubicBezTo>
                    <a:pt x="144529" y="10935"/>
                    <a:pt x="149844" y="10935"/>
                    <a:pt x="149844" y="5607"/>
                  </a:cubicBezTo>
                  <a:cubicBezTo>
                    <a:pt x="149844" y="57"/>
                    <a:pt x="144750" y="57"/>
                    <a:pt x="140985" y="57"/>
                  </a:cubicBezTo>
                  <a:lnTo>
                    <a:pt x="8991" y="57"/>
                  </a:lnTo>
                  <a:cubicBezTo>
                    <a:pt x="5447" y="57"/>
                    <a:pt x="132" y="57"/>
                    <a:pt x="132" y="5385"/>
                  </a:cubicBezTo>
                  <a:cubicBezTo>
                    <a:pt x="132" y="10935"/>
                    <a:pt x="5226" y="10935"/>
                    <a:pt x="8991" y="10935"/>
                  </a:cubicBezTo>
                  <a:lnTo>
                    <a:pt x="140985" y="10935"/>
                  </a:lnTo>
                  <a:close/>
                </a:path>
              </a:pathLst>
            </a:custGeom>
            <a:grpFill/>
            <a:ln w="31750" cap="flat">
              <a:noFill/>
              <a:prstDash val="solid"/>
              <a:miter/>
            </a:ln>
          </p:spPr>
          <p:txBody>
            <a:bodyPr/>
            <a:lstStyle/>
            <a:p>
              <a:endParaRPr lang="es-CO"/>
            </a:p>
          </p:txBody>
        </p:sp>
        <p:sp>
          <p:nvSpPr>
            <p:cNvPr id="18" name="Freeform: Shape 17">
              <a:extLst>
                <a:ext uri="{FF2B5EF4-FFF2-40B4-BE49-F238E27FC236}">
                  <a16:creationId xmlns:a16="http://schemas.microsoft.com/office/drawing/2014/main" id="{AC3851A3-68A3-1C3E-026E-039A7F8B5B09}"/>
                </a:ext>
              </a:extLst>
            </p:cNvPr>
            <p:cNvSpPr/>
            <p:nvPr>
              <p:custDataLst>
                <p:tags r:id="rId12"/>
              </p:custDataLst>
            </p:nvPr>
          </p:nvSpPr>
          <p:spPr>
            <a:xfrm>
              <a:off x="7211356" y="4465823"/>
              <a:ext cx="80614" cy="147401"/>
            </a:xfrm>
            <a:custGeom>
              <a:avLst/>
              <a:gdLst>
                <a:gd name="csX0" fmla="*/ 50190 w 80614"/>
                <a:gd name="csY0" fmla="*/ 6273 h 147401"/>
                <a:gd name="csX1" fmla="*/ 43546 w 80614"/>
                <a:gd name="csY1" fmla="*/ 57 h 147401"/>
                <a:gd name="csX2" fmla="*/ 138 w 80614"/>
                <a:gd name="csY2" fmla="*/ 14265 h 147401"/>
                <a:gd name="csX3" fmla="*/ 138 w 80614"/>
                <a:gd name="csY3" fmla="*/ 22256 h 147401"/>
                <a:gd name="csX4" fmla="*/ 32251 w 80614"/>
                <a:gd name="csY4" fmla="*/ 16041 h 147401"/>
                <a:gd name="csX5" fmla="*/ 32251 w 80614"/>
                <a:gd name="csY5" fmla="*/ 129256 h 147401"/>
                <a:gd name="csX6" fmla="*/ 10105 w 80614"/>
                <a:gd name="csY6" fmla="*/ 139467 h 147401"/>
                <a:gd name="csX7" fmla="*/ 1689 w 80614"/>
                <a:gd name="csY7" fmla="*/ 139467 h 147401"/>
                <a:gd name="csX8" fmla="*/ 1689 w 80614"/>
                <a:gd name="csY8" fmla="*/ 147459 h 147401"/>
                <a:gd name="csX9" fmla="*/ 41110 w 80614"/>
                <a:gd name="csY9" fmla="*/ 146571 h 147401"/>
                <a:gd name="csX10" fmla="*/ 80753 w 80614"/>
                <a:gd name="csY10" fmla="*/ 147459 h 147401"/>
                <a:gd name="csX11" fmla="*/ 80753 w 80614"/>
                <a:gd name="csY11" fmla="*/ 139467 h 147401"/>
                <a:gd name="csX12" fmla="*/ 72337 w 80614"/>
                <a:gd name="csY12" fmla="*/ 139467 h 147401"/>
                <a:gd name="csX13" fmla="*/ 50190 w 80614"/>
                <a:gd name="csY13" fmla="*/ 129256 h 147401"/>
                <a:gd name="csX14" fmla="*/ 50190 w 80614"/>
                <a:gd name="csY14" fmla="*/ 6273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190" y="6273"/>
                  </a:moveTo>
                  <a:cubicBezTo>
                    <a:pt x="50190" y="279"/>
                    <a:pt x="49747" y="57"/>
                    <a:pt x="43546" y="57"/>
                  </a:cubicBezTo>
                  <a:cubicBezTo>
                    <a:pt x="29372" y="14043"/>
                    <a:pt x="9219" y="14265"/>
                    <a:pt x="138" y="14265"/>
                  </a:cubicBezTo>
                  <a:lnTo>
                    <a:pt x="138" y="22256"/>
                  </a:lnTo>
                  <a:cubicBezTo>
                    <a:pt x="5454" y="22256"/>
                    <a:pt x="20071" y="22256"/>
                    <a:pt x="32251" y="16041"/>
                  </a:cubicBezTo>
                  <a:lnTo>
                    <a:pt x="32251" y="129256"/>
                  </a:lnTo>
                  <a:cubicBezTo>
                    <a:pt x="32251" y="136581"/>
                    <a:pt x="32251" y="139467"/>
                    <a:pt x="10105" y="139467"/>
                  </a:cubicBezTo>
                  <a:lnTo>
                    <a:pt x="1689" y="139467"/>
                  </a:lnTo>
                  <a:lnTo>
                    <a:pt x="1689" y="147459"/>
                  </a:lnTo>
                  <a:cubicBezTo>
                    <a:pt x="5675" y="147237"/>
                    <a:pt x="32916" y="146571"/>
                    <a:pt x="41110" y="146571"/>
                  </a:cubicBezTo>
                  <a:cubicBezTo>
                    <a:pt x="47975" y="146571"/>
                    <a:pt x="75880" y="147237"/>
                    <a:pt x="80753" y="147459"/>
                  </a:cubicBezTo>
                  <a:lnTo>
                    <a:pt x="80753" y="139467"/>
                  </a:lnTo>
                  <a:lnTo>
                    <a:pt x="72337" y="139467"/>
                  </a:lnTo>
                  <a:cubicBezTo>
                    <a:pt x="50190" y="139467"/>
                    <a:pt x="50190" y="136581"/>
                    <a:pt x="50190" y="129256"/>
                  </a:cubicBezTo>
                  <a:lnTo>
                    <a:pt x="50190" y="6273"/>
                  </a:lnTo>
                  <a:close/>
                </a:path>
              </a:pathLst>
            </a:custGeom>
            <a:grpFill/>
            <a:ln w="31750" cap="flat">
              <a:noFill/>
              <a:prstDash val="solid"/>
              <a:miter/>
            </a:ln>
          </p:spPr>
          <p:txBody>
            <a:bodyPr/>
            <a:lstStyle/>
            <a:p>
              <a:endParaRPr lang="es-CO"/>
            </a:p>
          </p:txBody>
        </p:sp>
        <p:sp>
          <p:nvSpPr>
            <p:cNvPr id="19" name="Freeform: Shape 18">
              <a:extLst>
                <a:ext uri="{FF2B5EF4-FFF2-40B4-BE49-F238E27FC236}">
                  <a16:creationId xmlns:a16="http://schemas.microsoft.com/office/drawing/2014/main" id="{4ACCA6DA-E875-5222-C83D-E9F30FA87536}"/>
                </a:ext>
              </a:extLst>
            </p:cNvPr>
            <p:cNvSpPr/>
            <p:nvPr>
              <p:custDataLst>
                <p:tags r:id="rId13"/>
              </p:custDataLst>
            </p:nvPr>
          </p:nvSpPr>
          <p:spPr>
            <a:xfrm>
              <a:off x="7417172" y="4543422"/>
              <a:ext cx="210393" cy="211207"/>
            </a:xfrm>
            <a:custGeom>
              <a:avLst/>
              <a:gdLst>
                <a:gd name="csX0" fmla="*/ 111828 w 210393"/>
                <a:gd name="csY0" fmla="*/ 112007 h 211207"/>
                <a:gd name="csX1" fmla="*/ 200098 w 210393"/>
                <a:gd name="csY1" fmla="*/ 112007 h 211207"/>
                <a:gd name="csX2" fmla="*/ 210539 w 210393"/>
                <a:gd name="csY2" fmla="*/ 105665 h 211207"/>
                <a:gd name="csX3" fmla="*/ 200098 w 210393"/>
                <a:gd name="csY3" fmla="*/ 99322 h 211207"/>
                <a:gd name="csX4" fmla="*/ 111828 w 210393"/>
                <a:gd name="csY4" fmla="*/ 99322 h 211207"/>
                <a:gd name="csX5" fmla="*/ 111828 w 210393"/>
                <a:gd name="csY5" fmla="*/ 10526 h 211207"/>
                <a:gd name="csX6" fmla="*/ 105500 w 210393"/>
                <a:gd name="csY6" fmla="*/ 61 h 211207"/>
                <a:gd name="csX7" fmla="*/ 99173 w 210393"/>
                <a:gd name="csY7" fmla="*/ 10526 h 211207"/>
                <a:gd name="csX8" fmla="*/ 99173 w 210393"/>
                <a:gd name="csY8" fmla="*/ 99322 h 211207"/>
                <a:gd name="csX9" fmla="*/ 10586 w 210393"/>
                <a:gd name="csY9" fmla="*/ 99322 h 211207"/>
                <a:gd name="csX10" fmla="*/ 145 w 210393"/>
                <a:gd name="csY10" fmla="*/ 105665 h 211207"/>
                <a:gd name="csX11" fmla="*/ 10586 w 210393"/>
                <a:gd name="csY11" fmla="*/ 112007 h 211207"/>
                <a:gd name="csX12" fmla="*/ 99173 w 210393"/>
                <a:gd name="csY12" fmla="*/ 112007 h 211207"/>
                <a:gd name="csX13" fmla="*/ 99173 w 210393"/>
                <a:gd name="csY13" fmla="*/ 200804 h 211207"/>
                <a:gd name="csX14" fmla="*/ 105500 w 210393"/>
                <a:gd name="csY14" fmla="*/ 211269 h 211207"/>
                <a:gd name="csX15" fmla="*/ 111828 w 210393"/>
                <a:gd name="csY15" fmla="*/ 200804 h 211207"/>
                <a:gd name="csX16" fmla="*/ 111828 w 210393"/>
                <a:gd name="csY16" fmla="*/ 112007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828" y="112007"/>
                  </a:moveTo>
                  <a:lnTo>
                    <a:pt x="200098" y="112007"/>
                  </a:lnTo>
                  <a:cubicBezTo>
                    <a:pt x="204528" y="112007"/>
                    <a:pt x="210539" y="112007"/>
                    <a:pt x="210539" y="105665"/>
                  </a:cubicBezTo>
                  <a:cubicBezTo>
                    <a:pt x="210539" y="99322"/>
                    <a:pt x="204528" y="99322"/>
                    <a:pt x="200098" y="99322"/>
                  </a:cubicBezTo>
                  <a:lnTo>
                    <a:pt x="111828" y="99322"/>
                  </a:lnTo>
                  <a:lnTo>
                    <a:pt x="111828" y="10526"/>
                  </a:lnTo>
                  <a:cubicBezTo>
                    <a:pt x="111828" y="6086"/>
                    <a:pt x="111828" y="61"/>
                    <a:pt x="105500" y="61"/>
                  </a:cubicBezTo>
                  <a:cubicBezTo>
                    <a:pt x="99173" y="61"/>
                    <a:pt x="99173" y="6086"/>
                    <a:pt x="99173" y="10526"/>
                  </a:cubicBezTo>
                  <a:lnTo>
                    <a:pt x="99173" y="99322"/>
                  </a:lnTo>
                  <a:lnTo>
                    <a:pt x="10586" y="99322"/>
                  </a:lnTo>
                  <a:cubicBezTo>
                    <a:pt x="6156" y="99322"/>
                    <a:pt x="145" y="99322"/>
                    <a:pt x="145" y="105665"/>
                  </a:cubicBezTo>
                  <a:cubicBezTo>
                    <a:pt x="145" y="112007"/>
                    <a:pt x="6156" y="112007"/>
                    <a:pt x="10586" y="112007"/>
                  </a:cubicBezTo>
                  <a:lnTo>
                    <a:pt x="99173" y="112007"/>
                  </a:lnTo>
                  <a:lnTo>
                    <a:pt x="99173" y="200804"/>
                  </a:lnTo>
                  <a:cubicBezTo>
                    <a:pt x="99173" y="205243"/>
                    <a:pt x="99173" y="211269"/>
                    <a:pt x="105500" y="211269"/>
                  </a:cubicBezTo>
                  <a:cubicBezTo>
                    <a:pt x="111828" y="211269"/>
                    <a:pt x="111828" y="205243"/>
                    <a:pt x="111828" y="200804"/>
                  </a:cubicBezTo>
                  <a:lnTo>
                    <a:pt x="111828" y="112007"/>
                  </a:lnTo>
                  <a:close/>
                </a:path>
              </a:pathLst>
            </a:custGeom>
            <a:grpFill/>
            <a:ln w="31750" cap="flat">
              <a:noFill/>
              <a:prstDash val="solid"/>
              <a:miter/>
            </a:ln>
          </p:spPr>
          <p:txBody>
            <a:bodyPr/>
            <a:lstStyle/>
            <a:p>
              <a:endParaRPr lang="es-CO"/>
            </a:p>
          </p:txBody>
        </p:sp>
        <p:sp>
          <p:nvSpPr>
            <p:cNvPr id="20" name="Freeform: Shape 19">
              <a:extLst>
                <a:ext uri="{FF2B5EF4-FFF2-40B4-BE49-F238E27FC236}">
                  <a16:creationId xmlns:a16="http://schemas.microsoft.com/office/drawing/2014/main" id="{9AB6E92E-5B7C-B749-03B7-38FBC13F4799}"/>
                </a:ext>
              </a:extLst>
            </p:cNvPr>
            <p:cNvSpPr/>
            <p:nvPr>
              <p:custDataLst>
                <p:tags r:id="rId14"/>
              </p:custDataLst>
            </p:nvPr>
          </p:nvSpPr>
          <p:spPr>
            <a:xfrm>
              <a:off x="7743044" y="4694693"/>
              <a:ext cx="33536" cy="33615"/>
            </a:xfrm>
            <a:custGeom>
              <a:avLst/>
              <a:gdLst>
                <a:gd name="csX0" fmla="*/ 33692 w 33536"/>
                <a:gd name="csY0" fmla="*/ 16869 h 33615"/>
                <a:gd name="csX1" fmla="*/ 16923 w 33536"/>
                <a:gd name="csY1" fmla="*/ 61 h 33615"/>
                <a:gd name="csX2" fmla="*/ 155 w 33536"/>
                <a:gd name="csY2" fmla="*/ 16869 h 33615"/>
                <a:gd name="csX3" fmla="*/ 16923 w 33536"/>
                <a:gd name="csY3" fmla="*/ 33677 h 33615"/>
                <a:gd name="csX4" fmla="*/ 33692 w 33536"/>
                <a:gd name="csY4" fmla="*/ 16869 h 33615"/>
              </a:gdLst>
              <a:ahLst/>
              <a:cxnLst>
                <a:cxn ang="0">
                  <a:pos x="csX0" y="csY0"/>
                </a:cxn>
                <a:cxn ang="0">
                  <a:pos x="csX1" y="csY1"/>
                </a:cxn>
                <a:cxn ang="0">
                  <a:pos x="csX2" y="csY2"/>
                </a:cxn>
                <a:cxn ang="0">
                  <a:pos x="csX3" y="csY3"/>
                </a:cxn>
                <a:cxn ang="0">
                  <a:pos x="csX4" y="csY4"/>
                </a:cxn>
              </a:cxnLst>
              <a:rect l="l" t="t" r="r" b="b"/>
              <a:pathLst>
                <a:path w="33536" h="33615">
                  <a:moveTo>
                    <a:pt x="33692" y="16869"/>
                  </a:moveTo>
                  <a:cubicBezTo>
                    <a:pt x="33692" y="7672"/>
                    <a:pt x="26098" y="61"/>
                    <a:pt x="16923" y="61"/>
                  </a:cubicBezTo>
                  <a:cubicBezTo>
                    <a:pt x="7748" y="61"/>
                    <a:pt x="155" y="7672"/>
                    <a:pt x="155" y="16869"/>
                  </a:cubicBezTo>
                  <a:cubicBezTo>
                    <a:pt x="155" y="26065"/>
                    <a:pt x="7748" y="33677"/>
                    <a:pt x="16923" y="33677"/>
                  </a:cubicBezTo>
                  <a:cubicBezTo>
                    <a:pt x="26098" y="33677"/>
                    <a:pt x="33692" y="26066"/>
                    <a:pt x="33692" y="16869"/>
                  </a:cubicBezTo>
                  <a:close/>
                </a:path>
              </a:pathLst>
            </a:custGeom>
            <a:grpFill/>
            <a:ln w="31750" cap="flat">
              <a:noFill/>
              <a:prstDash val="solid"/>
              <a:miter/>
            </a:ln>
          </p:spPr>
          <p:txBody>
            <a:bodyPr/>
            <a:lstStyle/>
            <a:p>
              <a:endParaRPr lang="es-CO"/>
            </a:p>
          </p:txBody>
        </p:sp>
        <p:sp>
          <p:nvSpPr>
            <p:cNvPr id="21" name="Freeform: Shape 20">
              <a:extLst>
                <a:ext uri="{FF2B5EF4-FFF2-40B4-BE49-F238E27FC236}">
                  <a16:creationId xmlns:a16="http://schemas.microsoft.com/office/drawing/2014/main" id="{4EF5E019-D28B-A547-B58D-BB53A8070DF6}"/>
                </a:ext>
              </a:extLst>
            </p:cNvPr>
            <p:cNvSpPr/>
            <p:nvPr>
              <p:custDataLst>
                <p:tags r:id="rId15"/>
              </p:custDataLst>
            </p:nvPr>
          </p:nvSpPr>
          <p:spPr>
            <a:xfrm>
              <a:off x="7830928" y="4694693"/>
              <a:ext cx="33536" cy="33615"/>
            </a:xfrm>
            <a:custGeom>
              <a:avLst/>
              <a:gdLst>
                <a:gd name="csX0" fmla="*/ 33694 w 33536"/>
                <a:gd name="csY0" fmla="*/ 16869 h 33615"/>
                <a:gd name="csX1" fmla="*/ 16926 w 33536"/>
                <a:gd name="csY1" fmla="*/ 61 h 33615"/>
                <a:gd name="csX2" fmla="*/ 158 w 33536"/>
                <a:gd name="csY2" fmla="*/ 16869 h 33615"/>
                <a:gd name="csX3" fmla="*/ 16926 w 33536"/>
                <a:gd name="csY3" fmla="*/ 33677 h 33615"/>
                <a:gd name="csX4" fmla="*/ 33694 w 33536"/>
                <a:gd name="csY4" fmla="*/ 16869 h 33615"/>
              </a:gdLst>
              <a:ahLst/>
              <a:cxnLst>
                <a:cxn ang="0">
                  <a:pos x="csX0" y="csY0"/>
                </a:cxn>
                <a:cxn ang="0">
                  <a:pos x="csX1" y="csY1"/>
                </a:cxn>
                <a:cxn ang="0">
                  <a:pos x="csX2" y="csY2"/>
                </a:cxn>
                <a:cxn ang="0">
                  <a:pos x="csX3" y="csY3"/>
                </a:cxn>
                <a:cxn ang="0">
                  <a:pos x="csX4" y="csY4"/>
                </a:cxn>
              </a:cxnLst>
              <a:rect l="l" t="t" r="r" b="b"/>
              <a:pathLst>
                <a:path w="33536" h="33615">
                  <a:moveTo>
                    <a:pt x="33694" y="16869"/>
                  </a:moveTo>
                  <a:cubicBezTo>
                    <a:pt x="33694" y="7672"/>
                    <a:pt x="26101" y="61"/>
                    <a:pt x="16926" y="61"/>
                  </a:cubicBezTo>
                  <a:cubicBezTo>
                    <a:pt x="7751" y="61"/>
                    <a:pt x="158" y="7672"/>
                    <a:pt x="158" y="16869"/>
                  </a:cubicBezTo>
                  <a:cubicBezTo>
                    <a:pt x="158" y="26065"/>
                    <a:pt x="7751" y="33677"/>
                    <a:pt x="16926" y="33677"/>
                  </a:cubicBezTo>
                  <a:cubicBezTo>
                    <a:pt x="26101" y="33677"/>
                    <a:pt x="33694" y="26066"/>
                    <a:pt x="33694" y="16869"/>
                  </a:cubicBezTo>
                  <a:close/>
                </a:path>
              </a:pathLst>
            </a:custGeom>
            <a:grpFill/>
            <a:ln w="31750" cap="flat">
              <a:noFill/>
              <a:prstDash val="solid"/>
              <a:miter/>
            </a:ln>
          </p:spPr>
          <p:txBody>
            <a:bodyPr/>
            <a:lstStyle/>
            <a:p>
              <a:endParaRPr lang="es-CO"/>
            </a:p>
          </p:txBody>
        </p:sp>
        <p:sp>
          <p:nvSpPr>
            <p:cNvPr id="22" name="Freeform: Shape 21">
              <a:extLst>
                <a:ext uri="{FF2B5EF4-FFF2-40B4-BE49-F238E27FC236}">
                  <a16:creationId xmlns:a16="http://schemas.microsoft.com/office/drawing/2014/main" id="{63CE29E0-25AC-7AF1-697A-BAA8E7D897E2}"/>
                </a:ext>
              </a:extLst>
            </p:cNvPr>
            <p:cNvSpPr/>
            <p:nvPr>
              <p:custDataLst>
                <p:tags r:id="rId16"/>
              </p:custDataLst>
            </p:nvPr>
          </p:nvSpPr>
          <p:spPr>
            <a:xfrm>
              <a:off x="7918812" y="4694693"/>
              <a:ext cx="33536" cy="33615"/>
            </a:xfrm>
            <a:custGeom>
              <a:avLst/>
              <a:gdLst>
                <a:gd name="csX0" fmla="*/ 33697 w 33536"/>
                <a:gd name="csY0" fmla="*/ 16869 h 33615"/>
                <a:gd name="csX1" fmla="*/ 16929 w 33536"/>
                <a:gd name="csY1" fmla="*/ 61 h 33615"/>
                <a:gd name="csX2" fmla="*/ 161 w 33536"/>
                <a:gd name="csY2" fmla="*/ 16869 h 33615"/>
                <a:gd name="csX3" fmla="*/ 16929 w 33536"/>
                <a:gd name="csY3" fmla="*/ 33677 h 33615"/>
                <a:gd name="csX4" fmla="*/ 33697 w 33536"/>
                <a:gd name="csY4" fmla="*/ 16869 h 33615"/>
              </a:gdLst>
              <a:ahLst/>
              <a:cxnLst>
                <a:cxn ang="0">
                  <a:pos x="csX0" y="csY0"/>
                </a:cxn>
                <a:cxn ang="0">
                  <a:pos x="csX1" y="csY1"/>
                </a:cxn>
                <a:cxn ang="0">
                  <a:pos x="csX2" y="csY2"/>
                </a:cxn>
                <a:cxn ang="0">
                  <a:pos x="csX3" y="csY3"/>
                </a:cxn>
                <a:cxn ang="0">
                  <a:pos x="csX4" y="csY4"/>
                </a:cxn>
              </a:cxnLst>
              <a:rect l="l" t="t" r="r" b="b"/>
              <a:pathLst>
                <a:path w="33536" h="33615">
                  <a:moveTo>
                    <a:pt x="33697" y="16869"/>
                  </a:moveTo>
                  <a:cubicBezTo>
                    <a:pt x="33697" y="7672"/>
                    <a:pt x="26104" y="61"/>
                    <a:pt x="16929" y="61"/>
                  </a:cubicBezTo>
                  <a:cubicBezTo>
                    <a:pt x="7754" y="61"/>
                    <a:pt x="161" y="7672"/>
                    <a:pt x="161" y="16869"/>
                  </a:cubicBezTo>
                  <a:cubicBezTo>
                    <a:pt x="161" y="26065"/>
                    <a:pt x="7754" y="33677"/>
                    <a:pt x="16929" y="33677"/>
                  </a:cubicBezTo>
                  <a:cubicBezTo>
                    <a:pt x="26104" y="33677"/>
                    <a:pt x="33697" y="26066"/>
                    <a:pt x="33697" y="16869"/>
                  </a:cubicBezTo>
                  <a:close/>
                </a:path>
              </a:pathLst>
            </a:custGeom>
            <a:grpFill/>
            <a:ln w="31750" cap="flat">
              <a:noFill/>
              <a:prstDash val="solid"/>
              <a:miter/>
            </a:ln>
          </p:spPr>
          <p:txBody>
            <a:bodyPr/>
            <a:lstStyle/>
            <a:p>
              <a:endParaRPr lang="es-CO"/>
            </a:p>
          </p:txBody>
        </p:sp>
        <p:sp>
          <p:nvSpPr>
            <p:cNvPr id="23" name="Freeform: Shape 22">
              <a:extLst>
                <a:ext uri="{FF2B5EF4-FFF2-40B4-BE49-F238E27FC236}">
                  <a16:creationId xmlns:a16="http://schemas.microsoft.com/office/drawing/2014/main" id="{0D76826D-C1DC-C584-88A5-DDD6FB936853}"/>
                </a:ext>
              </a:extLst>
            </p:cNvPr>
            <p:cNvSpPr/>
            <p:nvPr>
              <p:custDataLst>
                <p:tags r:id="rId17"/>
              </p:custDataLst>
            </p:nvPr>
          </p:nvSpPr>
          <p:spPr>
            <a:xfrm>
              <a:off x="8067510" y="4543422"/>
              <a:ext cx="210393" cy="211207"/>
            </a:xfrm>
            <a:custGeom>
              <a:avLst/>
              <a:gdLst>
                <a:gd name="csX0" fmla="*/ 111848 w 210393"/>
                <a:gd name="csY0" fmla="*/ 112007 h 211207"/>
                <a:gd name="csX1" fmla="*/ 200119 w 210393"/>
                <a:gd name="csY1" fmla="*/ 112007 h 211207"/>
                <a:gd name="csX2" fmla="*/ 210560 w 210393"/>
                <a:gd name="csY2" fmla="*/ 105665 h 211207"/>
                <a:gd name="csX3" fmla="*/ 200119 w 210393"/>
                <a:gd name="csY3" fmla="*/ 99322 h 211207"/>
                <a:gd name="csX4" fmla="*/ 111848 w 210393"/>
                <a:gd name="csY4" fmla="*/ 99322 h 211207"/>
                <a:gd name="csX5" fmla="*/ 111848 w 210393"/>
                <a:gd name="csY5" fmla="*/ 10526 h 211207"/>
                <a:gd name="csX6" fmla="*/ 105521 w 210393"/>
                <a:gd name="csY6" fmla="*/ 61 h 211207"/>
                <a:gd name="csX7" fmla="*/ 99193 w 210393"/>
                <a:gd name="csY7" fmla="*/ 10526 h 211207"/>
                <a:gd name="csX8" fmla="*/ 99193 w 210393"/>
                <a:gd name="csY8" fmla="*/ 99322 h 211207"/>
                <a:gd name="csX9" fmla="*/ 10606 w 210393"/>
                <a:gd name="csY9" fmla="*/ 99322 h 211207"/>
                <a:gd name="csX10" fmla="*/ 166 w 210393"/>
                <a:gd name="csY10" fmla="*/ 105665 h 211207"/>
                <a:gd name="csX11" fmla="*/ 10606 w 210393"/>
                <a:gd name="csY11" fmla="*/ 112007 h 211207"/>
                <a:gd name="csX12" fmla="*/ 99193 w 210393"/>
                <a:gd name="csY12" fmla="*/ 112007 h 211207"/>
                <a:gd name="csX13" fmla="*/ 99193 w 210393"/>
                <a:gd name="csY13" fmla="*/ 200804 h 211207"/>
                <a:gd name="csX14" fmla="*/ 105521 w 210393"/>
                <a:gd name="csY14" fmla="*/ 211269 h 211207"/>
                <a:gd name="csX15" fmla="*/ 111848 w 210393"/>
                <a:gd name="csY15" fmla="*/ 200804 h 211207"/>
                <a:gd name="csX16" fmla="*/ 111848 w 210393"/>
                <a:gd name="csY16" fmla="*/ 112007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848" y="112007"/>
                  </a:moveTo>
                  <a:lnTo>
                    <a:pt x="200119" y="112007"/>
                  </a:lnTo>
                  <a:cubicBezTo>
                    <a:pt x="204548" y="112007"/>
                    <a:pt x="210560" y="112007"/>
                    <a:pt x="210560" y="105665"/>
                  </a:cubicBezTo>
                  <a:cubicBezTo>
                    <a:pt x="210560" y="99322"/>
                    <a:pt x="204548" y="99322"/>
                    <a:pt x="200119" y="99322"/>
                  </a:cubicBezTo>
                  <a:lnTo>
                    <a:pt x="111848" y="99322"/>
                  </a:lnTo>
                  <a:lnTo>
                    <a:pt x="111848" y="10526"/>
                  </a:lnTo>
                  <a:cubicBezTo>
                    <a:pt x="111848" y="6086"/>
                    <a:pt x="111848" y="61"/>
                    <a:pt x="105521" y="61"/>
                  </a:cubicBezTo>
                  <a:cubicBezTo>
                    <a:pt x="99193" y="61"/>
                    <a:pt x="99193" y="6086"/>
                    <a:pt x="99193" y="10526"/>
                  </a:cubicBezTo>
                  <a:lnTo>
                    <a:pt x="99193" y="99322"/>
                  </a:lnTo>
                  <a:lnTo>
                    <a:pt x="10606" y="99322"/>
                  </a:lnTo>
                  <a:cubicBezTo>
                    <a:pt x="6177" y="99322"/>
                    <a:pt x="166" y="99322"/>
                    <a:pt x="166" y="105665"/>
                  </a:cubicBezTo>
                  <a:cubicBezTo>
                    <a:pt x="166" y="112007"/>
                    <a:pt x="6177" y="112007"/>
                    <a:pt x="10606" y="112007"/>
                  </a:cubicBezTo>
                  <a:lnTo>
                    <a:pt x="99193" y="112007"/>
                  </a:lnTo>
                  <a:lnTo>
                    <a:pt x="99193" y="200804"/>
                  </a:lnTo>
                  <a:cubicBezTo>
                    <a:pt x="99193" y="205243"/>
                    <a:pt x="99193" y="211269"/>
                    <a:pt x="105521" y="211269"/>
                  </a:cubicBezTo>
                  <a:cubicBezTo>
                    <a:pt x="111848" y="211269"/>
                    <a:pt x="111848" y="205243"/>
                    <a:pt x="111848" y="200804"/>
                  </a:cubicBezTo>
                  <a:lnTo>
                    <a:pt x="111848" y="112007"/>
                  </a:lnTo>
                  <a:close/>
                </a:path>
              </a:pathLst>
            </a:custGeom>
            <a:grpFill/>
            <a:ln w="31750" cap="flat">
              <a:noFill/>
              <a:prstDash val="solid"/>
              <a:miter/>
            </a:ln>
          </p:spPr>
          <p:txBody>
            <a:bodyPr/>
            <a:lstStyle/>
            <a:p>
              <a:endParaRPr lang="es-CO"/>
            </a:p>
          </p:txBody>
        </p:sp>
        <p:sp>
          <p:nvSpPr>
            <p:cNvPr id="24" name="Freeform: Shape 23">
              <a:extLst>
                <a:ext uri="{FF2B5EF4-FFF2-40B4-BE49-F238E27FC236}">
                  <a16:creationId xmlns:a16="http://schemas.microsoft.com/office/drawing/2014/main" id="{3F11AA0D-3D99-C279-FFA6-9AEFAB19D213}"/>
                </a:ext>
              </a:extLst>
            </p:cNvPr>
            <p:cNvSpPr/>
            <p:nvPr>
              <p:custDataLst>
                <p:tags r:id="rId18"/>
              </p:custDataLst>
            </p:nvPr>
          </p:nvSpPr>
          <p:spPr>
            <a:xfrm>
              <a:off x="8381044" y="4508221"/>
              <a:ext cx="116428" cy="223576"/>
            </a:xfrm>
            <a:custGeom>
              <a:avLst/>
              <a:gdLst>
                <a:gd name="csX0" fmla="*/ 60921 w 116428"/>
                <a:gd name="csY0" fmla="*/ 3549 h 223576"/>
                <a:gd name="csX1" fmla="*/ 56808 w 116428"/>
                <a:gd name="csY1" fmla="*/ 61 h 223576"/>
                <a:gd name="csX2" fmla="*/ 18209 w 116428"/>
                <a:gd name="csY2" fmla="*/ 3232 h 223576"/>
                <a:gd name="csX3" fmla="*/ 12198 w 116428"/>
                <a:gd name="csY3" fmla="*/ 9575 h 223576"/>
                <a:gd name="csX4" fmla="*/ 19791 w 116428"/>
                <a:gd name="csY4" fmla="*/ 13380 h 223576"/>
                <a:gd name="csX5" fmla="*/ 35610 w 116428"/>
                <a:gd name="csY5" fmla="*/ 18772 h 223576"/>
                <a:gd name="csX6" fmla="*/ 31181 w 116428"/>
                <a:gd name="csY6" fmla="*/ 38434 h 223576"/>
                <a:gd name="csX7" fmla="*/ 5238 w 116428"/>
                <a:gd name="csY7" fmla="*/ 141818 h 223576"/>
                <a:gd name="csX8" fmla="*/ 176 w 116428"/>
                <a:gd name="csY8" fmla="*/ 173848 h 223576"/>
                <a:gd name="csX9" fmla="*/ 40356 w 116428"/>
                <a:gd name="csY9" fmla="*/ 223637 h 223576"/>
                <a:gd name="csX10" fmla="*/ 116604 w 116428"/>
                <a:gd name="csY10" fmla="*/ 130718 h 223576"/>
                <a:gd name="csX11" fmla="*/ 74525 w 116428"/>
                <a:gd name="csY11" fmla="*/ 79977 h 223576"/>
                <a:gd name="csX12" fmla="*/ 37509 w 116428"/>
                <a:gd name="csY12" fmla="*/ 99005 h 223576"/>
                <a:gd name="csX13" fmla="*/ 60921 w 116428"/>
                <a:gd name="csY13" fmla="*/ 3549 h 223576"/>
                <a:gd name="csX14" fmla="*/ 31181 w 116428"/>
                <a:gd name="csY14" fmla="*/ 123424 h 223576"/>
                <a:gd name="csX15" fmla="*/ 35927 w 116428"/>
                <a:gd name="csY15" fmla="*/ 112325 h 223576"/>
                <a:gd name="csX16" fmla="*/ 73893 w 116428"/>
                <a:gd name="csY16" fmla="*/ 86954 h 223576"/>
                <a:gd name="csX17" fmla="*/ 93825 w 116428"/>
                <a:gd name="csY17" fmla="*/ 116764 h 223576"/>
                <a:gd name="csX18" fmla="*/ 77689 w 116428"/>
                <a:gd name="csY18" fmla="*/ 183996 h 223576"/>
                <a:gd name="csX19" fmla="*/ 40356 w 116428"/>
                <a:gd name="csY19" fmla="*/ 216660 h 223576"/>
                <a:gd name="csX20" fmla="*/ 19159 w 116428"/>
                <a:gd name="csY20" fmla="*/ 184630 h 223576"/>
                <a:gd name="csX21" fmla="*/ 24221 w 116428"/>
                <a:gd name="csY21" fmla="*/ 152600 h 223576"/>
                <a:gd name="csX22" fmla="*/ 31181 w 116428"/>
                <a:gd name="csY22" fmla="*/ 123424 h 223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16428" h="223576">
                  <a:moveTo>
                    <a:pt x="60921" y="3549"/>
                  </a:moveTo>
                  <a:cubicBezTo>
                    <a:pt x="60921" y="3232"/>
                    <a:pt x="60921" y="61"/>
                    <a:pt x="56808" y="61"/>
                  </a:cubicBezTo>
                  <a:cubicBezTo>
                    <a:pt x="49531" y="61"/>
                    <a:pt x="26435" y="2598"/>
                    <a:pt x="18209" y="3232"/>
                  </a:cubicBezTo>
                  <a:cubicBezTo>
                    <a:pt x="15678" y="3549"/>
                    <a:pt x="12198" y="3866"/>
                    <a:pt x="12198" y="9575"/>
                  </a:cubicBezTo>
                  <a:cubicBezTo>
                    <a:pt x="12198" y="13380"/>
                    <a:pt x="15046" y="13380"/>
                    <a:pt x="19791" y="13380"/>
                  </a:cubicBezTo>
                  <a:cubicBezTo>
                    <a:pt x="34978" y="13380"/>
                    <a:pt x="35610" y="15600"/>
                    <a:pt x="35610" y="18772"/>
                  </a:cubicBezTo>
                  <a:cubicBezTo>
                    <a:pt x="35610" y="20991"/>
                    <a:pt x="32763" y="31774"/>
                    <a:pt x="31181" y="38434"/>
                  </a:cubicBezTo>
                  <a:lnTo>
                    <a:pt x="5238" y="141818"/>
                  </a:lnTo>
                  <a:cubicBezTo>
                    <a:pt x="1441" y="157674"/>
                    <a:pt x="176" y="162748"/>
                    <a:pt x="176" y="173848"/>
                  </a:cubicBezTo>
                  <a:cubicBezTo>
                    <a:pt x="176" y="203975"/>
                    <a:pt x="16944" y="223637"/>
                    <a:pt x="40356" y="223637"/>
                  </a:cubicBezTo>
                  <a:cubicBezTo>
                    <a:pt x="77689" y="223637"/>
                    <a:pt x="116604" y="176385"/>
                    <a:pt x="116604" y="130718"/>
                  </a:cubicBezTo>
                  <a:cubicBezTo>
                    <a:pt x="116604" y="101859"/>
                    <a:pt x="99836" y="79977"/>
                    <a:pt x="74525" y="79977"/>
                  </a:cubicBezTo>
                  <a:cubicBezTo>
                    <a:pt x="59972" y="79977"/>
                    <a:pt x="47000" y="89174"/>
                    <a:pt x="37509" y="99005"/>
                  </a:cubicBezTo>
                  <a:lnTo>
                    <a:pt x="60921" y="3549"/>
                  </a:lnTo>
                  <a:close/>
                  <a:moveTo>
                    <a:pt x="31181" y="123424"/>
                  </a:moveTo>
                  <a:cubicBezTo>
                    <a:pt x="33079" y="116447"/>
                    <a:pt x="33079" y="115813"/>
                    <a:pt x="35927" y="112325"/>
                  </a:cubicBezTo>
                  <a:cubicBezTo>
                    <a:pt x="51429" y="91711"/>
                    <a:pt x="65667" y="86954"/>
                    <a:pt x="73893" y="86954"/>
                  </a:cubicBezTo>
                  <a:cubicBezTo>
                    <a:pt x="85282" y="86954"/>
                    <a:pt x="93825" y="96468"/>
                    <a:pt x="93825" y="116764"/>
                  </a:cubicBezTo>
                  <a:cubicBezTo>
                    <a:pt x="93825" y="135475"/>
                    <a:pt x="83384" y="171945"/>
                    <a:pt x="77689" y="183996"/>
                  </a:cubicBezTo>
                  <a:cubicBezTo>
                    <a:pt x="67249" y="205243"/>
                    <a:pt x="52695" y="216660"/>
                    <a:pt x="40356" y="216660"/>
                  </a:cubicBezTo>
                  <a:cubicBezTo>
                    <a:pt x="29599" y="216660"/>
                    <a:pt x="19159" y="208098"/>
                    <a:pt x="19159" y="184630"/>
                  </a:cubicBezTo>
                  <a:cubicBezTo>
                    <a:pt x="19159" y="178605"/>
                    <a:pt x="19159" y="172579"/>
                    <a:pt x="24221" y="152600"/>
                  </a:cubicBezTo>
                  <a:lnTo>
                    <a:pt x="31181" y="123424"/>
                  </a:lnTo>
                  <a:close/>
                </a:path>
              </a:pathLst>
            </a:custGeom>
            <a:grpFill/>
            <a:ln w="31750" cap="flat">
              <a:noFill/>
              <a:prstDash val="solid"/>
              <a:miter/>
            </a:ln>
          </p:spPr>
          <p:txBody>
            <a:bodyPr/>
            <a:lstStyle/>
            <a:p>
              <a:endParaRPr lang="es-CO"/>
            </a:p>
          </p:txBody>
        </p:sp>
        <p:sp>
          <p:nvSpPr>
            <p:cNvPr id="25" name="Freeform: Shape 24">
              <a:extLst>
                <a:ext uri="{FF2B5EF4-FFF2-40B4-BE49-F238E27FC236}">
                  <a16:creationId xmlns:a16="http://schemas.microsoft.com/office/drawing/2014/main" id="{D654611E-EA58-4783-FCAA-11AB8B02565B}"/>
                </a:ext>
              </a:extLst>
            </p:cNvPr>
            <p:cNvSpPr/>
            <p:nvPr>
              <p:custDataLst>
                <p:tags r:id="rId19"/>
              </p:custDataLst>
            </p:nvPr>
          </p:nvSpPr>
          <p:spPr>
            <a:xfrm>
              <a:off x="8512363" y="4677980"/>
              <a:ext cx="135316" cy="100117"/>
            </a:xfrm>
            <a:custGeom>
              <a:avLst/>
              <a:gdLst>
                <a:gd name="csX0" fmla="*/ 16790 w 135316"/>
                <a:gd name="csY0" fmla="*/ 83975 h 100117"/>
                <a:gd name="csX1" fmla="*/ 14575 w 135316"/>
                <a:gd name="csY1" fmla="*/ 93076 h 100117"/>
                <a:gd name="csX2" fmla="*/ 22105 w 135316"/>
                <a:gd name="csY2" fmla="*/ 100180 h 100117"/>
                <a:gd name="csX3" fmla="*/ 30742 w 135316"/>
                <a:gd name="csY3" fmla="*/ 95296 h 100117"/>
                <a:gd name="csX4" fmla="*/ 34729 w 135316"/>
                <a:gd name="csY4" fmla="*/ 81533 h 100117"/>
                <a:gd name="csX5" fmla="*/ 39601 w 135316"/>
                <a:gd name="csY5" fmla="*/ 61554 h 100117"/>
                <a:gd name="csX6" fmla="*/ 43366 w 135316"/>
                <a:gd name="csY6" fmla="*/ 46680 h 100117"/>
                <a:gd name="csX7" fmla="*/ 52668 w 135316"/>
                <a:gd name="csY7" fmla="*/ 26701 h 100117"/>
                <a:gd name="csX8" fmla="*/ 85888 w 135316"/>
                <a:gd name="csY8" fmla="*/ 6278 h 100117"/>
                <a:gd name="csX9" fmla="*/ 98954 w 135316"/>
                <a:gd name="csY9" fmla="*/ 21817 h 100117"/>
                <a:gd name="csX10" fmla="*/ 85888 w 135316"/>
                <a:gd name="csY10" fmla="*/ 69101 h 100117"/>
                <a:gd name="csX11" fmla="*/ 82566 w 135316"/>
                <a:gd name="csY11" fmla="*/ 81089 h 100117"/>
                <a:gd name="csX12" fmla="*/ 103605 w 135316"/>
                <a:gd name="csY12" fmla="*/ 100180 h 100117"/>
                <a:gd name="csX13" fmla="*/ 135496 w 135316"/>
                <a:gd name="csY13" fmla="*/ 66216 h 100117"/>
                <a:gd name="csX14" fmla="*/ 131953 w 135316"/>
                <a:gd name="csY14" fmla="*/ 63330 h 100117"/>
                <a:gd name="csX15" fmla="*/ 127745 w 135316"/>
                <a:gd name="csY15" fmla="*/ 67104 h 100117"/>
                <a:gd name="csX16" fmla="*/ 104269 w 135316"/>
                <a:gd name="csY16" fmla="*/ 93964 h 100117"/>
                <a:gd name="csX17" fmla="*/ 98733 w 135316"/>
                <a:gd name="csY17" fmla="*/ 86195 h 100117"/>
                <a:gd name="csX18" fmla="*/ 103827 w 135316"/>
                <a:gd name="csY18" fmla="*/ 68213 h 100117"/>
                <a:gd name="csX19" fmla="*/ 115564 w 135316"/>
                <a:gd name="csY19" fmla="*/ 25369 h 100117"/>
                <a:gd name="csX20" fmla="*/ 86774 w 135316"/>
                <a:gd name="csY20" fmla="*/ 62 h 100117"/>
                <a:gd name="csX21" fmla="*/ 49346 w 135316"/>
                <a:gd name="csY21" fmla="*/ 20264 h 100117"/>
                <a:gd name="csX22" fmla="*/ 25649 w 135316"/>
                <a:gd name="csY22" fmla="*/ 62 h 100117"/>
                <a:gd name="csX23" fmla="*/ 8153 w 135316"/>
                <a:gd name="csY23" fmla="*/ 12050 h 100117"/>
                <a:gd name="csX24" fmla="*/ 180 w 135316"/>
                <a:gd name="csY24" fmla="*/ 34027 h 100117"/>
                <a:gd name="csX25" fmla="*/ 3945 w 135316"/>
                <a:gd name="csY25" fmla="*/ 36913 h 100117"/>
                <a:gd name="csX26" fmla="*/ 8817 w 135316"/>
                <a:gd name="csY26" fmla="*/ 30253 h 100117"/>
                <a:gd name="csX27" fmla="*/ 24984 w 135316"/>
                <a:gd name="csY27" fmla="*/ 6278 h 100117"/>
                <a:gd name="csX28" fmla="*/ 32293 w 135316"/>
                <a:gd name="csY28" fmla="*/ 17156 h 100117"/>
                <a:gd name="csX29" fmla="*/ 28749 w 135316"/>
                <a:gd name="csY29" fmla="*/ 35581 h 100117"/>
                <a:gd name="csX30" fmla="*/ 23877 w 135316"/>
                <a:gd name="csY30" fmla="*/ 55560 h 100117"/>
                <a:gd name="csX31" fmla="*/ 16790 w 135316"/>
                <a:gd name="csY31" fmla="*/ 83975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790" y="83975"/>
                  </a:moveTo>
                  <a:cubicBezTo>
                    <a:pt x="15904" y="86861"/>
                    <a:pt x="14575" y="92410"/>
                    <a:pt x="14575" y="93076"/>
                  </a:cubicBezTo>
                  <a:cubicBezTo>
                    <a:pt x="14575" y="97960"/>
                    <a:pt x="18562" y="100180"/>
                    <a:pt x="22105" y="100180"/>
                  </a:cubicBezTo>
                  <a:cubicBezTo>
                    <a:pt x="26092" y="100180"/>
                    <a:pt x="29635" y="97294"/>
                    <a:pt x="30742" y="95296"/>
                  </a:cubicBezTo>
                  <a:cubicBezTo>
                    <a:pt x="31850" y="93298"/>
                    <a:pt x="33621" y="86195"/>
                    <a:pt x="34729" y="81533"/>
                  </a:cubicBezTo>
                  <a:cubicBezTo>
                    <a:pt x="35836" y="77315"/>
                    <a:pt x="38272" y="67104"/>
                    <a:pt x="39601" y="61554"/>
                  </a:cubicBezTo>
                  <a:cubicBezTo>
                    <a:pt x="40930" y="56670"/>
                    <a:pt x="42259" y="51786"/>
                    <a:pt x="43366" y="46680"/>
                  </a:cubicBezTo>
                  <a:cubicBezTo>
                    <a:pt x="45802" y="37579"/>
                    <a:pt x="46245" y="35803"/>
                    <a:pt x="52668" y="26701"/>
                  </a:cubicBezTo>
                  <a:cubicBezTo>
                    <a:pt x="58869" y="17822"/>
                    <a:pt x="69278" y="6278"/>
                    <a:pt x="85888" y="6278"/>
                  </a:cubicBezTo>
                  <a:cubicBezTo>
                    <a:pt x="98733" y="6278"/>
                    <a:pt x="98954" y="17600"/>
                    <a:pt x="98954" y="21817"/>
                  </a:cubicBezTo>
                  <a:cubicBezTo>
                    <a:pt x="98954" y="35137"/>
                    <a:pt x="89431" y="59778"/>
                    <a:pt x="85888" y="69101"/>
                  </a:cubicBezTo>
                  <a:cubicBezTo>
                    <a:pt x="83452" y="75317"/>
                    <a:pt x="82566" y="77315"/>
                    <a:pt x="82566" y="81089"/>
                  </a:cubicBezTo>
                  <a:cubicBezTo>
                    <a:pt x="82566" y="92854"/>
                    <a:pt x="92310" y="100180"/>
                    <a:pt x="103605" y="100180"/>
                  </a:cubicBezTo>
                  <a:cubicBezTo>
                    <a:pt x="125752" y="100180"/>
                    <a:pt x="135496" y="69545"/>
                    <a:pt x="135496" y="66216"/>
                  </a:cubicBezTo>
                  <a:cubicBezTo>
                    <a:pt x="135496" y="63330"/>
                    <a:pt x="132617" y="63330"/>
                    <a:pt x="131953" y="63330"/>
                  </a:cubicBezTo>
                  <a:cubicBezTo>
                    <a:pt x="128852" y="63330"/>
                    <a:pt x="128631" y="64662"/>
                    <a:pt x="127745" y="67104"/>
                  </a:cubicBezTo>
                  <a:cubicBezTo>
                    <a:pt x="122651" y="84863"/>
                    <a:pt x="113128" y="93964"/>
                    <a:pt x="104269" y="93964"/>
                  </a:cubicBezTo>
                  <a:cubicBezTo>
                    <a:pt x="99619" y="93964"/>
                    <a:pt x="98733" y="90856"/>
                    <a:pt x="98733" y="86195"/>
                  </a:cubicBezTo>
                  <a:cubicBezTo>
                    <a:pt x="98733" y="81089"/>
                    <a:pt x="99840" y="78203"/>
                    <a:pt x="103827" y="68213"/>
                  </a:cubicBezTo>
                  <a:cubicBezTo>
                    <a:pt x="106484" y="61332"/>
                    <a:pt x="115564" y="37801"/>
                    <a:pt x="115564" y="25369"/>
                  </a:cubicBezTo>
                  <a:cubicBezTo>
                    <a:pt x="115564" y="3836"/>
                    <a:pt x="98511" y="62"/>
                    <a:pt x="86774" y="62"/>
                  </a:cubicBezTo>
                  <a:cubicBezTo>
                    <a:pt x="68392" y="62"/>
                    <a:pt x="55990" y="11384"/>
                    <a:pt x="49346" y="20264"/>
                  </a:cubicBezTo>
                  <a:cubicBezTo>
                    <a:pt x="47795" y="4946"/>
                    <a:pt x="34729" y="62"/>
                    <a:pt x="25649" y="62"/>
                  </a:cubicBezTo>
                  <a:cubicBezTo>
                    <a:pt x="16126" y="62"/>
                    <a:pt x="11032" y="6944"/>
                    <a:pt x="8153" y="12050"/>
                  </a:cubicBezTo>
                  <a:cubicBezTo>
                    <a:pt x="3280" y="20264"/>
                    <a:pt x="180" y="32917"/>
                    <a:pt x="180" y="34027"/>
                  </a:cubicBezTo>
                  <a:cubicBezTo>
                    <a:pt x="180" y="36913"/>
                    <a:pt x="3280" y="36913"/>
                    <a:pt x="3945" y="36913"/>
                  </a:cubicBezTo>
                  <a:cubicBezTo>
                    <a:pt x="7045" y="36913"/>
                    <a:pt x="7267" y="36247"/>
                    <a:pt x="8817" y="30253"/>
                  </a:cubicBezTo>
                  <a:cubicBezTo>
                    <a:pt x="12139" y="17156"/>
                    <a:pt x="16347" y="6278"/>
                    <a:pt x="24984" y="6278"/>
                  </a:cubicBezTo>
                  <a:cubicBezTo>
                    <a:pt x="30742" y="6278"/>
                    <a:pt x="32293" y="11162"/>
                    <a:pt x="32293" y="17156"/>
                  </a:cubicBezTo>
                  <a:cubicBezTo>
                    <a:pt x="32293" y="21373"/>
                    <a:pt x="30299" y="29587"/>
                    <a:pt x="28749" y="35581"/>
                  </a:cubicBezTo>
                  <a:cubicBezTo>
                    <a:pt x="27199" y="41575"/>
                    <a:pt x="24984" y="50676"/>
                    <a:pt x="23877" y="55560"/>
                  </a:cubicBezTo>
                  <a:lnTo>
                    <a:pt x="16790" y="83975"/>
                  </a:lnTo>
                  <a:close/>
                </a:path>
              </a:pathLst>
            </a:custGeom>
            <a:grpFill/>
            <a:ln w="31750" cap="flat">
              <a:noFill/>
              <a:prstDash val="solid"/>
              <a:miter/>
            </a:ln>
          </p:spPr>
          <p:txBody>
            <a:bodyPr/>
            <a:lstStyle/>
            <a:p>
              <a:endParaRPr lang="es-CO"/>
            </a:p>
          </p:txBody>
        </p:sp>
        <p:sp>
          <p:nvSpPr>
            <p:cNvPr id="26" name="Freeform: Shape 25">
              <a:extLst>
                <a:ext uri="{FF2B5EF4-FFF2-40B4-BE49-F238E27FC236}">
                  <a16:creationId xmlns:a16="http://schemas.microsoft.com/office/drawing/2014/main" id="{4A701AB8-6B10-4FD4-35B7-E0BD07553F2F}"/>
                </a:ext>
              </a:extLst>
            </p:cNvPr>
            <p:cNvSpPr/>
            <p:nvPr>
              <p:custDataLst>
                <p:tags r:id="rId20"/>
              </p:custDataLst>
            </p:nvPr>
          </p:nvSpPr>
          <p:spPr>
            <a:xfrm>
              <a:off x="8682271" y="4714830"/>
              <a:ext cx="149711" cy="10877"/>
            </a:xfrm>
            <a:custGeom>
              <a:avLst/>
              <a:gdLst>
                <a:gd name="csX0" fmla="*/ 141038 w 149711"/>
                <a:gd name="csY0" fmla="*/ 10940 h 10877"/>
                <a:gd name="csX1" fmla="*/ 149897 w 149711"/>
                <a:gd name="csY1" fmla="*/ 5612 h 10877"/>
                <a:gd name="csX2" fmla="*/ 141038 w 149711"/>
                <a:gd name="csY2" fmla="*/ 62 h 10877"/>
                <a:gd name="csX3" fmla="*/ 9044 w 149711"/>
                <a:gd name="csY3" fmla="*/ 62 h 10877"/>
                <a:gd name="csX4" fmla="*/ 185 w 149711"/>
                <a:gd name="csY4" fmla="*/ 5390 h 10877"/>
                <a:gd name="csX5" fmla="*/ 9044 w 149711"/>
                <a:gd name="csY5" fmla="*/ 10940 h 10877"/>
                <a:gd name="csX6" fmla="*/ 141038 w 149711"/>
                <a:gd name="csY6" fmla="*/ 10940 h 10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9711" h="10877">
                  <a:moveTo>
                    <a:pt x="141038" y="10940"/>
                  </a:moveTo>
                  <a:cubicBezTo>
                    <a:pt x="144581" y="10940"/>
                    <a:pt x="149897" y="10940"/>
                    <a:pt x="149897" y="5612"/>
                  </a:cubicBezTo>
                  <a:cubicBezTo>
                    <a:pt x="149897" y="62"/>
                    <a:pt x="144803" y="62"/>
                    <a:pt x="141038" y="62"/>
                  </a:cubicBezTo>
                  <a:lnTo>
                    <a:pt x="9044" y="62"/>
                  </a:lnTo>
                  <a:cubicBezTo>
                    <a:pt x="5500" y="62"/>
                    <a:pt x="185" y="62"/>
                    <a:pt x="185" y="5390"/>
                  </a:cubicBezTo>
                  <a:cubicBezTo>
                    <a:pt x="185" y="10940"/>
                    <a:pt x="5279" y="10940"/>
                    <a:pt x="9044" y="10940"/>
                  </a:cubicBezTo>
                  <a:lnTo>
                    <a:pt x="141038" y="10940"/>
                  </a:lnTo>
                  <a:close/>
                </a:path>
              </a:pathLst>
            </a:custGeom>
            <a:grpFill/>
            <a:ln w="31750" cap="flat">
              <a:noFill/>
              <a:prstDash val="solid"/>
              <a:miter/>
            </a:ln>
          </p:spPr>
          <p:txBody>
            <a:bodyPr/>
            <a:lstStyle/>
            <a:p>
              <a:endParaRPr lang="es-CO"/>
            </a:p>
          </p:txBody>
        </p:sp>
        <p:sp>
          <p:nvSpPr>
            <p:cNvPr id="27" name="Freeform: Shape 26">
              <a:extLst>
                <a:ext uri="{FF2B5EF4-FFF2-40B4-BE49-F238E27FC236}">
                  <a16:creationId xmlns:a16="http://schemas.microsoft.com/office/drawing/2014/main" id="{EC3D6CA7-9F01-C3C8-0AB5-A20A9B7184B2}"/>
                </a:ext>
              </a:extLst>
            </p:cNvPr>
            <p:cNvSpPr/>
            <p:nvPr>
              <p:custDataLst>
                <p:tags r:id="rId21"/>
              </p:custDataLst>
            </p:nvPr>
          </p:nvSpPr>
          <p:spPr>
            <a:xfrm>
              <a:off x="8880232" y="4628476"/>
              <a:ext cx="80614" cy="147401"/>
            </a:xfrm>
            <a:custGeom>
              <a:avLst/>
              <a:gdLst>
                <a:gd name="csX0" fmla="*/ 50243 w 80614"/>
                <a:gd name="csY0" fmla="*/ 6278 h 147401"/>
                <a:gd name="csX1" fmla="*/ 43599 w 80614"/>
                <a:gd name="csY1" fmla="*/ 62 h 147401"/>
                <a:gd name="csX2" fmla="*/ 191 w 80614"/>
                <a:gd name="csY2" fmla="*/ 14270 h 147401"/>
                <a:gd name="csX3" fmla="*/ 191 w 80614"/>
                <a:gd name="csY3" fmla="*/ 22261 h 147401"/>
                <a:gd name="csX4" fmla="*/ 32304 w 80614"/>
                <a:gd name="csY4" fmla="*/ 16046 h 147401"/>
                <a:gd name="csX5" fmla="*/ 32304 w 80614"/>
                <a:gd name="csY5" fmla="*/ 129261 h 147401"/>
                <a:gd name="csX6" fmla="*/ 10157 w 80614"/>
                <a:gd name="csY6" fmla="*/ 139472 h 147401"/>
                <a:gd name="csX7" fmla="*/ 1741 w 80614"/>
                <a:gd name="csY7" fmla="*/ 139472 h 147401"/>
                <a:gd name="csX8" fmla="*/ 1741 w 80614"/>
                <a:gd name="csY8" fmla="*/ 147464 h 147401"/>
                <a:gd name="csX9" fmla="*/ 41162 w 80614"/>
                <a:gd name="csY9" fmla="*/ 146576 h 147401"/>
                <a:gd name="csX10" fmla="*/ 80805 w 80614"/>
                <a:gd name="csY10" fmla="*/ 147464 h 147401"/>
                <a:gd name="csX11" fmla="*/ 80805 w 80614"/>
                <a:gd name="csY11" fmla="*/ 139472 h 147401"/>
                <a:gd name="csX12" fmla="*/ 72389 w 80614"/>
                <a:gd name="csY12" fmla="*/ 139472 h 147401"/>
                <a:gd name="csX13" fmla="*/ 50243 w 80614"/>
                <a:gd name="csY13" fmla="*/ 129261 h 147401"/>
                <a:gd name="csX14" fmla="*/ 50243 w 80614"/>
                <a:gd name="csY14" fmla="*/ 6278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243" y="6278"/>
                  </a:moveTo>
                  <a:cubicBezTo>
                    <a:pt x="50243" y="284"/>
                    <a:pt x="49800" y="62"/>
                    <a:pt x="43599" y="62"/>
                  </a:cubicBezTo>
                  <a:cubicBezTo>
                    <a:pt x="29425" y="14048"/>
                    <a:pt x="9271" y="14270"/>
                    <a:pt x="191" y="14270"/>
                  </a:cubicBezTo>
                  <a:lnTo>
                    <a:pt x="191" y="22261"/>
                  </a:lnTo>
                  <a:cubicBezTo>
                    <a:pt x="5506" y="22261"/>
                    <a:pt x="20123" y="22261"/>
                    <a:pt x="32304" y="16046"/>
                  </a:cubicBezTo>
                  <a:lnTo>
                    <a:pt x="32304" y="129261"/>
                  </a:lnTo>
                  <a:cubicBezTo>
                    <a:pt x="32304" y="136586"/>
                    <a:pt x="32304" y="139472"/>
                    <a:pt x="10157" y="139472"/>
                  </a:cubicBezTo>
                  <a:lnTo>
                    <a:pt x="1741" y="139472"/>
                  </a:lnTo>
                  <a:lnTo>
                    <a:pt x="1741" y="147464"/>
                  </a:lnTo>
                  <a:cubicBezTo>
                    <a:pt x="5728" y="147242"/>
                    <a:pt x="32968" y="146576"/>
                    <a:pt x="41162" y="146576"/>
                  </a:cubicBezTo>
                  <a:cubicBezTo>
                    <a:pt x="48028" y="146576"/>
                    <a:pt x="75933" y="147242"/>
                    <a:pt x="80805" y="147464"/>
                  </a:cubicBezTo>
                  <a:lnTo>
                    <a:pt x="80805" y="139472"/>
                  </a:lnTo>
                  <a:lnTo>
                    <a:pt x="72389" y="139472"/>
                  </a:lnTo>
                  <a:cubicBezTo>
                    <a:pt x="50243" y="139472"/>
                    <a:pt x="50243" y="136586"/>
                    <a:pt x="50243" y="129261"/>
                  </a:cubicBezTo>
                  <a:lnTo>
                    <a:pt x="50243" y="6278"/>
                  </a:lnTo>
                  <a:close/>
                </a:path>
              </a:pathLst>
            </a:custGeom>
            <a:grpFill/>
            <a:ln w="31750" cap="flat">
              <a:noFill/>
              <a:prstDash val="solid"/>
              <a:miter/>
            </a:ln>
          </p:spPr>
          <p:txBody>
            <a:bodyPr/>
            <a:lstStyle/>
            <a:p>
              <a:endParaRPr lang="es-CO"/>
            </a:p>
          </p:txBody>
        </p:sp>
        <p:sp>
          <p:nvSpPr>
            <p:cNvPr id="28" name="Freeform: Shape 27">
              <a:extLst>
                <a:ext uri="{FF2B5EF4-FFF2-40B4-BE49-F238E27FC236}">
                  <a16:creationId xmlns:a16="http://schemas.microsoft.com/office/drawing/2014/main" id="{DB12174D-A8F8-D751-06A2-406403A3FD55}"/>
                </a:ext>
              </a:extLst>
            </p:cNvPr>
            <p:cNvSpPr/>
            <p:nvPr>
              <p:custDataLst>
                <p:tags r:id="rId22"/>
              </p:custDataLst>
            </p:nvPr>
          </p:nvSpPr>
          <p:spPr>
            <a:xfrm>
              <a:off x="9014476" y="4588138"/>
              <a:ext cx="116428" cy="143659"/>
            </a:xfrm>
            <a:custGeom>
              <a:avLst/>
              <a:gdLst>
                <a:gd name="csX0" fmla="*/ 107449 w 116428"/>
                <a:gd name="csY0" fmla="*/ 21626 h 143659"/>
                <a:gd name="csX1" fmla="*/ 92263 w 116428"/>
                <a:gd name="csY1" fmla="*/ 35896 h 143659"/>
                <a:gd name="csX2" fmla="*/ 102070 w 116428"/>
                <a:gd name="csY2" fmla="*/ 45093 h 143659"/>
                <a:gd name="csX3" fmla="*/ 116624 w 116428"/>
                <a:gd name="csY3" fmla="*/ 27334 h 143659"/>
                <a:gd name="csX4" fmla="*/ 78975 w 116428"/>
                <a:gd name="csY4" fmla="*/ 61 h 143659"/>
                <a:gd name="csX5" fmla="*/ 25506 w 116428"/>
                <a:gd name="csY5" fmla="*/ 46362 h 143659"/>
                <a:gd name="csX6" fmla="*/ 58093 w 116428"/>
                <a:gd name="csY6" fmla="*/ 77758 h 143659"/>
                <a:gd name="csX7" fmla="*/ 90997 w 116428"/>
                <a:gd name="csY7" fmla="*/ 101859 h 143659"/>
                <a:gd name="csX8" fmla="*/ 45754 w 116428"/>
                <a:gd name="csY8" fmla="*/ 136744 h 143659"/>
                <a:gd name="csX9" fmla="*/ 9687 w 116428"/>
                <a:gd name="csY9" fmla="*/ 119936 h 143659"/>
                <a:gd name="csX10" fmla="*/ 29619 w 116428"/>
                <a:gd name="csY10" fmla="*/ 103128 h 143659"/>
                <a:gd name="csX11" fmla="*/ 17913 w 116428"/>
                <a:gd name="csY11" fmla="*/ 92028 h 143659"/>
                <a:gd name="csX12" fmla="*/ 196 w 116428"/>
                <a:gd name="csY12" fmla="*/ 112959 h 143659"/>
                <a:gd name="csX13" fmla="*/ 45438 w 116428"/>
                <a:gd name="csY13" fmla="*/ 143720 h 143659"/>
                <a:gd name="csX14" fmla="*/ 109031 w 116428"/>
                <a:gd name="csY14" fmla="*/ 91077 h 143659"/>
                <a:gd name="csX15" fmla="*/ 99223 w 116428"/>
                <a:gd name="csY15" fmla="*/ 67927 h 143659"/>
                <a:gd name="csX16" fmla="*/ 67585 w 116428"/>
                <a:gd name="csY16" fmla="*/ 54607 h 143659"/>
                <a:gd name="csX17" fmla="*/ 43540 w 116428"/>
                <a:gd name="csY17" fmla="*/ 35579 h 143659"/>
                <a:gd name="csX18" fmla="*/ 78975 w 116428"/>
                <a:gd name="csY18" fmla="*/ 7038 h 143659"/>
                <a:gd name="csX19" fmla="*/ 107449 w 116428"/>
                <a:gd name="csY19" fmla="*/ 21626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449" y="21626"/>
                  </a:moveTo>
                  <a:cubicBezTo>
                    <a:pt x="98590" y="21943"/>
                    <a:pt x="92263" y="28920"/>
                    <a:pt x="92263" y="35896"/>
                  </a:cubicBezTo>
                  <a:cubicBezTo>
                    <a:pt x="92263" y="40336"/>
                    <a:pt x="95110" y="45093"/>
                    <a:pt x="102070" y="45093"/>
                  </a:cubicBezTo>
                  <a:cubicBezTo>
                    <a:pt x="109031" y="45093"/>
                    <a:pt x="116624" y="39702"/>
                    <a:pt x="116624" y="27334"/>
                  </a:cubicBezTo>
                  <a:cubicBezTo>
                    <a:pt x="116624" y="13063"/>
                    <a:pt x="103020" y="61"/>
                    <a:pt x="78975" y="61"/>
                  </a:cubicBezTo>
                  <a:cubicBezTo>
                    <a:pt x="37212" y="61"/>
                    <a:pt x="25506" y="32408"/>
                    <a:pt x="25506" y="46362"/>
                  </a:cubicBezTo>
                  <a:cubicBezTo>
                    <a:pt x="25506" y="71098"/>
                    <a:pt x="48918" y="75855"/>
                    <a:pt x="58093" y="77758"/>
                  </a:cubicBezTo>
                  <a:cubicBezTo>
                    <a:pt x="74545" y="80929"/>
                    <a:pt x="90997" y="84417"/>
                    <a:pt x="90997" y="101859"/>
                  </a:cubicBezTo>
                  <a:cubicBezTo>
                    <a:pt x="90997" y="110105"/>
                    <a:pt x="83720" y="136744"/>
                    <a:pt x="45754" y="136744"/>
                  </a:cubicBezTo>
                  <a:cubicBezTo>
                    <a:pt x="41325" y="136744"/>
                    <a:pt x="16964" y="136744"/>
                    <a:pt x="9687" y="119936"/>
                  </a:cubicBezTo>
                  <a:cubicBezTo>
                    <a:pt x="21709" y="121521"/>
                    <a:pt x="29619" y="112007"/>
                    <a:pt x="29619" y="103128"/>
                  </a:cubicBezTo>
                  <a:cubicBezTo>
                    <a:pt x="29619" y="95834"/>
                    <a:pt x="24557" y="92028"/>
                    <a:pt x="17913" y="92028"/>
                  </a:cubicBezTo>
                  <a:cubicBezTo>
                    <a:pt x="9687" y="92028"/>
                    <a:pt x="196" y="98688"/>
                    <a:pt x="196" y="112959"/>
                  </a:cubicBezTo>
                  <a:cubicBezTo>
                    <a:pt x="196" y="131035"/>
                    <a:pt x="18229" y="143720"/>
                    <a:pt x="45438" y="143720"/>
                  </a:cubicBezTo>
                  <a:cubicBezTo>
                    <a:pt x="96692" y="143720"/>
                    <a:pt x="109031" y="105348"/>
                    <a:pt x="109031" y="91077"/>
                  </a:cubicBezTo>
                  <a:cubicBezTo>
                    <a:pt x="109031" y="79660"/>
                    <a:pt x="103020" y="71732"/>
                    <a:pt x="99223" y="67927"/>
                  </a:cubicBezTo>
                  <a:cubicBezTo>
                    <a:pt x="90681" y="59047"/>
                    <a:pt x="81506" y="57461"/>
                    <a:pt x="67585" y="54607"/>
                  </a:cubicBezTo>
                  <a:cubicBezTo>
                    <a:pt x="56195" y="52070"/>
                    <a:pt x="43540" y="49850"/>
                    <a:pt x="43540" y="35579"/>
                  </a:cubicBezTo>
                  <a:cubicBezTo>
                    <a:pt x="43540" y="26383"/>
                    <a:pt x="51133" y="7038"/>
                    <a:pt x="78975" y="7038"/>
                  </a:cubicBezTo>
                  <a:cubicBezTo>
                    <a:pt x="86884" y="7038"/>
                    <a:pt x="102703" y="9258"/>
                    <a:pt x="107449" y="21626"/>
                  </a:cubicBezTo>
                  <a:close/>
                </a:path>
              </a:pathLst>
            </a:custGeom>
            <a:grpFill/>
            <a:ln w="31750" cap="flat">
              <a:noFill/>
              <a:prstDash val="solid"/>
              <a:miter/>
            </a:ln>
          </p:spPr>
          <p:txBody>
            <a:bodyPr/>
            <a:lstStyle/>
            <a:p>
              <a:endParaRPr lang="es-CO"/>
            </a:p>
          </p:txBody>
        </p:sp>
        <p:sp>
          <p:nvSpPr>
            <p:cNvPr id="29" name="Freeform: Shape 28">
              <a:extLst>
                <a:ext uri="{FF2B5EF4-FFF2-40B4-BE49-F238E27FC236}">
                  <a16:creationId xmlns:a16="http://schemas.microsoft.com/office/drawing/2014/main" id="{1132BF4E-FDFE-355F-02ED-7689D06D0C62}"/>
                </a:ext>
              </a:extLst>
            </p:cNvPr>
            <p:cNvSpPr/>
            <p:nvPr>
              <p:custDataLst>
                <p:tags r:id="rId23"/>
              </p:custDataLst>
            </p:nvPr>
          </p:nvSpPr>
          <p:spPr>
            <a:xfrm>
              <a:off x="9156737" y="4515327"/>
              <a:ext cx="135316" cy="100117"/>
            </a:xfrm>
            <a:custGeom>
              <a:avLst/>
              <a:gdLst>
                <a:gd name="csX0" fmla="*/ 16810 w 135316"/>
                <a:gd name="csY0" fmla="*/ 83970 h 100117"/>
                <a:gd name="csX1" fmla="*/ 14596 w 135316"/>
                <a:gd name="csY1" fmla="*/ 93071 h 100117"/>
                <a:gd name="csX2" fmla="*/ 22125 w 135316"/>
                <a:gd name="csY2" fmla="*/ 100175 h 100117"/>
                <a:gd name="csX3" fmla="*/ 30763 w 135316"/>
                <a:gd name="csY3" fmla="*/ 95291 h 100117"/>
                <a:gd name="csX4" fmla="*/ 34749 w 135316"/>
                <a:gd name="csY4" fmla="*/ 81528 h 100117"/>
                <a:gd name="csX5" fmla="*/ 39621 w 135316"/>
                <a:gd name="csY5" fmla="*/ 61549 h 100117"/>
                <a:gd name="csX6" fmla="*/ 43386 w 135316"/>
                <a:gd name="csY6" fmla="*/ 46675 h 100117"/>
                <a:gd name="csX7" fmla="*/ 52688 w 135316"/>
                <a:gd name="csY7" fmla="*/ 26696 h 100117"/>
                <a:gd name="csX8" fmla="*/ 85908 w 135316"/>
                <a:gd name="csY8" fmla="*/ 6273 h 100117"/>
                <a:gd name="csX9" fmla="*/ 98975 w 135316"/>
                <a:gd name="csY9" fmla="*/ 21812 h 100117"/>
                <a:gd name="csX10" fmla="*/ 85908 w 135316"/>
                <a:gd name="csY10" fmla="*/ 69096 h 100117"/>
                <a:gd name="csX11" fmla="*/ 82586 w 135316"/>
                <a:gd name="csY11" fmla="*/ 81084 h 100117"/>
                <a:gd name="csX12" fmla="*/ 103625 w 135316"/>
                <a:gd name="csY12" fmla="*/ 100175 h 100117"/>
                <a:gd name="csX13" fmla="*/ 135517 w 135316"/>
                <a:gd name="csY13" fmla="*/ 66210 h 100117"/>
                <a:gd name="csX14" fmla="*/ 131973 w 135316"/>
                <a:gd name="csY14" fmla="*/ 63325 h 100117"/>
                <a:gd name="csX15" fmla="*/ 127765 w 135316"/>
                <a:gd name="csY15" fmla="*/ 67098 h 100117"/>
                <a:gd name="csX16" fmla="*/ 104290 w 135316"/>
                <a:gd name="csY16" fmla="*/ 93959 h 100117"/>
                <a:gd name="csX17" fmla="*/ 98753 w 135316"/>
                <a:gd name="csY17" fmla="*/ 86190 h 100117"/>
                <a:gd name="csX18" fmla="*/ 103847 w 135316"/>
                <a:gd name="csY18" fmla="*/ 68208 h 100117"/>
                <a:gd name="csX19" fmla="*/ 115585 w 135316"/>
                <a:gd name="csY19" fmla="*/ 25364 h 100117"/>
                <a:gd name="csX20" fmla="*/ 86794 w 135316"/>
                <a:gd name="csY20" fmla="*/ 57 h 100117"/>
                <a:gd name="csX21" fmla="*/ 49366 w 135316"/>
                <a:gd name="csY21" fmla="*/ 20258 h 100117"/>
                <a:gd name="csX22" fmla="*/ 25669 w 135316"/>
                <a:gd name="csY22" fmla="*/ 57 h 100117"/>
                <a:gd name="csX23" fmla="*/ 8173 w 135316"/>
                <a:gd name="csY23" fmla="*/ 12045 h 100117"/>
                <a:gd name="csX24" fmla="*/ 200 w 135316"/>
                <a:gd name="csY24" fmla="*/ 34022 h 100117"/>
                <a:gd name="csX25" fmla="*/ 3965 w 135316"/>
                <a:gd name="csY25" fmla="*/ 36908 h 100117"/>
                <a:gd name="csX26" fmla="*/ 8837 w 135316"/>
                <a:gd name="csY26" fmla="*/ 30248 h 100117"/>
                <a:gd name="csX27" fmla="*/ 25005 w 135316"/>
                <a:gd name="csY27" fmla="*/ 6273 h 100117"/>
                <a:gd name="csX28" fmla="*/ 32313 w 135316"/>
                <a:gd name="csY28" fmla="*/ 17151 h 100117"/>
                <a:gd name="csX29" fmla="*/ 28769 w 135316"/>
                <a:gd name="csY29" fmla="*/ 35576 h 100117"/>
                <a:gd name="csX30" fmla="*/ 23897 w 135316"/>
                <a:gd name="csY30" fmla="*/ 55555 h 100117"/>
                <a:gd name="csX31" fmla="*/ 16810 w 135316"/>
                <a:gd name="csY31" fmla="*/ 83970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810" y="83970"/>
                  </a:moveTo>
                  <a:cubicBezTo>
                    <a:pt x="15924" y="86856"/>
                    <a:pt x="14596" y="92405"/>
                    <a:pt x="14596" y="93071"/>
                  </a:cubicBezTo>
                  <a:cubicBezTo>
                    <a:pt x="14596" y="97955"/>
                    <a:pt x="18582" y="100175"/>
                    <a:pt x="22125" y="100175"/>
                  </a:cubicBezTo>
                  <a:cubicBezTo>
                    <a:pt x="26112" y="100175"/>
                    <a:pt x="29655" y="97289"/>
                    <a:pt x="30763" y="95291"/>
                  </a:cubicBezTo>
                  <a:cubicBezTo>
                    <a:pt x="31870" y="93293"/>
                    <a:pt x="33642" y="86190"/>
                    <a:pt x="34749" y="81528"/>
                  </a:cubicBezTo>
                  <a:cubicBezTo>
                    <a:pt x="35856" y="77310"/>
                    <a:pt x="38293" y="67098"/>
                    <a:pt x="39621" y="61549"/>
                  </a:cubicBezTo>
                  <a:cubicBezTo>
                    <a:pt x="40950" y="56665"/>
                    <a:pt x="42279" y="51781"/>
                    <a:pt x="43386" y="46675"/>
                  </a:cubicBezTo>
                  <a:cubicBezTo>
                    <a:pt x="45822" y="37574"/>
                    <a:pt x="46265" y="35798"/>
                    <a:pt x="52688" y="26696"/>
                  </a:cubicBezTo>
                  <a:cubicBezTo>
                    <a:pt x="58889" y="17817"/>
                    <a:pt x="69298" y="6273"/>
                    <a:pt x="85908" y="6273"/>
                  </a:cubicBezTo>
                  <a:cubicBezTo>
                    <a:pt x="98753" y="6273"/>
                    <a:pt x="98975" y="17595"/>
                    <a:pt x="98975" y="21812"/>
                  </a:cubicBezTo>
                  <a:cubicBezTo>
                    <a:pt x="98975" y="35132"/>
                    <a:pt x="89452" y="59773"/>
                    <a:pt x="85908" y="69096"/>
                  </a:cubicBezTo>
                  <a:cubicBezTo>
                    <a:pt x="83472" y="75312"/>
                    <a:pt x="82586" y="77310"/>
                    <a:pt x="82586" y="81084"/>
                  </a:cubicBezTo>
                  <a:cubicBezTo>
                    <a:pt x="82586" y="92849"/>
                    <a:pt x="92331" y="100175"/>
                    <a:pt x="103625" y="100175"/>
                  </a:cubicBezTo>
                  <a:cubicBezTo>
                    <a:pt x="125772" y="100175"/>
                    <a:pt x="135517" y="69540"/>
                    <a:pt x="135517" y="66210"/>
                  </a:cubicBezTo>
                  <a:cubicBezTo>
                    <a:pt x="135517" y="63325"/>
                    <a:pt x="132638" y="63325"/>
                    <a:pt x="131973" y="63325"/>
                  </a:cubicBezTo>
                  <a:cubicBezTo>
                    <a:pt x="128873" y="63325"/>
                    <a:pt x="128651" y="64657"/>
                    <a:pt x="127765" y="67098"/>
                  </a:cubicBezTo>
                  <a:cubicBezTo>
                    <a:pt x="122672" y="84858"/>
                    <a:pt x="113148" y="93959"/>
                    <a:pt x="104290" y="93959"/>
                  </a:cubicBezTo>
                  <a:cubicBezTo>
                    <a:pt x="99639" y="93959"/>
                    <a:pt x="98753" y="90851"/>
                    <a:pt x="98753" y="86190"/>
                  </a:cubicBezTo>
                  <a:cubicBezTo>
                    <a:pt x="98753" y="81084"/>
                    <a:pt x="99860" y="78198"/>
                    <a:pt x="103847" y="68208"/>
                  </a:cubicBezTo>
                  <a:cubicBezTo>
                    <a:pt x="106504" y="61327"/>
                    <a:pt x="115585" y="37796"/>
                    <a:pt x="115585" y="25364"/>
                  </a:cubicBezTo>
                  <a:cubicBezTo>
                    <a:pt x="115585" y="3831"/>
                    <a:pt x="98532" y="57"/>
                    <a:pt x="86794" y="57"/>
                  </a:cubicBezTo>
                  <a:cubicBezTo>
                    <a:pt x="68412" y="57"/>
                    <a:pt x="56010" y="11379"/>
                    <a:pt x="49366" y="20258"/>
                  </a:cubicBezTo>
                  <a:cubicBezTo>
                    <a:pt x="47816" y="4941"/>
                    <a:pt x="34749" y="57"/>
                    <a:pt x="25669" y="57"/>
                  </a:cubicBezTo>
                  <a:cubicBezTo>
                    <a:pt x="16146" y="57"/>
                    <a:pt x="11052" y="6939"/>
                    <a:pt x="8173" y="12045"/>
                  </a:cubicBezTo>
                  <a:cubicBezTo>
                    <a:pt x="3301" y="20258"/>
                    <a:pt x="200" y="32912"/>
                    <a:pt x="200" y="34022"/>
                  </a:cubicBezTo>
                  <a:cubicBezTo>
                    <a:pt x="200" y="36908"/>
                    <a:pt x="3301" y="36908"/>
                    <a:pt x="3965" y="36908"/>
                  </a:cubicBezTo>
                  <a:cubicBezTo>
                    <a:pt x="7066" y="36908"/>
                    <a:pt x="7287" y="36242"/>
                    <a:pt x="8837" y="30248"/>
                  </a:cubicBezTo>
                  <a:cubicBezTo>
                    <a:pt x="12159" y="17151"/>
                    <a:pt x="16367" y="6273"/>
                    <a:pt x="25005" y="6273"/>
                  </a:cubicBezTo>
                  <a:cubicBezTo>
                    <a:pt x="30763" y="6273"/>
                    <a:pt x="32313" y="11157"/>
                    <a:pt x="32313" y="17151"/>
                  </a:cubicBezTo>
                  <a:cubicBezTo>
                    <a:pt x="32313" y="21368"/>
                    <a:pt x="30320" y="29582"/>
                    <a:pt x="28769" y="35576"/>
                  </a:cubicBezTo>
                  <a:cubicBezTo>
                    <a:pt x="27219" y="41570"/>
                    <a:pt x="25005" y="50671"/>
                    <a:pt x="23897" y="55555"/>
                  </a:cubicBezTo>
                  <a:lnTo>
                    <a:pt x="16810" y="83970"/>
                  </a:lnTo>
                  <a:close/>
                </a:path>
              </a:pathLst>
            </a:custGeom>
            <a:grpFill/>
            <a:ln w="31750" cap="flat">
              <a:noFill/>
              <a:prstDash val="solid"/>
              <a:miter/>
            </a:ln>
          </p:spPr>
          <p:txBody>
            <a:bodyPr/>
            <a:lstStyle/>
            <a:p>
              <a:endParaRPr lang="es-CO"/>
            </a:p>
          </p:txBody>
        </p:sp>
        <p:sp>
          <p:nvSpPr>
            <p:cNvPr id="30" name="Freeform: Shape 29">
              <a:extLst>
                <a:ext uri="{FF2B5EF4-FFF2-40B4-BE49-F238E27FC236}">
                  <a16:creationId xmlns:a16="http://schemas.microsoft.com/office/drawing/2014/main" id="{A702CE8B-5FA4-4AC6-4BDE-FDF0B7FD0554}"/>
                </a:ext>
              </a:extLst>
            </p:cNvPr>
            <p:cNvSpPr/>
            <p:nvPr>
              <p:custDataLst>
                <p:tags r:id="rId24"/>
              </p:custDataLst>
            </p:nvPr>
          </p:nvSpPr>
          <p:spPr>
            <a:xfrm>
              <a:off x="9326645" y="4552178"/>
              <a:ext cx="149711" cy="10877"/>
            </a:xfrm>
            <a:custGeom>
              <a:avLst/>
              <a:gdLst>
                <a:gd name="csX0" fmla="*/ 141058 w 149711"/>
                <a:gd name="csY0" fmla="*/ 10935 h 10877"/>
                <a:gd name="csX1" fmla="*/ 149917 w 149711"/>
                <a:gd name="csY1" fmla="*/ 5607 h 10877"/>
                <a:gd name="csX2" fmla="*/ 141058 w 149711"/>
                <a:gd name="csY2" fmla="*/ 57 h 10877"/>
                <a:gd name="csX3" fmla="*/ 9064 w 149711"/>
                <a:gd name="csY3" fmla="*/ 57 h 10877"/>
                <a:gd name="csX4" fmla="*/ 205 w 149711"/>
                <a:gd name="csY4" fmla="*/ 5385 h 10877"/>
                <a:gd name="csX5" fmla="*/ 9064 w 149711"/>
                <a:gd name="csY5" fmla="*/ 10935 h 10877"/>
                <a:gd name="csX6" fmla="*/ 141058 w 149711"/>
                <a:gd name="csY6" fmla="*/ 10935 h 10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9711" h="10877">
                  <a:moveTo>
                    <a:pt x="141058" y="10935"/>
                  </a:moveTo>
                  <a:cubicBezTo>
                    <a:pt x="144602" y="10935"/>
                    <a:pt x="149917" y="10935"/>
                    <a:pt x="149917" y="5607"/>
                  </a:cubicBezTo>
                  <a:cubicBezTo>
                    <a:pt x="149917" y="57"/>
                    <a:pt x="144823" y="57"/>
                    <a:pt x="141058" y="57"/>
                  </a:cubicBezTo>
                  <a:lnTo>
                    <a:pt x="9064" y="57"/>
                  </a:lnTo>
                  <a:cubicBezTo>
                    <a:pt x="5520" y="57"/>
                    <a:pt x="205" y="57"/>
                    <a:pt x="205" y="5385"/>
                  </a:cubicBezTo>
                  <a:cubicBezTo>
                    <a:pt x="205" y="10935"/>
                    <a:pt x="5299" y="10935"/>
                    <a:pt x="9064" y="10935"/>
                  </a:cubicBezTo>
                  <a:lnTo>
                    <a:pt x="141058" y="10935"/>
                  </a:lnTo>
                  <a:close/>
                </a:path>
              </a:pathLst>
            </a:custGeom>
            <a:grpFill/>
            <a:ln w="31750" cap="flat">
              <a:noFill/>
              <a:prstDash val="solid"/>
              <a:miter/>
            </a:ln>
          </p:spPr>
          <p:txBody>
            <a:bodyPr/>
            <a:lstStyle/>
            <a:p>
              <a:endParaRPr lang="es-CO"/>
            </a:p>
          </p:txBody>
        </p:sp>
        <p:sp>
          <p:nvSpPr>
            <p:cNvPr id="31" name="Freeform: Shape 30">
              <a:extLst>
                <a:ext uri="{FF2B5EF4-FFF2-40B4-BE49-F238E27FC236}">
                  <a16:creationId xmlns:a16="http://schemas.microsoft.com/office/drawing/2014/main" id="{39F05119-FB2F-3F34-0F1B-C638DD03BDB5}"/>
                </a:ext>
              </a:extLst>
            </p:cNvPr>
            <p:cNvSpPr/>
            <p:nvPr>
              <p:custDataLst>
                <p:tags r:id="rId25"/>
              </p:custDataLst>
            </p:nvPr>
          </p:nvSpPr>
          <p:spPr>
            <a:xfrm>
              <a:off x="9524606" y="4465823"/>
              <a:ext cx="80614" cy="147401"/>
            </a:xfrm>
            <a:custGeom>
              <a:avLst/>
              <a:gdLst>
                <a:gd name="csX0" fmla="*/ 50263 w 80614"/>
                <a:gd name="csY0" fmla="*/ 6273 h 147401"/>
                <a:gd name="csX1" fmla="*/ 43619 w 80614"/>
                <a:gd name="csY1" fmla="*/ 57 h 147401"/>
                <a:gd name="csX2" fmla="*/ 211 w 80614"/>
                <a:gd name="csY2" fmla="*/ 14265 h 147401"/>
                <a:gd name="csX3" fmla="*/ 211 w 80614"/>
                <a:gd name="csY3" fmla="*/ 22256 h 147401"/>
                <a:gd name="csX4" fmla="*/ 32324 w 80614"/>
                <a:gd name="csY4" fmla="*/ 16041 h 147401"/>
                <a:gd name="csX5" fmla="*/ 32324 w 80614"/>
                <a:gd name="csY5" fmla="*/ 129256 h 147401"/>
                <a:gd name="csX6" fmla="*/ 10177 w 80614"/>
                <a:gd name="csY6" fmla="*/ 139467 h 147401"/>
                <a:gd name="csX7" fmla="*/ 1762 w 80614"/>
                <a:gd name="csY7" fmla="*/ 139467 h 147401"/>
                <a:gd name="csX8" fmla="*/ 1762 w 80614"/>
                <a:gd name="csY8" fmla="*/ 147459 h 147401"/>
                <a:gd name="csX9" fmla="*/ 41183 w 80614"/>
                <a:gd name="csY9" fmla="*/ 146571 h 147401"/>
                <a:gd name="csX10" fmla="*/ 80825 w 80614"/>
                <a:gd name="csY10" fmla="*/ 147459 h 147401"/>
                <a:gd name="csX11" fmla="*/ 80825 w 80614"/>
                <a:gd name="csY11" fmla="*/ 139467 h 147401"/>
                <a:gd name="csX12" fmla="*/ 72410 w 80614"/>
                <a:gd name="csY12" fmla="*/ 139467 h 147401"/>
                <a:gd name="csX13" fmla="*/ 50263 w 80614"/>
                <a:gd name="csY13" fmla="*/ 129256 h 147401"/>
                <a:gd name="csX14" fmla="*/ 50263 w 80614"/>
                <a:gd name="csY14" fmla="*/ 6273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263" y="6273"/>
                  </a:moveTo>
                  <a:cubicBezTo>
                    <a:pt x="50263" y="279"/>
                    <a:pt x="49820" y="57"/>
                    <a:pt x="43619" y="57"/>
                  </a:cubicBezTo>
                  <a:cubicBezTo>
                    <a:pt x="29445" y="14043"/>
                    <a:pt x="9291" y="14265"/>
                    <a:pt x="211" y="14265"/>
                  </a:cubicBezTo>
                  <a:lnTo>
                    <a:pt x="211" y="22256"/>
                  </a:lnTo>
                  <a:cubicBezTo>
                    <a:pt x="5527" y="22256"/>
                    <a:pt x="20143" y="22256"/>
                    <a:pt x="32324" y="16041"/>
                  </a:cubicBezTo>
                  <a:lnTo>
                    <a:pt x="32324" y="129256"/>
                  </a:lnTo>
                  <a:cubicBezTo>
                    <a:pt x="32324" y="136581"/>
                    <a:pt x="32324" y="139467"/>
                    <a:pt x="10177" y="139467"/>
                  </a:cubicBezTo>
                  <a:lnTo>
                    <a:pt x="1762" y="139467"/>
                  </a:lnTo>
                  <a:lnTo>
                    <a:pt x="1762" y="147459"/>
                  </a:lnTo>
                  <a:cubicBezTo>
                    <a:pt x="5748" y="147237"/>
                    <a:pt x="32989" y="146571"/>
                    <a:pt x="41183" y="146571"/>
                  </a:cubicBezTo>
                  <a:cubicBezTo>
                    <a:pt x="48048" y="146571"/>
                    <a:pt x="75953" y="147237"/>
                    <a:pt x="80825" y="147459"/>
                  </a:cubicBezTo>
                  <a:lnTo>
                    <a:pt x="80825" y="139467"/>
                  </a:lnTo>
                  <a:lnTo>
                    <a:pt x="72410" y="139467"/>
                  </a:lnTo>
                  <a:cubicBezTo>
                    <a:pt x="50263" y="139467"/>
                    <a:pt x="50263" y="136581"/>
                    <a:pt x="50263" y="129256"/>
                  </a:cubicBezTo>
                  <a:lnTo>
                    <a:pt x="50263" y="6273"/>
                  </a:lnTo>
                  <a:close/>
                </a:path>
              </a:pathLst>
            </a:custGeom>
            <a:grpFill/>
            <a:ln w="31750" cap="flat">
              <a:noFill/>
              <a:prstDash val="solid"/>
              <a:miter/>
            </a:ln>
          </p:spPr>
          <p:txBody>
            <a:bodyPr/>
            <a:lstStyle/>
            <a:p>
              <a:endParaRPr lang="es-CO"/>
            </a:p>
          </p:txBody>
        </p:sp>
        <p:sp>
          <p:nvSpPr>
            <p:cNvPr id="32" name="Freeform: Shape 31">
              <a:extLst>
                <a:ext uri="{FF2B5EF4-FFF2-40B4-BE49-F238E27FC236}">
                  <a16:creationId xmlns:a16="http://schemas.microsoft.com/office/drawing/2014/main" id="{8FA4701C-4703-B697-5837-6A8E4CDA3191}"/>
                </a:ext>
              </a:extLst>
            </p:cNvPr>
            <p:cNvSpPr/>
            <p:nvPr>
              <p:custDataLst>
                <p:tags r:id="rId26"/>
              </p:custDataLst>
            </p:nvPr>
          </p:nvSpPr>
          <p:spPr>
            <a:xfrm>
              <a:off x="9658850" y="4588138"/>
              <a:ext cx="116428" cy="143659"/>
            </a:xfrm>
            <a:custGeom>
              <a:avLst/>
              <a:gdLst>
                <a:gd name="csX0" fmla="*/ 107469 w 116428"/>
                <a:gd name="csY0" fmla="*/ 21626 h 143659"/>
                <a:gd name="csX1" fmla="*/ 92283 w 116428"/>
                <a:gd name="csY1" fmla="*/ 35896 h 143659"/>
                <a:gd name="csX2" fmla="*/ 102091 w 116428"/>
                <a:gd name="csY2" fmla="*/ 45093 h 143659"/>
                <a:gd name="csX3" fmla="*/ 116644 w 116428"/>
                <a:gd name="csY3" fmla="*/ 27334 h 143659"/>
                <a:gd name="csX4" fmla="*/ 78995 w 116428"/>
                <a:gd name="csY4" fmla="*/ 61 h 143659"/>
                <a:gd name="csX5" fmla="*/ 25526 w 116428"/>
                <a:gd name="csY5" fmla="*/ 46362 h 143659"/>
                <a:gd name="csX6" fmla="*/ 58114 w 116428"/>
                <a:gd name="csY6" fmla="*/ 77758 h 143659"/>
                <a:gd name="csX7" fmla="*/ 91017 w 116428"/>
                <a:gd name="csY7" fmla="*/ 101859 h 143659"/>
                <a:gd name="csX8" fmla="*/ 45775 w 116428"/>
                <a:gd name="csY8" fmla="*/ 136744 h 143659"/>
                <a:gd name="csX9" fmla="*/ 9707 w 116428"/>
                <a:gd name="csY9" fmla="*/ 119936 h 143659"/>
                <a:gd name="csX10" fmla="*/ 29639 w 116428"/>
                <a:gd name="csY10" fmla="*/ 103128 h 143659"/>
                <a:gd name="csX11" fmla="*/ 17933 w 116428"/>
                <a:gd name="csY11" fmla="*/ 92028 h 143659"/>
                <a:gd name="csX12" fmla="*/ 216 w 116428"/>
                <a:gd name="csY12" fmla="*/ 112959 h 143659"/>
                <a:gd name="csX13" fmla="*/ 45458 w 116428"/>
                <a:gd name="csY13" fmla="*/ 143720 h 143659"/>
                <a:gd name="csX14" fmla="*/ 109051 w 116428"/>
                <a:gd name="csY14" fmla="*/ 91077 h 143659"/>
                <a:gd name="csX15" fmla="*/ 99243 w 116428"/>
                <a:gd name="csY15" fmla="*/ 67927 h 143659"/>
                <a:gd name="csX16" fmla="*/ 67605 w 116428"/>
                <a:gd name="csY16" fmla="*/ 54607 h 143659"/>
                <a:gd name="csX17" fmla="*/ 43560 w 116428"/>
                <a:gd name="csY17" fmla="*/ 35579 h 143659"/>
                <a:gd name="csX18" fmla="*/ 78995 w 116428"/>
                <a:gd name="csY18" fmla="*/ 7038 h 143659"/>
                <a:gd name="csX19" fmla="*/ 107469 w 116428"/>
                <a:gd name="csY19" fmla="*/ 21626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469" y="21626"/>
                  </a:moveTo>
                  <a:cubicBezTo>
                    <a:pt x="98611" y="21943"/>
                    <a:pt x="92283" y="28920"/>
                    <a:pt x="92283" y="35896"/>
                  </a:cubicBezTo>
                  <a:cubicBezTo>
                    <a:pt x="92283" y="40336"/>
                    <a:pt x="95130" y="45093"/>
                    <a:pt x="102091" y="45093"/>
                  </a:cubicBezTo>
                  <a:cubicBezTo>
                    <a:pt x="109051" y="45093"/>
                    <a:pt x="116644" y="39702"/>
                    <a:pt x="116644" y="27334"/>
                  </a:cubicBezTo>
                  <a:cubicBezTo>
                    <a:pt x="116644" y="13063"/>
                    <a:pt x="103040" y="61"/>
                    <a:pt x="78995" y="61"/>
                  </a:cubicBezTo>
                  <a:cubicBezTo>
                    <a:pt x="37232" y="61"/>
                    <a:pt x="25526" y="32408"/>
                    <a:pt x="25526" y="46362"/>
                  </a:cubicBezTo>
                  <a:cubicBezTo>
                    <a:pt x="25526" y="71098"/>
                    <a:pt x="48939" y="75855"/>
                    <a:pt x="58114" y="77758"/>
                  </a:cubicBezTo>
                  <a:cubicBezTo>
                    <a:pt x="74566" y="80929"/>
                    <a:pt x="91017" y="84417"/>
                    <a:pt x="91017" y="101859"/>
                  </a:cubicBezTo>
                  <a:cubicBezTo>
                    <a:pt x="91017" y="110105"/>
                    <a:pt x="83741" y="136744"/>
                    <a:pt x="45775" y="136744"/>
                  </a:cubicBezTo>
                  <a:cubicBezTo>
                    <a:pt x="41345" y="136744"/>
                    <a:pt x="16984" y="136744"/>
                    <a:pt x="9707" y="119936"/>
                  </a:cubicBezTo>
                  <a:cubicBezTo>
                    <a:pt x="21730" y="121521"/>
                    <a:pt x="29639" y="112007"/>
                    <a:pt x="29639" y="103128"/>
                  </a:cubicBezTo>
                  <a:cubicBezTo>
                    <a:pt x="29639" y="95834"/>
                    <a:pt x="24577" y="92028"/>
                    <a:pt x="17933" y="92028"/>
                  </a:cubicBezTo>
                  <a:cubicBezTo>
                    <a:pt x="9707" y="92028"/>
                    <a:pt x="216" y="98688"/>
                    <a:pt x="216" y="112959"/>
                  </a:cubicBezTo>
                  <a:cubicBezTo>
                    <a:pt x="216" y="131035"/>
                    <a:pt x="18250" y="143720"/>
                    <a:pt x="45458" y="143720"/>
                  </a:cubicBezTo>
                  <a:cubicBezTo>
                    <a:pt x="96712" y="143720"/>
                    <a:pt x="109051" y="105348"/>
                    <a:pt x="109051" y="91077"/>
                  </a:cubicBezTo>
                  <a:cubicBezTo>
                    <a:pt x="109051" y="79660"/>
                    <a:pt x="103040" y="71732"/>
                    <a:pt x="99243" y="67927"/>
                  </a:cubicBezTo>
                  <a:cubicBezTo>
                    <a:pt x="90701" y="59047"/>
                    <a:pt x="81526" y="57461"/>
                    <a:pt x="67605" y="54607"/>
                  </a:cubicBezTo>
                  <a:cubicBezTo>
                    <a:pt x="56215" y="52070"/>
                    <a:pt x="43560" y="49850"/>
                    <a:pt x="43560" y="35579"/>
                  </a:cubicBezTo>
                  <a:cubicBezTo>
                    <a:pt x="43560" y="26383"/>
                    <a:pt x="51153" y="7038"/>
                    <a:pt x="78995" y="7038"/>
                  </a:cubicBezTo>
                  <a:cubicBezTo>
                    <a:pt x="86904" y="7038"/>
                    <a:pt x="102724" y="9258"/>
                    <a:pt x="107469" y="21626"/>
                  </a:cubicBezTo>
                  <a:close/>
                </a:path>
              </a:pathLst>
            </a:custGeom>
            <a:grpFill/>
            <a:ln w="31750" cap="flat">
              <a:noFill/>
              <a:prstDash val="solid"/>
              <a:miter/>
            </a:ln>
          </p:spPr>
          <p:txBody>
            <a:bodyPr/>
            <a:lstStyle/>
            <a:p>
              <a:endParaRPr lang="es-CO"/>
            </a:p>
          </p:txBody>
        </p:sp>
        <p:sp>
          <p:nvSpPr>
            <p:cNvPr id="33" name="Freeform: Shape 32">
              <a:extLst>
                <a:ext uri="{FF2B5EF4-FFF2-40B4-BE49-F238E27FC236}">
                  <a16:creationId xmlns:a16="http://schemas.microsoft.com/office/drawing/2014/main" id="{33A52BB3-561A-3380-59B9-408BD826DB26}"/>
                </a:ext>
              </a:extLst>
            </p:cNvPr>
            <p:cNvSpPr/>
            <p:nvPr>
              <p:custDataLst>
                <p:tags r:id="rId27"/>
              </p:custDataLst>
            </p:nvPr>
          </p:nvSpPr>
          <p:spPr>
            <a:xfrm>
              <a:off x="9878725" y="4543422"/>
              <a:ext cx="210393" cy="211207"/>
            </a:xfrm>
            <a:custGeom>
              <a:avLst/>
              <a:gdLst>
                <a:gd name="csX0" fmla="*/ 111905 w 210393"/>
                <a:gd name="csY0" fmla="*/ 112007 h 211207"/>
                <a:gd name="csX1" fmla="*/ 200176 w 210393"/>
                <a:gd name="csY1" fmla="*/ 112007 h 211207"/>
                <a:gd name="csX2" fmla="*/ 210617 w 210393"/>
                <a:gd name="csY2" fmla="*/ 105665 h 211207"/>
                <a:gd name="csX3" fmla="*/ 200176 w 210393"/>
                <a:gd name="csY3" fmla="*/ 99322 h 211207"/>
                <a:gd name="csX4" fmla="*/ 111905 w 210393"/>
                <a:gd name="csY4" fmla="*/ 99322 h 211207"/>
                <a:gd name="csX5" fmla="*/ 111905 w 210393"/>
                <a:gd name="csY5" fmla="*/ 10526 h 211207"/>
                <a:gd name="csX6" fmla="*/ 105578 w 210393"/>
                <a:gd name="csY6" fmla="*/ 61 h 211207"/>
                <a:gd name="csX7" fmla="*/ 99250 w 210393"/>
                <a:gd name="csY7" fmla="*/ 10526 h 211207"/>
                <a:gd name="csX8" fmla="*/ 99250 w 210393"/>
                <a:gd name="csY8" fmla="*/ 99322 h 211207"/>
                <a:gd name="csX9" fmla="*/ 10663 w 210393"/>
                <a:gd name="csY9" fmla="*/ 99322 h 211207"/>
                <a:gd name="csX10" fmla="*/ 223 w 210393"/>
                <a:gd name="csY10" fmla="*/ 105665 h 211207"/>
                <a:gd name="csX11" fmla="*/ 10663 w 210393"/>
                <a:gd name="csY11" fmla="*/ 112007 h 211207"/>
                <a:gd name="csX12" fmla="*/ 99250 w 210393"/>
                <a:gd name="csY12" fmla="*/ 112007 h 211207"/>
                <a:gd name="csX13" fmla="*/ 99250 w 210393"/>
                <a:gd name="csY13" fmla="*/ 200804 h 211207"/>
                <a:gd name="csX14" fmla="*/ 105578 w 210393"/>
                <a:gd name="csY14" fmla="*/ 211269 h 211207"/>
                <a:gd name="csX15" fmla="*/ 111905 w 210393"/>
                <a:gd name="csY15" fmla="*/ 200804 h 211207"/>
                <a:gd name="csX16" fmla="*/ 111905 w 210393"/>
                <a:gd name="csY16" fmla="*/ 112007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905" y="112007"/>
                  </a:moveTo>
                  <a:lnTo>
                    <a:pt x="200176" y="112007"/>
                  </a:lnTo>
                  <a:cubicBezTo>
                    <a:pt x="204605" y="112007"/>
                    <a:pt x="210617" y="112007"/>
                    <a:pt x="210617" y="105665"/>
                  </a:cubicBezTo>
                  <a:cubicBezTo>
                    <a:pt x="210617" y="99322"/>
                    <a:pt x="204605" y="99322"/>
                    <a:pt x="200176" y="99322"/>
                  </a:cubicBezTo>
                  <a:lnTo>
                    <a:pt x="111905" y="99322"/>
                  </a:lnTo>
                  <a:lnTo>
                    <a:pt x="111905" y="10526"/>
                  </a:lnTo>
                  <a:cubicBezTo>
                    <a:pt x="111905" y="6086"/>
                    <a:pt x="111905" y="61"/>
                    <a:pt x="105578" y="61"/>
                  </a:cubicBezTo>
                  <a:cubicBezTo>
                    <a:pt x="99250" y="61"/>
                    <a:pt x="99250" y="6086"/>
                    <a:pt x="99250" y="10526"/>
                  </a:cubicBezTo>
                  <a:lnTo>
                    <a:pt x="99250" y="99322"/>
                  </a:lnTo>
                  <a:lnTo>
                    <a:pt x="10663" y="99322"/>
                  </a:lnTo>
                  <a:cubicBezTo>
                    <a:pt x="6234" y="99322"/>
                    <a:pt x="223" y="99322"/>
                    <a:pt x="223" y="105665"/>
                  </a:cubicBezTo>
                  <a:cubicBezTo>
                    <a:pt x="223" y="112007"/>
                    <a:pt x="6234" y="112007"/>
                    <a:pt x="10663" y="112007"/>
                  </a:cubicBezTo>
                  <a:lnTo>
                    <a:pt x="99250" y="112007"/>
                  </a:lnTo>
                  <a:lnTo>
                    <a:pt x="99250" y="200804"/>
                  </a:lnTo>
                  <a:cubicBezTo>
                    <a:pt x="99250" y="205243"/>
                    <a:pt x="99250" y="211269"/>
                    <a:pt x="105578" y="211269"/>
                  </a:cubicBezTo>
                  <a:cubicBezTo>
                    <a:pt x="111905" y="211269"/>
                    <a:pt x="111905" y="205243"/>
                    <a:pt x="111905" y="200804"/>
                  </a:cubicBezTo>
                  <a:lnTo>
                    <a:pt x="111905" y="112007"/>
                  </a:lnTo>
                  <a:close/>
                </a:path>
              </a:pathLst>
            </a:custGeom>
            <a:grpFill/>
            <a:ln w="31750" cap="flat">
              <a:noFill/>
              <a:prstDash val="solid"/>
              <a:miter/>
            </a:ln>
          </p:spPr>
          <p:txBody>
            <a:bodyPr/>
            <a:lstStyle/>
            <a:p>
              <a:endParaRPr lang="es-CO"/>
            </a:p>
          </p:txBody>
        </p:sp>
        <p:sp>
          <p:nvSpPr>
            <p:cNvPr id="34" name="Freeform: Shape 33">
              <a:extLst>
                <a:ext uri="{FF2B5EF4-FFF2-40B4-BE49-F238E27FC236}">
                  <a16:creationId xmlns:a16="http://schemas.microsoft.com/office/drawing/2014/main" id="{5CD27C12-FC78-9172-A36A-79A9AC82FCFD}"/>
                </a:ext>
              </a:extLst>
            </p:cNvPr>
            <p:cNvSpPr/>
            <p:nvPr>
              <p:custDataLst>
                <p:tags r:id="rId28"/>
              </p:custDataLst>
            </p:nvPr>
          </p:nvSpPr>
          <p:spPr>
            <a:xfrm>
              <a:off x="10192259" y="4508221"/>
              <a:ext cx="116428" cy="223576"/>
            </a:xfrm>
            <a:custGeom>
              <a:avLst/>
              <a:gdLst>
                <a:gd name="csX0" fmla="*/ 60978 w 116428"/>
                <a:gd name="csY0" fmla="*/ 3549 h 223576"/>
                <a:gd name="csX1" fmla="*/ 56865 w 116428"/>
                <a:gd name="csY1" fmla="*/ 61 h 223576"/>
                <a:gd name="csX2" fmla="*/ 18266 w 116428"/>
                <a:gd name="csY2" fmla="*/ 3232 h 223576"/>
                <a:gd name="csX3" fmla="*/ 12255 w 116428"/>
                <a:gd name="csY3" fmla="*/ 9575 h 223576"/>
                <a:gd name="csX4" fmla="*/ 19848 w 116428"/>
                <a:gd name="csY4" fmla="*/ 13380 h 223576"/>
                <a:gd name="csX5" fmla="*/ 35667 w 116428"/>
                <a:gd name="csY5" fmla="*/ 18772 h 223576"/>
                <a:gd name="csX6" fmla="*/ 31238 w 116428"/>
                <a:gd name="csY6" fmla="*/ 38434 h 223576"/>
                <a:gd name="csX7" fmla="*/ 5295 w 116428"/>
                <a:gd name="csY7" fmla="*/ 141818 h 223576"/>
                <a:gd name="csX8" fmla="*/ 233 w 116428"/>
                <a:gd name="csY8" fmla="*/ 173848 h 223576"/>
                <a:gd name="csX9" fmla="*/ 40413 w 116428"/>
                <a:gd name="csY9" fmla="*/ 223637 h 223576"/>
                <a:gd name="csX10" fmla="*/ 116661 w 116428"/>
                <a:gd name="csY10" fmla="*/ 130718 h 223576"/>
                <a:gd name="csX11" fmla="*/ 74582 w 116428"/>
                <a:gd name="csY11" fmla="*/ 79977 h 223576"/>
                <a:gd name="csX12" fmla="*/ 37566 w 116428"/>
                <a:gd name="csY12" fmla="*/ 99005 h 223576"/>
                <a:gd name="csX13" fmla="*/ 60978 w 116428"/>
                <a:gd name="csY13" fmla="*/ 3549 h 223576"/>
                <a:gd name="csX14" fmla="*/ 31238 w 116428"/>
                <a:gd name="csY14" fmla="*/ 123424 h 223576"/>
                <a:gd name="csX15" fmla="*/ 35984 w 116428"/>
                <a:gd name="csY15" fmla="*/ 112325 h 223576"/>
                <a:gd name="csX16" fmla="*/ 73950 w 116428"/>
                <a:gd name="csY16" fmla="*/ 86954 h 223576"/>
                <a:gd name="csX17" fmla="*/ 93882 w 116428"/>
                <a:gd name="csY17" fmla="*/ 116764 h 223576"/>
                <a:gd name="csX18" fmla="*/ 77746 w 116428"/>
                <a:gd name="csY18" fmla="*/ 183996 h 223576"/>
                <a:gd name="csX19" fmla="*/ 40413 w 116428"/>
                <a:gd name="csY19" fmla="*/ 216660 h 223576"/>
                <a:gd name="csX20" fmla="*/ 19216 w 116428"/>
                <a:gd name="csY20" fmla="*/ 184630 h 223576"/>
                <a:gd name="csX21" fmla="*/ 24278 w 116428"/>
                <a:gd name="csY21" fmla="*/ 152600 h 223576"/>
                <a:gd name="csX22" fmla="*/ 31238 w 116428"/>
                <a:gd name="csY22" fmla="*/ 123424 h 223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16428" h="223576">
                  <a:moveTo>
                    <a:pt x="60978" y="3549"/>
                  </a:moveTo>
                  <a:cubicBezTo>
                    <a:pt x="60978" y="3232"/>
                    <a:pt x="60978" y="61"/>
                    <a:pt x="56865" y="61"/>
                  </a:cubicBezTo>
                  <a:cubicBezTo>
                    <a:pt x="49588" y="61"/>
                    <a:pt x="26492" y="2598"/>
                    <a:pt x="18266" y="3232"/>
                  </a:cubicBezTo>
                  <a:cubicBezTo>
                    <a:pt x="15735" y="3549"/>
                    <a:pt x="12255" y="3866"/>
                    <a:pt x="12255" y="9575"/>
                  </a:cubicBezTo>
                  <a:cubicBezTo>
                    <a:pt x="12255" y="13380"/>
                    <a:pt x="15103" y="13380"/>
                    <a:pt x="19848" y="13380"/>
                  </a:cubicBezTo>
                  <a:cubicBezTo>
                    <a:pt x="35035" y="13380"/>
                    <a:pt x="35667" y="15600"/>
                    <a:pt x="35667" y="18772"/>
                  </a:cubicBezTo>
                  <a:cubicBezTo>
                    <a:pt x="35667" y="20991"/>
                    <a:pt x="32820" y="31774"/>
                    <a:pt x="31238" y="38434"/>
                  </a:cubicBezTo>
                  <a:lnTo>
                    <a:pt x="5295" y="141818"/>
                  </a:lnTo>
                  <a:cubicBezTo>
                    <a:pt x="1498" y="157674"/>
                    <a:pt x="233" y="162748"/>
                    <a:pt x="233" y="173848"/>
                  </a:cubicBezTo>
                  <a:cubicBezTo>
                    <a:pt x="233" y="203975"/>
                    <a:pt x="17001" y="223637"/>
                    <a:pt x="40413" y="223637"/>
                  </a:cubicBezTo>
                  <a:cubicBezTo>
                    <a:pt x="77746" y="223637"/>
                    <a:pt x="116661" y="176385"/>
                    <a:pt x="116661" y="130718"/>
                  </a:cubicBezTo>
                  <a:cubicBezTo>
                    <a:pt x="116661" y="101859"/>
                    <a:pt x="99893" y="79977"/>
                    <a:pt x="74582" y="79977"/>
                  </a:cubicBezTo>
                  <a:cubicBezTo>
                    <a:pt x="60029" y="79977"/>
                    <a:pt x="47057" y="89174"/>
                    <a:pt x="37566" y="99005"/>
                  </a:cubicBezTo>
                  <a:lnTo>
                    <a:pt x="60978" y="3549"/>
                  </a:lnTo>
                  <a:close/>
                  <a:moveTo>
                    <a:pt x="31238" y="123424"/>
                  </a:moveTo>
                  <a:cubicBezTo>
                    <a:pt x="33136" y="116447"/>
                    <a:pt x="33136" y="115813"/>
                    <a:pt x="35984" y="112325"/>
                  </a:cubicBezTo>
                  <a:cubicBezTo>
                    <a:pt x="51487" y="91711"/>
                    <a:pt x="65724" y="86954"/>
                    <a:pt x="73950" y="86954"/>
                  </a:cubicBezTo>
                  <a:cubicBezTo>
                    <a:pt x="85339" y="86954"/>
                    <a:pt x="93882" y="96468"/>
                    <a:pt x="93882" y="116764"/>
                  </a:cubicBezTo>
                  <a:cubicBezTo>
                    <a:pt x="93882" y="135475"/>
                    <a:pt x="83441" y="171945"/>
                    <a:pt x="77746" y="183996"/>
                  </a:cubicBezTo>
                  <a:cubicBezTo>
                    <a:pt x="67306" y="205243"/>
                    <a:pt x="52752" y="216660"/>
                    <a:pt x="40413" y="216660"/>
                  </a:cubicBezTo>
                  <a:cubicBezTo>
                    <a:pt x="29656" y="216660"/>
                    <a:pt x="19216" y="208098"/>
                    <a:pt x="19216" y="184630"/>
                  </a:cubicBezTo>
                  <a:cubicBezTo>
                    <a:pt x="19216" y="178605"/>
                    <a:pt x="19216" y="172579"/>
                    <a:pt x="24278" y="152600"/>
                  </a:cubicBezTo>
                  <a:lnTo>
                    <a:pt x="31238" y="123424"/>
                  </a:lnTo>
                  <a:close/>
                </a:path>
              </a:pathLst>
            </a:custGeom>
            <a:grpFill/>
            <a:ln w="31750" cap="flat">
              <a:noFill/>
              <a:prstDash val="solid"/>
              <a:miter/>
            </a:ln>
          </p:spPr>
          <p:txBody>
            <a:bodyPr/>
            <a:lstStyle/>
            <a:p>
              <a:endParaRPr lang="es-CO"/>
            </a:p>
          </p:txBody>
        </p:sp>
        <p:sp>
          <p:nvSpPr>
            <p:cNvPr id="35" name="Freeform: Shape 34">
              <a:extLst>
                <a:ext uri="{FF2B5EF4-FFF2-40B4-BE49-F238E27FC236}">
                  <a16:creationId xmlns:a16="http://schemas.microsoft.com/office/drawing/2014/main" id="{659C3D89-5861-5D1D-A1F9-A850B99DCB55}"/>
                </a:ext>
              </a:extLst>
            </p:cNvPr>
            <p:cNvSpPr/>
            <p:nvPr>
              <p:custDataLst>
                <p:tags r:id="rId29"/>
              </p:custDataLst>
            </p:nvPr>
          </p:nvSpPr>
          <p:spPr>
            <a:xfrm>
              <a:off x="10323579" y="4677980"/>
              <a:ext cx="135316" cy="100117"/>
            </a:xfrm>
            <a:custGeom>
              <a:avLst/>
              <a:gdLst>
                <a:gd name="csX0" fmla="*/ 16847 w 135316"/>
                <a:gd name="csY0" fmla="*/ 83975 h 100117"/>
                <a:gd name="csX1" fmla="*/ 14632 w 135316"/>
                <a:gd name="csY1" fmla="*/ 93076 h 100117"/>
                <a:gd name="csX2" fmla="*/ 22162 w 135316"/>
                <a:gd name="csY2" fmla="*/ 100180 h 100117"/>
                <a:gd name="csX3" fmla="*/ 30799 w 135316"/>
                <a:gd name="csY3" fmla="*/ 95296 h 100117"/>
                <a:gd name="csX4" fmla="*/ 34786 w 135316"/>
                <a:gd name="csY4" fmla="*/ 81533 h 100117"/>
                <a:gd name="csX5" fmla="*/ 39658 w 135316"/>
                <a:gd name="csY5" fmla="*/ 61554 h 100117"/>
                <a:gd name="csX6" fmla="*/ 43423 w 135316"/>
                <a:gd name="csY6" fmla="*/ 46680 h 100117"/>
                <a:gd name="csX7" fmla="*/ 52725 w 135316"/>
                <a:gd name="csY7" fmla="*/ 26701 h 100117"/>
                <a:gd name="csX8" fmla="*/ 85945 w 135316"/>
                <a:gd name="csY8" fmla="*/ 6278 h 100117"/>
                <a:gd name="csX9" fmla="*/ 99011 w 135316"/>
                <a:gd name="csY9" fmla="*/ 21817 h 100117"/>
                <a:gd name="csX10" fmla="*/ 85945 w 135316"/>
                <a:gd name="csY10" fmla="*/ 69101 h 100117"/>
                <a:gd name="csX11" fmla="*/ 82623 w 135316"/>
                <a:gd name="csY11" fmla="*/ 81089 h 100117"/>
                <a:gd name="csX12" fmla="*/ 103662 w 135316"/>
                <a:gd name="csY12" fmla="*/ 100180 h 100117"/>
                <a:gd name="csX13" fmla="*/ 135553 w 135316"/>
                <a:gd name="csY13" fmla="*/ 66216 h 100117"/>
                <a:gd name="csX14" fmla="*/ 132010 w 135316"/>
                <a:gd name="csY14" fmla="*/ 63330 h 100117"/>
                <a:gd name="csX15" fmla="*/ 127802 w 135316"/>
                <a:gd name="csY15" fmla="*/ 67104 h 100117"/>
                <a:gd name="csX16" fmla="*/ 104327 w 135316"/>
                <a:gd name="csY16" fmla="*/ 93964 h 100117"/>
                <a:gd name="csX17" fmla="*/ 98790 w 135316"/>
                <a:gd name="csY17" fmla="*/ 86195 h 100117"/>
                <a:gd name="csX18" fmla="*/ 103884 w 135316"/>
                <a:gd name="csY18" fmla="*/ 68213 h 100117"/>
                <a:gd name="csX19" fmla="*/ 115621 w 135316"/>
                <a:gd name="csY19" fmla="*/ 25369 h 100117"/>
                <a:gd name="csX20" fmla="*/ 86831 w 135316"/>
                <a:gd name="csY20" fmla="*/ 62 h 100117"/>
                <a:gd name="csX21" fmla="*/ 49403 w 135316"/>
                <a:gd name="csY21" fmla="*/ 20264 h 100117"/>
                <a:gd name="csX22" fmla="*/ 25706 w 135316"/>
                <a:gd name="csY22" fmla="*/ 62 h 100117"/>
                <a:gd name="csX23" fmla="*/ 8210 w 135316"/>
                <a:gd name="csY23" fmla="*/ 12050 h 100117"/>
                <a:gd name="csX24" fmla="*/ 237 w 135316"/>
                <a:gd name="csY24" fmla="*/ 34027 h 100117"/>
                <a:gd name="csX25" fmla="*/ 4002 w 135316"/>
                <a:gd name="csY25" fmla="*/ 36913 h 100117"/>
                <a:gd name="csX26" fmla="*/ 8874 w 135316"/>
                <a:gd name="csY26" fmla="*/ 30253 h 100117"/>
                <a:gd name="csX27" fmla="*/ 25041 w 135316"/>
                <a:gd name="csY27" fmla="*/ 6278 h 100117"/>
                <a:gd name="csX28" fmla="*/ 32350 w 135316"/>
                <a:gd name="csY28" fmla="*/ 17156 h 100117"/>
                <a:gd name="csX29" fmla="*/ 28806 w 135316"/>
                <a:gd name="csY29" fmla="*/ 35581 h 100117"/>
                <a:gd name="csX30" fmla="*/ 23934 w 135316"/>
                <a:gd name="csY30" fmla="*/ 55560 h 100117"/>
                <a:gd name="csX31" fmla="*/ 16847 w 135316"/>
                <a:gd name="csY31" fmla="*/ 83975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847" y="83975"/>
                  </a:moveTo>
                  <a:cubicBezTo>
                    <a:pt x="15961" y="86861"/>
                    <a:pt x="14632" y="92410"/>
                    <a:pt x="14632" y="93076"/>
                  </a:cubicBezTo>
                  <a:cubicBezTo>
                    <a:pt x="14632" y="97960"/>
                    <a:pt x="18619" y="100180"/>
                    <a:pt x="22162" y="100180"/>
                  </a:cubicBezTo>
                  <a:cubicBezTo>
                    <a:pt x="26149" y="100180"/>
                    <a:pt x="29692" y="97294"/>
                    <a:pt x="30799" y="95296"/>
                  </a:cubicBezTo>
                  <a:cubicBezTo>
                    <a:pt x="31907" y="93298"/>
                    <a:pt x="33678" y="86195"/>
                    <a:pt x="34786" y="81533"/>
                  </a:cubicBezTo>
                  <a:cubicBezTo>
                    <a:pt x="35893" y="77315"/>
                    <a:pt x="38329" y="67104"/>
                    <a:pt x="39658" y="61554"/>
                  </a:cubicBezTo>
                  <a:cubicBezTo>
                    <a:pt x="40987" y="56670"/>
                    <a:pt x="42316" y="51786"/>
                    <a:pt x="43423" y="46680"/>
                  </a:cubicBezTo>
                  <a:cubicBezTo>
                    <a:pt x="45859" y="37579"/>
                    <a:pt x="46302" y="35803"/>
                    <a:pt x="52725" y="26701"/>
                  </a:cubicBezTo>
                  <a:cubicBezTo>
                    <a:pt x="58926" y="17822"/>
                    <a:pt x="69335" y="6278"/>
                    <a:pt x="85945" y="6278"/>
                  </a:cubicBezTo>
                  <a:cubicBezTo>
                    <a:pt x="98790" y="6278"/>
                    <a:pt x="99011" y="17600"/>
                    <a:pt x="99011" y="21817"/>
                  </a:cubicBezTo>
                  <a:cubicBezTo>
                    <a:pt x="99011" y="35137"/>
                    <a:pt x="89488" y="59778"/>
                    <a:pt x="85945" y="69101"/>
                  </a:cubicBezTo>
                  <a:cubicBezTo>
                    <a:pt x="83509" y="75317"/>
                    <a:pt x="82623" y="77315"/>
                    <a:pt x="82623" y="81089"/>
                  </a:cubicBezTo>
                  <a:cubicBezTo>
                    <a:pt x="82623" y="92854"/>
                    <a:pt x="92367" y="100180"/>
                    <a:pt x="103662" y="100180"/>
                  </a:cubicBezTo>
                  <a:cubicBezTo>
                    <a:pt x="125809" y="100180"/>
                    <a:pt x="135553" y="69545"/>
                    <a:pt x="135553" y="66216"/>
                  </a:cubicBezTo>
                  <a:cubicBezTo>
                    <a:pt x="135553" y="63330"/>
                    <a:pt x="132674" y="63330"/>
                    <a:pt x="132010" y="63330"/>
                  </a:cubicBezTo>
                  <a:cubicBezTo>
                    <a:pt x="128909" y="63330"/>
                    <a:pt x="128688" y="64662"/>
                    <a:pt x="127802" y="67104"/>
                  </a:cubicBezTo>
                  <a:cubicBezTo>
                    <a:pt x="122708" y="84863"/>
                    <a:pt x="113185" y="93964"/>
                    <a:pt x="104327" y="93964"/>
                  </a:cubicBezTo>
                  <a:cubicBezTo>
                    <a:pt x="99676" y="93964"/>
                    <a:pt x="98790" y="90856"/>
                    <a:pt x="98790" y="86195"/>
                  </a:cubicBezTo>
                  <a:cubicBezTo>
                    <a:pt x="98790" y="81089"/>
                    <a:pt x="99897" y="78203"/>
                    <a:pt x="103884" y="68213"/>
                  </a:cubicBezTo>
                  <a:cubicBezTo>
                    <a:pt x="106541" y="61332"/>
                    <a:pt x="115621" y="37801"/>
                    <a:pt x="115621" y="25369"/>
                  </a:cubicBezTo>
                  <a:cubicBezTo>
                    <a:pt x="115621" y="3836"/>
                    <a:pt x="98568" y="62"/>
                    <a:pt x="86831" y="62"/>
                  </a:cubicBezTo>
                  <a:cubicBezTo>
                    <a:pt x="68449" y="62"/>
                    <a:pt x="56047" y="11384"/>
                    <a:pt x="49403" y="20264"/>
                  </a:cubicBezTo>
                  <a:cubicBezTo>
                    <a:pt x="47852" y="4946"/>
                    <a:pt x="34786" y="62"/>
                    <a:pt x="25706" y="62"/>
                  </a:cubicBezTo>
                  <a:cubicBezTo>
                    <a:pt x="16183" y="62"/>
                    <a:pt x="11089" y="6944"/>
                    <a:pt x="8210" y="12050"/>
                  </a:cubicBezTo>
                  <a:cubicBezTo>
                    <a:pt x="3337" y="20264"/>
                    <a:pt x="237" y="32917"/>
                    <a:pt x="237" y="34027"/>
                  </a:cubicBezTo>
                  <a:cubicBezTo>
                    <a:pt x="237" y="36913"/>
                    <a:pt x="3337" y="36913"/>
                    <a:pt x="4002" y="36913"/>
                  </a:cubicBezTo>
                  <a:cubicBezTo>
                    <a:pt x="7102" y="36913"/>
                    <a:pt x="7324" y="36247"/>
                    <a:pt x="8874" y="30253"/>
                  </a:cubicBezTo>
                  <a:cubicBezTo>
                    <a:pt x="12196" y="17156"/>
                    <a:pt x="16404" y="6278"/>
                    <a:pt x="25041" y="6278"/>
                  </a:cubicBezTo>
                  <a:cubicBezTo>
                    <a:pt x="30799" y="6278"/>
                    <a:pt x="32350" y="11162"/>
                    <a:pt x="32350" y="17156"/>
                  </a:cubicBezTo>
                  <a:cubicBezTo>
                    <a:pt x="32350" y="21373"/>
                    <a:pt x="30356" y="29587"/>
                    <a:pt x="28806" y="35581"/>
                  </a:cubicBezTo>
                  <a:cubicBezTo>
                    <a:pt x="27256" y="41575"/>
                    <a:pt x="25041" y="50676"/>
                    <a:pt x="23934" y="55560"/>
                  </a:cubicBezTo>
                  <a:lnTo>
                    <a:pt x="16847" y="83975"/>
                  </a:lnTo>
                  <a:close/>
                </a:path>
              </a:pathLst>
            </a:custGeom>
            <a:grpFill/>
            <a:ln w="31750" cap="flat">
              <a:noFill/>
              <a:prstDash val="solid"/>
              <a:miter/>
            </a:ln>
          </p:spPr>
          <p:txBody>
            <a:bodyPr/>
            <a:lstStyle/>
            <a:p>
              <a:endParaRPr lang="es-CO"/>
            </a:p>
          </p:txBody>
        </p:sp>
        <p:sp>
          <p:nvSpPr>
            <p:cNvPr id="36" name="Rectangle 35">
              <a:extLst>
                <a:ext uri="{FF2B5EF4-FFF2-40B4-BE49-F238E27FC236}">
                  <a16:creationId xmlns:a16="http://schemas.microsoft.com/office/drawing/2014/main" id="{406D5969-0957-335E-8FB6-B1CB86631426}"/>
                </a:ext>
              </a:extLst>
            </p:cNvPr>
            <p:cNvSpPr/>
            <p:nvPr>
              <p:custDataLst>
                <p:tags r:id="rId30"/>
              </p:custDataLst>
            </p:nvPr>
          </p:nvSpPr>
          <p:spPr>
            <a:xfrm>
              <a:off x="6328461" y="4857224"/>
              <a:ext cx="4235524" cy="12684"/>
            </a:xfrm>
            <a:prstGeom prst="rect">
              <a:avLst/>
            </a:prstGeom>
            <a:grpFill/>
            <a:ln w="31750" cap="flat">
              <a:noFill/>
              <a:prstDash val="solid"/>
              <a:miter/>
            </a:ln>
          </p:spPr>
          <p:txBody>
            <a:bodyPr/>
            <a:lstStyle/>
            <a:p>
              <a:endParaRPr lang="es-CO"/>
            </a:p>
          </p:txBody>
        </p:sp>
        <p:sp>
          <p:nvSpPr>
            <p:cNvPr id="37" name="Freeform: Shape 36">
              <a:extLst>
                <a:ext uri="{FF2B5EF4-FFF2-40B4-BE49-F238E27FC236}">
                  <a16:creationId xmlns:a16="http://schemas.microsoft.com/office/drawing/2014/main" id="{FE6BC3FE-03F5-2F49-1F0C-DBE0565EE38F}"/>
                </a:ext>
              </a:extLst>
            </p:cNvPr>
            <p:cNvSpPr/>
            <p:nvPr>
              <p:custDataLst>
                <p:tags r:id="rId31"/>
              </p:custDataLst>
            </p:nvPr>
          </p:nvSpPr>
          <p:spPr>
            <a:xfrm>
              <a:off x="6344913" y="5020213"/>
              <a:ext cx="116428" cy="143659"/>
            </a:xfrm>
            <a:custGeom>
              <a:avLst/>
              <a:gdLst>
                <a:gd name="csX0" fmla="*/ 107365 w 116428"/>
                <a:gd name="csY0" fmla="*/ 21639 h 143659"/>
                <a:gd name="csX1" fmla="*/ 92179 w 116428"/>
                <a:gd name="csY1" fmla="*/ 35910 h 143659"/>
                <a:gd name="csX2" fmla="*/ 101986 w 116428"/>
                <a:gd name="csY2" fmla="*/ 45107 h 143659"/>
                <a:gd name="csX3" fmla="*/ 116540 w 116428"/>
                <a:gd name="csY3" fmla="*/ 27348 h 143659"/>
                <a:gd name="csX4" fmla="*/ 78891 w 116428"/>
                <a:gd name="csY4" fmla="*/ 74 h 143659"/>
                <a:gd name="csX5" fmla="*/ 25422 w 116428"/>
                <a:gd name="csY5" fmla="*/ 46375 h 143659"/>
                <a:gd name="csX6" fmla="*/ 58009 w 116428"/>
                <a:gd name="csY6" fmla="*/ 77771 h 143659"/>
                <a:gd name="csX7" fmla="*/ 90913 w 116428"/>
                <a:gd name="csY7" fmla="*/ 101873 h 143659"/>
                <a:gd name="csX8" fmla="*/ 45670 w 116428"/>
                <a:gd name="csY8" fmla="*/ 136757 h 143659"/>
                <a:gd name="csX9" fmla="*/ 9603 w 116428"/>
                <a:gd name="csY9" fmla="*/ 119949 h 143659"/>
                <a:gd name="csX10" fmla="*/ 29535 w 116428"/>
                <a:gd name="csY10" fmla="*/ 103141 h 143659"/>
                <a:gd name="csX11" fmla="*/ 17829 w 116428"/>
                <a:gd name="csY11" fmla="*/ 92042 h 143659"/>
                <a:gd name="csX12" fmla="*/ 111 w 116428"/>
                <a:gd name="csY12" fmla="*/ 112972 h 143659"/>
                <a:gd name="csX13" fmla="*/ 45354 w 116428"/>
                <a:gd name="csY13" fmla="*/ 143734 h 143659"/>
                <a:gd name="csX14" fmla="*/ 108947 w 116428"/>
                <a:gd name="csY14" fmla="*/ 91091 h 143659"/>
                <a:gd name="csX15" fmla="*/ 99139 w 116428"/>
                <a:gd name="csY15" fmla="*/ 67940 h 143659"/>
                <a:gd name="csX16" fmla="*/ 67501 w 116428"/>
                <a:gd name="csY16" fmla="*/ 54621 h 143659"/>
                <a:gd name="csX17" fmla="*/ 43456 w 116428"/>
                <a:gd name="csY17" fmla="*/ 35593 h 143659"/>
                <a:gd name="csX18" fmla="*/ 78891 w 116428"/>
                <a:gd name="csY18" fmla="*/ 7051 h 143659"/>
                <a:gd name="csX19" fmla="*/ 107365 w 116428"/>
                <a:gd name="csY19" fmla="*/ 21639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365" y="21639"/>
                  </a:moveTo>
                  <a:cubicBezTo>
                    <a:pt x="98506" y="21956"/>
                    <a:pt x="92179" y="28933"/>
                    <a:pt x="92179" y="35910"/>
                  </a:cubicBezTo>
                  <a:cubicBezTo>
                    <a:pt x="92179" y="40350"/>
                    <a:pt x="95026" y="45107"/>
                    <a:pt x="101986" y="45107"/>
                  </a:cubicBezTo>
                  <a:cubicBezTo>
                    <a:pt x="108947" y="45107"/>
                    <a:pt x="116540" y="39716"/>
                    <a:pt x="116540" y="27348"/>
                  </a:cubicBezTo>
                  <a:cubicBezTo>
                    <a:pt x="116540" y="13077"/>
                    <a:pt x="102936" y="74"/>
                    <a:pt x="78891" y="74"/>
                  </a:cubicBezTo>
                  <a:cubicBezTo>
                    <a:pt x="37128" y="74"/>
                    <a:pt x="25422" y="32422"/>
                    <a:pt x="25422" y="46375"/>
                  </a:cubicBezTo>
                  <a:cubicBezTo>
                    <a:pt x="25422" y="71111"/>
                    <a:pt x="48834" y="75868"/>
                    <a:pt x="58009" y="77771"/>
                  </a:cubicBezTo>
                  <a:cubicBezTo>
                    <a:pt x="74461" y="80942"/>
                    <a:pt x="90913" y="84431"/>
                    <a:pt x="90913" y="101873"/>
                  </a:cubicBezTo>
                  <a:cubicBezTo>
                    <a:pt x="90913" y="110118"/>
                    <a:pt x="83636" y="136757"/>
                    <a:pt x="45670" y="136757"/>
                  </a:cubicBezTo>
                  <a:cubicBezTo>
                    <a:pt x="41241" y="136757"/>
                    <a:pt x="16880" y="136757"/>
                    <a:pt x="9603" y="119949"/>
                  </a:cubicBezTo>
                  <a:cubicBezTo>
                    <a:pt x="21625" y="121535"/>
                    <a:pt x="29535" y="112021"/>
                    <a:pt x="29535" y="103141"/>
                  </a:cubicBezTo>
                  <a:cubicBezTo>
                    <a:pt x="29535" y="95847"/>
                    <a:pt x="24473" y="92042"/>
                    <a:pt x="17829" y="92042"/>
                  </a:cubicBezTo>
                  <a:cubicBezTo>
                    <a:pt x="9603" y="92042"/>
                    <a:pt x="111" y="98702"/>
                    <a:pt x="111" y="112972"/>
                  </a:cubicBezTo>
                  <a:cubicBezTo>
                    <a:pt x="111" y="131049"/>
                    <a:pt x="18145" y="143734"/>
                    <a:pt x="45354" y="143734"/>
                  </a:cubicBezTo>
                  <a:cubicBezTo>
                    <a:pt x="96608" y="143734"/>
                    <a:pt x="108947" y="105361"/>
                    <a:pt x="108947" y="91091"/>
                  </a:cubicBezTo>
                  <a:cubicBezTo>
                    <a:pt x="108947" y="79674"/>
                    <a:pt x="102936" y="71746"/>
                    <a:pt x="99139" y="67940"/>
                  </a:cubicBezTo>
                  <a:cubicBezTo>
                    <a:pt x="90597" y="59061"/>
                    <a:pt x="81422" y="57475"/>
                    <a:pt x="67501" y="54621"/>
                  </a:cubicBezTo>
                  <a:cubicBezTo>
                    <a:pt x="56111" y="52084"/>
                    <a:pt x="43456" y="49864"/>
                    <a:pt x="43456" y="35593"/>
                  </a:cubicBezTo>
                  <a:cubicBezTo>
                    <a:pt x="43456" y="26396"/>
                    <a:pt x="51049" y="7051"/>
                    <a:pt x="78891" y="7051"/>
                  </a:cubicBezTo>
                  <a:cubicBezTo>
                    <a:pt x="86800" y="7051"/>
                    <a:pt x="102619" y="9271"/>
                    <a:pt x="107365" y="21639"/>
                  </a:cubicBezTo>
                  <a:close/>
                </a:path>
              </a:pathLst>
            </a:custGeom>
            <a:grpFill/>
            <a:ln w="31750" cap="flat">
              <a:noFill/>
              <a:prstDash val="solid"/>
              <a:miter/>
            </a:ln>
          </p:spPr>
          <p:txBody>
            <a:bodyPr/>
            <a:lstStyle/>
            <a:p>
              <a:endParaRPr lang="es-CO"/>
            </a:p>
          </p:txBody>
        </p:sp>
        <p:sp>
          <p:nvSpPr>
            <p:cNvPr id="38" name="Freeform: Shape 37">
              <a:extLst>
                <a:ext uri="{FF2B5EF4-FFF2-40B4-BE49-F238E27FC236}">
                  <a16:creationId xmlns:a16="http://schemas.microsoft.com/office/drawing/2014/main" id="{963B5E6F-38BE-68B8-4F59-E2EA1CBCD9A8}"/>
                </a:ext>
              </a:extLst>
            </p:cNvPr>
            <p:cNvSpPr/>
            <p:nvPr>
              <p:custDataLst>
                <p:tags r:id="rId32"/>
              </p:custDataLst>
            </p:nvPr>
          </p:nvSpPr>
          <p:spPr>
            <a:xfrm>
              <a:off x="6487174" y="4970871"/>
              <a:ext cx="135316" cy="100117"/>
            </a:xfrm>
            <a:custGeom>
              <a:avLst/>
              <a:gdLst>
                <a:gd name="csX0" fmla="*/ 16726 w 135316"/>
                <a:gd name="csY0" fmla="*/ 83984 h 100117"/>
                <a:gd name="csX1" fmla="*/ 14511 w 135316"/>
                <a:gd name="csY1" fmla="*/ 93086 h 100117"/>
                <a:gd name="csX2" fmla="*/ 22041 w 135316"/>
                <a:gd name="csY2" fmla="*/ 100189 h 100117"/>
                <a:gd name="csX3" fmla="*/ 30679 w 135316"/>
                <a:gd name="csY3" fmla="*/ 95305 h 100117"/>
                <a:gd name="csX4" fmla="*/ 34665 w 135316"/>
                <a:gd name="csY4" fmla="*/ 81542 h 100117"/>
                <a:gd name="csX5" fmla="*/ 39537 w 135316"/>
                <a:gd name="csY5" fmla="*/ 61563 h 100117"/>
                <a:gd name="csX6" fmla="*/ 43302 w 135316"/>
                <a:gd name="csY6" fmla="*/ 46690 h 100117"/>
                <a:gd name="csX7" fmla="*/ 52604 w 135316"/>
                <a:gd name="csY7" fmla="*/ 26710 h 100117"/>
                <a:gd name="csX8" fmla="*/ 85824 w 135316"/>
                <a:gd name="csY8" fmla="*/ 6287 h 100117"/>
                <a:gd name="csX9" fmla="*/ 98891 w 135316"/>
                <a:gd name="csY9" fmla="*/ 21827 h 100117"/>
                <a:gd name="csX10" fmla="*/ 85824 w 135316"/>
                <a:gd name="csY10" fmla="*/ 69111 h 100117"/>
                <a:gd name="csX11" fmla="*/ 82502 w 135316"/>
                <a:gd name="csY11" fmla="*/ 81098 h 100117"/>
                <a:gd name="csX12" fmla="*/ 103541 w 135316"/>
                <a:gd name="csY12" fmla="*/ 100189 h 100117"/>
                <a:gd name="csX13" fmla="*/ 135433 w 135316"/>
                <a:gd name="csY13" fmla="*/ 66225 h 100117"/>
                <a:gd name="csX14" fmla="*/ 131889 w 135316"/>
                <a:gd name="csY14" fmla="*/ 63339 h 100117"/>
                <a:gd name="csX15" fmla="*/ 127681 w 135316"/>
                <a:gd name="csY15" fmla="*/ 67113 h 100117"/>
                <a:gd name="csX16" fmla="*/ 104206 w 135316"/>
                <a:gd name="csY16" fmla="*/ 93974 h 100117"/>
                <a:gd name="csX17" fmla="*/ 98669 w 135316"/>
                <a:gd name="csY17" fmla="*/ 86204 h 100117"/>
                <a:gd name="csX18" fmla="*/ 103763 w 135316"/>
                <a:gd name="csY18" fmla="*/ 68223 h 100117"/>
                <a:gd name="csX19" fmla="*/ 115501 w 135316"/>
                <a:gd name="csY19" fmla="*/ 25379 h 100117"/>
                <a:gd name="csX20" fmla="*/ 86710 w 135316"/>
                <a:gd name="csY20" fmla="*/ 72 h 100117"/>
                <a:gd name="csX21" fmla="*/ 49282 w 135316"/>
                <a:gd name="csY21" fmla="*/ 20273 h 100117"/>
                <a:gd name="csX22" fmla="*/ 25585 w 135316"/>
                <a:gd name="csY22" fmla="*/ 72 h 100117"/>
                <a:gd name="csX23" fmla="*/ 8089 w 135316"/>
                <a:gd name="csY23" fmla="*/ 12059 h 100117"/>
                <a:gd name="csX24" fmla="*/ 116 w 135316"/>
                <a:gd name="csY24" fmla="*/ 34036 h 100117"/>
                <a:gd name="csX25" fmla="*/ 3881 w 135316"/>
                <a:gd name="csY25" fmla="*/ 36922 h 100117"/>
                <a:gd name="csX26" fmla="*/ 8753 w 135316"/>
                <a:gd name="csY26" fmla="*/ 30262 h 100117"/>
                <a:gd name="csX27" fmla="*/ 24920 w 135316"/>
                <a:gd name="csY27" fmla="*/ 6287 h 100117"/>
                <a:gd name="csX28" fmla="*/ 32229 w 135316"/>
                <a:gd name="csY28" fmla="*/ 17165 h 100117"/>
                <a:gd name="csX29" fmla="*/ 28685 w 135316"/>
                <a:gd name="csY29" fmla="*/ 35590 h 100117"/>
                <a:gd name="csX30" fmla="*/ 23813 w 135316"/>
                <a:gd name="csY30" fmla="*/ 55569 h 100117"/>
                <a:gd name="csX31" fmla="*/ 16726 w 135316"/>
                <a:gd name="csY31" fmla="*/ 83984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726" y="83984"/>
                  </a:moveTo>
                  <a:cubicBezTo>
                    <a:pt x="15840" y="86870"/>
                    <a:pt x="14511" y="92420"/>
                    <a:pt x="14511" y="93086"/>
                  </a:cubicBezTo>
                  <a:cubicBezTo>
                    <a:pt x="14511" y="97969"/>
                    <a:pt x="18498" y="100189"/>
                    <a:pt x="22041" y="100189"/>
                  </a:cubicBezTo>
                  <a:cubicBezTo>
                    <a:pt x="26028" y="100189"/>
                    <a:pt x="29571" y="97303"/>
                    <a:pt x="30679" y="95305"/>
                  </a:cubicBezTo>
                  <a:cubicBezTo>
                    <a:pt x="31786" y="93308"/>
                    <a:pt x="33558" y="86204"/>
                    <a:pt x="34665" y="81542"/>
                  </a:cubicBezTo>
                  <a:cubicBezTo>
                    <a:pt x="35772" y="77324"/>
                    <a:pt x="38208" y="67113"/>
                    <a:pt x="39537" y="61563"/>
                  </a:cubicBezTo>
                  <a:cubicBezTo>
                    <a:pt x="40866" y="56679"/>
                    <a:pt x="42195" y="51795"/>
                    <a:pt x="43302" y="46690"/>
                  </a:cubicBezTo>
                  <a:cubicBezTo>
                    <a:pt x="45738" y="37588"/>
                    <a:pt x="46181" y="35812"/>
                    <a:pt x="52604" y="26710"/>
                  </a:cubicBezTo>
                  <a:cubicBezTo>
                    <a:pt x="58805" y="17831"/>
                    <a:pt x="69214" y="6287"/>
                    <a:pt x="85824" y="6287"/>
                  </a:cubicBezTo>
                  <a:cubicBezTo>
                    <a:pt x="98669" y="6287"/>
                    <a:pt x="98891" y="17609"/>
                    <a:pt x="98891" y="21827"/>
                  </a:cubicBezTo>
                  <a:cubicBezTo>
                    <a:pt x="98891" y="35146"/>
                    <a:pt x="89367" y="59787"/>
                    <a:pt x="85824" y="69111"/>
                  </a:cubicBezTo>
                  <a:cubicBezTo>
                    <a:pt x="83388" y="75326"/>
                    <a:pt x="82502" y="77324"/>
                    <a:pt x="82502" y="81098"/>
                  </a:cubicBezTo>
                  <a:cubicBezTo>
                    <a:pt x="82502" y="92864"/>
                    <a:pt x="92247" y="100189"/>
                    <a:pt x="103541" y="100189"/>
                  </a:cubicBezTo>
                  <a:cubicBezTo>
                    <a:pt x="125688" y="100189"/>
                    <a:pt x="135433" y="69555"/>
                    <a:pt x="135433" y="66225"/>
                  </a:cubicBezTo>
                  <a:cubicBezTo>
                    <a:pt x="135433" y="63339"/>
                    <a:pt x="132554" y="63339"/>
                    <a:pt x="131889" y="63339"/>
                  </a:cubicBezTo>
                  <a:cubicBezTo>
                    <a:pt x="128789" y="63339"/>
                    <a:pt x="128567" y="64671"/>
                    <a:pt x="127681" y="67113"/>
                  </a:cubicBezTo>
                  <a:cubicBezTo>
                    <a:pt x="122588" y="84872"/>
                    <a:pt x="113064" y="93974"/>
                    <a:pt x="104206" y="93974"/>
                  </a:cubicBezTo>
                  <a:cubicBezTo>
                    <a:pt x="99555" y="93974"/>
                    <a:pt x="98669" y="90866"/>
                    <a:pt x="98669" y="86204"/>
                  </a:cubicBezTo>
                  <a:cubicBezTo>
                    <a:pt x="98669" y="81098"/>
                    <a:pt x="99776" y="78212"/>
                    <a:pt x="103763" y="68223"/>
                  </a:cubicBezTo>
                  <a:cubicBezTo>
                    <a:pt x="106420" y="61341"/>
                    <a:pt x="115501" y="37810"/>
                    <a:pt x="115501" y="25379"/>
                  </a:cubicBezTo>
                  <a:cubicBezTo>
                    <a:pt x="115501" y="3845"/>
                    <a:pt x="98448" y="72"/>
                    <a:pt x="86710" y="72"/>
                  </a:cubicBezTo>
                  <a:cubicBezTo>
                    <a:pt x="68328" y="72"/>
                    <a:pt x="55926" y="11393"/>
                    <a:pt x="49282" y="20273"/>
                  </a:cubicBezTo>
                  <a:cubicBezTo>
                    <a:pt x="47732" y="4955"/>
                    <a:pt x="34665" y="72"/>
                    <a:pt x="25585" y="72"/>
                  </a:cubicBezTo>
                  <a:cubicBezTo>
                    <a:pt x="16062" y="72"/>
                    <a:pt x="10968" y="6953"/>
                    <a:pt x="8089" y="12059"/>
                  </a:cubicBezTo>
                  <a:cubicBezTo>
                    <a:pt x="3217" y="20273"/>
                    <a:pt x="116" y="32926"/>
                    <a:pt x="116" y="34036"/>
                  </a:cubicBezTo>
                  <a:cubicBezTo>
                    <a:pt x="116" y="36922"/>
                    <a:pt x="3217" y="36922"/>
                    <a:pt x="3881" y="36922"/>
                  </a:cubicBezTo>
                  <a:cubicBezTo>
                    <a:pt x="6982" y="36922"/>
                    <a:pt x="7203" y="36256"/>
                    <a:pt x="8753" y="30262"/>
                  </a:cubicBezTo>
                  <a:cubicBezTo>
                    <a:pt x="12075" y="17165"/>
                    <a:pt x="16283" y="6287"/>
                    <a:pt x="24920" y="6287"/>
                  </a:cubicBezTo>
                  <a:cubicBezTo>
                    <a:pt x="30679" y="6287"/>
                    <a:pt x="32229" y="11171"/>
                    <a:pt x="32229" y="17165"/>
                  </a:cubicBezTo>
                  <a:cubicBezTo>
                    <a:pt x="32229" y="21383"/>
                    <a:pt x="30236" y="29596"/>
                    <a:pt x="28685" y="35590"/>
                  </a:cubicBezTo>
                  <a:cubicBezTo>
                    <a:pt x="27135" y="41584"/>
                    <a:pt x="24920" y="50685"/>
                    <a:pt x="23813" y="55569"/>
                  </a:cubicBezTo>
                  <a:lnTo>
                    <a:pt x="16726" y="83984"/>
                  </a:lnTo>
                  <a:close/>
                </a:path>
              </a:pathLst>
            </a:custGeom>
            <a:grpFill/>
            <a:ln w="31750" cap="flat">
              <a:noFill/>
              <a:prstDash val="solid"/>
              <a:miter/>
            </a:ln>
          </p:spPr>
          <p:txBody>
            <a:bodyPr/>
            <a:lstStyle/>
            <a:p>
              <a:endParaRPr lang="es-CO"/>
            </a:p>
          </p:txBody>
        </p:sp>
        <p:sp>
          <p:nvSpPr>
            <p:cNvPr id="39" name="Freeform: Shape 38">
              <a:extLst>
                <a:ext uri="{FF2B5EF4-FFF2-40B4-BE49-F238E27FC236}">
                  <a16:creationId xmlns:a16="http://schemas.microsoft.com/office/drawing/2014/main" id="{8D3658E3-B1B9-A728-9EE6-3B37BDF412CC}"/>
                </a:ext>
              </a:extLst>
            </p:cNvPr>
            <p:cNvSpPr/>
            <p:nvPr>
              <p:custDataLst>
                <p:tags r:id="rId33"/>
              </p:custDataLst>
            </p:nvPr>
          </p:nvSpPr>
          <p:spPr>
            <a:xfrm>
              <a:off x="6737005" y="4975497"/>
              <a:ext cx="210393" cy="211207"/>
            </a:xfrm>
            <a:custGeom>
              <a:avLst/>
              <a:gdLst>
                <a:gd name="csX0" fmla="*/ 111807 w 210393"/>
                <a:gd name="csY0" fmla="*/ 112021 h 211207"/>
                <a:gd name="csX1" fmla="*/ 200077 w 210393"/>
                <a:gd name="csY1" fmla="*/ 112021 h 211207"/>
                <a:gd name="csX2" fmla="*/ 210518 w 210393"/>
                <a:gd name="csY2" fmla="*/ 105678 h 211207"/>
                <a:gd name="csX3" fmla="*/ 200077 w 210393"/>
                <a:gd name="csY3" fmla="*/ 99336 h 211207"/>
                <a:gd name="csX4" fmla="*/ 111807 w 210393"/>
                <a:gd name="csY4" fmla="*/ 99336 h 211207"/>
                <a:gd name="csX5" fmla="*/ 111807 w 210393"/>
                <a:gd name="csY5" fmla="*/ 10540 h 211207"/>
                <a:gd name="csX6" fmla="*/ 105479 w 210393"/>
                <a:gd name="csY6" fmla="*/ 74 h 211207"/>
                <a:gd name="csX7" fmla="*/ 99151 w 210393"/>
                <a:gd name="csY7" fmla="*/ 10540 h 211207"/>
                <a:gd name="csX8" fmla="*/ 99151 w 210393"/>
                <a:gd name="csY8" fmla="*/ 99336 h 211207"/>
                <a:gd name="csX9" fmla="*/ 10564 w 210393"/>
                <a:gd name="csY9" fmla="*/ 99336 h 211207"/>
                <a:gd name="csX10" fmla="*/ 124 w 210393"/>
                <a:gd name="csY10" fmla="*/ 105678 h 211207"/>
                <a:gd name="csX11" fmla="*/ 10564 w 210393"/>
                <a:gd name="csY11" fmla="*/ 112021 h 211207"/>
                <a:gd name="csX12" fmla="*/ 99151 w 210393"/>
                <a:gd name="csY12" fmla="*/ 112021 h 211207"/>
                <a:gd name="csX13" fmla="*/ 99151 w 210393"/>
                <a:gd name="csY13" fmla="*/ 200817 h 211207"/>
                <a:gd name="csX14" fmla="*/ 105479 w 210393"/>
                <a:gd name="csY14" fmla="*/ 211282 h 211207"/>
                <a:gd name="csX15" fmla="*/ 111807 w 210393"/>
                <a:gd name="csY15" fmla="*/ 200817 h 211207"/>
                <a:gd name="csX16" fmla="*/ 111807 w 210393"/>
                <a:gd name="csY16" fmla="*/ 112021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807" y="112021"/>
                  </a:moveTo>
                  <a:lnTo>
                    <a:pt x="200077" y="112021"/>
                  </a:lnTo>
                  <a:cubicBezTo>
                    <a:pt x="204506" y="112021"/>
                    <a:pt x="210518" y="112021"/>
                    <a:pt x="210518" y="105678"/>
                  </a:cubicBezTo>
                  <a:cubicBezTo>
                    <a:pt x="210518" y="99336"/>
                    <a:pt x="204506" y="99336"/>
                    <a:pt x="200077" y="99336"/>
                  </a:cubicBezTo>
                  <a:lnTo>
                    <a:pt x="111807" y="99336"/>
                  </a:lnTo>
                  <a:lnTo>
                    <a:pt x="111807" y="10540"/>
                  </a:lnTo>
                  <a:cubicBezTo>
                    <a:pt x="111807" y="6100"/>
                    <a:pt x="111807" y="74"/>
                    <a:pt x="105479" y="74"/>
                  </a:cubicBezTo>
                  <a:cubicBezTo>
                    <a:pt x="99151" y="74"/>
                    <a:pt x="99151" y="6100"/>
                    <a:pt x="99151" y="10540"/>
                  </a:cubicBezTo>
                  <a:lnTo>
                    <a:pt x="99151" y="99336"/>
                  </a:lnTo>
                  <a:lnTo>
                    <a:pt x="10564" y="99336"/>
                  </a:lnTo>
                  <a:cubicBezTo>
                    <a:pt x="6135" y="99336"/>
                    <a:pt x="124" y="99336"/>
                    <a:pt x="124" y="105678"/>
                  </a:cubicBezTo>
                  <a:cubicBezTo>
                    <a:pt x="124" y="112021"/>
                    <a:pt x="6135" y="112021"/>
                    <a:pt x="10564" y="112021"/>
                  </a:cubicBezTo>
                  <a:lnTo>
                    <a:pt x="99151" y="112021"/>
                  </a:lnTo>
                  <a:lnTo>
                    <a:pt x="99151" y="200817"/>
                  </a:lnTo>
                  <a:cubicBezTo>
                    <a:pt x="99151" y="205257"/>
                    <a:pt x="99151" y="211282"/>
                    <a:pt x="105479" y="211282"/>
                  </a:cubicBezTo>
                  <a:cubicBezTo>
                    <a:pt x="111807" y="211282"/>
                    <a:pt x="111807" y="205257"/>
                    <a:pt x="111807" y="200817"/>
                  </a:cubicBezTo>
                  <a:lnTo>
                    <a:pt x="111807" y="112021"/>
                  </a:lnTo>
                  <a:close/>
                </a:path>
              </a:pathLst>
            </a:custGeom>
            <a:grpFill/>
            <a:ln w="31750" cap="flat">
              <a:noFill/>
              <a:prstDash val="solid"/>
              <a:miter/>
            </a:ln>
          </p:spPr>
          <p:txBody>
            <a:bodyPr/>
            <a:lstStyle/>
            <a:p>
              <a:endParaRPr lang="es-CO"/>
            </a:p>
          </p:txBody>
        </p:sp>
        <p:sp>
          <p:nvSpPr>
            <p:cNvPr id="40" name="Freeform: Shape 39">
              <a:extLst>
                <a:ext uri="{FF2B5EF4-FFF2-40B4-BE49-F238E27FC236}">
                  <a16:creationId xmlns:a16="http://schemas.microsoft.com/office/drawing/2014/main" id="{D6D51AB1-8400-F810-6E8E-80E29FA18E7A}"/>
                </a:ext>
              </a:extLst>
            </p:cNvPr>
            <p:cNvSpPr/>
            <p:nvPr>
              <p:custDataLst>
                <p:tags r:id="rId34"/>
              </p:custDataLst>
            </p:nvPr>
          </p:nvSpPr>
          <p:spPr>
            <a:xfrm>
              <a:off x="7048324" y="5020213"/>
              <a:ext cx="144902" cy="143659"/>
            </a:xfrm>
            <a:custGeom>
              <a:avLst/>
              <a:gdLst>
                <a:gd name="csX0" fmla="*/ 105489 w 144902"/>
                <a:gd name="csY0" fmla="*/ 20371 h 143659"/>
                <a:gd name="csX1" fmla="*/ 76382 w 144902"/>
                <a:gd name="csY1" fmla="*/ 74 h 143659"/>
                <a:gd name="csX2" fmla="*/ 134 w 144902"/>
                <a:gd name="csY2" fmla="*/ 92993 h 143659"/>
                <a:gd name="csX3" fmla="*/ 42212 w 144902"/>
                <a:gd name="csY3" fmla="*/ 143734 h 143659"/>
                <a:gd name="csX4" fmla="*/ 83342 w 144902"/>
                <a:gd name="csY4" fmla="*/ 119949 h 143659"/>
                <a:gd name="csX5" fmla="*/ 112133 w 144902"/>
                <a:gd name="csY5" fmla="*/ 143734 h 143659"/>
                <a:gd name="csX6" fmla="*/ 135545 w 144902"/>
                <a:gd name="csY6" fmla="*/ 126292 h 143659"/>
                <a:gd name="csX7" fmla="*/ 145037 w 144902"/>
                <a:gd name="csY7" fmla="*/ 94896 h 143659"/>
                <a:gd name="csX8" fmla="*/ 141240 w 144902"/>
                <a:gd name="csY8" fmla="*/ 91725 h 143659"/>
                <a:gd name="csX9" fmla="*/ 136811 w 144902"/>
                <a:gd name="csY9" fmla="*/ 97433 h 143659"/>
                <a:gd name="csX10" fmla="*/ 112766 w 144902"/>
                <a:gd name="csY10" fmla="*/ 136757 h 143659"/>
                <a:gd name="csX11" fmla="*/ 103274 w 144902"/>
                <a:gd name="csY11" fmla="*/ 122169 h 143659"/>
                <a:gd name="csX12" fmla="*/ 107387 w 144902"/>
                <a:gd name="csY12" fmla="*/ 98702 h 143659"/>
                <a:gd name="csX13" fmla="*/ 114348 w 144902"/>
                <a:gd name="csY13" fmla="*/ 70160 h 143659"/>
                <a:gd name="csX14" fmla="*/ 125737 w 144902"/>
                <a:gd name="csY14" fmla="*/ 25762 h 143659"/>
                <a:gd name="csX15" fmla="*/ 127952 w 144902"/>
                <a:gd name="csY15" fmla="*/ 14980 h 143659"/>
                <a:gd name="csX16" fmla="*/ 118777 w 144902"/>
                <a:gd name="csY16" fmla="*/ 6417 h 143659"/>
                <a:gd name="csX17" fmla="*/ 105489 w 144902"/>
                <a:gd name="csY17" fmla="*/ 20371 h 143659"/>
                <a:gd name="csX18" fmla="*/ 84924 w 144902"/>
                <a:gd name="csY18" fmla="*/ 102507 h 143659"/>
                <a:gd name="csX19" fmla="*/ 78596 w 144902"/>
                <a:gd name="csY19" fmla="*/ 114241 h 143659"/>
                <a:gd name="csX20" fmla="*/ 42845 w 144902"/>
                <a:gd name="csY20" fmla="*/ 136757 h 143659"/>
                <a:gd name="csX21" fmla="*/ 22597 w 144902"/>
                <a:gd name="csY21" fmla="*/ 106947 h 143659"/>
                <a:gd name="csX22" fmla="*/ 39998 w 144902"/>
                <a:gd name="csY22" fmla="*/ 37496 h 143659"/>
                <a:gd name="csX23" fmla="*/ 76698 w 144902"/>
                <a:gd name="csY23" fmla="*/ 7051 h 143659"/>
                <a:gd name="csX24" fmla="*/ 101692 w 144902"/>
                <a:gd name="csY24" fmla="*/ 34959 h 143659"/>
                <a:gd name="csX25" fmla="*/ 100743 w 144902"/>
                <a:gd name="csY25" fmla="*/ 40350 h 143659"/>
                <a:gd name="csX26" fmla="*/ 84924 w 144902"/>
                <a:gd name="csY26" fmla="*/ 102507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44902" h="143659">
                  <a:moveTo>
                    <a:pt x="105489" y="20371"/>
                  </a:moveTo>
                  <a:cubicBezTo>
                    <a:pt x="99794" y="8637"/>
                    <a:pt x="90619" y="74"/>
                    <a:pt x="76382" y="74"/>
                  </a:cubicBezTo>
                  <a:cubicBezTo>
                    <a:pt x="39365" y="74"/>
                    <a:pt x="134" y="46692"/>
                    <a:pt x="134" y="92993"/>
                  </a:cubicBezTo>
                  <a:cubicBezTo>
                    <a:pt x="134" y="122803"/>
                    <a:pt x="17535" y="143734"/>
                    <a:pt x="42212" y="143734"/>
                  </a:cubicBezTo>
                  <a:cubicBezTo>
                    <a:pt x="48540" y="143734"/>
                    <a:pt x="64359" y="142465"/>
                    <a:pt x="83342" y="119949"/>
                  </a:cubicBezTo>
                  <a:cubicBezTo>
                    <a:pt x="85873" y="133269"/>
                    <a:pt x="96947" y="143734"/>
                    <a:pt x="112133" y="143734"/>
                  </a:cubicBezTo>
                  <a:cubicBezTo>
                    <a:pt x="123206" y="143734"/>
                    <a:pt x="130483" y="136440"/>
                    <a:pt x="135545" y="126292"/>
                  </a:cubicBezTo>
                  <a:cubicBezTo>
                    <a:pt x="140924" y="114875"/>
                    <a:pt x="145037" y="95530"/>
                    <a:pt x="145037" y="94896"/>
                  </a:cubicBezTo>
                  <a:cubicBezTo>
                    <a:pt x="145037" y="91725"/>
                    <a:pt x="142189" y="91725"/>
                    <a:pt x="141240" y="91725"/>
                  </a:cubicBezTo>
                  <a:cubicBezTo>
                    <a:pt x="138076" y="91725"/>
                    <a:pt x="137760" y="92993"/>
                    <a:pt x="136811" y="97433"/>
                  </a:cubicBezTo>
                  <a:cubicBezTo>
                    <a:pt x="131432" y="118047"/>
                    <a:pt x="125737" y="136757"/>
                    <a:pt x="112766" y="136757"/>
                  </a:cubicBezTo>
                  <a:cubicBezTo>
                    <a:pt x="104223" y="136757"/>
                    <a:pt x="103274" y="128512"/>
                    <a:pt x="103274" y="122169"/>
                  </a:cubicBezTo>
                  <a:cubicBezTo>
                    <a:pt x="103274" y="115192"/>
                    <a:pt x="103907" y="112655"/>
                    <a:pt x="107387" y="98702"/>
                  </a:cubicBezTo>
                  <a:cubicBezTo>
                    <a:pt x="110867" y="85382"/>
                    <a:pt x="111500" y="82211"/>
                    <a:pt x="114348" y="70160"/>
                  </a:cubicBezTo>
                  <a:lnTo>
                    <a:pt x="125737" y="25762"/>
                  </a:lnTo>
                  <a:cubicBezTo>
                    <a:pt x="127952" y="16882"/>
                    <a:pt x="127952" y="16248"/>
                    <a:pt x="127952" y="14980"/>
                  </a:cubicBezTo>
                  <a:cubicBezTo>
                    <a:pt x="127952" y="9588"/>
                    <a:pt x="124155" y="6417"/>
                    <a:pt x="118777" y="6417"/>
                  </a:cubicBezTo>
                  <a:cubicBezTo>
                    <a:pt x="111184" y="6417"/>
                    <a:pt x="106438" y="13394"/>
                    <a:pt x="105489" y="20371"/>
                  </a:cubicBezTo>
                  <a:close/>
                  <a:moveTo>
                    <a:pt x="84924" y="102507"/>
                  </a:moveTo>
                  <a:cubicBezTo>
                    <a:pt x="83342" y="108216"/>
                    <a:pt x="83342" y="108850"/>
                    <a:pt x="78596" y="114241"/>
                  </a:cubicBezTo>
                  <a:cubicBezTo>
                    <a:pt x="64676" y="131683"/>
                    <a:pt x="51704" y="136757"/>
                    <a:pt x="42845" y="136757"/>
                  </a:cubicBezTo>
                  <a:cubicBezTo>
                    <a:pt x="27026" y="136757"/>
                    <a:pt x="22597" y="119315"/>
                    <a:pt x="22597" y="106947"/>
                  </a:cubicBezTo>
                  <a:cubicBezTo>
                    <a:pt x="22597" y="91091"/>
                    <a:pt x="32721" y="52084"/>
                    <a:pt x="39998" y="37496"/>
                  </a:cubicBezTo>
                  <a:cubicBezTo>
                    <a:pt x="49806" y="18785"/>
                    <a:pt x="64043" y="7051"/>
                    <a:pt x="76698" y="7051"/>
                  </a:cubicBezTo>
                  <a:cubicBezTo>
                    <a:pt x="97263" y="7051"/>
                    <a:pt x="101692" y="33056"/>
                    <a:pt x="101692" y="34959"/>
                  </a:cubicBezTo>
                  <a:cubicBezTo>
                    <a:pt x="101692" y="36861"/>
                    <a:pt x="101060" y="38764"/>
                    <a:pt x="100743" y="40350"/>
                  </a:cubicBezTo>
                  <a:lnTo>
                    <a:pt x="84924" y="102507"/>
                  </a:lnTo>
                  <a:close/>
                </a:path>
              </a:pathLst>
            </a:custGeom>
            <a:grpFill/>
            <a:ln w="31750" cap="flat">
              <a:noFill/>
              <a:prstDash val="solid"/>
              <a:miter/>
            </a:ln>
          </p:spPr>
          <p:txBody>
            <a:bodyPr/>
            <a:lstStyle/>
            <a:p>
              <a:endParaRPr lang="es-CO"/>
            </a:p>
          </p:txBody>
        </p:sp>
        <p:sp>
          <p:nvSpPr>
            <p:cNvPr id="41" name="Freeform: Shape 40">
              <a:extLst>
                <a:ext uri="{FF2B5EF4-FFF2-40B4-BE49-F238E27FC236}">
                  <a16:creationId xmlns:a16="http://schemas.microsoft.com/office/drawing/2014/main" id="{2981853C-755E-6366-89B4-B48E3275A3A3}"/>
                </a:ext>
              </a:extLst>
            </p:cNvPr>
            <p:cNvSpPr/>
            <p:nvPr>
              <p:custDataLst>
                <p:tags r:id="rId35"/>
              </p:custDataLst>
            </p:nvPr>
          </p:nvSpPr>
          <p:spPr>
            <a:xfrm>
              <a:off x="7227045" y="5060551"/>
              <a:ext cx="80614" cy="147401"/>
            </a:xfrm>
            <a:custGeom>
              <a:avLst/>
              <a:gdLst>
                <a:gd name="csX0" fmla="*/ 50191 w 80614"/>
                <a:gd name="csY0" fmla="*/ 6292 h 147401"/>
                <a:gd name="csX1" fmla="*/ 43547 w 80614"/>
                <a:gd name="csY1" fmla="*/ 76 h 147401"/>
                <a:gd name="csX2" fmla="*/ 139 w 80614"/>
                <a:gd name="csY2" fmla="*/ 14283 h 147401"/>
                <a:gd name="csX3" fmla="*/ 139 w 80614"/>
                <a:gd name="csY3" fmla="*/ 22275 h 147401"/>
                <a:gd name="csX4" fmla="*/ 32252 w 80614"/>
                <a:gd name="csY4" fmla="*/ 16059 h 147401"/>
                <a:gd name="csX5" fmla="*/ 32252 w 80614"/>
                <a:gd name="csY5" fmla="*/ 129274 h 147401"/>
                <a:gd name="csX6" fmla="*/ 10105 w 80614"/>
                <a:gd name="csY6" fmla="*/ 139486 h 147401"/>
                <a:gd name="csX7" fmla="*/ 1689 w 80614"/>
                <a:gd name="csY7" fmla="*/ 139486 h 147401"/>
                <a:gd name="csX8" fmla="*/ 1689 w 80614"/>
                <a:gd name="csY8" fmla="*/ 147478 h 147401"/>
                <a:gd name="csX9" fmla="*/ 41110 w 80614"/>
                <a:gd name="csY9" fmla="*/ 146590 h 147401"/>
                <a:gd name="csX10" fmla="*/ 80753 w 80614"/>
                <a:gd name="csY10" fmla="*/ 147478 h 147401"/>
                <a:gd name="csX11" fmla="*/ 80753 w 80614"/>
                <a:gd name="csY11" fmla="*/ 139486 h 147401"/>
                <a:gd name="csX12" fmla="*/ 72337 w 80614"/>
                <a:gd name="csY12" fmla="*/ 139486 h 147401"/>
                <a:gd name="csX13" fmla="*/ 50191 w 80614"/>
                <a:gd name="csY13" fmla="*/ 129274 h 147401"/>
                <a:gd name="csX14" fmla="*/ 50191 w 80614"/>
                <a:gd name="csY14" fmla="*/ 6292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191" y="6292"/>
                  </a:moveTo>
                  <a:cubicBezTo>
                    <a:pt x="50191" y="298"/>
                    <a:pt x="49748" y="76"/>
                    <a:pt x="43547" y="76"/>
                  </a:cubicBezTo>
                  <a:cubicBezTo>
                    <a:pt x="29373" y="14061"/>
                    <a:pt x="9219" y="14283"/>
                    <a:pt x="139" y="14283"/>
                  </a:cubicBezTo>
                  <a:lnTo>
                    <a:pt x="139" y="22275"/>
                  </a:lnTo>
                  <a:cubicBezTo>
                    <a:pt x="5454" y="22275"/>
                    <a:pt x="20071" y="22275"/>
                    <a:pt x="32252" y="16059"/>
                  </a:cubicBezTo>
                  <a:lnTo>
                    <a:pt x="32252" y="129274"/>
                  </a:lnTo>
                  <a:cubicBezTo>
                    <a:pt x="32252" y="136600"/>
                    <a:pt x="32252" y="139486"/>
                    <a:pt x="10105" y="139486"/>
                  </a:cubicBezTo>
                  <a:lnTo>
                    <a:pt x="1689" y="139486"/>
                  </a:lnTo>
                  <a:lnTo>
                    <a:pt x="1689" y="147478"/>
                  </a:lnTo>
                  <a:cubicBezTo>
                    <a:pt x="5676" y="147256"/>
                    <a:pt x="32916" y="146590"/>
                    <a:pt x="41110" y="146590"/>
                  </a:cubicBezTo>
                  <a:cubicBezTo>
                    <a:pt x="47976" y="146590"/>
                    <a:pt x="75881" y="147256"/>
                    <a:pt x="80753" y="147478"/>
                  </a:cubicBezTo>
                  <a:lnTo>
                    <a:pt x="80753" y="139486"/>
                  </a:lnTo>
                  <a:lnTo>
                    <a:pt x="72337" y="139486"/>
                  </a:lnTo>
                  <a:cubicBezTo>
                    <a:pt x="50191" y="139486"/>
                    <a:pt x="50191" y="136600"/>
                    <a:pt x="50191" y="129274"/>
                  </a:cubicBezTo>
                  <a:lnTo>
                    <a:pt x="50191" y="6292"/>
                  </a:lnTo>
                  <a:close/>
                </a:path>
              </a:pathLst>
            </a:custGeom>
            <a:grpFill/>
            <a:ln w="31750" cap="flat">
              <a:noFill/>
              <a:prstDash val="solid"/>
              <a:miter/>
            </a:ln>
          </p:spPr>
          <p:txBody>
            <a:bodyPr/>
            <a:lstStyle/>
            <a:p>
              <a:endParaRPr lang="es-CO"/>
            </a:p>
          </p:txBody>
        </p:sp>
        <p:sp>
          <p:nvSpPr>
            <p:cNvPr id="42" name="Freeform: Shape 41">
              <a:extLst>
                <a:ext uri="{FF2B5EF4-FFF2-40B4-BE49-F238E27FC236}">
                  <a16:creationId xmlns:a16="http://schemas.microsoft.com/office/drawing/2014/main" id="{E9B939F0-5928-5A0A-18EA-E552DBDBA8FD}"/>
                </a:ext>
              </a:extLst>
            </p:cNvPr>
            <p:cNvSpPr/>
            <p:nvPr>
              <p:custDataLst>
                <p:tags r:id="rId36"/>
              </p:custDataLst>
            </p:nvPr>
          </p:nvSpPr>
          <p:spPr>
            <a:xfrm>
              <a:off x="7361290" y="5020213"/>
              <a:ext cx="116428" cy="143659"/>
            </a:xfrm>
            <a:custGeom>
              <a:avLst/>
              <a:gdLst>
                <a:gd name="csX0" fmla="*/ 107397 w 116428"/>
                <a:gd name="csY0" fmla="*/ 21639 h 143659"/>
                <a:gd name="csX1" fmla="*/ 92211 w 116428"/>
                <a:gd name="csY1" fmla="*/ 35910 h 143659"/>
                <a:gd name="csX2" fmla="*/ 102018 w 116428"/>
                <a:gd name="csY2" fmla="*/ 45107 h 143659"/>
                <a:gd name="csX3" fmla="*/ 116572 w 116428"/>
                <a:gd name="csY3" fmla="*/ 27348 h 143659"/>
                <a:gd name="csX4" fmla="*/ 78923 w 116428"/>
                <a:gd name="csY4" fmla="*/ 74 h 143659"/>
                <a:gd name="csX5" fmla="*/ 25454 w 116428"/>
                <a:gd name="csY5" fmla="*/ 46375 h 143659"/>
                <a:gd name="csX6" fmla="*/ 58041 w 116428"/>
                <a:gd name="csY6" fmla="*/ 77771 h 143659"/>
                <a:gd name="csX7" fmla="*/ 90945 w 116428"/>
                <a:gd name="csY7" fmla="*/ 101873 h 143659"/>
                <a:gd name="csX8" fmla="*/ 45702 w 116428"/>
                <a:gd name="csY8" fmla="*/ 136757 h 143659"/>
                <a:gd name="csX9" fmla="*/ 9635 w 116428"/>
                <a:gd name="csY9" fmla="*/ 119949 h 143659"/>
                <a:gd name="csX10" fmla="*/ 29567 w 116428"/>
                <a:gd name="csY10" fmla="*/ 103141 h 143659"/>
                <a:gd name="csX11" fmla="*/ 17861 w 116428"/>
                <a:gd name="csY11" fmla="*/ 92042 h 143659"/>
                <a:gd name="csX12" fmla="*/ 143 w 116428"/>
                <a:gd name="csY12" fmla="*/ 112972 h 143659"/>
                <a:gd name="csX13" fmla="*/ 45386 w 116428"/>
                <a:gd name="csY13" fmla="*/ 143734 h 143659"/>
                <a:gd name="csX14" fmla="*/ 108979 w 116428"/>
                <a:gd name="csY14" fmla="*/ 91091 h 143659"/>
                <a:gd name="csX15" fmla="*/ 99171 w 116428"/>
                <a:gd name="csY15" fmla="*/ 67940 h 143659"/>
                <a:gd name="csX16" fmla="*/ 67533 w 116428"/>
                <a:gd name="csY16" fmla="*/ 54621 h 143659"/>
                <a:gd name="csX17" fmla="*/ 43488 w 116428"/>
                <a:gd name="csY17" fmla="*/ 35593 h 143659"/>
                <a:gd name="csX18" fmla="*/ 78923 w 116428"/>
                <a:gd name="csY18" fmla="*/ 7051 h 143659"/>
                <a:gd name="csX19" fmla="*/ 107397 w 116428"/>
                <a:gd name="csY19" fmla="*/ 21639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397" y="21639"/>
                  </a:moveTo>
                  <a:cubicBezTo>
                    <a:pt x="98538" y="21956"/>
                    <a:pt x="92211" y="28933"/>
                    <a:pt x="92211" y="35910"/>
                  </a:cubicBezTo>
                  <a:cubicBezTo>
                    <a:pt x="92211" y="40350"/>
                    <a:pt x="95058" y="45107"/>
                    <a:pt x="102018" y="45107"/>
                  </a:cubicBezTo>
                  <a:cubicBezTo>
                    <a:pt x="108979" y="45107"/>
                    <a:pt x="116572" y="39716"/>
                    <a:pt x="116572" y="27348"/>
                  </a:cubicBezTo>
                  <a:cubicBezTo>
                    <a:pt x="116572" y="13077"/>
                    <a:pt x="102968" y="74"/>
                    <a:pt x="78923" y="74"/>
                  </a:cubicBezTo>
                  <a:cubicBezTo>
                    <a:pt x="37160" y="74"/>
                    <a:pt x="25454" y="32422"/>
                    <a:pt x="25454" y="46375"/>
                  </a:cubicBezTo>
                  <a:cubicBezTo>
                    <a:pt x="25454" y="71111"/>
                    <a:pt x="48866" y="75868"/>
                    <a:pt x="58041" y="77771"/>
                  </a:cubicBezTo>
                  <a:cubicBezTo>
                    <a:pt x="74493" y="80942"/>
                    <a:pt x="90945" y="84431"/>
                    <a:pt x="90945" y="101873"/>
                  </a:cubicBezTo>
                  <a:cubicBezTo>
                    <a:pt x="90945" y="110118"/>
                    <a:pt x="83668" y="136757"/>
                    <a:pt x="45702" y="136757"/>
                  </a:cubicBezTo>
                  <a:cubicBezTo>
                    <a:pt x="41273" y="136757"/>
                    <a:pt x="16912" y="136757"/>
                    <a:pt x="9635" y="119949"/>
                  </a:cubicBezTo>
                  <a:cubicBezTo>
                    <a:pt x="21657" y="121535"/>
                    <a:pt x="29567" y="112021"/>
                    <a:pt x="29567" y="103141"/>
                  </a:cubicBezTo>
                  <a:cubicBezTo>
                    <a:pt x="29567" y="95847"/>
                    <a:pt x="24505" y="92042"/>
                    <a:pt x="17861" y="92042"/>
                  </a:cubicBezTo>
                  <a:cubicBezTo>
                    <a:pt x="9635" y="92042"/>
                    <a:pt x="143" y="98702"/>
                    <a:pt x="143" y="112972"/>
                  </a:cubicBezTo>
                  <a:cubicBezTo>
                    <a:pt x="143" y="131049"/>
                    <a:pt x="18177" y="143734"/>
                    <a:pt x="45386" y="143734"/>
                  </a:cubicBezTo>
                  <a:cubicBezTo>
                    <a:pt x="96640" y="143734"/>
                    <a:pt x="108979" y="105361"/>
                    <a:pt x="108979" y="91091"/>
                  </a:cubicBezTo>
                  <a:cubicBezTo>
                    <a:pt x="108979" y="79674"/>
                    <a:pt x="102968" y="71746"/>
                    <a:pt x="99171" y="67940"/>
                  </a:cubicBezTo>
                  <a:cubicBezTo>
                    <a:pt x="90629" y="59061"/>
                    <a:pt x="81454" y="57475"/>
                    <a:pt x="67533" y="54621"/>
                  </a:cubicBezTo>
                  <a:cubicBezTo>
                    <a:pt x="56143" y="52084"/>
                    <a:pt x="43488" y="49864"/>
                    <a:pt x="43488" y="35593"/>
                  </a:cubicBezTo>
                  <a:cubicBezTo>
                    <a:pt x="43488" y="26396"/>
                    <a:pt x="51081" y="7051"/>
                    <a:pt x="78923" y="7051"/>
                  </a:cubicBezTo>
                  <a:cubicBezTo>
                    <a:pt x="86832" y="7051"/>
                    <a:pt x="102651" y="9271"/>
                    <a:pt x="107397" y="21639"/>
                  </a:cubicBezTo>
                  <a:close/>
                </a:path>
              </a:pathLst>
            </a:custGeom>
            <a:grpFill/>
            <a:ln w="31750" cap="flat">
              <a:noFill/>
              <a:prstDash val="solid"/>
              <a:miter/>
            </a:ln>
          </p:spPr>
          <p:txBody>
            <a:bodyPr/>
            <a:lstStyle/>
            <a:p>
              <a:endParaRPr lang="es-CO"/>
            </a:p>
          </p:txBody>
        </p:sp>
        <p:sp>
          <p:nvSpPr>
            <p:cNvPr id="43" name="Freeform: Shape 42">
              <a:extLst>
                <a:ext uri="{FF2B5EF4-FFF2-40B4-BE49-F238E27FC236}">
                  <a16:creationId xmlns:a16="http://schemas.microsoft.com/office/drawing/2014/main" id="{609FDF23-955A-244E-A019-427A5BDA1961}"/>
                </a:ext>
              </a:extLst>
            </p:cNvPr>
            <p:cNvSpPr/>
            <p:nvPr>
              <p:custDataLst>
                <p:tags r:id="rId37"/>
              </p:custDataLst>
            </p:nvPr>
          </p:nvSpPr>
          <p:spPr>
            <a:xfrm>
              <a:off x="7503551" y="4970871"/>
              <a:ext cx="135316" cy="100117"/>
            </a:xfrm>
            <a:custGeom>
              <a:avLst/>
              <a:gdLst>
                <a:gd name="csX0" fmla="*/ 16758 w 135316"/>
                <a:gd name="csY0" fmla="*/ 83984 h 100117"/>
                <a:gd name="csX1" fmla="*/ 14543 w 135316"/>
                <a:gd name="csY1" fmla="*/ 93086 h 100117"/>
                <a:gd name="csX2" fmla="*/ 22073 w 135316"/>
                <a:gd name="csY2" fmla="*/ 100189 h 100117"/>
                <a:gd name="csX3" fmla="*/ 30711 w 135316"/>
                <a:gd name="csY3" fmla="*/ 95305 h 100117"/>
                <a:gd name="csX4" fmla="*/ 34697 w 135316"/>
                <a:gd name="csY4" fmla="*/ 81542 h 100117"/>
                <a:gd name="csX5" fmla="*/ 39569 w 135316"/>
                <a:gd name="csY5" fmla="*/ 61563 h 100117"/>
                <a:gd name="csX6" fmla="*/ 43334 w 135316"/>
                <a:gd name="csY6" fmla="*/ 46690 h 100117"/>
                <a:gd name="csX7" fmla="*/ 52636 w 135316"/>
                <a:gd name="csY7" fmla="*/ 26710 h 100117"/>
                <a:gd name="csX8" fmla="*/ 85856 w 135316"/>
                <a:gd name="csY8" fmla="*/ 6287 h 100117"/>
                <a:gd name="csX9" fmla="*/ 98923 w 135316"/>
                <a:gd name="csY9" fmla="*/ 21827 h 100117"/>
                <a:gd name="csX10" fmla="*/ 85856 w 135316"/>
                <a:gd name="csY10" fmla="*/ 69111 h 100117"/>
                <a:gd name="csX11" fmla="*/ 82534 w 135316"/>
                <a:gd name="csY11" fmla="*/ 81098 h 100117"/>
                <a:gd name="csX12" fmla="*/ 103573 w 135316"/>
                <a:gd name="csY12" fmla="*/ 100189 h 100117"/>
                <a:gd name="csX13" fmla="*/ 135465 w 135316"/>
                <a:gd name="csY13" fmla="*/ 66225 h 100117"/>
                <a:gd name="csX14" fmla="*/ 131921 w 135316"/>
                <a:gd name="csY14" fmla="*/ 63339 h 100117"/>
                <a:gd name="csX15" fmla="*/ 127713 w 135316"/>
                <a:gd name="csY15" fmla="*/ 67113 h 100117"/>
                <a:gd name="csX16" fmla="*/ 104238 w 135316"/>
                <a:gd name="csY16" fmla="*/ 93974 h 100117"/>
                <a:gd name="csX17" fmla="*/ 98701 w 135316"/>
                <a:gd name="csY17" fmla="*/ 86204 h 100117"/>
                <a:gd name="csX18" fmla="*/ 103795 w 135316"/>
                <a:gd name="csY18" fmla="*/ 68223 h 100117"/>
                <a:gd name="csX19" fmla="*/ 115533 w 135316"/>
                <a:gd name="csY19" fmla="*/ 25379 h 100117"/>
                <a:gd name="csX20" fmla="*/ 86742 w 135316"/>
                <a:gd name="csY20" fmla="*/ 72 h 100117"/>
                <a:gd name="csX21" fmla="*/ 49314 w 135316"/>
                <a:gd name="csY21" fmla="*/ 20273 h 100117"/>
                <a:gd name="csX22" fmla="*/ 25617 w 135316"/>
                <a:gd name="csY22" fmla="*/ 72 h 100117"/>
                <a:gd name="csX23" fmla="*/ 8121 w 135316"/>
                <a:gd name="csY23" fmla="*/ 12059 h 100117"/>
                <a:gd name="csX24" fmla="*/ 148 w 135316"/>
                <a:gd name="csY24" fmla="*/ 34036 h 100117"/>
                <a:gd name="csX25" fmla="*/ 3913 w 135316"/>
                <a:gd name="csY25" fmla="*/ 36922 h 100117"/>
                <a:gd name="csX26" fmla="*/ 8785 w 135316"/>
                <a:gd name="csY26" fmla="*/ 30262 h 100117"/>
                <a:gd name="csX27" fmla="*/ 24952 w 135316"/>
                <a:gd name="csY27" fmla="*/ 6287 h 100117"/>
                <a:gd name="csX28" fmla="*/ 32261 w 135316"/>
                <a:gd name="csY28" fmla="*/ 17165 h 100117"/>
                <a:gd name="csX29" fmla="*/ 28717 w 135316"/>
                <a:gd name="csY29" fmla="*/ 35590 h 100117"/>
                <a:gd name="csX30" fmla="*/ 23845 w 135316"/>
                <a:gd name="csY30" fmla="*/ 55569 h 100117"/>
                <a:gd name="csX31" fmla="*/ 16758 w 135316"/>
                <a:gd name="csY31" fmla="*/ 83984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758" y="83984"/>
                  </a:moveTo>
                  <a:cubicBezTo>
                    <a:pt x="15872" y="86870"/>
                    <a:pt x="14543" y="92420"/>
                    <a:pt x="14543" y="93086"/>
                  </a:cubicBezTo>
                  <a:cubicBezTo>
                    <a:pt x="14543" y="97969"/>
                    <a:pt x="18530" y="100189"/>
                    <a:pt x="22073" y="100189"/>
                  </a:cubicBezTo>
                  <a:cubicBezTo>
                    <a:pt x="26060" y="100189"/>
                    <a:pt x="29603" y="97303"/>
                    <a:pt x="30711" y="95305"/>
                  </a:cubicBezTo>
                  <a:cubicBezTo>
                    <a:pt x="31818" y="93308"/>
                    <a:pt x="33590" y="86204"/>
                    <a:pt x="34697" y="81542"/>
                  </a:cubicBezTo>
                  <a:cubicBezTo>
                    <a:pt x="35804" y="77324"/>
                    <a:pt x="38240" y="67113"/>
                    <a:pt x="39569" y="61563"/>
                  </a:cubicBezTo>
                  <a:cubicBezTo>
                    <a:pt x="40898" y="56679"/>
                    <a:pt x="42227" y="51795"/>
                    <a:pt x="43334" y="46690"/>
                  </a:cubicBezTo>
                  <a:cubicBezTo>
                    <a:pt x="45770" y="37588"/>
                    <a:pt x="46213" y="35812"/>
                    <a:pt x="52636" y="26710"/>
                  </a:cubicBezTo>
                  <a:cubicBezTo>
                    <a:pt x="58837" y="17831"/>
                    <a:pt x="69246" y="6287"/>
                    <a:pt x="85856" y="6287"/>
                  </a:cubicBezTo>
                  <a:cubicBezTo>
                    <a:pt x="98701" y="6287"/>
                    <a:pt x="98923" y="17609"/>
                    <a:pt x="98923" y="21827"/>
                  </a:cubicBezTo>
                  <a:cubicBezTo>
                    <a:pt x="98923" y="35146"/>
                    <a:pt x="89399" y="59787"/>
                    <a:pt x="85856" y="69111"/>
                  </a:cubicBezTo>
                  <a:cubicBezTo>
                    <a:pt x="83420" y="75326"/>
                    <a:pt x="82534" y="77324"/>
                    <a:pt x="82534" y="81098"/>
                  </a:cubicBezTo>
                  <a:cubicBezTo>
                    <a:pt x="82534" y="92864"/>
                    <a:pt x="92279" y="100189"/>
                    <a:pt x="103573" y="100189"/>
                  </a:cubicBezTo>
                  <a:cubicBezTo>
                    <a:pt x="125720" y="100189"/>
                    <a:pt x="135465" y="69555"/>
                    <a:pt x="135465" y="66225"/>
                  </a:cubicBezTo>
                  <a:cubicBezTo>
                    <a:pt x="135465" y="63339"/>
                    <a:pt x="132586" y="63339"/>
                    <a:pt x="131921" y="63339"/>
                  </a:cubicBezTo>
                  <a:cubicBezTo>
                    <a:pt x="128821" y="63339"/>
                    <a:pt x="128599" y="64671"/>
                    <a:pt x="127713" y="67113"/>
                  </a:cubicBezTo>
                  <a:cubicBezTo>
                    <a:pt x="122620" y="84872"/>
                    <a:pt x="113096" y="93974"/>
                    <a:pt x="104238" y="93974"/>
                  </a:cubicBezTo>
                  <a:cubicBezTo>
                    <a:pt x="99587" y="93974"/>
                    <a:pt x="98701" y="90866"/>
                    <a:pt x="98701" y="86204"/>
                  </a:cubicBezTo>
                  <a:cubicBezTo>
                    <a:pt x="98701" y="81098"/>
                    <a:pt x="99808" y="78212"/>
                    <a:pt x="103795" y="68223"/>
                  </a:cubicBezTo>
                  <a:cubicBezTo>
                    <a:pt x="106452" y="61341"/>
                    <a:pt x="115533" y="37810"/>
                    <a:pt x="115533" y="25379"/>
                  </a:cubicBezTo>
                  <a:cubicBezTo>
                    <a:pt x="115533" y="3845"/>
                    <a:pt x="98480" y="72"/>
                    <a:pt x="86742" y="72"/>
                  </a:cubicBezTo>
                  <a:cubicBezTo>
                    <a:pt x="68360" y="72"/>
                    <a:pt x="55958" y="11393"/>
                    <a:pt x="49314" y="20273"/>
                  </a:cubicBezTo>
                  <a:cubicBezTo>
                    <a:pt x="47764" y="4955"/>
                    <a:pt x="34697" y="72"/>
                    <a:pt x="25617" y="72"/>
                  </a:cubicBezTo>
                  <a:cubicBezTo>
                    <a:pt x="16094" y="72"/>
                    <a:pt x="11000" y="6953"/>
                    <a:pt x="8121" y="12059"/>
                  </a:cubicBezTo>
                  <a:cubicBezTo>
                    <a:pt x="3249" y="20273"/>
                    <a:pt x="148" y="32926"/>
                    <a:pt x="148" y="34036"/>
                  </a:cubicBezTo>
                  <a:cubicBezTo>
                    <a:pt x="148" y="36922"/>
                    <a:pt x="3249" y="36922"/>
                    <a:pt x="3913" y="36922"/>
                  </a:cubicBezTo>
                  <a:cubicBezTo>
                    <a:pt x="7014" y="36922"/>
                    <a:pt x="7235" y="36256"/>
                    <a:pt x="8785" y="30262"/>
                  </a:cubicBezTo>
                  <a:cubicBezTo>
                    <a:pt x="12107" y="17165"/>
                    <a:pt x="16315" y="6287"/>
                    <a:pt x="24952" y="6287"/>
                  </a:cubicBezTo>
                  <a:cubicBezTo>
                    <a:pt x="30711" y="6287"/>
                    <a:pt x="32261" y="11171"/>
                    <a:pt x="32261" y="17165"/>
                  </a:cubicBezTo>
                  <a:cubicBezTo>
                    <a:pt x="32261" y="21383"/>
                    <a:pt x="30268" y="29596"/>
                    <a:pt x="28717" y="35590"/>
                  </a:cubicBezTo>
                  <a:cubicBezTo>
                    <a:pt x="27167" y="41584"/>
                    <a:pt x="24952" y="50685"/>
                    <a:pt x="23845" y="55569"/>
                  </a:cubicBezTo>
                  <a:lnTo>
                    <a:pt x="16758" y="83984"/>
                  </a:lnTo>
                  <a:close/>
                </a:path>
              </a:pathLst>
            </a:custGeom>
            <a:grpFill/>
            <a:ln w="31750" cap="flat">
              <a:noFill/>
              <a:prstDash val="solid"/>
              <a:miter/>
            </a:ln>
          </p:spPr>
          <p:txBody>
            <a:bodyPr/>
            <a:lstStyle/>
            <a:p>
              <a:endParaRPr lang="es-CO"/>
            </a:p>
          </p:txBody>
        </p:sp>
        <p:sp>
          <p:nvSpPr>
            <p:cNvPr id="44" name="Freeform: Shape 43">
              <a:extLst>
                <a:ext uri="{FF2B5EF4-FFF2-40B4-BE49-F238E27FC236}">
                  <a16:creationId xmlns:a16="http://schemas.microsoft.com/office/drawing/2014/main" id="{BC4EC0B4-C1D8-7FA8-4E51-30C54E1594E9}"/>
                </a:ext>
              </a:extLst>
            </p:cNvPr>
            <p:cNvSpPr/>
            <p:nvPr>
              <p:custDataLst>
                <p:tags r:id="rId38"/>
              </p:custDataLst>
            </p:nvPr>
          </p:nvSpPr>
          <p:spPr>
            <a:xfrm>
              <a:off x="7673458" y="5007721"/>
              <a:ext cx="149711" cy="10877"/>
            </a:xfrm>
            <a:custGeom>
              <a:avLst/>
              <a:gdLst>
                <a:gd name="csX0" fmla="*/ 141006 w 149711"/>
                <a:gd name="csY0" fmla="*/ 10949 h 10877"/>
                <a:gd name="csX1" fmla="*/ 149865 w 149711"/>
                <a:gd name="csY1" fmla="*/ 5621 h 10877"/>
                <a:gd name="csX2" fmla="*/ 141006 w 149711"/>
                <a:gd name="csY2" fmla="*/ 72 h 10877"/>
                <a:gd name="csX3" fmla="*/ 9012 w 149711"/>
                <a:gd name="csY3" fmla="*/ 72 h 10877"/>
                <a:gd name="csX4" fmla="*/ 153 w 149711"/>
                <a:gd name="csY4" fmla="*/ 5399 h 10877"/>
                <a:gd name="csX5" fmla="*/ 9012 w 149711"/>
                <a:gd name="csY5" fmla="*/ 10949 h 10877"/>
                <a:gd name="csX6" fmla="*/ 141006 w 149711"/>
                <a:gd name="csY6" fmla="*/ 10949 h 10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9711" h="10877">
                  <a:moveTo>
                    <a:pt x="141006" y="10949"/>
                  </a:moveTo>
                  <a:cubicBezTo>
                    <a:pt x="144550" y="10949"/>
                    <a:pt x="149865" y="10949"/>
                    <a:pt x="149865" y="5621"/>
                  </a:cubicBezTo>
                  <a:cubicBezTo>
                    <a:pt x="149865" y="72"/>
                    <a:pt x="144771" y="72"/>
                    <a:pt x="141006" y="72"/>
                  </a:cubicBezTo>
                  <a:lnTo>
                    <a:pt x="9012" y="72"/>
                  </a:lnTo>
                  <a:cubicBezTo>
                    <a:pt x="5468" y="72"/>
                    <a:pt x="153" y="72"/>
                    <a:pt x="153" y="5399"/>
                  </a:cubicBezTo>
                  <a:cubicBezTo>
                    <a:pt x="153" y="10949"/>
                    <a:pt x="5247" y="10949"/>
                    <a:pt x="9012" y="10949"/>
                  </a:cubicBezTo>
                  <a:lnTo>
                    <a:pt x="141006" y="10949"/>
                  </a:lnTo>
                  <a:close/>
                </a:path>
              </a:pathLst>
            </a:custGeom>
            <a:grpFill/>
            <a:ln w="31750" cap="flat">
              <a:noFill/>
              <a:prstDash val="solid"/>
              <a:miter/>
            </a:ln>
          </p:spPr>
          <p:txBody>
            <a:bodyPr/>
            <a:lstStyle/>
            <a:p>
              <a:endParaRPr lang="es-CO"/>
            </a:p>
          </p:txBody>
        </p:sp>
        <p:sp>
          <p:nvSpPr>
            <p:cNvPr id="45" name="Freeform: Shape 44">
              <a:extLst>
                <a:ext uri="{FF2B5EF4-FFF2-40B4-BE49-F238E27FC236}">
                  <a16:creationId xmlns:a16="http://schemas.microsoft.com/office/drawing/2014/main" id="{BC656D62-011B-6DDF-875D-46BAD0CA95F2}"/>
                </a:ext>
              </a:extLst>
            </p:cNvPr>
            <p:cNvSpPr/>
            <p:nvPr>
              <p:custDataLst>
                <p:tags r:id="rId39"/>
              </p:custDataLst>
            </p:nvPr>
          </p:nvSpPr>
          <p:spPr>
            <a:xfrm>
              <a:off x="7871419" y="4921367"/>
              <a:ext cx="80614" cy="147401"/>
            </a:xfrm>
            <a:custGeom>
              <a:avLst/>
              <a:gdLst>
                <a:gd name="csX0" fmla="*/ 50211 w 80614"/>
                <a:gd name="csY0" fmla="*/ 6287 h 147401"/>
                <a:gd name="csX1" fmla="*/ 43567 w 80614"/>
                <a:gd name="csY1" fmla="*/ 72 h 147401"/>
                <a:gd name="csX2" fmla="*/ 159 w 80614"/>
                <a:gd name="csY2" fmla="*/ 14279 h 147401"/>
                <a:gd name="csX3" fmla="*/ 159 w 80614"/>
                <a:gd name="csY3" fmla="*/ 22271 h 147401"/>
                <a:gd name="csX4" fmla="*/ 32272 w 80614"/>
                <a:gd name="csY4" fmla="*/ 16055 h 147401"/>
                <a:gd name="csX5" fmla="*/ 32272 w 80614"/>
                <a:gd name="csY5" fmla="*/ 129270 h 147401"/>
                <a:gd name="csX6" fmla="*/ 10125 w 80614"/>
                <a:gd name="csY6" fmla="*/ 139482 h 147401"/>
                <a:gd name="csX7" fmla="*/ 1710 w 80614"/>
                <a:gd name="csY7" fmla="*/ 139482 h 147401"/>
                <a:gd name="csX8" fmla="*/ 1710 w 80614"/>
                <a:gd name="csY8" fmla="*/ 147473 h 147401"/>
                <a:gd name="csX9" fmla="*/ 41131 w 80614"/>
                <a:gd name="csY9" fmla="*/ 146585 h 147401"/>
                <a:gd name="csX10" fmla="*/ 80773 w 80614"/>
                <a:gd name="csY10" fmla="*/ 147473 h 147401"/>
                <a:gd name="csX11" fmla="*/ 80773 w 80614"/>
                <a:gd name="csY11" fmla="*/ 139482 h 147401"/>
                <a:gd name="csX12" fmla="*/ 72358 w 80614"/>
                <a:gd name="csY12" fmla="*/ 139482 h 147401"/>
                <a:gd name="csX13" fmla="*/ 50211 w 80614"/>
                <a:gd name="csY13" fmla="*/ 129270 h 147401"/>
                <a:gd name="csX14" fmla="*/ 50211 w 80614"/>
                <a:gd name="csY14" fmla="*/ 6287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211" y="6287"/>
                  </a:moveTo>
                  <a:cubicBezTo>
                    <a:pt x="50211" y="294"/>
                    <a:pt x="49768" y="72"/>
                    <a:pt x="43567" y="72"/>
                  </a:cubicBezTo>
                  <a:cubicBezTo>
                    <a:pt x="29393" y="14057"/>
                    <a:pt x="9239" y="14279"/>
                    <a:pt x="159" y="14279"/>
                  </a:cubicBezTo>
                  <a:lnTo>
                    <a:pt x="159" y="22271"/>
                  </a:lnTo>
                  <a:cubicBezTo>
                    <a:pt x="5475" y="22271"/>
                    <a:pt x="20091" y="22271"/>
                    <a:pt x="32272" y="16055"/>
                  </a:cubicBezTo>
                  <a:lnTo>
                    <a:pt x="32272" y="129270"/>
                  </a:lnTo>
                  <a:cubicBezTo>
                    <a:pt x="32272" y="136596"/>
                    <a:pt x="32272" y="139482"/>
                    <a:pt x="10125" y="139482"/>
                  </a:cubicBezTo>
                  <a:lnTo>
                    <a:pt x="1710" y="139482"/>
                  </a:lnTo>
                  <a:lnTo>
                    <a:pt x="1710" y="147473"/>
                  </a:lnTo>
                  <a:cubicBezTo>
                    <a:pt x="5696" y="147251"/>
                    <a:pt x="32936" y="146585"/>
                    <a:pt x="41131" y="146585"/>
                  </a:cubicBezTo>
                  <a:cubicBezTo>
                    <a:pt x="47996" y="146585"/>
                    <a:pt x="75901" y="147251"/>
                    <a:pt x="80773" y="147473"/>
                  </a:cubicBezTo>
                  <a:lnTo>
                    <a:pt x="80773" y="139482"/>
                  </a:lnTo>
                  <a:lnTo>
                    <a:pt x="72358" y="139482"/>
                  </a:lnTo>
                  <a:cubicBezTo>
                    <a:pt x="50211" y="139482"/>
                    <a:pt x="50211" y="136596"/>
                    <a:pt x="50211" y="129270"/>
                  </a:cubicBezTo>
                  <a:lnTo>
                    <a:pt x="50211" y="6287"/>
                  </a:lnTo>
                  <a:close/>
                </a:path>
              </a:pathLst>
            </a:custGeom>
            <a:grpFill/>
            <a:ln w="31750" cap="flat">
              <a:noFill/>
              <a:prstDash val="solid"/>
              <a:miter/>
            </a:ln>
          </p:spPr>
          <p:txBody>
            <a:bodyPr/>
            <a:lstStyle/>
            <a:p>
              <a:endParaRPr lang="es-CO"/>
            </a:p>
          </p:txBody>
        </p:sp>
        <p:sp>
          <p:nvSpPr>
            <p:cNvPr id="46" name="Freeform: Shape 45">
              <a:extLst>
                <a:ext uri="{FF2B5EF4-FFF2-40B4-BE49-F238E27FC236}">
                  <a16:creationId xmlns:a16="http://schemas.microsoft.com/office/drawing/2014/main" id="{5811F99E-01E1-6DE9-EE1B-0E5B8A41B431}"/>
                </a:ext>
              </a:extLst>
            </p:cNvPr>
            <p:cNvSpPr/>
            <p:nvPr>
              <p:custDataLst>
                <p:tags r:id="rId40"/>
              </p:custDataLst>
            </p:nvPr>
          </p:nvSpPr>
          <p:spPr>
            <a:xfrm>
              <a:off x="8077235" y="4975497"/>
              <a:ext cx="210393" cy="211207"/>
            </a:xfrm>
            <a:custGeom>
              <a:avLst/>
              <a:gdLst>
                <a:gd name="csX0" fmla="*/ 111849 w 210393"/>
                <a:gd name="csY0" fmla="*/ 112021 h 211207"/>
                <a:gd name="csX1" fmla="*/ 200119 w 210393"/>
                <a:gd name="csY1" fmla="*/ 112021 h 211207"/>
                <a:gd name="csX2" fmla="*/ 210560 w 210393"/>
                <a:gd name="csY2" fmla="*/ 105678 h 211207"/>
                <a:gd name="csX3" fmla="*/ 200119 w 210393"/>
                <a:gd name="csY3" fmla="*/ 99336 h 211207"/>
                <a:gd name="csX4" fmla="*/ 111849 w 210393"/>
                <a:gd name="csY4" fmla="*/ 99336 h 211207"/>
                <a:gd name="csX5" fmla="*/ 111849 w 210393"/>
                <a:gd name="csY5" fmla="*/ 10540 h 211207"/>
                <a:gd name="csX6" fmla="*/ 105521 w 210393"/>
                <a:gd name="csY6" fmla="*/ 74 h 211207"/>
                <a:gd name="csX7" fmla="*/ 99193 w 210393"/>
                <a:gd name="csY7" fmla="*/ 10540 h 211207"/>
                <a:gd name="csX8" fmla="*/ 99193 w 210393"/>
                <a:gd name="csY8" fmla="*/ 99336 h 211207"/>
                <a:gd name="csX9" fmla="*/ 10607 w 210393"/>
                <a:gd name="csY9" fmla="*/ 99336 h 211207"/>
                <a:gd name="csX10" fmla="*/ 166 w 210393"/>
                <a:gd name="csY10" fmla="*/ 105678 h 211207"/>
                <a:gd name="csX11" fmla="*/ 10607 w 210393"/>
                <a:gd name="csY11" fmla="*/ 112021 h 211207"/>
                <a:gd name="csX12" fmla="*/ 99193 w 210393"/>
                <a:gd name="csY12" fmla="*/ 112021 h 211207"/>
                <a:gd name="csX13" fmla="*/ 99193 w 210393"/>
                <a:gd name="csY13" fmla="*/ 200817 h 211207"/>
                <a:gd name="csX14" fmla="*/ 105521 w 210393"/>
                <a:gd name="csY14" fmla="*/ 211282 h 211207"/>
                <a:gd name="csX15" fmla="*/ 111849 w 210393"/>
                <a:gd name="csY15" fmla="*/ 200817 h 211207"/>
                <a:gd name="csX16" fmla="*/ 111849 w 210393"/>
                <a:gd name="csY16" fmla="*/ 112021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849" y="112021"/>
                  </a:moveTo>
                  <a:lnTo>
                    <a:pt x="200119" y="112021"/>
                  </a:lnTo>
                  <a:cubicBezTo>
                    <a:pt x="204549" y="112021"/>
                    <a:pt x="210560" y="112021"/>
                    <a:pt x="210560" y="105678"/>
                  </a:cubicBezTo>
                  <a:cubicBezTo>
                    <a:pt x="210560" y="99336"/>
                    <a:pt x="204549" y="99336"/>
                    <a:pt x="200119" y="99336"/>
                  </a:cubicBezTo>
                  <a:lnTo>
                    <a:pt x="111849" y="99336"/>
                  </a:lnTo>
                  <a:lnTo>
                    <a:pt x="111849" y="10540"/>
                  </a:lnTo>
                  <a:cubicBezTo>
                    <a:pt x="111849" y="6100"/>
                    <a:pt x="111849" y="74"/>
                    <a:pt x="105521" y="74"/>
                  </a:cubicBezTo>
                  <a:cubicBezTo>
                    <a:pt x="99193" y="74"/>
                    <a:pt x="99193" y="6100"/>
                    <a:pt x="99193" y="10540"/>
                  </a:cubicBezTo>
                  <a:lnTo>
                    <a:pt x="99193" y="99336"/>
                  </a:lnTo>
                  <a:lnTo>
                    <a:pt x="10607" y="99336"/>
                  </a:lnTo>
                  <a:cubicBezTo>
                    <a:pt x="6177" y="99336"/>
                    <a:pt x="166" y="99336"/>
                    <a:pt x="166" y="105678"/>
                  </a:cubicBezTo>
                  <a:cubicBezTo>
                    <a:pt x="166" y="112021"/>
                    <a:pt x="6177" y="112021"/>
                    <a:pt x="10607" y="112021"/>
                  </a:cubicBezTo>
                  <a:lnTo>
                    <a:pt x="99193" y="112021"/>
                  </a:lnTo>
                  <a:lnTo>
                    <a:pt x="99193" y="200817"/>
                  </a:lnTo>
                  <a:cubicBezTo>
                    <a:pt x="99193" y="205257"/>
                    <a:pt x="99193" y="211282"/>
                    <a:pt x="105521" y="211282"/>
                  </a:cubicBezTo>
                  <a:cubicBezTo>
                    <a:pt x="111849" y="211282"/>
                    <a:pt x="111849" y="205257"/>
                    <a:pt x="111849" y="200817"/>
                  </a:cubicBezTo>
                  <a:lnTo>
                    <a:pt x="111849" y="112021"/>
                  </a:lnTo>
                  <a:close/>
                </a:path>
              </a:pathLst>
            </a:custGeom>
            <a:grpFill/>
            <a:ln w="31750" cap="flat">
              <a:noFill/>
              <a:prstDash val="solid"/>
              <a:miter/>
            </a:ln>
          </p:spPr>
          <p:txBody>
            <a:bodyPr/>
            <a:lstStyle/>
            <a:p>
              <a:endParaRPr lang="es-CO"/>
            </a:p>
          </p:txBody>
        </p:sp>
        <p:sp>
          <p:nvSpPr>
            <p:cNvPr id="47" name="Freeform: Shape 46">
              <a:extLst>
                <a:ext uri="{FF2B5EF4-FFF2-40B4-BE49-F238E27FC236}">
                  <a16:creationId xmlns:a16="http://schemas.microsoft.com/office/drawing/2014/main" id="{B47E8CB4-F463-B323-E5FF-C14510BADE75}"/>
                </a:ext>
              </a:extLst>
            </p:cNvPr>
            <p:cNvSpPr/>
            <p:nvPr>
              <p:custDataLst>
                <p:tags r:id="rId41"/>
              </p:custDataLst>
            </p:nvPr>
          </p:nvSpPr>
          <p:spPr>
            <a:xfrm>
              <a:off x="8403107" y="5126768"/>
              <a:ext cx="33536" cy="33615"/>
            </a:xfrm>
            <a:custGeom>
              <a:avLst/>
              <a:gdLst>
                <a:gd name="csX0" fmla="*/ 33712 w 33536"/>
                <a:gd name="csY0" fmla="*/ 16882 h 33615"/>
                <a:gd name="csX1" fmla="*/ 16944 w 33536"/>
                <a:gd name="csY1" fmla="*/ 74 h 33615"/>
                <a:gd name="csX2" fmla="*/ 176 w 33536"/>
                <a:gd name="csY2" fmla="*/ 16882 h 33615"/>
                <a:gd name="csX3" fmla="*/ 16944 w 33536"/>
                <a:gd name="csY3" fmla="*/ 33690 h 33615"/>
                <a:gd name="csX4" fmla="*/ 33712 w 33536"/>
                <a:gd name="csY4" fmla="*/ 16882 h 33615"/>
              </a:gdLst>
              <a:ahLst/>
              <a:cxnLst>
                <a:cxn ang="0">
                  <a:pos x="csX0" y="csY0"/>
                </a:cxn>
                <a:cxn ang="0">
                  <a:pos x="csX1" y="csY1"/>
                </a:cxn>
                <a:cxn ang="0">
                  <a:pos x="csX2" y="csY2"/>
                </a:cxn>
                <a:cxn ang="0">
                  <a:pos x="csX3" y="csY3"/>
                </a:cxn>
                <a:cxn ang="0">
                  <a:pos x="csX4" y="csY4"/>
                </a:cxn>
              </a:cxnLst>
              <a:rect l="l" t="t" r="r" b="b"/>
              <a:pathLst>
                <a:path w="33536" h="33615">
                  <a:moveTo>
                    <a:pt x="33712" y="16882"/>
                  </a:moveTo>
                  <a:cubicBezTo>
                    <a:pt x="33712" y="7686"/>
                    <a:pt x="26119" y="74"/>
                    <a:pt x="16944" y="74"/>
                  </a:cubicBezTo>
                  <a:cubicBezTo>
                    <a:pt x="7769" y="74"/>
                    <a:pt x="176" y="7686"/>
                    <a:pt x="176" y="16882"/>
                  </a:cubicBezTo>
                  <a:cubicBezTo>
                    <a:pt x="176" y="26079"/>
                    <a:pt x="7769" y="33690"/>
                    <a:pt x="16944" y="33690"/>
                  </a:cubicBezTo>
                  <a:cubicBezTo>
                    <a:pt x="26119" y="33690"/>
                    <a:pt x="33712" y="26079"/>
                    <a:pt x="33712" y="16882"/>
                  </a:cubicBezTo>
                  <a:close/>
                </a:path>
              </a:pathLst>
            </a:custGeom>
            <a:grpFill/>
            <a:ln w="31750" cap="flat">
              <a:noFill/>
              <a:prstDash val="solid"/>
              <a:miter/>
            </a:ln>
          </p:spPr>
          <p:txBody>
            <a:bodyPr/>
            <a:lstStyle/>
            <a:p>
              <a:endParaRPr lang="es-CO"/>
            </a:p>
          </p:txBody>
        </p:sp>
        <p:sp>
          <p:nvSpPr>
            <p:cNvPr id="48" name="Freeform: Shape 47">
              <a:extLst>
                <a:ext uri="{FF2B5EF4-FFF2-40B4-BE49-F238E27FC236}">
                  <a16:creationId xmlns:a16="http://schemas.microsoft.com/office/drawing/2014/main" id="{20971CA5-6C9A-45C8-3834-451F90370201}"/>
                </a:ext>
              </a:extLst>
            </p:cNvPr>
            <p:cNvSpPr/>
            <p:nvPr>
              <p:custDataLst>
                <p:tags r:id="rId42"/>
              </p:custDataLst>
            </p:nvPr>
          </p:nvSpPr>
          <p:spPr>
            <a:xfrm>
              <a:off x="8490991" y="5126768"/>
              <a:ext cx="33536" cy="33615"/>
            </a:xfrm>
            <a:custGeom>
              <a:avLst/>
              <a:gdLst>
                <a:gd name="csX0" fmla="*/ 33715 w 33536"/>
                <a:gd name="csY0" fmla="*/ 16882 h 33615"/>
                <a:gd name="csX1" fmla="*/ 16947 w 33536"/>
                <a:gd name="csY1" fmla="*/ 74 h 33615"/>
                <a:gd name="csX2" fmla="*/ 179 w 33536"/>
                <a:gd name="csY2" fmla="*/ 16882 h 33615"/>
                <a:gd name="csX3" fmla="*/ 16947 w 33536"/>
                <a:gd name="csY3" fmla="*/ 33690 h 33615"/>
                <a:gd name="csX4" fmla="*/ 33715 w 33536"/>
                <a:gd name="csY4" fmla="*/ 16882 h 33615"/>
              </a:gdLst>
              <a:ahLst/>
              <a:cxnLst>
                <a:cxn ang="0">
                  <a:pos x="csX0" y="csY0"/>
                </a:cxn>
                <a:cxn ang="0">
                  <a:pos x="csX1" y="csY1"/>
                </a:cxn>
                <a:cxn ang="0">
                  <a:pos x="csX2" y="csY2"/>
                </a:cxn>
                <a:cxn ang="0">
                  <a:pos x="csX3" y="csY3"/>
                </a:cxn>
                <a:cxn ang="0">
                  <a:pos x="csX4" y="csY4"/>
                </a:cxn>
              </a:cxnLst>
              <a:rect l="l" t="t" r="r" b="b"/>
              <a:pathLst>
                <a:path w="33536" h="33615">
                  <a:moveTo>
                    <a:pt x="33715" y="16882"/>
                  </a:moveTo>
                  <a:cubicBezTo>
                    <a:pt x="33715" y="7686"/>
                    <a:pt x="26122" y="74"/>
                    <a:pt x="16947" y="74"/>
                  </a:cubicBezTo>
                  <a:cubicBezTo>
                    <a:pt x="7772" y="74"/>
                    <a:pt x="179" y="7686"/>
                    <a:pt x="179" y="16882"/>
                  </a:cubicBezTo>
                  <a:cubicBezTo>
                    <a:pt x="179" y="26079"/>
                    <a:pt x="7772" y="33690"/>
                    <a:pt x="16947" y="33690"/>
                  </a:cubicBezTo>
                  <a:cubicBezTo>
                    <a:pt x="26122" y="33690"/>
                    <a:pt x="33715" y="26079"/>
                    <a:pt x="33715" y="16882"/>
                  </a:cubicBezTo>
                  <a:close/>
                </a:path>
              </a:pathLst>
            </a:custGeom>
            <a:grpFill/>
            <a:ln w="31750" cap="flat">
              <a:noFill/>
              <a:prstDash val="solid"/>
              <a:miter/>
            </a:ln>
          </p:spPr>
          <p:txBody>
            <a:bodyPr/>
            <a:lstStyle/>
            <a:p>
              <a:endParaRPr lang="es-CO"/>
            </a:p>
          </p:txBody>
        </p:sp>
        <p:sp>
          <p:nvSpPr>
            <p:cNvPr id="49" name="Freeform: Shape 48">
              <a:extLst>
                <a:ext uri="{FF2B5EF4-FFF2-40B4-BE49-F238E27FC236}">
                  <a16:creationId xmlns:a16="http://schemas.microsoft.com/office/drawing/2014/main" id="{2FE3C3C3-F0FF-D79A-6441-C8BBD2C831AB}"/>
                </a:ext>
              </a:extLst>
            </p:cNvPr>
            <p:cNvSpPr/>
            <p:nvPr>
              <p:custDataLst>
                <p:tags r:id="rId43"/>
              </p:custDataLst>
            </p:nvPr>
          </p:nvSpPr>
          <p:spPr>
            <a:xfrm>
              <a:off x="8578875" y="5126768"/>
              <a:ext cx="33536" cy="33615"/>
            </a:xfrm>
            <a:custGeom>
              <a:avLst/>
              <a:gdLst>
                <a:gd name="csX0" fmla="*/ 33718 w 33536"/>
                <a:gd name="csY0" fmla="*/ 16882 h 33615"/>
                <a:gd name="csX1" fmla="*/ 16950 w 33536"/>
                <a:gd name="csY1" fmla="*/ 74 h 33615"/>
                <a:gd name="csX2" fmla="*/ 181 w 33536"/>
                <a:gd name="csY2" fmla="*/ 16882 h 33615"/>
                <a:gd name="csX3" fmla="*/ 16950 w 33536"/>
                <a:gd name="csY3" fmla="*/ 33690 h 33615"/>
                <a:gd name="csX4" fmla="*/ 33718 w 33536"/>
                <a:gd name="csY4" fmla="*/ 16882 h 33615"/>
              </a:gdLst>
              <a:ahLst/>
              <a:cxnLst>
                <a:cxn ang="0">
                  <a:pos x="csX0" y="csY0"/>
                </a:cxn>
                <a:cxn ang="0">
                  <a:pos x="csX1" y="csY1"/>
                </a:cxn>
                <a:cxn ang="0">
                  <a:pos x="csX2" y="csY2"/>
                </a:cxn>
                <a:cxn ang="0">
                  <a:pos x="csX3" y="csY3"/>
                </a:cxn>
                <a:cxn ang="0">
                  <a:pos x="csX4" y="csY4"/>
                </a:cxn>
              </a:cxnLst>
              <a:rect l="l" t="t" r="r" b="b"/>
              <a:pathLst>
                <a:path w="33536" h="33615">
                  <a:moveTo>
                    <a:pt x="33718" y="16882"/>
                  </a:moveTo>
                  <a:cubicBezTo>
                    <a:pt x="33718" y="7686"/>
                    <a:pt x="26125" y="74"/>
                    <a:pt x="16950" y="74"/>
                  </a:cubicBezTo>
                  <a:cubicBezTo>
                    <a:pt x="7775" y="74"/>
                    <a:pt x="181" y="7686"/>
                    <a:pt x="181" y="16882"/>
                  </a:cubicBezTo>
                  <a:cubicBezTo>
                    <a:pt x="181" y="26079"/>
                    <a:pt x="7775" y="33690"/>
                    <a:pt x="16950" y="33690"/>
                  </a:cubicBezTo>
                  <a:cubicBezTo>
                    <a:pt x="26125" y="33690"/>
                    <a:pt x="33718" y="26079"/>
                    <a:pt x="33718" y="16882"/>
                  </a:cubicBezTo>
                  <a:close/>
                </a:path>
              </a:pathLst>
            </a:custGeom>
            <a:grpFill/>
            <a:ln w="31750" cap="flat">
              <a:noFill/>
              <a:prstDash val="solid"/>
              <a:miter/>
            </a:ln>
          </p:spPr>
          <p:txBody>
            <a:bodyPr/>
            <a:lstStyle/>
            <a:p>
              <a:endParaRPr lang="es-CO"/>
            </a:p>
          </p:txBody>
        </p:sp>
        <p:sp>
          <p:nvSpPr>
            <p:cNvPr id="50" name="Freeform: Shape 49">
              <a:extLst>
                <a:ext uri="{FF2B5EF4-FFF2-40B4-BE49-F238E27FC236}">
                  <a16:creationId xmlns:a16="http://schemas.microsoft.com/office/drawing/2014/main" id="{59CD43FC-DE4F-64DB-4E49-B66F0F70F064}"/>
                </a:ext>
              </a:extLst>
            </p:cNvPr>
            <p:cNvSpPr/>
            <p:nvPr>
              <p:custDataLst>
                <p:tags r:id="rId44"/>
              </p:custDataLst>
            </p:nvPr>
          </p:nvSpPr>
          <p:spPr>
            <a:xfrm>
              <a:off x="8727573" y="4975497"/>
              <a:ext cx="210393" cy="211207"/>
            </a:xfrm>
            <a:custGeom>
              <a:avLst/>
              <a:gdLst>
                <a:gd name="csX0" fmla="*/ 111869 w 210393"/>
                <a:gd name="csY0" fmla="*/ 112021 h 211207"/>
                <a:gd name="csX1" fmla="*/ 200140 w 210393"/>
                <a:gd name="csY1" fmla="*/ 112021 h 211207"/>
                <a:gd name="csX2" fmla="*/ 210580 w 210393"/>
                <a:gd name="csY2" fmla="*/ 105678 h 211207"/>
                <a:gd name="csX3" fmla="*/ 200140 w 210393"/>
                <a:gd name="csY3" fmla="*/ 99336 h 211207"/>
                <a:gd name="csX4" fmla="*/ 111869 w 210393"/>
                <a:gd name="csY4" fmla="*/ 99336 h 211207"/>
                <a:gd name="csX5" fmla="*/ 111869 w 210393"/>
                <a:gd name="csY5" fmla="*/ 10540 h 211207"/>
                <a:gd name="csX6" fmla="*/ 105542 w 210393"/>
                <a:gd name="csY6" fmla="*/ 74 h 211207"/>
                <a:gd name="csX7" fmla="*/ 99214 w 210393"/>
                <a:gd name="csY7" fmla="*/ 10540 h 211207"/>
                <a:gd name="csX8" fmla="*/ 99214 w 210393"/>
                <a:gd name="csY8" fmla="*/ 99336 h 211207"/>
                <a:gd name="csX9" fmla="*/ 10627 w 210393"/>
                <a:gd name="csY9" fmla="*/ 99336 h 211207"/>
                <a:gd name="csX10" fmla="*/ 186 w 210393"/>
                <a:gd name="csY10" fmla="*/ 105678 h 211207"/>
                <a:gd name="csX11" fmla="*/ 10627 w 210393"/>
                <a:gd name="csY11" fmla="*/ 112021 h 211207"/>
                <a:gd name="csX12" fmla="*/ 99214 w 210393"/>
                <a:gd name="csY12" fmla="*/ 112021 h 211207"/>
                <a:gd name="csX13" fmla="*/ 99214 w 210393"/>
                <a:gd name="csY13" fmla="*/ 200817 h 211207"/>
                <a:gd name="csX14" fmla="*/ 105542 w 210393"/>
                <a:gd name="csY14" fmla="*/ 211282 h 211207"/>
                <a:gd name="csX15" fmla="*/ 111869 w 210393"/>
                <a:gd name="csY15" fmla="*/ 200817 h 211207"/>
                <a:gd name="csX16" fmla="*/ 111869 w 210393"/>
                <a:gd name="csY16" fmla="*/ 112021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869" y="112021"/>
                  </a:moveTo>
                  <a:lnTo>
                    <a:pt x="200140" y="112021"/>
                  </a:lnTo>
                  <a:cubicBezTo>
                    <a:pt x="204569" y="112021"/>
                    <a:pt x="210580" y="112021"/>
                    <a:pt x="210580" y="105678"/>
                  </a:cubicBezTo>
                  <a:cubicBezTo>
                    <a:pt x="210580" y="99336"/>
                    <a:pt x="204569" y="99336"/>
                    <a:pt x="200140" y="99336"/>
                  </a:cubicBezTo>
                  <a:lnTo>
                    <a:pt x="111869" y="99336"/>
                  </a:lnTo>
                  <a:lnTo>
                    <a:pt x="111869" y="10540"/>
                  </a:lnTo>
                  <a:cubicBezTo>
                    <a:pt x="111869" y="6100"/>
                    <a:pt x="111869" y="74"/>
                    <a:pt x="105542" y="74"/>
                  </a:cubicBezTo>
                  <a:cubicBezTo>
                    <a:pt x="99214" y="74"/>
                    <a:pt x="99214" y="6100"/>
                    <a:pt x="99214" y="10540"/>
                  </a:cubicBezTo>
                  <a:lnTo>
                    <a:pt x="99214" y="99336"/>
                  </a:lnTo>
                  <a:lnTo>
                    <a:pt x="10627" y="99336"/>
                  </a:lnTo>
                  <a:cubicBezTo>
                    <a:pt x="6198" y="99336"/>
                    <a:pt x="186" y="99336"/>
                    <a:pt x="186" y="105678"/>
                  </a:cubicBezTo>
                  <a:cubicBezTo>
                    <a:pt x="186" y="112021"/>
                    <a:pt x="6198" y="112021"/>
                    <a:pt x="10627" y="112021"/>
                  </a:cubicBezTo>
                  <a:lnTo>
                    <a:pt x="99214" y="112021"/>
                  </a:lnTo>
                  <a:lnTo>
                    <a:pt x="99214" y="200817"/>
                  </a:lnTo>
                  <a:cubicBezTo>
                    <a:pt x="99214" y="205257"/>
                    <a:pt x="99214" y="211282"/>
                    <a:pt x="105542" y="211282"/>
                  </a:cubicBezTo>
                  <a:cubicBezTo>
                    <a:pt x="111869" y="211282"/>
                    <a:pt x="111869" y="205257"/>
                    <a:pt x="111869" y="200817"/>
                  </a:cubicBezTo>
                  <a:lnTo>
                    <a:pt x="111869" y="112021"/>
                  </a:lnTo>
                  <a:close/>
                </a:path>
              </a:pathLst>
            </a:custGeom>
            <a:grpFill/>
            <a:ln w="31750" cap="flat">
              <a:noFill/>
              <a:prstDash val="solid"/>
              <a:miter/>
            </a:ln>
          </p:spPr>
          <p:txBody>
            <a:bodyPr/>
            <a:lstStyle/>
            <a:p>
              <a:endParaRPr lang="es-CO"/>
            </a:p>
          </p:txBody>
        </p:sp>
        <p:sp>
          <p:nvSpPr>
            <p:cNvPr id="51" name="Freeform: Shape 50">
              <a:extLst>
                <a:ext uri="{FF2B5EF4-FFF2-40B4-BE49-F238E27FC236}">
                  <a16:creationId xmlns:a16="http://schemas.microsoft.com/office/drawing/2014/main" id="{5E02FDD0-1EA4-B1C5-B223-98E1CFE3C785}"/>
                </a:ext>
              </a:extLst>
            </p:cNvPr>
            <p:cNvSpPr/>
            <p:nvPr>
              <p:custDataLst>
                <p:tags r:id="rId45"/>
              </p:custDataLst>
            </p:nvPr>
          </p:nvSpPr>
          <p:spPr>
            <a:xfrm>
              <a:off x="9038892" y="5020213"/>
              <a:ext cx="144902" cy="143659"/>
            </a:xfrm>
            <a:custGeom>
              <a:avLst/>
              <a:gdLst>
                <a:gd name="csX0" fmla="*/ 105552 w 144902"/>
                <a:gd name="csY0" fmla="*/ 20371 h 143659"/>
                <a:gd name="csX1" fmla="*/ 76444 w 144902"/>
                <a:gd name="csY1" fmla="*/ 74 h 143659"/>
                <a:gd name="csX2" fmla="*/ 196 w 144902"/>
                <a:gd name="csY2" fmla="*/ 92993 h 143659"/>
                <a:gd name="csX3" fmla="*/ 42275 w 144902"/>
                <a:gd name="csY3" fmla="*/ 143734 h 143659"/>
                <a:gd name="csX4" fmla="*/ 83405 w 144902"/>
                <a:gd name="csY4" fmla="*/ 119949 h 143659"/>
                <a:gd name="csX5" fmla="*/ 112196 w 144902"/>
                <a:gd name="csY5" fmla="*/ 143734 h 143659"/>
                <a:gd name="csX6" fmla="*/ 135608 w 144902"/>
                <a:gd name="csY6" fmla="*/ 126292 h 143659"/>
                <a:gd name="csX7" fmla="*/ 145099 w 144902"/>
                <a:gd name="csY7" fmla="*/ 94896 h 143659"/>
                <a:gd name="csX8" fmla="*/ 141303 w 144902"/>
                <a:gd name="csY8" fmla="*/ 91725 h 143659"/>
                <a:gd name="csX9" fmla="*/ 136873 w 144902"/>
                <a:gd name="csY9" fmla="*/ 97433 h 143659"/>
                <a:gd name="csX10" fmla="*/ 112828 w 144902"/>
                <a:gd name="csY10" fmla="*/ 136757 h 143659"/>
                <a:gd name="csX11" fmla="*/ 103337 w 144902"/>
                <a:gd name="csY11" fmla="*/ 122169 h 143659"/>
                <a:gd name="csX12" fmla="*/ 107450 w 144902"/>
                <a:gd name="csY12" fmla="*/ 98702 h 143659"/>
                <a:gd name="csX13" fmla="*/ 114410 w 144902"/>
                <a:gd name="csY13" fmla="*/ 70160 h 143659"/>
                <a:gd name="csX14" fmla="*/ 125800 w 144902"/>
                <a:gd name="csY14" fmla="*/ 25762 h 143659"/>
                <a:gd name="csX15" fmla="*/ 128015 w 144902"/>
                <a:gd name="csY15" fmla="*/ 14980 h 143659"/>
                <a:gd name="csX16" fmla="*/ 118840 w 144902"/>
                <a:gd name="csY16" fmla="*/ 6417 h 143659"/>
                <a:gd name="csX17" fmla="*/ 105552 w 144902"/>
                <a:gd name="csY17" fmla="*/ 20371 h 143659"/>
                <a:gd name="csX18" fmla="*/ 84987 w 144902"/>
                <a:gd name="csY18" fmla="*/ 102507 h 143659"/>
                <a:gd name="csX19" fmla="*/ 78659 w 144902"/>
                <a:gd name="csY19" fmla="*/ 114241 h 143659"/>
                <a:gd name="csX20" fmla="*/ 42908 w 144902"/>
                <a:gd name="csY20" fmla="*/ 136757 h 143659"/>
                <a:gd name="csX21" fmla="*/ 22659 w 144902"/>
                <a:gd name="csY21" fmla="*/ 106947 h 143659"/>
                <a:gd name="csX22" fmla="*/ 40060 w 144902"/>
                <a:gd name="csY22" fmla="*/ 37496 h 143659"/>
                <a:gd name="csX23" fmla="*/ 76761 w 144902"/>
                <a:gd name="csY23" fmla="*/ 7051 h 143659"/>
                <a:gd name="csX24" fmla="*/ 101755 w 144902"/>
                <a:gd name="csY24" fmla="*/ 34959 h 143659"/>
                <a:gd name="csX25" fmla="*/ 100806 w 144902"/>
                <a:gd name="csY25" fmla="*/ 40350 h 143659"/>
                <a:gd name="csX26" fmla="*/ 84987 w 144902"/>
                <a:gd name="csY26" fmla="*/ 102507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44902" h="143659">
                  <a:moveTo>
                    <a:pt x="105552" y="20371"/>
                  </a:moveTo>
                  <a:cubicBezTo>
                    <a:pt x="99857" y="8637"/>
                    <a:pt x="90682" y="74"/>
                    <a:pt x="76444" y="74"/>
                  </a:cubicBezTo>
                  <a:cubicBezTo>
                    <a:pt x="39428" y="74"/>
                    <a:pt x="196" y="46692"/>
                    <a:pt x="196" y="92993"/>
                  </a:cubicBezTo>
                  <a:cubicBezTo>
                    <a:pt x="196" y="122803"/>
                    <a:pt x="17597" y="143734"/>
                    <a:pt x="42275" y="143734"/>
                  </a:cubicBezTo>
                  <a:cubicBezTo>
                    <a:pt x="48603" y="143734"/>
                    <a:pt x="64422" y="142465"/>
                    <a:pt x="83405" y="119949"/>
                  </a:cubicBezTo>
                  <a:cubicBezTo>
                    <a:pt x="85936" y="133269"/>
                    <a:pt x="97009" y="143734"/>
                    <a:pt x="112196" y="143734"/>
                  </a:cubicBezTo>
                  <a:cubicBezTo>
                    <a:pt x="123269" y="143734"/>
                    <a:pt x="130546" y="136440"/>
                    <a:pt x="135608" y="126292"/>
                  </a:cubicBezTo>
                  <a:cubicBezTo>
                    <a:pt x="140986" y="114875"/>
                    <a:pt x="145099" y="95530"/>
                    <a:pt x="145099" y="94896"/>
                  </a:cubicBezTo>
                  <a:cubicBezTo>
                    <a:pt x="145099" y="91725"/>
                    <a:pt x="142252" y="91725"/>
                    <a:pt x="141303" y="91725"/>
                  </a:cubicBezTo>
                  <a:cubicBezTo>
                    <a:pt x="138139" y="91725"/>
                    <a:pt x="137822" y="92993"/>
                    <a:pt x="136873" y="97433"/>
                  </a:cubicBezTo>
                  <a:cubicBezTo>
                    <a:pt x="131495" y="118047"/>
                    <a:pt x="125800" y="136757"/>
                    <a:pt x="112828" y="136757"/>
                  </a:cubicBezTo>
                  <a:cubicBezTo>
                    <a:pt x="104286" y="136757"/>
                    <a:pt x="103337" y="128512"/>
                    <a:pt x="103337" y="122169"/>
                  </a:cubicBezTo>
                  <a:cubicBezTo>
                    <a:pt x="103337" y="115192"/>
                    <a:pt x="103970" y="112655"/>
                    <a:pt x="107450" y="98702"/>
                  </a:cubicBezTo>
                  <a:cubicBezTo>
                    <a:pt x="110930" y="85382"/>
                    <a:pt x="111563" y="82211"/>
                    <a:pt x="114410" y="70160"/>
                  </a:cubicBezTo>
                  <a:lnTo>
                    <a:pt x="125800" y="25762"/>
                  </a:lnTo>
                  <a:cubicBezTo>
                    <a:pt x="128015" y="16882"/>
                    <a:pt x="128015" y="16248"/>
                    <a:pt x="128015" y="14980"/>
                  </a:cubicBezTo>
                  <a:cubicBezTo>
                    <a:pt x="128015" y="9588"/>
                    <a:pt x="124218" y="6417"/>
                    <a:pt x="118840" y="6417"/>
                  </a:cubicBezTo>
                  <a:cubicBezTo>
                    <a:pt x="111246" y="6417"/>
                    <a:pt x="106501" y="13394"/>
                    <a:pt x="105552" y="20371"/>
                  </a:cubicBezTo>
                  <a:close/>
                  <a:moveTo>
                    <a:pt x="84987" y="102507"/>
                  </a:moveTo>
                  <a:cubicBezTo>
                    <a:pt x="83405" y="108216"/>
                    <a:pt x="83405" y="108850"/>
                    <a:pt x="78659" y="114241"/>
                  </a:cubicBezTo>
                  <a:cubicBezTo>
                    <a:pt x="64738" y="131683"/>
                    <a:pt x="51767" y="136757"/>
                    <a:pt x="42908" y="136757"/>
                  </a:cubicBezTo>
                  <a:cubicBezTo>
                    <a:pt x="27089" y="136757"/>
                    <a:pt x="22659" y="119315"/>
                    <a:pt x="22659" y="106947"/>
                  </a:cubicBezTo>
                  <a:cubicBezTo>
                    <a:pt x="22659" y="91091"/>
                    <a:pt x="32784" y="52084"/>
                    <a:pt x="40060" y="37496"/>
                  </a:cubicBezTo>
                  <a:cubicBezTo>
                    <a:pt x="49868" y="18785"/>
                    <a:pt x="64106" y="7051"/>
                    <a:pt x="76761" y="7051"/>
                  </a:cubicBezTo>
                  <a:cubicBezTo>
                    <a:pt x="97326" y="7051"/>
                    <a:pt x="101755" y="33056"/>
                    <a:pt x="101755" y="34959"/>
                  </a:cubicBezTo>
                  <a:cubicBezTo>
                    <a:pt x="101755" y="36861"/>
                    <a:pt x="101122" y="38764"/>
                    <a:pt x="100806" y="40350"/>
                  </a:cubicBezTo>
                  <a:lnTo>
                    <a:pt x="84987" y="102507"/>
                  </a:lnTo>
                  <a:close/>
                </a:path>
              </a:pathLst>
            </a:custGeom>
            <a:grpFill/>
            <a:ln w="31750" cap="flat">
              <a:noFill/>
              <a:prstDash val="solid"/>
              <a:miter/>
            </a:ln>
          </p:spPr>
          <p:txBody>
            <a:bodyPr/>
            <a:lstStyle/>
            <a:p>
              <a:endParaRPr lang="es-CO"/>
            </a:p>
          </p:txBody>
        </p:sp>
        <p:sp>
          <p:nvSpPr>
            <p:cNvPr id="52" name="Freeform: Shape 51">
              <a:extLst>
                <a:ext uri="{FF2B5EF4-FFF2-40B4-BE49-F238E27FC236}">
                  <a16:creationId xmlns:a16="http://schemas.microsoft.com/office/drawing/2014/main" id="{FD6083CD-12E2-BD42-864C-48798A09DF45}"/>
                </a:ext>
              </a:extLst>
            </p:cNvPr>
            <p:cNvSpPr/>
            <p:nvPr>
              <p:custDataLst>
                <p:tags r:id="rId46"/>
              </p:custDataLst>
            </p:nvPr>
          </p:nvSpPr>
          <p:spPr>
            <a:xfrm>
              <a:off x="9203882" y="5110055"/>
              <a:ext cx="135316" cy="100117"/>
            </a:xfrm>
            <a:custGeom>
              <a:avLst/>
              <a:gdLst>
                <a:gd name="csX0" fmla="*/ 16812 w 135316"/>
                <a:gd name="csY0" fmla="*/ 83988 h 100117"/>
                <a:gd name="csX1" fmla="*/ 14597 w 135316"/>
                <a:gd name="csY1" fmla="*/ 93090 h 100117"/>
                <a:gd name="csX2" fmla="*/ 22127 w 135316"/>
                <a:gd name="csY2" fmla="*/ 100194 h 100117"/>
                <a:gd name="csX3" fmla="*/ 30764 w 135316"/>
                <a:gd name="csY3" fmla="*/ 95310 h 100117"/>
                <a:gd name="csX4" fmla="*/ 34751 w 135316"/>
                <a:gd name="csY4" fmla="*/ 81546 h 100117"/>
                <a:gd name="csX5" fmla="*/ 39623 w 135316"/>
                <a:gd name="csY5" fmla="*/ 61567 h 100117"/>
                <a:gd name="csX6" fmla="*/ 43388 w 135316"/>
                <a:gd name="csY6" fmla="*/ 46694 h 100117"/>
                <a:gd name="csX7" fmla="*/ 52689 w 135316"/>
                <a:gd name="csY7" fmla="*/ 26715 h 100117"/>
                <a:gd name="csX8" fmla="*/ 85909 w 135316"/>
                <a:gd name="csY8" fmla="*/ 6292 h 100117"/>
                <a:gd name="csX9" fmla="*/ 98976 w 135316"/>
                <a:gd name="csY9" fmla="*/ 21831 h 100117"/>
                <a:gd name="csX10" fmla="*/ 85909 w 135316"/>
                <a:gd name="csY10" fmla="*/ 69115 h 100117"/>
                <a:gd name="csX11" fmla="*/ 82587 w 135316"/>
                <a:gd name="csY11" fmla="*/ 81102 h 100117"/>
                <a:gd name="csX12" fmla="*/ 103627 w 135316"/>
                <a:gd name="csY12" fmla="*/ 100194 h 100117"/>
                <a:gd name="csX13" fmla="*/ 135518 w 135316"/>
                <a:gd name="csY13" fmla="*/ 66229 h 100117"/>
                <a:gd name="csX14" fmla="*/ 131975 w 135316"/>
                <a:gd name="csY14" fmla="*/ 63343 h 100117"/>
                <a:gd name="csX15" fmla="*/ 127767 w 135316"/>
                <a:gd name="csY15" fmla="*/ 67117 h 100117"/>
                <a:gd name="csX16" fmla="*/ 104291 w 135316"/>
                <a:gd name="csY16" fmla="*/ 93978 h 100117"/>
                <a:gd name="csX17" fmla="*/ 98755 w 135316"/>
                <a:gd name="csY17" fmla="*/ 86208 h 100117"/>
                <a:gd name="csX18" fmla="*/ 103848 w 135316"/>
                <a:gd name="csY18" fmla="*/ 68227 h 100117"/>
                <a:gd name="csX19" fmla="*/ 115586 w 135316"/>
                <a:gd name="csY19" fmla="*/ 25383 h 100117"/>
                <a:gd name="csX20" fmla="*/ 86795 w 135316"/>
                <a:gd name="csY20" fmla="*/ 76 h 100117"/>
                <a:gd name="csX21" fmla="*/ 49367 w 135316"/>
                <a:gd name="csY21" fmla="*/ 20277 h 100117"/>
                <a:gd name="csX22" fmla="*/ 25670 w 135316"/>
                <a:gd name="csY22" fmla="*/ 76 h 100117"/>
                <a:gd name="csX23" fmla="*/ 8174 w 135316"/>
                <a:gd name="csY23" fmla="*/ 12063 h 100117"/>
                <a:gd name="csX24" fmla="*/ 202 w 135316"/>
                <a:gd name="csY24" fmla="*/ 34041 h 100117"/>
                <a:gd name="csX25" fmla="*/ 3967 w 135316"/>
                <a:gd name="csY25" fmla="*/ 36926 h 100117"/>
                <a:gd name="csX26" fmla="*/ 8839 w 135316"/>
                <a:gd name="csY26" fmla="*/ 30267 h 100117"/>
                <a:gd name="csX27" fmla="*/ 25006 w 135316"/>
                <a:gd name="csY27" fmla="*/ 6292 h 100117"/>
                <a:gd name="csX28" fmla="*/ 32314 w 135316"/>
                <a:gd name="csY28" fmla="*/ 17169 h 100117"/>
                <a:gd name="csX29" fmla="*/ 28771 w 135316"/>
                <a:gd name="csY29" fmla="*/ 35594 h 100117"/>
                <a:gd name="csX30" fmla="*/ 23899 w 135316"/>
                <a:gd name="csY30" fmla="*/ 55574 h 100117"/>
                <a:gd name="csX31" fmla="*/ 16812 w 135316"/>
                <a:gd name="csY31" fmla="*/ 83988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812" y="83988"/>
                  </a:moveTo>
                  <a:cubicBezTo>
                    <a:pt x="15926" y="86874"/>
                    <a:pt x="14597" y="92424"/>
                    <a:pt x="14597" y="93090"/>
                  </a:cubicBezTo>
                  <a:cubicBezTo>
                    <a:pt x="14597" y="97974"/>
                    <a:pt x="18583" y="100194"/>
                    <a:pt x="22127" y="100194"/>
                  </a:cubicBezTo>
                  <a:cubicBezTo>
                    <a:pt x="26113" y="100194"/>
                    <a:pt x="29657" y="97308"/>
                    <a:pt x="30764" y="95310"/>
                  </a:cubicBezTo>
                  <a:cubicBezTo>
                    <a:pt x="31871" y="93312"/>
                    <a:pt x="33643" y="86208"/>
                    <a:pt x="34751" y="81546"/>
                  </a:cubicBezTo>
                  <a:cubicBezTo>
                    <a:pt x="35858" y="77329"/>
                    <a:pt x="38294" y="67117"/>
                    <a:pt x="39623" y="61567"/>
                  </a:cubicBezTo>
                  <a:cubicBezTo>
                    <a:pt x="40952" y="56684"/>
                    <a:pt x="42280" y="51800"/>
                    <a:pt x="43388" y="46694"/>
                  </a:cubicBezTo>
                  <a:cubicBezTo>
                    <a:pt x="45824" y="37592"/>
                    <a:pt x="46267" y="35816"/>
                    <a:pt x="52689" y="26715"/>
                  </a:cubicBezTo>
                  <a:cubicBezTo>
                    <a:pt x="58891" y="17835"/>
                    <a:pt x="69299" y="6292"/>
                    <a:pt x="85909" y="6292"/>
                  </a:cubicBezTo>
                  <a:cubicBezTo>
                    <a:pt x="98755" y="6292"/>
                    <a:pt x="98976" y="17613"/>
                    <a:pt x="98976" y="21831"/>
                  </a:cubicBezTo>
                  <a:cubicBezTo>
                    <a:pt x="98976" y="35150"/>
                    <a:pt x="89453" y="59791"/>
                    <a:pt x="85909" y="69115"/>
                  </a:cubicBezTo>
                  <a:cubicBezTo>
                    <a:pt x="83473" y="75331"/>
                    <a:pt x="82587" y="77329"/>
                    <a:pt x="82587" y="81102"/>
                  </a:cubicBezTo>
                  <a:cubicBezTo>
                    <a:pt x="82587" y="92868"/>
                    <a:pt x="92332" y="100194"/>
                    <a:pt x="103627" y="100194"/>
                  </a:cubicBezTo>
                  <a:cubicBezTo>
                    <a:pt x="125774" y="100194"/>
                    <a:pt x="135518" y="69559"/>
                    <a:pt x="135518" y="66229"/>
                  </a:cubicBezTo>
                  <a:cubicBezTo>
                    <a:pt x="135518" y="63343"/>
                    <a:pt x="132639" y="63343"/>
                    <a:pt x="131975" y="63343"/>
                  </a:cubicBezTo>
                  <a:cubicBezTo>
                    <a:pt x="128874" y="63343"/>
                    <a:pt x="128653" y="64675"/>
                    <a:pt x="127767" y="67117"/>
                  </a:cubicBezTo>
                  <a:cubicBezTo>
                    <a:pt x="122673" y="84876"/>
                    <a:pt x="113150" y="93978"/>
                    <a:pt x="104291" y="93978"/>
                  </a:cubicBezTo>
                  <a:cubicBezTo>
                    <a:pt x="99640" y="93978"/>
                    <a:pt x="98755" y="90870"/>
                    <a:pt x="98755" y="86208"/>
                  </a:cubicBezTo>
                  <a:cubicBezTo>
                    <a:pt x="98755" y="81102"/>
                    <a:pt x="99862" y="78217"/>
                    <a:pt x="103848" y="68227"/>
                  </a:cubicBezTo>
                  <a:cubicBezTo>
                    <a:pt x="106506" y="61345"/>
                    <a:pt x="115586" y="37814"/>
                    <a:pt x="115586" y="25383"/>
                  </a:cubicBezTo>
                  <a:cubicBezTo>
                    <a:pt x="115586" y="3850"/>
                    <a:pt x="98533" y="76"/>
                    <a:pt x="86795" y="76"/>
                  </a:cubicBezTo>
                  <a:cubicBezTo>
                    <a:pt x="68414" y="76"/>
                    <a:pt x="56011" y="11397"/>
                    <a:pt x="49367" y="20277"/>
                  </a:cubicBezTo>
                  <a:cubicBezTo>
                    <a:pt x="47817" y="4960"/>
                    <a:pt x="34751" y="76"/>
                    <a:pt x="25670" y="76"/>
                  </a:cubicBezTo>
                  <a:cubicBezTo>
                    <a:pt x="16147" y="76"/>
                    <a:pt x="11054" y="6958"/>
                    <a:pt x="8174" y="12063"/>
                  </a:cubicBezTo>
                  <a:cubicBezTo>
                    <a:pt x="3302" y="20277"/>
                    <a:pt x="202" y="32931"/>
                    <a:pt x="202" y="34041"/>
                  </a:cubicBezTo>
                  <a:cubicBezTo>
                    <a:pt x="202" y="36926"/>
                    <a:pt x="3302" y="36926"/>
                    <a:pt x="3967" y="36926"/>
                  </a:cubicBezTo>
                  <a:cubicBezTo>
                    <a:pt x="7067" y="36926"/>
                    <a:pt x="7289" y="36260"/>
                    <a:pt x="8839" y="30267"/>
                  </a:cubicBezTo>
                  <a:cubicBezTo>
                    <a:pt x="12161" y="17169"/>
                    <a:pt x="16369" y="6292"/>
                    <a:pt x="25006" y="6292"/>
                  </a:cubicBezTo>
                  <a:cubicBezTo>
                    <a:pt x="30764" y="6292"/>
                    <a:pt x="32314" y="11175"/>
                    <a:pt x="32314" y="17169"/>
                  </a:cubicBezTo>
                  <a:cubicBezTo>
                    <a:pt x="32314" y="21387"/>
                    <a:pt x="30321" y="29601"/>
                    <a:pt x="28771" y="35594"/>
                  </a:cubicBezTo>
                  <a:cubicBezTo>
                    <a:pt x="27221" y="41588"/>
                    <a:pt x="25006" y="50690"/>
                    <a:pt x="23899" y="55574"/>
                  </a:cubicBezTo>
                  <a:lnTo>
                    <a:pt x="16812" y="83988"/>
                  </a:lnTo>
                  <a:close/>
                </a:path>
              </a:pathLst>
            </a:custGeom>
            <a:grpFill/>
            <a:ln w="31750" cap="flat">
              <a:noFill/>
              <a:prstDash val="solid"/>
              <a:miter/>
            </a:ln>
          </p:spPr>
          <p:txBody>
            <a:bodyPr/>
            <a:lstStyle/>
            <a:p>
              <a:endParaRPr lang="es-CO"/>
            </a:p>
          </p:txBody>
        </p:sp>
        <p:sp>
          <p:nvSpPr>
            <p:cNvPr id="53" name="Freeform: Shape 52">
              <a:extLst>
                <a:ext uri="{FF2B5EF4-FFF2-40B4-BE49-F238E27FC236}">
                  <a16:creationId xmlns:a16="http://schemas.microsoft.com/office/drawing/2014/main" id="{D05DC22F-A5D9-5261-6031-50B17FEABECE}"/>
                </a:ext>
              </a:extLst>
            </p:cNvPr>
            <p:cNvSpPr/>
            <p:nvPr>
              <p:custDataLst>
                <p:tags r:id="rId47"/>
              </p:custDataLst>
            </p:nvPr>
          </p:nvSpPr>
          <p:spPr>
            <a:xfrm>
              <a:off x="9373790" y="5146905"/>
              <a:ext cx="149711" cy="10877"/>
            </a:xfrm>
            <a:custGeom>
              <a:avLst/>
              <a:gdLst>
                <a:gd name="csX0" fmla="*/ 141060 w 149711"/>
                <a:gd name="csY0" fmla="*/ 10953 h 10877"/>
                <a:gd name="csX1" fmla="*/ 149918 w 149711"/>
                <a:gd name="csY1" fmla="*/ 5626 h 10877"/>
                <a:gd name="csX2" fmla="*/ 141060 w 149711"/>
                <a:gd name="csY2" fmla="*/ 76 h 10877"/>
                <a:gd name="csX3" fmla="*/ 9065 w 149711"/>
                <a:gd name="csY3" fmla="*/ 76 h 10877"/>
                <a:gd name="csX4" fmla="*/ 207 w 149711"/>
                <a:gd name="csY4" fmla="*/ 5404 h 10877"/>
                <a:gd name="csX5" fmla="*/ 9065 w 149711"/>
                <a:gd name="csY5" fmla="*/ 10953 h 10877"/>
                <a:gd name="csX6" fmla="*/ 141060 w 149711"/>
                <a:gd name="csY6" fmla="*/ 10953 h 1087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9711" h="10877">
                  <a:moveTo>
                    <a:pt x="141060" y="10953"/>
                  </a:moveTo>
                  <a:cubicBezTo>
                    <a:pt x="144603" y="10953"/>
                    <a:pt x="149918" y="10953"/>
                    <a:pt x="149918" y="5626"/>
                  </a:cubicBezTo>
                  <a:cubicBezTo>
                    <a:pt x="149918" y="76"/>
                    <a:pt x="144825" y="76"/>
                    <a:pt x="141060" y="76"/>
                  </a:cubicBezTo>
                  <a:lnTo>
                    <a:pt x="9065" y="76"/>
                  </a:lnTo>
                  <a:cubicBezTo>
                    <a:pt x="5522" y="76"/>
                    <a:pt x="207" y="76"/>
                    <a:pt x="207" y="5404"/>
                  </a:cubicBezTo>
                  <a:cubicBezTo>
                    <a:pt x="207" y="10953"/>
                    <a:pt x="5300" y="10953"/>
                    <a:pt x="9065" y="10953"/>
                  </a:cubicBezTo>
                  <a:lnTo>
                    <a:pt x="141060" y="10953"/>
                  </a:lnTo>
                  <a:close/>
                </a:path>
              </a:pathLst>
            </a:custGeom>
            <a:grpFill/>
            <a:ln w="31750" cap="flat">
              <a:noFill/>
              <a:prstDash val="solid"/>
              <a:miter/>
            </a:ln>
          </p:spPr>
          <p:txBody>
            <a:bodyPr/>
            <a:lstStyle/>
            <a:p>
              <a:endParaRPr lang="es-CO"/>
            </a:p>
          </p:txBody>
        </p:sp>
        <p:sp>
          <p:nvSpPr>
            <p:cNvPr id="54" name="Freeform: Shape 53">
              <a:extLst>
                <a:ext uri="{FF2B5EF4-FFF2-40B4-BE49-F238E27FC236}">
                  <a16:creationId xmlns:a16="http://schemas.microsoft.com/office/drawing/2014/main" id="{4C586D7A-D5F5-3876-51C8-322478ADAF0C}"/>
                </a:ext>
              </a:extLst>
            </p:cNvPr>
            <p:cNvSpPr/>
            <p:nvPr>
              <p:custDataLst>
                <p:tags r:id="rId48"/>
              </p:custDataLst>
            </p:nvPr>
          </p:nvSpPr>
          <p:spPr>
            <a:xfrm>
              <a:off x="9571751" y="5060551"/>
              <a:ext cx="80614" cy="147401"/>
            </a:xfrm>
            <a:custGeom>
              <a:avLst/>
              <a:gdLst>
                <a:gd name="csX0" fmla="*/ 50264 w 80614"/>
                <a:gd name="csY0" fmla="*/ 6292 h 147401"/>
                <a:gd name="csX1" fmla="*/ 43620 w 80614"/>
                <a:gd name="csY1" fmla="*/ 76 h 147401"/>
                <a:gd name="csX2" fmla="*/ 213 w 80614"/>
                <a:gd name="csY2" fmla="*/ 14283 h 147401"/>
                <a:gd name="csX3" fmla="*/ 213 w 80614"/>
                <a:gd name="csY3" fmla="*/ 22275 h 147401"/>
                <a:gd name="csX4" fmla="*/ 32326 w 80614"/>
                <a:gd name="csY4" fmla="*/ 16059 h 147401"/>
                <a:gd name="csX5" fmla="*/ 32326 w 80614"/>
                <a:gd name="csY5" fmla="*/ 129274 h 147401"/>
                <a:gd name="csX6" fmla="*/ 10179 w 80614"/>
                <a:gd name="csY6" fmla="*/ 139486 h 147401"/>
                <a:gd name="csX7" fmla="*/ 1763 w 80614"/>
                <a:gd name="csY7" fmla="*/ 139486 h 147401"/>
                <a:gd name="csX8" fmla="*/ 1763 w 80614"/>
                <a:gd name="csY8" fmla="*/ 147478 h 147401"/>
                <a:gd name="csX9" fmla="*/ 41184 w 80614"/>
                <a:gd name="csY9" fmla="*/ 146590 h 147401"/>
                <a:gd name="csX10" fmla="*/ 80827 w 80614"/>
                <a:gd name="csY10" fmla="*/ 147478 h 147401"/>
                <a:gd name="csX11" fmla="*/ 80827 w 80614"/>
                <a:gd name="csY11" fmla="*/ 139486 h 147401"/>
                <a:gd name="csX12" fmla="*/ 72411 w 80614"/>
                <a:gd name="csY12" fmla="*/ 139486 h 147401"/>
                <a:gd name="csX13" fmla="*/ 50264 w 80614"/>
                <a:gd name="csY13" fmla="*/ 129274 h 147401"/>
                <a:gd name="csX14" fmla="*/ 50264 w 80614"/>
                <a:gd name="csY14" fmla="*/ 6292 h 1474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0614" h="147401">
                  <a:moveTo>
                    <a:pt x="50264" y="6292"/>
                  </a:moveTo>
                  <a:cubicBezTo>
                    <a:pt x="50264" y="298"/>
                    <a:pt x="49821" y="76"/>
                    <a:pt x="43620" y="76"/>
                  </a:cubicBezTo>
                  <a:cubicBezTo>
                    <a:pt x="29446" y="14061"/>
                    <a:pt x="9293" y="14283"/>
                    <a:pt x="213" y="14283"/>
                  </a:cubicBezTo>
                  <a:lnTo>
                    <a:pt x="213" y="22275"/>
                  </a:lnTo>
                  <a:cubicBezTo>
                    <a:pt x="5528" y="22275"/>
                    <a:pt x="20145" y="22275"/>
                    <a:pt x="32326" y="16059"/>
                  </a:cubicBezTo>
                  <a:lnTo>
                    <a:pt x="32326" y="129274"/>
                  </a:lnTo>
                  <a:cubicBezTo>
                    <a:pt x="32326" y="136600"/>
                    <a:pt x="32326" y="139486"/>
                    <a:pt x="10179" y="139486"/>
                  </a:cubicBezTo>
                  <a:lnTo>
                    <a:pt x="1763" y="139486"/>
                  </a:lnTo>
                  <a:lnTo>
                    <a:pt x="1763" y="147478"/>
                  </a:lnTo>
                  <a:cubicBezTo>
                    <a:pt x="5750" y="147256"/>
                    <a:pt x="32990" y="146590"/>
                    <a:pt x="41184" y="146590"/>
                  </a:cubicBezTo>
                  <a:cubicBezTo>
                    <a:pt x="48050" y="146590"/>
                    <a:pt x="75955" y="147256"/>
                    <a:pt x="80827" y="147478"/>
                  </a:cubicBezTo>
                  <a:lnTo>
                    <a:pt x="80827" y="139486"/>
                  </a:lnTo>
                  <a:lnTo>
                    <a:pt x="72411" y="139486"/>
                  </a:lnTo>
                  <a:cubicBezTo>
                    <a:pt x="50264" y="139486"/>
                    <a:pt x="50264" y="136600"/>
                    <a:pt x="50264" y="129274"/>
                  </a:cubicBezTo>
                  <a:lnTo>
                    <a:pt x="50264" y="6292"/>
                  </a:lnTo>
                  <a:close/>
                </a:path>
              </a:pathLst>
            </a:custGeom>
            <a:grpFill/>
            <a:ln w="31750" cap="flat">
              <a:noFill/>
              <a:prstDash val="solid"/>
              <a:miter/>
            </a:ln>
          </p:spPr>
          <p:txBody>
            <a:bodyPr/>
            <a:lstStyle/>
            <a:p>
              <a:endParaRPr lang="es-CO"/>
            </a:p>
          </p:txBody>
        </p:sp>
        <p:sp>
          <p:nvSpPr>
            <p:cNvPr id="55" name="Freeform: Shape 54">
              <a:extLst>
                <a:ext uri="{FF2B5EF4-FFF2-40B4-BE49-F238E27FC236}">
                  <a16:creationId xmlns:a16="http://schemas.microsoft.com/office/drawing/2014/main" id="{2C9DBE9B-A75A-6E96-4628-CD25AC632051}"/>
                </a:ext>
              </a:extLst>
            </p:cNvPr>
            <p:cNvSpPr/>
            <p:nvPr>
              <p:custDataLst>
                <p:tags r:id="rId49"/>
              </p:custDataLst>
            </p:nvPr>
          </p:nvSpPr>
          <p:spPr>
            <a:xfrm>
              <a:off x="9705995" y="5020213"/>
              <a:ext cx="116428" cy="143659"/>
            </a:xfrm>
            <a:custGeom>
              <a:avLst/>
              <a:gdLst>
                <a:gd name="csX0" fmla="*/ 107471 w 116428"/>
                <a:gd name="csY0" fmla="*/ 21639 h 143659"/>
                <a:gd name="csX1" fmla="*/ 92284 w 116428"/>
                <a:gd name="csY1" fmla="*/ 35910 h 143659"/>
                <a:gd name="csX2" fmla="*/ 102092 w 116428"/>
                <a:gd name="csY2" fmla="*/ 45107 h 143659"/>
                <a:gd name="csX3" fmla="*/ 116646 w 116428"/>
                <a:gd name="csY3" fmla="*/ 27348 h 143659"/>
                <a:gd name="csX4" fmla="*/ 78996 w 116428"/>
                <a:gd name="csY4" fmla="*/ 74 h 143659"/>
                <a:gd name="csX5" fmla="*/ 25528 w 116428"/>
                <a:gd name="csY5" fmla="*/ 46375 h 143659"/>
                <a:gd name="csX6" fmla="*/ 58115 w 116428"/>
                <a:gd name="csY6" fmla="*/ 77771 h 143659"/>
                <a:gd name="csX7" fmla="*/ 91019 w 116428"/>
                <a:gd name="csY7" fmla="*/ 101873 h 143659"/>
                <a:gd name="csX8" fmla="*/ 45776 w 116428"/>
                <a:gd name="csY8" fmla="*/ 136757 h 143659"/>
                <a:gd name="csX9" fmla="*/ 9709 w 116428"/>
                <a:gd name="csY9" fmla="*/ 119949 h 143659"/>
                <a:gd name="csX10" fmla="*/ 29641 w 116428"/>
                <a:gd name="csY10" fmla="*/ 103141 h 143659"/>
                <a:gd name="csX11" fmla="*/ 17935 w 116428"/>
                <a:gd name="csY11" fmla="*/ 92042 h 143659"/>
                <a:gd name="csX12" fmla="*/ 217 w 116428"/>
                <a:gd name="csY12" fmla="*/ 112972 h 143659"/>
                <a:gd name="csX13" fmla="*/ 45460 w 116428"/>
                <a:gd name="csY13" fmla="*/ 143734 h 143659"/>
                <a:gd name="csX14" fmla="*/ 109053 w 116428"/>
                <a:gd name="csY14" fmla="*/ 91091 h 143659"/>
                <a:gd name="csX15" fmla="*/ 99245 w 116428"/>
                <a:gd name="csY15" fmla="*/ 67940 h 143659"/>
                <a:gd name="csX16" fmla="*/ 67607 w 116428"/>
                <a:gd name="csY16" fmla="*/ 54621 h 143659"/>
                <a:gd name="csX17" fmla="*/ 43562 w 116428"/>
                <a:gd name="csY17" fmla="*/ 35593 h 143659"/>
                <a:gd name="csX18" fmla="*/ 78996 w 116428"/>
                <a:gd name="csY18" fmla="*/ 7051 h 143659"/>
                <a:gd name="csX19" fmla="*/ 107471 w 116428"/>
                <a:gd name="csY19" fmla="*/ 21639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16428" h="143659">
                  <a:moveTo>
                    <a:pt x="107471" y="21639"/>
                  </a:moveTo>
                  <a:cubicBezTo>
                    <a:pt x="98612" y="21956"/>
                    <a:pt x="92284" y="28933"/>
                    <a:pt x="92284" y="35910"/>
                  </a:cubicBezTo>
                  <a:cubicBezTo>
                    <a:pt x="92284" y="40350"/>
                    <a:pt x="95132" y="45107"/>
                    <a:pt x="102092" y="45107"/>
                  </a:cubicBezTo>
                  <a:cubicBezTo>
                    <a:pt x="109053" y="45107"/>
                    <a:pt x="116646" y="39716"/>
                    <a:pt x="116646" y="27348"/>
                  </a:cubicBezTo>
                  <a:cubicBezTo>
                    <a:pt x="116646" y="13077"/>
                    <a:pt x="103041" y="74"/>
                    <a:pt x="78996" y="74"/>
                  </a:cubicBezTo>
                  <a:cubicBezTo>
                    <a:pt x="37234" y="74"/>
                    <a:pt x="25528" y="32422"/>
                    <a:pt x="25528" y="46375"/>
                  </a:cubicBezTo>
                  <a:cubicBezTo>
                    <a:pt x="25528" y="71111"/>
                    <a:pt x="48940" y="75868"/>
                    <a:pt x="58115" y="77771"/>
                  </a:cubicBezTo>
                  <a:cubicBezTo>
                    <a:pt x="74567" y="80942"/>
                    <a:pt x="91019" y="84431"/>
                    <a:pt x="91019" y="101873"/>
                  </a:cubicBezTo>
                  <a:cubicBezTo>
                    <a:pt x="91019" y="110118"/>
                    <a:pt x="83742" y="136757"/>
                    <a:pt x="45776" y="136757"/>
                  </a:cubicBezTo>
                  <a:cubicBezTo>
                    <a:pt x="41347" y="136757"/>
                    <a:pt x="16986" y="136757"/>
                    <a:pt x="9709" y="119949"/>
                  </a:cubicBezTo>
                  <a:cubicBezTo>
                    <a:pt x="21731" y="121535"/>
                    <a:pt x="29641" y="112021"/>
                    <a:pt x="29641" y="103141"/>
                  </a:cubicBezTo>
                  <a:cubicBezTo>
                    <a:pt x="29641" y="95847"/>
                    <a:pt x="24579" y="92042"/>
                    <a:pt x="17935" y="92042"/>
                  </a:cubicBezTo>
                  <a:cubicBezTo>
                    <a:pt x="9709" y="92042"/>
                    <a:pt x="217" y="98702"/>
                    <a:pt x="217" y="112972"/>
                  </a:cubicBezTo>
                  <a:cubicBezTo>
                    <a:pt x="217" y="131049"/>
                    <a:pt x="18251" y="143734"/>
                    <a:pt x="45460" y="143734"/>
                  </a:cubicBezTo>
                  <a:cubicBezTo>
                    <a:pt x="96714" y="143734"/>
                    <a:pt x="109053" y="105361"/>
                    <a:pt x="109053" y="91091"/>
                  </a:cubicBezTo>
                  <a:cubicBezTo>
                    <a:pt x="109053" y="79674"/>
                    <a:pt x="103041" y="71746"/>
                    <a:pt x="99245" y="67940"/>
                  </a:cubicBezTo>
                  <a:cubicBezTo>
                    <a:pt x="90702" y="59061"/>
                    <a:pt x="81527" y="57475"/>
                    <a:pt x="67607" y="54621"/>
                  </a:cubicBezTo>
                  <a:cubicBezTo>
                    <a:pt x="56217" y="52084"/>
                    <a:pt x="43562" y="49864"/>
                    <a:pt x="43562" y="35593"/>
                  </a:cubicBezTo>
                  <a:cubicBezTo>
                    <a:pt x="43562" y="26396"/>
                    <a:pt x="51155" y="7051"/>
                    <a:pt x="78996" y="7051"/>
                  </a:cubicBezTo>
                  <a:cubicBezTo>
                    <a:pt x="86906" y="7051"/>
                    <a:pt x="102725" y="9271"/>
                    <a:pt x="107471" y="21639"/>
                  </a:cubicBezTo>
                  <a:close/>
                </a:path>
              </a:pathLst>
            </a:custGeom>
            <a:grpFill/>
            <a:ln w="31750" cap="flat">
              <a:noFill/>
              <a:prstDash val="solid"/>
              <a:miter/>
            </a:ln>
          </p:spPr>
          <p:txBody>
            <a:bodyPr/>
            <a:lstStyle/>
            <a:p>
              <a:endParaRPr lang="es-CO"/>
            </a:p>
          </p:txBody>
        </p:sp>
        <p:sp>
          <p:nvSpPr>
            <p:cNvPr id="56" name="Freeform: Shape 55">
              <a:extLst>
                <a:ext uri="{FF2B5EF4-FFF2-40B4-BE49-F238E27FC236}">
                  <a16:creationId xmlns:a16="http://schemas.microsoft.com/office/drawing/2014/main" id="{996D35CB-78D1-0CAD-FACD-5B30631F615B}"/>
                </a:ext>
              </a:extLst>
            </p:cNvPr>
            <p:cNvSpPr/>
            <p:nvPr>
              <p:custDataLst>
                <p:tags r:id="rId50"/>
              </p:custDataLst>
            </p:nvPr>
          </p:nvSpPr>
          <p:spPr>
            <a:xfrm>
              <a:off x="9925870" y="4975497"/>
              <a:ext cx="210393" cy="211207"/>
            </a:xfrm>
            <a:custGeom>
              <a:avLst/>
              <a:gdLst>
                <a:gd name="csX0" fmla="*/ 111907 w 210393"/>
                <a:gd name="csY0" fmla="*/ 112021 h 211207"/>
                <a:gd name="csX1" fmla="*/ 200177 w 210393"/>
                <a:gd name="csY1" fmla="*/ 112021 h 211207"/>
                <a:gd name="csX2" fmla="*/ 210618 w 210393"/>
                <a:gd name="csY2" fmla="*/ 105678 h 211207"/>
                <a:gd name="csX3" fmla="*/ 200177 w 210393"/>
                <a:gd name="csY3" fmla="*/ 99336 h 211207"/>
                <a:gd name="csX4" fmla="*/ 111907 w 210393"/>
                <a:gd name="csY4" fmla="*/ 99336 h 211207"/>
                <a:gd name="csX5" fmla="*/ 111907 w 210393"/>
                <a:gd name="csY5" fmla="*/ 10540 h 211207"/>
                <a:gd name="csX6" fmla="*/ 105579 w 210393"/>
                <a:gd name="csY6" fmla="*/ 74 h 211207"/>
                <a:gd name="csX7" fmla="*/ 99252 w 210393"/>
                <a:gd name="csY7" fmla="*/ 10540 h 211207"/>
                <a:gd name="csX8" fmla="*/ 99252 w 210393"/>
                <a:gd name="csY8" fmla="*/ 99336 h 211207"/>
                <a:gd name="csX9" fmla="*/ 10665 w 210393"/>
                <a:gd name="csY9" fmla="*/ 99336 h 211207"/>
                <a:gd name="csX10" fmla="*/ 224 w 210393"/>
                <a:gd name="csY10" fmla="*/ 105678 h 211207"/>
                <a:gd name="csX11" fmla="*/ 10665 w 210393"/>
                <a:gd name="csY11" fmla="*/ 112021 h 211207"/>
                <a:gd name="csX12" fmla="*/ 99252 w 210393"/>
                <a:gd name="csY12" fmla="*/ 112021 h 211207"/>
                <a:gd name="csX13" fmla="*/ 99252 w 210393"/>
                <a:gd name="csY13" fmla="*/ 200817 h 211207"/>
                <a:gd name="csX14" fmla="*/ 105579 w 210393"/>
                <a:gd name="csY14" fmla="*/ 211282 h 211207"/>
                <a:gd name="csX15" fmla="*/ 111907 w 210393"/>
                <a:gd name="csY15" fmla="*/ 200817 h 211207"/>
                <a:gd name="csX16" fmla="*/ 111907 w 210393"/>
                <a:gd name="csY16" fmla="*/ 112021 h 211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10393" h="211207">
                  <a:moveTo>
                    <a:pt x="111907" y="112021"/>
                  </a:moveTo>
                  <a:lnTo>
                    <a:pt x="200177" y="112021"/>
                  </a:lnTo>
                  <a:cubicBezTo>
                    <a:pt x="204607" y="112021"/>
                    <a:pt x="210618" y="112021"/>
                    <a:pt x="210618" y="105678"/>
                  </a:cubicBezTo>
                  <a:cubicBezTo>
                    <a:pt x="210618" y="99336"/>
                    <a:pt x="204607" y="99336"/>
                    <a:pt x="200177" y="99336"/>
                  </a:cubicBezTo>
                  <a:lnTo>
                    <a:pt x="111907" y="99336"/>
                  </a:lnTo>
                  <a:lnTo>
                    <a:pt x="111907" y="10540"/>
                  </a:lnTo>
                  <a:cubicBezTo>
                    <a:pt x="111907" y="6100"/>
                    <a:pt x="111907" y="74"/>
                    <a:pt x="105579" y="74"/>
                  </a:cubicBezTo>
                  <a:cubicBezTo>
                    <a:pt x="99252" y="74"/>
                    <a:pt x="99252" y="6100"/>
                    <a:pt x="99252" y="10540"/>
                  </a:cubicBezTo>
                  <a:lnTo>
                    <a:pt x="99252" y="99336"/>
                  </a:lnTo>
                  <a:lnTo>
                    <a:pt x="10665" y="99336"/>
                  </a:lnTo>
                  <a:cubicBezTo>
                    <a:pt x="6235" y="99336"/>
                    <a:pt x="224" y="99336"/>
                    <a:pt x="224" y="105678"/>
                  </a:cubicBezTo>
                  <a:cubicBezTo>
                    <a:pt x="224" y="112021"/>
                    <a:pt x="6235" y="112021"/>
                    <a:pt x="10665" y="112021"/>
                  </a:cubicBezTo>
                  <a:lnTo>
                    <a:pt x="99252" y="112021"/>
                  </a:lnTo>
                  <a:lnTo>
                    <a:pt x="99252" y="200817"/>
                  </a:lnTo>
                  <a:cubicBezTo>
                    <a:pt x="99252" y="205257"/>
                    <a:pt x="99252" y="211282"/>
                    <a:pt x="105579" y="211282"/>
                  </a:cubicBezTo>
                  <a:cubicBezTo>
                    <a:pt x="111907" y="211282"/>
                    <a:pt x="111907" y="205257"/>
                    <a:pt x="111907" y="200817"/>
                  </a:cubicBezTo>
                  <a:lnTo>
                    <a:pt x="111907" y="112021"/>
                  </a:lnTo>
                  <a:close/>
                </a:path>
              </a:pathLst>
            </a:custGeom>
            <a:grpFill/>
            <a:ln w="31750" cap="flat">
              <a:noFill/>
              <a:prstDash val="solid"/>
              <a:miter/>
            </a:ln>
          </p:spPr>
          <p:txBody>
            <a:bodyPr/>
            <a:lstStyle/>
            <a:p>
              <a:endParaRPr lang="es-CO"/>
            </a:p>
          </p:txBody>
        </p:sp>
        <p:sp>
          <p:nvSpPr>
            <p:cNvPr id="57" name="Freeform: Shape 56">
              <a:extLst>
                <a:ext uri="{FF2B5EF4-FFF2-40B4-BE49-F238E27FC236}">
                  <a16:creationId xmlns:a16="http://schemas.microsoft.com/office/drawing/2014/main" id="{CAC1A66F-033B-7FAF-3277-DEBD6E44D92F}"/>
                </a:ext>
              </a:extLst>
            </p:cNvPr>
            <p:cNvSpPr/>
            <p:nvPr>
              <p:custDataLst>
                <p:tags r:id="rId51"/>
              </p:custDataLst>
            </p:nvPr>
          </p:nvSpPr>
          <p:spPr>
            <a:xfrm>
              <a:off x="10237189" y="5020213"/>
              <a:ext cx="144902" cy="143659"/>
            </a:xfrm>
            <a:custGeom>
              <a:avLst/>
              <a:gdLst>
                <a:gd name="csX0" fmla="*/ 105589 w 144902"/>
                <a:gd name="csY0" fmla="*/ 20371 h 143659"/>
                <a:gd name="csX1" fmla="*/ 76482 w 144902"/>
                <a:gd name="csY1" fmla="*/ 74 h 143659"/>
                <a:gd name="csX2" fmla="*/ 234 w 144902"/>
                <a:gd name="csY2" fmla="*/ 92993 h 143659"/>
                <a:gd name="csX3" fmla="*/ 42313 w 144902"/>
                <a:gd name="csY3" fmla="*/ 143734 h 143659"/>
                <a:gd name="csX4" fmla="*/ 83443 w 144902"/>
                <a:gd name="csY4" fmla="*/ 119949 h 143659"/>
                <a:gd name="csX5" fmla="*/ 112233 w 144902"/>
                <a:gd name="csY5" fmla="*/ 143734 h 143659"/>
                <a:gd name="csX6" fmla="*/ 135646 w 144902"/>
                <a:gd name="csY6" fmla="*/ 126292 h 143659"/>
                <a:gd name="csX7" fmla="*/ 145137 w 144902"/>
                <a:gd name="csY7" fmla="*/ 94896 h 143659"/>
                <a:gd name="csX8" fmla="*/ 141340 w 144902"/>
                <a:gd name="csY8" fmla="*/ 91725 h 143659"/>
                <a:gd name="csX9" fmla="*/ 136911 w 144902"/>
                <a:gd name="csY9" fmla="*/ 97433 h 143659"/>
                <a:gd name="csX10" fmla="*/ 112866 w 144902"/>
                <a:gd name="csY10" fmla="*/ 136757 h 143659"/>
                <a:gd name="csX11" fmla="*/ 103375 w 144902"/>
                <a:gd name="csY11" fmla="*/ 122169 h 143659"/>
                <a:gd name="csX12" fmla="*/ 107488 w 144902"/>
                <a:gd name="csY12" fmla="*/ 98702 h 143659"/>
                <a:gd name="csX13" fmla="*/ 114448 w 144902"/>
                <a:gd name="csY13" fmla="*/ 70160 h 143659"/>
                <a:gd name="csX14" fmla="*/ 125838 w 144902"/>
                <a:gd name="csY14" fmla="*/ 25762 h 143659"/>
                <a:gd name="csX15" fmla="*/ 128052 w 144902"/>
                <a:gd name="csY15" fmla="*/ 14980 h 143659"/>
                <a:gd name="csX16" fmla="*/ 118877 w 144902"/>
                <a:gd name="csY16" fmla="*/ 6417 h 143659"/>
                <a:gd name="csX17" fmla="*/ 105589 w 144902"/>
                <a:gd name="csY17" fmla="*/ 20371 h 143659"/>
                <a:gd name="csX18" fmla="*/ 85024 w 144902"/>
                <a:gd name="csY18" fmla="*/ 102507 h 143659"/>
                <a:gd name="csX19" fmla="*/ 78697 w 144902"/>
                <a:gd name="csY19" fmla="*/ 114241 h 143659"/>
                <a:gd name="csX20" fmla="*/ 42946 w 144902"/>
                <a:gd name="csY20" fmla="*/ 136757 h 143659"/>
                <a:gd name="csX21" fmla="*/ 22697 w 144902"/>
                <a:gd name="csY21" fmla="*/ 106947 h 143659"/>
                <a:gd name="csX22" fmla="*/ 40098 w 144902"/>
                <a:gd name="csY22" fmla="*/ 37496 h 143659"/>
                <a:gd name="csX23" fmla="*/ 76799 w 144902"/>
                <a:gd name="csY23" fmla="*/ 7051 h 143659"/>
                <a:gd name="csX24" fmla="*/ 101793 w 144902"/>
                <a:gd name="csY24" fmla="*/ 34959 h 143659"/>
                <a:gd name="csX25" fmla="*/ 100844 w 144902"/>
                <a:gd name="csY25" fmla="*/ 40350 h 143659"/>
                <a:gd name="csX26" fmla="*/ 85024 w 144902"/>
                <a:gd name="csY26" fmla="*/ 102507 h 143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44902" h="143659">
                  <a:moveTo>
                    <a:pt x="105589" y="20371"/>
                  </a:moveTo>
                  <a:cubicBezTo>
                    <a:pt x="99894" y="8637"/>
                    <a:pt x="90719" y="74"/>
                    <a:pt x="76482" y="74"/>
                  </a:cubicBezTo>
                  <a:cubicBezTo>
                    <a:pt x="39465" y="74"/>
                    <a:pt x="234" y="46692"/>
                    <a:pt x="234" y="92993"/>
                  </a:cubicBezTo>
                  <a:cubicBezTo>
                    <a:pt x="234" y="122803"/>
                    <a:pt x="17635" y="143734"/>
                    <a:pt x="42313" y="143734"/>
                  </a:cubicBezTo>
                  <a:cubicBezTo>
                    <a:pt x="48641" y="143734"/>
                    <a:pt x="64460" y="142465"/>
                    <a:pt x="83443" y="119949"/>
                  </a:cubicBezTo>
                  <a:cubicBezTo>
                    <a:pt x="85974" y="133269"/>
                    <a:pt x="97047" y="143734"/>
                    <a:pt x="112233" y="143734"/>
                  </a:cubicBezTo>
                  <a:cubicBezTo>
                    <a:pt x="123307" y="143734"/>
                    <a:pt x="130583" y="136440"/>
                    <a:pt x="135646" y="126292"/>
                  </a:cubicBezTo>
                  <a:cubicBezTo>
                    <a:pt x="141024" y="114875"/>
                    <a:pt x="145137" y="95530"/>
                    <a:pt x="145137" y="94896"/>
                  </a:cubicBezTo>
                  <a:cubicBezTo>
                    <a:pt x="145137" y="91725"/>
                    <a:pt x="142290" y="91725"/>
                    <a:pt x="141340" y="91725"/>
                  </a:cubicBezTo>
                  <a:cubicBezTo>
                    <a:pt x="138177" y="91725"/>
                    <a:pt x="137860" y="92993"/>
                    <a:pt x="136911" y="97433"/>
                  </a:cubicBezTo>
                  <a:cubicBezTo>
                    <a:pt x="131533" y="118047"/>
                    <a:pt x="125838" y="136757"/>
                    <a:pt x="112866" y="136757"/>
                  </a:cubicBezTo>
                  <a:cubicBezTo>
                    <a:pt x="104324" y="136757"/>
                    <a:pt x="103375" y="128512"/>
                    <a:pt x="103375" y="122169"/>
                  </a:cubicBezTo>
                  <a:cubicBezTo>
                    <a:pt x="103375" y="115192"/>
                    <a:pt x="104007" y="112655"/>
                    <a:pt x="107488" y="98702"/>
                  </a:cubicBezTo>
                  <a:cubicBezTo>
                    <a:pt x="110968" y="85382"/>
                    <a:pt x="111601" y="82211"/>
                    <a:pt x="114448" y="70160"/>
                  </a:cubicBezTo>
                  <a:lnTo>
                    <a:pt x="125838" y="25762"/>
                  </a:lnTo>
                  <a:cubicBezTo>
                    <a:pt x="128052" y="16882"/>
                    <a:pt x="128052" y="16248"/>
                    <a:pt x="128052" y="14980"/>
                  </a:cubicBezTo>
                  <a:cubicBezTo>
                    <a:pt x="128052" y="9588"/>
                    <a:pt x="124256" y="6417"/>
                    <a:pt x="118877" y="6417"/>
                  </a:cubicBezTo>
                  <a:cubicBezTo>
                    <a:pt x="111284" y="6417"/>
                    <a:pt x="106538" y="13394"/>
                    <a:pt x="105589" y="20371"/>
                  </a:cubicBezTo>
                  <a:close/>
                  <a:moveTo>
                    <a:pt x="85024" y="102507"/>
                  </a:moveTo>
                  <a:cubicBezTo>
                    <a:pt x="83443" y="108216"/>
                    <a:pt x="83443" y="108850"/>
                    <a:pt x="78697" y="114241"/>
                  </a:cubicBezTo>
                  <a:cubicBezTo>
                    <a:pt x="64776" y="131683"/>
                    <a:pt x="51804" y="136757"/>
                    <a:pt x="42946" y="136757"/>
                  </a:cubicBezTo>
                  <a:cubicBezTo>
                    <a:pt x="27127" y="136757"/>
                    <a:pt x="22697" y="119315"/>
                    <a:pt x="22697" y="106947"/>
                  </a:cubicBezTo>
                  <a:cubicBezTo>
                    <a:pt x="22697" y="91091"/>
                    <a:pt x="32821" y="52084"/>
                    <a:pt x="40098" y="37496"/>
                  </a:cubicBezTo>
                  <a:cubicBezTo>
                    <a:pt x="49906" y="18785"/>
                    <a:pt x="64143" y="7051"/>
                    <a:pt x="76799" y="7051"/>
                  </a:cubicBezTo>
                  <a:cubicBezTo>
                    <a:pt x="97363" y="7051"/>
                    <a:pt x="101793" y="33056"/>
                    <a:pt x="101793" y="34959"/>
                  </a:cubicBezTo>
                  <a:cubicBezTo>
                    <a:pt x="101793" y="36861"/>
                    <a:pt x="101160" y="38764"/>
                    <a:pt x="100844" y="40350"/>
                  </a:cubicBezTo>
                  <a:lnTo>
                    <a:pt x="85024" y="102507"/>
                  </a:lnTo>
                  <a:close/>
                </a:path>
              </a:pathLst>
            </a:custGeom>
            <a:grpFill/>
            <a:ln w="31750" cap="flat">
              <a:noFill/>
              <a:prstDash val="solid"/>
              <a:miter/>
            </a:ln>
          </p:spPr>
          <p:txBody>
            <a:bodyPr/>
            <a:lstStyle/>
            <a:p>
              <a:endParaRPr lang="es-CO"/>
            </a:p>
          </p:txBody>
        </p:sp>
        <p:sp>
          <p:nvSpPr>
            <p:cNvPr id="58" name="Freeform: Shape 57">
              <a:extLst>
                <a:ext uri="{FF2B5EF4-FFF2-40B4-BE49-F238E27FC236}">
                  <a16:creationId xmlns:a16="http://schemas.microsoft.com/office/drawing/2014/main" id="{4491693C-EAD8-C59A-C651-0C3D666921F1}"/>
                </a:ext>
              </a:extLst>
            </p:cNvPr>
            <p:cNvSpPr/>
            <p:nvPr>
              <p:custDataLst>
                <p:tags r:id="rId52"/>
              </p:custDataLst>
            </p:nvPr>
          </p:nvSpPr>
          <p:spPr>
            <a:xfrm>
              <a:off x="10402179" y="5110055"/>
              <a:ext cx="135316" cy="100117"/>
            </a:xfrm>
            <a:custGeom>
              <a:avLst/>
              <a:gdLst>
                <a:gd name="csX0" fmla="*/ 16849 w 135316"/>
                <a:gd name="csY0" fmla="*/ 83988 h 100117"/>
                <a:gd name="csX1" fmla="*/ 14635 w 135316"/>
                <a:gd name="csY1" fmla="*/ 93090 h 100117"/>
                <a:gd name="csX2" fmla="*/ 22165 w 135316"/>
                <a:gd name="csY2" fmla="*/ 100194 h 100117"/>
                <a:gd name="csX3" fmla="*/ 30802 w 135316"/>
                <a:gd name="csY3" fmla="*/ 95310 h 100117"/>
                <a:gd name="csX4" fmla="*/ 34788 w 135316"/>
                <a:gd name="csY4" fmla="*/ 81546 h 100117"/>
                <a:gd name="csX5" fmla="*/ 39661 w 135316"/>
                <a:gd name="csY5" fmla="*/ 61567 h 100117"/>
                <a:gd name="csX6" fmla="*/ 43426 w 135316"/>
                <a:gd name="csY6" fmla="*/ 46694 h 100117"/>
                <a:gd name="csX7" fmla="*/ 52727 w 135316"/>
                <a:gd name="csY7" fmla="*/ 26715 h 100117"/>
                <a:gd name="csX8" fmla="*/ 85947 w 135316"/>
                <a:gd name="csY8" fmla="*/ 6292 h 100117"/>
                <a:gd name="csX9" fmla="*/ 99014 w 135316"/>
                <a:gd name="csY9" fmla="*/ 21831 h 100117"/>
                <a:gd name="csX10" fmla="*/ 85947 w 135316"/>
                <a:gd name="csY10" fmla="*/ 69115 h 100117"/>
                <a:gd name="csX11" fmla="*/ 82625 w 135316"/>
                <a:gd name="csY11" fmla="*/ 81102 h 100117"/>
                <a:gd name="csX12" fmla="*/ 103665 w 135316"/>
                <a:gd name="csY12" fmla="*/ 100194 h 100117"/>
                <a:gd name="csX13" fmla="*/ 135556 w 135316"/>
                <a:gd name="csY13" fmla="*/ 66229 h 100117"/>
                <a:gd name="csX14" fmla="*/ 132012 w 135316"/>
                <a:gd name="csY14" fmla="*/ 63343 h 100117"/>
                <a:gd name="csX15" fmla="*/ 127805 w 135316"/>
                <a:gd name="csY15" fmla="*/ 67117 h 100117"/>
                <a:gd name="csX16" fmla="*/ 104329 w 135316"/>
                <a:gd name="csY16" fmla="*/ 93978 h 100117"/>
                <a:gd name="csX17" fmla="*/ 98792 w 135316"/>
                <a:gd name="csY17" fmla="*/ 86208 h 100117"/>
                <a:gd name="csX18" fmla="*/ 103886 w 135316"/>
                <a:gd name="csY18" fmla="*/ 68227 h 100117"/>
                <a:gd name="csX19" fmla="*/ 115624 w 135316"/>
                <a:gd name="csY19" fmla="*/ 25383 h 100117"/>
                <a:gd name="csX20" fmla="*/ 86833 w 135316"/>
                <a:gd name="csY20" fmla="*/ 76 h 100117"/>
                <a:gd name="csX21" fmla="*/ 49405 w 135316"/>
                <a:gd name="csY21" fmla="*/ 20277 h 100117"/>
                <a:gd name="csX22" fmla="*/ 25708 w 135316"/>
                <a:gd name="csY22" fmla="*/ 76 h 100117"/>
                <a:gd name="csX23" fmla="*/ 8212 w 135316"/>
                <a:gd name="csY23" fmla="*/ 12063 h 100117"/>
                <a:gd name="csX24" fmla="*/ 239 w 135316"/>
                <a:gd name="csY24" fmla="*/ 34041 h 100117"/>
                <a:gd name="csX25" fmla="*/ 4004 w 135316"/>
                <a:gd name="csY25" fmla="*/ 36926 h 100117"/>
                <a:gd name="csX26" fmla="*/ 8877 w 135316"/>
                <a:gd name="csY26" fmla="*/ 30267 h 100117"/>
                <a:gd name="csX27" fmla="*/ 25044 w 135316"/>
                <a:gd name="csY27" fmla="*/ 6292 h 100117"/>
                <a:gd name="csX28" fmla="*/ 32352 w 135316"/>
                <a:gd name="csY28" fmla="*/ 17169 h 100117"/>
                <a:gd name="csX29" fmla="*/ 28809 w 135316"/>
                <a:gd name="csY29" fmla="*/ 35594 h 100117"/>
                <a:gd name="csX30" fmla="*/ 23936 w 135316"/>
                <a:gd name="csY30" fmla="*/ 55574 h 100117"/>
                <a:gd name="csX31" fmla="*/ 16849 w 135316"/>
                <a:gd name="csY31" fmla="*/ 83988 h 100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35316" h="100117">
                  <a:moveTo>
                    <a:pt x="16849" y="83988"/>
                  </a:moveTo>
                  <a:cubicBezTo>
                    <a:pt x="15964" y="86874"/>
                    <a:pt x="14635" y="92424"/>
                    <a:pt x="14635" y="93090"/>
                  </a:cubicBezTo>
                  <a:cubicBezTo>
                    <a:pt x="14635" y="97974"/>
                    <a:pt x="18621" y="100194"/>
                    <a:pt x="22165" y="100194"/>
                  </a:cubicBezTo>
                  <a:cubicBezTo>
                    <a:pt x="26151" y="100194"/>
                    <a:pt x="29695" y="97308"/>
                    <a:pt x="30802" y="95310"/>
                  </a:cubicBezTo>
                  <a:cubicBezTo>
                    <a:pt x="31909" y="93312"/>
                    <a:pt x="33681" y="86208"/>
                    <a:pt x="34788" y="81546"/>
                  </a:cubicBezTo>
                  <a:cubicBezTo>
                    <a:pt x="35896" y="77329"/>
                    <a:pt x="38332" y="67117"/>
                    <a:pt x="39661" y="61567"/>
                  </a:cubicBezTo>
                  <a:cubicBezTo>
                    <a:pt x="40989" y="56684"/>
                    <a:pt x="42318" y="51800"/>
                    <a:pt x="43426" y="46694"/>
                  </a:cubicBezTo>
                  <a:cubicBezTo>
                    <a:pt x="45862" y="37592"/>
                    <a:pt x="46305" y="35816"/>
                    <a:pt x="52727" y="26715"/>
                  </a:cubicBezTo>
                  <a:cubicBezTo>
                    <a:pt x="58928" y="17835"/>
                    <a:pt x="69337" y="6292"/>
                    <a:pt x="85947" y="6292"/>
                  </a:cubicBezTo>
                  <a:cubicBezTo>
                    <a:pt x="98792" y="6292"/>
                    <a:pt x="99014" y="17613"/>
                    <a:pt x="99014" y="21831"/>
                  </a:cubicBezTo>
                  <a:cubicBezTo>
                    <a:pt x="99014" y="35150"/>
                    <a:pt x="89491" y="59791"/>
                    <a:pt x="85947" y="69115"/>
                  </a:cubicBezTo>
                  <a:cubicBezTo>
                    <a:pt x="83511" y="75331"/>
                    <a:pt x="82625" y="77329"/>
                    <a:pt x="82625" y="81102"/>
                  </a:cubicBezTo>
                  <a:cubicBezTo>
                    <a:pt x="82625" y="92868"/>
                    <a:pt x="92370" y="100194"/>
                    <a:pt x="103665" y="100194"/>
                  </a:cubicBezTo>
                  <a:cubicBezTo>
                    <a:pt x="125811" y="100194"/>
                    <a:pt x="135556" y="69559"/>
                    <a:pt x="135556" y="66229"/>
                  </a:cubicBezTo>
                  <a:cubicBezTo>
                    <a:pt x="135556" y="63343"/>
                    <a:pt x="132677" y="63343"/>
                    <a:pt x="132012" y="63343"/>
                  </a:cubicBezTo>
                  <a:cubicBezTo>
                    <a:pt x="128912" y="63343"/>
                    <a:pt x="128690" y="64675"/>
                    <a:pt x="127805" y="67117"/>
                  </a:cubicBezTo>
                  <a:cubicBezTo>
                    <a:pt x="122711" y="84876"/>
                    <a:pt x="113188" y="93978"/>
                    <a:pt x="104329" y="93978"/>
                  </a:cubicBezTo>
                  <a:cubicBezTo>
                    <a:pt x="99678" y="93978"/>
                    <a:pt x="98792" y="90870"/>
                    <a:pt x="98792" y="86208"/>
                  </a:cubicBezTo>
                  <a:cubicBezTo>
                    <a:pt x="98792" y="81102"/>
                    <a:pt x="99900" y="78217"/>
                    <a:pt x="103886" y="68227"/>
                  </a:cubicBezTo>
                  <a:cubicBezTo>
                    <a:pt x="106544" y="61345"/>
                    <a:pt x="115624" y="37814"/>
                    <a:pt x="115624" y="25383"/>
                  </a:cubicBezTo>
                  <a:cubicBezTo>
                    <a:pt x="115624" y="3850"/>
                    <a:pt x="98571" y="76"/>
                    <a:pt x="86833" y="76"/>
                  </a:cubicBezTo>
                  <a:cubicBezTo>
                    <a:pt x="68451" y="76"/>
                    <a:pt x="56049" y="11397"/>
                    <a:pt x="49405" y="20277"/>
                  </a:cubicBezTo>
                  <a:cubicBezTo>
                    <a:pt x="47855" y="4960"/>
                    <a:pt x="34788" y="76"/>
                    <a:pt x="25708" y="76"/>
                  </a:cubicBezTo>
                  <a:cubicBezTo>
                    <a:pt x="16185" y="76"/>
                    <a:pt x="11091" y="6958"/>
                    <a:pt x="8212" y="12063"/>
                  </a:cubicBezTo>
                  <a:cubicBezTo>
                    <a:pt x="3340" y="20277"/>
                    <a:pt x="239" y="32931"/>
                    <a:pt x="239" y="34041"/>
                  </a:cubicBezTo>
                  <a:cubicBezTo>
                    <a:pt x="239" y="36926"/>
                    <a:pt x="3340" y="36926"/>
                    <a:pt x="4004" y="36926"/>
                  </a:cubicBezTo>
                  <a:cubicBezTo>
                    <a:pt x="7105" y="36926"/>
                    <a:pt x="7326" y="36260"/>
                    <a:pt x="8877" y="30267"/>
                  </a:cubicBezTo>
                  <a:cubicBezTo>
                    <a:pt x="12199" y="17169"/>
                    <a:pt x="16407" y="6292"/>
                    <a:pt x="25044" y="6292"/>
                  </a:cubicBezTo>
                  <a:cubicBezTo>
                    <a:pt x="30802" y="6292"/>
                    <a:pt x="32352" y="11175"/>
                    <a:pt x="32352" y="17169"/>
                  </a:cubicBezTo>
                  <a:cubicBezTo>
                    <a:pt x="32352" y="21387"/>
                    <a:pt x="30359" y="29601"/>
                    <a:pt x="28809" y="35594"/>
                  </a:cubicBezTo>
                  <a:cubicBezTo>
                    <a:pt x="27258" y="41588"/>
                    <a:pt x="25044" y="50690"/>
                    <a:pt x="23936" y="55574"/>
                  </a:cubicBezTo>
                  <a:lnTo>
                    <a:pt x="16849" y="83988"/>
                  </a:lnTo>
                  <a:close/>
                </a:path>
              </a:pathLst>
            </a:custGeom>
            <a:grpFill/>
            <a:ln w="31750" cap="flat">
              <a:noFill/>
              <a:prstDash val="solid"/>
              <a:miter/>
            </a:ln>
          </p:spPr>
          <p:txBody>
            <a:bodyPr/>
            <a:lstStyle/>
            <a:p>
              <a:endParaRPr lang="es-CO"/>
            </a:p>
          </p:txBody>
        </p:sp>
      </p:grpSp>
      <p:sp>
        <p:nvSpPr>
          <p:cNvPr id="4" name="CuadroTexto 3">
            <a:extLst>
              <a:ext uri="{FF2B5EF4-FFF2-40B4-BE49-F238E27FC236}">
                <a16:creationId xmlns:a16="http://schemas.microsoft.com/office/drawing/2014/main" id="{696FF8F0-06B6-4494-6D99-2494B562601E}"/>
              </a:ext>
            </a:extLst>
          </p:cNvPr>
          <p:cNvSpPr txBox="1"/>
          <p:nvPr/>
        </p:nvSpPr>
        <p:spPr>
          <a:xfrm>
            <a:off x="1114826" y="3351463"/>
            <a:ext cx="1507592" cy="369332"/>
          </a:xfrm>
          <a:prstGeom prst="rect">
            <a:avLst/>
          </a:prstGeom>
          <a:noFill/>
        </p:spPr>
        <p:txBody>
          <a:bodyPr wrap="none" rtlCol="0">
            <a:spAutoFit/>
          </a:bodyPr>
          <a:lstStyle/>
          <a:p>
            <a:r>
              <a:rPr lang="es-MX">
                <a:solidFill>
                  <a:schemeClr val="accent6"/>
                </a:solidFill>
              </a:rPr>
              <a:t>Coeficiente 1</a:t>
            </a:r>
            <a:endParaRPr lang="es-CO">
              <a:solidFill>
                <a:schemeClr val="accent6"/>
              </a:solidFill>
            </a:endParaRPr>
          </a:p>
        </p:txBody>
      </p:sp>
      <p:sp>
        <p:nvSpPr>
          <p:cNvPr id="5" name="Forma libre: forma 4">
            <a:extLst>
              <a:ext uri="{FF2B5EF4-FFF2-40B4-BE49-F238E27FC236}">
                <a16:creationId xmlns:a16="http://schemas.microsoft.com/office/drawing/2014/main" id="{1B8376EC-1A01-D394-3C3F-3B839E70B1A4}"/>
              </a:ext>
            </a:extLst>
          </p:cNvPr>
          <p:cNvSpPr/>
          <p:nvPr/>
        </p:nvSpPr>
        <p:spPr>
          <a:xfrm>
            <a:off x="2543175" y="3397193"/>
            <a:ext cx="1266825" cy="319412"/>
          </a:xfrm>
          <a:custGeom>
            <a:avLst/>
            <a:gdLst>
              <a:gd name="csX0" fmla="*/ 0 w 1266825"/>
              <a:gd name="csY0" fmla="*/ 98482 h 319412"/>
              <a:gd name="csX1" fmla="*/ 333375 w 1266825"/>
              <a:gd name="csY1" fmla="*/ 3232 h 319412"/>
              <a:gd name="csX2" fmla="*/ 533400 w 1266825"/>
              <a:gd name="csY2" fmla="*/ 203257 h 319412"/>
              <a:gd name="csX3" fmla="*/ 666750 w 1266825"/>
              <a:gd name="csY3" fmla="*/ 308032 h 319412"/>
              <a:gd name="csX4" fmla="*/ 885825 w 1266825"/>
              <a:gd name="csY4" fmla="*/ 308032 h 319412"/>
              <a:gd name="csX5" fmla="*/ 1114425 w 1266825"/>
              <a:gd name="csY5" fmla="*/ 231832 h 319412"/>
              <a:gd name="csX6" fmla="*/ 1266825 w 1266825"/>
              <a:gd name="csY6" fmla="*/ 50857 h 3194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66825" h="319412">
                <a:moveTo>
                  <a:pt x="0" y="98482"/>
                </a:moveTo>
                <a:cubicBezTo>
                  <a:pt x="122237" y="42126"/>
                  <a:pt x="244475" y="-14230"/>
                  <a:pt x="333375" y="3232"/>
                </a:cubicBezTo>
                <a:cubicBezTo>
                  <a:pt x="422275" y="20694"/>
                  <a:pt x="477838" y="152457"/>
                  <a:pt x="533400" y="203257"/>
                </a:cubicBezTo>
                <a:cubicBezTo>
                  <a:pt x="588962" y="254057"/>
                  <a:pt x="608013" y="290570"/>
                  <a:pt x="666750" y="308032"/>
                </a:cubicBezTo>
                <a:cubicBezTo>
                  <a:pt x="725487" y="325494"/>
                  <a:pt x="811213" y="320732"/>
                  <a:pt x="885825" y="308032"/>
                </a:cubicBezTo>
                <a:cubicBezTo>
                  <a:pt x="960437" y="295332"/>
                  <a:pt x="1050925" y="274695"/>
                  <a:pt x="1114425" y="231832"/>
                </a:cubicBezTo>
                <a:cubicBezTo>
                  <a:pt x="1177925" y="188970"/>
                  <a:pt x="1222375" y="119913"/>
                  <a:pt x="1266825" y="50857"/>
                </a:cubicBezTo>
              </a:path>
            </a:pathLst>
          </a:custGeom>
          <a:noFill/>
          <a:ln>
            <a:solidFill>
              <a:schemeClr val="accent6"/>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74083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tângulo 11"/>
          <p:cNvSpPr/>
          <p:nvPr/>
        </p:nvSpPr>
        <p:spPr>
          <a:xfrm>
            <a:off x="360609" y="4033812"/>
            <a:ext cx="9955368" cy="501508"/>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tângulo 10"/>
          <p:cNvSpPr/>
          <p:nvPr/>
        </p:nvSpPr>
        <p:spPr>
          <a:xfrm>
            <a:off x="360609" y="1240000"/>
            <a:ext cx="9955368" cy="501508"/>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m 4"/>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4046829" y="29003"/>
            <a:ext cx="6027420" cy="771525"/>
          </a:xfrm>
          <a:prstGeom prst="rect">
            <a:avLst/>
          </a:prstGeom>
        </p:spPr>
      </p:pic>
      <p:sp>
        <p:nvSpPr>
          <p:cNvPr id="6" name="CaixaDeTexto 5"/>
          <p:cNvSpPr txBox="1"/>
          <p:nvPr/>
        </p:nvSpPr>
        <p:spPr>
          <a:xfrm>
            <a:off x="360609" y="183932"/>
            <a:ext cx="3692101" cy="461665"/>
          </a:xfrm>
          <a:prstGeom prst="rect">
            <a:avLst/>
          </a:prstGeom>
          <a:noFill/>
        </p:spPr>
        <p:txBody>
          <a:bodyPr wrap="none" rtlCol="0">
            <a:spAutoFit/>
          </a:bodyPr>
          <a:lstStyle/>
          <a:p>
            <a:r>
              <a:rPr lang="pt-BR" sz="2400" b="1" err="1">
                <a:solidFill>
                  <a:schemeClr val="accent6"/>
                </a:solidFill>
              </a:rPr>
              <a:t>Función</a:t>
            </a:r>
            <a:r>
              <a:rPr lang="pt-BR" sz="2400" b="1">
                <a:solidFill>
                  <a:schemeClr val="accent6"/>
                </a:solidFill>
              </a:rPr>
              <a:t> de </a:t>
            </a:r>
            <a:r>
              <a:rPr lang="pt-BR" sz="2400" b="1" err="1">
                <a:solidFill>
                  <a:schemeClr val="accent6"/>
                </a:solidFill>
              </a:rPr>
              <a:t>Transferencia</a:t>
            </a:r>
            <a:endParaRPr lang="es-CO" sz="2400" b="1">
              <a:solidFill>
                <a:schemeClr val="accent6"/>
              </a:solidFill>
            </a:endParaRPr>
          </a:p>
        </p:txBody>
      </p:sp>
      <p:sp>
        <p:nvSpPr>
          <p:cNvPr id="7" name="CaixaDeTexto 6"/>
          <p:cNvSpPr txBox="1"/>
          <p:nvPr/>
        </p:nvSpPr>
        <p:spPr>
          <a:xfrm>
            <a:off x="360609" y="1240000"/>
            <a:ext cx="6182077" cy="461665"/>
          </a:xfrm>
          <a:prstGeom prst="rect">
            <a:avLst/>
          </a:prstGeom>
          <a:noFill/>
        </p:spPr>
        <p:txBody>
          <a:bodyPr wrap="none" rtlCol="0">
            <a:spAutoFit/>
          </a:bodyPr>
          <a:lstStyle/>
          <a:p>
            <a:r>
              <a:rPr lang="pt-BR" sz="2400" b="1"/>
              <a:t>Forma Canónica </a:t>
            </a:r>
            <a:r>
              <a:rPr lang="pt-BR" sz="2400" b="1" err="1"/>
              <a:t>Controlable</a:t>
            </a:r>
            <a:r>
              <a:rPr lang="pt-BR" sz="2400" b="1"/>
              <a:t> (FCC) forma 1</a:t>
            </a:r>
            <a:endParaRPr lang="es-CO" sz="2400" b="1"/>
          </a:p>
        </p:txBody>
      </p:sp>
      <p:sp>
        <p:nvSpPr>
          <p:cNvPr id="9" name="CaixaDeTexto 8"/>
          <p:cNvSpPr txBox="1"/>
          <p:nvPr/>
        </p:nvSpPr>
        <p:spPr>
          <a:xfrm>
            <a:off x="360609" y="4093002"/>
            <a:ext cx="6138796" cy="461665"/>
          </a:xfrm>
          <a:prstGeom prst="rect">
            <a:avLst/>
          </a:prstGeom>
          <a:noFill/>
        </p:spPr>
        <p:txBody>
          <a:bodyPr wrap="none" rtlCol="0">
            <a:spAutoFit/>
          </a:bodyPr>
          <a:lstStyle/>
          <a:p>
            <a:r>
              <a:rPr lang="pt-BR" sz="2400" b="1"/>
              <a:t>Forma Canónica </a:t>
            </a:r>
            <a:r>
              <a:rPr lang="pt-BR" sz="2400" b="1" err="1"/>
              <a:t>Observable</a:t>
            </a:r>
            <a:r>
              <a:rPr lang="pt-BR" sz="2400" b="1"/>
              <a:t> (FCO) forma 1</a:t>
            </a:r>
            <a:endParaRPr lang="es-CO" sz="2400" b="1"/>
          </a:p>
        </p:txBody>
      </p:sp>
      <p:pic>
        <p:nvPicPr>
          <p:cNvPr id="13" name="Imagem 12"/>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360609" y="1883381"/>
            <a:ext cx="7936230" cy="1931670"/>
          </a:xfrm>
          <a:prstGeom prst="rect">
            <a:avLst/>
          </a:prstGeom>
        </p:spPr>
      </p:pic>
      <p:pic>
        <p:nvPicPr>
          <p:cNvPr id="14" name="Imagem 13"/>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360609" y="4895954"/>
            <a:ext cx="6802755" cy="1931670"/>
          </a:xfrm>
          <a:prstGeom prst="rect">
            <a:avLst/>
          </a:prstGeom>
        </p:spPr>
      </p:pic>
    </p:spTree>
    <p:extLst>
      <p:ext uri="{BB962C8B-B14F-4D97-AF65-F5344CB8AC3E}">
        <p14:creationId xmlns:p14="http://schemas.microsoft.com/office/powerpoint/2010/main" val="284797277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tângulo 11"/>
          <p:cNvSpPr/>
          <p:nvPr/>
        </p:nvSpPr>
        <p:spPr>
          <a:xfrm>
            <a:off x="360609" y="4033812"/>
            <a:ext cx="9955368" cy="501508"/>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tângulo 10"/>
          <p:cNvSpPr/>
          <p:nvPr/>
        </p:nvSpPr>
        <p:spPr>
          <a:xfrm>
            <a:off x="360609" y="1240000"/>
            <a:ext cx="9955368" cy="501508"/>
          </a:xfrm>
          <a:prstGeom prst="rect">
            <a:avLst/>
          </a:prstGeom>
          <a:solidFill>
            <a:schemeClr val="accent4">
              <a:lumMod val="60000"/>
              <a:lumOff val="4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m 4"/>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4046829" y="29003"/>
            <a:ext cx="6027420" cy="771525"/>
          </a:xfrm>
          <a:prstGeom prst="rect">
            <a:avLst/>
          </a:prstGeom>
        </p:spPr>
      </p:pic>
      <p:sp>
        <p:nvSpPr>
          <p:cNvPr id="6" name="CaixaDeTexto 5"/>
          <p:cNvSpPr txBox="1"/>
          <p:nvPr/>
        </p:nvSpPr>
        <p:spPr>
          <a:xfrm>
            <a:off x="360609" y="183932"/>
            <a:ext cx="3692101" cy="461665"/>
          </a:xfrm>
          <a:prstGeom prst="rect">
            <a:avLst/>
          </a:prstGeom>
          <a:noFill/>
        </p:spPr>
        <p:txBody>
          <a:bodyPr wrap="none" rtlCol="0">
            <a:spAutoFit/>
          </a:bodyPr>
          <a:lstStyle/>
          <a:p>
            <a:r>
              <a:rPr lang="pt-BR" sz="2400" b="1" err="1">
                <a:solidFill>
                  <a:schemeClr val="accent6"/>
                </a:solidFill>
              </a:rPr>
              <a:t>Función</a:t>
            </a:r>
            <a:r>
              <a:rPr lang="pt-BR" sz="2400" b="1">
                <a:solidFill>
                  <a:schemeClr val="accent6"/>
                </a:solidFill>
              </a:rPr>
              <a:t> de </a:t>
            </a:r>
            <a:r>
              <a:rPr lang="pt-BR" sz="2400" b="1" err="1">
                <a:solidFill>
                  <a:schemeClr val="accent6"/>
                </a:solidFill>
              </a:rPr>
              <a:t>Transferencia</a:t>
            </a:r>
            <a:endParaRPr lang="es-CO" sz="2400" b="1">
              <a:solidFill>
                <a:schemeClr val="accent6"/>
              </a:solidFill>
            </a:endParaRPr>
          </a:p>
        </p:txBody>
      </p:sp>
      <p:sp>
        <p:nvSpPr>
          <p:cNvPr id="7" name="CaixaDeTexto 6"/>
          <p:cNvSpPr txBox="1"/>
          <p:nvPr/>
        </p:nvSpPr>
        <p:spPr>
          <a:xfrm>
            <a:off x="360609" y="1240000"/>
            <a:ext cx="6182077" cy="461665"/>
          </a:xfrm>
          <a:prstGeom prst="rect">
            <a:avLst/>
          </a:prstGeom>
          <a:noFill/>
        </p:spPr>
        <p:txBody>
          <a:bodyPr wrap="none" rtlCol="0">
            <a:spAutoFit/>
          </a:bodyPr>
          <a:lstStyle/>
          <a:p>
            <a:r>
              <a:rPr lang="pt-BR" sz="2400" b="1"/>
              <a:t>Forma Canónica </a:t>
            </a:r>
            <a:r>
              <a:rPr lang="pt-BR" sz="2400" b="1" err="1"/>
              <a:t>Controlable</a:t>
            </a:r>
            <a:r>
              <a:rPr lang="pt-BR" sz="2400" b="1"/>
              <a:t> (FCC) forma 2</a:t>
            </a:r>
            <a:endParaRPr lang="es-CO" sz="2400" b="1"/>
          </a:p>
        </p:txBody>
      </p:sp>
      <p:sp>
        <p:nvSpPr>
          <p:cNvPr id="9" name="CaixaDeTexto 8"/>
          <p:cNvSpPr txBox="1"/>
          <p:nvPr/>
        </p:nvSpPr>
        <p:spPr>
          <a:xfrm>
            <a:off x="360609" y="4093002"/>
            <a:ext cx="6138796" cy="461665"/>
          </a:xfrm>
          <a:prstGeom prst="rect">
            <a:avLst/>
          </a:prstGeom>
          <a:noFill/>
        </p:spPr>
        <p:txBody>
          <a:bodyPr wrap="none" rtlCol="0">
            <a:spAutoFit/>
          </a:bodyPr>
          <a:lstStyle/>
          <a:p>
            <a:r>
              <a:rPr lang="pt-BR" sz="2400" b="1"/>
              <a:t>Forma Canónica </a:t>
            </a:r>
            <a:r>
              <a:rPr lang="pt-BR" sz="2400" b="1" err="1"/>
              <a:t>Observable</a:t>
            </a:r>
            <a:r>
              <a:rPr lang="pt-BR" sz="2400" b="1"/>
              <a:t> (FCO) forma 2</a:t>
            </a:r>
            <a:endParaRPr lang="es-CO" sz="2400" b="1"/>
          </a:p>
        </p:txBody>
      </p:sp>
      <p:pic>
        <p:nvPicPr>
          <p:cNvPr id="15" name="Imagem 14"/>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408279" y="4895954"/>
            <a:ext cx="6802755" cy="1931670"/>
          </a:xfrm>
          <a:prstGeom prst="rect">
            <a:avLst/>
          </a:prstGeom>
        </p:spPr>
      </p:pic>
      <p:pic>
        <p:nvPicPr>
          <p:cNvPr id="17" name="Imagem 16"/>
          <p:cNvPicPr>
            <a:picLocks noChangeAspect="1"/>
          </p:cNvPicPr>
          <p:nvPr>
            <p:custDataLst>
              <p:tags r:id="rId3"/>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426200" y="1920126"/>
            <a:ext cx="7936230" cy="1931670"/>
          </a:xfrm>
          <a:prstGeom prst="rect">
            <a:avLst/>
          </a:prstGeom>
        </p:spPr>
      </p:pic>
    </p:spTree>
    <p:extLst>
      <p:ext uri="{BB962C8B-B14F-4D97-AF65-F5344CB8AC3E}">
        <p14:creationId xmlns:p14="http://schemas.microsoft.com/office/powerpoint/2010/main" val="2852101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7"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A82A5A-8C71-E033-DC16-02C6AF53C1D3}"/>
              </a:ext>
            </a:extLst>
          </p:cNvPr>
          <p:cNvSpPr>
            <a:spLocks noGrp="1"/>
          </p:cNvSpPr>
          <p:nvPr>
            <p:ph type="title"/>
          </p:nvPr>
        </p:nvSpPr>
        <p:spPr/>
        <p:txBody>
          <a:bodyPr/>
          <a:lstStyle/>
          <a:p>
            <a:r>
              <a:rPr lang="es-CO"/>
              <a:t>Controlabilidad y </a:t>
            </a:r>
            <a:r>
              <a:rPr lang="es-CO" err="1"/>
              <a:t>Observabilidad</a:t>
            </a:r>
            <a:endParaRPr lang="es-CO"/>
          </a:p>
        </p:txBody>
      </p:sp>
      <p:sp>
        <p:nvSpPr>
          <p:cNvPr id="5" name="Text Placeholder 4">
            <a:extLst>
              <a:ext uri="{FF2B5EF4-FFF2-40B4-BE49-F238E27FC236}">
                <a16:creationId xmlns:a16="http://schemas.microsoft.com/office/drawing/2014/main" id="{D44086E9-10C9-E4B8-6AA1-2AC2DF1DFDC0}"/>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540587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A5D95E-AE9E-4039-BE51-5F2AB06E8172}"/>
              </a:ext>
            </a:extLst>
          </p:cNvPr>
          <p:cNvSpPr>
            <a:spLocks noGrp="1"/>
          </p:cNvSpPr>
          <p:nvPr>
            <p:ph type="title"/>
          </p:nvPr>
        </p:nvSpPr>
        <p:spPr/>
        <p:txBody>
          <a:bodyPr/>
          <a:lstStyle/>
          <a:p>
            <a:r>
              <a:rPr lang="es-ES"/>
              <a:t>Recordemos qué es el rango de una matriz</a:t>
            </a:r>
            <a:endParaRPr lang="es-CO"/>
          </a:p>
        </p:txBody>
      </p:sp>
      <p:sp>
        <p:nvSpPr>
          <p:cNvPr id="5" name="Content Placeholder 4">
            <a:extLst>
              <a:ext uri="{FF2B5EF4-FFF2-40B4-BE49-F238E27FC236}">
                <a16:creationId xmlns:a16="http://schemas.microsoft.com/office/drawing/2014/main" id="{6CAB32DD-9EBE-FB43-917F-E904077E8097}"/>
              </a:ext>
            </a:extLst>
          </p:cNvPr>
          <p:cNvSpPr>
            <a:spLocks noGrp="1"/>
          </p:cNvSpPr>
          <p:nvPr>
            <p:ph idx="1"/>
          </p:nvPr>
        </p:nvSpPr>
        <p:spPr/>
        <p:txBody>
          <a:bodyPr/>
          <a:lstStyle/>
          <a:p>
            <a:r>
              <a:rPr lang="es-ES"/>
              <a:t>El rango mide cuántas columnas (o filas) son linealmente independientes.</a:t>
            </a:r>
          </a:p>
          <a:p>
            <a:r>
              <a:rPr lang="es-ES"/>
              <a:t>En física: equivale a cuántas “direcciones” diferentes puedo producir con mis variables.</a:t>
            </a:r>
          </a:p>
          <a:p>
            <a:r>
              <a:rPr lang="es-ES"/>
              <a:t>Si una columna es combinación lineal de otras → no aporta una nueva dirección → el rango baja.</a:t>
            </a:r>
          </a:p>
          <a:p>
            <a:r>
              <a:rPr lang="es-ES"/>
              <a:t>En MATLAB o Python: </a:t>
            </a:r>
            <a:r>
              <a:rPr lang="es-ES" err="1">
                <a:solidFill>
                  <a:schemeClr val="accent1"/>
                </a:solidFill>
              </a:rPr>
              <a:t>rank</a:t>
            </a:r>
            <a:r>
              <a:rPr lang="es-ES">
                <a:solidFill>
                  <a:schemeClr val="accent1"/>
                </a:solidFill>
              </a:rPr>
              <a:t>(A) </a:t>
            </a:r>
            <a:r>
              <a:rPr lang="es-ES"/>
              <a:t>devuelve ese número.</a:t>
            </a:r>
            <a:endParaRPr lang="es-CO"/>
          </a:p>
        </p:txBody>
      </p:sp>
    </p:spTree>
    <p:extLst>
      <p:ext uri="{BB962C8B-B14F-4D97-AF65-F5344CB8AC3E}">
        <p14:creationId xmlns:p14="http://schemas.microsoft.com/office/powerpoint/2010/main" val="758634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a:t>Rango de una Matriz (Ejemplo 1)</a:t>
            </a:r>
          </a:p>
        </p:txBody>
      </p:sp>
      <p:sp>
        <p:nvSpPr>
          <p:cNvPr id="3" name="Espaço Reservado para Conteúdo 2"/>
          <p:cNvSpPr>
            <a:spLocks noGrp="1"/>
          </p:cNvSpPr>
          <p:nvPr>
            <p:ph idx="1"/>
          </p:nvPr>
        </p:nvSpPr>
        <p:spPr>
          <a:xfrm>
            <a:off x="838200" y="1825625"/>
            <a:ext cx="10515600" cy="4498975"/>
          </a:xfrm>
        </p:spPr>
        <p:txBody>
          <a:bodyPr>
            <a:normAutofit fontScale="92500" lnSpcReduction="10000"/>
          </a:bodyPr>
          <a:lstStyle/>
          <a:p>
            <a:pPr marL="0" indent="0">
              <a:buNone/>
            </a:pPr>
            <a:r>
              <a:rPr lang="en-US" b="1"/>
              <a:t>MATLAB:</a:t>
            </a:r>
          </a:p>
          <a:p>
            <a:pPr marL="0" indent="0">
              <a:buNone/>
            </a:pPr>
            <a:r>
              <a:rPr lang="en-US"/>
              <a:t>&gt;&gt; A=[4 1 -1;3 2 0;1 1 0]</a:t>
            </a:r>
          </a:p>
          <a:p>
            <a:pPr marL="0" indent="0">
              <a:buNone/>
            </a:pPr>
            <a:r>
              <a:rPr lang="en-US"/>
              <a:t>A =</a:t>
            </a:r>
          </a:p>
          <a:p>
            <a:pPr marL="0" indent="0">
              <a:buNone/>
            </a:pPr>
            <a:r>
              <a:rPr lang="en-US"/>
              <a:t>     4     1    -1</a:t>
            </a:r>
          </a:p>
          <a:p>
            <a:pPr marL="0" indent="0">
              <a:buNone/>
            </a:pPr>
            <a:r>
              <a:rPr lang="en-US"/>
              <a:t>     3     2     0</a:t>
            </a:r>
          </a:p>
          <a:p>
            <a:pPr marL="0" indent="0">
              <a:buNone/>
            </a:pPr>
            <a:r>
              <a:rPr lang="en-US"/>
              <a:t>     1     1     0</a:t>
            </a:r>
          </a:p>
          <a:p>
            <a:pPr marL="0" indent="0">
              <a:buNone/>
            </a:pPr>
            <a:r>
              <a:rPr lang="en-US"/>
              <a:t>&gt;&gt; rank(A)</a:t>
            </a:r>
          </a:p>
          <a:p>
            <a:pPr marL="0" indent="0">
              <a:buNone/>
            </a:pPr>
            <a:r>
              <a:rPr lang="en-US" err="1"/>
              <a:t>ans</a:t>
            </a:r>
            <a:r>
              <a:rPr lang="en-US"/>
              <a:t> =</a:t>
            </a:r>
          </a:p>
          <a:p>
            <a:pPr marL="0" indent="0">
              <a:buNone/>
            </a:pPr>
            <a:endParaRPr lang="en-US"/>
          </a:p>
          <a:p>
            <a:pPr marL="0" indent="0">
              <a:buNone/>
            </a:pPr>
            <a:r>
              <a:rPr lang="en-US"/>
              <a:t>     3</a:t>
            </a:r>
            <a:endParaRPr lang="es-CO"/>
          </a:p>
        </p:txBody>
      </p:sp>
      <p:pic>
        <p:nvPicPr>
          <p:cNvPr id="4" name="Imagem 3"/>
          <p:cNvPicPr>
            <a:picLocks noChangeAspect="1"/>
          </p:cNvPicPr>
          <p:nvPr>
            <p:custDataLst>
              <p:tags r:id="rId1"/>
            </p:custDataLst>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6395720" y="2067560"/>
            <a:ext cx="2322195" cy="1139190"/>
          </a:xfrm>
          <a:prstGeom prst="rect">
            <a:avLst/>
          </a:prstGeom>
        </p:spPr>
      </p:pic>
    </p:spTree>
    <p:extLst>
      <p:ext uri="{BB962C8B-B14F-4D97-AF65-F5344CB8AC3E}">
        <p14:creationId xmlns:p14="http://schemas.microsoft.com/office/powerpoint/2010/main" val="131164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fade">
                                      <p:cBhvr>
                                        <p:cTn id="41" dur="500"/>
                                        <p:tgtEl>
                                          <p:spTgt spid="3">
                                            <p:txEl>
                                              <p:pRg st="7" end="7"/>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7ECAF4-CA39-F237-39C9-59B94FB52A96}"/>
              </a:ext>
            </a:extLst>
          </p:cNvPr>
          <p:cNvSpPr>
            <a:spLocks noGrp="1"/>
          </p:cNvSpPr>
          <p:nvPr>
            <p:ph type="title"/>
          </p:nvPr>
        </p:nvSpPr>
        <p:spPr/>
        <p:txBody>
          <a:bodyPr/>
          <a:lstStyle/>
          <a:p>
            <a:r>
              <a:rPr lang="es-CO"/>
              <a:t>Controlabilidad</a:t>
            </a:r>
          </a:p>
        </p:txBody>
      </p:sp>
      <p:sp>
        <p:nvSpPr>
          <p:cNvPr id="7" name="Content Placeholder 6">
            <a:extLst>
              <a:ext uri="{FF2B5EF4-FFF2-40B4-BE49-F238E27FC236}">
                <a16:creationId xmlns:a16="http://schemas.microsoft.com/office/drawing/2014/main" id="{1ED9DF1A-7946-CA75-0187-874D44450402}"/>
              </a:ext>
            </a:extLst>
          </p:cNvPr>
          <p:cNvSpPr>
            <a:spLocks noGrp="1"/>
          </p:cNvSpPr>
          <p:nvPr>
            <p:ph sz="half" idx="2"/>
          </p:nvPr>
        </p:nvSpPr>
        <p:spPr/>
        <p:txBody>
          <a:bodyPr>
            <a:normAutofit lnSpcReduction="10000"/>
          </a:bodyPr>
          <a:lstStyle/>
          <a:p>
            <a:r>
              <a:rPr lang="es-ES" sz="3200"/>
              <a:t>Un dron (o robot) que tiene 4 motores; si uno falla, ya no puedes llevarlo a cualquier posición → el sistema pierde grados de libertad.</a:t>
            </a:r>
          </a:p>
          <a:p>
            <a:r>
              <a:rPr lang="es-ES" sz="3200"/>
              <a:t>En términos matemáticos, esto equivale a que la matriz de controlabilidad pierde rango: ya no podemos mover todos los estados.</a:t>
            </a:r>
            <a:endParaRPr lang="es-CO" sz="3200"/>
          </a:p>
        </p:txBody>
      </p:sp>
      <p:pic>
        <p:nvPicPr>
          <p:cNvPr id="8" name="Video_Listo_Sin_Letras">
            <a:hlinkClick r:id="" action="ppaction://media"/>
            <a:extLst>
              <a:ext uri="{FF2B5EF4-FFF2-40B4-BE49-F238E27FC236}">
                <a16:creationId xmlns:a16="http://schemas.microsoft.com/office/drawing/2014/main" id="{91921ED3-69B6-606C-D482-39E8483740E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5"/>
          <a:stretch>
            <a:fillRect/>
          </a:stretch>
        </p:blipFill>
        <p:spPr>
          <a:xfrm>
            <a:off x="838200" y="2543969"/>
            <a:ext cx="5181600" cy="2914649"/>
          </a:xfrm>
        </p:spPr>
      </p:pic>
    </p:spTree>
    <p:extLst>
      <p:ext uri="{BB962C8B-B14F-4D97-AF65-F5344CB8AC3E}">
        <p14:creationId xmlns:p14="http://schemas.microsoft.com/office/powerpoint/2010/main" val="5547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43"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mute="1">
                <p:cTn id="12" repeatCount="indefinite" fill="hold" display="0">
                  <p:stCondLst>
                    <p:cond delay="indefinite"/>
                  </p:stCondLst>
                </p:cTn>
                <p:tgtEl>
                  <p:spTgt spid="8"/>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Elipse 34"/>
          <p:cNvSpPr/>
          <p:nvPr/>
        </p:nvSpPr>
        <p:spPr>
          <a:xfrm>
            <a:off x="3851303" y="3629187"/>
            <a:ext cx="427934" cy="3759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4" name="Elipse 33"/>
          <p:cNvSpPr/>
          <p:nvPr/>
        </p:nvSpPr>
        <p:spPr>
          <a:xfrm>
            <a:off x="2635306" y="3647430"/>
            <a:ext cx="427934" cy="3759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Título 1"/>
          <p:cNvSpPr>
            <a:spLocks noGrp="1"/>
          </p:cNvSpPr>
          <p:nvPr>
            <p:ph type="title"/>
          </p:nvPr>
        </p:nvSpPr>
        <p:spPr/>
        <p:txBody>
          <a:bodyPr/>
          <a:lstStyle/>
          <a:p>
            <a:r>
              <a:rPr lang="es-CO" b="1" err="1"/>
              <a:t>Controlabilidad</a:t>
            </a:r>
            <a:r>
              <a:rPr lang="es-CO" b="1"/>
              <a:t> del Estado</a:t>
            </a:r>
          </a:p>
        </p:txBody>
      </p:sp>
      <p:sp>
        <p:nvSpPr>
          <p:cNvPr id="3" name="Espaço Reservado para Conteúdo 2"/>
          <p:cNvSpPr>
            <a:spLocks noGrp="1"/>
          </p:cNvSpPr>
          <p:nvPr>
            <p:ph idx="1"/>
          </p:nvPr>
        </p:nvSpPr>
        <p:spPr>
          <a:xfrm>
            <a:off x="838200" y="1825625"/>
            <a:ext cx="10515600" cy="1633855"/>
          </a:xfrm>
        </p:spPr>
        <p:txBody>
          <a:bodyPr/>
          <a:lstStyle/>
          <a:p>
            <a:r>
              <a:rPr lang="es-CO"/>
              <a:t>Se dice que un sistema de control es de “estado completamente controlable”, si es posible transferir el sistema desde un estado inicial arbitrario a cualquier otro estado deseado en un intervalo de tiempo finito.</a:t>
            </a:r>
          </a:p>
        </p:txBody>
      </p:sp>
      <p:pic>
        <p:nvPicPr>
          <p:cNvPr id="4" name="Imagem 3"/>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195126" y="3702032"/>
            <a:ext cx="3611880" cy="697230"/>
          </a:xfrm>
          <a:prstGeom prst="rect">
            <a:avLst/>
          </a:prstGeom>
        </p:spPr>
      </p:pic>
      <p:cxnSp>
        <p:nvCxnSpPr>
          <p:cNvPr id="20" name="Conector de seta reta 19"/>
          <p:cNvCxnSpPr/>
          <p:nvPr/>
        </p:nvCxnSpPr>
        <p:spPr>
          <a:xfrm flipH="1" flipV="1">
            <a:off x="8138160" y="3459480"/>
            <a:ext cx="15240" cy="236220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p:cNvCxnSpPr/>
          <p:nvPr/>
        </p:nvCxnSpPr>
        <p:spPr>
          <a:xfrm flipV="1">
            <a:off x="6615734" y="4826053"/>
            <a:ext cx="4387546" cy="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6" name="Estrela de 5 pontas 25"/>
          <p:cNvSpPr/>
          <p:nvPr/>
        </p:nvSpPr>
        <p:spPr>
          <a:xfrm>
            <a:off x="6888480" y="3931920"/>
            <a:ext cx="198120" cy="19690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27" name="Estrela de 5 pontas 26"/>
          <p:cNvSpPr/>
          <p:nvPr/>
        </p:nvSpPr>
        <p:spPr>
          <a:xfrm>
            <a:off x="10180320" y="5424832"/>
            <a:ext cx="198120" cy="19690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mc:AlternateContent xmlns:mc="http://schemas.openxmlformats.org/markup-compatibility/2006">
        <mc:Choice xmlns:a14="http://schemas.microsoft.com/office/drawing/2010/main" Requires="a14">
          <p:sp>
            <p:nvSpPr>
              <p:cNvPr id="28" name="CaixaDeTexto 27"/>
              <p:cNvSpPr txBox="1"/>
              <p:nvPr/>
            </p:nvSpPr>
            <p:spPr>
              <a:xfrm>
                <a:off x="6610182" y="4156710"/>
                <a:ext cx="66813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2400" b="0" i="1" smtClean="0">
                          <a:solidFill>
                            <a:schemeClr val="bg1"/>
                          </a:solidFill>
                          <a:latin typeface="Cambria Math" panose="02040503050406030204" pitchFamily="18" charset="0"/>
                        </a:rPr>
                        <m:t>𝑥</m:t>
                      </m:r>
                      <m:r>
                        <a:rPr lang="pt-BR" sz="2400" b="0" i="1" smtClean="0">
                          <a:solidFill>
                            <a:schemeClr val="bg1"/>
                          </a:solidFill>
                          <a:latin typeface="Cambria Math" panose="02040503050406030204" pitchFamily="18" charset="0"/>
                        </a:rPr>
                        <m:t>(0)</m:t>
                      </m:r>
                    </m:oMath>
                  </m:oMathPara>
                </a14:m>
                <a:endParaRPr lang="es-CO" sz="2400">
                  <a:solidFill>
                    <a:schemeClr val="bg1"/>
                  </a:solidFill>
                </a:endParaRPr>
              </a:p>
            </p:txBody>
          </p:sp>
        </mc:Choice>
        <mc:Fallback>
          <p:sp>
            <p:nvSpPr>
              <p:cNvPr id="28" name="CaixaDeTexto 27"/>
              <p:cNvSpPr txBox="1">
                <a:spLocks noRot="1" noChangeAspect="1" noMove="1" noResize="1" noEditPoints="1" noAdjustHandles="1" noChangeArrowheads="1" noChangeShapeType="1" noTextEdit="1"/>
              </p:cNvSpPr>
              <p:nvPr/>
            </p:nvSpPr>
            <p:spPr>
              <a:xfrm>
                <a:off x="6610182" y="4156710"/>
                <a:ext cx="668132" cy="369332"/>
              </a:xfrm>
              <a:prstGeom prst="rect">
                <a:avLst/>
              </a:prstGeom>
              <a:blipFill>
                <a:blip r:embed="rId5"/>
                <a:stretch>
                  <a:fillRect l="-5455" r="-16364" b="-3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CaixaDeTexto 28"/>
              <p:cNvSpPr txBox="1"/>
              <p:nvPr/>
            </p:nvSpPr>
            <p:spPr>
              <a:xfrm>
                <a:off x="10157460" y="5621408"/>
                <a:ext cx="364202"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𝑓</m:t>
                          </m:r>
                        </m:sub>
                      </m:sSub>
                    </m:oMath>
                  </m:oMathPara>
                </a14:m>
                <a:endParaRPr lang="es-CO" sz="2400">
                  <a:solidFill>
                    <a:schemeClr val="bg1"/>
                  </a:solidFill>
                </a:endParaRPr>
              </a:p>
            </p:txBody>
          </p:sp>
        </mc:Choice>
        <mc:Fallback>
          <p:sp>
            <p:nvSpPr>
              <p:cNvPr id="29" name="CaixaDeTexto 28"/>
              <p:cNvSpPr txBox="1">
                <a:spLocks noRot="1" noChangeAspect="1" noMove="1" noResize="1" noEditPoints="1" noAdjustHandles="1" noChangeArrowheads="1" noChangeShapeType="1" noTextEdit="1"/>
              </p:cNvSpPr>
              <p:nvPr/>
            </p:nvSpPr>
            <p:spPr>
              <a:xfrm>
                <a:off x="10157460" y="5621408"/>
                <a:ext cx="364202" cy="398955"/>
              </a:xfrm>
              <a:prstGeom prst="rect">
                <a:avLst/>
              </a:prstGeom>
              <a:blipFill>
                <a:blip r:embed="rId6"/>
                <a:stretch>
                  <a:fillRect l="-10000" r="-15000" b="-25758"/>
                </a:stretch>
              </a:blipFill>
            </p:spPr>
            <p:txBody>
              <a:bodyPr/>
              <a:lstStyle/>
              <a:p>
                <a:r>
                  <a:rPr lang="en-US">
                    <a:noFill/>
                  </a:rPr>
                  <a:t> </a:t>
                </a:r>
              </a:p>
            </p:txBody>
          </p:sp>
        </mc:Fallback>
      </mc:AlternateContent>
      <p:sp>
        <p:nvSpPr>
          <p:cNvPr id="30" name="Forma livre 29"/>
          <p:cNvSpPr/>
          <p:nvPr/>
        </p:nvSpPr>
        <p:spPr>
          <a:xfrm>
            <a:off x="6995160" y="4023360"/>
            <a:ext cx="3276600" cy="1478280"/>
          </a:xfrm>
          <a:custGeom>
            <a:avLst/>
            <a:gdLst>
              <a:gd name="connsiteX0" fmla="*/ 0 w 3276600"/>
              <a:gd name="connsiteY0" fmla="*/ 0 h 1478280"/>
              <a:gd name="connsiteX1" fmla="*/ 1859280 w 3276600"/>
              <a:gd name="connsiteY1" fmla="*/ 259080 h 1478280"/>
              <a:gd name="connsiteX2" fmla="*/ 3276600 w 3276600"/>
              <a:gd name="connsiteY2" fmla="*/ 1478280 h 1478280"/>
            </a:gdLst>
            <a:ahLst/>
            <a:cxnLst>
              <a:cxn ang="0">
                <a:pos x="connsiteX0" y="connsiteY0"/>
              </a:cxn>
              <a:cxn ang="0">
                <a:pos x="connsiteX1" y="connsiteY1"/>
              </a:cxn>
              <a:cxn ang="0">
                <a:pos x="connsiteX2" y="connsiteY2"/>
              </a:cxn>
            </a:cxnLst>
            <a:rect l="l" t="t" r="r" b="b"/>
            <a:pathLst>
              <a:path w="3276600" h="1478280">
                <a:moveTo>
                  <a:pt x="0" y="0"/>
                </a:moveTo>
                <a:cubicBezTo>
                  <a:pt x="656590" y="6350"/>
                  <a:pt x="1313180" y="12700"/>
                  <a:pt x="1859280" y="259080"/>
                </a:cubicBezTo>
                <a:cubicBezTo>
                  <a:pt x="2405380" y="505460"/>
                  <a:pt x="2840990" y="991870"/>
                  <a:pt x="3276600" y="1478280"/>
                </a:cubicBezTo>
              </a:path>
            </a:pathLst>
          </a:custGeom>
          <a:noFill/>
          <a:ln w="38100">
            <a:solidFill>
              <a:schemeClr val="accent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mc:AlternateContent xmlns:mc="http://schemas.openxmlformats.org/markup-compatibility/2006">
        <mc:Choice xmlns:a14="http://schemas.microsoft.com/office/drawing/2010/main" Requires="a14">
          <p:sp>
            <p:nvSpPr>
              <p:cNvPr id="31" name="CaixaDeTexto 30"/>
              <p:cNvSpPr txBox="1"/>
              <p:nvPr/>
            </p:nvSpPr>
            <p:spPr>
              <a:xfrm>
                <a:off x="8917828" y="3944157"/>
                <a:ext cx="131247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2400" b="0" i="1" smtClean="0">
                          <a:solidFill>
                            <a:schemeClr val="bg1"/>
                          </a:solidFill>
                          <a:latin typeface="Cambria Math" panose="02040503050406030204" pitchFamily="18" charset="0"/>
                        </a:rPr>
                        <m:t>𝑢</m:t>
                      </m:r>
                      <m:d>
                        <m:dPr>
                          <m:ctrlPr>
                            <a:rPr lang="pt-BR" sz="2400" b="0" i="1" smtClean="0">
                              <a:solidFill>
                                <a:schemeClr val="bg1"/>
                              </a:solidFill>
                              <a:latin typeface="Cambria Math" panose="02040503050406030204" pitchFamily="18" charset="0"/>
                            </a:rPr>
                          </m:ctrlPr>
                        </m:dPr>
                        <m:e>
                          <m:r>
                            <a:rPr lang="pt-BR" sz="2400" b="0" i="1" smtClean="0">
                              <a:solidFill>
                                <a:schemeClr val="bg1"/>
                              </a:solidFill>
                              <a:latin typeface="Cambria Math" panose="02040503050406030204" pitchFamily="18" charset="0"/>
                            </a:rPr>
                            <m:t>𝑘𝑇</m:t>
                          </m:r>
                        </m:e>
                      </m:d>
                      <m:r>
                        <a:rPr lang="pt-BR" sz="2400" b="0" i="1" smtClean="0">
                          <a:solidFill>
                            <a:schemeClr val="bg1"/>
                          </a:solidFill>
                          <a:latin typeface="Cambria Math" panose="02040503050406030204" pitchFamily="18" charset="0"/>
                        </a:rPr>
                        <m:t>=?</m:t>
                      </m:r>
                    </m:oMath>
                  </m:oMathPara>
                </a14:m>
                <a:endParaRPr lang="es-CO" sz="2400">
                  <a:solidFill>
                    <a:schemeClr val="bg1"/>
                  </a:solidFill>
                </a:endParaRPr>
              </a:p>
            </p:txBody>
          </p:sp>
        </mc:Choice>
        <mc:Fallback>
          <p:sp>
            <p:nvSpPr>
              <p:cNvPr id="31" name="CaixaDeTexto 30"/>
              <p:cNvSpPr txBox="1">
                <a:spLocks noRot="1" noChangeAspect="1" noMove="1" noResize="1" noEditPoints="1" noAdjustHandles="1" noChangeArrowheads="1" noChangeShapeType="1" noTextEdit="1"/>
              </p:cNvSpPr>
              <p:nvPr/>
            </p:nvSpPr>
            <p:spPr>
              <a:xfrm>
                <a:off x="8917828" y="3944157"/>
                <a:ext cx="1312475" cy="369332"/>
              </a:xfrm>
              <a:prstGeom prst="rect">
                <a:avLst/>
              </a:prstGeom>
              <a:blipFill>
                <a:blip r:embed="rId7"/>
                <a:stretch>
                  <a:fillRect l="-2791" r="-4651" b="-65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CaixaDeTexto 31"/>
              <p:cNvSpPr txBox="1"/>
              <p:nvPr/>
            </p:nvSpPr>
            <p:spPr>
              <a:xfrm>
                <a:off x="10989598" y="4626575"/>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2</m:t>
                          </m:r>
                        </m:sub>
                      </m:sSub>
                    </m:oMath>
                  </m:oMathPara>
                </a14:m>
                <a:endParaRPr lang="es-CO" sz="2400">
                  <a:solidFill>
                    <a:schemeClr val="bg1"/>
                  </a:solidFill>
                </a:endParaRPr>
              </a:p>
            </p:txBody>
          </p:sp>
        </mc:Choice>
        <mc:Fallback>
          <p:sp>
            <p:nvSpPr>
              <p:cNvPr id="32" name="CaixaDeTexto 31"/>
              <p:cNvSpPr txBox="1">
                <a:spLocks noRot="1" noChangeAspect="1" noMove="1" noResize="1" noEditPoints="1" noAdjustHandles="1" noChangeArrowheads="1" noChangeShapeType="1" noTextEdit="1"/>
              </p:cNvSpPr>
              <p:nvPr/>
            </p:nvSpPr>
            <p:spPr>
              <a:xfrm>
                <a:off x="10989598" y="4626575"/>
                <a:ext cx="372025" cy="369332"/>
              </a:xfrm>
              <a:prstGeom prst="rect">
                <a:avLst/>
              </a:prstGeom>
              <a:blipFill>
                <a:blip r:embed="rId8"/>
                <a:stretch>
                  <a:fillRect l="-11475" r="-8197"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CaixaDeTexto 32"/>
              <p:cNvSpPr txBox="1"/>
              <p:nvPr/>
            </p:nvSpPr>
            <p:spPr>
              <a:xfrm>
                <a:off x="8124913" y="3148296"/>
                <a:ext cx="3649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1</m:t>
                          </m:r>
                        </m:sub>
                      </m:sSub>
                    </m:oMath>
                  </m:oMathPara>
                </a14:m>
                <a:endParaRPr lang="es-CO" sz="2400">
                  <a:solidFill>
                    <a:schemeClr val="bg1"/>
                  </a:solidFill>
                </a:endParaRPr>
              </a:p>
            </p:txBody>
          </p:sp>
        </mc:Choice>
        <mc:Fallback>
          <p:sp>
            <p:nvSpPr>
              <p:cNvPr id="33" name="CaixaDeTexto 32"/>
              <p:cNvSpPr txBox="1">
                <a:spLocks noRot="1" noChangeAspect="1" noMove="1" noResize="1" noEditPoints="1" noAdjustHandles="1" noChangeArrowheads="1" noChangeShapeType="1" noTextEdit="1"/>
              </p:cNvSpPr>
              <p:nvPr/>
            </p:nvSpPr>
            <p:spPr>
              <a:xfrm>
                <a:off x="8124913" y="3148296"/>
                <a:ext cx="364908" cy="369332"/>
              </a:xfrm>
              <a:prstGeom prst="rect">
                <a:avLst/>
              </a:prstGeom>
              <a:blipFill>
                <a:blip r:embed="rId9"/>
                <a:stretch>
                  <a:fillRect l="-11667" r="-8333" b="-13115"/>
                </a:stretch>
              </a:blipFill>
            </p:spPr>
            <p:txBody>
              <a:bodyPr/>
              <a:lstStyle/>
              <a:p>
                <a:r>
                  <a:rPr lang="en-US">
                    <a:noFill/>
                  </a:rPr>
                  <a:t> </a:t>
                </a:r>
              </a:p>
            </p:txBody>
          </p:sp>
        </mc:Fallback>
      </mc:AlternateContent>
      <p:sp>
        <p:nvSpPr>
          <p:cNvPr id="36" name="CaixaDeTexto 35"/>
          <p:cNvSpPr txBox="1"/>
          <p:nvPr/>
        </p:nvSpPr>
        <p:spPr>
          <a:xfrm>
            <a:off x="722344" y="5424832"/>
            <a:ext cx="5277022" cy="523220"/>
          </a:xfrm>
          <a:prstGeom prst="rect">
            <a:avLst/>
          </a:prstGeom>
          <a:noFill/>
        </p:spPr>
        <p:txBody>
          <a:bodyPr wrap="none" rtlCol="0">
            <a:spAutoFit/>
          </a:bodyPr>
          <a:lstStyle/>
          <a:p>
            <a:r>
              <a:rPr lang="es-CO" sz="2800">
                <a:solidFill>
                  <a:schemeClr val="accent6">
                    <a:lumMod val="75000"/>
                  </a:schemeClr>
                </a:solidFill>
              </a:rPr>
              <a:t>Variación del Estado con la Entrada</a:t>
            </a:r>
          </a:p>
        </p:txBody>
      </p:sp>
      <p:cxnSp>
        <p:nvCxnSpPr>
          <p:cNvPr id="38" name="Conector reto 37"/>
          <p:cNvCxnSpPr>
            <a:endCxn id="4" idx="3"/>
          </p:cNvCxnSpPr>
          <p:nvPr/>
        </p:nvCxnSpPr>
        <p:spPr>
          <a:xfrm>
            <a:off x="4259924" y="4048279"/>
            <a:ext cx="547082" cy="23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Conector reto 40"/>
          <p:cNvCxnSpPr/>
          <p:nvPr/>
        </p:nvCxnSpPr>
        <p:spPr>
          <a:xfrm>
            <a:off x="4259924" y="4093810"/>
            <a:ext cx="547082" cy="23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 name="CaixaDeTexto 4"/>
              <p:cNvSpPr txBox="1"/>
              <p:nvPr/>
            </p:nvSpPr>
            <p:spPr>
              <a:xfrm>
                <a:off x="6111246" y="5121064"/>
                <a:ext cx="1309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3200" b="0" i="1" smtClean="0">
                          <a:solidFill>
                            <a:schemeClr val="bg1"/>
                          </a:solidFill>
                          <a:latin typeface="Cambria Math" panose="02040503050406030204" pitchFamily="18" charset="0"/>
                        </a:rPr>
                        <m:t>𝑥</m:t>
                      </m:r>
                      <m:r>
                        <a:rPr lang="pt-BR" sz="3200" b="0" i="1" smtClean="0">
                          <a:solidFill>
                            <a:schemeClr val="bg1"/>
                          </a:solidFill>
                          <a:latin typeface="Cambria Math" panose="02040503050406030204" pitchFamily="18" charset="0"/>
                          <a:ea typeface="Cambria Math" panose="02040503050406030204" pitchFamily="18" charset="0"/>
                        </a:rPr>
                        <m:t>∈</m:t>
                      </m:r>
                      <m:sSup>
                        <m:sSupPr>
                          <m:ctrlPr>
                            <a:rPr lang="pt-BR" sz="3200" b="0" i="1" smtClean="0">
                              <a:solidFill>
                                <a:schemeClr val="bg1"/>
                              </a:solidFill>
                              <a:latin typeface="Cambria Math" panose="02040503050406030204" pitchFamily="18" charset="0"/>
                              <a:ea typeface="Cambria Math" panose="02040503050406030204" pitchFamily="18" charset="0"/>
                            </a:rPr>
                          </m:ctrlPr>
                        </m:sSupPr>
                        <m:e>
                          <m:r>
                            <a:rPr lang="pt-BR" sz="3200" b="0" i="1" smtClean="0">
                              <a:solidFill>
                                <a:schemeClr val="bg1"/>
                              </a:solidFill>
                              <a:latin typeface="Cambria Math" panose="02040503050406030204" pitchFamily="18" charset="0"/>
                              <a:ea typeface="Cambria Math" panose="02040503050406030204" pitchFamily="18" charset="0"/>
                            </a:rPr>
                            <m:t>ℜ</m:t>
                          </m:r>
                        </m:e>
                        <m:sup>
                          <m:r>
                            <a:rPr lang="pt-BR" sz="3200" b="0" i="1" smtClean="0">
                              <a:solidFill>
                                <a:schemeClr val="bg1"/>
                              </a:solidFill>
                              <a:latin typeface="Cambria Math" panose="02040503050406030204" pitchFamily="18" charset="0"/>
                              <a:ea typeface="Cambria Math" panose="02040503050406030204" pitchFamily="18" charset="0"/>
                            </a:rPr>
                            <m:t>2</m:t>
                          </m:r>
                        </m:sup>
                      </m:sSup>
                    </m:oMath>
                  </m:oMathPara>
                </a14:m>
                <a:endParaRPr lang="pt-BR" sz="3200">
                  <a:solidFill>
                    <a:schemeClr val="bg1"/>
                  </a:solidFill>
                </a:endParaRPr>
              </a:p>
            </p:txBody>
          </p:sp>
        </mc:Choice>
        <mc:Fallback>
          <p:sp>
            <p:nvSpPr>
              <p:cNvPr id="5" name="CaixaDeTexto 4"/>
              <p:cNvSpPr txBox="1">
                <a:spLocks noRot="1" noChangeAspect="1" noMove="1" noResize="1" noEditPoints="1" noAdjustHandles="1" noChangeArrowheads="1" noChangeShapeType="1" noTextEdit="1"/>
              </p:cNvSpPr>
              <p:nvPr/>
            </p:nvSpPr>
            <p:spPr>
              <a:xfrm>
                <a:off x="6111246" y="5121064"/>
                <a:ext cx="1309076" cy="492443"/>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331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circle(in)">
                                      <p:cBhvr>
                                        <p:cTn id="52" dur="20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4" grpId="0" animBg="1"/>
      <p:bldP spid="3" grpId="0" build="p"/>
      <p:bldP spid="26" grpId="0" animBg="1"/>
      <p:bldP spid="27" grpId="0" animBg="1"/>
      <p:bldP spid="28" grpId="0"/>
      <p:bldP spid="29" grpId="0"/>
      <p:bldP spid="30" grpId="0" animBg="1"/>
      <p:bldP spid="31" grpId="0"/>
      <p:bldP spid="32" grpId="0"/>
      <p:bldP spid="33" grpId="0"/>
      <p:bldP spid="36"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lipse 6"/>
          <p:cNvSpPr/>
          <p:nvPr/>
        </p:nvSpPr>
        <p:spPr>
          <a:xfrm>
            <a:off x="2219006" y="2680336"/>
            <a:ext cx="600394" cy="636271"/>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Elipse 5"/>
          <p:cNvSpPr/>
          <p:nvPr/>
        </p:nvSpPr>
        <p:spPr>
          <a:xfrm>
            <a:off x="838200" y="2061845"/>
            <a:ext cx="762000" cy="63627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Título 1"/>
          <p:cNvSpPr>
            <a:spLocks noGrp="1"/>
          </p:cNvSpPr>
          <p:nvPr>
            <p:ph type="title"/>
          </p:nvPr>
        </p:nvSpPr>
        <p:spPr/>
        <p:txBody>
          <a:bodyPr/>
          <a:lstStyle/>
          <a:p>
            <a:r>
              <a:rPr lang="es-CO" b="1" err="1"/>
              <a:t>Controlabilidad</a:t>
            </a:r>
            <a:r>
              <a:rPr lang="es-CO" b="1"/>
              <a:t> del Estado</a:t>
            </a:r>
          </a:p>
        </p:txBody>
      </p:sp>
      <p:pic>
        <p:nvPicPr>
          <p:cNvPr id="3" name="Imagem 2"/>
          <p:cNvPicPr>
            <a:picLocks noChangeAspect="1"/>
          </p:cNvPicPr>
          <p:nvPr>
            <p:custDataLst>
              <p:tags r:id="rId1"/>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970280" y="1690688"/>
            <a:ext cx="3609975" cy="318135"/>
          </a:xfrm>
          <a:prstGeom prst="rect">
            <a:avLst/>
          </a:prstGeom>
        </p:spPr>
      </p:pic>
      <p:pic>
        <p:nvPicPr>
          <p:cNvPr id="4" name="Imagem 3"/>
          <p:cNvPicPr>
            <a:picLocks noChangeAspect="1"/>
          </p:cNvPicPr>
          <p:nvPr>
            <p:custDataLst>
              <p:tags r:id="rId2"/>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970279" y="2220913"/>
            <a:ext cx="3015615" cy="318135"/>
          </a:xfrm>
          <a:prstGeom prst="rect">
            <a:avLst/>
          </a:prstGeom>
        </p:spPr>
      </p:pic>
      <p:pic>
        <p:nvPicPr>
          <p:cNvPr id="5" name="Imagem 4"/>
          <p:cNvPicPr>
            <a:picLocks noChangeAspect="1"/>
          </p:cNvPicPr>
          <p:nvPr>
            <p:custDataLst>
              <p:tags r:id="rId3"/>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970279" y="2857183"/>
            <a:ext cx="3015615" cy="318135"/>
          </a:xfrm>
          <a:prstGeom prst="rect">
            <a:avLst/>
          </a:prstGeom>
        </p:spPr>
      </p:pic>
      <p:cxnSp>
        <p:nvCxnSpPr>
          <p:cNvPr id="9" name="Conector de seta reta 8"/>
          <p:cNvCxnSpPr>
            <a:stCxn id="6" idx="5"/>
          </p:cNvCxnSpPr>
          <p:nvPr/>
        </p:nvCxnSpPr>
        <p:spPr>
          <a:xfrm>
            <a:off x="1488608" y="2604935"/>
            <a:ext cx="736432" cy="2522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Imagem 10"/>
          <p:cNvPicPr>
            <a:picLocks noChangeAspect="1"/>
          </p:cNvPicPr>
          <p:nvPr>
            <p:custDataLst>
              <p:tags r:id="rId4"/>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4125277" y="2827973"/>
            <a:ext cx="3941445" cy="340995"/>
          </a:xfrm>
          <a:prstGeom prst="rect">
            <a:avLst/>
          </a:prstGeom>
        </p:spPr>
      </p:pic>
      <p:pic>
        <p:nvPicPr>
          <p:cNvPr id="12" name="Imagem 11"/>
          <p:cNvPicPr>
            <a:picLocks noChangeAspect="1"/>
          </p:cNvPicPr>
          <p:nvPr>
            <p:custDataLst>
              <p:tags r:id="rId5"/>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1453048" y="3427566"/>
            <a:ext cx="34290" cy="287655"/>
          </a:xfrm>
          <a:prstGeom prst="rect">
            <a:avLst/>
          </a:prstGeom>
        </p:spPr>
      </p:pic>
      <p:pic>
        <p:nvPicPr>
          <p:cNvPr id="13" name="Imagem 12"/>
          <p:cNvPicPr>
            <a:picLocks noChangeAspect="1"/>
          </p:cNvPicPr>
          <p:nvPr>
            <p:custDataLst>
              <p:tags r:id="rId6"/>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2946568" y="3427565"/>
            <a:ext cx="34290" cy="287655"/>
          </a:xfrm>
          <a:prstGeom prst="rect">
            <a:avLst/>
          </a:prstGeom>
        </p:spPr>
      </p:pic>
      <p:pic>
        <p:nvPicPr>
          <p:cNvPr id="14" name="Imagem 13"/>
          <p:cNvPicPr>
            <a:picLocks noChangeAspect="1"/>
          </p:cNvPicPr>
          <p:nvPr>
            <p:custDataLst>
              <p:tags r:id="rId7"/>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4563110" y="3427565"/>
            <a:ext cx="34290" cy="287655"/>
          </a:xfrm>
          <a:prstGeom prst="rect">
            <a:avLst/>
          </a:prstGeom>
        </p:spPr>
      </p:pic>
      <p:pic>
        <p:nvPicPr>
          <p:cNvPr id="15" name="Imagem 14"/>
          <p:cNvPicPr>
            <a:picLocks noChangeAspect="1"/>
          </p:cNvPicPr>
          <p:nvPr>
            <p:custDataLst>
              <p:tags r:id="rId8"/>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6300470" y="3427565"/>
            <a:ext cx="34290" cy="287655"/>
          </a:xfrm>
          <a:prstGeom prst="rect">
            <a:avLst/>
          </a:prstGeom>
        </p:spPr>
      </p:pic>
      <p:pic>
        <p:nvPicPr>
          <p:cNvPr id="16" name="Imagem 15"/>
          <p:cNvPicPr>
            <a:picLocks noChangeAspect="1"/>
          </p:cNvPicPr>
          <p:nvPr>
            <p:custDataLst>
              <p:tags r:id="rId9"/>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7443470" y="3427564"/>
            <a:ext cx="34290" cy="287655"/>
          </a:xfrm>
          <a:prstGeom prst="rect">
            <a:avLst/>
          </a:prstGeom>
        </p:spPr>
      </p:pic>
      <p:pic>
        <p:nvPicPr>
          <p:cNvPr id="17" name="Imagem 16"/>
          <p:cNvPicPr>
            <a:picLocks noChangeAspect="1"/>
          </p:cNvPicPr>
          <p:nvPr>
            <p:custDataLst>
              <p:tags r:id="rId10"/>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970279" y="4110041"/>
            <a:ext cx="10395585" cy="340995"/>
          </a:xfrm>
          <a:prstGeom prst="rect">
            <a:avLst/>
          </a:prstGeom>
        </p:spPr>
      </p:pic>
      <p:pic>
        <p:nvPicPr>
          <p:cNvPr id="18" name="Imagem 17"/>
          <p:cNvPicPr>
            <a:picLocks noChangeAspect="1"/>
          </p:cNvPicPr>
          <p:nvPr>
            <p:custDataLst>
              <p:tags r:id="rId11"/>
            </p:custDataLst>
          </p:nvPr>
        </p:nvPicPr>
        <p:blipFill>
          <a:blip r:embed="rId20" cstate="print">
            <a:lum bright="70000" contrast="-70000"/>
            <a:extLst>
              <a:ext uri="{28A0092B-C50C-407E-A947-70E740481C1C}">
                <a14:useLocalDpi xmlns:a14="http://schemas.microsoft.com/office/drawing/2010/main" val="0"/>
              </a:ext>
            </a:extLst>
          </a:blip>
          <a:stretch>
            <a:fillRect/>
          </a:stretch>
        </p:blipFill>
        <p:spPr>
          <a:xfrm>
            <a:off x="970279" y="4739961"/>
            <a:ext cx="8265795" cy="2087880"/>
          </a:xfrm>
          <a:prstGeom prst="rect">
            <a:avLst/>
          </a:prstGeom>
        </p:spPr>
      </p:pic>
      <p:sp>
        <p:nvSpPr>
          <p:cNvPr id="19" name="CaixaDeTexto 18"/>
          <p:cNvSpPr txBox="1"/>
          <p:nvPr/>
        </p:nvSpPr>
        <p:spPr>
          <a:xfrm>
            <a:off x="891049" y="4649943"/>
            <a:ext cx="4062459" cy="523220"/>
          </a:xfrm>
          <a:prstGeom prst="rect">
            <a:avLst/>
          </a:prstGeom>
          <a:noFill/>
        </p:spPr>
        <p:txBody>
          <a:bodyPr wrap="none" rtlCol="0">
            <a:spAutoFit/>
          </a:bodyPr>
          <a:lstStyle/>
          <a:p>
            <a:r>
              <a:rPr lang="es-CO" sz="2800">
                <a:solidFill>
                  <a:schemeClr val="accent6">
                    <a:lumMod val="75000"/>
                  </a:schemeClr>
                </a:solidFill>
              </a:rPr>
              <a:t>Reescribiendo la ecuación:</a:t>
            </a:r>
          </a:p>
        </p:txBody>
      </p:sp>
    </p:spTree>
    <p:extLst>
      <p:ext uri="{BB962C8B-B14F-4D97-AF65-F5344CB8AC3E}">
        <p14:creationId xmlns:p14="http://schemas.microsoft.com/office/powerpoint/2010/main" val="375554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606942"/>
          </a:xfrm>
        </p:spPr>
        <p:txBody>
          <a:bodyPr>
            <a:normAutofit fontScale="90000"/>
          </a:bodyPr>
          <a:lstStyle/>
          <a:p>
            <a:r>
              <a:rPr lang="es-CO" b="1" err="1"/>
              <a:t>Controlabilidad</a:t>
            </a:r>
            <a:r>
              <a:rPr lang="es-CO" b="1"/>
              <a:t> del Estado</a:t>
            </a:r>
          </a:p>
        </p:txBody>
      </p:sp>
      <p:pic>
        <p:nvPicPr>
          <p:cNvPr id="18" name="Imagem 17"/>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970278" y="585985"/>
            <a:ext cx="8265795" cy="2087880"/>
          </a:xfrm>
          <a:prstGeom prst="rect">
            <a:avLst/>
          </a:prstGeom>
        </p:spPr>
      </p:pic>
      <p:pic>
        <p:nvPicPr>
          <p:cNvPr id="8" name="Imagem 7"/>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970278" y="2860039"/>
            <a:ext cx="8265795" cy="2087880"/>
          </a:xfrm>
          <a:prstGeom prst="rect">
            <a:avLst/>
          </a:prstGeom>
        </p:spPr>
      </p:pic>
      <p:sp>
        <p:nvSpPr>
          <p:cNvPr id="10" name="Chave esquerda 9"/>
          <p:cNvSpPr/>
          <p:nvPr/>
        </p:nvSpPr>
        <p:spPr>
          <a:xfrm rot="16200000">
            <a:off x="5234940" y="2309181"/>
            <a:ext cx="563880" cy="42976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0" name="CaixaDeTexto 19"/>
          <p:cNvSpPr txBox="1"/>
          <p:nvPr/>
        </p:nvSpPr>
        <p:spPr>
          <a:xfrm>
            <a:off x="4835443" y="4763253"/>
            <a:ext cx="1436612" cy="369332"/>
          </a:xfrm>
          <a:prstGeom prst="rect">
            <a:avLst/>
          </a:prstGeom>
          <a:noFill/>
        </p:spPr>
        <p:txBody>
          <a:bodyPr wrap="none" rtlCol="0">
            <a:spAutoFit/>
          </a:bodyPr>
          <a:lstStyle/>
          <a:p>
            <a:r>
              <a:rPr lang="es-CO">
                <a:solidFill>
                  <a:schemeClr val="accent6"/>
                </a:solidFill>
              </a:rPr>
              <a:t>Dimensión n</a:t>
            </a:r>
          </a:p>
        </p:txBody>
      </p:sp>
      <p:pic>
        <p:nvPicPr>
          <p:cNvPr id="22" name="Imagem 21"/>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2006518" y="5504933"/>
            <a:ext cx="5657850" cy="381000"/>
          </a:xfrm>
          <a:prstGeom prst="rect">
            <a:avLst/>
          </a:prstGeom>
        </p:spPr>
      </p:pic>
    </p:spTree>
    <p:extLst>
      <p:ext uri="{BB962C8B-B14F-4D97-AF65-F5344CB8AC3E}">
        <p14:creationId xmlns:p14="http://schemas.microsoft.com/office/powerpoint/2010/main" val="402747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4BE2-0AFF-6518-E8AB-57A1723CEEDE}"/>
              </a:ext>
            </a:extLst>
          </p:cNvPr>
          <p:cNvSpPr>
            <a:spLocks noGrp="1"/>
          </p:cNvSpPr>
          <p:nvPr>
            <p:ph type="title"/>
          </p:nvPr>
        </p:nvSpPr>
        <p:spPr/>
        <p:txBody>
          <a:bodyPr/>
          <a:lstStyle/>
          <a:p>
            <a:r>
              <a:rPr lang="es-CO"/>
              <a:t>Ejemplo – Motor DC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6391885-C963-274B-33C6-7AE6BD7B2004}"/>
                  </a:ext>
                </a:extLst>
              </p:cNvPr>
              <p:cNvSpPr>
                <a:spLocks noGrp="1"/>
              </p:cNvSpPr>
              <p:nvPr>
                <p:ph idx="1"/>
              </p:nvPr>
            </p:nvSpPr>
            <p:spPr/>
            <p:txBody>
              <a:bodyPr/>
              <a:lstStyle/>
              <a:p>
                <a:r>
                  <a:rPr lang="es-CO"/>
                  <a:t>El siguiente modelo representa un motor DC con estados Velocidad y Corriente, </a:t>
                </a:r>
                <a14:m>
                  <m:oMath xmlns:m="http://schemas.openxmlformats.org/officeDocument/2006/math">
                    <m:r>
                      <a:rPr lang="en-US" b="0" i="1" smtClean="0">
                        <a:solidFill>
                          <a:schemeClr val="accent6"/>
                        </a:solidFill>
                        <a:latin typeface="Cambria Math" panose="02040503050406030204" pitchFamily="18" charset="0"/>
                      </a:rPr>
                      <m:t>𝑥</m:t>
                    </m:r>
                    <m:r>
                      <a:rPr lang="en-US" b="0" i="1" smtClean="0">
                        <a:solidFill>
                          <a:schemeClr val="accent6"/>
                        </a:solidFill>
                        <a:latin typeface="Cambria Math" panose="02040503050406030204" pitchFamily="18" charset="0"/>
                      </a:rPr>
                      <m:t>=</m:t>
                    </m:r>
                    <m:sSup>
                      <m:sSupPr>
                        <m:ctrlPr>
                          <a:rPr lang="en-US" b="0" i="1" smtClean="0">
                            <a:solidFill>
                              <a:schemeClr val="accent6"/>
                            </a:solidFill>
                            <a:latin typeface="Cambria Math" panose="02040503050406030204" pitchFamily="18" charset="0"/>
                          </a:rPr>
                        </m:ctrlPr>
                      </m:sSupPr>
                      <m:e>
                        <m:d>
                          <m:dPr>
                            <m:begChr m:val="["/>
                            <m:endChr m:val="]"/>
                            <m:ctrlPr>
                              <a:rPr lang="en-US" b="0" i="1" smtClean="0">
                                <a:solidFill>
                                  <a:schemeClr val="accent6"/>
                                </a:solidFill>
                                <a:latin typeface="Cambria Math" panose="02040503050406030204" pitchFamily="18" charset="0"/>
                              </a:rPr>
                            </m:ctrlPr>
                          </m:dPr>
                          <m:e>
                            <m:m>
                              <m:mPr>
                                <m:mcs>
                                  <m:mc>
                                    <m:mcPr>
                                      <m:count m:val="2"/>
                                      <m:mcJc m:val="center"/>
                                    </m:mcPr>
                                  </m:mc>
                                </m:mcs>
                                <m:ctrlPr>
                                  <a:rPr lang="en-US" b="0" i="1" smtClean="0">
                                    <a:solidFill>
                                      <a:schemeClr val="accent6"/>
                                    </a:solidFill>
                                    <a:latin typeface="Cambria Math" panose="02040503050406030204" pitchFamily="18" charset="0"/>
                                  </a:rPr>
                                </m:ctrlPr>
                              </m:mPr>
                              <m:mr>
                                <m:e>
                                  <m:r>
                                    <a:rPr lang="en-US" b="0" i="1" smtClean="0">
                                      <a:solidFill>
                                        <a:schemeClr val="accent6"/>
                                      </a:solidFill>
                                      <a:latin typeface="Cambria Math" panose="02040503050406030204" pitchFamily="18" charset="0"/>
                                    </a:rPr>
                                    <m:t>𝜔</m:t>
                                  </m:r>
                                </m:e>
                                <m:e>
                                  <m:r>
                                    <a:rPr lang="en-US" b="0" i="1" smtClean="0">
                                      <a:solidFill>
                                        <a:schemeClr val="accent6"/>
                                      </a:solidFill>
                                      <a:latin typeface="Cambria Math" panose="02040503050406030204" pitchFamily="18" charset="0"/>
                                    </a:rPr>
                                    <m:t>𝑖</m:t>
                                  </m:r>
                                </m:e>
                              </m:mr>
                            </m:m>
                          </m:e>
                        </m:d>
                      </m:e>
                      <m:sup>
                        <m:r>
                          <a:rPr lang="en-US" b="0" i="1" smtClean="0">
                            <a:solidFill>
                              <a:schemeClr val="accent6"/>
                            </a:solidFill>
                            <a:latin typeface="Cambria Math" panose="02040503050406030204" pitchFamily="18" charset="0"/>
                          </a:rPr>
                          <m:t>𝑇</m:t>
                        </m:r>
                      </m:sup>
                    </m:sSup>
                  </m:oMath>
                </a14:m>
                <a:r>
                  <a:rPr lang="es-CO"/>
                  <a:t> y una entrada de voltaje </a:t>
                </a:r>
                <a14:m>
                  <m:oMath xmlns:m="http://schemas.openxmlformats.org/officeDocument/2006/math">
                    <m:r>
                      <a:rPr lang="en-US" b="0" i="1" smtClean="0">
                        <a:solidFill>
                          <a:schemeClr val="accent6"/>
                        </a:solidFill>
                        <a:latin typeface="Cambria Math" panose="02040503050406030204" pitchFamily="18" charset="0"/>
                      </a:rPr>
                      <m:t>𝑢</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𝑣</m:t>
                    </m:r>
                  </m:oMath>
                </a14:m>
                <a:r>
                  <a:rPr lang="es-CO"/>
                  <a:t>. Demuestre que el sistema es controlable.</a:t>
                </a:r>
              </a:p>
              <a:p>
                <a:pPr marL="0" indent="0">
                  <a:buNone/>
                </a:pPr>
                <a:endParaRPr lang="es-CO"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s-CO"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0.333</m:t>
                                </m:r>
                              </m:e>
                              <m:e>
                                <m:r>
                                  <a:rPr lang="en-US" b="0" i="1" smtClean="0">
                                    <a:latin typeface="Cambria Math" panose="02040503050406030204" pitchFamily="18" charset="0"/>
                                  </a:rPr>
                                  <m:t>166.67</m:t>
                                </m:r>
                              </m:e>
                            </m:mr>
                            <m:mr>
                              <m:e>
                                <m:r>
                                  <a:rPr lang="en-US" b="0" i="1" smtClean="0">
                                    <a:latin typeface="Cambria Math" panose="02040503050406030204" pitchFamily="18" charset="0"/>
                                  </a:rPr>
                                  <m:t>−10</m:t>
                                </m:r>
                              </m:e>
                              <m:e>
                                <m:r>
                                  <a:rPr lang="en-US" b="0" i="1" smtClean="0">
                                    <a:latin typeface="Cambria Math" panose="02040503050406030204" pitchFamily="18" charset="0"/>
                                  </a:rPr>
                                  <m:t>−400</m:t>
                                </m:r>
                              </m:e>
                            </m:mr>
                          </m:m>
                        </m:e>
                      </m:d>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200</m:t>
                                </m:r>
                              </m:e>
                            </m:mr>
                          </m:m>
                        </m:e>
                      </m:d>
                      <m:r>
                        <a:rPr lang="en-US" b="0" i="1" smtClean="0">
                          <a:latin typeface="Cambria Math" panose="02040503050406030204" pitchFamily="18" charset="0"/>
                        </a:rPr>
                        <m:t>𝑢</m:t>
                      </m:r>
                    </m:oMath>
                  </m:oMathPara>
                </a14:m>
                <a:endParaRPr lang="en-US"/>
              </a:p>
              <a:p>
                <a:pPr marL="0" indent="0">
                  <a:buNone/>
                </a:pP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
                        </m:e>
                      </m:d>
                      <m:r>
                        <a:rPr lang="en-US" b="0" i="1" smtClean="0">
                          <a:latin typeface="Cambria Math" panose="02040503050406030204" pitchFamily="18" charset="0"/>
                        </a:rPr>
                        <m:t>𝑥</m:t>
                      </m:r>
                    </m:oMath>
                  </m:oMathPara>
                </a14:m>
                <a:endParaRPr lang="es-CO"/>
              </a:p>
              <a:p>
                <a:pPr marL="0" indent="0">
                  <a:buNone/>
                </a:pPr>
                <a:endParaRPr lang="es-CO"/>
              </a:p>
              <a:p>
                <a:pPr marL="0" indent="0">
                  <a:buNone/>
                </a:pPr>
                <a:r>
                  <a:rPr lang="pt-BR" sz="1800"/>
                  <a:t>(La </a:t>
                </a:r>
                <a:r>
                  <a:rPr lang="pt-BR" sz="1800" err="1"/>
                  <a:t>tensión</a:t>
                </a:r>
                <a:r>
                  <a:rPr lang="pt-BR" sz="1800"/>
                  <a:t> </a:t>
                </a:r>
                <a:r>
                  <a:rPr lang="pt-BR" sz="1800" err="1"/>
                  <a:t>actúa</a:t>
                </a:r>
                <a:r>
                  <a:rPr lang="pt-BR" sz="1800"/>
                  <a:t> sobre </a:t>
                </a:r>
                <a14:m>
                  <m:oMath xmlns:m="http://schemas.openxmlformats.org/officeDocument/2006/math">
                    <m:r>
                      <a:rPr lang="pt-BR" sz="1800" i="1">
                        <a:latin typeface="Cambria Math" panose="02040503050406030204" pitchFamily="18" charset="0"/>
                      </a:rPr>
                      <m:t>𝑖</m:t>
                    </m:r>
                  </m:oMath>
                </a14:m>
                <a:r>
                  <a:rPr lang="pt-BR" sz="1800"/>
                  <a:t> y, </a:t>
                </a:r>
                <a:r>
                  <a:rPr lang="pt-BR" sz="1800" err="1"/>
                  <a:t>vía</a:t>
                </a:r>
                <a:r>
                  <a:rPr lang="pt-BR" sz="1800"/>
                  <a:t> </a:t>
                </a:r>
                <a14:m>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𝐾</m:t>
                        </m:r>
                      </m:e>
                      <m:sub>
                        <m:r>
                          <a:rPr lang="ar-AE" sz="1800" i="1">
                            <a:latin typeface="Cambria Math" panose="02040503050406030204" pitchFamily="18" charset="0"/>
                          </a:rPr>
                          <m:t>𝑡</m:t>
                        </m:r>
                      </m:sub>
                    </m:sSub>
                  </m:oMath>
                </a14:m>
                <a:r>
                  <a:rPr lang="ar-AE" sz="1800"/>
                  <a:t>, </a:t>
                </a:r>
                <a:r>
                  <a:rPr lang="pt-BR" sz="1800" err="1"/>
                  <a:t>mueve</a:t>
                </a:r>
                <a:r>
                  <a:rPr lang="pt-BR" sz="1800"/>
                  <a:t> </a:t>
                </a:r>
                <a14:m>
                  <m:oMath xmlns:m="http://schemas.openxmlformats.org/officeDocument/2006/math">
                    <m:r>
                      <a:rPr lang="pt-BR" sz="1800" i="1">
                        <a:latin typeface="Cambria Math" panose="02040503050406030204" pitchFamily="18" charset="0"/>
                      </a:rPr>
                      <m:t>𝜔</m:t>
                    </m:r>
                  </m:oMath>
                </a14:m>
                <a:r>
                  <a:rPr lang="pt-BR" sz="1800"/>
                  <a:t> </a:t>
                </a:r>
                <a:r>
                  <a:rPr lang="pt-BR" sz="1800" err="1"/>
                  <a:t>en</a:t>
                </a:r>
                <a:r>
                  <a:rPr lang="pt-BR" sz="1800"/>
                  <a:t> </a:t>
                </a:r>
                <a:r>
                  <a:rPr lang="pt-BR" sz="1800" err="1"/>
                  <a:t>un</a:t>
                </a:r>
                <a:r>
                  <a:rPr lang="pt-BR" sz="1800"/>
                  <a:t> </a:t>
                </a:r>
                <a:r>
                  <a:rPr lang="pt-BR" sz="1800" err="1"/>
                  <a:t>paso</a:t>
                </a:r>
                <a:r>
                  <a:rPr lang="pt-BR" sz="1800"/>
                  <a:t> </a:t>
                </a:r>
                <a:r>
                  <a:rPr lang="pt-BR" sz="1800" err="1"/>
                  <a:t>dinámico</a:t>
                </a:r>
                <a:r>
                  <a:rPr lang="pt-BR" sz="1800"/>
                  <a:t>.)</a:t>
                </a:r>
                <a:endParaRPr lang="es-CO" sz="1800"/>
              </a:p>
            </p:txBody>
          </p:sp>
        </mc:Choice>
        <mc:Fallback>
          <p:sp>
            <p:nvSpPr>
              <p:cNvPr id="3" name="Content Placeholder 2">
                <a:extLst>
                  <a:ext uri="{FF2B5EF4-FFF2-40B4-BE49-F238E27FC236}">
                    <a16:creationId xmlns:a16="http://schemas.microsoft.com/office/drawing/2014/main" id="{26391885-C963-274B-33C6-7AE6BD7B2004}"/>
                  </a:ext>
                </a:extLst>
              </p:cNvPr>
              <p:cNvSpPr>
                <a:spLocks noGrp="1" noRot="1" noChangeAspect="1" noMove="1" noResize="1" noEditPoints="1" noAdjustHandles="1" noChangeArrowheads="1" noChangeShapeType="1" noTextEdit="1"/>
              </p:cNvSpPr>
              <p:nvPr>
                <p:ph idx="1"/>
              </p:nvPr>
            </p:nvSpPr>
            <p:spPr>
              <a:blipFill>
                <a:blip r:embed="rId2"/>
                <a:stretch>
                  <a:fillRect l="-1043" t="-2241" r="-174"/>
                </a:stretch>
              </a:blipFill>
            </p:spPr>
            <p:txBody>
              <a:bodyPr/>
              <a:lstStyle/>
              <a:p>
                <a:r>
                  <a:rPr lang="en-US">
                    <a:noFill/>
                  </a:rPr>
                  <a:t> </a:t>
                </a:r>
              </a:p>
            </p:txBody>
          </p:sp>
        </mc:Fallback>
      </mc:AlternateContent>
    </p:spTree>
    <p:extLst>
      <p:ext uri="{BB962C8B-B14F-4D97-AF65-F5344CB8AC3E}">
        <p14:creationId xmlns:p14="http://schemas.microsoft.com/office/powerpoint/2010/main" val="239140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18ED5-DC4B-4A49-FFD0-54F2A0F18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9407C-206D-E784-A36D-8A530000A227}"/>
              </a:ext>
            </a:extLst>
          </p:cNvPr>
          <p:cNvSpPr>
            <a:spLocks noGrp="1"/>
          </p:cNvSpPr>
          <p:nvPr>
            <p:ph type="title"/>
          </p:nvPr>
        </p:nvSpPr>
        <p:spPr/>
        <p:txBody>
          <a:bodyPr/>
          <a:lstStyle/>
          <a:p>
            <a:r>
              <a:rPr lang="es-CO"/>
              <a:t>Ejemplo – Motor DC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5C59EA-CDFE-C145-7C7E-17D940CCD221}"/>
                  </a:ext>
                </a:extLst>
              </p:cNvPr>
              <p:cNvSpPr>
                <a:spLocks noGrp="1"/>
              </p:cNvSpPr>
              <p:nvPr>
                <p:ph idx="1"/>
              </p:nvPr>
            </p:nvSpPr>
            <p:spPr/>
            <p:txBody>
              <a:bodyPr/>
              <a:lstStyle/>
              <a:p>
                <a:r>
                  <a:rPr lang="pt-BR"/>
                  <a:t>Si </a:t>
                </a:r>
                <a:r>
                  <a:rPr lang="pt-BR" err="1"/>
                  <a:t>el</a:t>
                </a:r>
                <a:r>
                  <a:rPr lang="pt-BR"/>
                  <a:t> </a:t>
                </a:r>
                <a:r>
                  <a:rPr lang="pt-BR" err="1"/>
                  <a:t>acoplamiento</a:t>
                </a:r>
                <a:r>
                  <a:rPr lang="pt-BR"/>
                  <a:t> </a:t>
                </a:r>
                <a:r>
                  <a:rPr lang="pt-BR" err="1"/>
                  <a:t>electromecánico</a:t>
                </a:r>
                <a:r>
                  <a:rPr lang="pt-BR"/>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𝐾</m:t>
                        </m:r>
                      </m:e>
                      <m:sub>
                        <m:r>
                          <a:rPr lang="ar-AE" i="1">
                            <a:latin typeface="Cambria Math" panose="02040503050406030204" pitchFamily="18" charset="0"/>
                          </a:rPr>
                          <m:t>𝑡</m:t>
                        </m:r>
                      </m:sub>
                    </m:sSub>
                  </m:oMath>
                </a14:m>
                <a:r>
                  <a:rPr lang="pt-BR"/>
                  <a:t> desaparece, </a:t>
                </a:r>
                <a:r>
                  <a:rPr lang="pt-BR" err="1"/>
                  <a:t>la</a:t>
                </a:r>
                <a:r>
                  <a:rPr lang="pt-BR"/>
                  <a:t> </a:t>
                </a:r>
                <a:r>
                  <a:rPr lang="pt-BR" err="1"/>
                  <a:t>ecuación</a:t>
                </a:r>
                <a:r>
                  <a:rPr lang="pt-BR"/>
                  <a:t> </a:t>
                </a:r>
                <a:r>
                  <a:rPr lang="pt-BR" err="1"/>
                  <a:t>mecánica</a:t>
                </a:r>
                <a:r>
                  <a:rPr lang="pt-BR"/>
                  <a:t> se desconecta </a:t>
                </a:r>
                <a:r>
                  <a:rPr lang="pt-BR" err="1"/>
                  <a:t>eléctricamente</a:t>
                </a:r>
                <a:r>
                  <a:rPr lang="pt-BR"/>
                  <a:t>. </a:t>
                </a:r>
                <a:r>
                  <a:rPr lang="pt-BR" err="1"/>
                  <a:t>En</a:t>
                </a:r>
                <a:r>
                  <a:rPr lang="pt-BR"/>
                  <a:t> </a:t>
                </a:r>
                <a:r>
                  <a:rPr lang="pt-BR" err="1"/>
                  <a:t>el</a:t>
                </a:r>
                <a:r>
                  <a:rPr lang="pt-BR"/>
                  <a:t> modelo:</a:t>
                </a:r>
              </a:p>
              <a:p>
                <a:endParaRPr lang="es-CO"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s-CO"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0</m:t>
                                </m:r>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3</m:t>
                                </m:r>
                                <m:r>
                                  <a:rPr lang="en-US" b="0" i="1" smtClean="0">
                                    <a:latin typeface="Cambria Math" panose="02040503050406030204" pitchFamily="18" charset="0"/>
                                  </a:rPr>
                                  <m:t>33</m:t>
                                </m:r>
                              </m:e>
                              <m:e>
                                <m:r>
                                  <a:rPr lang="en-US" b="0" i="1" smtClean="0">
                                    <a:solidFill>
                                      <a:schemeClr val="accent4"/>
                                    </a:solidFill>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10</m:t>
                                </m:r>
                              </m:e>
                              <m:e>
                                <m:r>
                                  <a:rPr lang="en-US" b="0" i="1" smtClean="0">
                                    <a:latin typeface="Cambria Math" panose="02040503050406030204" pitchFamily="18" charset="0"/>
                                  </a:rPr>
                                  <m:t>−</m:t>
                                </m:r>
                                <m:r>
                                  <a:rPr lang="en-US" b="0" i="1" smtClean="0">
                                    <a:latin typeface="Cambria Math" panose="02040503050406030204" pitchFamily="18" charset="0"/>
                                  </a:rPr>
                                  <m:t>400</m:t>
                                </m:r>
                              </m:e>
                            </m:mr>
                          </m:m>
                        </m:e>
                      </m:d>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200</m:t>
                                </m:r>
                              </m:e>
                            </m:mr>
                          </m:m>
                        </m:e>
                      </m:d>
                      <m:r>
                        <a:rPr lang="en-US" b="0" i="1" smtClean="0">
                          <a:latin typeface="Cambria Math" panose="02040503050406030204" pitchFamily="18" charset="0"/>
                        </a:rPr>
                        <m:t>𝑢</m:t>
                      </m:r>
                    </m:oMath>
                  </m:oMathPara>
                </a14:m>
                <a:endParaRPr lang="en-US"/>
              </a:p>
              <a:p>
                <a:pPr marL="0" indent="0">
                  <a:buNone/>
                </a:pP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
                        </m:e>
                      </m:d>
                      <m:r>
                        <a:rPr lang="en-US" b="0" i="1" smtClean="0">
                          <a:latin typeface="Cambria Math" panose="02040503050406030204" pitchFamily="18" charset="0"/>
                        </a:rPr>
                        <m:t>𝑥</m:t>
                      </m:r>
                    </m:oMath>
                  </m:oMathPara>
                </a14:m>
                <a:endParaRPr lang="es-CO"/>
              </a:p>
              <a:p>
                <a:pPr marL="0" indent="0">
                  <a:buNone/>
                </a:pPr>
                <a:endParaRPr lang="es-CO"/>
              </a:p>
              <a:p>
                <a:pPr marL="0" indent="0">
                  <a:buNone/>
                </a:pPr>
                <a:r>
                  <a:rPr lang="pt-BR" sz="1800">
                    <a:solidFill>
                      <a:schemeClr val="accent3"/>
                    </a:solidFill>
                  </a:rPr>
                  <a:t>(</a:t>
                </a:r>
                <a:r>
                  <a:rPr lang="es-ES" sz="1800">
                    <a:solidFill>
                      <a:schemeClr val="accent3"/>
                    </a:solidFill>
                  </a:rPr>
                  <a:t>puedes variar la corriente, pero eso nunca altera la velocidad ⇒ el motor “recibe tensión pero no gira”</a:t>
                </a:r>
                <a:r>
                  <a:rPr lang="pt-BR" sz="1800">
                    <a:solidFill>
                      <a:schemeClr val="accent3"/>
                    </a:solidFill>
                  </a:rPr>
                  <a:t>.)</a:t>
                </a:r>
                <a:endParaRPr lang="es-CO" sz="1800">
                  <a:solidFill>
                    <a:schemeClr val="accent3"/>
                  </a:solidFill>
                </a:endParaRPr>
              </a:p>
            </p:txBody>
          </p:sp>
        </mc:Choice>
        <mc:Fallback>
          <p:sp>
            <p:nvSpPr>
              <p:cNvPr id="3" name="Content Placeholder 2">
                <a:extLst>
                  <a:ext uri="{FF2B5EF4-FFF2-40B4-BE49-F238E27FC236}">
                    <a16:creationId xmlns:a16="http://schemas.microsoft.com/office/drawing/2014/main" id="{E95C59EA-CDFE-C145-7C7E-17D940CCD22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1412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err="1"/>
              <a:t>Observabilidad</a:t>
            </a:r>
            <a:endParaRPr lang="es-CO" b="1"/>
          </a:p>
        </p:txBody>
      </p:sp>
      <p:sp>
        <p:nvSpPr>
          <p:cNvPr id="3" name="Espaço Reservado para Conteúdo 2"/>
          <p:cNvSpPr>
            <a:spLocks noGrp="1"/>
          </p:cNvSpPr>
          <p:nvPr>
            <p:ph idx="1"/>
          </p:nvPr>
        </p:nvSpPr>
        <p:spPr>
          <a:xfrm>
            <a:off x="838200" y="1825625"/>
            <a:ext cx="10515600" cy="3904615"/>
          </a:xfrm>
        </p:spPr>
        <p:txBody>
          <a:bodyPr>
            <a:normAutofit lnSpcReduction="10000"/>
          </a:bodyPr>
          <a:lstStyle/>
          <a:p>
            <a:pPr algn="just"/>
            <a:r>
              <a:rPr lang="es-CO"/>
              <a:t>El concepto de </a:t>
            </a:r>
            <a:r>
              <a:rPr lang="es-CO" err="1"/>
              <a:t>observabilidad</a:t>
            </a:r>
            <a:r>
              <a:rPr lang="es-CO"/>
              <a:t>, se relaciona con la posibilidad de obtener el estado de un sistema a partir de la medición o el conocimiento de las entradas y de las salidas del mismo. </a:t>
            </a:r>
          </a:p>
          <a:p>
            <a:pPr algn="just"/>
            <a:endParaRPr lang="es-CO"/>
          </a:p>
          <a:p>
            <a:pPr algn="just"/>
            <a:endParaRPr lang="es-CO"/>
          </a:p>
          <a:p>
            <a:pPr algn="just"/>
            <a:endParaRPr lang="es-CO"/>
          </a:p>
          <a:p>
            <a:pPr algn="just"/>
            <a:r>
              <a:rPr lang="es-CO"/>
              <a:t>Se dice que el sistema es complemente observable si cualquier estado inicial puede determinarse a partir de la observación de </a:t>
            </a:r>
            <a:r>
              <a:rPr lang="es-CO" b="1"/>
              <a:t>y(n) </a:t>
            </a:r>
            <a:r>
              <a:rPr lang="es-CO"/>
              <a:t>en </a:t>
            </a:r>
            <a:r>
              <a:rPr lang="es-CO" b="1"/>
              <a:t>n</a:t>
            </a:r>
            <a:r>
              <a:rPr lang="es-CO"/>
              <a:t> períodos de muestreo como máximo.</a:t>
            </a:r>
          </a:p>
        </p:txBody>
      </p:sp>
      <p:pic>
        <p:nvPicPr>
          <p:cNvPr id="4" name="Imagem 3"/>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290320" y="3256279"/>
            <a:ext cx="3611880" cy="697230"/>
          </a:xfrm>
          <a:prstGeom prst="rect">
            <a:avLst/>
          </a:prstGeom>
        </p:spPr>
      </p:pic>
    </p:spTree>
    <p:extLst>
      <p:ext uri="{BB962C8B-B14F-4D97-AF65-F5344CB8AC3E}">
        <p14:creationId xmlns:p14="http://schemas.microsoft.com/office/powerpoint/2010/main" val="2968407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err="1"/>
              <a:t>Observabilidad</a:t>
            </a:r>
            <a:endParaRPr lang="pt-BR"/>
          </a:p>
        </p:txBody>
      </p:sp>
      <p:cxnSp>
        <p:nvCxnSpPr>
          <p:cNvPr id="4" name="Conector de seta reta 3"/>
          <p:cNvCxnSpPr/>
          <p:nvPr/>
        </p:nvCxnSpPr>
        <p:spPr>
          <a:xfrm flipH="1" flipV="1">
            <a:off x="5516880" y="2712720"/>
            <a:ext cx="15240" cy="236220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ctor de seta reta 4"/>
          <p:cNvCxnSpPr/>
          <p:nvPr/>
        </p:nvCxnSpPr>
        <p:spPr>
          <a:xfrm flipV="1">
            <a:off x="3994454" y="4079293"/>
            <a:ext cx="4387546" cy="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 name="Estrela de 5 pontas 5"/>
          <p:cNvSpPr/>
          <p:nvPr/>
        </p:nvSpPr>
        <p:spPr>
          <a:xfrm>
            <a:off x="4267200" y="3185160"/>
            <a:ext cx="198120" cy="19690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p:sp>
        <p:nvSpPr>
          <p:cNvPr id="7" name="Estrela de 5 pontas 6"/>
          <p:cNvSpPr/>
          <p:nvPr/>
        </p:nvSpPr>
        <p:spPr>
          <a:xfrm>
            <a:off x="7559040" y="4678072"/>
            <a:ext cx="198120" cy="19690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mc:AlternateContent xmlns:mc="http://schemas.openxmlformats.org/markup-compatibility/2006">
        <mc:Choice xmlns:a14="http://schemas.microsoft.com/office/drawing/2010/main" Requires="a14">
          <p:sp>
            <p:nvSpPr>
              <p:cNvPr id="8" name="CaixaDeTexto 7"/>
              <p:cNvSpPr txBox="1"/>
              <p:nvPr/>
            </p:nvSpPr>
            <p:spPr>
              <a:xfrm>
                <a:off x="3774900" y="2814423"/>
                <a:ext cx="1123384" cy="369332"/>
              </a:xfrm>
              <a:prstGeom prst="rect">
                <a:avLst/>
              </a:prstGeom>
              <a:noFill/>
            </p:spPr>
            <p:txBody>
              <a:bodyPr wrap="none" lIns="0" tIns="0" rIns="0" bIns="0" rtlCol="0">
                <a:spAutoFit/>
              </a:bodyPr>
              <a:lstStyle/>
              <a:p>
                <a14:m>
                  <m:oMath xmlns:m="http://schemas.openxmlformats.org/officeDocument/2006/math">
                    <m:r>
                      <a:rPr lang="pt-BR" sz="2400" b="0" i="1" smtClean="0">
                        <a:solidFill>
                          <a:schemeClr val="bg1"/>
                        </a:solidFill>
                        <a:latin typeface="Cambria Math" panose="02040503050406030204" pitchFamily="18" charset="0"/>
                      </a:rPr>
                      <m:t>𝑥</m:t>
                    </m:r>
                    <m:r>
                      <a:rPr lang="pt-BR" sz="2400" b="0" i="1" smtClean="0">
                        <a:solidFill>
                          <a:schemeClr val="bg1"/>
                        </a:solidFill>
                        <a:latin typeface="Cambria Math" panose="02040503050406030204" pitchFamily="18" charset="0"/>
                      </a:rPr>
                      <m:t>(</m:t>
                    </m:r>
                    <m:r>
                      <a:rPr lang="pt-BR" sz="2400" b="0" i="1" smtClean="0">
                        <a:solidFill>
                          <a:schemeClr val="bg1"/>
                        </a:solidFill>
                        <a:latin typeface="Cambria Math" panose="02040503050406030204" pitchFamily="18" charset="0"/>
                      </a:rPr>
                      <m:t>0</m:t>
                    </m:r>
                    <m:r>
                      <a:rPr lang="pt-BR" sz="2400" b="0" i="1" smtClean="0">
                        <a:solidFill>
                          <a:schemeClr val="bg1"/>
                        </a:solidFill>
                        <a:latin typeface="Cambria Math" panose="02040503050406030204" pitchFamily="18" charset="0"/>
                      </a:rPr>
                      <m:t>)</m:t>
                    </m:r>
                  </m:oMath>
                </a14:m>
                <a:r>
                  <a:rPr lang="es-CO" sz="2400">
                    <a:solidFill>
                      <a:schemeClr val="bg1"/>
                    </a:solidFill>
                  </a:rPr>
                  <a:t> ???</a:t>
                </a:r>
              </a:p>
            </p:txBody>
          </p:sp>
        </mc:Choice>
        <mc:Fallback>
          <p:sp>
            <p:nvSpPr>
              <p:cNvPr id="8" name="CaixaDeTexto 7"/>
              <p:cNvSpPr txBox="1">
                <a:spLocks noRot="1" noChangeAspect="1" noMove="1" noResize="1" noEditPoints="1" noAdjustHandles="1" noChangeArrowheads="1" noChangeShapeType="1" noTextEdit="1"/>
              </p:cNvSpPr>
              <p:nvPr/>
            </p:nvSpPr>
            <p:spPr>
              <a:xfrm>
                <a:off x="3774900" y="2814423"/>
                <a:ext cx="1123384" cy="369332"/>
              </a:xfrm>
              <a:prstGeom prst="rect">
                <a:avLst/>
              </a:prstGeom>
              <a:blipFill>
                <a:blip r:embed="rId4"/>
                <a:stretch>
                  <a:fillRect l="-6486" t="-26667" r="-12432" b="-5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CaixaDeTexto 8"/>
              <p:cNvSpPr txBox="1"/>
              <p:nvPr/>
            </p:nvSpPr>
            <p:spPr>
              <a:xfrm>
                <a:off x="7536180" y="4874648"/>
                <a:ext cx="364202"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𝑓</m:t>
                          </m:r>
                        </m:sub>
                      </m:sSub>
                    </m:oMath>
                  </m:oMathPara>
                </a14:m>
                <a:endParaRPr lang="es-CO" sz="2400">
                  <a:solidFill>
                    <a:schemeClr val="bg1"/>
                  </a:solidFill>
                </a:endParaRPr>
              </a:p>
            </p:txBody>
          </p:sp>
        </mc:Choice>
        <mc:Fallback>
          <p:sp>
            <p:nvSpPr>
              <p:cNvPr id="9" name="CaixaDeTexto 8"/>
              <p:cNvSpPr txBox="1">
                <a:spLocks noRot="1" noChangeAspect="1" noMove="1" noResize="1" noEditPoints="1" noAdjustHandles="1" noChangeArrowheads="1" noChangeShapeType="1" noTextEdit="1"/>
              </p:cNvSpPr>
              <p:nvPr/>
            </p:nvSpPr>
            <p:spPr>
              <a:xfrm>
                <a:off x="7536180" y="4874648"/>
                <a:ext cx="364202" cy="398955"/>
              </a:xfrm>
              <a:prstGeom prst="rect">
                <a:avLst/>
              </a:prstGeom>
              <a:blipFill>
                <a:blip r:embed="rId5"/>
                <a:stretch>
                  <a:fillRect l="-10000" r="-15000" b="-27692"/>
                </a:stretch>
              </a:blipFill>
            </p:spPr>
            <p:txBody>
              <a:bodyPr/>
              <a:lstStyle/>
              <a:p>
                <a:r>
                  <a:rPr lang="en-US">
                    <a:noFill/>
                  </a:rPr>
                  <a:t> </a:t>
                </a:r>
              </a:p>
            </p:txBody>
          </p:sp>
        </mc:Fallback>
      </mc:AlternateContent>
      <p:sp>
        <p:nvSpPr>
          <p:cNvPr id="10" name="Forma livre 9"/>
          <p:cNvSpPr/>
          <p:nvPr/>
        </p:nvSpPr>
        <p:spPr>
          <a:xfrm rot="10800000">
            <a:off x="4322968" y="3353608"/>
            <a:ext cx="3276600" cy="1478280"/>
          </a:xfrm>
          <a:custGeom>
            <a:avLst/>
            <a:gdLst>
              <a:gd name="connsiteX0" fmla="*/ 0 w 3276600"/>
              <a:gd name="connsiteY0" fmla="*/ 0 h 1478280"/>
              <a:gd name="connsiteX1" fmla="*/ 1859280 w 3276600"/>
              <a:gd name="connsiteY1" fmla="*/ 259080 h 1478280"/>
              <a:gd name="connsiteX2" fmla="*/ 3276600 w 3276600"/>
              <a:gd name="connsiteY2" fmla="*/ 1478280 h 1478280"/>
            </a:gdLst>
            <a:ahLst/>
            <a:cxnLst>
              <a:cxn ang="0">
                <a:pos x="connsiteX0" y="connsiteY0"/>
              </a:cxn>
              <a:cxn ang="0">
                <a:pos x="connsiteX1" y="connsiteY1"/>
              </a:cxn>
              <a:cxn ang="0">
                <a:pos x="connsiteX2" y="connsiteY2"/>
              </a:cxn>
            </a:cxnLst>
            <a:rect l="l" t="t" r="r" b="b"/>
            <a:pathLst>
              <a:path w="3276600" h="1478280">
                <a:moveTo>
                  <a:pt x="0" y="0"/>
                </a:moveTo>
                <a:cubicBezTo>
                  <a:pt x="656590" y="6350"/>
                  <a:pt x="1313180" y="12700"/>
                  <a:pt x="1859280" y="259080"/>
                </a:cubicBezTo>
                <a:cubicBezTo>
                  <a:pt x="2405380" y="505460"/>
                  <a:pt x="2840990" y="991870"/>
                  <a:pt x="3276600" y="1478280"/>
                </a:cubicBezTo>
              </a:path>
            </a:pathLst>
          </a:custGeom>
          <a:noFill/>
          <a:ln w="38100">
            <a:solidFill>
              <a:schemeClr val="accent5"/>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bg1"/>
              </a:solidFill>
            </a:endParaRPr>
          </a:p>
        </p:txBody>
      </p:sp>
      <mc:AlternateContent xmlns:mc="http://schemas.openxmlformats.org/markup-compatibility/2006">
        <mc:Choice xmlns:a14="http://schemas.microsoft.com/office/drawing/2010/main" Requires="a14">
          <p:sp>
            <p:nvSpPr>
              <p:cNvPr id="11" name="CaixaDeTexto 10"/>
              <p:cNvSpPr txBox="1"/>
              <p:nvPr/>
            </p:nvSpPr>
            <p:spPr>
              <a:xfrm>
                <a:off x="7985760" y="5180503"/>
                <a:ext cx="86793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2400" b="0" i="1" smtClean="0">
                          <a:solidFill>
                            <a:schemeClr val="bg1"/>
                          </a:solidFill>
                          <a:latin typeface="Cambria Math" panose="02040503050406030204" pitchFamily="18" charset="0"/>
                        </a:rPr>
                        <m:t>𝑢</m:t>
                      </m:r>
                      <m:d>
                        <m:dPr>
                          <m:ctrlPr>
                            <a:rPr lang="pt-BR" sz="2400" b="0" i="1" smtClean="0">
                              <a:solidFill>
                                <a:schemeClr val="bg1"/>
                              </a:solidFill>
                              <a:latin typeface="Cambria Math" panose="02040503050406030204" pitchFamily="18" charset="0"/>
                            </a:rPr>
                          </m:ctrlPr>
                        </m:dPr>
                        <m:e>
                          <m:r>
                            <a:rPr lang="pt-BR" sz="2400" b="0" i="1" smtClean="0">
                              <a:solidFill>
                                <a:schemeClr val="bg1"/>
                              </a:solidFill>
                              <a:latin typeface="Cambria Math" panose="02040503050406030204" pitchFamily="18" charset="0"/>
                            </a:rPr>
                            <m:t>𝑘𝑇</m:t>
                          </m:r>
                        </m:e>
                      </m:d>
                    </m:oMath>
                  </m:oMathPara>
                </a14:m>
                <a:endParaRPr lang="es-CO" sz="2400">
                  <a:solidFill>
                    <a:schemeClr val="bg1"/>
                  </a:solidFill>
                </a:endParaRPr>
              </a:p>
            </p:txBody>
          </p:sp>
        </mc:Choice>
        <mc:Fallback>
          <p:sp>
            <p:nvSpPr>
              <p:cNvPr id="11" name="CaixaDeTexto 10"/>
              <p:cNvSpPr txBox="1">
                <a:spLocks noRot="1" noChangeAspect="1" noMove="1" noResize="1" noEditPoints="1" noAdjustHandles="1" noChangeArrowheads="1" noChangeShapeType="1" noTextEdit="1"/>
              </p:cNvSpPr>
              <p:nvPr/>
            </p:nvSpPr>
            <p:spPr>
              <a:xfrm>
                <a:off x="7985760" y="5180503"/>
                <a:ext cx="867930" cy="369332"/>
              </a:xfrm>
              <a:prstGeom prst="rect">
                <a:avLst/>
              </a:prstGeom>
              <a:blipFill>
                <a:blip r:embed="rId6"/>
                <a:stretch>
                  <a:fillRect l="-4225" b="-8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CaixaDeTexto 11"/>
              <p:cNvSpPr txBox="1"/>
              <p:nvPr/>
            </p:nvSpPr>
            <p:spPr>
              <a:xfrm>
                <a:off x="8368318" y="3879815"/>
                <a:ext cx="3720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2</m:t>
                          </m:r>
                        </m:sub>
                      </m:sSub>
                    </m:oMath>
                  </m:oMathPara>
                </a14:m>
                <a:endParaRPr lang="es-CO" sz="2400">
                  <a:solidFill>
                    <a:schemeClr val="bg1"/>
                  </a:solidFill>
                </a:endParaRPr>
              </a:p>
            </p:txBody>
          </p:sp>
        </mc:Choice>
        <mc:Fallback>
          <p:sp>
            <p:nvSpPr>
              <p:cNvPr id="12" name="CaixaDeTexto 11"/>
              <p:cNvSpPr txBox="1">
                <a:spLocks noRot="1" noChangeAspect="1" noMove="1" noResize="1" noEditPoints="1" noAdjustHandles="1" noChangeArrowheads="1" noChangeShapeType="1" noTextEdit="1"/>
              </p:cNvSpPr>
              <p:nvPr/>
            </p:nvSpPr>
            <p:spPr>
              <a:xfrm>
                <a:off x="8368318" y="3879815"/>
                <a:ext cx="372025" cy="369332"/>
              </a:xfrm>
              <a:prstGeom prst="rect">
                <a:avLst/>
              </a:prstGeom>
              <a:blipFill>
                <a:blip r:embed="rId7"/>
                <a:stretch>
                  <a:fillRect l="-11475" r="-8197"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aixaDeTexto 12"/>
              <p:cNvSpPr txBox="1"/>
              <p:nvPr/>
            </p:nvSpPr>
            <p:spPr>
              <a:xfrm>
                <a:off x="5503633" y="2401536"/>
                <a:ext cx="3649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O" sz="2400" i="1" smtClean="0">
                              <a:solidFill>
                                <a:schemeClr val="bg1"/>
                              </a:solidFill>
                              <a:latin typeface="Cambria Math" panose="02040503050406030204" pitchFamily="18" charset="0"/>
                            </a:rPr>
                          </m:ctrlPr>
                        </m:sSubPr>
                        <m:e>
                          <m:r>
                            <a:rPr lang="pt-BR" sz="2400" b="0" i="1" smtClean="0">
                              <a:solidFill>
                                <a:schemeClr val="bg1"/>
                              </a:solidFill>
                              <a:latin typeface="Cambria Math" panose="02040503050406030204" pitchFamily="18" charset="0"/>
                            </a:rPr>
                            <m:t>𝑥</m:t>
                          </m:r>
                        </m:e>
                        <m:sub>
                          <m:r>
                            <a:rPr lang="pt-BR" sz="2400" b="0" i="1" smtClean="0">
                              <a:solidFill>
                                <a:schemeClr val="bg1"/>
                              </a:solidFill>
                              <a:latin typeface="Cambria Math" panose="02040503050406030204" pitchFamily="18" charset="0"/>
                            </a:rPr>
                            <m:t>1</m:t>
                          </m:r>
                        </m:sub>
                      </m:sSub>
                    </m:oMath>
                  </m:oMathPara>
                </a14:m>
                <a:endParaRPr lang="es-CO" sz="2400">
                  <a:solidFill>
                    <a:schemeClr val="bg1"/>
                  </a:solidFill>
                </a:endParaRPr>
              </a:p>
            </p:txBody>
          </p:sp>
        </mc:Choice>
        <mc:Fallback>
          <p:sp>
            <p:nvSpPr>
              <p:cNvPr id="13" name="CaixaDeTexto 12"/>
              <p:cNvSpPr txBox="1">
                <a:spLocks noRot="1" noChangeAspect="1" noMove="1" noResize="1" noEditPoints="1" noAdjustHandles="1" noChangeArrowheads="1" noChangeShapeType="1" noTextEdit="1"/>
              </p:cNvSpPr>
              <p:nvPr/>
            </p:nvSpPr>
            <p:spPr>
              <a:xfrm>
                <a:off x="5503633" y="2401536"/>
                <a:ext cx="364908" cy="369332"/>
              </a:xfrm>
              <a:prstGeom prst="rect">
                <a:avLst/>
              </a:prstGeom>
              <a:blipFill>
                <a:blip r:embed="rId8"/>
                <a:stretch>
                  <a:fillRect l="-11667" r="-8333"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aixaDeTexto 13"/>
              <p:cNvSpPr txBox="1"/>
              <p:nvPr/>
            </p:nvSpPr>
            <p:spPr>
              <a:xfrm>
                <a:off x="6425224" y="1666862"/>
                <a:ext cx="130907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3200" b="0" i="1" smtClean="0">
                          <a:solidFill>
                            <a:schemeClr val="bg1"/>
                          </a:solidFill>
                          <a:latin typeface="Cambria Math" panose="02040503050406030204" pitchFamily="18" charset="0"/>
                        </a:rPr>
                        <m:t>𝑥</m:t>
                      </m:r>
                      <m:r>
                        <a:rPr lang="pt-BR" sz="3200" b="0" i="1" smtClean="0">
                          <a:solidFill>
                            <a:schemeClr val="bg1"/>
                          </a:solidFill>
                          <a:latin typeface="Cambria Math" panose="02040503050406030204" pitchFamily="18" charset="0"/>
                          <a:ea typeface="Cambria Math" panose="02040503050406030204" pitchFamily="18" charset="0"/>
                        </a:rPr>
                        <m:t>∈</m:t>
                      </m:r>
                      <m:sSup>
                        <m:sSupPr>
                          <m:ctrlPr>
                            <a:rPr lang="pt-BR" sz="3200" b="0" i="1" smtClean="0">
                              <a:solidFill>
                                <a:schemeClr val="bg1"/>
                              </a:solidFill>
                              <a:latin typeface="Cambria Math" panose="02040503050406030204" pitchFamily="18" charset="0"/>
                              <a:ea typeface="Cambria Math" panose="02040503050406030204" pitchFamily="18" charset="0"/>
                            </a:rPr>
                          </m:ctrlPr>
                        </m:sSupPr>
                        <m:e>
                          <m:r>
                            <a:rPr lang="pt-BR" sz="3200" b="0" i="1" smtClean="0">
                              <a:solidFill>
                                <a:schemeClr val="bg1"/>
                              </a:solidFill>
                              <a:latin typeface="Cambria Math" panose="02040503050406030204" pitchFamily="18" charset="0"/>
                              <a:ea typeface="Cambria Math" panose="02040503050406030204" pitchFamily="18" charset="0"/>
                            </a:rPr>
                            <m:t>ℜ</m:t>
                          </m:r>
                        </m:e>
                        <m:sup>
                          <m:r>
                            <a:rPr lang="pt-BR" sz="3200" b="0" i="1" smtClean="0">
                              <a:solidFill>
                                <a:schemeClr val="bg1"/>
                              </a:solidFill>
                              <a:latin typeface="Cambria Math" panose="02040503050406030204" pitchFamily="18" charset="0"/>
                              <a:ea typeface="Cambria Math" panose="02040503050406030204" pitchFamily="18" charset="0"/>
                            </a:rPr>
                            <m:t>2</m:t>
                          </m:r>
                        </m:sup>
                      </m:sSup>
                    </m:oMath>
                  </m:oMathPara>
                </a14:m>
                <a:endParaRPr lang="pt-BR" sz="3200">
                  <a:solidFill>
                    <a:schemeClr val="bg1"/>
                  </a:solidFill>
                </a:endParaRPr>
              </a:p>
            </p:txBody>
          </p:sp>
        </mc:Choice>
        <mc:Fallback>
          <p:sp>
            <p:nvSpPr>
              <p:cNvPr id="14" name="CaixaDeTexto 13"/>
              <p:cNvSpPr txBox="1">
                <a:spLocks noRot="1" noChangeAspect="1" noMove="1" noResize="1" noEditPoints="1" noAdjustHandles="1" noChangeArrowheads="1" noChangeShapeType="1" noTextEdit="1"/>
              </p:cNvSpPr>
              <p:nvPr/>
            </p:nvSpPr>
            <p:spPr>
              <a:xfrm>
                <a:off x="6425224" y="1666862"/>
                <a:ext cx="1309076" cy="492443"/>
              </a:xfrm>
              <a:prstGeom prst="rect">
                <a:avLst/>
              </a:prstGeom>
              <a:blipFill>
                <a:blip r:embed="rId9"/>
                <a:stretch>
                  <a:fillRect/>
                </a:stretch>
              </a:blipFill>
            </p:spPr>
            <p:txBody>
              <a:bodyPr/>
              <a:lstStyle/>
              <a:p>
                <a:r>
                  <a:rPr lang="en-US">
                    <a:noFill/>
                  </a:rPr>
                  <a:t> </a:t>
                </a:r>
              </a:p>
            </p:txBody>
          </p:sp>
        </mc:Fallback>
      </mc:AlternateContent>
      <p:pic>
        <p:nvPicPr>
          <p:cNvPr id="15" name="Imagem 14"/>
          <p:cNvPicPr>
            <a:picLocks noChangeAspect="1"/>
          </p:cNvPicPr>
          <p:nvPr>
            <p:custDataLst>
              <p:tags r:id="rId1"/>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838200" y="1739406"/>
            <a:ext cx="2367915" cy="697230"/>
          </a:xfrm>
          <a:prstGeom prst="rect">
            <a:avLst/>
          </a:prstGeom>
        </p:spPr>
      </p:pic>
      <p:pic>
        <p:nvPicPr>
          <p:cNvPr id="16" name="Imagem 15"/>
          <p:cNvPicPr>
            <a:picLocks noChangeAspect="1"/>
          </p:cNvPicPr>
          <p:nvPr>
            <p:custDataLst>
              <p:tags r:id="rId2"/>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7985760" y="4483273"/>
            <a:ext cx="2367915" cy="697230"/>
          </a:xfrm>
          <a:prstGeom prst="rect">
            <a:avLst/>
          </a:prstGeom>
        </p:spPr>
      </p:pic>
      <p:sp>
        <p:nvSpPr>
          <p:cNvPr id="17" name="Retângulo 16"/>
          <p:cNvSpPr/>
          <p:nvPr/>
        </p:nvSpPr>
        <p:spPr>
          <a:xfrm>
            <a:off x="7928081" y="4313420"/>
            <a:ext cx="3048000" cy="50654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bg1"/>
              </a:solidFill>
            </a:endParaRPr>
          </a:p>
        </p:txBody>
      </p:sp>
    </p:spTree>
    <p:extLst>
      <p:ext uri="{BB962C8B-B14F-4D97-AF65-F5344CB8AC3E}">
        <p14:creationId xmlns:p14="http://schemas.microsoft.com/office/powerpoint/2010/main" val="415384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heel(1)">
                                      <p:cBhvr>
                                        <p:cTn id="25" dur="2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p:bldP spid="12"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err="1"/>
              <a:t>Observabilidad</a:t>
            </a:r>
            <a:endParaRPr lang="es-CO"/>
          </a:p>
        </p:txBody>
      </p:sp>
      <p:sp>
        <p:nvSpPr>
          <p:cNvPr id="4" name="CaixaDeTexto 3"/>
          <p:cNvSpPr txBox="1"/>
          <p:nvPr/>
        </p:nvSpPr>
        <p:spPr>
          <a:xfrm>
            <a:off x="838200" y="1690688"/>
            <a:ext cx="2261709" cy="369332"/>
          </a:xfrm>
          <a:prstGeom prst="rect">
            <a:avLst/>
          </a:prstGeom>
          <a:noFill/>
        </p:spPr>
        <p:txBody>
          <a:bodyPr wrap="none" rtlCol="0">
            <a:spAutoFit/>
          </a:bodyPr>
          <a:lstStyle/>
          <a:p>
            <a:r>
              <a:rPr lang="es-CO">
                <a:solidFill>
                  <a:schemeClr val="bg1"/>
                </a:solidFill>
              </a:rPr>
              <a:t>Considerando u(k)=0</a:t>
            </a:r>
          </a:p>
        </p:txBody>
      </p:sp>
      <p:pic>
        <p:nvPicPr>
          <p:cNvPr id="5" name="Imagem 4"/>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016000" y="2319021"/>
            <a:ext cx="2367915" cy="697230"/>
          </a:xfrm>
          <a:prstGeom prst="rect">
            <a:avLst/>
          </a:prstGeom>
        </p:spPr>
      </p:pic>
      <p:sp>
        <p:nvSpPr>
          <p:cNvPr id="6" name="CaixaDeTexto 5"/>
          <p:cNvSpPr txBox="1"/>
          <p:nvPr/>
        </p:nvSpPr>
        <p:spPr>
          <a:xfrm>
            <a:off x="838200" y="3385583"/>
            <a:ext cx="3878369" cy="369332"/>
          </a:xfrm>
          <a:prstGeom prst="rect">
            <a:avLst/>
          </a:prstGeom>
          <a:noFill/>
        </p:spPr>
        <p:txBody>
          <a:bodyPr wrap="none" rtlCol="0">
            <a:spAutoFit/>
          </a:bodyPr>
          <a:lstStyle/>
          <a:p>
            <a:r>
              <a:rPr lang="es-CO">
                <a:solidFill>
                  <a:schemeClr val="bg1"/>
                </a:solidFill>
              </a:rPr>
              <a:t>Variando la salida desde cero hasta n</a:t>
            </a:r>
          </a:p>
        </p:txBody>
      </p:sp>
      <p:pic>
        <p:nvPicPr>
          <p:cNvPr id="7" name="Imagem 6"/>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016000" y="3965179"/>
            <a:ext cx="1786890" cy="318135"/>
          </a:xfrm>
          <a:prstGeom prst="rect">
            <a:avLst/>
          </a:prstGeom>
        </p:spPr>
      </p:pic>
      <p:pic>
        <p:nvPicPr>
          <p:cNvPr id="8" name="Imagem 7"/>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016000" y="4552078"/>
            <a:ext cx="3278505" cy="318135"/>
          </a:xfrm>
          <a:prstGeom prst="rect">
            <a:avLst/>
          </a:prstGeom>
        </p:spPr>
      </p:pic>
      <p:pic>
        <p:nvPicPr>
          <p:cNvPr id="9" name="Imagem 8"/>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1016000" y="5138977"/>
            <a:ext cx="3659505" cy="340995"/>
          </a:xfrm>
          <a:prstGeom prst="rect">
            <a:avLst/>
          </a:prstGeom>
        </p:spPr>
      </p:pic>
      <p:pic>
        <p:nvPicPr>
          <p:cNvPr id="10" name="Imagem 9"/>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016000" y="5675513"/>
            <a:ext cx="4928235" cy="746760"/>
          </a:xfrm>
          <a:prstGeom prst="rect">
            <a:avLst/>
          </a:prstGeom>
        </p:spPr>
      </p:pic>
    </p:spTree>
    <p:extLst>
      <p:ext uri="{BB962C8B-B14F-4D97-AF65-F5344CB8AC3E}">
        <p14:creationId xmlns:p14="http://schemas.microsoft.com/office/powerpoint/2010/main" val="1140394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01040" y="-320675"/>
            <a:ext cx="10515600" cy="1325563"/>
          </a:xfrm>
        </p:spPr>
        <p:txBody>
          <a:bodyPr/>
          <a:lstStyle/>
          <a:p>
            <a:r>
              <a:rPr lang="es-CO" b="1" err="1"/>
              <a:t>Observabilidad</a:t>
            </a:r>
            <a:endParaRPr lang="es-CO"/>
          </a:p>
        </p:txBody>
      </p:sp>
      <p:sp>
        <p:nvSpPr>
          <p:cNvPr id="4" name="CaixaDeTexto 3"/>
          <p:cNvSpPr txBox="1"/>
          <p:nvPr/>
        </p:nvSpPr>
        <p:spPr>
          <a:xfrm>
            <a:off x="701040" y="1004888"/>
            <a:ext cx="6987362" cy="369332"/>
          </a:xfrm>
          <a:prstGeom prst="rect">
            <a:avLst/>
          </a:prstGeom>
          <a:noFill/>
        </p:spPr>
        <p:txBody>
          <a:bodyPr wrap="none" rtlCol="0">
            <a:spAutoFit/>
          </a:bodyPr>
          <a:lstStyle/>
          <a:p>
            <a:r>
              <a:rPr lang="es-CO">
                <a:solidFill>
                  <a:schemeClr val="bg1"/>
                </a:solidFill>
              </a:rPr>
              <a:t>De forma matricial las ecuaciones anteriores son representadas por:</a:t>
            </a:r>
          </a:p>
        </p:txBody>
      </p:sp>
      <p:pic>
        <p:nvPicPr>
          <p:cNvPr id="5" name="Imagem 4"/>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848360" y="1374220"/>
            <a:ext cx="3897630" cy="2087880"/>
          </a:xfrm>
          <a:prstGeom prst="rect">
            <a:avLst/>
          </a:prstGeom>
        </p:spPr>
      </p:pic>
      <p:sp>
        <p:nvSpPr>
          <p:cNvPr id="6" name="CaixaDeTexto 5"/>
          <p:cNvSpPr txBox="1"/>
          <p:nvPr/>
        </p:nvSpPr>
        <p:spPr>
          <a:xfrm>
            <a:off x="663575" y="3646766"/>
            <a:ext cx="9536072" cy="646331"/>
          </a:xfrm>
          <a:prstGeom prst="rect">
            <a:avLst/>
          </a:prstGeom>
          <a:noFill/>
        </p:spPr>
        <p:txBody>
          <a:bodyPr wrap="none" rtlCol="0">
            <a:spAutoFit/>
          </a:bodyPr>
          <a:lstStyle/>
          <a:p>
            <a:r>
              <a:rPr lang="es-CO">
                <a:solidFill>
                  <a:schemeClr val="bg1"/>
                </a:solidFill>
              </a:rPr>
              <a:t>El vector de salida tiene n elementos por lo tanto, se deben generar n ecuaciones simultáneas,</a:t>
            </a:r>
          </a:p>
          <a:p>
            <a:r>
              <a:rPr lang="es-CO">
                <a:solidFill>
                  <a:schemeClr val="bg1"/>
                </a:solidFill>
              </a:rPr>
              <a:t> esta condición solo es posible si:</a:t>
            </a:r>
          </a:p>
        </p:txBody>
      </p:sp>
      <p:pic>
        <p:nvPicPr>
          <p:cNvPr id="7" name="Imagem 6"/>
          <p:cNvPicPr>
            <a:picLocks noChangeAspect="1"/>
          </p:cNvPicPr>
          <p:nvPr>
            <p:custDataLst>
              <p:tags r:id="rId2"/>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701040" y="4477763"/>
            <a:ext cx="2636520" cy="2087880"/>
          </a:xfrm>
          <a:prstGeom prst="rect">
            <a:avLst/>
          </a:prstGeom>
        </p:spPr>
      </p:pic>
      <p:sp>
        <p:nvSpPr>
          <p:cNvPr id="8" name="CaixaDeTexto 7"/>
          <p:cNvSpPr txBox="1"/>
          <p:nvPr/>
        </p:nvSpPr>
        <p:spPr>
          <a:xfrm>
            <a:off x="4127135" y="4724400"/>
            <a:ext cx="7799507" cy="923330"/>
          </a:xfrm>
          <a:prstGeom prst="rect">
            <a:avLst/>
          </a:prstGeom>
          <a:noFill/>
        </p:spPr>
        <p:txBody>
          <a:bodyPr wrap="none" rtlCol="0">
            <a:spAutoFit/>
          </a:bodyPr>
          <a:lstStyle/>
          <a:p>
            <a:pPr algn="ctr"/>
            <a:r>
              <a:rPr lang="es-CO" b="1">
                <a:solidFill>
                  <a:schemeClr val="accent6">
                    <a:lumMod val="50000"/>
                  </a:schemeClr>
                </a:solidFill>
              </a:rPr>
              <a:t>Una condición suficiente y necesaria para la </a:t>
            </a:r>
            <a:r>
              <a:rPr lang="es-CO" b="1" err="1">
                <a:solidFill>
                  <a:schemeClr val="accent6">
                    <a:lumMod val="50000"/>
                  </a:schemeClr>
                </a:solidFill>
              </a:rPr>
              <a:t>observabilidad</a:t>
            </a:r>
            <a:r>
              <a:rPr lang="es-CO" b="1">
                <a:solidFill>
                  <a:schemeClr val="accent6">
                    <a:lumMod val="50000"/>
                  </a:schemeClr>
                </a:solidFill>
              </a:rPr>
              <a:t> completa del estado</a:t>
            </a:r>
          </a:p>
          <a:p>
            <a:pPr algn="ctr"/>
            <a:r>
              <a:rPr lang="es-CO" b="1">
                <a:solidFill>
                  <a:schemeClr val="accent6">
                    <a:lumMod val="50000"/>
                  </a:schemeClr>
                </a:solidFill>
              </a:rPr>
              <a:t> es que no se presente cancelación de ceros y polos en la función de</a:t>
            </a:r>
          </a:p>
          <a:p>
            <a:pPr algn="ctr"/>
            <a:r>
              <a:rPr lang="es-CO" b="1">
                <a:solidFill>
                  <a:schemeClr val="accent6">
                    <a:lumMod val="50000"/>
                  </a:schemeClr>
                </a:solidFill>
              </a:rPr>
              <a:t>transferencia de pulso.</a:t>
            </a:r>
          </a:p>
        </p:txBody>
      </p:sp>
    </p:spTree>
    <p:extLst>
      <p:ext uri="{BB962C8B-B14F-4D97-AF65-F5344CB8AC3E}">
        <p14:creationId xmlns:p14="http://schemas.microsoft.com/office/powerpoint/2010/main" val="319449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fade">
                                      <p:cBhvr>
                                        <p:cTn id="30" dur="500"/>
                                        <p:tgtEl>
                                          <p:spTgt spid="8">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fade">
                                      <p:cBhvr>
                                        <p:cTn id="33"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54375-8CF4-14B1-E05E-99D571E3F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D410C-3B47-9D6A-53E3-3F731120460D}"/>
              </a:ext>
            </a:extLst>
          </p:cNvPr>
          <p:cNvSpPr>
            <a:spLocks noGrp="1"/>
          </p:cNvSpPr>
          <p:nvPr>
            <p:ph type="title"/>
          </p:nvPr>
        </p:nvSpPr>
        <p:spPr/>
        <p:txBody>
          <a:bodyPr/>
          <a:lstStyle/>
          <a:p>
            <a:r>
              <a:rPr lang="es-CO"/>
              <a:t>Ejemplo – Motor DC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121629-1F44-074A-7CA4-1FC9C0E945EB}"/>
                  </a:ext>
                </a:extLst>
              </p:cNvPr>
              <p:cNvSpPr>
                <a:spLocks noGrp="1"/>
              </p:cNvSpPr>
              <p:nvPr>
                <p:ph idx="1"/>
              </p:nvPr>
            </p:nvSpPr>
            <p:spPr/>
            <p:txBody>
              <a:bodyPr/>
              <a:lstStyle/>
              <a:p>
                <a:r>
                  <a:rPr lang="es-CO"/>
                  <a:t>Retome el modelo del motor DC con estados Velocidad y Corriente, </a:t>
                </a:r>
                <a14:m>
                  <m:oMath xmlns:m="http://schemas.openxmlformats.org/officeDocument/2006/math">
                    <m:r>
                      <a:rPr lang="en-US" b="0" i="1" smtClean="0">
                        <a:solidFill>
                          <a:schemeClr val="accent6"/>
                        </a:solidFill>
                        <a:latin typeface="Cambria Math" panose="02040503050406030204" pitchFamily="18" charset="0"/>
                      </a:rPr>
                      <m:t>𝑥</m:t>
                    </m:r>
                    <m:r>
                      <a:rPr lang="en-US" b="0" i="1" smtClean="0">
                        <a:solidFill>
                          <a:schemeClr val="accent6"/>
                        </a:solidFill>
                        <a:latin typeface="Cambria Math" panose="02040503050406030204" pitchFamily="18" charset="0"/>
                      </a:rPr>
                      <m:t>=</m:t>
                    </m:r>
                    <m:sSup>
                      <m:sSupPr>
                        <m:ctrlPr>
                          <a:rPr lang="en-US" b="0" i="1" smtClean="0">
                            <a:solidFill>
                              <a:schemeClr val="accent6"/>
                            </a:solidFill>
                            <a:latin typeface="Cambria Math" panose="02040503050406030204" pitchFamily="18" charset="0"/>
                          </a:rPr>
                        </m:ctrlPr>
                      </m:sSupPr>
                      <m:e>
                        <m:d>
                          <m:dPr>
                            <m:begChr m:val="["/>
                            <m:endChr m:val="]"/>
                            <m:ctrlPr>
                              <a:rPr lang="en-US" b="0" i="1" smtClean="0">
                                <a:solidFill>
                                  <a:schemeClr val="accent6"/>
                                </a:solidFill>
                                <a:latin typeface="Cambria Math" panose="02040503050406030204" pitchFamily="18" charset="0"/>
                              </a:rPr>
                            </m:ctrlPr>
                          </m:dPr>
                          <m:e>
                            <m:m>
                              <m:mPr>
                                <m:mcs>
                                  <m:mc>
                                    <m:mcPr>
                                      <m:count m:val="2"/>
                                      <m:mcJc m:val="center"/>
                                    </m:mcPr>
                                  </m:mc>
                                </m:mcs>
                                <m:ctrlPr>
                                  <a:rPr lang="en-US" b="0" i="1" smtClean="0">
                                    <a:solidFill>
                                      <a:schemeClr val="accent6"/>
                                    </a:solidFill>
                                    <a:latin typeface="Cambria Math" panose="02040503050406030204" pitchFamily="18" charset="0"/>
                                  </a:rPr>
                                </m:ctrlPr>
                              </m:mPr>
                              <m:mr>
                                <m:e>
                                  <m:r>
                                    <a:rPr lang="en-US" b="0" i="1" smtClean="0">
                                      <a:solidFill>
                                        <a:schemeClr val="accent6"/>
                                      </a:solidFill>
                                      <a:latin typeface="Cambria Math" panose="02040503050406030204" pitchFamily="18" charset="0"/>
                                    </a:rPr>
                                    <m:t>𝜔</m:t>
                                  </m:r>
                                </m:e>
                                <m:e>
                                  <m:r>
                                    <a:rPr lang="en-US" b="0" i="1" smtClean="0">
                                      <a:solidFill>
                                        <a:schemeClr val="accent6"/>
                                      </a:solidFill>
                                      <a:latin typeface="Cambria Math" panose="02040503050406030204" pitchFamily="18" charset="0"/>
                                    </a:rPr>
                                    <m:t>𝑖</m:t>
                                  </m:r>
                                </m:e>
                              </m:mr>
                            </m:m>
                          </m:e>
                        </m:d>
                      </m:e>
                      <m:sup>
                        <m:r>
                          <a:rPr lang="en-US" b="0" i="1" smtClean="0">
                            <a:solidFill>
                              <a:schemeClr val="accent6"/>
                            </a:solidFill>
                            <a:latin typeface="Cambria Math" panose="02040503050406030204" pitchFamily="18" charset="0"/>
                          </a:rPr>
                          <m:t>𝑇</m:t>
                        </m:r>
                      </m:sup>
                    </m:sSup>
                  </m:oMath>
                </a14:m>
                <a:r>
                  <a:rPr lang="es-CO"/>
                  <a:t> y una entrada de voltaje </a:t>
                </a:r>
                <a14:m>
                  <m:oMath xmlns:m="http://schemas.openxmlformats.org/officeDocument/2006/math">
                    <m:r>
                      <a:rPr lang="en-US" b="0" i="1" smtClean="0">
                        <a:solidFill>
                          <a:schemeClr val="accent6"/>
                        </a:solidFill>
                        <a:latin typeface="Cambria Math" panose="02040503050406030204" pitchFamily="18" charset="0"/>
                      </a:rPr>
                      <m:t>𝑢</m:t>
                    </m:r>
                    <m:r>
                      <a:rPr lang="en-US" b="0" i="1" smtClean="0">
                        <a:solidFill>
                          <a:schemeClr val="accent6"/>
                        </a:solidFill>
                        <a:latin typeface="Cambria Math" panose="02040503050406030204" pitchFamily="18" charset="0"/>
                      </a:rPr>
                      <m:t>=</m:t>
                    </m:r>
                    <m:r>
                      <a:rPr lang="en-US" b="0" i="1" smtClean="0">
                        <a:solidFill>
                          <a:schemeClr val="accent6"/>
                        </a:solidFill>
                        <a:latin typeface="Cambria Math" panose="02040503050406030204" pitchFamily="18" charset="0"/>
                      </a:rPr>
                      <m:t>𝑣</m:t>
                    </m:r>
                  </m:oMath>
                </a14:m>
                <a:r>
                  <a:rPr lang="es-CO"/>
                  <a:t>. Demuestre que el sistema es observable.</a:t>
                </a:r>
              </a:p>
              <a:p>
                <a:pPr marL="0" indent="0">
                  <a:buNone/>
                </a:pPr>
                <a:endParaRPr lang="es-CO"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s-CO"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0</m:t>
                                </m:r>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3</m:t>
                                </m:r>
                                <m:r>
                                  <a:rPr lang="en-US" b="0" i="1" smtClean="0">
                                    <a:latin typeface="Cambria Math" panose="02040503050406030204" pitchFamily="18" charset="0"/>
                                  </a:rPr>
                                  <m:t>33</m:t>
                                </m:r>
                              </m:e>
                              <m:e>
                                <m:r>
                                  <a:rPr lang="en-US" b="0" i="1" smtClean="0">
                                    <a:latin typeface="Cambria Math" panose="02040503050406030204" pitchFamily="18" charset="0"/>
                                  </a:rPr>
                                  <m:t>166</m:t>
                                </m:r>
                                <m:r>
                                  <a:rPr lang="en-US" b="0" i="1" smtClean="0">
                                    <a:latin typeface="Cambria Math" panose="02040503050406030204" pitchFamily="18" charset="0"/>
                                  </a:rPr>
                                  <m:t>.</m:t>
                                </m:r>
                                <m:r>
                                  <a:rPr lang="en-US" b="0" i="1" smtClean="0">
                                    <a:latin typeface="Cambria Math" panose="02040503050406030204" pitchFamily="18" charset="0"/>
                                  </a:rPr>
                                  <m:t>67</m:t>
                                </m:r>
                              </m:e>
                            </m:mr>
                            <m:mr>
                              <m:e>
                                <m:r>
                                  <a:rPr lang="en-US" b="0" i="1" smtClean="0">
                                    <a:latin typeface="Cambria Math" panose="02040503050406030204" pitchFamily="18" charset="0"/>
                                  </a:rPr>
                                  <m:t>−</m:t>
                                </m:r>
                                <m:r>
                                  <a:rPr lang="en-US" b="0" i="1" smtClean="0">
                                    <a:latin typeface="Cambria Math" panose="02040503050406030204" pitchFamily="18" charset="0"/>
                                  </a:rPr>
                                  <m:t>10</m:t>
                                </m:r>
                              </m:e>
                              <m:e>
                                <m:r>
                                  <a:rPr lang="en-US" b="0" i="1" smtClean="0">
                                    <a:latin typeface="Cambria Math" panose="02040503050406030204" pitchFamily="18" charset="0"/>
                                  </a:rPr>
                                  <m:t>−</m:t>
                                </m:r>
                                <m:r>
                                  <a:rPr lang="en-US" b="0" i="1" smtClean="0">
                                    <a:latin typeface="Cambria Math" panose="02040503050406030204" pitchFamily="18" charset="0"/>
                                  </a:rPr>
                                  <m:t>400</m:t>
                                </m:r>
                              </m:e>
                            </m:mr>
                          </m:m>
                        </m:e>
                      </m:d>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200</m:t>
                                </m:r>
                              </m:e>
                            </m:mr>
                          </m:m>
                        </m:e>
                      </m:d>
                      <m:r>
                        <a:rPr lang="en-US" b="0" i="1" smtClean="0">
                          <a:latin typeface="Cambria Math" panose="02040503050406030204" pitchFamily="18" charset="0"/>
                        </a:rPr>
                        <m:t>𝑢</m:t>
                      </m:r>
                    </m:oMath>
                  </m:oMathPara>
                </a14:m>
                <a:endParaRPr lang="en-US"/>
              </a:p>
              <a:p>
                <a:pPr marL="0" indent="0">
                  <a:buNone/>
                </a:pP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
                        </m:e>
                      </m:d>
                      <m:r>
                        <a:rPr lang="en-US" b="0" i="1" smtClean="0">
                          <a:latin typeface="Cambria Math" panose="02040503050406030204" pitchFamily="18" charset="0"/>
                        </a:rPr>
                        <m:t>𝑥</m:t>
                      </m:r>
                    </m:oMath>
                  </m:oMathPara>
                </a14:m>
                <a:endParaRPr lang="es-CO"/>
              </a:p>
              <a:p>
                <a:pPr marL="0" indent="0">
                  <a:buNone/>
                </a:pPr>
                <a:endParaRPr lang="es-CO"/>
              </a:p>
              <a:p>
                <a:pPr marL="0" indent="0">
                  <a:buNone/>
                </a:pPr>
                <a:r>
                  <a:rPr lang="pt-BR" sz="1800"/>
                  <a:t>(</a:t>
                </a:r>
                <a:r>
                  <a:rPr lang="en-US" sz="1800"/>
                  <a:t>Podemos </a:t>
                </a:r>
                <a:r>
                  <a:rPr lang="en-US" sz="1800" err="1"/>
                  <a:t>medir</a:t>
                </a:r>
                <a:r>
                  <a:rPr lang="en-US" sz="1800"/>
                  <a:t> </a:t>
                </a:r>
                <a:r>
                  <a:rPr lang="en-US" sz="1800" err="1"/>
                  <a:t>perfectamente</a:t>
                </a:r>
                <a:r>
                  <a:rPr lang="en-US" sz="1800"/>
                  <a:t> la </a:t>
                </a:r>
                <a:r>
                  <a:rPr lang="en-US" sz="1800" err="1"/>
                  <a:t>velocidad</a:t>
                </a:r>
                <a:r>
                  <a:rPr lang="en-US" sz="1800"/>
                  <a:t>, y </a:t>
                </a:r>
                <a:r>
                  <a:rPr lang="en-US" sz="1800" err="1"/>
                  <a:t>si</a:t>
                </a:r>
                <a:r>
                  <a:rPr lang="en-US" sz="1800"/>
                  <a:t> lo </a:t>
                </a:r>
                <a:r>
                  <a:rPr lang="en-US" sz="1800" err="1"/>
                  <a:t>deseamos</a:t>
                </a:r>
                <a:r>
                  <a:rPr lang="en-US" sz="1800"/>
                  <a:t> Tambien la </a:t>
                </a:r>
                <a:r>
                  <a:rPr lang="en-US" sz="1800" err="1"/>
                  <a:t>corriente</a:t>
                </a:r>
                <a:r>
                  <a:rPr lang="pt-BR" sz="1800"/>
                  <a:t>.)</a:t>
                </a:r>
                <a:endParaRPr lang="es-CO" sz="1800"/>
              </a:p>
            </p:txBody>
          </p:sp>
        </mc:Choice>
        <mc:Fallback>
          <p:sp>
            <p:nvSpPr>
              <p:cNvPr id="3" name="Content Placeholder 2">
                <a:extLst>
                  <a:ext uri="{FF2B5EF4-FFF2-40B4-BE49-F238E27FC236}">
                    <a16:creationId xmlns:a16="http://schemas.microsoft.com/office/drawing/2014/main" id="{47121629-1F44-074A-7CA4-1FC9C0E945EB}"/>
                  </a:ext>
                </a:extLst>
              </p:cNvPr>
              <p:cNvSpPr>
                <a:spLocks noGrp="1" noRot="1" noChangeAspect="1" noMove="1" noResize="1" noEditPoints="1" noAdjustHandles="1" noChangeArrowheads="1" noChangeShapeType="1" noTextEdit="1"/>
              </p:cNvSpPr>
              <p:nvPr>
                <p:ph idx="1"/>
              </p:nvPr>
            </p:nvSpPr>
            <p:spPr>
              <a:blipFill>
                <a:blip r:embed="rId2"/>
                <a:stretch>
                  <a:fillRect l="-522" t="-2241" r="-812"/>
                </a:stretch>
              </a:blipFill>
            </p:spPr>
            <p:txBody>
              <a:bodyPr/>
              <a:lstStyle/>
              <a:p>
                <a:r>
                  <a:rPr lang="en-US">
                    <a:noFill/>
                  </a:rPr>
                  <a:t> </a:t>
                </a:r>
              </a:p>
            </p:txBody>
          </p:sp>
        </mc:Fallback>
      </mc:AlternateContent>
    </p:spTree>
    <p:extLst>
      <p:ext uri="{BB962C8B-B14F-4D97-AF65-F5344CB8AC3E}">
        <p14:creationId xmlns:p14="http://schemas.microsoft.com/office/powerpoint/2010/main" val="315115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19E80-1B73-539F-F297-F9039FC3F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2BD3A-24CA-0694-14D2-4C16FF34E7B8}"/>
              </a:ext>
            </a:extLst>
          </p:cNvPr>
          <p:cNvSpPr>
            <a:spLocks noGrp="1"/>
          </p:cNvSpPr>
          <p:nvPr>
            <p:ph type="title"/>
          </p:nvPr>
        </p:nvSpPr>
        <p:spPr/>
        <p:txBody>
          <a:bodyPr/>
          <a:lstStyle/>
          <a:p>
            <a:r>
              <a:rPr lang="es-CO"/>
              <a:t>Ejemplo – Motor DC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D2B0AF-9183-31C7-311E-F2F61370CF31}"/>
                  </a:ext>
                </a:extLst>
              </p:cNvPr>
              <p:cNvSpPr>
                <a:spLocks noGrp="1"/>
              </p:cNvSpPr>
              <p:nvPr>
                <p:ph idx="1"/>
              </p:nvPr>
            </p:nvSpPr>
            <p:spPr>
              <a:xfrm>
                <a:off x="838200" y="1530062"/>
                <a:ext cx="6393873" cy="4351338"/>
              </a:xfrm>
            </p:spPr>
            <p:txBody>
              <a:bodyPr/>
              <a:lstStyle/>
              <a:p>
                <a:r>
                  <a:rPr lang="pt-BR"/>
                  <a:t>Si </a:t>
                </a:r>
                <a:r>
                  <a:rPr lang="pt-BR" err="1"/>
                  <a:t>el</a:t>
                </a:r>
                <a:r>
                  <a:rPr lang="pt-BR"/>
                  <a:t> </a:t>
                </a:r>
                <a:r>
                  <a:rPr lang="pt-BR" err="1"/>
                  <a:t>acoplamiento</a:t>
                </a:r>
                <a:r>
                  <a:rPr lang="pt-BR"/>
                  <a:t> </a:t>
                </a:r>
                <a:r>
                  <a:rPr lang="pt-BR" err="1"/>
                  <a:t>electromecánico</a:t>
                </a:r>
                <a:r>
                  <a:rPr lang="pt-BR"/>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𝐾</m:t>
                        </m:r>
                      </m:e>
                      <m:sub>
                        <m:r>
                          <a:rPr lang="ar-AE" i="1">
                            <a:latin typeface="Cambria Math" panose="02040503050406030204" pitchFamily="18" charset="0"/>
                          </a:rPr>
                          <m:t>𝑡</m:t>
                        </m:r>
                      </m:sub>
                    </m:sSub>
                  </m:oMath>
                </a14:m>
                <a:r>
                  <a:rPr lang="pt-BR"/>
                  <a:t> desaparece, </a:t>
                </a:r>
                <a:r>
                  <a:rPr lang="pt-BR" err="1"/>
                  <a:t>la</a:t>
                </a:r>
                <a:r>
                  <a:rPr lang="pt-BR"/>
                  <a:t> </a:t>
                </a:r>
                <a:r>
                  <a:rPr lang="pt-BR" err="1"/>
                  <a:t>ecuación</a:t>
                </a:r>
                <a:r>
                  <a:rPr lang="pt-BR"/>
                  <a:t> </a:t>
                </a:r>
                <a:r>
                  <a:rPr lang="pt-BR" err="1"/>
                  <a:t>mecánica</a:t>
                </a:r>
                <a:r>
                  <a:rPr lang="pt-BR"/>
                  <a:t> se desconecta </a:t>
                </a:r>
                <a:r>
                  <a:rPr lang="pt-BR" err="1"/>
                  <a:t>eléctricamente</a:t>
                </a:r>
                <a:r>
                  <a:rPr lang="pt-BR"/>
                  <a:t>. </a:t>
                </a:r>
                <a:r>
                  <a:rPr lang="pt-BR" err="1"/>
                  <a:t>En</a:t>
                </a:r>
                <a:r>
                  <a:rPr lang="pt-BR"/>
                  <a:t> </a:t>
                </a:r>
                <a:r>
                  <a:rPr lang="pt-BR" err="1"/>
                  <a:t>el</a:t>
                </a:r>
                <a:r>
                  <a:rPr lang="pt-BR"/>
                  <a:t> modelo:</a:t>
                </a:r>
              </a:p>
              <a:p>
                <a:endParaRPr lang="es-CO"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s-CO"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0</m:t>
                                </m:r>
                                <m:r>
                                  <m:rPr>
                                    <m:brk m:alnAt="7"/>
                                  </m:rPr>
                                  <a:rPr lang="en-US" b="0" i="1" smtClean="0">
                                    <a:latin typeface="Cambria Math" panose="02040503050406030204" pitchFamily="18" charset="0"/>
                                  </a:rPr>
                                  <m:t>.</m:t>
                                </m:r>
                                <m:r>
                                  <m:rPr>
                                    <m:brk m:alnAt="7"/>
                                  </m:rPr>
                                  <a:rPr lang="en-US" b="0" i="1" smtClean="0">
                                    <a:latin typeface="Cambria Math" panose="02040503050406030204" pitchFamily="18" charset="0"/>
                                  </a:rPr>
                                  <m:t>3</m:t>
                                </m:r>
                                <m:r>
                                  <a:rPr lang="en-US" b="0" i="1" smtClean="0">
                                    <a:latin typeface="Cambria Math" panose="02040503050406030204" pitchFamily="18" charset="0"/>
                                  </a:rPr>
                                  <m:t>33</m:t>
                                </m:r>
                              </m:e>
                              <m:e>
                                <m:r>
                                  <a:rPr lang="en-US" b="0" i="1" smtClean="0">
                                    <a:solidFill>
                                      <a:schemeClr val="accent4"/>
                                    </a:solidFill>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10</m:t>
                                </m:r>
                              </m:e>
                              <m:e>
                                <m:r>
                                  <a:rPr lang="en-US" b="0" i="1" smtClean="0">
                                    <a:latin typeface="Cambria Math" panose="02040503050406030204" pitchFamily="18" charset="0"/>
                                  </a:rPr>
                                  <m:t>−</m:t>
                                </m:r>
                                <m:r>
                                  <a:rPr lang="en-US" b="0" i="1" smtClean="0">
                                    <a:latin typeface="Cambria Math" panose="02040503050406030204" pitchFamily="18" charset="0"/>
                                  </a:rPr>
                                  <m:t>400</m:t>
                                </m:r>
                              </m:e>
                            </m:mr>
                          </m:m>
                        </m:e>
                      </m:d>
                      <m:r>
                        <a:rPr lang="en-US" b="0"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200</m:t>
                                </m:r>
                              </m:e>
                            </m:mr>
                          </m:m>
                        </m:e>
                      </m:d>
                      <m:r>
                        <a:rPr lang="en-US" b="0" i="1" smtClean="0">
                          <a:latin typeface="Cambria Math" panose="02040503050406030204" pitchFamily="18" charset="0"/>
                        </a:rPr>
                        <m:t>𝑢</m:t>
                      </m:r>
                    </m:oMath>
                  </m:oMathPara>
                </a14:m>
                <a:endParaRPr lang="en-US"/>
              </a:p>
              <a:p>
                <a:pPr marL="0" indent="0">
                  <a:buNone/>
                </a:pPr>
                <a:br>
                  <a:rPr lang="en-US"/>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mr>
                          </m:m>
                        </m:e>
                      </m:d>
                      <m:r>
                        <a:rPr lang="en-US" b="0" i="1" smtClean="0">
                          <a:latin typeface="Cambria Math" panose="02040503050406030204" pitchFamily="18" charset="0"/>
                        </a:rPr>
                        <m:t>𝑥</m:t>
                      </m:r>
                    </m:oMath>
                  </m:oMathPara>
                </a14:m>
                <a:endParaRPr lang="es-CO"/>
              </a:p>
              <a:p>
                <a:pPr marL="0" indent="0">
                  <a:buNone/>
                </a:pPr>
                <a:endParaRPr lang="es-CO"/>
              </a:p>
            </p:txBody>
          </p:sp>
        </mc:Choice>
        <mc:Fallback>
          <p:sp>
            <p:nvSpPr>
              <p:cNvPr id="3" name="Content Placeholder 2">
                <a:extLst>
                  <a:ext uri="{FF2B5EF4-FFF2-40B4-BE49-F238E27FC236}">
                    <a16:creationId xmlns:a16="http://schemas.microsoft.com/office/drawing/2014/main" id="{7BD2B0AF-9183-31C7-311E-F2F61370CF31}"/>
                  </a:ext>
                </a:extLst>
              </p:cNvPr>
              <p:cNvSpPr>
                <a:spLocks noGrp="1" noRot="1" noChangeAspect="1" noMove="1" noResize="1" noEditPoints="1" noAdjustHandles="1" noChangeArrowheads="1" noChangeShapeType="1" noTextEdit="1"/>
              </p:cNvSpPr>
              <p:nvPr>
                <p:ph idx="1"/>
              </p:nvPr>
            </p:nvSpPr>
            <p:spPr>
              <a:xfrm>
                <a:off x="838200" y="1530062"/>
                <a:ext cx="6393873" cy="4351338"/>
              </a:xfrm>
              <a:blipFill>
                <a:blip r:embed="rId2"/>
                <a:stretch>
                  <a:fillRect l="-1718" t="-23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E23B712-8778-99D4-3B59-06E5FA7BE42A}"/>
                  </a:ext>
                </a:extLst>
              </p:cNvPr>
              <p:cNvSpPr txBox="1"/>
              <p:nvPr/>
            </p:nvSpPr>
            <p:spPr>
              <a:xfrm>
                <a:off x="7435274" y="2272145"/>
                <a:ext cx="4294908" cy="3139321"/>
              </a:xfrm>
              <a:prstGeom prst="rect">
                <a:avLst/>
              </a:prstGeom>
              <a:noFill/>
              <a:ln>
                <a:solidFill>
                  <a:schemeClr val="accent1">
                    <a:lumMod val="75000"/>
                  </a:schemeClr>
                </a:solidFill>
              </a:ln>
            </p:spPr>
            <p:txBody>
              <a:bodyPr wrap="square">
                <a:spAutoFit/>
              </a:bodyPr>
              <a:lstStyle/>
              <a:p>
                <a:pPr>
                  <a:buNone/>
                </a:pPr>
                <a:r>
                  <a:rPr lang="pt-BR">
                    <a:solidFill>
                      <a:schemeClr val="bg1"/>
                    </a:solidFill>
                  </a:rPr>
                  <a:t>Si </a:t>
                </a:r>
                <a14:m>
                  <m:oMath xmlns:m="http://schemas.openxmlformats.org/officeDocument/2006/math">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𝐾</m:t>
                        </m:r>
                      </m:e>
                      <m:sub>
                        <m:r>
                          <a:rPr lang="ar-AE" i="1">
                            <a:solidFill>
                              <a:schemeClr val="bg1"/>
                            </a:solidFill>
                            <a:latin typeface="Cambria Math" panose="02040503050406030204" pitchFamily="18" charset="0"/>
                          </a:rPr>
                          <m:t>𝑡</m:t>
                        </m:r>
                      </m:sub>
                    </m:sSub>
                    <m:r>
                      <a:rPr lang="ar-AE" i="0">
                        <a:solidFill>
                          <a:schemeClr val="bg1"/>
                        </a:solidFill>
                        <a:latin typeface="Cambria Math" panose="02040503050406030204" pitchFamily="18" charset="0"/>
                      </a:rPr>
                      <m:t>=</m:t>
                    </m:r>
                    <m:r>
                      <a:rPr lang="en-US" b="0" i="0" smtClean="0">
                        <a:solidFill>
                          <a:schemeClr val="bg1"/>
                        </a:solidFill>
                        <a:latin typeface="Cambria Math" panose="02040503050406030204" pitchFamily="18" charset="0"/>
                      </a:rPr>
                      <m:t>0</m:t>
                    </m:r>
                  </m:oMath>
                </a14:m>
                <a:r>
                  <a:rPr lang="en-US">
                    <a:solidFill>
                      <a:schemeClr val="bg1"/>
                    </a:solidFill>
                  </a:rPr>
                  <a:t> </a:t>
                </a:r>
                <a:r>
                  <a:rPr lang="pt-BR">
                    <a:solidFill>
                      <a:schemeClr val="bg1"/>
                    </a:solidFill>
                  </a:rPr>
                  <a:t>y por tanto </a:t>
                </a:r>
                <a14:m>
                  <m:oMath xmlns:m="http://schemas.openxmlformats.org/officeDocument/2006/math">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𝐾</m:t>
                        </m:r>
                      </m:e>
                      <m:sub>
                        <m:r>
                          <a:rPr lang="ar-AE" i="1">
                            <a:solidFill>
                              <a:schemeClr val="bg1"/>
                            </a:solidFill>
                            <a:latin typeface="Cambria Math" panose="02040503050406030204" pitchFamily="18" charset="0"/>
                          </a:rPr>
                          <m:t>𝑒</m:t>
                        </m:r>
                      </m:sub>
                    </m:sSub>
                    <m:r>
                      <a:rPr lang="ar-AE" i="0">
                        <a:solidFill>
                          <a:schemeClr val="bg1"/>
                        </a:solidFill>
                        <a:latin typeface="Cambria Math" panose="02040503050406030204" pitchFamily="18" charset="0"/>
                      </a:rPr>
                      <m:t>=</m:t>
                    </m:r>
                    <m:r>
                      <a:rPr lang="ar-AE" i="0">
                        <a:solidFill>
                          <a:schemeClr val="bg1"/>
                        </a:solidFill>
                        <a:latin typeface="Cambria Math" panose="02040503050406030204" pitchFamily="18" charset="0"/>
                      </a:rPr>
                      <m:t>0</m:t>
                    </m:r>
                  </m:oMath>
                </a14:m>
                <a:r>
                  <a:rPr lang="ar-AE">
                    <a:solidFill>
                      <a:schemeClr val="bg1"/>
                    </a:solidFill>
                  </a:rPr>
                  <a:t>, </a:t>
                </a:r>
                <a:r>
                  <a:rPr lang="pt-BR" err="1">
                    <a:solidFill>
                      <a:schemeClr val="bg1"/>
                    </a:solidFill>
                  </a:rPr>
                  <a:t>ya</a:t>
                </a:r>
                <a:r>
                  <a:rPr lang="pt-BR">
                    <a:solidFill>
                      <a:schemeClr val="bg1"/>
                    </a:solidFill>
                  </a:rPr>
                  <a:t> que </a:t>
                </a:r>
                <a:r>
                  <a:rPr lang="pt-BR" err="1">
                    <a:solidFill>
                      <a:schemeClr val="bg1"/>
                    </a:solidFill>
                  </a:rPr>
                  <a:t>son</a:t>
                </a:r>
                <a:r>
                  <a:rPr lang="pt-BR">
                    <a:solidFill>
                      <a:schemeClr val="bg1"/>
                    </a:solidFill>
                  </a:rPr>
                  <a:t> iguales </a:t>
                </a:r>
                <a:r>
                  <a:rPr lang="pt-BR" err="1">
                    <a:solidFill>
                      <a:schemeClr val="bg1"/>
                    </a:solidFill>
                  </a:rPr>
                  <a:t>en</a:t>
                </a:r>
                <a:r>
                  <a:rPr lang="pt-BR">
                    <a:solidFill>
                      <a:schemeClr val="bg1"/>
                    </a:solidFill>
                  </a:rPr>
                  <a:t> </a:t>
                </a:r>
                <a:r>
                  <a:rPr lang="pt-BR" err="1">
                    <a:solidFill>
                      <a:schemeClr val="bg1"/>
                    </a:solidFill>
                  </a:rPr>
                  <a:t>un</a:t>
                </a:r>
                <a:r>
                  <a:rPr lang="pt-BR">
                    <a:solidFill>
                      <a:schemeClr val="bg1"/>
                    </a:solidFill>
                  </a:rPr>
                  <a:t> motor DC real,</a:t>
                </a:r>
                <a:br>
                  <a:rPr lang="pt-BR">
                    <a:solidFill>
                      <a:schemeClr val="bg1"/>
                    </a:solidFill>
                  </a:rPr>
                </a:br>
                <a:r>
                  <a:rPr lang="pt-BR" err="1">
                    <a:solidFill>
                      <a:schemeClr val="bg1"/>
                    </a:solidFill>
                  </a:rPr>
                  <a:t>el</a:t>
                </a:r>
                <a:r>
                  <a:rPr lang="pt-BR">
                    <a:solidFill>
                      <a:schemeClr val="bg1"/>
                    </a:solidFill>
                  </a:rPr>
                  <a:t> circuito eléctrico no </a:t>
                </a:r>
                <a:r>
                  <a:rPr lang="pt-BR">
                    <a:solidFill>
                      <a:schemeClr val="accent4"/>
                    </a:solidFill>
                  </a:rPr>
                  <a:t>“</a:t>
                </a:r>
                <a:r>
                  <a:rPr lang="pt-BR" err="1">
                    <a:solidFill>
                      <a:schemeClr val="accent4"/>
                    </a:solidFill>
                  </a:rPr>
                  <a:t>siente</a:t>
                </a:r>
                <a:r>
                  <a:rPr lang="pt-BR">
                    <a:solidFill>
                      <a:schemeClr val="accent4"/>
                    </a:solidFill>
                  </a:rPr>
                  <a:t>” </a:t>
                </a:r>
                <a:r>
                  <a:rPr lang="pt-BR" err="1">
                    <a:solidFill>
                      <a:schemeClr val="bg1"/>
                    </a:solidFill>
                  </a:rPr>
                  <a:t>la</a:t>
                </a:r>
                <a:r>
                  <a:rPr lang="pt-BR">
                    <a:solidFill>
                      <a:schemeClr val="bg1"/>
                    </a:solidFill>
                  </a:rPr>
                  <a:t> </a:t>
                </a:r>
                <a:r>
                  <a:rPr lang="pt-BR" err="1">
                    <a:solidFill>
                      <a:schemeClr val="bg1"/>
                    </a:solidFill>
                  </a:rPr>
                  <a:t>velocidad</a:t>
                </a:r>
                <a:r>
                  <a:rPr lang="pt-BR">
                    <a:solidFill>
                      <a:schemeClr val="bg1"/>
                    </a:solidFill>
                  </a:rPr>
                  <a:t> porque no se </a:t>
                </a:r>
                <a:r>
                  <a:rPr lang="pt-BR" err="1">
                    <a:solidFill>
                      <a:schemeClr val="bg1"/>
                    </a:solidFill>
                  </a:rPr>
                  <a:t>induce</a:t>
                </a:r>
                <a:r>
                  <a:rPr lang="pt-BR">
                    <a:solidFill>
                      <a:schemeClr val="bg1"/>
                    </a:solidFill>
                  </a:rPr>
                  <a:t> FEM.</a:t>
                </a:r>
              </a:p>
              <a:p>
                <a:pPr>
                  <a:buNone/>
                </a:pPr>
                <a:br>
                  <a:rPr lang="pt-BR">
                    <a:solidFill>
                      <a:schemeClr val="bg1"/>
                    </a:solidFill>
                  </a:rPr>
                </a:br>
                <a:r>
                  <a:rPr lang="pt-BR" err="1">
                    <a:solidFill>
                      <a:schemeClr val="bg1"/>
                    </a:solidFill>
                  </a:rPr>
                  <a:t>Entonces</a:t>
                </a:r>
                <a:r>
                  <a:rPr lang="pt-BR">
                    <a:solidFill>
                      <a:schemeClr val="bg1"/>
                    </a:solidFill>
                  </a:rPr>
                  <a:t>, si solo </a:t>
                </a:r>
                <a:r>
                  <a:rPr lang="pt-BR" err="1">
                    <a:solidFill>
                      <a:schemeClr val="bg1"/>
                    </a:solidFill>
                  </a:rPr>
                  <a:t>mides</a:t>
                </a:r>
                <a:r>
                  <a:rPr lang="pt-BR">
                    <a:solidFill>
                      <a:schemeClr val="bg1"/>
                    </a:solidFill>
                  </a:rPr>
                  <a:t> </a:t>
                </a:r>
                <a:r>
                  <a:rPr lang="pt-BR" err="1">
                    <a:solidFill>
                      <a:schemeClr val="bg1"/>
                    </a:solidFill>
                  </a:rPr>
                  <a:t>la</a:t>
                </a:r>
                <a:r>
                  <a:rPr lang="pt-BR">
                    <a:solidFill>
                      <a:schemeClr val="bg1"/>
                    </a:solidFill>
                  </a:rPr>
                  <a:t> </a:t>
                </a:r>
                <a:r>
                  <a:rPr lang="pt-BR" b="1" err="1">
                    <a:solidFill>
                      <a:schemeClr val="accent4"/>
                    </a:solidFill>
                  </a:rPr>
                  <a:t>corriente</a:t>
                </a:r>
                <a:r>
                  <a:rPr lang="pt-BR">
                    <a:solidFill>
                      <a:schemeClr val="bg1"/>
                    </a:solidFill>
                  </a:rPr>
                  <a:t>, </a:t>
                </a:r>
                <a:r>
                  <a:rPr lang="pt-BR" err="1">
                    <a:solidFill>
                      <a:schemeClr val="bg1"/>
                    </a:solidFill>
                  </a:rPr>
                  <a:t>la</a:t>
                </a:r>
                <a:r>
                  <a:rPr lang="pt-BR">
                    <a:solidFill>
                      <a:schemeClr val="bg1"/>
                    </a:solidFill>
                  </a:rPr>
                  <a:t> parte </a:t>
                </a:r>
                <a:r>
                  <a:rPr lang="pt-BR" err="1">
                    <a:solidFill>
                      <a:schemeClr val="bg1"/>
                    </a:solidFill>
                  </a:rPr>
                  <a:t>mecánica</a:t>
                </a:r>
                <a:r>
                  <a:rPr lang="pt-BR">
                    <a:solidFill>
                      <a:schemeClr val="bg1"/>
                    </a:solidFill>
                  </a:rPr>
                  <a:t> queda oculta.</a:t>
                </a:r>
              </a:p>
              <a:p>
                <a:pPr>
                  <a:buNone/>
                </a:pPr>
                <a:br>
                  <a:rPr lang="pt-BR">
                    <a:solidFill>
                      <a:schemeClr val="bg1"/>
                    </a:solidFill>
                  </a:rPr>
                </a:br>
                <a:r>
                  <a:rPr lang="pt-BR">
                    <a:solidFill>
                      <a:schemeClr val="bg1"/>
                    </a:solidFill>
                  </a:rPr>
                  <a:t>Y si solo </a:t>
                </a:r>
                <a:r>
                  <a:rPr lang="pt-BR" err="1">
                    <a:solidFill>
                      <a:schemeClr val="bg1"/>
                    </a:solidFill>
                  </a:rPr>
                  <a:t>mides</a:t>
                </a:r>
                <a:r>
                  <a:rPr lang="pt-BR">
                    <a:solidFill>
                      <a:schemeClr val="bg1"/>
                    </a:solidFill>
                  </a:rPr>
                  <a:t> </a:t>
                </a:r>
                <a:r>
                  <a:rPr lang="pt-BR" err="1">
                    <a:solidFill>
                      <a:schemeClr val="bg1"/>
                    </a:solidFill>
                  </a:rPr>
                  <a:t>la</a:t>
                </a:r>
                <a:r>
                  <a:rPr lang="pt-BR">
                    <a:solidFill>
                      <a:schemeClr val="bg1"/>
                    </a:solidFill>
                  </a:rPr>
                  <a:t> </a:t>
                </a:r>
                <a:r>
                  <a:rPr lang="pt-BR" b="1" err="1">
                    <a:solidFill>
                      <a:schemeClr val="bg1"/>
                    </a:solidFill>
                  </a:rPr>
                  <a:t>velocidad</a:t>
                </a:r>
                <a:r>
                  <a:rPr lang="pt-BR">
                    <a:solidFill>
                      <a:schemeClr val="bg1"/>
                    </a:solidFill>
                  </a:rPr>
                  <a:t>, pero</a:t>
                </a:r>
              </a:p>
              <a:p>
                <a:pPr>
                  <a:buNone/>
                </a:pPr>
                <a:r>
                  <a:rPr lang="pt-BR">
                    <a:solidFill>
                      <a:schemeClr val="bg1"/>
                    </a:solidFill>
                  </a:rPr>
                  <a:t> </a:t>
                </a:r>
                <a14:m>
                  <m:oMath xmlns:m="http://schemas.openxmlformats.org/officeDocument/2006/math">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𝐾</m:t>
                        </m:r>
                      </m:e>
                      <m:sub>
                        <m:r>
                          <a:rPr lang="ar-AE" i="1">
                            <a:solidFill>
                              <a:schemeClr val="bg1"/>
                            </a:solidFill>
                            <a:latin typeface="Cambria Math" panose="02040503050406030204" pitchFamily="18" charset="0"/>
                          </a:rPr>
                          <m:t>𝑡</m:t>
                        </m:r>
                      </m:sub>
                    </m:sSub>
                    <m:r>
                      <a:rPr lang="ar-AE" i="0">
                        <a:solidFill>
                          <a:schemeClr val="bg1"/>
                        </a:solidFill>
                        <a:latin typeface="Cambria Math" panose="02040503050406030204" pitchFamily="18" charset="0"/>
                      </a:rPr>
                      <m:t>=</m:t>
                    </m:r>
                    <m:r>
                      <a:rPr lang="ar-AE" i="0">
                        <a:solidFill>
                          <a:schemeClr val="bg1"/>
                        </a:solidFill>
                        <a:latin typeface="Cambria Math" panose="02040503050406030204" pitchFamily="18" charset="0"/>
                      </a:rPr>
                      <m:t>0</m:t>
                    </m:r>
                  </m:oMath>
                </a14:m>
                <a:r>
                  <a:rPr lang="ar-AE">
                    <a:solidFill>
                      <a:schemeClr val="bg1"/>
                    </a:solidFill>
                  </a:rPr>
                  <a:t>, </a:t>
                </a:r>
                <a:r>
                  <a:rPr lang="pt-BR" err="1">
                    <a:solidFill>
                      <a:schemeClr val="bg1"/>
                    </a:solidFill>
                  </a:rPr>
                  <a:t>la</a:t>
                </a:r>
                <a:r>
                  <a:rPr lang="pt-BR">
                    <a:solidFill>
                      <a:schemeClr val="bg1"/>
                    </a:solidFill>
                  </a:rPr>
                  <a:t> </a:t>
                </a:r>
                <a:r>
                  <a:rPr lang="pt-BR" err="1">
                    <a:solidFill>
                      <a:schemeClr val="bg1"/>
                    </a:solidFill>
                  </a:rPr>
                  <a:t>tensión</a:t>
                </a:r>
                <a:r>
                  <a:rPr lang="pt-BR">
                    <a:solidFill>
                      <a:schemeClr val="bg1"/>
                    </a:solidFill>
                  </a:rPr>
                  <a:t> no cambia nada: </a:t>
                </a:r>
                <a:r>
                  <a:rPr lang="pt-BR" err="1">
                    <a:solidFill>
                      <a:schemeClr val="bg1"/>
                    </a:solidFill>
                  </a:rPr>
                  <a:t>el</a:t>
                </a:r>
                <a:r>
                  <a:rPr lang="pt-BR">
                    <a:solidFill>
                      <a:schemeClr val="bg1"/>
                    </a:solidFill>
                  </a:rPr>
                  <a:t> sistema parece </a:t>
                </a:r>
                <a:r>
                  <a:rPr lang="pt-BR">
                    <a:solidFill>
                      <a:schemeClr val="accent4"/>
                    </a:solidFill>
                  </a:rPr>
                  <a:t>“</a:t>
                </a:r>
                <a:r>
                  <a:rPr lang="pt-BR" err="1">
                    <a:solidFill>
                      <a:schemeClr val="accent4"/>
                    </a:solidFill>
                  </a:rPr>
                  <a:t>muerto</a:t>
                </a:r>
                <a:r>
                  <a:rPr lang="pt-BR">
                    <a:solidFill>
                      <a:schemeClr val="accent4"/>
                    </a:solidFill>
                  </a:rPr>
                  <a:t>”.</a:t>
                </a:r>
              </a:p>
            </p:txBody>
          </p:sp>
        </mc:Choice>
        <mc:Fallback>
          <p:sp>
            <p:nvSpPr>
              <p:cNvPr id="5" name="TextBox 4">
                <a:extLst>
                  <a:ext uri="{FF2B5EF4-FFF2-40B4-BE49-F238E27FC236}">
                    <a16:creationId xmlns:a16="http://schemas.microsoft.com/office/drawing/2014/main" id="{3E23B712-8778-99D4-3B59-06E5FA7BE42A}"/>
                  </a:ext>
                </a:extLst>
              </p:cNvPr>
              <p:cNvSpPr txBox="1">
                <a:spLocks noRot="1" noChangeAspect="1" noMove="1" noResize="1" noEditPoints="1" noAdjustHandles="1" noChangeArrowheads="1" noChangeShapeType="1" noTextEdit="1"/>
              </p:cNvSpPr>
              <p:nvPr/>
            </p:nvSpPr>
            <p:spPr>
              <a:xfrm>
                <a:off x="7435274" y="2272145"/>
                <a:ext cx="4294908" cy="3139321"/>
              </a:xfrm>
              <a:prstGeom prst="rect">
                <a:avLst/>
              </a:prstGeom>
              <a:blipFill>
                <a:blip r:embed="rId3"/>
                <a:stretch>
                  <a:fillRect l="-1133" t="-1161" r="-1700" b="-1934"/>
                </a:stretch>
              </a:blipFill>
              <a:ln>
                <a:solidFill>
                  <a:schemeClr val="accent1">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741658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rtlCol="0"/>
          <a:lstStyle/>
          <a:p>
            <a:pPr rtl="0"/>
            <a:r>
              <a:rPr lang="es-ES"/>
              <a:t>Control por Realimentación de Estados</a:t>
            </a:r>
          </a:p>
        </p:txBody>
      </p:sp>
      <p:sp>
        <p:nvSpPr>
          <p:cNvPr id="3" name="Subtítulo 2"/>
          <p:cNvSpPr>
            <a:spLocks noGrp="1"/>
          </p:cNvSpPr>
          <p:nvPr>
            <p:ph type="subTitle" idx="1"/>
          </p:nvPr>
        </p:nvSpPr>
        <p:spPr/>
        <p:txBody>
          <a:bodyPr rtlCol="0"/>
          <a:lstStyle/>
          <a:p>
            <a:pPr rtl="0"/>
            <a:r>
              <a:rPr lang="es-ES"/>
              <a:t>Sergio Andres Castaño Giraldo</a:t>
            </a:r>
          </a:p>
          <a:p>
            <a:r>
              <a:rPr lang="en-US">
                <a:hlinkClick r:id="rId3"/>
              </a:rPr>
              <a:t>https://controlautomaticoeducacion.com/</a:t>
            </a:r>
            <a:endParaRPr lang="es-ES"/>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p:txBody>
          <a:bodyPr rtlCol="0"/>
          <a:lstStyle/>
          <a:p>
            <a:r>
              <a:rPr lang="es-ES"/>
              <a:t>Qué es la Realimentación de Estados?</a:t>
            </a:r>
          </a:p>
        </p:txBody>
      </p:sp>
      <p:sp>
        <p:nvSpPr>
          <p:cNvPr id="14" name="Marcador de posición de contenido 13"/>
          <p:cNvSpPr>
            <a:spLocks noGrp="1"/>
          </p:cNvSpPr>
          <p:nvPr>
            <p:ph idx="1"/>
          </p:nvPr>
        </p:nvSpPr>
        <p:spPr>
          <a:xfrm>
            <a:off x="1524002" y="1905000"/>
            <a:ext cx="9144000" cy="1676398"/>
          </a:xfrm>
        </p:spPr>
        <p:txBody>
          <a:bodyPr rtlCol="0"/>
          <a:lstStyle/>
          <a:p>
            <a:r>
              <a:rPr lang="es-ES"/>
              <a:t>En este punto, primero será importante el poder entender cuál es el efecto que causa realizar una realimentación de estados en nuestro sistema y como esta irá a afectar los polos de este.</a:t>
            </a:r>
          </a:p>
        </p:txBody>
      </p:sp>
      <p:sp>
        <p:nvSpPr>
          <p:cNvPr id="2" name="Rectángulo 1">
            <a:extLst>
              <a:ext uri="{FF2B5EF4-FFF2-40B4-BE49-F238E27FC236}">
                <a16:creationId xmlns:a16="http://schemas.microsoft.com/office/drawing/2014/main" id="{EC69DE86-85AB-4A6C-A87E-E30A6BD152ED}"/>
              </a:ext>
            </a:extLst>
          </p:cNvPr>
          <p:cNvSpPr/>
          <p:nvPr/>
        </p:nvSpPr>
        <p:spPr>
          <a:xfrm>
            <a:off x="3657600" y="3962400"/>
            <a:ext cx="2057400" cy="12192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2800">
                <a:solidFill>
                  <a:prstClr val="white"/>
                </a:solidFill>
                <a:latin typeface="Corbel"/>
              </a:rPr>
              <a:t>SISTEMA</a:t>
            </a:r>
          </a:p>
        </p:txBody>
      </p:sp>
      <p:cxnSp>
        <p:nvCxnSpPr>
          <p:cNvPr id="4" name="Conector recto de flecha 3">
            <a:extLst>
              <a:ext uri="{FF2B5EF4-FFF2-40B4-BE49-F238E27FC236}">
                <a16:creationId xmlns:a16="http://schemas.microsoft.com/office/drawing/2014/main" id="{48569061-CECE-4B44-9058-6E8A8C4AEA2E}"/>
              </a:ext>
            </a:extLst>
          </p:cNvPr>
          <p:cNvCxnSpPr>
            <a:cxnSpLocks/>
            <a:endCxn id="2" idx="1"/>
          </p:cNvCxnSpPr>
          <p:nvPr/>
        </p:nvCxnSpPr>
        <p:spPr>
          <a:xfrm>
            <a:off x="2133600" y="4572000"/>
            <a:ext cx="1524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DE049D0C-4EA1-4BCF-862F-9A40DBC8BDA5}"/>
                  </a:ext>
                </a:extLst>
              </p:cNvPr>
              <p:cNvSpPr/>
              <p:nvPr/>
            </p:nvSpPr>
            <p:spPr>
              <a:xfrm>
                <a:off x="6705598" y="3962400"/>
                <a:ext cx="1447802" cy="12192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8" name="Rectángulo 7">
                <a:extLst>
                  <a:ext uri="{FF2B5EF4-FFF2-40B4-BE49-F238E27FC236}">
                    <a16:creationId xmlns:a16="http://schemas.microsoft.com/office/drawing/2014/main" id="{DE049D0C-4EA1-4BCF-862F-9A40DBC8BDA5}"/>
                  </a:ext>
                </a:extLst>
              </p:cNvPr>
              <p:cNvSpPr>
                <a:spLocks noRot="1" noChangeAspect="1" noMove="1" noResize="1" noEditPoints="1" noAdjustHandles="1" noChangeArrowheads="1" noChangeShapeType="1" noTextEdit="1"/>
              </p:cNvSpPr>
              <p:nvPr/>
            </p:nvSpPr>
            <p:spPr>
              <a:xfrm>
                <a:off x="6705598" y="3962400"/>
                <a:ext cx="1447802" cy="1219200"/>
              </a:xfrm>
              <a:prstGeom prst="rect">
                <a:avLst/>
              </a:prstGeom>
              <a:blipFill>
                <a:blip r:embed="rId3"/>
                <a:stretch>
                  <a:fillRect/>
                </a:stretch>
              </a:blipFill>
              <a:ln w="57150">
                <a:solidFill>
                  <a:schemeClr val="tx1"/>
                </a:solidFill>
                <a:miter lim="800000"/>
              </a:ln>
            </p:spPr>
            <p:txBody>
              <a:bodyPr/>
              <a:lstStyle/>
              <a:p>
                <a:r>
                  <a:rPr lang="en-US">
                    <a:noFill/>
                  </a:rPr>
                  <a:t> </a:t>
                </a:r>
              </a:p>
            </p:txBody>
          </p:sp>
        </mc:Fallback>
      </mc:AlternateContent>
      <p:cxnSp>
        <p:nvCxnSpPr>
          <p:cNvPr id="9" name="Conector recto de flecha 8">
            <a:extLst>
              <a:ext uri="{FF2B5EF4-FFF2-40B4-BE49-F238E27FC236}">
                <a16:creationId xmlns:a16="http://schemas.microsoft.com/office/drawing/2014/main" id="{06EE5D0E-C57C-4CEA-B875-075CFCA64191}"/>
              </a:ext>
            </a:extLst>
          </p:cNvPr>
          <p:cNvCxnSpPr>
            <a:cxnSpLocks/>
            <a:stCxn id="8" idx="3"/>
          </p:cNvCxnSpPr>
          <p:nvPr/>
        </p:nvCxnSpPr>
        <p:spPr>
          <a:xfrm>
            <a:off x="8153401" y="4572000"/>
            <a:ext cx="1600199"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C48D7799-CCE2-4CBE-8A99-94B735CABB3E}"/>
              </a:ext>
            </a:extLst>
          </p:cNvPr>
          <p:cNvCxnSpPr>
            <a:cxnSpLocks/>
            <a:stCxn id="2" idx="3"/>
            <a:endCxn id="8" idx="1"/>
          </p:cNvCxnSpPr>
          <p:nvPr/>
        </p:nvCxnSpPr>
        <p:spPr>
          <a:xfrm>
            <a:off x="5715000" y="4572000"/>
            <a:ext cx="990598"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p:txBody>
          <a:bodyPr rtlCol="0"/>
          <a:lstStyle/>
          <a:p>
            <a:r>
              <a:rPr lang="es-ES"/>
              <a:t>Qué es la Realimentación de Estados?</a:t>
            </a:r>
          </a:p>
        </p:txBody>
      </p:sp>
      <p:sp>
        <p:nvSpPr>
          <p:cNvPr id="22" name="Marcador de contenido 21">
            <a:extLst>
              <a:ext uri="{FF2B5EF4-FFF2-40B4-BE49-F238E27FC236}">
                <a16:creationId xmlns:a16="http://schemas.microsoft.com/office/drawing/2014/main" id="{3DA9FC6B-5ABD-469F-99C8-B862584F97D7}"/>
              </a:ext>
            </a:extLst>
          </p:cNvPr>
          <p:cNvSpPr>
            <a:spLocks noGrp="1"/>
          </p:cNvSpPr>
          <p:nvPr>
            <p:ph idx="1"/>
          </p:nvPr>
        </p:nvSpPr>
        <p:spPr>
          <a:xfrm>
            <a:off x="1524002" y="3429000"/>
            <a:ext cx="9144000" cy="2743200"/>
          </a:xfrm>
        </p:spPr>
        <p:txBody>
          <a:bodyPr/>
          <a:lstStyle/>
          <a:p>
            <a:r>
              <a:rPr lang="es-419"/>
              <a:t>La estabilidad y el comportamiento dinámico del sistema depende de los polos de G(s)</a:t>
            </a:r>
          </a:p>
        </p:txBody>
      </p:sp>
      <mc:AlternateContent xmlns:mc="http://schemas.openxmlformats.org/markup-compatibility/2006">
        <mc:Choice xmlns:a14="http://schemas.microsoft.com/office/drawing/2010/main" Requires="a14">
          <p:sp>
            <p:nvSpPr>
              <p:cNvPr id="2" name="Rectángulo 1">
                <a:extLst>
                  <a:ext uri="{FF2B5EF4-FFF2-40B4-BE49-F238E27FC236}">
                    <a16:creationId xmlns:a16="http://schemas.microsoft.com/office/drawing/2014/main" id="{EC69DE86-85AB-4A6C-A87E-E30A6BD152ED}"/>
                  </a:ext>
                </a:extLst>
              </p:cNvPr>
              <p:cNvSpPr/>
              <p:nvPr/>
            </p:nvSpPr>
            <p:spPr>
              <a:xfrm>
                <a:off x="3867329" y="2080419"/>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a:solidFill>
                            <a:prstClr val="white"/>
                          </a:solidFill>
                          <a:latin typeface="Cambria Math" panose="02040503050406030204" pitchFamily="18" charset="0"/>
                        </a:rPr>
                        <m:t>𝐺</m:t>
                      </m:r>
                      <m:r>
                        <a:rPr lang="en-US" sz="2800" i="1" dirty="0">
                          <a:solidFill>
                            <a:prstClr val="white"/>
                          </a:solidFill>
                          <a:latin typeface="Cambria Math" panose="02040503050406030204" pitchFamily="18" charset="0"/>
                        </a:rPr>
                        <m:t>(</m:t>
                      </m:r>
                      <m:r>
                        <a:rPr lang="en-US" sz="2800" i="1" dirty="0">
                          <a:solidFill>
                            <a:prstClr val="white"/>
                          </a:solidFill>
                          <a:latin typeface="Cambria Math" panose="02040503050406030204" pitchFamily="18" charset="0"/>
                        </a:rPr>
                        <m:t>𝑠</m:t>
                      </m:r>
                      <m:r>
                        <a:rPr lang="en-US" sz="2800" i="1" dirty="0">
                          <a:solidFill>
                            <a:prstClr val="white"/>
                          </a:solidFill>
                          <a:latin typeface="Cambria Math" panose="02040503050406030204" pitchFamily="18" charset="0"/>
                        </a:rPr>
                        <m:t>)</m:t>
                      </m:r>
                    </m:oMath>
                  </m:oMathPara>
                </a14:m>
                <a:endParaRPr lang="es-419" sz="2800">
                  <a:solidFill>
                    <a:prstClr val="white"/>
                  </a:solidFill>
                  <a:latin typeface="Corbel"/>
                </a:endParaRPr>
              </a:p>
            </p:txBody>
          </p:sp>
        </mc:Choice>
        <mc:Fallback>
          <p:sp>
            <p:nvSpPr>
              <p:cNvPr id="2" name="Rectángulo 1">
                <a:extLst>
                  <a:ext uri="{FF2B5EF4-FFF2-40B4-BE49-F238E27FC236}">
                    <a16:creationId xmlns:a16="http://schemas.microsoft.com/office/drawing/2014/main" id="{EC69DE86-85AB-4A6C-A87E-E30A6BD152ED}"/>
                  </a:ext>
                </a:extLst>
              </p:cNvPr>
              <p:cNvSpPr>
                <a:spLocks noRot="1" noChangeAspect="1" noMove="1" noResize="1" noEditPoints="1" noAdjustHandles="1" noChangeArrowheads="1" noChangeShapeType="1" noTextEdit="1"/>
              </p:cNvSpPr>
              <p:nvPr/>
            </p:nvSpPr>
            <p:spPr>
              <a:xfrm>
                <a:off x="3867329" y="2080419"/>
                <a:ext cx="1722536" cy="1020762"/>
              </a:xfrm>
              <a:prstGeom prst="rect">
                <a:avLst/>
              </a:prstGeom>
              <a:blipFill>
                <a:blip r:embed="rId3"/>
                <a:stretch>
                  <a:fillRect/>
                </a:stretch>
              </a:blipFill>
              <a:ln w="57150">
                <a:solidFill>
                  <a:schemeClr val="tx1"/>
                </a:solidFill>
                <a:miter lim="800000"/>
              </a:ln>
            </p:spPr>
            <p:txBody>
              <a:bodyPr/>
              <a:lstStyle/>
              <a:p>
                <a:r>
                  <a:rPr lang="en-US">
                    <a:noFill/>
                  </a:rPr>
                  <a:t> </a:t>
                </a:r>
              </a:p>
            </p:txBody>
          </p:sp>
        </mc:Fallback>
      </mc:AlternateContent>
      <p:cxnSp>
        <p:nvCxnSpPr>
          <p:cNvPr id="4" name="Conector recto de flecha 3">
            <a:extLst>
              <a:ext uri="{FF2B5EF4-FFF2-40B4-BE49-F238E27FC236}">
                <a16:creationId xmlns:a16="http://schemas.microsoft.com/office/drawing/2014/main" id="{48569061-CECE-4B44-9058-6E8A8C4AEA2E}"/>
              </a:ext>
            </a:extLst>
          </p:cNvPr>
          <p:cNvCxnSpPr>
            <a:cxnSpLocks/>
            <a:endCxn id="2" idx="1"/>
          </p:cNvCxnSpPr>
          <p:nvPr/>
        </p:nvCxnSpPr>
        <p:spPr>
          <a:xfrm>
            <a:off x="2743201" y="2590800"/>
            <a:ext cx="1124129"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DE049D0C-4EA1-4BCF-862F-9A40DBC8BDA5}"/>
                  </a:ext>
                </a:extLst>
              </p:cNvPr>
              <p:cNvSpPr/>
              <p:nvPr/>
            </p:nvSpPr>
            <p:spPr>
              <a:xfrm>
                <a:off x="6267450" y="2209800"/>
                <a:ext cx="904876" cy="7620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8" name="Rectángulo 7">
                <a:extLst>
                  <a:ext uri="{FF2B5EF4-FFF2-40B4-BE49-F238E27FC236}">
                    <a16:creationId xmlns:a16="http://schemas.microsoft.com/office/drawing/2014/main" id="{DE049D0C-4EA1-4BCF-862F-9A40DBC8BDA5}"/>
                  </a:ext>
                </a:extLst>
              </p:cNvPr>
              <p:cNvSpPr>
                <a:spLocks noRot="1" noChangeAspect="1" noMove="1" noResize="1" noEditPoints="1" noAdjustHandles="1" noChangeArrowheads="1" noChangeShapeType="1" noTextEdit="1"/>
              </p:cNvSpPr>
              <p:nvPr/>
            </p:nvSpPr>
            <p:spPr>
              <a:xfrm>
                <a:off x="6267450" y="2209800"/>
                <a:ext cx="904876" cy="762000"/>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p:cxnSp>
        <p:nvCxnSpPr>
          <p:cNvPr id="9" name="Conector recto de flecha 8">
            <a:extLst>
              <a:ext uri="{FF2B5EF4-FFF2-40B4-BE49-F238E27FC236}">
                <a16:creationId xmlns:a16="http://schemas.microsoft.com/office/drawing/2014/main" id="{06EE5D0E-C57C-4CEA-B875-075CFCA64191}"/>
              </a:ext>
            </a:extLst>
          </p:cNvPr>
          <p:cNvCxnSpPr>
            <a:cxnSpLocks/>
            <a:stCxn id="8" idx="3"/>
          </p:cNvCxnSpPr>
          <p:nvPr/>
        </p:nvCxnSpPr>
        <p:spPr>
          <a:xfrm>
            <a:off x="7172326" y="2590800"/>
            <a:ext cx="1209674"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C48D7799-CCE2-4CBE-8A99-94B735CABB3E}"/>
              </a:ext>
            </a:extLst>
          </p:cNvPr>
          <p:cNvCxnSpPr>
            <a:cxnSpLocks/>
            <a:stCxn id="2" idx="3"/>
            <a:endCxn id="8" idx="1"/>
          </p:cNvCxnSpPr>
          <p:nvPr/>
        </p:nvCxnSpPr>
        <p:spPr>
          <a:xfrm>
            <a:off x="5589866" y="2590800"/>
            <a:ext cx="677585"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805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esquinas redondeadas 40">
            <a:extLst>
              <a:ext uri="{FF2B5EF4-FFF2-40B4-BE49-F238E27FC236}">
                <a16:creationId xmlns:a16="http://schemas.microsoft.com/office/drawing/2014/main" id="{AEC5ED0D-5042-4BA1-BBEB-EBE755015B53}"/>
              </a:ext>
            </a:extLst>
          </p:cNvPr>
          <p:cNvSpPr/>
          <p:nvPr/>
        </p:nvSpPr>
        <p:spPr>
          <a:xfrm>
            <a:off x="7315200" y="1716717"/>
            <a:ext cx="3048000" cy="1178883"/>
          </a:xfrm>
          <a:prstGeom prst="roundRect">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3" name="Título 12"/>
          <p:cNvSpPr>
            <a:spLocks noGrp="1"/>
          </p:cNvSpPr>
          <p:nvPr>
            <p:ph type="title"/>
          </p:nvPr>
        </p:nvSpPr>
        <p:spPr/>
        <p:txBody>
          <a:bodyPr rtlCol="0"/>
          <a:lstStyle/>
          <a:p>
            <a:r>
              <a:rPr lang="es-ES"/>
              <a:t>Qué es la Realimentación de Estados?</a:t>
            </a:r>
          </a:p>
        </p:txBody>
      </p:sp>
      <mc:AlternateContent xmlns:mc="http://schemas.openxmlformats.org/markup-compatibility/2006">
        <mc:Choice xmlns:a14="http://schemas.microsoft.com/office/drawing/2010/main" Requires="a14">
          <p:sp>
            <p:nvSpPr>
              <p:cNvPr id="2" name="Rectángulo 1">
                <a:extLst>
                  <a:ext uri="{FF2B5EF4-FFF2-40B4-BE49-F238E27FC236}">
                    <a16:creationId xmlns:a16="http://schemas.microsoft.com/office/drawing/2014/main" id="{EC69DE86-85AB-4A6C-A87E-E30A6BD152ED}"/>
                  </a:ext>
                </a:extLst>
              </p:cNvPr>
              <p:cNvSpPr/>
              <p:nvPr/>
            </p:nvSpPr>
            <p:spPr>
              <a:xfrm>
                <a:off x="2667000" y="1966119"/>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a:solidFill>
                            <a:prstClr val="white"/>
                          </a:solidFill>
                          <a:latin typeface="Cambria Math" panose="02040503050406030204" pitchFamily="18" charset="0"/>
                        </a:rPr>
                        <m:t>𝐺</m:t>
                      </m:r>
                      <m:r>
                        <a:rPr lang="en-US" sz="2800" i="1" dirty="0">
                          <a:solidFill>
                            <a:prstClr val="white"/>
                          </a:solidFill>
                          <a:latin typeface="Cambria Math" panose="02040503050406030204" pitchFamily="18" charset="0"/>
                        </a:rPr>
                        <m:t>(</m:t>
                      </m:r>
                      <m:r>
                        <a:rPr lang="en-US" sz="2800" i="1" dirty="0">
                          <a:solidFill>
                            <a:prstClr val="white"/>
                          </a:solidFill>
                          <a:latin typeface="Cambria Math" panose="02040503050406030204" pitchFamily="18" charset="0"/>
                        </a:rPr>
                        <m:t>𝑠</m:t>
                      </m:r>
                      <m:r>
                        <a:rPr lang="en-US" sz="2800" i="1" dirty="0">
                          <a:solidFill>
                            <a:prstClr val="white"/>
                          </a:solidFill>
                          <a:latin typeface="Cambria Math" panose="02040503050406030204" pitchFamily="18" charset="0"/>
                        </a:rPr>
                        <m:t>)</m:t>
                      </m:r>
                    </m:oMath>
                  </m:oMathPara>
                </a14:m>
                <a:endParaRPr lang="es-419" sz="2800">
                  <a:solidFill>
                    <a:prstClr val="white"/>
                  </a:solidFill>
                  <a:latin typeface="Corbel"/>
                </a:endParaRPr>
              </a:p>
            </p:txBody>
          </p:sp>
        </mc:Choice>
        <mc:Fallback>
          <p:sp>
            <p:nvSpPr>
              <p:cNvPr id="2" name="Rectángulo 1">
                <a:extLst>
                  <a:ext uri="{FF2B5EF4-FFF2-40B4-BE49-F238E27FC236}">
                    <a16:creationId xmlns:a16="http://schemas.microsoft.com/office/drawing/2014/main" id="{EC69DE86-85AB-4A6C-A87E-E30A6BD152ED}"/>
                  </a:ext>
                </a:extLst>
              </p:cNvPr>
              <p:cNvSpPr>
                <a:spLocks noRot="1" noChangeAspect="1" noMove="1" noResize="1" noEditPoints="1" noAdjustHandles="1" noChangeArrowheads="1" noChangeShapeType="1" noTextEdit="1"/>
              </p:cNvSpPr>
              <p:nvPr/>
            </p:nvSpPr>
            <p:spPr>
              <a:xfrm>
                <a:off x="2667000" y="1966119"/>
                <a:ext cx="1722536" cy="1020762"/>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cxnSp>
        <p:nvCxnSpPr>
          <p:cNvPr id="4" name="Conector recto de flecha 3">
            <a:extLst>
              <a:ext uri="{FF2B5EF4-FFF2-40B4-BE49-F238E27FC236}">
                <a16:creationId xmlns:a16="http://schemas.microsoft.com/office/drawing/2014/main" id="{48569061-CECE-4B44-9058-6E8A8C4AEA2E}"/>
              </a:ext>
            </a:extLst>
          </p:cNvPr>
          <p:cNvCxnSpPr>
            <a:cxnSpLocks/>
            <a:stCxn id="6" idx="6"/>
            <a:endCxn id="2" idx="1"/>
          </p:cNvCxnSpPr>
          <p:nvPr/>
        </p:nvCxnSpPr>
        <p:spPr>
          <a:xfrm>
            <a:off x="1981200" y="2476500"/>
            <a:ext cx="6858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DE049D0C-4EA1-4BCF-862F-9A40DBC8BDA5}"/>
                  </a:ext>
                </a:extLst>
              </p:cNvPr>
              <p:cNvSpPr/>
              <p:nvPr/>
            </p:nvSpPr>
            <p:spPr>
              <a:xfrm>
                <a:off x="2971800" y="3429000"/>
                <a:ext cx="904876" cy="7620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8" name="Rectángulo 7">
                <a:extLst>
                  <a:ext uri="{FF2B5EF4-FFF2-40B4-BE49-F238E27FC236}">
                    <a16:creationId xmlns:a16="http://schemas.microsoft.com/office/drawing/2014/main" id="{DE049D0C-4EA1-4BCF-862F-9A40DBC8BDA5}"/>
                  </a:ext>
                </a:extLst>
              </p:cNvPr>
              <p:cNvSpPr>
                <a:spLocks noRot="1" noChangeAspect="1" noMove="1" noResize="1" noEditPoints="1" noAdjustHandles="1" noChangeArrowheads="1" noChangeShapeType="1" noTextEdit="1"/>
              </p:cNvSpPr>
              <p:nvPr/>
            </p:nvSpPr>
            <p:spPr>
              <a:xfrm>
                <a:off x="2971800" y="3429000"/>
                <a:ext cx="904876" cy="762000"/>
              </a:xfrm>
              <a:prstGeom prst="rect">
                <a:avLst/>
              </a:prstGeom>
              <a:blipFill>
                <a:blip r:embed="rId8"/>
                <a:stretch>
                  <a:fillRect/>
                </a:stretch>
              </a:blipFill>
              <a:ln w="57150">
                <a:solidFill>
                  <a:schemeClr val="tx1"/>
                </a:solidFill>
                <a:miter lim="800000"/>
              </a:ln>
            </p:spPr>
            <p:txBody>
              <a:bodyPr/>
              <a:lstStyle/>
              <a:p>
                <a:r>
                  <a:rPr lang="en-US">
                    <a:noFill/>
                  </a:rPr>
                  <a:t> </a:t>
                </a:r>
              </a:p>
            </p:txBody>
          </p:sp>
        </mc:Fallback>
      </mc:AlternateContent>
      <p:cxnSp>
        <p:nvCxnSpPr>
          <p:cNvPr id="9" name="Conector recto de flecha 8">
            <a:extLst>
              <a:ext uri="{FF2B5EF4-FFF2-40B4-BE49-F238E27FC236}">
                <a16:creationId xmlns:a16="http://schemas.microsoft.com/office/drawing/2014/main" id="{06EE5D0E-C57C-4CEA-B875-075CFCA64191}"/>
              </a:ext>
            </a:extLst>
          </p:cNvPr>
          <p:cNvCxnSpPr>
            <a:cxnSpLocks/>
            <a:endCxn id="6" idx="2"/>
          </p:cNvCxnSpPr>
          <p:nvPr/>
        </p:nvCxnSpPr>
        <p:spPr>
          <a:xfrm>
            <a:off x="685800" y="2476500"/>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C48D7799-CCE2-4CBE-8A99-94B735CABB3E}"/>
              </a:ext>
            </a:extLst>
          </p:cNvPr>
          <p:cNvCxnSpPr>
            <a:cxnSpLocks/>
            <a:stCxn id="2" idx="3"/>
          </p:cNvCxnSpPr>
          <p:nvPr/>
        </p:nvCxnSpPr>
        <p:spPr>
          <a:xfrm>
            <a:off x="4389536" y="2476500"/>
            <a:ext cx="1325464"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505F9F73-5F5E-417B-84F1-8805FBD85AB8}"/>
              </a:ext>
            </a:extLst>
          </p:cNvPr>
          <p:cNvSpPr/>
          <p:nvPr/>
        </p:nvSpPr>
        <p:spPr>
          <a:xfrm>
            <a:off x="1447800" y="2209800"/>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19" name="Conector: angular 18">
            <a:extLst>
              <a:ext uri="{FF2B5EF4-FFF2-40B4-BE49-F238E27FC236}">
                <a16:creationId xmlns:a16="http://schemas.microsoft.com/office/drawing/2014/main" id="{A8FCC16E-B6D4-4151-98F8-DB55C9698746}"/>
              </a:ext>
            </a:extLst>
          </p:cNvPr>
          <p:cNvCxnSpPr>
            <a:endCxn id="8" idx="3"/>
          </p:cNvCxnSpPr>
          <p:nvPr/>
        </p:nvCxnSpPr>
        <p:spPr>
          <a:xfrm rot="5400000">
            <a:off x="3797722" y="2555454"/>
            <a:ext cx="1333500" cy="1175592"/>
          </a:xfrm>
          <a:prstGeom prst="bentConnector2">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D86D9783-4796-4FF9-A6C8-778966A270BF}"/>
              </a:ext>
            </a:extLst>
          </p:cNvPr>
          <p:cNvCxnSpPr>
            <a:cxnSpLocks/>
            <a:stCxn id="8" idx="1"/>
            <a:endCxn id="6" idx="4"/>
          </p:cNvCxnSpPr>
          <p:nvPr/>
        </p:nvCxnSpPr>
        <p:spPr>
          <a:xfrm rot="10800000">
            <a:off x="1714500" y="2743200"/>
            <a:ext cx="1257300" cy="1066800"/>
          </a:xfrm>
          <a:prstGeom prst="bentConnector2">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795B0F23-511B-4D55-91A1-592BCEDDB94A}"/>
                  </a:ext>
                </a:extLst>
              </p:cNvPr>
              <p:cNvSpPr txBox="1"/>
              <p:nvPr/>
            </p:nvSpPr>
            <p:spPr>
              <a:xfrm>
                <a:off x="1447801" y="2310301"/>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4" name="CuadroTexto 23">
                <a:extLst>
                  <a:ext uri="{FF2B5EF4-FFF2-40B4-BE49-F238E27FC236}">
                    <a16:creationId xmlns:a16="http://schemas.microsoft.com/office/drawing/2014/main" id="{795B0F23-511B-4D55-91A1-592BCEDDB94A}"/>
                  </a:ext>
                </a:extLst>
              </p:cNvPr>
              <p:cNvSpPr txBox="1">
                <a:spLocks noRot="1" noChangeAspect="1" noMove="1" noResize="1" noEditPoints="1" noAdjustHandles="1" noChangeArrowheads="1" noChangeShapeType="1" noTextEdit="1"/>
              </p:cNvSpPr>
              <p:nvPr/>
            </p:nvSpPr>
            <p:spPr>
              <a:xfrm>
                <a:off x="1447801" y="2310301"/>
                <a:ext cx="290143" cy="332399"/>
              </a:xfrm>
              <a:prstGeom prst="rect">
                <a:avLst/>
              </a:prstGeom>
              <a:blipFill>
                <a:blip r:embed="rId9"/>
                <a:stretch>
                  <a:fillRect l="-23404" r="-21277"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5EA761F3-F2E2-4779-803B-B8A8EFF567D2}"/>
                  </a:ext>
                </a:extLst>
              </p:cNvPr>
              <p:cNvSpPr txBox="1"/>
              <p:nvPr/>
            </p:nvSpPr>
            <p:spPr>
              <a:xfrm>
                <a:off x="1579700" y="2461052"/>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5" name="CuadroTexto 24">
                <a:extLst>
                  <a:ext uri="{FF2B5EF4-FFF2-40B4-BE49-F238E27FC236}">
                    <a16:creationId xmlns:a16="http://schemas.microsoft.com/office/drawing/2014/main" id="{5EA761F3-F2E2-4779-803B-B8A8EFF567D2}"/>
                  </a:ext>
                </a:extLst>
              </p:cNvPr>
              <p:cNvSpPr txBox="1">
                <a:spLocks noRot="1" noChangeAspect="1" noMove="1" noResize="1" noEditPoints="1" noAdjustHandles="1" noChangeArrowheads="1" noChangeShapeType="1" noTextEdit="1"/>
              </p:cNvSpPr>
              <p:nvPr/>
            </p:nvSpPr>
            <p:spPr>
              <a:xfrm>
                <a:off x="1579700" y="2461052"/>
                <a:ext cx="290143" cy="332399"/>
              </a:xfrm>
              <a:prstGeom prst="rect">
                <a:avLst/>
              </a:prstGeom>
              <a:blipFill>
                <a:blip r:embed="rId10"/>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2AFCCC9A-2329-4712-9264-70102FD4B14B}"/>
                  </a:ext>
                </a:extLst>
              </p:cNvPr>
              <p:cNvSpPr txBox="1"/>
              <p:nvPr/>
            </p:nvSpPr>
            <p:spPr>
              <a:xfrm>
                <a:off x="605213" y="1977902"/>
                <a:ext cx="599331"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6" name="CuadroTexto 25">
                <a:extLst>
                  <a:ext uri="{FF2B5EF4-FFF2-40B4-BE49-F238E27FC236}">
                    <a16:creationId xmlns:a16="http://schemas.microsoft.com/office/drawing/2014/main" id="{2AFCCC9A-2329-4712-9264-70102FD4B14B}"/>
                  </a:ext>
                </a:extLst>
              </p:cNvPr>
              <p:cNvSpPr txBox="1">
                <a:spLocks noRot="1" noChangeAspect="1" noMove="1" noResize="1" noEditPoints="1" noAdjustHandles="1" noChangeArrowheads="1" noChangeShapeType="1" noTextEdit="1"/>
              </p:cNvSpPr>
              <p:nvPr/>
            </p:nvSpPr>
            <p:spPr>
              <a:xfrm>
                <a:off x="605213" y="1977902"/>
                <a:ext cx="599331" cy="332399"/>
              </a:xfrm>
              <a:prstGeom prst="rect">
                <a:avLst/>
              </a:prstGeom>
              <a:blipFill>
                <a:blip r:embed="rId11"/>
                <a:stretch>
                  <a:fillRect l="-7071" t="-10909" r="-18182"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522B23E0-185C-4E70-844A-C2C9271BAC23}"/>
                  </a:ext>
                </a:extLst>
              </p:cNvPr>
              <p:cNvSpPr txBox="1"/>
              <p:nvPr/>
            </p:nvSpPr>
            <p:spPr>
              <a:xfrm>
                <a:off x="4814637" y="2043601"/>
                <a:ext cx="623504"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7" name="CuadroTexto 26">
                <a:extLst>
                  <a:ext uri="{FF2B5EF4-FFF2-40B4-BE49-F238E27FC236}">
                    <a16:creationId xmlns:a16="http://schemas.microsoft.com/office/drawing/2014/main" id="{522B23E0-185C-4E70-844A-C2C9271BAC23}"/>
                  </a:ext>
                </a:extLst>
              </p:cNvPr>
              <p:cNvSpPr txBox="1">
                <a:spLocks noRot="1" noChangeAspect="1" noMove="1" noResize="1" noEditPoints="1" noAdjustHandles="1" noChangeArrowheads="1" noChangeShapeType="1" noTextEdit="1"/>
              </p:cNvSpPr>
              <p:nvPr/>
            </p:nvSpPr>
            <p:spPr>
              <a:xfrm>
                <a:off x="4814637" y="2043601"/>
                <a:ext cx="623504" cy="332399"/>
              </a:xfrm>
              <a:prstGeom prst="rect">
                <a:avLst/>
              </a:prstGeom>
              <a:blipFill>
                <a:blip r:embed="rId12"/>
                <a:stretch>
                  <a:fillRect l="-12745" t="-10909" r="-17647" b="-38182"/>
                </a:stretch>
              </a:blipFill>
            </p:spPr>
            <p:txBody>
              <a:bodyPr/>
              <a:lstStyle/>
              <a:p>
                <a:r>
                  <a:rPr lang="en-US">
                    <a:noFill/>
                  </a:rPr>
                  <a:t> </a:t>
                </a:r>
              </a:p>
            </p:txBody>
          </p:sp>
        </mc:Fallback>
      </mc:AlternateContent>
      <p:pic>
        <p:nvPicPr>
          <p:cNvPr id="31" name="Imagen 30">
            <a:extLst>
              <a:ext uri="{FF2B5EF4-FFF2-40B4-BE49-F238E27FC236}">
                <a16:creationId xmlns:a16="http://schemas.microsoft.com/office/drawing/2014/main" id="{DC0DA9B8-1A80-4539-97E6-6814AAE4D36E}"/>
              </a:ext>
            </a:extLst>
          </p:cNvPr>
          <p:cNvPicPr>
            <a:picLocks noChangeAspect="1"/>
          </p:cNvPicPr>
          <p:nvPr>
            <p:custDataLst>
              <p:tags r:id="rId1"/>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7467601" y="1936015"/>
            <a:ext cx="2506667" cy="748571"/>
          </a:xfrm>
          <a:prstGeom prst="rect">
            <a:avLst/>
          </a:prstGeom>
        </p:spPr>
      </p:pic>
      <p:sp>
        <p:nvSpPr>
          <p:cNvPr id="32" name="Rectángulo: esquinas redondeadas 31">
            <a:extLst>
              <a:ext uri="{FF2B5EF4-FFF2-40B4-BE49-F238E27FC236}">
                <a16:creationId xmlns:a16="http://schemas.microsoft.com/office/drawing/2014/main" id="{BDCD222A-62A9-4932-A277-227D7CD0B271}"/>
              </a:ext>
            </a:extLst>
          </p:cNvPr>
          <p:cNvSpPr/>
          <p:nvPr/>
        </p:nvSpPr>
        <p:spPr>
          <a:xfrm>
            <a:off x="9067800" y="2320046"/>
            <a:ext cx="304800" cy="483150"/>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34" name="Conector recto de flecha 33">
            <a:extLst>
              <a:ext uri="{FF2B5EF4-FFF2-40B4-BE49-F238E27FC236}">
                <a16:creationId xmlns:a16="http://schemas.microsoft.com/office/drawing/2014/main" id="{6299002F-145A-4CC5-91BE-ACCF0E6C3B4E}"/>
              </a:ext>
            </a:extLst>
          </p:cNvPr>
          <p:cNvCxnSpPr/>
          <p:nvPr/>
        </p:nvCxnSpPr>
        <p:spPr>
          <a:xfrm flipH="1" flipV="1">
            <a:off x="9372600" y="2803197"/>
            <a:ext cx="457200" cy="265421"/>
          </a:xfrm>
          <a:prstGeom prst="straightConnector1">
            <a:avLst/>
          </a:prstGeom>
          <a:ln w="25400">
            <a:solidFill>
              <a:srgbClr val="FFFF00"/>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36" name="Imagen 35">
            <a:extLst>
              <a:ext uri="{FF2B5EF4-FFF2-40B4-BE49-F238E27FC236}">
                <a16:creationId xmlns:a16="http://schemas.microsoft.com/office/drawing/2014/main" id="{6A821611-126C-4498-86CF-A4D75F990D7D}"/>
              </a:ext>
            </a:extLst>
          </p:cNvPr>
          <p:cNvPicPr>
            <a:picLocks noChangeAspect="1"/>
          </p:cNvPicPr>
          <p:nvPr>
            <p:custDataLst>
              <p:tags r:id="rId2"/>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5802839" y="3418823"/>
            <a:ext cx="2918095" cy="697143"/>
          </a:xfrm>
          <a:prstGeom prst="rect">
            <a:avLst/>
          </a:prstGeom>
        </p:spPr>
      </p:pic>
      <p:pic>
        <p:nvPicPr>
          <p:cNvPr id="38" name="Imagen 37">
            <a:extLst>
              <a:ext uri="{FF2B5EF4-FFF2-40B4-BE49-F238E27FC236}">
                <a16:creationId xmlns:a16="http://schemas.microsoft.com/office/drawing/2014/main" id="{2F106343-66DC-4FAF-B183-221B1B38F60F}"/>
              </a:ext>
            </a:extLst>
          </p:cNvPr>
          <p:cNvPicPr>
            <a:picLocks noChangeAspect="1"/>
          </p:cNvPicPr>
          <p:nvPr>
            <p:custDataLst>
              <p:tags r:id="rId3"/>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2343149" y="4681796"/>
            <a:ext cx="3769524" cy="1483810"/>
          </a:xfrm>
          <a:prstGeom prst="rect">
            <a:avLst/>
          </a:prstGeom>
        </p:spPr>
      </p:pic>
      <p:pic>
        <p:nvPicPr>
          <p:cNvPr id="40" name="Imagen 39">
            <a:extLst>
              <a:ext uri="{FF2B5EF4-FFF2-40B4-BE49-F238E27FC236}">
                <a16:creationId xmlns:a16="http://schemas.microsoft.com/office/drawing/2014/main" id="{422D4B29-898F-4A2D-8B7A-AE79F8D1534E}"/>
              </a:ext>
            </a:extLst>
          </p:cNvPr>
          <p:cNvPicPr>
            <a:picLocks noChangeAspect="1"/>
          </p:cNvPicPr>
          <p:nvPr>
            <p:custDataLst>
              <p:tags r:id="rId4"/>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7038276" y="5049416"/>
            <a:ext cx="4059048" cy="748571"/>
          </a:xfrm>
          <a:prstGeom prst="rect">
            <a:avLst/>
          </a:prstGeom>
        </p:spPr>
      </p:pic>
    </p:spTree>
    <p:extLst>
      <p:ext uri="{BB962C8B-B14F-4D97-AF65-F5344CB8AC3E}">
        <p14:creationId xmlns:p14="http://schemas.microsoft.com/office/powerpoint/2010/main" val="39131969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500"/>
                                        <p:tgtEl>
                                          <p:spTgt spid="32"/>
                                        </p:tgtEl>
                                      </p:cBhvr>
                                    </p:animEffect>
                                    <p:set>
                                      <p:cBhvr>
                                        <p:cTn id="19" dur="1" fill="hold">
                                          <p:stCondLst>
                                            <p:cond delay="499"/>
                                          </p:stCondLst>
                                        </p:cTn>
                                        <p:tgtEl>
                                          <p:spTgt spid="32"/>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34"/>
                                        </p:tgtEl>
                                      </p:cBhvr>
                                    </p:animEffect>
                                    <p:set>
                                      <p:cBhvr>
                                        <p:cTn id="22" dur="1" fill="hold">
                                          <p:stCondLst>
                                            <p:cond delay="499"/>
                                          </p:stCondLst>
                                        </p:cTn>
                                        <p:tgtEl>
                                          <p:spTgt spid="3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32" grpId="0" animBg="1"/>
      <p:bldP spid="32"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p:txBody>
          <a:bodyPr rtlCol="0"/>
          <a:lstStyle/>
          <a:p>
            <a:r>
              <a:rPr lang="es-ES"/>
              <a:t>Qué es la Realimentación de Estados?</a:t>
            </a:r>
          </a:p>
        </p:txBody>
      </p:sp>
      <mc:AlternateContent xmlns:mc="http://schemas.openxmlformats.org/markup-compatibility/2006">
        <mc:Choice xmlns:a14="http://schemas.microsoft.com/office/drawing/2010/main" Requires="a14">
          <p:sp>
            <p:nvSpPr>
              <p:cNvPr id="2" name="Rectángulo 1">
                <a:extLst>
                  <a:ext uri="{FF2B5EF4-FFF2-40B4-BE49-F238E27FC236}">
                    <a16:creationId xmlns:a16="http://schemas.microsoft.com/office/drawing/2014/main" id="{EC69DE86-85AB-4A6C-A87E-E30A6BD152ED}"/>
                  </a:ext>
                </a:extLst>
              </p:cNvPr>
              <p:cNvSpPr/>
              <p:nvPr/>
            </p:nvSpPr>
            <p:spPr>
              <a:xfrm>
                <a:off x="2667000" y="1966119"/>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a:solidFill>
                            <a:prstClr val="white"/>
                          </a:solidFill>
                          <a:latin typeface="Cambria Math" panose="02040503050406030204" pitchFamily="18" charset="0"/>
                        </a:rPr>
                        <m:t>𝐺</m:t>
                      </m:r>
                      <m:r>
                        <a:rPr lang="en-US" sz="2800" i="1" dirty="0">
                          <a:solidFill>
                            <a:prstClr val="white"/>
                          </a:solidFill>
                          <a:latin typeface="Cambria Math" panose="02040503050406030204" pitchFamily="18" charset="0"/>
                        </a:rPr>
                        <m:t>(</m:t>
                      </m:r>
                      <m:r>
                        <a:rPr lang="en-US" sz="2800" i="1" dirty="0">
                          <a:solidFill>
                            <a:prstClr val="white"/>
                          </a:solidFill>
                          <a:latin typeface="Cambria Math" panose="02040503050406030204" pitchFamily="18" charset="0"/>
                        </a:rPr>
                        <m:t>𝑠</m:t>
                      </m:r>
                      <m:r>
                        <a:rPr lang="en-US" sz="2800" i="1" dirty="0">
                          <a:solidFill>
                            <a:prstClr val="white"/>
                          </a:solidFill>
                          <a:latin typeface="Cambria Math" panose="02040503050406030204" pitchFamily="18" charset="0"/>
                        </a:rPr>
                        <m:t>)</m:t>
                      </m:r>
                    </m:oMath>
                  </m:oMathPara>
                </a14:m>
                <a:endParaRPr lang="es-419" sz="2800">
                  <a:solidFill>
                    <a:prstClr val="white"/>
                  </a:solidFill>
                  <a:latin typeface="Corbel"/>
                </a:endParaRPr>
              </a:p>
            </p:txBody>
          </p:sp>
        </mc:Choice>
        <mc:Fallback>
          <p:sp>
            <p:nvSpPr>
              <p:cNvPr id="2" name="Rectángulo 1">
                <a:extLst>
                  <a:ext uri="{FF2B5EF4-FFF2-40B4-BE49-F238E27FC236}">
                    <a16:creationId xmlns:a16="http://schemas.microsoft.com/office/drawing/2014/main" id="{EC69DE86-85AB-4A6C-A87E-E30A6BD152ED}"/>
                  </a:ext>
                </a:extLst>
              </p:cNvPr>
              <p:cNvSpPr>
                <a:spLocks noRot="1" noChangeAspect="1" noMove="1" noResize="1" noEditPoints="1" noAdjustHandles="1" noChangeArrowheads="1" noChangeShapeType="1" noTextEdit="1"/>
              </p:cNvSpPr>
              <p:nvPr/>
            </p:nvSpPr>
            <p:spPr>
              <a:xfrm>
                <a:off x="2667000" y="1966119"/>
                <a:ext cx="1722536" cy="1020762"/>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p:cxnSp>
        <p:nvCxnSpPr>
          <p:cNvPr id="4" name="Conector recto de flecha 3">
            <a:extLst>
              <a:ext uri="{FF2B5EF4-FFF2-40B4-BE49-F238E27FC236}">
                <a16:creationId xmlns:a16="http://schemas.microsoft.com/office/drawing/2014/main" id="{48569061-CECE-4B44-9058-6E8A8C4AEA2E}"/>
              </a:ext>
            </a:extLst>
          </p:cNvPr>
          <p:cNvCxnSpPr>
            <a:cxnSpLocks/>
            <a:stCxn id="6" idx="6"/>
            <a:endCxn id="2" idx="1"/>
          </p:cNvCxnSpPr>
          <p:nvPr/>
        </p:nvCxnSpPr>
        <p:spPr>
          <a:xfrm>
            <a:off x="1981200" y="2476500"/>
            <a:ext cx="6858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DE049D0C-4EA1-4BCF-862F-9A40DBC8BDA5}"/>
                  </a:ext>
                </a:extLst>
              </p:cNvPr>
              <p:cNvSpPr/>
              <p:nvPr/>
            </p:nvSpPr>
            <p:spPr>
              <a:xfrm>
                <a:off x="2971800" y="3429000"/>
                <a:ext cx="904876" cy="7620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8" name="Rectángulo 7">
                <a:extLst>
                  <a:ext uri="{FF2B5EF4-FFF2-40B4-BE49-F238E27FC236}">
                    <a16:creationId xmlns:a16="http://schemas.microsoft.com/office/drawing/2014/main" id="{DE049D0C-4EA1-4BCF-862F-9A40DBC8BDA5}"/>
                  </a:ext>
                </a:extLst>
              </p:cNvPr>
              <p:cNvSpPr>
                <a:spLocks noRot="1" noChangeAspect="1" noMove="1" noResize="1" noEditPoints="1" noAdjustHandles="1" noChangeArrowheads="1" noChangeShapeType="1" noTextEdit="1"/>
              </p:cNvSpPr>
              <p:nvPr/>
            </p:nvSpPr>
            <p:spPr>
              <a:xfrm>
                <a:off x="2971800" y="3429000"/>
                <a:ext cx="904876" cy="762000"/>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cxnSp>
        <p:nvCxnSpPr>
          <p:cNvPr id="9" name="Conector recto de flecha 8">
            <a:extLst>
              <a:ext uri="{FF2B5EF4-FFF2-40B4-BE49-F238E27FC236}">
                <a16:creationId xmlns:a16="http://schemas.microsoft.com/office/drawing/2014/main" id="{06EE5D0E-C57C-4CEA-B875-075CFCA64191}"/>
              </a:ext>
            </a:extLst>
          </p:cNvPr>
          <p:cNvCxnSpPr>
            <a:cxnSpLocks/>
            <a:endCxn id="6" idx="2"/>
          </p:cNvCxnSpPr>
          <p:nvPr/>
        </p:nvCxnSpPr>
        <p:spPr>
          <a:xfrm>
            <a:off x="685800" y="2476500"/>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C48D7799-CCE2-4CBE-8A99-94B735CABB3E}"/>
              </a:ext>
            </a:extLst>
          </p:cNvPr>
          <p:cNvCxnSpPr>
            <a:cxnSpLocks/>
            <a:stCxn id="2" idx="3"/>
          </p:cNvCxnSpPr>
          <p:nvPr/>
        </p:nvCxnSpPr>
        <p:spPr>
          <a:xfrm>
            <a:off x="4389536" y="2476500"/>
            <a:ext cx="1325464"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505F9F73-5F5E-417B-84F1-8805FBD85AB8}"/>
              </a:ext>
            </a:extLst>
          </p:cNvPr>
          <p:cNvSpPr/>
          <p:nvPr/>
        </p:nvSpPr>
        <p:spPr>
          <a:xfrm>
            <a:off x="1447800" y="2209800"/>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19" name="Conector: angular 18">
            <a:extLst>
              <a:ext uri="{FF2B5EF4-FFF2-40B4-BE49-F238E27FC236}">
                <a16:creationId xmlns:a16="http://schemas.microsoft.com/office/drawing/2014/main" id="{A8FCC16E-B6D4-4151-98F8-DB55C9698746}"/>
              </a:ext>
            </a:extLst>
          </p:cNvPr>
          <p:cNvCxnSpPr>
            <a:endCxn id="8" idx="3"/>
          </p:cNvCxnSpPr>
          <p:nvPr/>
        </p:nvCxnSpPr>
        <p:spPr>
          <a:xfrm rot="5400000">
            <a:off x="3797722" y="2555454"/>
            <a:ext cx="1333500" cy="1175592"/>
          </a:xfrm>
          <a:prstGeom prst="bentConnector2">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a:extLst>
              <a:ext uri="{FF2B5EF4-FFF2-40B4-BE49-F238E27FC236}">
                <a16:creationId xmlns:a16="http://schemas.microsoft.com/office/drawing/2014/main" id="{D86D9783-4796-4FF9-A6C8-778966A270BF}"/>
              </a:ext>
            </a:extLst>
          </p:cNvPr>
          <p:cNvCxnSpPr>
            <a:cxnSpLocks/>
            <a:stCxn id="8" idx="1"/>
            <a:endCxn id="6" idx="4"/>
          </p:cNvCxnSpPr>
          <p:nvPr/>
        </p:nvCxnSpPr>
        <p:spPr>
          <a:xfrm rot="10800000">
            <a:off x="1714500" y="2743200"/>
            <a:ext cx="1257300" cy="1066800"/>
          </a:xfrm>
          <a:prstGeom prst="bentConnector2">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795B0F23-511B-4D55-91A1-592BCEDDB94A}"/>
                  </a:ext>
                </a:extLst>
              </p:cNvPr>
              <p:cNvSpPr txBox="1"/>
              <p:nvPr/>
            </p:nvSpPr>
            <p:spPr>
              <a:xfrm>
                <a:off x="1447801" y="2310301"/>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4" name="CuadroTexto 23">
                <a:extLst>
                  <a:ext uri="{FF2B5EF4-FFF2-40B4-BE49-F238E27FC236}">
                    <a16:creationId xmlns:a16="http://schemas.microsoft.com/office/drawing/2014/main" id="{795B0F23-511B-4D55-91A1-592BCEDDB94A}"/>
                  </a:ext>
                </a:extLst>
              </p:cNvPr>
              <p:cNvSpPr txBox="1">
                <a:spLocks noRot="1" noChangeAspect="1" noMove="1" noResize="1" noEditPoints="1" noAdjustHandles="1" noChangeArrowheads="1" noChangeShapeType="1" noTextEdit="1"/>
              </p:cNvSpPr>
              <p:nvPr/>
            </p:nvSpPr>
            <p:spPr>
              <a:xfrm>
                <a:off x="1447801" y="2310301"/>
                <a:ext cx="290143" cy="332399"/>
              </a:xfrm>
              <a:prstGeom prst="rect">
                <a:avLst/>
              </a:prstGeom>
              <a:blipFill>
                <a:blip r:embed="rId8"/>
                <a:stretch>
                  <a:fillRect l="-23404" r="-21277"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5EA761F3-F2E2-4779-803B-B8A8EFF567D2}"/>
                  </a:ext>
                </a:extLst>
              </p:cNvPr>
              <p:cNvSpPr txBox="1"/>
              <p:nvPr/>
            </p:nvSpPr>
            <p:spPr>
              <a:xfrm>
                <a:off x="1579700" y="2461052"/>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5" name="CuadroTexto 24">
                <a:extLst>
                  <a:ext uri="{FF2B5EF4-FFF2-40B4-BE49-F238E27FC236}">
                    <a16:creationId xmlns:a16="http://schemas.microsoft.com/office/drawing/2014/main" id="{5EA761F3-F2E2-4779-803B-B8A8EFF567D2}"/>
                  </a:ext>
                </a:extLst>
              </p:cNvPr>
              <p:cNvSpPr txBox="1">
                <a:spLocks noRot="1" noChangeAspect="1" noMove="1" noResize="1" noEditPoints="1" noAdjustHandles="1" noChangeArrowheads="1" noChangeShapeType="1" noTextEdit="1"/>
              </p:cNvSpPr>
              <p:nvPr/>
            </p:nvSpPr>
            <p:spPr>
              <a:xfrm>
                <a:off x="1579700" y="2461052"/>
                <a:ext cx="290143" cy="332399"/>
              </a:xfrm>
              <a:prstGeom prst="rect">
                <a:avLst/>
              </a:prstGeom>
              <a:blipFill>
                <a:blip r:embed="rId9"/>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2AFCCC9A-2329-4712-9264-70102FD4B14B}"/>
                  </a:ext>
                </a:extLst>
              </p:cNvPr>
              <p:cNvSpPr txBox="1"/>
              <p:nvPr/>
            </p:nvSpPr>
            <p:spPr>
              <a:xfrm>
                <a:off x="605213" y="1977902"/>
                <a:ext cx="599331"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6" name="CuadroTexto 25">
                <a:extLst>
                  <a:ext uri="{FF2B5EF4-FFF2-40B4-BE49-F238E27FC236}">
                    <a16:creationId xmlns:a16="http://schemas.microsoft.com/office/drawing/2014/main" id="{2AFCCC9A-2329-4712-9264-70102FD4B14B}"/>
                  </a:ext>
                </a:extLst>
              </p:cNvPr>
              <p:cNvSpPr txBox="1">
                <a:spLocks noRot="1" noChangeAspect="1" noMove="1" noResize="1" noEditPoints="1" noAdjustHandles="1" noChangeArrowheads="1" noChangeShapeType="1" noTextEdit="1"/>
              </p:cNvSpPr>
              <p:nvPr/>
            </p:nvSpPr>
            <p:spPr>
              <a:xfrm>
                <a:off x="605213" y="1977902"/>
                <a:ext cx="599331" cy="332399"/>
              </a:xfrm>
              <a:prstGeom prst="rect">
                <a:avLst/>
              </a:prstGeom>
              <a:blipFill>
                <a:blip r:embed="rId10"/>
                <a:stretch>
                  <a:fillRect l="-7071" t="-10909" r="-18182"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522B23E0-185C-4E70-844A-C2C9271BAC23}"/>
                  </a:ext>
                </a:extLst>
              </p:cNvPr>
              <p:cNvSpPr txBox="1"/>
              <p:nvPr/>
            </p:nvSpPr>
            <p:spPr>
              <a:xfrm>
                <a:off x="4814637" y="2043601"/>
                <a:ext cx="623504"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7" name="CuadroTexto 26">
                <a:extLst>
                  <a:ext uri="{FF2B5EF4-FFF2-40B4-BE49-F238E27FC236}">
                    <a16:creationId xmlns:a16="http://schemas.microsoft.com/office/drawing/2014/main" id="{522B23E0-185C-4E70-844A-C2C9271BAC23}"/>
                  </a:ext>
                </a:extLst>
              </p:cNvPr>
              <p:cNvSpPr txBox="1">
                <a:spLocks noRot="1" noChangeAspect="1" noMove="1" noResize="1" noEditPoints="1" noAdjustHandles="1" noChangeArrowheads="1" noChangeShapeType="1" noTextEdit="1"/>
              </p:cNvSpPr>
              <p:nvPr/>
            </p:nvSpPr>
            <p:spPr>
              <a:xfrm>
                <a:off x="4814637" y="2043601"/>
                <a:ext cx="623504" cy="332399"/>
              </a:xfrm>
              <a:prstGeom prst="rect">
                <a:avLst/>
              </a:prstGeom>
              <a:blipFill>
                <a:blip r:embed="rId11"/>
                <a:stretch>
                  <a:fillRect l="-12745" t="-10909" r="-17647" b="-38182"/>
                </a:stretch>
              </a:blipFill>
            </p:spPr>
            <p:txBody>
              <a:bodyPr/>
              <a:lstStyle/>
              <a:p>
                <a:r>
                  <a:rPr lang="en-US">
                    <a:noFill/>
                  </a:rPr>
                  <a:t> </a:t>
                </a:r>
              </a:p>
            </p:txBody>
          </p:sp>
        </mc:Fallback>
      </mc:AlternateContent>
      <p:pic>
        <p:nvPicPr>
          <p:cNvPr id="31" name="Imagen 30">
            <a:extLst>
              <a:ext uri="{FF2B5EF4-FFF2-40B4-BE49-F238E27FC236}">
                <a16:creationId xmlns:a16="http://schemas.microsoft.com/office/drawing/2014/main" id="{DC0DA9B8-1A80-4539-97E6-6814AAE4D36E}"/>
              </a:ext>
            </a:extLst>
          </p:cNvPr>
          <p:cNvPicPr>
            <a:picLocks noChangeAspect="1"/>
          </p:cNvPicPr>
          <p:nvPr>
            <p:custDataLst>
              <p:tags r:id="rId1"/>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7467601" y="1936015"/>
            <a:ext cx="2506667" cy="748571"/>
          </a:xfrm>
          <a:prstGeom prst="rect">
            <a:avLst/>
          </a:prstGeom>
        </p:spPr>
      </p:pic>
      <p:pic>
        <p:nvPicPr>
          <p:cNvPr id="40" name="Imagen 39">
            <a:extLst>
              <a:ext uri="{FF2B5EF4-FFF2-40B4-BE49-F238E27FC236}">
                <a16:creationId xmlns:a16="http://schemas.microsoft.com/office/drawing/2014/main" id="{422D4B29-898F-4A2D-8B7A-AE79F8D1534E}"/>
              </a:ext>
            </a:extLst>
          </p:cNvPr>
          <p:cNvPicPr>
            <a:picLocks noChangeAspect="1"/>
          </p:cNvPicPr>
          <p:nvPr>
            <p:custDataLst>
              <p:tags r:id="rId2"/>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6261944" y="3084621"/>
            <a:ext cx="4059048" cy="748571"/>
          </a:xfrm>
          <a:prstGeom prst="rect">
            <a:avLst/>
          </a:prstGeom>
        </p:spPr>
      </p:pic>
      <p:sp>
        <p:nvSpPr>
          <p:cNvPr id="41" name="Rectángulo: esquinas redondeadas 40">
            <a:extLst>
              <a:ext uri="{FF2B5EF4-FFF2-40B4-BE49-F238E27FC236}">
                <a16:creationId xmlns:a16="http://schemas.microsoft.com/office/drawing/2014/main" id="{AEC5ED0D-5042-4BA1-BBEB-EBE755015B53}"/>
              </a:ext>
            </a:extLst>
          </p:cNvPr>
          <p:cNvSpPr/>
          <p:nvPr/>
        </p:nvSpPr>
        <p:spPr>
          <a:xfrm>
            <a:off x="7315200" y="1716717"/>
            <a:ext cx="3048000" cy="1178883"/>
          </a:xfrm>
          <a:prstGeom prst="roundRect">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3" name="CuadroTexto 2">
            <a:extLst>
              <a:ext uri="{FF2B5EF4-FFF2-40B4-BE49-F238E27FC236}">
                <a16:creationId xmlns:a16="http://schemas.microsoft.com/office/drawing/2014/main" id="{0FEB4845-8625-4D8D-BB12-945FF0FE526E}"/>
              </a:ext>
            </a:extLst>
          </p:cNvPr>
          <p:cNvSpPr txBox="1"/>
          <p:nvPr/>
        </p:nvSpPr>
        <p:spPr>
          <a:xfrm>
            <a:off x="5752529" y="4134854"/>
            <a:ext cx="3125343" cy="424732"/>
          </a:xfrm>
          <a:prstGeom prst="rect">
            <a:avLst/>
          </a:prstGeom>
          <a:noFill/>
        </p:spPr>
        <p:txBody>
          <a:bodyPr wrap="none" rtlCol="0">
            <a:spAutoFit/>
          </a:bodyPr>
          <a:lstStyle/>
          <a:p>
            <a:pPr>
              <a:lnSpc>
                <a:spcPct val="90000"/>
              </a:lnSpc>
            </a:pPr>
            <a:r>
              <a:rPr lang="es-419" sz="2400">
                <a:solidFill>
                  <a:prstClr val="white"/>
                </a:solidFill>
                <a:latin typeface="Corbel"/>
              </a:rPr>
              <a:t>Ecuación Característica</a:t>
            </a:r>
          </a:p>
        </p:txBody>
      </p:sp>
      <p:pic>
        <p:nvPicPr>
          <p:cNvPr id="7" name="Imagen 6">
            <a:extLst>
              <a:ext uri="{FF2B5EF4-FFF2-40B4-BE49-F238E27FC236}">
                <a16:creationId xmlns:a16="http://schemas.microsoft.com/office/drawing/2014/main" id="{DB503516-7E9C-4818-91C7-25789B0EF8E6}"/>
              </a:ext>
            </a:extLst>
          </p:cNvPr>
          <p:cNvPicPr>
            <a:picLocks noChangeAspect="1"/>
          </p:cNvPicPr>
          <p:nvPr>
            <p:custDataLst>
              <p:tags r:id="rId3"/>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6261945" y="4690773"/>
            <a:ext cx="3466667" cy="340952"/>
          </a:xfrm>
          <a:prstGeom prst="rect">
            <a:avLst/>
          </a:prstGeom>
        </p:spPr>
      </p:pic>
      <p:sp>
        <p:nvSpPr>
          <p:cNvPr id="28" name="Rectángulo: esquinas redondeadas 27">
            <a:extLst>
              <a:ext uri="{FF2B5EF4-FFF2-40B4-BE49-F238E27FC236}">
                <a16:creationId xmlns:a16="http://schemas.microsoft.com/office/drawing/2014/main" id="{DCDBEE5F-9326-4E7D-8AE2-CAF6A8783311}"/>
              </a:ext>
            </a:extLst>
          </p:cNvPr>
          <p:cNvSpPr/>
          <p:nvPr/>
        </p:nvSpPr>
        <p:spPr>
          <a:xfrm>
            <a:off x="6934200" y="4559586"/>
            <a:ext cx="1371600" cy="622014"/>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0" name="CuadroTexto 9">
            <a:extLst>
              <a:ext uri="{FF2B5EF4-FFF2-40B4-BE49-F238E27FC236}">
                <a16:creationId xmlns:a16="http://schemas.microsoft.com/office/drawing/2014/main" id="{8B49E771-8C02-4AE6-9CB7-E1470AB6CA61}"/>
              </a:ext>
            </a:extLst>
          </p:cNvPr>
          <p:cNvSpPr txBox="1"/>
          <p:nvPr/>
        </p:nvSpPr>
        <p:spPr>
          <a:xfrm>
            <a:off x="2971801" y="5826335"/>
            <a:ext cx="8768747" cy="424732"/>
          </a:xfrm>
          <a:prstGeom prst="rect">
            <a:avLst/>
          </a:prstGeom>
          <a:noFill/>
        </p:spPr>
        <p:txBody>
          <a:bodyPr wrap="none" rtlCol="0">
            <a:spAutoFit/>
          </a:bodyPr>
          <a:lstStyle/>
          <a:p>
            <a:pPr>
              <a:lnSpc>
                <a:spcPct val="90000"/>
              </a:lnSpc>
            </a:pPr>
            <a:r>
              <a:rPr lang="es-ES" sz="2400">
                <a:solidFill>
                  <a:prstClr val="white"/>
                </a:solidFill>
                <a:latin typeface="Corbel"/>
              </a:rPr>
              <a:t>NO hay posibilidad de escoger la ecuación característica del sistema</a:t>
            </a:r>
            <a:endParaRPr lang="es-419" sz="2400">
              <a:solidFill>
                <a:prstClr val="white"/>
              </a:solidFill>
              <a:latin typeface="Corbel"/>
            </a:endParaRPr>
          </a:p>
        </p:txBody>
      </p:sp>
      <p:sp>
        <p:nvSpPr>
          <p:cNvPr id="29" name="Rectángulo: esquinas redondeadas 28">
            <a:extLst>
              <a:ext uri="{FF2B5EF4-FFF2-40B4-BE49-F238E27FC236}">
                <a16:creationId xmlns:a16="http://schemas.microsoft.com/office/drawing/2014/main" id="{ED2C1BAF-0916-419B-AD84-4DE921ACE934}"/>
              </a:ext>
            </a:extLst>
          </p:cNvPr>
          <p:cNvSpPr/>
          <p:nvPr/>
        </p:nvSpPr>
        <p:spPr>
          <a:xfrm>
            <a:off x="8735910" y="4578626"/>
            <a:ext cx="484290" cy="622014"/>
          </a:xfrm>
          <a:prstGeom prst="roundRect">
            <a:avLst/>
          </a:prstGeom>
          <a:noFill/>
          <a:ln w="28575">
            <a:solidFill>
              <a:srgbClr val="00B0F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DA8429E3-C282-4DAA-9052-F7208F83B9F6}"/>
                  </a:ext>
                </a:extLst>
              </p:cNvPr>
              <p:cNvSpPr txBox="1"/>
              <p:nvPr/>
            </p:nvSpPr>
            <p:spPr>
              <a:xfrm>
                <a:off x="9122033" y="4325194"/>
                <a:ext cx="37189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1" name="CuadroTexto 10">
                <a:extLst>
                  <a:ext uri="{FF2B5EF4-FFF2-40B4-BE49-F238E27FC236}">
                    <a16:creationId xmlns:a16="http://schemas.microsoft.com/office/drawing/2014/main" id="{DA8429E3-C282-4DAA-9052-F7208F83B9F6}"/>
                  </a:ext>
                </a:extLst>
              </p:cNvPr>
              <p:cNvSpPr txBox="1">
                <a:spLocks noRot="1" noChangeAspect="1" noMove="1" noResize="1" noEditPoints="1" noAdjustHandles="1" noChangeArrowheads="1" noChangeShapeType="1" noTextEdit="1"/>
              </p:cNvSpPr>
              <p:nvPr/>
            </p:nvSpPr>
            <p:spPr>
              <a:xfrm>
                <a:off x="9122033" y="4325194"/>
                <a:ext cx="371897" cy="332399"/>
              </a:xfrm>
              <a:prstGeom prst="rect">
                <a:avLst/>
              </a:prstGeom>
              <a:blipFill>
                <a:blip r:embed="rId15"/>
                <a:stretch>
                  <a:fillRect l="-19672" t="-3704" r="-21311" b="-7407"/>
                </a:stretch>
              </a:blipFill>
            </p:spPr>
            <p:txBody>
              <a:bodyPr/>
              <a:lstStyle/>
              <a:p>
                <a:r>
                  <a:rPr lang="en-US">
                    <a:noFill/>
                  </a:rPr>
                  <a:t> </a:t>
                </a:r>
              </a:p>
            </p:txBody>
          </p:sp>
        </mc:Fallback>
      </mc:AlternateContent>
    </p:spTree>
    <p:extLst>
      <p:ext uri="{BB962C8B-B14F-4D97-AF65-F5344CB8AC3E}">
        <p14:creationId xmlns:p14="http://schemas.microsoft.com/office/powerpoint/2010/main" val="16542696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animBg="1"/>
      <p:bldP spid="10" grpId="0"/>
      <p:bldP spid="29" grpId="0" animBg="1"/>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626A6-BA7C-41D3-B4B9-241BF9208689}"/>
              </a:ext>
            </a:extLst>
          </p:cNvPr>
          <p:cNvSpPr>
            <a:spLocks noGrp="1"/>
          </p:cNvSpPr>
          <p:nvPr>
            <p:ph type="title"/>
          </p:nvPr>
        </p:nvSpPr>
        <p:spPr/>
        <p:txBody>
          <a:bodyPr/>
          <a:lstStyle/>
          <a:p>
            <a:r>
              <a:rPr lang="es-ES"/>
              <a:t>Qué es la Realimentación de Estados?</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FAA92BBA-8CF6-420D-B3E0-6E94DDC1FC5B}"/>
                  </a:ext>
                </a:extLst>
              </p:cNvPr>
              <p:cNvSpPr/>
              <p:nvPr/>
            </p:nvSpPr>
            <p:spPr>
              <a:xfrm>
                <a:off x="5943600" y="214866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𝑏</m:t>
                          </m:r>
                        </m:e>
                      </m:acc>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FAA92BBA-8CF6-420D-B3E0-6E94DDC1FC5B}"/>
                  </a:ext>
                </a:extLst>
              </p:cNvPr>
              <p:cNvSpPr>
                <a:spLocks noRot="1" noChangeAspect="1" noMove="1" noResize="1" noEditPoints="1" noAdjustHandles="1" noChangeArrowheads="1" noChangeShapeType="1" noTextEdit="1"/>
              </p:cNvSpPr>
              <p:nvPr/>
            </p:nvSpPr>
            <p:spPr>
              <a:xfrm>
                <a:off x="5943600" y="2148660"/>
                <a:ext cx="609600" cy="609600"/>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C3612954-F474-4BDB-8539-29502D06287B}"/>
              </a:ext>
            </a:extLst>
          </p:cNvPr>
          <p:cNvCxnSpPr>
            <a:cxnSpLocks/>
            <a:endCxn id="4" idx="1"/>
          </p:cNvCxnSpPr>
          <p:nvPr/>
        </p:nvCxnSpPr>
        <p:spPr>
          <a:xfrm>
            <a:off x="5181600" y="2453460"/>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A51B8C96-F20F-4E38-9E95-C845EEDCC00C}"/>
              </a:ext>
            </a:extLst>
          </p:cNvPr>
          <p:cNvCxnSpPr>
            <a:cxnSpLocks/>
            <a:stCxn id="4" idx="3"/>
            <a:endCxn id="14" idx="2"/>
          </p:cNvCxnSpPr>
          <p:nvPr/>
        </p:nvCxnSpPr>
        <p:spPr>
          <a:xfrm>
            <a:off x="6553200" y="2453460"/>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356D7AF8-559E-4355-9564-1BD7451579C4}"/>
                  </a:ext>
                </a:extLst>
              </p:cNvPr>
              <p:cNvSpPr/>
              <p:nvPr/>
            </p:nvSpPr>
            <p:spPr>
              <a:xfrm>
                <a:off x="8556043" y="2063905"/>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13" name="Rectángulo 12">
                <a:extLst>
                  <a:ext uri="{FF2B5EF4-FFF2-40B4-BE49-F238E27FC236}">
                    <a16:creationId xmlns:a16="http://schemas.microsoft.com/office/drawing/2014/main" id="{356D7AF8-559E-4355-9564-1BD7451579C4}"/>
                  </a:ext>
                </a:extLst>
              </p:cNvPr>
              <p:cNvSpPr>
                <a:spLocks noRot="1" noChangeAspect="1" noMove="1" noResize="1" noEditPoints="1" noAdjustHandles="1" noChangeArrowheads="1" noChangeShapeType="1" noTextEdit="1"/>
              </p:cNvSpPr>
              <p:nvPr/>
            </p:nvSpPr>
            <p:spPr>
              <a:xfrm>
                <a:off x="8556043" y="2063905"/>
                <a:ext cx="609600" cy="792122"/>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sp>
        <p:nvSpPr>
          <p:cNvPr id="14" name="Elipse 13">
            <a:extLst>
              <a:ext uri="{FF2B5EF4-FFF2-40B4-BE49-F238E27FC236}">
                <a16:creationId xmlns:a16="http://schemas.microsoft.com/office/drawing/2014/main" id="{52E4206F-DE39-4786-83F9-BD7C7BE92346}"/>
              </a:ext>
            </a:extLst>
          </p:cNvPr>
          <p:cNvSpPr/>
          <p:nvPr/>
        </p:nvSpPr>
        <p:spPr>
          <a:xfrm>
            <a:off x="6967118" y="2186760"/>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5" name="Rectángulo 14">
                <a:extLst>
                  <a:ext uri="{FF2B5EF4-FFF2-40B4-BE49-F238E27FC236}">
                    <a16:creationId xmlns:a16="http://schemas.microsoft.com/office/drawing/2014/main" id="{864FA04F-6106-4239-92D7-8B80AD327D26}"/>
                  </a:ext>
                </a:extLst>
              </p:cNvPr>
              <p:cNvSpPr/>
              <p:nvPr/>
            </p:nvSpPr>
            <p:spPr>
              <a:xfrm>
                <a:off x="10254086" y="214866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a:solidFill>
                                <a:prstClr val="white"/>
                              </a:solidFill>
                              <a:latin typeface="Cambria Math" panose="02040503050406030204" pitchFamily="18" charset="0"/>
                            </a:rPr>
                          </m:ctrlPr>
                        </m:sSupPr>
                        <m:e>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𝑐</m:t>
                              </m:r>
                            </m:e>
                          </m:acc>
                        </m:e>
                        <m:sup>
                          <m:r>
                            <a:rPr lang="en-US" sz="2800" i="1">
                              <a:solidFill>
                                <a:prstClr val="white"/>
                              </a:solidFill>
                              <a:latin typeface="Cambria Math" panose="02040503050406030204" pitchFamily="18" charset="0"/>
                            </a:rPr>
                            <m:t>𝑇</m:t>
                          </m:r>
                        </m:sup>
                      </m:sSup>
                    </m:oMath>
                  </m:oMathPara>
                </a14:m>
                <a:endParaRPr lang="es-419" sz="2800">
                  <a:solidFill>
                    <a:prstClr val="white"/>
                  </a:solidFill>
                  <a:latin typeface="Corbel"/>
                </a:endParaRPr>
              </a:p>
            </p:txBody>
          </p:sp>
        </mc:Choice>
        <mc:Fallback>
          <p:sp>
            <p:nvSpPr>
              <p:cNvPr id="15" name="Rectángulo 14">
                <a:extLst>
                  <a:ext uri="{FF2B5EF4-FFF2-40B4-BE49-F238E27FC236}">
                    <a16:creationId xmlns:a16="http://schemas.microsoft.com/office/drawing/2014/main" id="{864FA04F-6106-4239-92D7-8B80AD327D26}"/>
                  </a:ext>
                </a:extLst>
              </p:cNvPr>
              <p:cNvSpPr>
                <a:spLocks noRot="1" noChangeAspect="1" noMove="1" noResize="1" noEditPoints="1" noAdjustHandles="1" noChangeArrowheads="1" noChangeShapeType="1" noTextEdit="1"/>
              </p:cNvSpPr>
              <p:nvPr/>
            </p:nvSpPr>
            <p:spPr>
              <a:xfrm>
                <a:off x="10254086" y="2148660"/>
                <a:ext cx="609600" cy="609600"/>
              </a:xfrm>
              <a:prstGeom prst="rect">
                <a:avLst/>
              </a:prstGeom>
              <a:blipFill>
                <a:blip r:embed="rId8"/>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6C42D366-3274-469C-9397-58185BC33F97}"/>
                  </a:ext>
                </a:extLst>
              </p:cNvPr>
              <p:cNvSpPr/>
              <p:nvPr/>
            </p:nvSpPr>
            <p:spPr>
              <a:xfrm>
                <a:off x="7921068" y="330619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𝐴</m:t>
                      </m:r>
                    </m:oMath>
                  </m:oMathPara>
                </a14:m>
                <a:endParaRPr lang="es-419" sz="2800">
                  <a:solidFill>
                    <a:prstClr val="white"/>
                  </a:solidFill>
                  <a:latin typeface="Corbel"/>
                </a:endParaRPr>
              </a:p>
            </p:txBody>
          </p:sp>
        </mc:Choice>
        <mc:Fallback>
          <p:sp>
            <p:nvSpPr>
              <p:cNvPr id="16" name="Rectángulo 15">
                <a:extLst>
                  <a:ext uri="{FF2B5EF4-FFF2-40B4-BE49-F238E27FC236}">
                    <a16:creationId xmlns:a16="http://schemas.microsoft.com/office/drawing/2014/main" id="{6C42D366-3274-469C-9397-58185BC33F97}"/>
                  </a:ext>
                </a:extLst>
              </p:cNvPr>
              <p:cNvSpPr>
                <a:spLocks noRot="1" noChangeAspect="1" noMove="1" noResize="1" noEditPoints="1" noAdjustHandles="1" noChangeArrowheads="1" noChangeShapeType="1" noTextEdit="1"/>
              </p:cNvSpPr>
              <p:nvPr/>
            </p:nvSpPr>
            <p:spPr>
              <a:xfrm>
                <a:off x="7921068" y="3306190"/>
                <a:ext cx="609600" cy="609600"/>
              </a:xfrm>
              <a:prstGeom prst="rect">
                <a:avLst/>
              </a:prstGeom>
              <a:blipFill>
                <a:blip r:embed="rId9"/>
                <a:stretch>
                  <a:fillRect/>
                </a:stretch>
              </a:blipFill>
              <a:ln w="57150">
                <a:solidFill>
                  <a:schemeClr val="tx1"/>
                </a:solidFill>
                <a:miter lim="800000"/>
              </a:ln>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B9E07789-19B4-4C5E-BA5A-301E136AF610}"/>
              </a:ext>
            </a:extLst>
          </p:cNvPr>
          <p:cNvCxnSpPr>
            <a:cxnSpLocks/>
            <a:stCxn id="14" idx="6"/>
            <a:endCxn id="13" idx="1"/>
          </p:cNvCxnSpPr>
          <p:nvPr/>
        </p:nvCxnSpPr>
        <p:spPr>
          <a:xfrm>
            <a:off x="7500519" y="2453460"/>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AF96EF00-ABDA-4698-A2B9-2A8CE7782D43}"/>
              </a:ext>
            </a:extLst>
          </p:cNvPr>
          <p:cNvCxnSpPr>
            <a:cxnSpLocks/>
            <a:stCxn id="13" idx="3"/>
            <a:endCxn id="15" idx="1"/>
          </p:cNvCxnSpPr>
          <p:nvPr/>
        </p:nvCxnSpPr>
        <p:spPr>
          <a:xfrm flipV="1">
            <a:off x="9165644" y="2453460"/>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93F75582-B362-4921-9220-A3403C5D5DEA}"/>
              </a:ext>
            </a:extLst>
          </p:cNvPr>
          <p:cNvCxnSpPr>
            <a:cxnSpLocks/>
            <a:endCxn id="16" idx="3"/>
          </p:cNvCxnSpPr>
          <p:nvPr/>
        </p:nvCxnSpPr>
        <p:spPr>
          <a:xfrm rot="5400000">
            <a:off x="8499378" y="2491258"/>
            <a:ext cx="1151024" cy="1088443"/>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E8AEE46B-3F2A-4CB1-9974-E83B6E8BEE8A}"/>
              </a:ext>
            </a:extLst>
          </p:cNvPr>
          <p:cNvCxnSpPr>
            <a:cxnSpLocks/>
            <a:stCxn id="15" idx="3"/>
          </p:cNvCxnSpPr>
          <p:nvPr/>
        </p:nvCxnSpPr>
        <p:spPr>
          <a:xfrm>
            <a:off x="10863686" y="2453460"/>
            <a:ext cx="946666"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289ECB42-0B64-49C2-BD47-455794020806}"/>
              </a:ext>
            </a:extLst>
          </p:cNvPr>
          <p:cNvCxnSpPr>
            <a:cxnSpLocks/>
            <a:stCxn id="16" idx="1"/>
            <a:endCxn id="14" idx="4"/>
          </p:cNvCxnSpPr>
          <p:nvPr/>
        </p:nvCxnSpPr>
        <p:spPr>
          <a:xfrm rot="10800000">
            <a:off x="7233818" y="2720160"/>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B1FA9998-A8CB-42AB-A882-37417D00AA53}"/>
                  </a:ext>
                </a:extLst>
              </p:cNvPr>
              <p:cNvSpPr txBox="1"/>
              <p:nvPr/>
            </p:nvSpPr>
            <p:spPr>
              <a:xfrm>
                <a:off x="7661651" y="1928345"/>
                <a:ext cx="312200" cy="501804"/>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42" name="CuadroTexto 41">
                <a:extLst>
                  <a:ext uri="{FF2B5EF4-FFF2-40B4-BE49-F238E27FC236}">
                    <a16:creationId xmlns:a16="http://schemas.microsoft.com/office/drawing/2014/main" id="{B1FA9998-A8CB-42AB-A882-37417D00AA53}"/>
                  </a:ext>
                </a:extLst>
              </p:cNvPr>
              <p:cNvSpPr txBox="1">
                <a:spLocks noRot="1" noChangeAspect="1" noMove="1" noResize="1" noEditPoints="1" noAdjustHandles="1" noChangeArrowheads="1" noChangeShapeType="1" noTextEdit="1"/>
              </p:cNvSpPr>
              <p:nvPr/>
            </p:nvSpPr>
            <p:spPr>
              <a:xfrm>
                <a:off x="7661651" y="1928345"/>
                <a:ext cx="312200" cy="501804"/>
              </a:xfrm>
              <a:prstGeom prst="rect">
                <a:avLst/>
              </a:prstGeom>
              <a:blipFill>
                <a:blip r:embed="rId10"/>
                <a:stretch>
                  <a:fillRect t="-36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933B7F69-01A4-4992-8B46-E99EFE0A67B4}"/>
                  </a:ext>
                </a:extLst>
              </p:cNvPr>
              <p:cNvSpPr txBox="1"/>
              <p:nvPr/>
            </p:nvSpPr>
            <p:spPr>
              <a:xfrm>
                <a:off x="9454024" y="2016768"/>
                <a:ext cx="312200"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43" name="CuadroTexto 42">
                <a:extLst>
                  <a:ext uri="{FF2B5EF4-FFF2-40B4-BE49-F238E27FC236}">
                    <a16:creationId xmlns:a16="http://schemas.microsoft.com/office/drawing/2014/main" id="{933B7F69-01A4-4992-8B46-E99EFE0A67B4}"/>
                  </a:ext>
                </a:extLst>
              </p:cNvPr>
              <p:cNvSpPr txBox="1">
                <a:spLocks noRot="1" noChangeAspect="1" noMove="1" noResize="1" noEditPoints="1" noAdjustHandles="1" noChangeArrowheads="1" noChangeShapeType="1" noTextEdit="1"/>
              </p:cNvSpPr>
              <p:nvPr/>
            </p:nvSpPr>
            <p:spPr>
              <a:xfrm>
                <a:off x="9454024" y="2016768"/>
                <a:ext cx="312200" cy="44319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96F440AF-589B-4FA6-8AF9-034F94C6E24B}"/>
                  </a:ext>
                </a:extLst>
              </p:cNvPr>
              <p:cNvSpPr txBox="1"/>
              <p:nvPr/>
            </p:nvSpPr>
            <p:spPr>
              <a:xfrm>
                <a:off x="11337501" y="1993945"/>
                <a:ext cx="23769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44" name="CuadroTexto 43">
                <a:extLst>
                  <a:ext uri="{FF2B5EF4-FFF2-40B4-BE49-F238E27FC236}">
                    <a16:creationId xmlns:a16="http://schemas.microsoft.com/office/drawing/2014/main" id="{96F440AF-589B-4FA6-8AF9-034F94C6E24B}"/>
                  </a:ext>
                </a:extLst>
              </p:cNvPr>
              <p:cNvSpPr txBox="1">
                <a:spLocks noRot="1" noChangeAspect="1" noMove="1" noResize="1" noEditPoints="1" noAdjustHandles="1" noChangeArrowheads="1" noChangeShapeType="1" noTextEdit="1"/>
              </p:cNvSpPr>
              <p:nvPr/>
            </p:nvSpPr>
            <p:spPr>
              <a:xfrm>
                <a:off x="11337501" y="1993945"/>
                <a:ext cx="237693" cy="332399"/>
              </a:xfrm>
              <a:prstGeom prst="rect">
                <a:avLst/>
              </a:prstGeom>
              <a:blipFill>
                <a:blip r:embed="rId12"/>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C3003651-6330-4E49-BB23-F61A92F62E32}"/>
                  </a:ext>
                </a:extLst>
              </p:cNvPr>
              <p:cNvSpPr txBox="1"/>
              <p:nvPr/>
            </p:nvSpPr>
            <p:spPr>
              <a:xfrm>
                <a:off x="5122100" y="2030205"/>
                <a:ext cx="24506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45" name="CuadroTexto 44">
                <a:extLst>
                  <a:ext uri="{FF2B5EF4-FFF2-40B4-BE49-F238E27FC236}">
                    <a16:creationId xmlns:a16="http://schemas.microsoft.com/office/drawing/2014/main" id="{C3003651-6330-4E49-BB23-F61A92F62E32}"/>
                  </a:ext>
                </a:extLst>
              </p:cNvPr>
              <p:cNvSpPr txBox="1">
                <a:spLocks noRot="1" noChangeAspect="1" noMove="1" noResize="1" noEditPoints="1" noAdjustHandles="1" noChangeArrowheads="1" noChangeShapeType="1" noTextEdit="1"/>
              </p:cNvSpPr>
              <p:nvPr/>
            </p:nvSpPr>
            <p:spPr>
              <a:xfrm>
                <a:off x="5122100" y="2030205"/>
                <a:ext cx="245067" cy="332399"/>
              </a:xfrm>
              <a:prstGeom prst="rect">
                <a:avLst/>
              </a:prstGeom>
              <a:blipFill>
                <a:blip r:embed="rId13"/>
                <a:stretch>
                  <a:fillRect l="-17500" r="-17500"/>
                </a:stretch>
              </a:blipFill>
            </p:spPr>
            <p:txBody>
              <a:bodyPr/>
              <a:lstStyle/>
              <a:p>
                <a:r>
                  <a:rPr lang="en-US">
                    <a:noFill/>
                  </a:rPr>
                  <a:t> </a:t>
                </a:r>
              </a:p>
            </p:txBody>
          </p:sp>
        </mc:Fallback>
      </mc:AlternateContent>
      <p:sp>
        <p:nvSpPr>
          <p:cNvPr id="46" name="Rectángulo 45">
            <a:extLst>
              <a:ext uri="{FF2B5EF4-FFF2-40B4-BE49-F238E27FC236}">
                <a16:creationId xmlns:a16="http://schemas.microsoft.com/office/drawing/2014/main" id="{9FF419DA-6FF5-4C98-8265-7F9EF47ED21A}"/>
              </a:ext>
            </a:extLst>
          </p:cNvPr>
          <p:cNvSpPr/>
          <p:nvPr/>
        </p:nvSpPr>
        <p:spPr>
          <a:xfrm>
            <a:off x="5638800" y="1752601"/>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47" name="CuadroTexto 46">
            <a:extLst>
              <a:ext uri="{FF2B5EF4-FFF2-40B4-BE49-F238E27FC236}">
                <a16:creationId xmlns:a16="http://schemas.microsoft.com/office/drawing/2014/main" id="{368EB6B6-23B7-4A15-8663-CAFD9F5BF300}"/>
              </a:ext>
            </a:extLst>
          </p:cNvPr>
          <p:cNvSpPr txBox="1"/>
          <p:nvPr/>
        </p:nvSpPr>
        <p:spPr>
          <a:xfrm>
            <a:off x="5637532" y="3741524"/>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p:pic>
        <p:nvPicPr>
          <p:cNvPr id="53" name="Imagen 52">
            <a:extLst>
              <a:ext uri="{FF2B5EF4-FFF2-40B4-BE49-F238E27FC236}">
                <a16:creationId xmlns:a16="http://schemas.microsoft.com/office/drawing/2014/main" id="{1BF0F2B0-8F5C-468C-943C-F3AF5820F5E5}"/>
              </a:ext>
            </a:extLst>
          </p:cNvPr>
          <p:cNvPicPr>
            <a:picLocks noChangeAspect="1"/>
          </p:cNvPicPr>
          <p:nvPr>
            <p:custDataLst>
              <p:tags r:id="rId1"/>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988125" y="2162865"/>
            <a:ext cx="2803809" cy="390476"/>
          </a:xfrm>
          <a:prstGeom prst="rect">
            <a:avLst/>
          </a:prstGeom>
        </p:spPr>
      </p:pic>
      <p:sp>
        <p:nvSpPr>
          <p:cNvPr id="50" name="Rectángulo 49">
            <a:extLst>
              <a:ext uri="{FF2B5EF4-FFF2-40B4-BE49-F238E27FC236}">
                <a16:creationId xmlns:a16="http://schemas.microsoft.com/office/drawing/2014/main" id="{71CA43C3-837E-4A8F-AB10-56B90F1A336C}"/>
              </a:ext>
            </a:extLst>
          </p:cNvPr>
          <p:cNvSpPr/>
          <p:nvPr/>
        </p:nvSpPr>
        <p:spPr>
          <a:xfrm>
            <a:off x="838201" y="2933689"/>
            <a:ext cx="3240507" cy="923330"/>
          </a:xfrm>
          <a:prstGeom prst="rect">
            <a:avLst/>
          </a:prstGeom>
        </p:spPr>
        <p:txBody>
          <a:bodyPr wrap="square">
            <a:spAutoFit/>
          </a:bodyPr>
          <a:lstStyle/>
          <a:p>
            <a:pPr algn="just"/>
            <a:r>
              <a:rPr lang="es-419">
                <a:solidFill>
                  <a:prstClr val="white"/>
                </a:solidFill>
                <a:latin typeface="Corbel"/>
              </a:rPr>
              <a:t>Las entradas del sistema deben ser computadas usando el vector de estados</a:t>
            </a:r>
          </a:p>
        </p:txBody>
      </p:sp>
      <p:pic>
        <p:nvPicPr>
          <p:cNvPr id="57" name="Imagen 56">
            <a:extLst>
              <a:ext uri="{FF2B5EF4-FFF2-40B4-BE49-F238E27FC236}">
                <a16:creationId xmlns:a16="http://schemas.microsoft.com/office/drawing/2014/main" id="{A4AFA609-61DC-4387-BE8B-7AD6BF626293}"/>
              </a:ext>
            </a:extLst>
          </p:cNvPr>
          <p:cNvPicPr>
            <a:picLocks noChangeAspect="1"/>
          </p:cNvPicPr>
          <p:nvPr>
            <p:custDataLst>
              <p:tags r:id="rId2"/>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1006380" y="4210823"/>
            <a:ext cx="2146667" cy="318095"/>
          </a:xfrm>
          <a:prstGeom prst="rect">
            <a:avLst/>
          </a:prstGeom>
        </p:spPr>
      </p:pic>
      <p:pic>
        <p:nvPicPr>
          <p:cNvPr id="59" name="Imagen 58">
            <a:extLst>
              <a:ext uri="{FF2B5EF4-FFF2-40B4-BE49-F238E27FC236}">
                <a16:creationId xmlns:a16="http://schemas.microsoft.com/office/drawing/2014/main" id="{7FE3C526-FD83-443F-ABE4-F37999FEBCBC}"/>
              </a:ext>
            </a:extLst>
          </p:cNvPr>
          <p:cNvPicPr>
            <a:picLocks noChangeAspect="1"/>
          </p:cNvPicPr>
          <p:nvPr>
            <p:custDataLst>
              <p:tags r:id="rId3"/>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996440" y="4882720"/>
            <a:ext cx="4636190" cy="340952"/>
          </a:xfrm>
          <a:prstGeom prst="rect">
            <a:avLst/>
          </a:prstGeom>
        </p:spPr>
      </p:pic>
    </p:spTree>
    <p:extLst>
      <p:ext uri="{BB962C8B-B14F-4D97-AF65-F5344CB8AC3E}">
        <p14:creationId xmlns:p14="http://schemas.microsoft.com/office/powerpoint/2010/main" val="1556831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626A6-BA7C-41D3-B4B9-241BF9208689}"/>
              </a:ext>
            </a:extLst>
          </p:cNvPr>
          <p:cNvSpPr>
            <a:spLocks noGrp="1"/>
          </p:cNvSpPr>
          <p:nvPr>
            <p:ph type="title"/>
          </p:nvPr>
        </p:nvSpPr>
        <p:spPr/>
        <p:txBody>
          <a:bodyPr/>
          <a:lstStyle/>
          <a:p>
            <a:r>
              <a:rPr lang="es-ES"/>
              <a:t>Qué es la Realimentación de Estados?</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FAA92BBA-8CF6-420D-B3E0-6E94DDC1FC5B}"/>
                  </a:ext>
                </a:extLst>
              </p:cNvPr>
              <p:cNvSpPr/>
              <p:nvPr/>
            </p:nvSpPr>
            <p:spPr>
              <a:xfrm>
                <a:off x="5943600" y="214866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𝑏</m:t>
                          </m:r>
                        </m:e>
                      </m:acc>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FAA92BBA-8CF6-420D-B3E0-6E94DDC1FC5B}"/>
                  </a:ext>
                </a:extLst>
              </p:cNvPr>
              <p:cNvSpPr>
                <a:spLocks noRot="1" noChangeAspect="1" noMove="1" noResize="1" noEditPoints="1" noAdjustHandles="1" noChangeArrowheads="1" noChangeShapeType="1" noTextEdit="1"/>
              </p:cNvSpPr>
              <p:nvPr/>
            </p:nvSpPr>
            <p:spPr>
              <a:xfrm>
                <a:off x="5943600" y="2148660"/>
                <a:ext cx="609600" cy="609600"/>
              </a:xfrm>
              <a:prstGeom prst="rect">
                <a:avLst/>
              </a:prstGeom>
              <a:blipFill>
                <a:blip r:embed="rId8"/>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C3612954-F474-4BDB-8539-29502D06287B}"/>
              </a:ext>
            </a:extLst>
          </p:cNvPr>
          <p:cNvCxnSpPr>
            <a:cxnSpLocks/>
            <a:endCxn id="4" idx="1"/>
          </p:cNvCxnSpPr>
          <p:nvPr/>
        </p:nvCxnSpPr>
        <p:spPr>
          <a:xfrm>
            <a:off x="5181600" y="2453460"/>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A51B8C96-F20F-4E38-9E95-C845EEDCC00C}"/>
              </a:ext>
            </a:extLst>
          </p:cNvPr>
          <p:cNvCxnSpPr>
            <a:cxnSpLocks/>
            <a:stCxn id="4" idx="3"/>
            <a:endCxn id="14" idx="2"/>
          </p:cNvCxnSpPr>
          <p:nvPr/>
        </p:nvCxnSpPr>
        <p:spPr>
          <a:xfrm>
            <a:off x="6553200" y="2453460"/>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356D7AF8-559E-4355-9564-1BD7451579C4}"/>
                  </a:ext>
                </a:extLst>
              </p:cNvPr>
              <p:cNvSpPr/>
              <p:nvPr/>
            </p:nvSpPr>
            <p:spPr>
              <a:xfrm>
                <a:off x="8556043" y="2063905"/>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13" name="Rectángulo 12">
                <a:extLst>
                  <a:ext uri="{FF2B5EF4-FFF2-40B4-BE49-F238E27FC236}">
                    <a16:creationId xmlns:a16="http://schemas.microsoft.com/office/drawing/2014/main" id="{356D7AF8-559E-4355-9564-1BD7451579C4}"/>
                  </a:ext>
                </a:extLst>
              </p:cNvPr>
              <p:cNvSpPr>
                <a:spLocks noRot="1" noChangeAspect="1" noMove="1" noResize="1" noEditPoints="1" noAdjustHandles="1" noChangeArrowheads="1" noChangeShapeType="1" noTextEdit="1"/>
              </p:cNvSpPr>
              <p:nvPr/>
            </p:nvSpPr>
            <p:spPr>
              <a:xfrm>
                <a:off x="8556043" y="2063905"/>
                <a:ext cx="609600" cy="792122"/>
              </a:xfrm>
              <a:prstGeom prst="rect">
                <a:avLst/>
              </a:prstGeom>
              <a:blipFill>
                <a:blip r:embed="rId9"/>
                <a:stretch>
                  <a:fillRect/>
                </a:stretch>
              </a:blipFill>
              <a:ln w="57150">
                <a:solidFill>
                  <a:schemeClr val="tx1"/>
                </a:solidFill>
                <a:miter lim="800000"/>
              </a:ln>
            </p:spPr>
            <p:txBody>
              <a:bodyPr/>
              <a:lstStyle/>
              <a:p>
                <a:r>
                  <a:rPr lang="en-US">
                    <a:noFill/>
                  </a:rPr>
                  <a:t> </a:t>
                </a:r>
              </a:p>
            </p:txBody>
          </p:sp>
        </mc:Fallback>
      </mc:AlternateContent>
      <p:sp>
        <p:nvSpPr>
          <p:cNvPr id="14" name="Elipse 13">
            <a:extLst>
              <a:ext uri="{FF2B5EF4-FFF2-40B4-BE49-F238E27FC236}">
                <a16:creationId xmlns:a16="http://schemas.microsoft.com/office/drawing/2014/main" id="{52E4206F-DE39-4786-83F9-BD7C7BE92346}"/>
              </a:ext>
            </a:extLst>
          </p:cNvPr>
          <p:cNvSpPr/>
          <p:nvPr/>
        </p:nvSpPr>
        <p:spPr>
          <a:xfrm>
            <a:off x="6967118" y="2186760"/>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5" name="Rectángulo 14">
                <a:extLst>
                  <a:ext uri="{FF2B5EF4-FFF2-40B4-BE49-F238E27FC236}">
                    <a16:creationId xmlns:a16="http://schemas.microsoft.com/office/drawing/2014/main" id="{864FA04F-6106-4239-92D7-8B80AD327D26}"/>
                  </a:ext>
                </a:extLst>
              </p:cNvPr>
              <p:cNvSpPr/>
              <p:nvPr/>
            </p:nvSpPr>
            <p:spPr>
              <a:xfrm>
                <a:off x="10254086" y="214866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a:solidFill>
                                <a:prstClr val="white"/>
                              </a:solidFill>
                              <a:latin typeface="Cambria Math" panose="02040503050406030204" pitchFamily="18" charset="0"/>
                            </a:rPr>
                          </m:ctrlPr>
                        </m:sSupPr>
                        <m:e>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𝑐</m:t>
                              </m:r>
                            </m:e>
                          </m:acc>
                        </m:e>
                        <m:sup>
                          <m:r>
                            <a:rPr lang="en-US" sz="2800" i="1">
                              <a:solidFill>
                                <a:prstClr val="white"/>
                              </a:solidFill>
                              <a:latin typeface="Cambria Math" panose="02040503050406030204" pitchFamily="18" charset="0"/>
                            </a:rPr>
                            <m:t>𝑇</m:t>
                          </m:r>
                        </m:sup>
                      </m:sSup>
                    </m:oMath>
                  </m:oMathPara>
                </a14:m>
                <a:endParaRPr lang="es-419" sz="2800">
                  <a:solidFill>
                    <a:prstClr val="white"/>
                  </a:solidFill>
                  <a:latin typeface="Corbel"/>
                </a:endParaRPr>
              </a:p>
            </p:txBody>
          </p:sp>
        </mc:Choice>
        <mc:Fallback>
          <p:sp>
            <p:nvSpPr>
              <p:cNvPr id="15" name="Rectángulo 14">
                <a:extLst>
                  <a:ext uri="{FF2B5EF4-FFF2-40B4-BE49-F238E27FC236}">
                    <a16:creationId xmlns:a16="http://schemas.microsoft.com/office/drawing/2014/main" id="{864FA04F-6106-4239-92D7-8B80AD327D26}"/>
                  </a:ext>
                </a:extLst>
              </p:cNvPr>
              <p:cNvSpPr>
                <a:spLocks noRot="1" noChangeAspect="1" noMove="1" noResize="1" noEditPoints="1" noAdjustHandles="1" noChangeArrowheads="1" noChangeShapeType="1" noTextEdit="1"/>
              </p:cNvSpPr>
              <p:nvPr/>
            </p:nvSpPr>
            <p:spPr>
              <a:xfrm>
                <a:off x="10254086" y="2148660"/>
                <a:ext cx="609600" cy="609600"/>
              </a:xfrm>
              <a:prstGeom prst="rect">
                <a:avLst/>
              </a:prstGeom>
              <a:blipFill>
                <a:blip r:embed="rId10"/>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6C42D366-3274-469C-9397-58185BC33F97}"/>
                  </a:ext>
                </a:extLst>
              </p:cNvPr>
              <p:cNvSpPr/>
              <p:nvPr/>
            </p:nvSpPr>
            <p:spPr>
              <a:xfrm>
                <a:off x="7921068" y="3306190"/>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𝐴</m:t>
                      </m:r>
                    </m:oMath>
                  </m:oMathPara>
                </a14:m>
                <a:endParaRPr lang="es-419" sz="2800">
                  <a:solidFill>
                    <a:prstClr val="white"/>
                  </a:solidFill>
                  <a:latin typeface="Corbel"/>
                </a:endParaRPr>
              </a:p>
            </p:txBody>
          </p:sp>
        </mc:Choice>
        <mc:Fallback>
          <p:sp>
            <p:nvSpPr>
              <p:cNvPr id="16" name="Rectángulo 15">
                <a:extLst>
                  <a:ext uri="{FF2B5EF4-FFF2-40B4-BE49-F238E27FC236}">
                    <a16:creationId xmlns:a16="http://schemas.microsoft.com/office/drawing/2014/main" id="{6C42D366-3274-469C-9397-58185BC33F97}"/>
                  </a:ext>
                </a:extLst>
              </p:cNvPr>
              <p:cNvSpPr>
                <a:spLocks noRot="1" noChangeAspect="1" noMove="1" noResize="1" noEditPoints="1" noAdjustHandles="1" noChangeArrowheads="1" noChangeShapeType="1" noTextEdit="1"/>
              </p:cNvSpPr>
              <p:nvPr/>
            </p:nvSpPr>
            <p:spPr>
              <a:xfrm>
                <a:off x="7921068" y="3306190"/>
                <a:ext cx="609600" cy="609600"/>
              </a:xfrm>
              <a:prstGeom prst="rect">
                <a:avLst/>
              </a:prstGeom>
              <a:blipFill>
                <a:blip r:embed="rId11"/>
                <a:stretch>
                  <a:fillRect/>
                </a:stretch>
              </a:blipFill>
              <a:ln w="57150">
                <a:solidFill>
                  <a:schemeClr val="tx1"/>
                </a:solidFill>
                <a:miter lim="800000"/>
              </a:ln>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B9E07789-19B4-4C5E-BA5A-301E136AF610}"/>
              </a:ext>
            </a:extLst>
          </p:cNvPr>
          <p:cNvCxnSpPr>
            <a:cxnSpLocks/>
            <a:stCxn id="14" idx="6"/>
            <a:endCxn id="13" idx="1"/>
          </p:cNvCxnSpPr>
          <p:nvPr/>
        </p:nvCxnSpPr>
        <p:spPr>
          <a:xfrm>
            <a:off x="7500519" y="2453460"/>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AF96EF00-ABDA-4698-A2B9-2A8CE7782D43}"/>
              </a:ext>
            </a:extLst>
          </p:cNvPr>
          <p:cNvCxnSpPr>
            <a:cxnSpLocks/>
            <a:stCxn id="13" idx="3"/>
            <a:endCxn id="15" idx="1"/>
          </p:cNvCxnSpPr>
          <p:nvPr/>
        </p:nvCxnSpPr>
        <p:spPr>
          <a:xfrm flipV="1">
            <a:off x="9165644" y="2453460"/>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93F75582-B362-4921-9220-A3403C5D5DEA}"/>
              </a:ext>
            </a:extLst>
          </p:cNvPr>
          <p:cNvCxnSpPr>
            <a:cxnSpLocks/>
            <a:endCxn id="16" idx="3"/>
          </p:cNvCxnSpPr>
          <p:nvPr/>
        </p:nvCxnSpPr>
        <p:spPr>
          <a:xfrm rot="5400000">
            <a:off x="8499378" y="2491258"/>
            <a:ext cx="1151024" cy="1088443"/>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E8AEE46B-3F2A-4CB1-9974-E83B6E8BEE8A}"/>
              </a:ext>
            </a:extLst>
          </p:cNvPr>
          <p:cNvCxnSpPr>
            <a:cxnSpLocks/>
            <a:stCxn id="15" idx="3"/>
          </p:cNvCxnSpPr>
          <p:nvPr/>
        </p:nvCxnSpPr>
        <p:spPr>
          <a:xfrm>
            <a:off x="10863686" y="2453460"/>
            <a:ext cx="946666"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289ECB42-0B64-49C2-BD47-455794020806}"/>
              </a:ext>
            </a:extLst>
          </p:cNvPr>
          <p:cNvCxnSpPr>
            <a:cxnSpLocks/>
            <a:stCxn id="16" idx="1"/>
            <a:endCxn id="14" idx="4"/>
          </p:cNvCxnSpPr>
          <p:nvPr/>
        </p:nvCxnSpPr>
        <p:spPr>
          <a:xfrm rot="10800000">
            <a:off x="7233818" y="2720160"/>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B1FA9998-A8CB-42AB-A882-37417D00AA53}"/>
                  </a:ext>
                </a:extLst>
              </p:cNvPr>
              <p:cNvSpPr txBox="1"/>
              <p:nvPr/>
            </p:nvSpPr>
            <p:spPr>
              <a:xfrm>
                <a:off x="7661651" y="1928345"/>
                <a:ext cx="312200" cy="501804"/>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42" name="CuadroTexto 41">
                <a:extLst>
                  <a:ext uri="{FF2B5EF4-FFF2-40B4-BE49-F238E27FC236}">
                    <a16:creationId xmlns:a16="http://schemas.microsoft.com/office/drawing/2014/main" id="{B1FA9998-A8CB-42AB-A882-37417D00AA53}"/>
                  </a:ext>
                </a:extLst>
              </p:cNvPr>
              <p:cNvSpPr txBox="1">
                <a:spLocks noRot="1" noChangeAspect="1" noMove="1" noResize="1" noEditPoints="1" noAdjustHandles="1" noChangeArrowheads="1" noChangeShapeType="1" noTextEdit="1"/>
              </p:cNvSpPr>
              <p:nvPr/>
            </p:nvSpPr>
            <p:spPr>
              <a:xfrm>
                <a:off x="7661651" y="1928345"/>
                <a:ext cx="312200" cy="501804"/>
              </a:xfrm>
              <a:prstGeom prst="rect">
                <a:avLst/>
              </a:prstGeom>
              <a:blipFill>
                <a:blip r:embed="rId12"/>
                <a:stretch>
                  <a:fillRect t="-36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933B7F69-01A4-4992-8B46-E99EFE0A67B4}"/>
                  </a:ext>
                </a:extLst>
              </p:cNvPr>
              <p:cNvSpPr txBox="1"/>
              <p:nvPr/>
            </p:nvSpPr>
            <p:spPr>
              <a:xfrm>
                <a:off x="9454024" y="2016768"/>
                <a:ext cx="312200"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43" name="CuadroTexto 42">
                <a:extLst>
                  <a:ext uri="{FF2B5EF4-FFF2-40B4-BE49-F238E27FC236}">
                    <a16:creationId xmlns:a16="http://schemas.microsoft.com/office/drawing/2014/main" id="{933B7F69-01A4-4992-8B46-E99EFE0A67B4}"/>
                  </a:ext>
                </a:extLst>
              </p:cNvPr>
              <p:cNvSpPr txBox="1">
                <a:spLocks noRot="1" noChangeAspect="1" noMove="1" noResize="1" noEditPoints="1" noAdjustHandles="1" noChangeArrowheads="1" noChangeShapeType="1" noTextEdit="1"/>
              </p:cNvSpPr>
              <p:nvPr/>
            </p:nvSpPr>
            <p:spPr>
              <a:xfrm>
                <a:off x="9454024" y="2016768"/>
                <a:ext cx="312200" cy="44319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96F440AF-589B-4FA6-8AF9-034F94C6E24B}"/>
                  </a:ext>
                </a:extLst>
              </p:cNvPr>
              <p:cNvSpPr txBox="1"/>
              <p:nvPr/>
            </p:nvSpPr>
            <p:spPr>
              <a:xfrm>
                <a:off x="11337501" y="1993945"/>
                <a:ext cx="23769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44" name="CuadroTexto 43">
                <a:extLst>
                  <a:ext uri="{FF2B5EF4-FFF2-40B4-BE49-F238E27FC236}">
                    <a16:creationId xmlns:a16="http://schemas.microsoft.com/office/drawing/2014/main" id="{96F440AF-589B-4FA6-8AF9-034F94C6E24B}"/>
                  </a:ext>
                </a:extLst>
              </p:cNvPr>
              <p:cNvSpPr txBox="1">
                <a:spLocks noRot="1" noChangeAspect="1" noMove="1" noResize="1" noEditPoints="1" noAdjustHandles="1" noChangeArrowheads="1" noChangeShapeType="1" noTextEdit="1"/>
              </p:cNvSpPr>
              <p:nvPr/>
            </p:nvSpPr>
            <p:spPr>
              <a:xfrm>
                <a:off x="11337501" y="1993945"/>
                <a:ext cx="237693" cy="332399"/>
              </a:xfrm>
              <a:prstGeom prst="rect">
                <a:avLst/>
              </a:prstGeom>
              <a:blipFill>
                <a:blip r:embed="rId14"/>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C3003651-6330-4E49-BB23-F61A92F62E32}"/>
                  </a:ext>
                </a:extLst>
              </p:cNvPr>
              <p:cNvSpPr txBox="1"/>
              <p:nvPr/>
            </p:nvSpPr>
            <p:spPr>
              <a:xfrm>
                <a:off x="5122100" y="2030205"/>
                <a:ext cx="24506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45" name="CuadroTexto 44">
                <a:extLst>
                  <a:ext uri="{FF2B5EF4-FFF2-40B4-BE49-F238E27FC236}">
                    <a16:creationId xmlns:a16="http://schemas.microsoft.com/office/drawing/2014/main" id="{C3003651-6330-4E49-BB23-F61A92F62E32}"/>
                  </a:ext>
                </a:extLst>
              </p:cNvPr>
              <p:cNvSpPr txBox="1">
                <a:spLocks noRot="1" noChangeAspect="1" noMove="1" noResize="1" noEditPoints="1" noAdjustHandles="1" noChangeArrowheads="1" noChangeShapeType="1" noTextEdit="1"/>
              </p:cNvSpPr>
              <p:nvPr/>
            </p:nvSpPr>
            <p:spPr>
              <a:xfrm>
                <a:off x="5122100" y="2030205"/>
                <a:ext cx="245067" cy="332399"/>
              </a:xfrm>
              <a:prstGeom prst="rect">
                <a:avLst/>
              </a:prstGeom>
              <a:blipFill>
                <a:blip r:embed="rId15"/>
                <a:stretch>
                  <a:fillRect l="-17500" r="-17500"/>
                </a:stretch>
              </a:blipFill>
            </p:spPr>
            <p:txBody>
              <a:bodyPr/>
              <a:lstStyle/>
              <a:p>
                <a:r>
                  <a:rPr lang="en-US">
                    <a:noFill/>
                  </a:rPr>
                  <a:t> </a:t>
                </a:r>
              </a:p>
            </p:txBody>
          </p:sp>
        </mc:Fallback>
      </mc:AlternateContent>
      <p:sp>
        <p:nvSpPr>
          <p:cNvPr id="46" name="Rectángulo 45">
            <a:extLst>
              <a:ext uri="{FF2B5EF4-FFF2-40B4-BE49-F238E27FC236}">
                <a16:creationId xmlns:a16="http://schemas.microsoft.com/office/drawing/2014/main" id="{9FF419DA-6FF5-4C98-8265-7F9EF47ED21A}"/>
              </a:ext>
            </a:extLst>
          </p:cNvPr>
          <p:cNvSpPr/>
          <p:nvPr/>
        </p:nvSpPr>
        <p:spPr>
          <a:xfrm>
            <a:off x="5638800" y="1752601"/>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47" name="CuadroTexto 46">
            <a:extLst>
              <a:ext uri="{FF2B5EF4-FFF2-40B4-BE49-F238E27FC236}">
                <a16:creationId xmlns:a16="http://schemas.microsoft.com/office/drawing/2014/main" id="{368EB6B6-23B7-4A15-8663-CAFD9F5BF300}"/>
              </a:ext>
            </a:extLst>
          </p:cNvPr>
          <p:cNvSpPr txBox="1"/>
          <p:nvPr/>
        </p:nvSpPr>
        <p:spPr>
          <a:xfrm>
            <a:off x="5637532" y="3741524"/>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p:pic>
        <p:nvPicPr>
          <p:cNvPr id="53" name="Imagen 52">
            <a:extLst>
              <a:ext uri="{FF2B5EF4-FFF2-40B4-BE49-F238E27FC236}">
                <a16:creationId xmlns:a16="http://schemas.microsoft.com/office/drawing/2014/main" id="{1BF0F2B0-8F5C-468C-943C-F3AF5820F5E5}"/>
              </a:ext>
            </a:extLst>
          </p:cNvPr>
          <p:cNvPicPr>
            <a:picLocks noChangeAspect="1"/>
          </p:cNvPicPr>
          <p:nvPr>
            <p:custDataLst>
              <p:tags r:id="rId1"/>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988125" y="2162865"/>
            <a:ext cx="2803809" cy="390476"/>
          </a:xfrm>
          <a:prstGeom prst="rect">
            <a:avLst/>
          </a:prstGeom>
        </p:spPr>
      </p:pic>
      <p:pic>
        <p:nvPicPr>
          <p:cNvPr id="6" name="Imagen 5">
            <a:extLst>
              <a:ext uri="{FF2B5EF4-FFF2-40B4-BE49-F238E27FC236}">
                <a16:creationId xmlns:a16="http://schemas.microsoft.com/office/drawing/2014/main" id="{32BE08E1-C1C6-4CE8-AF2C-C1AE316351CE}"/>
              </a:ext>
            </a:extLst>
          </p:cNvPr>
          <p:cNvPicPr>
            <a:picLocks noChangeAspect="1"/>
          </p:cNvPicPr>
          <p:nvPr>
            <p:custDataLst>
              <p:tags r:id="rId2"/>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963345" y="2876431"/>
            <a:ext cx="1885714" cy="318095"/>
          </a:xfrm>
          <a:prstGeom prst="rect">
            <a:avLst/>
          </a:prstGeom>
        </p:spPr>
      </p:pic>
      <p:cxnSp>
        <p:nvCxnSpPr>
          <p:cNvPr id="8" name="Conector recto de flecha 7">
            <a:extLst>
              <a:ext uri="{FF2B5EF4-FFF2-40B4-BE49-F238E27FC236}">
                <a16:creationId xmlns:a16="http://schemas.microsoft.com/office/drawing/2014/main" id="{2E995DBB-2693-4878-97B9-052EA3FF5D2B}"/>
              </a:ext>
            </a:extLst>
          </p:cNvPr>
          <p:cNvCxnSpPr>
            <a:cxnSpLocks/>
          </p:cNvCxnSpPr>
          <p:nvPr/>
        </p:nvCxnSpPr>
        <p:spPr>
          <a:xfrm flipV="1">
            <a:off x="2923394" y="2590801"/>
            <a:ext cx="429407" cy="265226"/>
          </a:xfrm>
          <a:prstGeom prst="straightConnector1">
            <a:avLst/>
          </a:prstGeom>
          <a:ln w="2540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37BFA503-8502-4BF4-ABC0-C1DB0106CFEF}"/>
              </a:ext>
            </a:extLst>
          </p:cNvPr>
          <p:cNvPicPr>
            <a:picLocks noChangeAspect="1"/>
          </p:cNvPicPr>
          <p:nvPr>
            <p:custDataLst>
              <p:tags r:id="rId3"/>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921752" y="3491243"/>
            <a:ext cx="2977143" cy="390476"/>
          </a:xfrm>
          <a:prstGeom prst="rect">
            <a:avLst/>
          </a:prstGeom>
        </p:spPr>
      </p:pic>
      <p:pic>
        <p:nvPicPr>
          <p:cNvPr id="21" name="Imagen 20">
            <a:extLst>
              <a:ext uri="{FF2B5EF4-FFF2-40B4-BE49-F238E27FC236}">
                <a16:creationId xmlns:a16="http://schemas.microsoft.com/office/drawing/2014/main" id="{05B6915A-34A6-4DEE-960A-E19150838DD2}"/>
              </a:ext>
            </a:extLst>
          </p:cNvPr>
          <p:cNvPicPr>
            <a:picLocks noChangeAspect="1"/>
          </p:cNvPicPr>
          <p:nvPr>
            <p:custDataLst>
              <p:tags r:id="rId4"/>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948635" y="4113095"/>
            <a:ext cx="2683810" cy="390476"/>
          </a:xfrm>
          <a:prstGeom prst="rect">
            <a:avLst/>
          </a:prstGeom>
        </p:spPr>
      </p:pic>
      <p:pic>
        <p:nvPicPr>
          <p:cNvPr id="24" name="Imagen 23">
            <a:extLst>
              <a:ext uri="{FF2B5EF4-FFF2-40B4-BE49-F238E27FC236}">
                <a16:creationId xmlns:a16="http://schemas.microsoft.com/office/drawing/2014/main" id="{7012BC35-9631-4554-9F31-6878DEC2BDF3}"/>
              </a:ext>
            </a:extLst>
          </p:cNvPr>
          <p:cNvPicPr>
            <a:picLocks noChangeAspect="1"/>
          </p:cNvPicPr>
          <p:nvPr>
            <p:custDataLst>
              <p:tags r:id="rId5"/>
            </p:custDataLst>
          </p:nvPr>
        </p:nvPicPr>
        <p:blipFill>
          <a:blip r:embed="rId20" cstate="print">
            <a:lum bright="70000" contrast="-70000"/>
            <a:extLst>
              <a:ext uri="{28A0092B-C50C-407E-A947-70E740481C1C}">
                <a14:useLocalDpi xmlns:a14="http://schemas.microsoft.com/office/drawing/2010/main" val="0"/>
              </a:ext>
            </a:extLst>
          </a:blip>
          <a:stretch>
            <a:fillRect/>
          </a:stretch>
        </p:blipFill>
        <p:spPr>
          <a:xfrm>
            <a:off x="2351387" y="5095130"/>
            <a:ext cx="251429" cy="295238"/>
          </a:xfrm>
          <a:prstGeom prst="rect">
            <a:avLst/>
          </a:prstGeom>
        </p:spPr>
      </p:pic>
      <p:sp>
        <p:nvSpPr>
          <p:cNvPr id="27" name="Cerrar llave 26">
            <a:extLst>
              <a:ext uri="{FF2B5EF4-FFF2-40B4-BE49-F238E27FC236}">
                <a16:creationId xmlns:a16="http://schemas.microsoft.com/office/drawing/2014/main" id="{86562BAA-5C81-4DC0-85EC-6BA1B6C0D7C8}"/>
              </a:ext>
            </a:extLst>
          </p:cNvPr>
          <p:cNvSpPr/>
          <p:nvPr/>
        </p:nvSpPr>
        <p:spPr>
          <a:xfrm rot="5400000">
            <a:off x="2286601" y="4141803"/>
            <a:ext cx="381000" cy="1141798"/>
          </a:xfrm>
          <a:prstGeom prst="rightBrac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69B6F38-B612-41B7-9BA6-28C5F3263669}"/>
                  </a:ext>
                </a:extLst>
              </p:cNvPr>
              <p:cNvSpPr txBox="1"/>
              <p:nvPr/>
            </p:nvSpPr>
            <p:spPr>
              <a:xfrm>
                <a:off x="501546" y="5582296"/>
                <a:ext cx="5670655" cy="1128642"/>
              </a:xfrm>
              <a:prstGeom prst="rect">
                <a:avLst/>
              </a:prstGeom>
              <a:noFill/>
            </p:spPr>
            <p:txBody>
              <a:bodyPr wrap="square" rtlCol="0">
                <a:spAutoFit/>
              </a:bodyPr>
              <a:lstStyle/>
              <a:p>
                <a:pPr algn="just">
                  <a:lnSpc>
                    <a:spcPct val="90000"/>
                  </a:lnSpc>
                </a:pPr>
                <a:r>
                  <a:rPr lang="es-ES" sz="2400">
                    <a:solidFill>
                      <a:prstClr val="white"/>
                    </a:solidFill>
                    <a:latin typeface="Corbel"/>
                  </a:rPr>
                  <a:t>Los autovalores de </a:t>
                </a:r>
                <a14:m>
                  <m:oMath xmlns:m="http://schemas.openxmlformats.org/officeDocument/2006/math">
                    <m:acc>
                      <m:accPr>
                        <m:chr m:val="̃"/>
                        <m:ctrlPr>
                          <a:rPr lang="es-ES" sz="2000" i="1">
                            <a:solidFill>
                              <a:prstClr val="white"/>
                            </a:solidFill>
                            <a:latin typeface="Cambria Math" panose="02040503050406030204" pitchFamily="18" charset="0"/>
                          </a:rPr>
                        </m:ctrlPr>
                      </m:accPr>
                      <m:e>
                        <m:r>
                          <a:rPr lang="en-US" sz="2000" b="1" i="1">
                            <a:solidFill>
                              <a:prstClr val="white"/>
                            </a:solidFill>
                            <a:latin typeface="Cambria Math" panose="02040503050406030204" pitchFamily="18" charset="0"/>
                          </a:rPr>
                          <m:t>𝑨</m:t>
                        </m:r>
                      </m:e>
                    </m:acc>
                  </m:oMath>
                </a14:m>
                <a:r>
                  <a:rPr lang="es-ES" sz="2000">
                    <a:solidFill>
                      <a:prstClr val="white"/>
                    </a:solidFill>
                    <a:latin typeface="Corbel"/>
                  </a:rPr>
                  <a:t> </a:t>
                </a:r>
                <a:r>
                  <a:rPr lang="es-ES" sz="2400">
                    <a:solidFill>
                      <a:prstClr val="white"/>
                    </a:solidFill>
                    <a:latin typeface="Corbel"/>
                  </a:rPr>
                  <a:t>comienza a dominar la dinámica del nuevo sistema el cual es dependiente de la ganancia </a:t>
                </a:r>
                <a14:m>
                  <m:oMath xmlns:m="http://schemas.openxmlformats.org/officeDocument/2006/math">
                    <m:r>
                      <a:rPr lang="es-ES" sz="2400" i="1" dirty="0">
                        <a:solidFill>
                          <a:prstClr val="white"/>
                        </a:solidFill>
                        <a:latin typeface="Cambria Math" panose="02040503050406030204" pitchFamily="18" charset="0"/>
                      </a:rPr>
                      <m:t>𝑘</m:t>
                    </m:r>
                  </m:oMath>
                </a14:m>
                <a:endParaRPr lang="es-419" sz="2400">
                  <a:solidFill>
                    <a:prstClr val="white"/>
                  </a:solidFill>
                  <a:latin typeface="Corbel"/>
                </a:endParaRPr>
              </a:p>
            </p:txBody>
          </p:sp>
        </mc:Choice>
        <mc:Fallback>
          <p:sp>
            <p:nvSpPr>
              <p:cNvPr id="28" name="CuadroTexto 27">
                <a:extLst>
                  <a:ext uri="{FF2B5EF4-FFF2-40B4-BE49-F238E27FC236}">
                    <a16:creationId xmlns:a16="http://schemas.microsoft.com/office/drawing/2014/main" id="{A69B6F38-B612-41B7-9BA6-28C5F3263669}"/>
                  </a:ext>
                </a:extLst>
              </p:cNvPr>
              <p:cNvSpPr txBox="1">
                <a:spLocks noRot="1" noChangeAspect="1" noMove="1" noResize="1" noEditPoints="1" noAdjustHandles="1" noChangeArrowheads="1" noChangeShapeType="1" noTextEdit="1"/>
              </p:cNvSpPr>
              <p:nvPr/>
            </p:nvSpPr>
            <p:spPr>
              <a:xfrm>
                <a:off x="501546" y="5582296"/>
                <a:ext cx="5670655" cy="1128642"/>
              </a:xfrm>
              <a:prstGeom prst="rect">
                <a:avLst/>
              </a:prstGeom>
              <a:blipFill>
                <a:blip r:embed="rId21"/>
                <a:stretch>
                  <a:fillRect l="-1611" t="-7568" r="-1611" b="-8108"/>
                </a:stretch>
              </a:blipFill>
            </p:spPr>
            <p:txBody>
              <a:bodyPr/>
              <a:lstStyle/>
              <a:p>
                <a:r>
                  <a:rPr lang="en-US">
                    <a:noFill/>
                  </a:rPr>
                  <a:t> </a:t>
                </a:r>
              </a:p>
            </p:txBody>
          </p:sp>
        </mc:Fallback>
      </mc:AlternateContent>
    </p:spTree>
    <p:extLst>
      <p:ext uri="{BB962C8B-B14F-4D97-AF65-F5344CB8AC3E}">
        <p14:creationId xmlns:p14="http://schemas.microsoft.com/office/powerpoint/2010/main" val="5250757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626A6-BA7C-41D3-B4B9-241BF9208689}"/>
              </a:ext>
            </a:extLst>
          </p:cNvPr>
          <p:cNvSpPr>
            <a:spLocks noGrp="1"/>
          </p:cNvSpPr>
          <p:nvPr>
            <p:ph type="title"/>
          </p:nvPr>
        </p:nvSpPr>
        <p:spPr/>
        <p:txBody>
          <a:bodyPr/>
          <a:lstStyle/>
          <a:p>
            <a:r>
              <a:rPr lang="es-ES"/>
              <a:t>Realimentación de Estados</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FAA92BBA-8CF6-420D-B3E0-6E94DDC1FC5B}"/>
                  </a:ext>
                </a:extLst>
              </p:cNvPr>
              <p:cNvSpPr/>
              <p:nvPr/>
            </p:nvSpPr>
            <p:spPr>
              <a:xfrm>
                <a:off x="5794931" y="27046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𝑏</m:t>
                          </m:r>
                        </m:e>
                      </m:acc>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FAA92BBA-8CF6-420D-B3E0-6E94DDC1FC5B}"/>
                  </a:ext>
                </a:extLst>
              </p:cNvPr>
              <p:cNvSpPr>
                <a:spLocks noRot="1" noChangeAspect="1" noMove="1" noResize="1" noEditPoints="1" noAdjustHandles="1" noChangeArrowheads="1" noChangeShapeType="1" noTextEdit="1"/>
              </p:cNvSpPr>
              <p:nvPr/>
            </p:nvSpPr>
            <p:spPr>
              <a:xfrm>
                <a:off x="5794931" y="2704614"/>
                <a:ext cx="609600" cy="609600"/>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p:cxnSp>
        <p:nvCxnSpPr>
          <p:cNvPr id="12" name="Conector recto de flecha 11">
            <a:extLst>
              <a:ext uri="{FF2B5EF4-FFF2-40B4-BE49-F238E27FC236}">
                <a16:creationId xmlns:a16="http://schemas.microsoft.com/office/drawing/2014/main" id="{A51B8C96-F20F-4E38-9E95-C845EEDCC00C}"/>
              </a:ext>
            </a:extLst>
          </p:cNvPr>
          <p:cNvCxnSpPr>
            <a:cxnSpLocks/>
            <a:stCxn id="4" idx="3"/>
            <a:endCxn id="14" idx="2"/>
          </p:cNvCxnSpPr>
          <p:nvPr/>
        </p:nvCxnSpPr>
        <p:spPr>
          <a:xfrm>
            <a:off x="6404531" y="3009414"/>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356D7AF8-559E-4355-9564-1BD7451579C4}"/>
                  </a:ext>
                </a:extLst>
              </p:cNvPr>
              <p:cNvSpPr/>
              <p:nvPr/>
            </p:nvSpPr>
            <p:spPr>
              <a:xfrm>
                <a:off x="8407374" y="2619859"/>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13" name="Rectángulo 12">
                <a:extLst>
                  <a:ext uri="{FF2B5EF4-FFF2-40B4-BE49-F238E27FC236}">
                    <a16:creationId xmlns:a16="http://schemas.microsoft.com/office/drawing/2014/main" id="{356D7AF8-559E-4355-9564-1BD7451579C4}"/>
                  </a:ext>
                </a:extLst>
              </p:cNvPr>
              <p:cNvSpPr>
                <a:spLocks noRot="1" noChangeAspect="1" noMove="1" noResize="1" noEditPoints="1" noAdjustHandles="1" noChangeArrowheads="1" noChangeShapeType="1" noTextEdit="1"/>
              </p:cNvSpPr>
              <p:nvPr/>
            </p:nvSpPr>
            <p:spPr>
              <a:xfrm>
                <a:off x="8407374" y="2619859"/>
                <a:ext cx="609600" cy="792122"/>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p:sp>
        <p:nvSpPr>
          <p:cNvPr id="14" name="Elipse 13">
            <a:extLst>
              <a:ext uri="{FF2B5EF4-FFF2-40B4-BE49-F238E27FC236}">
                <a16:creationId xmlns:a16="http://schemas.microsoft.com/office/drawing/2014/main" id="{52E4206F-DE39-4786-83F9-BD7C7BE92346}"/>
              </a:ext>
            </a:extLst>
          </p:cNvPr>
          <p:cNvSpPr/>
          <p:nvPr/>
        </p:nvSpPr>
        <p:spPr>
          <a:xfrm>
            <a:off x="6818449" y="27427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5" name="Rectángulo 14">
                <a:extLst>
                  <a:ext uri="{FF2B5EF4-FFF2-40B4-BE49-F238E27FC236}">
                    <a16:creationId xmlns:a16="http://schemas.microsoft.com/office/drawing/2014/main" id="{864FA04F-6106-4239-92D7-8B80AD327D26}"/>
                  </a:ext>
                </a:extLst>
              </p:cNvPr>
              <p:cNvSpPr/>
              <p:nvPr/>
            </p:nvSpPr>
            <p:spPr>
              <a:xfrm>
                <a:off x="10105417" y="27046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a:solidFill>
                                <a:prstClr val="white"/>
                              </a:solidFill>
                              <a:latin typeface="Cambria Math" panose="02040503050406030204" pitchFamily="18" charset="0"/>
                            </a:rPr>
                          </m:ctrlPr>
                        </m:sSupPr>
                        <m:e>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𝑐</m:t>
                              </m:r>
                            </m:e>
                          </m:acc>
                        </m:e>
                        <m:sup>
                          <m:r>
                            <a:rPr lang="en-US" sz="2800" i="1">
                              <a:solidFill>
                                <a:prstClr val="white"/>
                              </a:solidFill>
                              <a:latin typeface="Cambria Math" panose="02040503050406030204" pitchFamily="18" charset="0"/>
                            </a:rPr>
                            <m:t>𝑇</m:t>
                          </m:r>
                        </m:sup>
                      </m:sSup>
                    </m:oMath>
                  </m:oMathPara>
                </a14:m>
                <a:endParaRPr lang="es-419" sz="2800">
                  <a:solidFill>
                    <a:prstClr val="white"/>
                  </a:solidFill>
                  <a:latin typeface="Corbel"/>
                </a:endParaRPr>
              </a:p>
            </p:txBody>
          </p:sp>
        </mc:Choice>
        <mc:Fallback>
          <p:sp>
            <p:nvSpPr>
              <p:cNvPr id="15" name="Rectángulo 14">
                <a:extLst>
                  <a:ext uri="{FF2B5EF4-FFF2-40B4-BE49-F238E27FC236}">
                    <a16:creationId xmlns:a16="http://schemas.microsoft.com/office/drawing/2014/main" id="{864FA04F-6106-4239-92D7-8B80AD327D26}"/>
                  </a:ext>
                </a:extLst>
              </p:cNvPr>
              <p:cNvSpPr>
                <a:spLocks noRot="1" noChangeAspect="1" noMove="1" noResize="1" noEditPoints="1" noAdjustHandles="1" noChangeArrowheads="1" noChangeShapeType="1" noTextEdit="1"/>
              </p:cNvSpPr>
              <p:nvPr/>
            </p:nvSpPr>
            <p:spPr>
              <a:xfrm>
                <a:off x="10105417" y="2704614"/>
                <a:ext cx="609600" cy="609600"/>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6C42D366-3274-469C-9397-58185BC33F97}"/>
                  </a:ext>
                </a:extLst>
              </p:cNvPr>
              <p:cNvSpPr/>
              <p:nvPr/>
            </p:nvSpPr>
            <p:spPr>
              <a:xfrm>
                <a:off x="7772399" y="386214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𝐴</m:t>
                      </m:r>
                    </m:oMath>
                  </m:oMathPara>
                </a14:m>
                <a:endParaRPr lang="es-419" sz="2800">
                  <a:solidFill>
                    <a:prstClr val="white"/>
                  </a:solidFill>
                  <a:latin typeface="Corbel"/>
                </a:endParaRPr>
              </a:p>
            </p:txBody>
          </p:sp>
        </mc:Choice>
        <mc:Fallback>
          <p:sp>
            <p:nvSpPr>
              <p:cNvPr id="16" name="Rectángulo 15">
                <a:extLst>
                  <a:ext uri="{FF2B5EF4-FFF2-40B4-BE49-F238E27FC236}">
                    <a16:creationId xmlns:a16="http://schemas.microsoft.com/office/drawing/2014/main" id="{6C42D366-3274-469C-9397-58185BC33F97}"/>
                  </a:ext>
                </a:extLst>
              </p:cNvPr>
              <p:cNvSpPr>
                <a:spLocks noRot="1" noChangeAspect="1" noMove="1" noResize="1" noEditPoints="1" noAdjustHandles="1" noChangeArrowheads="1" noChangeShapeType="1" noTextEdit="1"/>
              </p:cNvSpPr>
              <p:nvPr/>
            </p:nvSpPr>
            <p:spPr>
              <a:xfrm>
                <a:off x="7772399" y="3862144"/>
                <a:ext cx="609600" cy="609600"/>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B9E07789-19B4-4C5E-BA5A-301E136AF610}"/>
              </a:ext>
            </a:extLst>
          </p:cNvPr>
          <p:cNvCxnSpPr>
            <a:cxnSpLocks/>
            <a:stCxn id="14" idx="6"/>
            <a:endCxn id="13" idx="1"/>
          </p:cNvCxnSpPr>
          <p:nvPr/>
        </p:nvCxnSpPr>
        <p:spPr>
          <a:xfrm>
            <a:off x="7351850" y="3009414"/>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AF96EF00-ABDA-4698-A2B9-2A8CE7782D43}"/>
              </a:ext>
            </a:extLst>
          </p:cNvPr>
          <p:cNvCxnSpPr>
            <a:cxnSpLocks/>
            <a:stCxn id="13" idx="3"/>
            <a:endCxn id="15" idx="1"/>
          </p:cNvCxnSpPr>
          <p:nvPr/>
        </p:nvCxnSpPr>
        <p:spPr>
          <a:xfrm flipV="1">
            <a:off x="9016975" y="3009414"/>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93F75582-B362-4921-9220-A3403C5D5DEA}"/>
              </a:ext>
            </a:extLst>
          </p:cNvPr>
          <p:cNvCxnSpPr>
            <a:cxnSpLocks/>
            <a:endCxn id="16" idx="3"/>
          </p:cNvCxnSpPr>
          <p:nvPr/>
        </p:nvCxnSpPr>
        <p:spPr>
          <a:xfrm rot="5400000">
            <a:off x="8350709" y="3047212"/>
            <a:ext cx="1151024" cy="1088443"/>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E8AEE46B-3F2A-4CB1-9974-E83B6E8BEE8A}"/>
              </a:ext>
            </a:extLst>
          </p:cNvPr>
          <p:cNvCxnSpPr>
            <a:cxnSpLocks/>
            <a:stCxn id="15" idx="3"/>
          </p:cNvCxnSpPr>
          <p:nvPr/>
        </p:nvCxnSpPr>
        <p:spPr>
          <a:xfrm>
            <a:off x="10715017" y="3009414"/>
            <a:ext cx="946666"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289ECB42-0B64-49C2-BD47-455794020806}"/>
              </a:ext>
            </a:extLst>
          </p:cNvPr>
          <p:cNvCxnSpPr>
            <a:cxnSpLocks/>
            <a:stCxn id="16" idx="1"/>
            <a:endCxn id="14" idx="4"/>
          </p:cNvCxnSpPr>
          <p:nvPr/>
        </p:nvCxnSpPr>
        <p:spPr>
          <a:xfrm rot="10800000">
            <a:off x="7085149" y="3276114"/>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B1FA9998-A8CB-42AB-A882-37417D00AA53}"/>
                  </a:ext>
                </a:extLst>
              </p:cNvPr>
              <p:cNvSpPr txBox="1"/>
              <p:nvPr/>
            </p:nvSpPr>
            <p:spPr>
              <a:xfrm>
                <a:off x="7512982" y="2484299"/>
                <a:ext cx="312200" cy="501804"/>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42" name="CuadroTexto 41">
                <a:extLst>
                  <a:ext uri="{FF2B5EF4-FFF2-40B4-BE49-F238E27FC236}">
                    <a16:creationId xmlns:a16="http://schemas.microsoft.com/office/drawing/2014/main" id="{B1FA9998-A8CB-42AB-A882-37417D00AA53}"/>
                  </a:ext>
                </a:extLst>
              </p:cNvPr>
              <p:cNvSpPr txBox="1">
                <a:spLocks noRot="1" noChangeAspect="1" noMove="1" noResize="1" noEditPoints="1" noAdjustHandles="1" noChangeArrowheads="1" noChangeShapeType="1" noTextEdit="1"/>
              </p:cNvSpPr>
              <p:nvPr/>
            </p:nvSpPr>
            <p:spPr>
              <a:xfrm>
                <a:off x="7512982" y="2484299"/>
                <a:ext cx="312200" cy="501804"/>
              </a:xfrm>
              <a:prstGeom prst="rect">
                <a:avLst/>
              </a:prstGeom>
              <a:blipFill>
                <a:blip r:embed="rId8"/>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933B7F69-01A4-4992-8B46-E99EFE0A67B4}"/>
                  </a:ext>
                </a:extLst>
              </p:cNvPr>
              <p:cNvSpPr txBox="1"/>
              <p:nvPr/>
            </p:nvSpPr>
            <p:spPr>
              <a:xfrm>
                <a:off x="9305355" y="2572722"/>
                <a:ext cx="312200"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43" name="CuadroTexto 42">
                <a:extLst>
                  <a:ext uri="{FF2B5EF4-FFF2-40B4-BE49-F238E27FC236}">
                    <a16:creationId xmlns:a16="http://schemas.microsoft.com/office/drawing/2014/main" id="{933B7F69-01A4-4992-8B46-E99EFE0A67B4}"/>
                  </a:ext>
                </a:extLst>
              </p:cNvPr>
              <p:cNvSpPr txBox="1">
                <a:spLocks noRot="1" noChangeAspect="1" noMove="1" noResize="1" noEditPoints="1" noAdjustHandles="1" noChangeArrowheads="1" noChangeShapeType="1" noTextEdit="1"/>
              </p:cNvSpPr>
              <p:nvPr/>
            </p:nvSpPr>
            <p:spPr>
              <a:xfrm>
                <a:off x="9305355" y="2572722"/>
                <a:ext cx="312200" cy="44319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96F440AF-589B-4FA6-8AF9-034F94C6E24B}"/>
                  </a:ext>
                </a:extLst>
              </p:cNvPr>
              <p:cNvSpPr txBox="1"/>
              <p:nvPr/>
            </p:nvSpPr>
            <p:spPr>
              <a:xfrm>
                <a:off x="11188832" y="2549899"/>
                <a:ext cx="23769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44" name="CuadroTexto 43">
                <a:extLst>
                  <a:ext uri="{FF2B5EF4-FFF2-40B4-BE49-F238E27FC236}">
                    <a16:creationId xmlns:a16="http://schemas.microsoft.com/office/drawing/2014/main" id="{96F440AF-589B-4FA6-8AF9-034F94C6E24B}"/>
                  </a:ext>
                </a:extLst>
              </p:cNvPr>
              <p:cNvSpPr txBox="1">
                <a:spLocks noRot="1" noChangeAspect="1" noMove="1" noResize="1" noEditPoints="1" noAdjustHandles="1" noChangeArrowheads="1" noChangeShapeType="1" noTextEdit="1"/>
              </p:cNvSpPr>
              <p:nvPr/>
            </p:nvSpPr>
            <p:spPr>
              <a:xfrm>
                <a:off x="11188832" y="2549899"/>
                <a:ext cx="237693" cy="332399"/>
              </a:xfrm>
              <a:prstGeom prst="rect">
                <a:avLst/>
              </a:prstGeom>
              <a:blipFill>
                <a:blip r:embed="rId10"/>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C3003651-6330-4E49-BB23-F61A92F62E32}"/>
                  </a:ext>
                </a:extLst>
              </p:cNvPr>
              <p:cNvSpPr txBox="1"/>
              <p:nvPr/>
            </p:nvSpPr>
            <p:spPr>
              <a:xfrm>
                <a:off x="4973431" y="2586159"/>
                <a:ext cx="24506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45" name="CuadroTexto 44">
                <a:extLst>
                  <a:ext uri="{FF2B5EF4-FFF2-40B4-BE49-F238E27FC236}">
                    <a16:creationId xmlns:a16="http://schemas.microsoft.com/office/drawing/2014/main" id="{C3003651-6330-4E49-BB23-F61A92F62E32}"/>
                  </a:ext>
                </a:extLst>
              </p:cNvPr>
              <p:cNvSpPr txBox="1">
                <a:spLocks noRot="1" noChangeAspect="1" noMove="1" noResize="1" noEditPoints="1" noAdjustHandles="1" noChangeArrowheads="1" noChangeShapeType="1" noTextEdit="1"/>
              </p:cNvSpPr>
              <p:nvPr/>
            </p:nvSpPr>
            <p:spPr>
              <a:xfrm>
                <a:off x="4973431" y="2586159"/>
                <a:ext cx="245067" cy="332399"/>
              </a:xfrm>
              <a:prstGeom prst="rect">
                <a:avLst/>
              </a:prstGeom>
              <a:blipFill>
                <a:blip r:embed="rId11"/>
                <a:stretch>
                  <a:fillRect l="-20000" r="-15000"/>
                </a:stretch>
              </a:blipFill>
            </p:spPr>
            <p:txBody>
              <a:bodyPr/>
              <a:lstStyle/>
              <a:p>
                <a:r>
                  <a:rPr lang="en-US">
                    <a:noFill/>
                  </a:rPr>
                  <a:t> </a:t>
                </a:r>
              </a:p>
            </p:txBody>
          </p:sp>
        </mc:Fallback>
      </mc:AlternateContent>
      <p:sp>
        <p:nvSpPr>
          <p:cNvPr id="46" name="Rectángulo 45">
            <a:extLst>
              <a:ext uri="{FF2B5EF4-FFF2-40B4-BE49-F238E27FC236}">
                <a16:creationId xmlns:a16="http://schemas.microsoft.com/office/drawing/2014/main" id="{9FF419DA-6FF5-4C98-8265-7F9EF47ED21A}"/>
              </a:ext>
            </a:extLst>
          </p:cNvPr>
          <p:cNvSpPr/>
          <p:nvPr/>
        </p:nvSpPr>
        <p:spPr>
          <a:xfrm>
            <a:off x="5490131" y="2308555"/>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47" name="CuadroTexto 46">
            <a:extLst>
              <a:ext uri="{FF2B5EF4-FFF2-40B4-BE49-F238E27FC236}">
                <a16:creationId xmlns:a16="http://schemas.microsoft.com/office/drawing/2014/main" id="{368EB6B6-23B7-4A15-8663-CAFD9F5BF300}"/>
              </a:ext>
            </a:extLst>
          </p:cNvPr>
          <p:cNvSpPr txBox="1"/>
          <p:nvPr/>
        </p:nvSpPr>
        <p:spPr>
          <a:xfrm>
            <a:off x="5488863" y="4297478"/>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p:pic>
        <p:nvPicPr>
          <p:cNvPr id="21" name="Imagen 20">
            <a:extLst>
              <a:ext uri="{FF2B5EF4-FFF2-40B4-BE49-F238E27FC236}">
                <a16:creationId xmlns:a16="http://schemas.microsoft.com/office/drawing/2014/main" id="{05B6915A-34A6-4DEE-960A-E19150838DD2}"/>
              </a:ext>
            </a:extLst>
          </p:cNvPr>
          <p:cNvPicPr>
            <a:picLocks noChangeAspect="1"/>
          </p:cNvPicPr>
          <p:nvPr>
            <p:custDataLst>
              <p:tags r:id="rId1"/>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413012" y="1768922"/>
            <a:ext cx="2683810" cy="390476"/>
          </a:xfrm>
          <a:prstGeom prst="rect">
            <a:avLst/>
          </a:prstGeom>
        </p:spPr>
      </p:pic>
      <mc:AlternateContent xmlns:mc="http://schemas.openxmlformats.org/markup-compatibility/2006">
        <mc:Choice xmlns:a14="http://schemas.microsoft.com/office/drawing/2010/main" Requires="a14">
          <p:sp>
            <p:nvSpPr>
              <p:cNvPr id="30" name="Rectángulo 29">
                <a:extLst>
                  <a:ext uri="{FF2B5EF4-FFF2-40B4-BE49-F238E27FC236}">
                    <a16:creationId xmlns:a16="http://schemas.microsoft.com/office/drawing/2014/main" id="{A66B8D36-630E-439C-ADB4-CED41CAB4C2C}"/>
                  </a:ext>
                </a:extLst>
              </p:cNvPr>
              <p:cNvSpPr/>
              <p:nvPr/>
            </p:nvSpPr>
            <p:spPr>
              <a:xfrm>
                <a:off x="7512983" y="5267602"/>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m:t>
                      </m:r>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30" name="Rectángulo 29">
                <a:extLst>
                  <a:ext uri="{FF2B5EF4-FFF2-40B4-BE49-F238E27FC236}">
                    <a16:creationId xmlns:a16="http://schemas.microsoft.com/office/drawing/2014/main" id="{A66B8D36-630E-439C-ADB4-CED41CAB4C2C}"/>
                  </a:ext>
                </a:extLst>
              </p:cNvPr>
              <p:cNvSpPr>
                <a:spLocks noRot="1" noChangeAspect="1" noMove="1" noResize="1" noEditPoints="1" noAdjustHandles="1" noChangeArrowheads="1" noChangeShapeType="1" noTextEdit="1"/>
              </p:cNvSpPr>
              <p:nvPr/>
            </p:nvSpPr>
            <p:spPr>
              <a:xfrm>
                <a:off x="7512983" y="5267602"/>
                <a:ext cx="869017" cy="609600"/>
              </a:xfrm>
              <a:prstGeom prst="rect">
                <a:avLst/>
              </a:prstGeom>
              <a:blipFill>
                <a:blip r:embed="rId13"/>
                <a:stretch>
                  <a:fillRect/>
                </a:stretch>
              </a:blipFill>
              <a:ln w="57150">
                <a:solidFill>
                  <a:schemeClr val="tx1"/>
                </a:solidFill>
                <a:miter lim="800000"/>
              </a:ln>
            </p:spPr>
            <p:txBody>
              <a:bodyPr/>
              <a:lstStyle/>
              <a:p>
                <a:r>
                  <a:rPr lang="en-US">
                    <a:noFill/>
                  </a:rPr>
                  <a:t> </a:t>
                </a:r>
              </a:p>
            </p:txBody>
          </p:sp>
        </mc:Fallback>
      </mc:AlternateContent>
      <p:cxnSp>
        <p:nvCxnSpPr>
          <p:cNvPr id="31" name="Conector: angular 30">
            <a:extLst>
              <a:ext uri="{FF2B5EF4-FFF2-40B4-BE49-F238E27FC236}">
                <a16:creationId xmlns:a16="http://schemas.microsoft.com/office/drawing/2014/main" id="{766CE465-3245-44CC-8208-D94AD1273C02}"/>
              </a:ext>
            </a:extLst>
          </p:cNvPr>
          <p:cNvCxnSpPr>
            <a:cxnSpLocks/>
            <a:endCxn id="30" idx="3"/>
          </p:cNvCxnSpPr>
          <p:nvPr/>
        </p:nvCxnSpPr>
        <p:spPr>
          <a:xfrm rot="5400000">
            <a:off x="8235523" y="4337478"/>
            <a:ext cx="1381402" cy="1088449"/>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33">
            <a:extLst>
              <a:ext uri="{FF2B5EF4-FFF2-40B4-BE49-F238E27FC236}">
                <a16:creationId xmlns:a16="http://schemas.microsoft.com/office/drawing/2014/main" id="{929E34D5-B267-4D3C-8193-D882AEB5D757}"/>
              </a:ext>
            </a:extLst>
          </p:cNvPr>
          <p:cNvCxnSpPr>
            <a:cxnSpLocks/>
            <a:stCxn id="30" idx="1"/>
            <a:endCxn id="4" idx="1"/>
          </p:cNvCxnSpPr>
          <p:nvPr/>
        </p:nvCxnSpPr>
        <p:spPr>
          <a:xfrm rot="10800000">
            <a:off x="5794933" y="3009414"/>
            <a:ext cx="1718051" cy="2562988"/>
          </a:xfrm>
          <a:prstGeom prst="bentConnector3">
            <a:avLst>
              <a:gd name="adj1" fmla="val 163058"/>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D6485E45-6CB4-4480-BFC1-A3BD7AC260C9}"/>
                  </a:ext>
                </a:extLst>
              </p:cNvPr>
              <p:cNvSpPr txBox="1"/>
              <p:nvPr/>
            </p:nvSpPr>
            <p:spPr>
              <a:xfrm>
                <a:off x="219782" y="3585267"/>
                <a:ext cx="3809056" cy="1471044"/>
              </a:xfrm>
              <a:prstGeom prst="rect">
                <a:avLst/>
              </a:prstGeom>
              <a:noFill/>
            </p:spPr>
            <p:txBody>
              <a:bodyPr wrap="none" rtlCol="0">
                <a:spAutoFit/>
              </a:bodyPr>
              <a:lstStyle/>
              <a:p>
                <a:pPr>
                  <a:lnSpc>
                    <a:spcPct val="90000"/>
                  </a:lnSpc>
                </a:pPr>
                <a:r>
                  <a:rPr lang="es-419" sz="2400">
                    <a:solidFill>
                      <a:prstClr val="white"/>
                    </a:solidFill>
                    <a:latin typeface="Corbel"/>
                  </a:rPr>
                  <a:t>Se puede modificar los polos</a:t>
                </a:r>
              </a:p>
              <a:p>
                <a:pPr>
                  <a:lnSpc>
                    <a:spcPct val="90000"/>
                  </a:lnSpc>
                </a:pPr>
                <a:r>
                  <a:rPr lang="es-419" sz="2400">
                    <a:solidFill>
                      <a:prstClr val="white"/>
                    </a:solidFill>
                    <a:latin typeface="Corbel"/>
                  </a:rPr>
                  <a:t>del nuevo sistema siempre</a:t>
                </a:r>
              </a:p>
              <a:p>
                <a:pPr>
                  <a:lnSpc>
                    <a:spcPct val="90000"/>
                  </a:lnSpc>
                </a:pPr>
                <a:r>
                  <a:rPr lang="es-419" sz="2400">
                    <a:solidFill>
                      <a:prstClr val="white"/>
                    </a:solidFill>
                    <a:latin typeface="Corbel"/>
                  </a:rPr>
                  <a:t>y cuando el par (</a:t>
                </a:r>
                <a14:m>
                  <m:oMath xmlns:m="http://schemas.openxmlformats.org/officeDocument/2006/math">
                    <m:r>
                      <a:rPr lang="en-US" sz="2400" i="1">
                        <a:solidFill>
                          <a:prstClr val="white"/>
                        </a:solidFill>
                        <a:latin typeface="Cambria Math" panose="02040503050406030204" pitchFamily="18" charset="0"/>
                      </a:rPr>
                      <m:t>𝐴</m:t>
                    </m:r>
                    <m:r>
                      <a:rPr lang="en-US" sz="2400" i="1">
                        <a:solidFill>
                          <a:prstClr val="white"/>
                        </a:solidFill>
                        <a:latin typeface="Cambria Math" panose="02040503050406030204" pitchFamily="18" charset="0"/>
                      </a:rPr>
                      <m:t>, </m:t>
                    </m:r>
                    <m:acc>
                      <m:accPr>
                        <m:chr m:val="⃗"/>
                        <m:ctrlPr>
                          <a:rPr lang="en-US" sz="2400" i="1">
                            <a:solidFill>
                              <a:prstClr val="white"/>
                            </a:solidFill>
                            <a:latin typeface="Cambria Math" panose="02040503050406030204" pitchFamily="18" charset="0"/>
                          </a:rPr>
                        </m:ctrlPr>
                      </m:accPr>
                      <m:e>
                        <m:r>
                          <a:rPr lang="en-US" sz="2400" i="1">
                            <a:solidFill>
                              <a:prstClr val="white"/>
                            </a:solidFill>
                            <a:latin typeface="Cambria Math" panose="02040503050406030204" pitchFamily="18" charset="0"/>
                          </a:rPr>
                          <m:t>𝑏</m:t>
                        </m:r>
                      </m:e>
                    </m:acc>
                  </m:oMath>
                </a14:m>
                <a:r>
                  <a:rPr lang="es-419" sz="2400">
                    <a:solidFill>
                      <a:prstClr val="white"/>
                    </a:solidFill>
                    <a:latin typeface="Corbel"/>
                  </a:rPr>
                  <a:t>) sean</a:t>
                </a:r>
              </a:p>
              <a:p>
                <a:pPr>
                  <a:lnSpc>
                    <a:spcPct val="90000"/>
                  </a:lnSpc>
                </a:pPr>
                <a:r>
                  <a:rPr lang="es-419" sz="2400">
                    <a:solidFill>
                      <a:prstClr val="white"/>
                    </a:solidFill>
                    <a:latin typeface="Corbel"/>
                  </a:rPr>
                  <a:t>totalmente controlables</a:t>
                </a:r>
              </a:p>
            </p:txBody>
          </p:sp>
        </mc:Choice>
        <mc:Fallback>
          <p:sp>
            <p:nvSpPr>
              <p:cNvPr id="37" name="CuadroTexto 36">
                <a:extLst>
                  <a:ext uri="{FF2B5EF4-FFF2-40B4-BE49-F238E27FC236}">
                    <a16:creationId xmlns:a16="http://schemas.microsoft.com/office/drawing/2014/main" id="{D6485E45-6CB4-4480-BFC1-A3BD7AC260C9}"/>
                  </a:ext>
                </a:extLst>
              </p:cNvPr>
              <p:cNvSpPr txBox="1">
                <a:spLocks noRot="1" noChangeAspect="1" noMove="1" noResize="1" noEditPoints="1" noAdjustHandles="1" noChangeArrowheads="1" noChangeShapeType="1" noTextEdit="1"/>
              </p:cNvSpPr>
              <p:nvPr/>
            </p:nvSpPr>
            <p:spPr>
              <a:xfrm>
                <a:off x="219782" y="3585267"/>
                <a:ext cx="3809056" cy="1471044"/>
              </a:xfrm>
              <a:prstGeom prst="rect">
                <a:avLst/>
              </a:prstGeom>
              <a:blipFill>
                <a:blip r:embed="rId14"/>
                <a:stretch>
                  <a:fillRect l="-2400" t="-5809" r="-1760" b="-8714"/>
                </a:stretch>
              </a:blipFill>
            </p:spPr>
            <p:txBody>
              <a:bodyPr/>
              <a:lstStyle/>
              <a:p>
                <a:r>
                  <a:rPr lang="en-US">
                    <a:noFill/>
                  </a:rPr>
                  <a:t> </a:t>
                </a:r>
              </a:p>
            </p:txBody>
          </p:sp>
        </mc:Fallback>
      </mc:AlternateContent>
    </p:spTree>
    <p:extLst>
      <p:ext uri="{BB962C8B-B14F-4D97-AF65-F5344CB8AC3E}">
        <p14:creationId xmlns:p14="http://schemas.microsoft.com/office/powerpoint/2010/main" val="39527473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240563-1E44-45F7-A608-903E1D6F8250}"/>
              </a:ext>
            </a:extLst>
          </p:cNvPr>
          <p:cNvSpPr>
            <a:spLocks noGrp="1"/>
          </p:cNvSpPr>
          <p:nvPr>
            <p:ph type="title"/>
          </p:nvPr>
        </p:nvSpPr>
        <p:spPr/>
        <p:txBody>
          <a:bodyPr/>
          <a:lstStyle/>
          <a:p>
            <a:r>
              <a:rPr lang="es-ES"/>
              <a:t>Realimentación de Estados</a:t>
            </a:r>
            <a:endParaRPr lang="es-419"/>
          </a:p>
        </p:txBody>
      </p:sp>
      <p:pic>
        <p:nvPicPr>
          <p:cNvPr id="4" name="Imagen 3">
            <a:extLst>
              <a:ext uri="{FF2B5EF4-FFF2-40B4-BE49-F238E27FC236}">
                <a16:creationId xmlns:a16="http://schemas.microsoft.com/office/drawing/2014/main" id="{E2AD4D81-0D1E-46E9-ADEF-5C65D096EA69}"/>
              </a:ext>
            </a:extLst>
          </p:cNvPr>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219201" y="1752601"/>
            <a:ext cx="2918095" cy="697143"/>
          </a:xfrm>
          <a:prstGeom prst="rect">
            <a:avLst/>
          </a:prstGeom>
        </p:spPr>
      </p:pic>
      <p:sp>
        <p:nvSpPr>
          <p:cNvPr id="5" name="CuadroTexto 4">
            <a:extLst>
              <a:ext uri="{FF2B5EF4-FFF2-40B4-BE49-F238E27FC236}">
                <a16:creationId xmlns:a16="http://schemas.microsoft.com/office/drawing/2014/main" id="{CA1D3DBE-0023-4A0B-8A86-BA2085219BC7}"/>
              </a:ext>
            </a:extLst>
          </p:cNvPr>
          <p:cNvSpPr txBox="1"/>
          <p:nvPr/>
        </p:nvSpPr>
        <p:spPr>
          <a:xfrm>
            <a:off x="533400" y="2636346"/>
            <a:ext cx="4953000" cy="1089529"/>
          </a:xfrm>
          <a:prstGeom prst="rect">
            <a:avLst/>
          </a:prstGeom>
          <a:noFill/>
        </p:spPr>
        <p:txBody>
          <a:bodyPr wrap="square" rtlCol="0">
            <a:spAutoFit/>
          </a:bodyPr>
          <a:lstStyle/>
          <a:p>
            <a:pPr algn="just">
              <a:lnSpc>
                <a:spcPct val="90000"/>
              </a:lnSpc>
            </a:pPr>
            <a:r>
              <a:rPr lang="es-419" sz="2400">
                <a:solidFill>
                  <a:prstClr val="white"/>
                </a:solidFill>
                <a:latin typeface="Corbel"/>
              </a:rPr>
              <a:t>Representando el  sistema en espacio </a:t>
            </a:r>
          </a:p>
          <a:p>
            <a:pPr algn="just">
              <a:lnSpc>
                <a:spcPct val="90000"/>
              </a:lnSpc>
            </a:pPr>
            <a:r>
              <a:rPr lang="es-419" sz="2400">
                <a:solidFill>
                  <a:prstClr val="white"/>
                </a:solidFill>
                <a:latin typeface="Corbel"/>
              </a:rPr>
              <a:t>de estados de la forma canónica controlable</a:t>
            </a:r>
          </a:p>
        </p:txBody>
      </p:sp>
      <p:pic>
        <p:nvPicPr>
          <p:cNvPr id="22" name="Imagen 21">
            <a:extLst>
              <a:ext uri="{FF2B5EF4-FFF2-40B4-BE49-F238E27FC236}">
                <a16:creationId xmlns:a16="http://schemas.microsoft.com/office/drawing/2014/main" id="{1AB3E2D5-3CE8-4DDD-B1A8-0C1D4EF235C0}"/>
              </a:ext>
            </a:extLst>
          </p:cNvPr>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377295" y="4073736"/>
            <a:ext cx="2601905" cy="760000"/>
          </a:xfrm>
          <a:prstGeom prst="rect">
            <a:avLst/>
          </a:prstGeom>
        </p:spPr>
      </p:pic>
      <p:pic>
        <p:nvPicPr>
          <p:cNvPr id="9" name="Imagen 8">
            <a:extLst>
              <a:ext uri="{FF2B5EF4-FFF2-40B4-BE49-F238E27FC236}">
                <a16:creationId xmlns:a16="http://schemas.microsoft.com/office/drawing/2014/main" id="{3F480CFF-FC81-4F1A-AEB9-3ED8C5FEB66D}"/>
              </a:ext>
            </a:extLst>
          </p:cNvPr>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828801" y="5181600"/>
            <a:ext cx="1841905" cy="379048"/>
          </a:xfrm>
          <a:prstGeom prst="rect">
            <a:avLst/>
          </a:prstGeom>
        </p:spPr>
      </p:pic>
      <p:cxnSp>
        <p:nvCxnSpPr>
          <p:cNvPr id="11" name="Conector recto 10">
            <a:extLst>
              <a:ext uri="{FF2B5EF4-FFF2-40B4-BE49-F238E27FC236}">
                <a16:creationId xmlns:a16="http://schemas.microsoft.com/office/drawing/2014/main" id="{12B25C96-5556-4790-BDA5-B5AE397013C3}"/>
              </a:ext>
            </a:extLst>
          </p:cNvPr>
          <p:cNvCxnSpPr/>
          <p:nvPr/>
        </p:nvCxnSpPr>
        <p:spPr>
          <a:xfrm>
            <a:off x="6324600" y="2057400"/>
            <a:ext cx="0" cy="381000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F1E580D0-8AB3-48F8-B242-4542C73EBE0F}"/>
              </a:ext>
            </a:extLst>
          </p:cNvPr>
          <p:cNvSpPr txBox="1"/>
          <p:nvPr/>
        </p:nvSpPr>
        <p:spPr>
          <a:xfrm>
            <a:off x="6705601" y="2237377"/>
            <a:ext cx="5867399" cy="424732"/>
          </a:xfrm>
          <a:prstGeom prst="rect">
            <a:avLst/>
          </a:prstGeom>
          <a:noFill/>
        </p:spPr>
        <p:txBody>
          <a:bodyPr wrap="square" rtlCol="0">
            <a:spAutoFit/>
          </a:bodyPr>
          <a:lstStyle/>
          <a:p>
            <a:pPr>
              <a:lnSpc>
                <a:spcPct val="90000"/>
              </a:lnSpc>
            </a:pPr>
            <a:r>
              <a:rPr lang="es-ES" sz="2400">
                <a:solidFill>
                  <a:prstClr val="white"/>
                </a:solidFill>
                <a:latin typeface="Corbel"/>
              </a:rPr>
              <a:t>aplicando la realimentación de estados:</a:t>
            </a:r>
            <a:endParaRPr lang="es-419" sz="2400">
              <a:solidFill>
                <a:prstClr val="white"/>
              </a:solidFill>
              <a:latin typeface="Corbel"/>
            </a:endParaRPr>
          </a:p>
        </p:txBody>
      </p:sp>
      <p:pic>
        <p:nvPicPr>
          <p:cNvPr id="13" name="Imagen 12">
            <a:extLst>
              <a:ext uri="{FF2B5EF4-FFF2-40B4-BE49-F238E27FC236}">
                <a16:creationId xmlns:a16="http://schemas.microsoft.com/office/drawing/2014/main" id="{2640050E-B09C-40F3-866A-BF7C4FC28E83}"/>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7673705" y="2921778"/>
            <a:ext cx="2683810" cy="390476"/>
          </a:xfrm>
          <a:prstGeom prst="rect">
            <a:avLst/>
          </a:prstGeom>
        </p:spPr>
      </p:pic>
      <p:pic>
        <p:nvPicPr>
          <p:cNvPr id="15" name="Imagen 14">
            <a:extLst>
              <a:ext uri="{FF2B5EF4-FFF2-40B4-BE49-F238E27FC236}">
                <a16:creationId xmlns:a16="http://schemas.microsoft.com/office/drawing/2014/main" id="{2D803370-06A6-42BE-A76E-76447E85F50A}"/>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7010401" y="3962400"/>
            <a:ext cx="4662857" cy="760000"/>
          </a:xfrm>
          <a:prstGeom prst="rect">
            <a:avLst/>
          </a:prstGeom>
        </p:spPr>
      </p:pic>
      <p:sp>
        <p:nvSpPr>
          <p:cNvPr id="16" name="Rectángulo: esquinas redondeadas 15">
            <a:extLst>
              <a:ext uri="{FF2B5EF4-FFF2-40B4-BE49-F238E27FC236}">
                <a16:creationId xmlns:a16="http://schemas.microsoft.com/office/drawing/2014/main" id="{FD373F81-51C4-4830-A233-9413186C9D35}"/>
              </a:ext>
            </a:extLst>
          </p:cNvPr>
          <p:cNvSpPr/>
          <p:nvPr/>
        </p:nvSpPr>
        <p:spPr>
          <a:xfrm>
            <a:off x="8077200" y="3962400"/>
            <a:ext cx="1371600" cy="390476"/>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7" name="CuadroTexto 16">
            <a:extLst>
              <a:ext uri="{FF2B5EF4-FFF2-40B4-BE49-F238E27FC236}">
                <a16:creationId xmlns:a16="http://schemas.microsoft.com/office/drawing/2014/main" id="{2A58A909-BA81-4932-A8CE-F6A715E94673}"/>
              </a:ext>
            </a:extLst>
          </p:cNvPr>
          <p:cNvSpPr txBox="1"/>
          <p:nvPr/>
        </p:nvSpPr>
        <p:spPr>
          <a:xfrm>
            <a:off x="7322530" y="5560648"/>
            <a:ext cx="4038597" cy="757130"/>
          </a:xfrm>
          <a:prstGeom prst="rect">
            <a:avLst/>
          </a:prstGeom>
          <a:noFill/>
        </p:spPr>
        <p:txBody>
          <a:bodyPr wrap="square" rtlCol="0">
            <a:spAutoFit/>
          </a:bodyPr>
          <a:lstStyle/>
          <a:p>
            <a:pPr>
              <a:lnSpc>
                <a:spcPct val="90000"/>
              </a:lnSpc>
            </a:pPr>
            <a:r>
              <a:rPr lang="es-ES" sz="2400">
                <a:solidFill>
                  <a:prstClr val="white"/>
                </a:solidFill>
                <a:latin typeface="Corbel"/>
              </a:rPr>
              <a:t>PUEDO escoger la ecuación característica del sistema</a:t>
            </a:r>
            <a:endParaRPr lang="es-419" sz="2400">
              <a:solidFill>
                <a:prstClr val="white"/>
              </a:solidFill>
              <a:latin typeface="Corbel"/>
            </a:endParaRPr>
          </a:p>
        </p:txBody>
      </p:sp>
      <p:sp>
        <p:nvSpPr>
          <p:cNvPr id="20" name="Rectángulo: esquinas redondeadas 19">
            <a:extLst>
              <a:ext uri="{FF2B5EF4-FFF2-40B4-BE49-F238E27FC236}">
                <a16:creationId xmlns:a16="http://schemas.microsoft.com/office/drawing/2014/main" id="{45DFDDF4-AAD7-471B-8E71-6BD5589F16FD}"/>
              </a:ext>
            </a:extLst>
          </p:cNvPr>
          <p:cNvSpPr/>
          <p:nvPr/>
        </p:nvSpPr>
        <p:spPr>
          <a:xfrm>
            <a:off x="9614520" y="3962400"/>
            <a:ext cx="1371600" cy="390476"/>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Tree>
    <p:extLst>
      <p:ext uri="{BB962C8B-B14F-4D97-AF65-F5344CB8AC3E}">
        <p14:creationId xmlns:p14="http://schemas.microsoft.com/office/powerpoint/2010/main" val="520949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6" grpId="0" animBg="1"/>
      <p:bldP spid="17" grpId="0"/>
      <p:bldP spid="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626A6-BA7C-41D3-B4B9-241BF9208689}"/>
              </a:ext>
            </a:extLst>
          </p:cNvPr>
          <p:cNvSpPr>
            <a:spLocks noGrp="1"/>
          </p:cNvSpPr>
          <p:nvPr>
            <p:ph type="title"/>
          </p:nvPr>
        </p:nvSpPr>
        <p:spPr/>
        <p:txBody>
          <a:bodyPr/>
          <a:lstStyle/>
          <a:p>
            <a:r>
              <a:rPr lang="es-ES"/>
              <a:t>Realimentación de Estados con Referencia</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FAA92BBA-8CF6-420D-B3E0-6E94DDC1FC5B}"/>
                  </a:ext>
                </a:extLst>
              </p:cNvPr>
              <p:cNvSpPr/>
              <p:nvPr/>
            </p:nvSpPr>
            <p:spPr>
              <a:xfrm>
                <a:off x="5794931" y="27046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𝑏</m:t>
                          </m:r>
                        </m:e>
                      </m:acc>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FAA92BBA-8CF6-420D-B3E0-6E94DDC1FC5B}"/>
                  </a:ext>
                </a:extLst>
              </p:cNvPr>
              <p:cNvSpPr>
                <a:spLocks noRot="1" noChangeAspect="1" noMove="1" noResize="1" noEditPoints="1" noAdjustHandles="1" noChangeArrowheads="1" noChangeShapeType="1" noTextEdit="1"/>
              </p:cNvSpPr>
              <p:nvPr/>
            </p:nvSpPr>
            <p:spPr>
              <a:xfrm>
                <a:off x="5794931" y="2704614"/>
                <a:ext cx="609600" cy="609600"/>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p:cxnSp>
        <p:nvCxnSpPr>
          <p:cNvPr id="12" name="Conector recto de flecha 11">
            <a:extLst>
              <a:ext uri="{FF2B5EF4-FFF2-40B4-BE49-F238E27FC236}">
                <a16:creationId xmlns:a16="http://schemas.microsoft.com/office/drawing/2014/main" id="{A51B8C96-F20F-4E38-9E95-C845EEDCC00C}"/>
              </a:ext>
            </a:extLst>
          </p:cNvPr>
          <p:cNvCxnSpPr>
            <a:cxnSpLocks/>
            <a:stCxn id="4" idx="3"/>
            <a:endCxn id="14" idx="2"/>
          </p:cNvCxnSpPr>
          <p:nvPr/>
        </p:nvCxnSpPr>
        <p:spPr>
          <a:xfrm>
            <a:off x="6404531" y="3009414"/>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356D7AF8-559E-4355-9564-1BD7451579C4}"/>
                  </a:ext>
                </a:extLst>
              </p:cNvPr>
              <p:cNvSpPr/>
              <p:nvPr/>
            </p:nvSpPr>
            <p:spPr>
              <a:xfrm>
                <a:off x="8407374" y="2619859"/>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13" name="Rectángulo 12">
                <a:extLst>
                  <a:ext uri="{FF2B5EF4-FFF2-40B4-BE49-F238E27FC236}">
                    <a16:creationId xmlns:a16="http://schemas.microsoft.com/office/drawing/2014/main" id="{356D7AF8-559E-4355-9564-1BD7451579C4}"/>
                  </a:ext>
                </a:extLst>
              </p:cNvPr>
              <p:cNvSpPr>
                <a:spLocks noRot="1" noChangeAspect="1" noMove="1" noResize="1" noEditPoints="1" noAdjustHandles="1" noChangeArrowheads="1" noChangeShapeType="1" noTextEdit="1"/>
              </p:cNvSpPr>
              <p:nvPr/>
            </p:nvSpPr>
            <p:spPr>
              <a:xfrm>
                <a:off x="8407374" y="2619859"/>
                <a:ext cx="609600" cy="792122"/>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sp>
        <p:nvSpPr>
          <p:cNvPr id="14" name="Elipse 13">
            <a:extLst>
              <a:ext uri="{FF2B5EF4-FFF2-40B4-BE49-F238E27FC236}">
                <a16:creationId xmlns:a16="http://schemas.microsoft.com/office/drawing/2014/main" id="{52E4206F-DE39-4786-83F9-BD7C7BE92346}"/>
              </a:ext>
            </a:extLst>
          </p:cNvPr>
          <p:cNvSpPr/>
          <p:nvPr/>
        </p:nvSpPr>
        <p:spPr>
          <a:xfrm>
            <a:off x="6818449" y="27427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5" name="Rectángulo 14">
                <a:extLst>
                  <a:ext uri="{FF2B5EF4-FFF2-40B4-BE49-F238E27FC236}">
                    <a16:creationId xmlns:a16="http://schemas.microsoft.com/office/drawing/2014/main" id="{864FA04F-6106-4239-92D7-8B80AD327D26}"/>
                  </a:ext>
                </a:extLst>
              </p:cNvPr>
              <p:cNvSpPr/>
              <p:nvPr/>
            </p:nvSpPr>
            <p:spPr>
              <a:xfrm>
                <a:off x="10105417" y="27046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sz="2800" i="1">
                              <a:solidFill>
                                <a:prstClr val="white"/>
                              </a:solidFill>
                              <a:latin typeface="Cambria Math" panose="02040503050406030204" pitchFamily="18" charset="0"/>
                            </a:rPr>
                          </m:ctrlPr>
                        </m:sSupPr>
                        <m:e>
                          <m:acc>
                            <m:accPr>
                              <m:chr m:val="⃗"/>
                              <m:ctrlPr>
                                <a:rPr lang="en-US" sz="2800" i="1">
                                  <a:solidFill>
                                    <a:prstClr val="white"/>
                                  </a:solidFill>
                                  <a:latin typeface="Cambria Math" panose="02040503050406030204" pitchFamily="18" charset="0"/>
                                </a:rPr>
                              </m:ctrlPr>
                            </m:accPr>
                            <m:e>
                              <m:r>
                                <a:rPr lang="en-US" sz="2800" i="1">
                                  <a:solidFill>
                                    <a:prstClr val="white"/>
                                  </a:solidFill>
                                  <a:latin typeface="Cambria Math" panose="02040503050406030204" pitchFamily="18" charset="0"/>
                                </a:rPr>
                                <m:t>𝑐</m:t>
                              </m:r>
                            </m:e>
                          </m:acc>
                        </m:e>
                        <m:sup>
                          <m:r>
                            <a:rPr lang="en-US" sz="2800" i="1">
                              <a:solidFill>
                                <a:prstClr val="white"/>
                              </a:solidFill>
                              <a:latin typeface="Cambria Math" panose="02040503050406030204" pitchFamily="18" charset="0"/>
                            </a:rPr>
                            <m:t>𝑇</m:t>
                          </m:r>
                        </m:sup>
                      </m:sSup>
                    </m:oMath>
                  </m:oMathPara>
                </a14:m>
                <a:endParaRPr lang="es-419" sz="2800">
                  <a:solidFill>
                    <a:prstClr val="white"/>
                  </a:solidFill>
                  <a:latin typeface="Corbel"/>
                </a:endParaRPr>
              </a:p>
            </p:txBody>
          </p:sp>
        </mc:Choice>
        <mc:Fallback>
          <p:sp>
            <p:nvSpPr>
              <p:cNvPr id="15" name="Rectángulo 14">
                <a:extLst>
                  <a:ext uri="{FF2B5EF4-FFF2-40B4-BE49-F238E27FC236}">
                    <a16:creationId xmlns:a16="http://schemas.microsoft.com/office/drawing/2014/main" id="{864FA04F-6106-4239-92D7-8B80AD327D26}"/>
                  </a:ext>
                </a:extLst>
              </p:cNvPr>
              <p:cNvSpPr>
                <a:spLocks noRot="1" noChangeAspect="1" noMove="1" noResize="1" noEditPoints="1" noAdjustHandles="1" noChangeArrowheads="1" noChangeShapeType="1" noTextEdit="1"/>
              </p:cNvSpPr>
              <p:nvPr/>
            </p:nvSpPr>
            <p:spPr>
              <a:xfrm>
                <a:off x="10105417" y="2704614"/>
                <a:ext cx="609600" cy="609600"/>
              </a:xfrm>
              <a:prstGeom prst="rect">
                <a:avLst/>
              </a:prstGeom>
              <a:blipFill>
                <a:blip r:embed="rId8"/>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6C42D366-3274-469C-9397-58185BC33F97}"/>
                  </a:ext>
                </a:extLst>
              </p:cNvPr>
              <p:cNvSpPr/>
              <p:nvPr/>
            </p:nvSpPr>
            <p:spPr>
              <a:xfrm>
                <a:off x="7772399" y="386214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𝐴</m:t>
                      </m:r>
                    </m:oMath>
                  </m:oMathPara>
                </a14:m>
                <a:endParaRPr lang="es-419" sz="2800">
                  <a:solidFill>
                    <a:prstClr val="white"/>
                  </a:solidFill>
                  <a:latin typeface="Corbel"/>
                </a:endParaRPr>
              </a:p>
            </p:txBody>
          </p:sp>
        </mc:Choice>
        <mc:Fallback>
          <p:sp>
            <p:nvSpPr>
              <p:cNvPr id="16" name="Rectángulo 15">
                <a:extLst>
                  <a:ext uri="{FF2B5EF4-FFF2-40B4-BE49-F238E27FC236}">
                    <a16:creationId xmlns:a16="http://schemas.microsoft.com/office/drawing/2014/main" id="{6C42D366-3274-469C-9397-58185BC33F97}"/>
                  </a:ext>
                </a:extLst>
              </p:cNvPr>
              <p:cNvSpPr>
                <a:spLocks noRot="1" noChangeAspect="1" noMove="1" noResize="1" noEditPoints="1" noAdjustHandles="1" noChangeArrowheads="1" noChangeShapeType="1" noTextEdit="1"/>
              </p:cNvSpPr>
              <p:nvPr/>
            </p:nvSpPr>
            <p:spPr>
              <a:xfrm>
                <a:off x="7772399" y="3862144"/>
                <a:ext cx="609600" cy="609600"/>
              </a:xfrm>
              <a:prstGeom prst="rect">
                <a:avLst/>
              </a:prstGeom>
              <a:blipFill>
                <a:blip r:embed="rId9"/>
                <a:stretch>
                  <a:fillRect/>
                </a:stretch>
              </a:blipFill>
              <a:ln w="57150">
                <a:solidFill>
                  <a:schemeClr val="tx1"/>
                </a:solidFill>
                <a:miter lim="800000"/>
              </a:ln>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B9E07789-19B4-4C5E-BA5A-301E136AF610}"/>
              </a:ext>
            </a:extLst>
          </p:cNvPr>
          <p:cNvCxnSpPr>
            <a:cxnSpLocks/>
            <a:stCxn id="14" idx="6"/>
            <a:endCxn id="13" idx="1"/>
          </p:cNvCxnSpPr>
          <p:nvPr/>
        </p:nvCxnSpPr>
        <p:spPr>
          <a:xfrm>
            <a:off x="7351850" y="3009414"/>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AF96EF00-ABDA-4698-A2B9-2A8CE7782D43}"/>
              </a:ext>
            </a:extLst>
          </p:cNvPr>
          <p:cNvCxnSpPr>
            <a:cxnSpLocks/>
            <a:stCxn id="13" idx="3"/>
            <a:endCxn id="15" idx="1"/>
          </p:cNvCxnSpPr>
          <p:nvPr/>
        </p:nvCxnSpPr>
        <p:spPr>
          <a:xfrm flipV="1">
            <a:off x="9016975" y="3009414"/>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r 24">
            <a:extLst>
              <a:ext uri="{FF2B5EF4-FFF2-40B4-BE49-F238E27FC236}">
                <a16:creationId xmlns:a16="http://schemas.microsoft.com/office/drawing/2014/main" id="{93F75582-B362-4921-9220-A3403C5D5DEA}"/>
              </a:ext>
            </a:extLst>
          </p:cNvPr>
          <p:cNvCxnSpPr>
            <a:cxnSpLocks/>
            <a:endCxn id="16" idx="3"/>
          </p:cNvCxnSpPr>
          <p:nvPr/>
        </p:nvCxnSpPr>
        <p:spPr>
          <a:xfrm rot="5400000">
            <a:off x="8350709" y="3047212"/>
            <a:ext cx="1151024" cy="1088443"/>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E8AEE46B-3F2A-4CB1-9974-E83B6E8BEE8A}"/>
              </a:ext>
            </a:extLst>
          </p:cNvPr>
          <p:cNvCxnSpPr>
            <a:cxnSpLocks/>
            <a:stCxn id="15" idx="3"/>
          </p:cNvCxnSpPr>
          <p:nvPr/>
        </p:nvCxnSpPr>
        <p:spPr>
          <a:xfrm>
            <a:off x="10715017" y="3009414"/>
            <a:ext cx="946666"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2" name="Conector: angular 31">
            <a:extLst>
              <a:ext uri="{FF2B5EF4-FFF2-40B4-BE49-F238E27FC236}">
                <a16:creationId xmlns:a16="http://schemas.microsoft.com/office/drawing/2014/main" id="{289ECB42-0B64-49C2-BD47-455794020806}"/>
              </a:ext>
            </a:extLst>
          </p:cNvPr>
          <p:cNvCxnSpPr>
            <a:cxnSpLocks/>
            <a:stCxn id="16" idx="1"/>
            <a:endCxn id="14" idx="4"/>
          </p:cNvCxnSpPr>
          <p:nvPr/>
        </p:nvCxnSpPr>
        <p:spPr>
          <a:xfrm rot="10800000">
            <a:off x="7085149" y="3276114"/>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B1FA9998-A8CB-42AB-A882-37417D00AA53}"/>
                  </a:ext>
                </a:extLst>
              </p:cNvPr>
              <p:cNvSpPr txBox="1"/>
              <p:nvPr/>
            </p:nvSpPr>
            <p:spPr>
              <a:xfrm>
                <a:off x="7512982" y="2484299"/>
                <a:ext cx="312200" cy="501804"/>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42" name="CuadroTexto 41">
                <a:extLst>
                  <a:ext uri="{FF2B5EF4-FFF2-40B4-BE49-F238E27FC236}">
                    <a16:creationId xmlns:a16="http://schemas.microsoft.com/office/drawing/2014/main" id="{B1FA9998-A8CB-42AB-A882-37417D00AA53}"/>
                  </a:ext>
                </a:extLst>
              </p:cNvPr>
              <p:cNvSpPr txBox="1">
                <a:spLocks noRot="1" noChangeAspect="1" noMove="1" noResize="1" noEditPoints="1" noAdjustHandles="1" noChangeArrowheads="1" noChangeShapeType="1" noTextEdit="1"/>
              </p:cNvSpPr>
              <p:nvPr/>
            </p:nvSpPr>
            <p:spPr>
              <a:xfrm>
                <a:off x="7512982" y="2484299"/>
                <a:ext cx="312200" cy="501804"/>
              </a:xfrm>
              <a:prstGeom prst="rect">
                <a:avLst/>
              </a:prstGeom>
              <a:blipFill>
                <a:blip r:embed="rId10"/>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933B7F69-01A4-4992-8B46-E99EFE0A67B4}"/>
                  </a:ext>
                </a:extLst>
              </p:cNvPr>
              <p:cNvSpPr txBox="1"/>
              <p:nvPr/>
            </p:nvSpPr>
            <p:spPr>
              <a:xfrm>
                <a:off x="9305355" y="2572722"/>
                <a:ext cx="312200"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43" name="CuadroTexto 42">
                <a:extLst>
                  <a:ext uri="{FF2B5EF4-FFF2-40B4-BE49-F238E27FC236}">
                    <a16:creationId xmlns:a16="http://schemas.microsoft.com/office/drawing/2014/main" id="{933B7F69-01A4-4992-8B46-E99EFE0A67B4}"/>
                  </a:ext>
                </a:extLst>
              </p:cNvPr>
              <p:cNvSpPr txBox="1">
                <a:spLocks noRot="1" noChangeAspect="1" noMove="1" noResize="1" noEditPoints="1" noAdjustHandles="1" noChangeArrowheads="1" noChangeShapeType="1" noTextEdit="1"/>
              </p:cNvSpPr>
              <p:nvPr/>
            </p:nvSpPr>
            <p:spPr>
              <a:xfrm>
                <a:off x="9305355" y="2572722"/>
                <a:ext cx="312200" cy="44319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96F440AF-589B-4FA6-8AF9-034F94C6E24B}"/>
                  </a:ext>
                </a:extLst>
              </p:cNvPr>
              <p:cNvSpPr txBox="1"/>
              <p:nvPr/>
            </p:nvSpPr>
            <p:spPr>
              <a:xfrm>
                <a:off x="11188832" y="2549899"/>
                <a:ext cx="23769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44" name="CuadroTexto 43">
                <a:extLst>
                  <a:ext uri="{FF2B5EF4-FFF2-40B4-BE49-F238E27FC236}">
                    <a16:creationId xmlns:a16="http://schemas.microsoft.com/office/drawing/2014/main" id="{96F440AF-589B-4FA6-8AF9-034F94C6E24B}"/>
                  </a:ext>
                </a:extLst>
              </p:cNvPr>
              <p:cNvSpPr txBox="1">
                <a:spLocks noRot="1" noChangeAspect="1" noMove="1" noResize="1" noEditPoints="1" noAdjustHandles="1" noChangeArrowheads="1" noChangeShapeType="1" noTextEdit="1"/>
              </p:cNvSpPr>
              <p:nvPr/>
            </p:nvSpPr>
            <p:spPr>
              <a:xfrm>
                <a:off x="11188832" y="2549899"/>
                <a:ext cx="237693" cy="332399"/>
              </a:xfrm>
              <a:prstGeom prst="rect">
                <a:avLst/>
              </a:prstGeom>
              <a:blipFill>
                <a:blip r:embed="rId12"/>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C3003651-6330-4E49-BB23-F61A92F62E32}"/>
                  </a:ext>
                </a:extLst>
              </p:cNvPr>
              <p:cNvSpPr txBox="1"/>
              <p:nvPr/>
            </p:nvSpPr>
            <p:spPr>
              <a:xfrm>
                <a:off x="5144636" y="2599982"/>
                <a:ext cx="24506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45" name="CuadroTexto 44">
                <a:extLst>
                  <a:ext uri="{FF2B5EF4-FFF2-40B4-BE49-F238E27FC236}">
                    <a16:creationId xmlns:a16="http://schemas.microsoft.com/office/drawing/2014/main" id="{C3003651-6330-4E49-BB23-F61A92F62E32}"/>
                  </a:ext>
                </a:extLst>
              </p:cNvPr>
              <p:cNvSpPr txBox="1">
                <a:spLocks noRot="1" noChangeAspect="1" noMove="1" noResize="1" noEditPoints="1" noAdjustHandles="1" noChangeArrowheads="1" noChangeShapeType="1" noTextEdit="1"/>
              </p:cNvSpPr>
              <p:nvPr/>
            </p:nvSpPr>
            <p:spPr>
              <a:xfrm>
                <a:off x="5144636" y="2599982"/>
                <a:ext cx="245067" cy="332399"/>
              </a:xfrm>
              <a:prstGeom prst="rect">
                <a:avLst/>
              </a:prstGeom>
              <a:blipFill>
                <a:blip r:embed="rId13"/>
                <a:stretch>
                  <a:fillRect l="-20000" r="-15000"/>
                </a:stretch>
              </a:blipFill>
            </p:spPr>
            <p:txBody>
              <a:bodyPr/>
              <a:lstStyle/>
              <a:p>
                <a:r>
                  <a:rPr lang="en-US">
                    <a:noFill/>
                  </a:rPr>
                  <a:t> </a:t>
                </a:r>
              </a:p>
            </p:txBody>
          </p:sp>
        </mc:Fallback>
      </mc:AlternateContent>
      <p:sp>
        <p:nvSpPr>
          <p:cNvPr id="46" name="Rectángulo 45">
            <a:extLst>
              <a:ext uri="{FF2B5EF4-FFF2-40B4-BE49-F238E27FC236}">
                <a16:creationId xmlns:a16="http://schemas.microsoft.com/office/drawing/2014/main" id="{9FF419DA-6FF5-4C98-8265-7F9EF47ED21A}"/>
              </a:ext>
            </a:extLst>
          </p:cNvPr>
          <p:cNvSpPr/>
          <p:nvPr/>
        </p:nvSpPr>
        <p:spPr>
          <a:xfrm>
            <a:off x="5490131" y="2308555"/>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47" name="CuadroTexto 46">
            <a:extLst>
              <a:ext uri="{FF2B5EF4-FFF2-40B4-BE49-F238E27FC236}">
                <a16:creationId xmlns:a16="http://schemas.microsoft.com/office/drawing/2014/main" id="{368EB6B6-23B7-4A15-8663-CAFD9F5BF300}"/>
              </a:ext>
            </a:extLst>
          </p:cNvPr>
          <p:cNvSpPr txBox="1"/>
          <p:nvPr/>
        </p:nvSpPr>
        <p:spPr>
          <a:xfrm>
            <a:off x="5488863" y="4297478"/>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mc:AlternateContent xmlns:mc="http://schemas.openxmlformats.org/markup-compatibility/2006">
        <mc:Choice xmlns:a14="http://schemas.microsoft.com/office/drawing/2010/main" Requires="a14">
          <p:sp>
            <p:nvSpPr>
              <p:cNvPr id="30" name="Rectángulo 29">
                <a:extLst>
                  <a:ext uri="{FF2B5EF4-FFF2-40B4-BE49-F238E27FC236}">
                    <a16:creationId xmlns:a16="http://schemas.microsoft.com/office/drawing/2014/main" id="{A66B8D36-630E-439C-ADB4-CED41CAB4C2C}"/>
                  </a:ext>
                </a:extLst>
              </p:cNvPr>
              <p:cNvSpPr/>
              <p:nvPr/>
            </p:nvSpPr>
            <p:spPr>
              <a:xfrm>
                <a:off x="7512983" y="5267602"/>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a:solidFill>
                            <a:prstClr val="white"/>
                          </a:solidFill>
                          <a:latin typeface="Cambria Math" panose="02040503050406030204" pitchFamily="18" charset="0"/>
                        </a:rPr>
                        <m:t>𝑘</m:t>
                      </m:r>
                    </m:oMath>
                  </m:oMathPara>
                </a14:m>
                <a:endParaRPr lang="es-419" sz="2800">
                  <a:solidFill>
                    <a:prstClr val="white"/>
                  </a:solidFill>
                  <a:latin typeface="Corbel"/>
                </a:endParaRPr>
              </a:p>
            </p:txBody>
          </p:sp>
        </mc:Choice>
        <mc:Fallback>
          <p:sp>
            <p:nvSpPr>
              <p:cNvPr id="30" name="Rectángulo 29">
                <a:extLst>
                  <a:ext uri="{FF2B5EF4-FFF2-40B4-BE49-F238E27FC236}">
                    <a16:creationId xmlns:a16="http://schemas.microsoft.com/office/drawing/2014/main" id="{A66B8D36-630E-439C-ADB4-CED41CAB4C2C}"/>
                  </a:ext>
                </a:extLst>
              </p:cNvPr>
              <p:cNvSpPr>
                <a:spLocks noRot="1" noChangeAspect="1" noMove="1" noResize="1" noEditPoints="1" noAdjustHandles="1" noChangeArrowheads="1" noChangeShapeType="1" noTextEdit="1"/>
              </p:cNvSpPr>
              <p:nvPr/>
            </p:nvSpPr>
            <p:spPr>
              <a:xfrm>
                <a:off x="7512983" y="5267602"/>
                <a:ext cx="869017" cy="609600"/>
              </a:xfrm>
              <a:prstGeom prst="rect">
                <a:avLst/>
              </a:prstGeom>
              <a:blipFill>
                <a:blip r:embed="rId14"/>
                <a:stretch>
                  <a:fillRect/>
                </a:stretch>
              </a:blipFill>
              <a:ln w="57150">
                <a:solidFill>
                  <a:schemeClr val="tx1"/>
                </a:solidFill>
                <a:miter lim="800000"/>
              </a:ln>
            </p:spPr>
            <p:txBody>
              <a:bodyPr/>
              <a:lstStyle/>
              <a:p>
                <a:r>
                  <a:rPr lang="en-US">
                    <a:noFill/>
                  </a:rPr>
                  <a:t> </a:t>
                </a:r>
              </a:p>
            </p:txBody>
          </p:sp>
        </mc:Fallback>
      </mc:AlternateContent>
      <p:cxnSp>
        <p:nvCxnSpPr>
          <p:cNvPr id="31" name="Conector: angular 30">
            <a:extLst>
              <a:ext uri="{FF2B5EF4-FFF2-40B4-BE49-F238E27FC236}">
                <a16:creationId xmlns:a16="http://schemas.microsoft.com/office/drawing/2014/main" id="{766CE465-3245-44CC-8208-D94AD1273C02}"/>
              </a:ext>
            </a:extLst>
          </p:cNvPr>
          <p:cNvCxnSpPr>
            <a:cxnSpLocks/>
            <a:endCxn id="30" idx="3"/>
          </p:cNvCxnSpPr>
          <p:nvPr/>
        </p:nvCxnSpPr>
        <p:spPr>
          <a:xfrm rot="5400000">
            <a:off x="8235523" y="4337478"/>
            <a:ext cx="1381402" cy="1088449"/>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angular 33">
            <a:extLst>
              <a:ext uri="{FF2B5EF4-FFF2-40B4-BE49-F238E27FC236}">
                <a16:creationId xmlns:a16="http://schemas.microsoft.com/office/drawing/2014/main" id="{929E34D5-B267-4D3C-8193-D882AEB5D757}"/>
              </a:ext>
            </a:extLst>
          </p:cNvPr>
          <p:cNvCxnSpPr>
            <a:cxnSpLocks/>
            <a:stCxn id="30" idx="1"/>
            <a:endCxn id="28" idx="4"/>
          </p:cNvCxnSpPr>
          <p:nvPr/>
        </p:nvCxnSpPr>
        <p:spPr>
          <a:xfrm rot="10800000">
            <a:off x="4827723" y="3276114"/>
            <a:ext cx="2685261" cy="2296288"/>
          </a:xfrm>
          <a:prstGeom prst="bentConnector2">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8" name="Elipse 27">
            <a:extLst>
              <a:ext uri="{FF2B5EF4-FFF2-40B4-BE49-F238E27FC236}">
                <a16:creationId xmlns:a16="http://schemas.microsoft.com/office/drawing/2014/main" id="{72476F2A-B860-4E36-9E90-FD3AF620FEC3}"/>
              </a:ext>
            </a:extLst>
          </p:cNvPr>
          <p:cNvSpPr/>
          <p:nvPr/>
        </p:nvSpPr>
        <p:spPr>
          <a:xfrm>
            <a:off x="4561021" y="27427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33" name="Conector recto de flecha 32">
            <a:extLst>
              <a:ext uri="{FF2B5EF4-FFF2-40B4-BE49-F238E27FC236}">
                <a16:creationId xmlns:a16="http://schemas.microsoft.com/office/drawing/2014/main" id="{CC6FC6B6-C7C5-464B-BDF8-FB688C1AC573}"/>
              </a:ext>
            </a:extLst>
          </p:cNvPr>
          <p:cNvCxnSpPr>
            <a:cxnSpLocks/>
            <a:stCxn id="28" idx="6"/>
            <a:endCxn id="4" idx="1"/>
          </p:cNvCxnSpPr>
          <p:nvPr/>
        </p:nvCxnSpPr>
        <p:spPr>
          <a:xfrm>
            <a:off x="5094421" y="3009414"/>
            <a:ext cx="70051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68FBCEE6-E006-441E-BF46-D93582336FE3}"/>
              </a:ext>
            </a:extLst>
          </p:cNvPr>
          <p:cNvCxnSpPr>
            <a:cxnSpLocks/>
            <a:endCxn id="28" idx="2"/>
          </p:cNvCxnSpPr>
          <p:nvPr/>
        </p:nvCxnSpPr>
        <p:spPr>
          <a:xfrm flipV="1">
            <a:off x="4060243" y="3009414"/>
            <a:ext cx="500778" cy="6506"/>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B8665968-8DD7-470A-A47B-30A5C20568DA}"/>
                  </a:ext>
                </a:extLst>
              </p:cNvPr>
              <p:cNvSpPr txBox="1"/>
              <p:nvPr/>
            </p:nvSpPr>
            <p:spPr>
              <a:xfrm>
                <a:off x="4072939" y="2619860"/>
                <a:ext cx="213520"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oMath>
                  </m:oMathPara>
                </a14:m>
                <a:endParaRPr lang="es-419" sz="3200">
                  <a:solidFill>
                    <a:prstClr val="white"/>
                  </a:solidFill>
                  <a:latin typeface="Corbel"/>
                </a:endParaRPr>
              </a:p>
            </p:txBody>
          </p:sp>
        </mc:Choice>
        <mc:Fallback>
          <p:sp>
            <p:nvSpPr>
              <p:cNvPr id="41" name="CuadroTexto 40">
                <a:extLst>
                  <a:ext uri="{FF2B5EF4-FFF2-40B4-BE49-F238E27FC236}">
                    <a16:creationId xmlns:a16="http://schemas.microsoft.com/office/drawing/2014/main" id="{B8665968-8DD7-470A-A47B-30A5C20568DA}"/>
                  </a:ext>
                </a:extLst>
              </p:cNvPr>
              <p:cNvSpPr txBox="1">
                <a:spLocks noRot="1" noChangeAspect="1" noMove="1" noResize="1" noEditPoints="1" noAdjustHandles="1" noChangeArrowheads="1" noChangeShapeType="1" noTextEdit="1"/>
              </p:cNvSpPr>
              <p:nvPr/>
            </p:nvSpPr>
            <p:spPr>
              <a:xfrm>
                <a:off x="4072939" y="2619860"/>
                <a:ext cx="213520" cy="332399"/>
              </a:xfrm>
              <a:prstGeom prst="rect">
                <a:avLst/>
              </a:prstGeom>
              <a:blipFill>
                <a:blip r:embed="rId15"/>
                <a:stretch>
                  <a:fillRect l="-20000" r="-20000"/>
                </a:stretch>
              </a:blipFill>
            </p:spPr>
            <p:txBody>
              <a:bodyPr/>
              <a:lstStyle/>
              <a:p>
                <a:r>
                  <a:rPr lang="en-US">
                    <a:noFill/>
                  </a:rPr>
                  <a:t> </a:t>
                </a:r>
              </a:p>
            </p:txBody>
          </p:sp>
        </mc:Fallback>
      </mc:AlternateContent>
      <p:pic>
        <p:nvPicPr>
          <p:cNvPr id="48" name="Imagen 47">
            <a:extLst>
              <a:ext uri="{FF2B5EF4-FFF2-40B4-BE49-F238E27FC236}">
                <a16:creationId xmlns:a16="http://schemas.microsoft.com/office/drawing/2014/main" id="{9F0EA229-84BE-4262-B6FE-CBD9DA7B3B51}"/>
              </a:ext>
            </a:extLst>
          </p:cNvPr>
          <p:cNvPicPr>
            <a:picLocks noChangeAspect="1"/>
          </p:cNvPicPr>
          <p:nvPr>
            <p:custDataLst>
              <p:tags r:id="rId1"/>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457201" y="2113316"/>
            <a:ext cx="2803809" cy="390476"/>
          </a:xfrm>
          <a:prstGeom prst="rect">
            <a:avLst/>
          </a:prstGeom>
        </p:spPr>
      </p:pic>
      <p:pic>
        <p:nvPicPr>
          <p:cNvPr id="29" name="Imagen 28">
            <a:extLst>
              <a:ext uri="{FF2B5EF4-FFF2-40B4-BE49-F238E27FC236}">
                <a16:creationId xmlns:a16="http://schemas.microsoft.com/office/drawing/2014/main" id="{ABBC4E22-E831-45E2-A8C5-D09E908B8DA9}"/>
              </a:ext>
            </a:extLst>
          </p:cNvPr>
          <p:cNvPicPr>
            <a:picLocks noChangeAspect="1"/>
          </p:cNvPicPr>
          <p:nvPr>
            <p:custDataLst>
              <p:tags r:id="rId2"/>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457201" y="2827057"/>
            <a:ext cx="2784761" cy="318095"/>
          </a:xfrm>
          <a:prstGeom prst="rect">
            <a:avLst/>
          </a:prstGeom>
        </p:spPr>
      </p:pic>
      <p:pic>
        <p:nvPicPr>
          <p:cNvPr id="36" name="Imagen 35">
            <a:extLst>
              <a:ext uri="{FF2B5EF4-FFF2-40B4-BE49-F238E27FC236}">
                <a16:creationId xmlns:a16="http://schemas.microsoft.com/office/drawing/2014/main" id="{71772A6D-CAF9-406D-966B-66117BBBC3E3}"/>
              </a:ext>
            </a:extLst>
          </p:cNvPr>
          <p:cNvPicPr>
            <a:picLocks noChangeAspect="1"/>
          </p:cNvPicPr>
          <p:nvPr>
            <p:custDataLst>
              <p:tags r:id="rId3"/>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314023" y="3666906"/>
            <a:ext cx="3716190" cy="390476"/>
          </a:xfrm>
          <a:prstGeom prst="rect">
            <a:avLst/>
          </a:prstGeom>
        </p:spPr>
      </p:pic>
      <mc:AlternateContent xmlns:mc="http://schemas.openxmlformats.org/markup-compatibility/2006">
        <mc:Choice xmlns:a14="http://schemas.microsoft.com/office/drawing/2010/main" Requires="a14">
          <p:sp>
            <p:nvSpPr>
              <p:cNvPr id="50" name="CuadroTexto 49">
                <a:extLst>
                  <a:ext uri="{FF2B5EF4-FFF2-40B4-BE49-F238E27FC236}">
                    <a16:creationId xmlns:a16="http://schemas.microsoft.com/office/drawing/2014/main" id="{0DF23EF1-4333-48F6-AAAB-E6481B2A241D}"/>
                  </a:ext>
                </a:extLst>
              </p:cNvPr>
              <p:cNvSpPr txBox="1"/>
              <p:nvPr/>
            </p:nvSpPr>
            <p:spPr>
              <a:xfrm>
                <a:off x="4680504" y="3007699"/>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50" name="CuadroTexto 49">
                <a:extLst>
                  <a:ext uri="{FF2B5EF4-FFF2-40B4-BE49-F238E27FC236}">
                    <a16:creationId xmlns:a16="http://schemas.microsoft.com/office/drawing/2014/main" id="{0DF23EF1-4333-48F6-AAAB-E6481B2A241D}"/>
                  </a:ext>
                </a:extLst>
              </p:cNvPr>
              <p:cNvSpPr txBox="1">
                <a:spLocks noRot="1" noChangeAspect="1" noMove="1" noResize="1" noEditPoints="1" noAdjustHandles="1" noChangeArrowheads="1" noChangeShapeType="1" noTextEdit="1"/>
              </p:cNvSpPr>
              <p:nvPr/>
            </p:nvSpPr>
            <p:spPr>
              <a:xfrm>
                <a:off x="4680504" y="3007699"/>
                <a:ext cx="290143" cy="332399"/>
              </a:xfrm>
              <a:prstGeom prst="rect">
                <a:avLst/>
              </a:prstGeom>
              <a:blipFill>
                <a:blip r:embed="rId19"/>
                <a:stretch>
                  <a:fillRect l="-8511"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1" name="CuadroTexto 50">
                <a:extLst>
                  <a:ext uri="{FF2B5EF4-FFF2-40B4-BE49-F238E27FC236}">
                    <a16:creationId xmlns:a16="http://schemas.microsoft.com/office/drawing/2014/main" id="{F445A21E-2FF4-4455-8E76-FB23A9F7D023}"/>
                  </a:ext>
                </a:extLst>
              </p:cNvPr>
              <p:cNvSpPr txBox="1"/>
              <p:nvPr/>
            </p:nvSpPr>
            <p:spPr>
              <a:xfrm>
                <a:off x="4549204" y="2841500"/>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51" name="CuadroTexto 50">
                <a:extLst>
                  <a:ext uri="{FF2B5EF4-FFF2-40B4-BE49-F238E27FC236}">
                    <a16:creationId xmlns:a16="http://schemas.microsoft.com/office/drawing/2014/main" id="{F445A21E-2FF4-4455-8E76-FB23A9F7D023}"/>
                  </a:ext>
                </a:extLst>
              </p:cNvPr>
              <p:cNvSpPr txBox="1">
                <a:spLocks noRot="1" noChangeAspect="1" noMove="1" noResize="1" noEditPoints="1" noAdjustHandles="1" noChangeArrowheads="1" noChangeShapeType="1" noTextEdit="1"/>
              </p:cNvSpPr>
              <p:nvPr/>
            </p:nvSpPr>
            <p:spPr>
              <a:xfrm>
                <a:off x="4549204" y="2841500"/>
                <a:ext cx="290143" cy="332399"/>
              </a:xfrm>
              <a:prstGeom prst="rect">
                <a:avLst/>
              </a:prstGeom>
              <a:blipFill>
                <a:blip r:embed="rId20"/>
                <a:stretch>
                  <a:fillRect l="-22917" r="-20833" b="-5455"/>
                </a:stretch>
              </a:blipFill>
            </p:spPr>
            <p:txBody>
              <a:bodyPr/>
              <a:lstStyle/>
              <a:p>
                <a:r>
                  <a:rPr lang="en-US">
                    <a:noFill/>
                  </a:rPr>
                  <a:t> </a:t>
                </a:r>
              </a:p>
            </p:txBody>
          </p:sp>
        </mc:Fallback>
      </mc:AlternateContent>
    </p:spTree>
    <p:extLst>
      <p:ext uri="{BB962C8B-B14F-4D97-AF65-F5344CB8AC3E}">
        <p14:creationId xmlns:p14="http://schemas.microsoft.com/office/powerpoint/2010/main" val="3841517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7E0D5B-FD4D-41E6-910C-A40DCCC45EB7}"/>
              </a:ext>
            </a:extLst>
          </p:cNvPr>
          <p:cNvSpPr>
            <a:spLocks noGrp="1"/>
          </p:cNvSpPr>
          <p:nvPr>
            <p:ph type="title"/>
          </p:nvPr>
        </p:nvSpPr>
        <p:spPr/>
        <p:txBody>
          <a:bodyPr/>
          <a:lstStyle/>
          <a:p>
            <a:r>
              <a:rPr lang="es-ES"/>
              <a:t>Realimentación de Estados</a:t>
            </a:r>
            <a:endParaRPr lang="es-419"/>
          </a:p>
        </p:txBody>
      </p:sp>
      <p:sp>
        <p:nvSpPr>
          <p:cNvPr id="3" name="Marcador de contenido 2">
            <a:extLst>
              <a:ext uri="{FF2B5EF4-FFF2-40B4-BE49-F238E27FC236}">
                <a16:creationId xmlns:a16="http://schemas.microsoft.com/office/drawing/2014/main" id="{95330EAC-203F-4B25-AFDD-E518B015F76C}"/>
              </a:ext>
            </a:extLst>
          </p:cNvPr>
          <p:cNvSpPr>
            <a:spLocks noGrp="1"/>
          </p:cNvSpPr>
          <p:nvPr>
            <p:ph idx="1"/>
          </p:nvPr>
        </p:nvSpPr>
        <p:spPr>
          <a:xfrm>
            <a:off x="1524002" y="2514600"/>
            <a:ext cx="9144000" cy="3657600"/>
          </a:xfrm>
        </p:spPr>
        <p:txBody>
          <a:bodyPr/>
          <a:lstStyle/>
          <a:p>
            <a:r>
              <a:rPr lang="es-419"/>
              <a:t>Viendo la función de transferencia de lazo cerrado de nuestro sistema de realimentación de estados tenemos que:</a:t>
            </a:r>
          </a:p>
          <a:p>
            <a:r>
              <a:rPr lang="es-419"/>
              <a:t>Partiendo de la ecuación para transformar EE a FT</a:t>
            </a:r>
          </a:p>
          <a:p>
            <a:endParaRPr lang="es-419"/>
          </a:p>
          <a:p>
            <a:r>
              <a:rPr lang="es-419"/>
              <a:t>La FT en lazo cerrado vendría dada por:</a:t>
            </a:r>
          </a:p>
        </p:txBody>
      </p:sp>
      <p:pic>
        <p:nvPicPr>
          <p:cNvPr id="4" name="Imagen 3">
            <a:extLst>
              <a:ext uri="{FF2B5EF4-FFF2-40B4-BE49-F238E27FC236}">
                <a16:creationId xmlns:a16="http://schemas.microsoft.com/office/drawing/2014/main" id="{52B9AF74-4BDF-440F-B37F-DBFDF25F89FF}"/>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4495800" y="1752600"/>
            <a:ext cx="3716190" cy="390476"/>
          </a:xfrm>
          <a:prstGeom prst="rect">
            <a:avLst/>
          </a:prstGeom>
        </p:spPr>
      </p:pic>
      <p:pic>
        <p:nvPicPr>
          <p:cNvPr id="8" name="Imagen 7">
            <a:extLst>
              <a:ext uri="{FF2B5EF4-FFF2-40B4-BE49-F238E27FC236}">
                <a16:creationId xmlns:a16="http://schemas.microsoft.com/office/drawing/2014/main" id="{BF09DDBA-1CA3-466D-A85E-8B15F8991E10}"/>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4816001" y="3952924"/>
            <a:ext cx="2881905" cy="390476"/>
          </a:xfrm>
          <a:prstGeom prst="rect">
            <a:avLst/>
          </a:prstGeom>
        </p:spPr>
      </p:pic>
      <p:pic>
        <p:nvPicPr>
          <p:cNvPr id="12" name="Imagen 11">
            <a:extLst>
              <a:ext uri="{FF2B5EF4-FFF2-40B4-BE49-F238E27FC236}">
                <a16:creationId xmlns:a16="http://schemas.microsoft.com/office/drawing/2014/main" id="{0BC34647-C408-4365-B70A-BED92C48AAC5}"/>
              </a:ext>
            </a:extLst>
          </p:cNvPr>
          <p:cNvPicPr>
            <a:picLocks noChangeAspect="1"/>
          </p:cNvPicPr>
          <p:nvPr>
            <p:custDataLst>
              <p:tags r:id="rId3"/>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4537283" y="5225364"/>
            <a:ext cx="4209523" cy="390476"/>
          </a:xfrm>
          <a:prstGeom prst="rect">
            <a:avLst/>
          </a:prstGeom>
        </p:spPr>
      </p:pic>
    </p:spTree>
    <p:extLst>
      <p:ext uri="{BB962C8B-B14F-4D97-AF65-F5344CB8AC3E}">
        <p14:creationId xmlns:p14="http://schemas.microsoft.com/office/powerpoint/2010/main" val="3577726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626A6-BA7C-41D3-B4B9-241BF9208689}"/>
              </a:ext>
            </a:extLst>
          </p:cNvPr>
          <p:cNvSpPr>
            <a:spLocks noGrp="1"/>
          </p:cNvSpPr>
          <p:nvPr>
            <p:ph type="title"/>
          </p:nvPr>
        </p:nvSpPr>
        <p:spPr/>
        <p:txBody>
          <a:bodyPr/>
          <a:lstStyle/>
          <a:p>
            <a:r>
              <a:rPr lang="es-ES"/>
              <a:t>Regulación - Realimentación de Estados</a:t>
            </a:r>
            <a:endParaRPr lang="es-419"/>
          </a:p>
        </p:txBody>
      </p:sp>
      <mc:AlternateContent xmlns:mc="http://schemas.openxmlformats.org/markup-compatibility/2006">
        <mc:Choice xmlns:a14="http://schemas.microsoft.com/office/drawing/2010/main" Requires="a14">
          <p:sp>
            <p:nvSpPr>
              <p:cNvPr id="8" name="Marcador de contenido 7">
                <a:extLst>
                  <a:ext uri="{FF2B5EF4-FFF2-40B4-BE49-F238E27FC236}">
                    <a16:creationId xmlns:a16="http://schemas.microsoft.com/office/drawing/2014/main" id="{DE9C54F8-F94F-4C87-BDB8-37396AFE8A7F}"/>
                  </a:ext>
                </a:extLst>
              </p:cNvPr>
              <p:cNvSpPr>
                <a:spLocks noGrp="1"/>
              </p:cNvSpPr>
              <p:nvPr>
                <p:ph sz="half" idx="1"/>
              </p:nvPr>
            </p:nvSpPr>
            <p:spPr>
              <a:xfrm>
                <a:off x="609602" y="1905000"/>
                <a:ext cx="6324599" cy="4267200"/>
              </a:xfrm>
            </p:spPr>
            <p:txBody>
              <a:bodyPr/>
              <a:lstStyle/>
              <a:p>
                <a:pPr algn="just"/>
                <a:r>
                  <a:rPr lang="es-ES"/>
                  <a:t>En el problema de regulación solo se está interesado en acelerar la respuesta, rechazar una perturbación o estabilizar la planta.</a:t>
                </a:r>
              </a:p>
              <a:p>
                <a:pPr algn="just"/>
                <a:r>
                  <a:rPr lang="es-ES" b="1">
                    <a:solidFill>
                      <a:srgbClr val="FFFF00"/>
                    </a:solidFill>
                  </a:rPr>
                  <a:t>Controlabilidad:</a:t>
                </a:r>
              </a:p>
              <a:p>
                <a:r>
                  <a:rPr lang="es-ES"/>
                  <a:t>si el par </a:t>
                </a:r>
                <a:r>
                  <a:rPr lang="es-419"/>
                  <a:t>(</a:t>
                </a:r>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𝑘</m:t>
                    </m:r>
                    <m:acc>
                      <m:accPr>
                        <m:chr m:val="⃗"/>
                        <m:ctrlPr>
                          <a:rPr lang="en-US" i="1">
                            <a:latin typeface="Cambria Math" panose="02040503050406030204" pitchFamily="18" charset="0"/>
                          </a:rPr>
                        </m:ctrlPr>
                      </m:accPr>
                      <m:e>
                        <m:r>
                          <a:rPr lang="en-US" i="1">
                            <a:latin typeface="Cambria Math" panose="02040503050406030204" pitchFamily="18" charset="0"/>
                          </a:rPr>
                          <m:t>𝑏</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𝑏</m:t>
                        </m:r>
                      </m:e>
                    </m:acc>
                  </m:oMath>
                </a14:m>
                <a:r>
                  <a:rPr lang="es-419"/>
                  <a:t>) </a:t>
                </a:r>
                <a:r>
                  <a:rPr lang="es-ES"/>
                  <a:t>es controlable </a:t>
                </a:r>
                <a:r>
                  <a:rPr lang="es-ES" b="1"/>
                  <a:t>si y solamente si </a:t>
                </a:r>
                <a:r>
                  <a:rPr lang="es-ES"/>
                  <a:t>el par </a:t>
                </a:r>
                <a:r>
                  <a:rPr lang="es-419"/>
                  <a:t>(</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𝑏</m:t>
                        </m:r>
                      </m:e>
                    </m:acc>
                  </m:oMath>
                </a14:m>
                <a:r>
                  <a:rPr lang="es-419"/>
                  <a:t>)</a:t>
                </a:r>
                <a:r>
                  <a:rPr lang="es-ES"/>
                  <a:t> es controlable</a:t>
                </a:r>
                <a:endParaRPr lang="es-419" b="1"/>
              </a:p>
            </p:txBody>
          </p:sp>
        </mc:Choice>
        <mc:Fallback>
          <p:sp>
            <p:nvSpPr>
              <p:cNvPr id="8" name="Marcador de contenido 7">
                <a:extLst>
                  <a:ext uri="{FF2B5EF4-FFF2-40B4-BE49-F238E27FC236}">
                    <a16:creationId xmlns:a16="http://schemas.microsoft.com/office/drawing/2014/main" id="{DE9C54F8-F94F-4C87-BDB8-37396AFE8A7F}"/>
                  </a:ext>
                </a:extLst>
              </p:cNvPr>
              <p:cNvSpPr>
                <a:spLocks noGrp="1" noRot="1" noChangeAspect="1" noMove="1" noResize="1" noEditPoints="1" noAdjustHandles="1" noChangeArrowheads="1" noChangeShapeType="1" noTextEdit="1"/>
              </p:cNvSpPr>
              <p:nvPr>
                <p:ph sz="half" idx="1"/>
              </p:nvPr>
            </p:nvSpPr>
            <p:spPr>
              <a:xfrm>
                <a:off x="609602" y="1905000"/>
                <a:ext cx="6324599" cy="4267200"/>
              </a:xfrm>
              <a:blipFill>
                <a:blip r:embed="rId4"/>
                <a:stretch>
                  <a:fillRect l="-1252" t="-2000" r="-1349"/>
                </a:stretch>
              </a:blipFill>
            </p:spPr>
            <p:txBody>
              <a:bodyPr/>
              <a:lstStyle/>
              <a:p>
                <a:r>
                  <a:rPr lang="en-US">
                    <a:noFill/>
                  </a:rPr>
                  <a:t> </a:t>
                </a:r>
              </a:p>
            </p:txBody>
          </p:sp>
        </mc:Fallback>
      </mc:AlternateContent>
      <p:pic>
        <p:nvPicPr>
          <p:cNvPr id="10" name="Marcador de contenido 9">
            <a:extLst>
              <a:ext uri="{FF2B5EF4-FFF2-40B4-BE49-F238E27FC236}">
                <a16:creationId xmlns:a16="http://schemas.microsoft.com/office/drawing/2014/main" id="{5F23BAA3-54A2-4E3B-B6BB-E229A92554D5}"/>
              </a:ext>
            </a:extLst>
          </p:cNvPr>
          <p:cNvPicPr>
            <a:picLocks noGrp="1" noChangeAspect="1"/>
          </p:cNvPicPr>
          <p:nvPr>
            <p:ph sz="half" idx="2"/>
          </p:nvPr>
        </p:nvPicPr>
        <p:blipFill>
          <a:blip r:embed="rId5"/>
          <a:stretch>
            <a:fillRect/>
          </a:stretch>
        </p:blipFill>
        <p:spPr>
          <a:xfrm>
            <a:off x="7162800" y="2794780"/>
            <a:ext cx="4419600" cy="2487640"/>
          </a:xfrm>
          <a:prstGeom prst="rect">
            <a:avLst/>
          </a:prstGeom>
        </p:spPr>
      </p:pic>
      <p:pic>
        <p:nvPicPr>
          <p:cNvPr id="21" name="Imagen 20">
            <a:extLst>
              <a:ext uri="{FF2B5EF4-FFF2-40B4-BE49-F238E27FC236}">
                <a16:creationId xmlns:a16="http://schemas.microsoft.com/office/drawing/2014/main" id="{05B6915A-34A6-4DEE-960A-E19150838DD2}"/>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7848600" y="2133600"/>
            <a:ext cx="2683810" cy="390476"/>
          </a:xfrm>
          <a:prstGeom prst="rect">
            <a:avLst/>
          </a:prstGeom>
        </p:spPr>
      </p:pic>
    </p:spTree>
    <p:extLst>
      <p:ext uri="{BB962C8B-B14F-4D97-AF65-F5344CB8AC3E}">
        <p14:creationId xmlns:p14="http://schemas.microsoft.com/office/powerpoint/2010/main" val="2383870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83AFBC-52D3-44AF-8027-DB7CEBB8FCEA}"/>
              </a:ext>
            </a:extLst>
          </p:cNvPr>
          <p:cNvSpPr>
            <a:spLocks noGrp="1"/>
          </p:cNvSpPr>
          <p:nvPr>
            <p:ph type="title"/>
          </p:nvPr>
        </p:nvSpPr>
        <p:spPr/>
        <p:txBody>
          <a:bodyPr/>
          <a:lstStyle/>
          <a:p>
            <a:r>
              <a:rPr lang="es-419"/>
              <a:t>Observabilidad</a:t>
            </a:r>
          </a:p>
        </p:txBody>
      </p:sp>
      <p:sp>
        <p:nvSpPr>
          <p:cNvPr id="3" name="Marcador de contenido 2">
            <a:extLst>
              <a:ext uri="{FF2B5EF4-FFF2-40B4-BE49-F238E27FC236}">
                <a16:creationId xmlns:a16="http://schemas.microsoft.com/office/drawing/2014/main" id="{EE206C1D-E42F-4D68-833A-6331DA7E6E41}"/>
              </a:ext>
            </a:extLst>
          </p:cNvPr>
          <p:cNvSpPr>
            <a:spLocks noGrp="1"/>
          </p:cNvSpPr>
          <p:nvPr>
            <p:ph idx="1"/>
          </p:nvPr>
        </p:nvSpPr>
        <p:spPr/>
        <p:txBody>
          <a:bodyPr/>
          <a:lstStyle/>
          <a:p>
            <a:pPr algn="just"/>
            <a:r>
              <a:rPr lang="es-ES"/>
              <a:t>La observabilidad de estados por otro lado va a </a:t>
            </a:r>
            <a:r>
              <a:rPr lang="es-ES">
                <a:solidFill>
                  <a:srgbClr val="FFFF00"/>
                </a:solidFill>
              </a:rPr>
              <a:t>depender</a:t>
            </a:r>
            <a:r>
              <a:rPr lang="es-ES"/>
              <a:t> de la realimentación de estados utilizada en el sistema. </a:t>
            </a:r>
          </a:p>
          <a:p>
            <a:pPr algn="just"/>
            <a:r>
              <a:rPr lang="es-ES">
                <a:solidFill>
                  <a:srgbClr val="FFFF00"/>
                </a:solidFill>
              </a:rPr>
              <a:t>No siempre </a:t>
            </a:r>
            <a:r>
              <a:rPr lang="es-ES"/>
              <a:t>se va a garantizar la observabilidad del sistema.</a:t>
            </a:r>
          </a:p>
          <a:p>
            <a:pPr algn="just"/>
            <a:r>
              <a:rPr lang="es-ES"/>
              <a:t>Un ejemplo típico donde podemos perder observabilidad es cuando el sistema </a:t>
            </a:r>
            <a:r>
              <a:rPr lang="es-ES">
                <a:solidFill>
                  <a:srgbClr val="FFFF00"/>
                </a:solidFill>
              </a:rPr>
              <a:t>no</a:t>
            </a:r>
            <a:r>
              <a:rPr lang="es-ES"/>
              <a:t> tiene una </a:t>
            </a:r>
            <a:r>
              <a:rPr lang="es-ES">
                <a:solidFill>
                  <a:srgbClr val="FFFF00"/>
                </a:solidFill>
              </a:rPr>
              <a:t>realización mínima </a:t>
            </a:r>
            <a:r>
              <a:rPr lang="es-ES"/>
              <a:t>(o sea que puede existir un </a:t>
            </a:r>
            <a:r>
              <a:rPr lang="es-ES" err="1"/>
              <a:t>cancelamiento</a:t>
            </a:r>
            <a:r>
              <a:rPr lang="es-ES"/>
              <a:t> entre un polo y un cero) </a:t>
            </a:r>
          </a:p>
          <a:p>
            <a:pPr algn="just"/>
            <a:r>
              <a:rPr lang="es-ES"/>
              <a:t>Por lo tanto si se modifica los autovalores del sistema para un cero va a existir un </a:t>
            </a:r>
            <a:r>
              <a:rPr lang="es-ES" err="1"/>
              <a:t>cancelamiento</a:t>
            </a:r>
            <a:r>
              <a:rPr lang="es-ES"/>
              <a:t> y si esto ocurre se pierde la observabilidad.</a:t>
            </a:r>
            <a:endParaRPr lang="es-419"/>
          </a:p>
        </p:txBody>
      </p:sp>
    </p:spTree>
    <p:extLst>
      <p:ext uri="{BB962C8B-B14F-4D97-AF65-F5344CB8AC3E}">
        <p14:creationId xmlns:p14="http://schemas.microsoft.com/office/powerpoint/2010/main" val="106892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05A99-3CD2-4C91-A436-147AE2A61DCC}"/>
              </a:ext>
            </a:extLst>
          </p:cNvPr>
          <p:cNvSpPr>
            <a:spLocks noGrp="1"/>
          </p:cNvSpPr>
          <p:nvPr>
            <p:ph type="title"/>
          </p:nvPr>
        </p:nvSpPr>
        <p:spPr/>
        <p:txBody>
          <a:bodyPr/>
          <a:lstStyle/>
          <a:p>
            <a:r>
              <a:rPr lang="es-419"/>
              <a:t>Observabilidad</a:t>
            </a:r>
          </a:p>
        </p:txBody>
      </p:sp>
      <p:pic>
        <p:nvPicPr>
          <p:cNvPr id="7" name="Imagen 6">
            <a:extLst>
              <a:ext uri="{FF2B5EF4-FFF2-40B4-BE49-F238E27FC236}">
                <a16:creationId xmlns:a16="http://schemas.microsoft.com/office/drawing/2014/main" id="{B4BAE270-F9A4-44FA-BE6D-88CAB4F78D10}"/>
              </a:ext>
            </a:extLst>
          </p:cNvPr>
          <p:cNvPicPr>
            <a:picLocks noChangeAspect="1"/>
          </p:cNvPicPr>
          <p:nvPr>
            <p:custDataLst>
              <p:tags r:id="rId1"/>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1371600" y="2308220"/>
            <a:ext cx="2783086" cy="729600"/>
          </a:xfrm>
          <a:prstGeom prst="rect">
            <a:avLst/>
          </a:prstGeom>
        </p:spPr>
      </p:pic>
      <p:sp>
        <p:nvSpPr>
          <p:cNvPr id="5" name="Rectángulo 4">
            <a:extLst>
              <a:ext uri="{FF2B5EF4-FFF2-40B4-BE49-F238E27FC236}">
                <a16:creationId xmlns:a16="http://schemas.microsoft.com/office/drawing/2014/main" id="{040F67F1-C6CD-442E-9465-7F7113AA86DE}"/>
              </a:ext>
            </a:extLst>
          </p:cNvPr>
          <p:cNvSpPr/>
          <p:nvPr/>
        </p:nvSpPr>
        <p:spPr>
          <a:xfrm>
            <a:off x="1066800" y="1643390"/>
            <a:ext cx="1503938" cy="523220"/>
          </a:xfrm>
          <a:prstGeom prst="rect">
            <a:avLst/>
          </a:prstGeom>
        </p:spPr>
        <p:txBody>
          <a:bodyPr wrap="none">
            <a:spAutoFit/>
          </a:bodyPr>
          <a:lstStyle/>
          <a:p>
            <a:r>
              <a:rPr lang="es-419" sz="2800">
                <a:solidFill>
                  <a:srgbClr val="FFFF00"/>
                </a:solidFill>
                <a:latin typeface="Corbel"/>
              </a:rPr>
              <a:t>Ejemplo:</a:t>
            </a:r>
          </a:p>
        </p:txBody>
      </p:sp>
      <p:pic>
        <p:nvPicPr>
          <p:cNvPr id="10" name="Imagen 9">
            <a:extLst>
              <a:ext uri="{FF2B5EF4-FFF2-40B4-BE49-F238E27FC236}">
                <a16:creationId xmlns:a16="http://schemas.microsoft.com/office/drawing/2014/main" id="{E8807E77-C8A2-41E6-81C2-4160BF482E25}"/>
              </a:ext>
            </a:extLst>
          </p:cNvPr>
          <p:cNvPicPr>
            <a:picLocks noChangeAspect="1"/>
          </p:cNvPicPr>
          <p:nvPr>
            <p:custDataLst>
              <p:tags r:id="rId2"/>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1371600" y="3247057"/>
            <a:ext cx="1654858" cy="363886"/>
          </a:xfrm>
          <a:prstGeom prst="rect">
            <a:avLst/>
          </a:prstGeom>
        </p:spPr>
      </p:pic>
      <p:sp>
        <p:nvSpPr>
          <p:cNvPr id="11" name="Rectángulo 10">
            <a:extLst>
              <a:ext uri="{FF2B5EF4-FFF2-40B4-BE49-F238E27FC236}">
                <a16:creationId xmlns:a16="http://schemas.microsoft.com/office/drawing/2014/main" id="{AB49C18F-1346-4471-AEE0-393D31F44E53}"/>
              </a:ext>
            </a:extLst>
          </p:cNvPr>
          <p:cNvSpPr/>
          <p:nvPr/>
        </p:nvSpPr>
        <p:spPr>
          <a:xfrm>
            <a:off x="759184" y="3853083"/>
            <a:ext cx="3623108" cy="707886"/>
          </a:xfrm>
          <a:prstGeom prst="rect">
            <a:avLst/>
          </a:prstGeom>
        </p:spPr>
        <p:txBody>
          <a:bodyPr wrap="none">
            <a:spAutoFit/>
          </a:bodyPr>
          <a:lstStyle/>
          <a:p>
            <a:r>
              <a:rPr lang="es-419" sz="2000">
                <a:solidFill>
                  <a:prstClr val="white"/>
                </a:solidFill>
                <a:latin typeface="Corbel"/>
              </a:rPr>
              <a:t>El sistema anterior expresado en</a:t>
            </a:r>
          </a:p>
          <a:p>
            <a:r>
              <a:rPr lang="es-419" sz="2000">
                <a:solidFill>
                  <a:prstClr val="white"/>
                </a:solidFill>
                <a:latin typeface="Corbel"/>
              </a:rPr>
              <a:t> función de transferencia:</a:t>
            </a:r>
          </a:p>
        </p:txBody>
      </p:sp>
      <p:pic>
        <p:nvPicPr>
          <p:cNvPr id="14" name="Imagen 13">
            <a:extLst>
              <a:ext uri="{FF2B5EF4-FFF2-40B4-BE49-F238E27FC236}">
                <a16:creationId xmlns:a16="http://schemas.microsoft.com/office/drawing/2014/main" id="{AF50635F-C4E4-40B9-B220-F59C23440F23}"/>
              </a:ext>
            </a:extLst>
          </p:cNvPr>
          <p:cNvPicPr>
            <a:picLocks noChangeAspect="1"/>
          </p:cNvPicPr>
          <p:nvPr>
            <p:custDataLst>
              <p:tags r:id="rId3"/>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1315424" y="4675702"/>
            <a:ext cx="2510629" cy="621715"/>
          </a:xfrm>
          <a:prstGeom prst="rect">
            <a:avLst/>
          </a:prstGeom>
        </p:spPr>
      </p:pic>
      <p:pic>
        <p:nvPicPr>
          <p:cNvPr id="18" name="Imagen 17">
            <a:extLst>
              <a:ext uri="{FF2B5EF4-FFF2-40B4-BE49-F238E27FC236}">
                <a16:creationId xmlns:a16="http://schemas.microsoft.com/office/drawing/2014/main" id="{55CB08A8-CD40-45CA-8F5A-F784353D8355}"/>
              </a:ext>
            </a:extLst>
          </p:cNvPr>
          <p:cNvPicPr>
            <a:picLocks noChangeAspect="1"/>
          </p:cNvPicPr>
          <p:nvPr>
            <p:custDataLst>
              <p:tags r:id="rId4"/>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755011" y="6208159"/>
            <a:ext cx="3697373" cy="363886"/>
          </a:xfrm>
          <a:prstGeom prst="rect">
            <a:avLst/>
          </a:prstGeom>
        </p:spPr>
      </p:pic>
      <p:sp>
        <p:nvSpPr>
          <p:cNvPr id="19" name="Rectángulo 18">
            <a:extLst>
              <a:ext uri="{FF2B5EF4-FFF2-40B4-BE49-F238E27FC236}">
                <a16:creationId xmlns:a16="http://schemas.microsoft.com/office/drawing/2014/main" id="{7EE0F3D5-5DBF-42E4-BE0A-F57AFD3FBA3F}"/>
              </a:ext>
            </a:extLst>
          </p:cNvPr>
          <p:cNvSpPr/>
          <p:nvPr/>
        </p:nvSpPr>
        <p:spPr>
          <a:xfrm>
            <a:off x="6422356" y="1817976"/>
            <a:ext cx="2650084" cy="369332"/>
          </a:xfrm>
          <a:prstGeom prst="rect">
            <a:avLst/>
          </a:prstGeom>
        </p:spPr>
        <p:txBody>
          <a:bodyPr wrap="none">
            <a:spAutoFit/>
          </a:bodyPr>
          <a:lstStyle/>
          <a:p>
            <a:r>
              <a:rPr lang="es-419">
                <a:solidFill>
                  <a:prstClr val="white"/>
                </a:solidFill>
                <a:latin typeface="Corbel"/>
              </a:rPr>
              <a:t>El sistema en lazo cerrado</a:t>
            </a:r>
          </a:p>
        </p:txBody>
      </p:sp>
      <p:pic>
        <p:nvPicPr>
          <p:cNvPr id="22" name="Imagen 21">
            <a:extLst>
              <a:ext uri="{FF2B5EF4-FFF2-40B4-BE49-F238E27FC236}">
                <a16:creationId xmlns:a16="http://schemas.microsoft.com/office/drawing/2014/main" id="{DF0E6166-5D20-487E-92BE-D083FC4B8BEA}"/>
              </a:ext>
            </a:extLst>
          </p:cNvPr>
          <p:cNvPicPr>
            <a:picLocks noChangeAspect="1"/>
          </p:cNvPicPr>
          <p:nvPr>
            <p:custDataLst>
              <p:tags r:id="rId5"/>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7031957" y="2347354"/>
            <a:ext cx="1735315" cy="729600"/>
          </a:xfrm>
          <a:prstGeom prst="rect">
            <a:avLst/>
          </a:prstGeom>
        </p:spPr>
      </p:pic>
      <p:pic>
        <p:nvPicPr>
          <p:cNvPr id="23" name="Imagen 22">
            <a:extLst>
              <a:ext uri="{FF2B5EF4-FFF2-40B4-BE49-F238E27FC236}">
                <a16:creationId xmlns:a16="http://schemas.microsoft.com/office/drawing/2014/main" id="{14C1901F-FE7F-49E9-B1E6-3A731DF8F4F1}"/>
              </a:ext>
            </a:extLst>
          </p:cNvPr>
          <p:cNvPicPr>
            <a:picLocks noChangeAspect="1"/>
          </p:cNvPicPr>
          <p:nvPr>
            <p:custDataLst>
              <p:tags r:id="rId6"/>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9763361" y="2525732"/>
            <a:ext cx="1654858" cy="363886"/>
          </a:xfrm>
          <a:prstGeom prst="rect">
            <a:avLst/>
          </a:prstGeom>
        </p:spPr>
      </p:pic>
      <p:sp>
        <p:nvSpPr>
          <p:cNvPr id="24" name="Rectángulo 23">
            <a:extLst>
              <a:ext uri="{FF2B5EF4-FFF2-40B4-BE49-F238E27FC236}">
                <a16:creationId xmlns:a16="http://schemas.microsoft.com/office/drawing/2014/main" id="{B095C884-94BA-480F-803B-D07AE4E8F58F}"/>
              </a:ext>
            </a:extLst>
          </p:cNvPr>
          <p:cNvSpPr/>
          <p:nvPr/>
        </p:nvSpPr>
        <p:spPr>
          <a:xfrm>
            <a:off x="6375067" y="3164764"/>
            <a:ext cx="2744662" cy="369332"/>
          </a:xfrm>
          <a:prstGeom prst="rect">
            <a:avLst/>
          </a:prstGeom>
        </p:spPr>
        <p:txBody>
          <a:bodyPr wrap="none">
            <a:spAutoFit/>
          </a:bodyPr>
          <a:lstStyle/>
          <a:p>
            <a:r>
              <a:rPr lang="es-ES">
                <a:solidFill>
                  <a:prstClr val="white"/>
                </a:solidFill>
                <a:latin typeface="Corbel"/>
              </a:rPr>
              <a:t>los autovalores del sistema</a:t>
            </a:r>
            <a:endParaRPr lang="es-419">
              <a:solidFill>
                <a:prstClr val="white"/>
              </a:solidFill>
              <a:latin typeface="Corbel"/>
            </a:endParaRPr>
          </a:p>
        </p:txBody>
      </p:sp>
      <p:pic>
        <p:nvPicPr>
          <p:cNvPr id="27" name="Imagen 26">
            <a:extLst>
              <a:ext uri="{FF2B5EF4-FFF2-40B4-BE49-F238E27FC236}">
                <a16:creationId xmlns:a16="http://schemas.microsoft.com/office/drawing/2014/main" id="{65F7E87E-4D64-480E-AD70-97D5CF2E6883}"/>
              </a:ext>
            </a:extLst>
          </p:cNvPr>
          <p:cNvPicPr>
            <a:picLocks noChangeAspect="1"/>
          </p:cNvPicPr>
          <p:nvPr>
            <p:custDataLst>
              <p:tags r:id="rId7"/>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6783740" y="3812784"/>
            <a:ext cx="963658" cy="729600"/>
          </a:xfrm>
          <a:prstGeom prst="rect">
            <a:avLst/>
          </a:prstGeom>
        </p:spPr>
      </p:pic>
      <p:sp>
        <p:nvSpPr>
          <p:cNvPr id="28" name="Rectángulo 27">
            <a:extLst>
              <a:ext uri="{FF2B5EF4-FFF2-40B4-BE49-F238E27FC236}">
                <a16:creationId xmlns:a16="http://schemas.microsoft.com/office/drawing/2014/main" id="{F4A707B4-7195-4CAF-B487-C078EAE38F23}"/>
              </a:ext>
            </a:extLst>
          </p:cNvPr>
          <p:cNvSpPr/>
          <p:nvPr/>
        </p:nvSpPr>
        <p:spPr>
          <a:xfrm>
            <a:off x="755010" y="5595503"/>
            <a:ext cx="1473930" cy="369332"/>
          </a:xfrm>
          <a:prstGeom prst="rect">
            <a:avLst/>
          </a:prstGeom>
        </p:spPr>
        <p:txBody>
          <a:bodyPr wrap="none">
            <a:spAutoFit/>
          </a:bodyPr>
          <a:lstStyle/>
          <a:p>
            <a:r>
              <a:rPr lang="es-419">
                <a:solidFill>
                  <a:prstClr val="white"/>
                </a:solidFill>
                <a:latin typeface="Corbel"/>
              </a:rPr>
              <a:t>ley de control</a:t>
            </a:r>
          </a:p>
        </p:txBody>
      </p:sp>
      <p:pic>
        <p:nvPicPr>
          <p:cNvPr id="29" name="Imagen 28">
            <a:extLst>
              <a:ext uri="{FF2B5EF4-FFF2-40B4-BE49-F238E27FC236}">
                <a16:creationId xmlns:a16="http://schemas.microsoft.com/office/drawing/2014/main" id="{E54134A3-7AB6-46D0-99A2-9DAECD024C19}"/>
              </a:ext>
            </a:extLst>
          </p:cNvPr>
          <p:cNvPicPr>
            <a:picLocks noChangeAspect="1"/>
          </p:cNvPicPr>
          <p:nvPr>
            <p:custDataLst>
              <p:tags r:id="rId8"/>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9153453" y="1790120"/>
            <a:ext cx="2683810" cy="390476"/>
          </a:xfrm>
          <a:prstGeom prst="rect">
            <a:avLst/>
          </a:prstGeom>
        </p:spPr>
      </p:pic>
      <p:sp>
        <p:nvSpPr>
          <p:cNvPr id="30" name="Rectángulo 29">
            <a:extLst>
              <a:ext uri="{FF2B5EF4-FFF2-40B4-BE49-F238E27FC236}">
                <a16:creationId xmlns:a16="http://schemas.microsoft.com/office/drawing/2014/main" id="{17A8F1F0-2989-4860-AE3A-130265296096}"/>
              </a:ext>
            </a:extLst>
          </p:cNvPr>
          <p:cNvSpPr/>
          <p:nvPr/>
        </p:nvSpPr>
        <p:spPr>
          <a:xfrm>
            <a:off x="6375068" y="4675701"/>
            <a:ext cx="5149167" cy="369332"/>
          </a:xfrm>
          <a:prstGeom prst="rect">
            <a:avLst/>
          </a:prstGeom>
        </p:spPr>
        <p:txBody>
          <a:bodyPr wrap="none">
            <a:spAutoFit/>
          </a:bodyPr>
          <a:lstStyle/>
          <a:p>
            <a:r>
              <a:rPr lang="es-419">
                <a:solidFill>
                  <a:prstClr val="white"/>
                </a:solidFill>
                <a:latin typeface="Corbel"/>
              </a:rPr>
              <a:t>La matriz de observabilidad del sistema es dado por:</a:t>
            </a:r>
          </a:p>
        </p:txBody>
      </p:sp>
      <p:pic>
        <p:nvPicPr>
          <p:cNvPr id="33" name="Imagen 32">
            <a:extLst>
              <a:ext uri="{FF2B5EF4-FFF2-40B4-BE49-F238E27FC236}">
                <a16:creationId xmlns:a16="http://schemas.microsoft.com/office/drawing/2014/main" id="{4B04D0B2-C9F5-4875-AA0F-519436DD30D8}"/>
              </a:ext>
            </a:extLst>
          </p:cNvPr>
          <p:cNvPicPr>
            <a:picLocks noChangeAspect="1"/>
          </p:cNvPicPr>
          <p:nvPr>
            <p:custDataLst>
              <p:tags r:id="rId9"/>
            </p:custDataLst>
          </p:nvPr>
        </p:nvPicPr>
        <p:blipFill>
          <a:blip r:embed="rId20" cstate="print">
            <a:lum bright="70000" contrast="-70000"/>
            <a:extLst>
              <a:ext uri="{28A0092B-C50C-407E-A947-70E740481C1C}">
                <a14:useLocalDpi xmlns:a14="http://schemas.microsoft.com/office/drawing/2010/main" val="0"/>
              </a:ext>
            </a:extLst>
          </a:blip>
          <a:stretch>
            <a:fillRect/>
          </a:stretch>
        </p:blipFill>
        <p:spPr>
          <a:xfrm>
            <a:off x="6445455" y="5294283"/>
            <a:ext cx="1640229" cy="729600"/>
          </a:xfrm>
          <a:prstGeom prst="rect">
            <a:avLst/>
          </a:prstGeom>
        </p:spPr>
      </p:pic>
      <p:pic>
        <p:nvPicPr>
          <p:cNvPr id="36" name="Imagen 35">
            <a:extLst>
              <a:ext uri="{FF2B5EF4-FFF2-40B4-BE49-F238E27FC236}">
                <a16:creationId xmlns:a16="http://schemas.microsoft.com/office/drawing/2014/main" id="{717C18EF-A681-48F5-8174-C9E7F3782F66}"/>
              </a:ext>
            </a:extLst>
          </p:cNvPr>
          <p:cNvPicPr>
            <a:picLocks noChangeAspect="1"/>
          </p:cNvPicPr>
          <p:nvPr>
            <p:custDataLst>
              <p:tags r:id="rId10"/>
            </p:custDataLst>
          </p:nvPr>
        </p:nvPicPr>
        <p:blipFill>
          <a:blip r:embed="rId21" cstate="print">
            <a:lum bright="70000" contrast="-70000"/>
            <a:extLst>
              <a:ext uri="{28A0092B-C50C-407E-A947-70E740481C1C}">
                <a14:useLocalDpi xmlns:a14="http://schemas.microsoft.com/office/drawing/2010/main" val="0"/>
              </a:ext>
            </a:extLst>
          </a:blip>
          <a:stretch>
            <a:fillRect/>
          </a:stretch>
        </p:blipFill>
        <p:spPr>
          <a:xfrm>
            <a:off x="9153454" y="5499998"/>
            <a:ext cx="1312915" cy="318171"/>
          </a:xfrm>
          <a:prstGeom prst="rect">
            <a:avLst/>
          </a:prstGeom>
        </p:spPr>
      </p:pic>
      <p:sp>
        <p:nvSpPr>
          <p:cNvPr id="37" name="Rectángulo 36">
            <a:extLst>
              <a:ext uri="{FF2B5EF4-FFF2-40B4-BE49-F238E27FC236}">
                <a16:creationId xmlns:a16="http://schemas.microsoft.com/office/drawing/2014/main" id="{0A0084CC-B213-4912-A7B5-240217C7840C}"/>
              </a:ext>
            </a:extLst>
          </p:cNvPr>
          <p:cNvSpPr/>
          <p:nvPr/>
        </p:nvSpPr>
        <p:spPr>
          <a:xfrm>
            <a:off x="7484580" y="6223028"/>
            <a:ext cx="2565382" cy="461665"/>
          </a:xfrm>
          <a:prstGeom prst="rect">
            <a:avLst/>
          </a:prstGeom>
        </p:spPr>
        <p:txBody>
          <a:bodyPr wrap="none">
            <a:spAutoFit/>
          </a:bodyPr>
          <a:lstStyle/>
          <a:p>
            <a:r>
              <a:rPr lang="es-419" sz="2400" b="1">
                <a:solidFill>
                  <a:srgbClr val="FFFF00"/>
                </a:solidFill>
                <a:latin typeface="Corbel"/>
              </a:rPr>
              <a:t>NO OBSERVABLE</a:t>
            </a:r>
            <a:endParaRPr lang="es-419" sz="2400">
              <a:solidFill>
                <a:prstClr val="white"/>
              </a:solidFill>
              <a:latin typeface="Corbel"/>
            </a:endParaRPr>
          </a:p>
        </p:txBody>
      </p:sp>
      <p:pic>
        <p:nvPicPr>
          <p:cNvPr id="39" name="Gráfico 38" descr="Cerrar">
            <a:extLst>
              <a:ext uri="{FF2B5EF4-FFF2-40B4-BE49-F238E27FC236}">
                <a16:creationId xmlns:a16="http://schemas.microsoft.com/office/drawing/2014/main" id="{645EF378-1499-4D32-A4A6-F4858E33C8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38800" y="2971800"/>
            <a:ext cx="914400" cy="914400"/>
          </a:xfrm>
          <a:prstGeom prst="rect">
            <a:avLst/>
          </a:prstGeom>
        </p:spPr>
      </p:pic>
      <p:pic>
        <p:nvPicPr>
          <p:cNvPr id="41" name="Gráfico 40" descr="Cerrar">
            <a:extLst>
              <a:ext uri="{FF2B5EF4-FFF2-40B4-BE49-F238E27FC236}">
                <a16:creationId xmlns:a16="http://schemas.microsoft.com/office/drawing/2014/main" id="{A5A3AADF-80E8-4BA7-96FC-BF8BF5B437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049962" y="6067863"/>
            <a:ext cx="644478" cy="644478"/>
          </a:xfrm>
          <a:prstGeom prst="rect">
            <a:avLst/>
          </a:prstGeom>
        </p:spPr>
      </p:pic>
      <p:cxnSp>
        <p:nvCxnSpPr>
          <p:cNvPr id="43" name="Conector recto 42">
            <a:extLst>
              <a:ext uri="{FF2B5EF4-FFF2-40B4-BE49-F238E27FC236}">
                <a16:creationId xmlns:a16="http://schemas.microsoft.com/office/drawing/2014/main" id="{5C4F10EC-8BEA-4BAF-9E42-2A137E171321}"/>
              </a:ext>
            </a:extLst>
          </p:cNvPr>
          <p:cNvCxnSpPr/>
          <p:nvPr/>
        </p:nvCxnSpPr>
        <p:spPr>
          <a:xfrm>
            <a:off x="5638800" y="2002643"/>
            <a:ext cx="0" cy="4220385"/>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990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P spid="24" grpId="0"/>
      <p:bldP spid="28" grpId="0"/>
      <p:bldP spid="30" grpId="0"/>
      <p:bldP spid="3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8B594B-2443-4257-8F35-F241BA1AF203}"/>
              </a:ext>
            </a:extLst>
          </p:cNvPr>
          <p:cNvSpPr>
            <a:spLocks noGrp="1"/>
          </p:cNvSpPr>
          <p:nvPr>
            <p:ph type="title"/>
          </p:nvPr>
        </p:nvSpPr>
        <p:spPr>
          <a:xfrm>
            <a:off x="1295400" y="381000"/>
            <a:ext cx="9906000" cy="1020762"/>
          </a:xfrm>
        </p:spPr>
        <p:txBody>
          <a:bodyPr/>
          <a:lstStyle/>
          <a:p>
            <a:r>
              <a:rPr lang="es-419"/>
              <a:t>Ubicación de Polos – Realimentación Estados</a:t>
            </a:r>
          </a:p>
        </p:txBody>
      </p:sp>
      <p:sp>
        <p:nvSpPr>
          <p:cNvPr id="3" name="Marcador de contenido 2">
            <a:extLst>
              <a:ext uri="{FF2B5EF4-FFF2-40B4-BE49-F238E27FC236}">
                <a16:creationId xmlns:a16="http://schemas.microsoft.com/office/drawing/2014/main" id="{3FBB1696-E6EE-458B-812E-F08E75A58897}"/>
              </a:ext>
            </a:extLst>
          </p:cNvPr>
          <p:cNvSpPr>
            <a:spLocks noGrp="1"/>
          </p:cNvSpPr>
          <p:nvPr>
            <p:ph idx="1"/>
          </p:nvPr>
        </p:nvSpPr>
        <p:spPr/>
        <p:txBody>
          <a:bodyPr/>
          <a:lstStyle/>
          <a:p>
            <a:r>
              <a:rPr lang="es-ES"/>
              <a:t>Una de las formas de proyectar la </a:t>
            </a:r>
            <a:r>
              <a:rPr lang="es-ES">
                <a:solidFill>
                  <a:srgbClr val="FFFF00"/>
                </a:solidFill>
              </a:rPr>
              <a:t>acción de control </a:t>
            </a:r>
            <a:r>
              <a:rPr lang="es-ES"/>
              <a:t>para obtener una dinámica </a:t>
            </a:r>
            <a:r>
              <a:rPr lang="es-ES">
                <a:solidFill>
                  <a:srgbClr val="FFFF00"/>
                </a:solidFill>
              </a:rPr>
              <a:t>deseada</a:t>
            </a:r>
            <a:r>
              <a:rPr lang="es-ES"/>
              <a:t> en lazo cerrado es ubicando los autovalores de la matriz A en una región deseada siempre y cuando dicho sistema sea </a:t>
            </a:r>
            <a:r>
              <a:rPr lang="es-ES">
                <a:solidFill>
                  <a:srgbClr val="FFFF00"/>
                </a:solidFill>
              </a:rPr>
              <a:t>controlable</a:t>
            </a:r>
            <a:r>
              <a:rPr lang="es-ES"/>
              <a:t>.</a:t>
            </a:r>
          </a:p>
          <a:p>
            <a:r>
              <a:rPr lang="es-ES"/>
              <a:t>El método más sencillo de abordar este proyecto de control es utilizando </a:t>
            </a:r>
            <a:r>
              <a:rPr lang="es-ES">
                <a:solidFill>
                  <a:srgbClr val="FFFF00"/>
                </a:solidFill>
              </a:rPr>
              <a:t>la forma canónica controlable </a:t>
            </a:r>
            <a:r>
              <a:rPr lang="es-ES"/>
              <a:t>del sistema.</a:t>
            </a:r>
          </a:p>
          <a:p>
            <a:r>
              <a:rPr lang="es-ES"/>
              <a:t>La cual parte de una función de transferencia expresada en la forma:</a:t>
            </a:r>
            <a:endParaRPr lang="es-419"/>
          </a:p>
        </p:txBody>
      </p:sp>
      <p:pic>
        <p:nvPicPr>
          <p:cNvPr id="6" name="Imagen 5">
            <a:extLst>
              <a:ext uri="{FF2B5EF4-FFF2-40B4-BE49-F238E27FC236}">
                <a16:creationId xmlns:a16="http://schemas.microsoft.com/office/drawing/2014/main" id="{0F6C8259-4C6E-41B3-AC9B-4BD4B376AB92}"/>
              </a:ext>
            </a:extLst>
          </p:cNvPr>
          <p:cNvPicPr>
            <a:picLocks noChangeAspect="1"/>
          </p:cNvPicPr>
          <p:nvPr>
            <p:custDataLst>
              <p:tags r:id="rId1"/>
            </p:custDataLst>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3429000" y="5105401"/>
            <a:ext cx="5785602" cy="740571"/>
          </a:xfrm>
          <a:prstGeom prst="rect">
            <a:avLst/>
          </a:prstGeom>
        </p:spPr>
      </p:pic>
    </p:spTree>
    <p:extLst>
      <p:ext uri="{BB962C8B-B14F-4D97-AF65-F5344CB8AC3E}">
        <p14:creationId xmlns:p14="http://schemas.microsoft.com/office/powerpoint/2010/main" val="23490740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8B594B-2443-4257-8F35-F241BA1AF203}"/>
              </a:ext>
            </a:extLst>
          </p:cNvPr>
          <p:cNvSpPr>
            <a:spLocks noGrp="1"/>
          </p:cNvSpPr>
          <p:nvPr>
            <p:ph type="title"/>
          </p:nvPr>
        </p:nvSpPr>
        <p:spPr>
          <a:xfrm>
            <a:off x="1295400" y="381000"/>
            <a:ext cx="9906000" cy="1020762"/>
          </a:xfrm>
        </p:spPr>
        <p:txBody>
          <a:bodyPr/>
          <a:lstStyle/>
          <a:p>
            <a:r>
              <a:rPr lang="es-419"/>
              <a:t>Ubicación de Polos – Realimentación Estados</a:t>
            </a:r>
          </a:p>
        </p:txBody>
      </p:sp>
      <p:sp>
        <p:nvSpPr>
          <p:cNvPr id="3" name="Marcador de contenido 2">
            <a:extLst>
              <a:ext uri="{FF2B5EF4-FFF2-40B4-BE49-F238E27FC236}">
                <a16:creationId xmlns:a16="http://schemas.microsoft.com/office/drawing/2014/main" id="{3FBB1696-E6EE-458B-812E-F08E75A58897}"/>
              </a:ext>
            </a:extLst>
          </p:cNvPr>
          <p:cNvSpPr>
            <a:spLocks noGrp="1"/>
          </p:cNvSpPr>
          <p:nvPr>
            <p:ph idx="1"/>
          </p:nvPr>
        </p:nvSpPr>
        <p:spPr>
          <a:xfrm>
            <a:off x="1524002" y="2819400"/>
            <a:ext cx="9144000" cy="3352800"/>
          </a:xfrm>
        </p:spPr>
        <p:txBody>
          <a:bodyPr/>
          <a:lstStyle/>
          <a:p>
            <a:r>
              <a:rPr lang="es-ES"/>
              <a:t>Donde la forma canónica controlable (FCC) es:</a:t>
            </a:r>
            <a:endParaRPr lang="es-419"/>
          </a:p>
        </p:txBody>
      </p:sp>
      <p:pic>
        <p:nvPicPr>
          <p:cNvPr id="6" name="Imagen 5">
            <a:extLst>
              <a:ext uri="{FF2B5EF4-FFF2-40B4-BE49-F238E27FC236}">
                <a16:creationId xmlns:a16="http://schemas.microsoft.com/office/drawing/2014/main" id="{0F6C8259-4C6E-41B3-AC9B-4BD4B376AB92}"/>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2514600" y="1869677"/>
            <a:ext cx="5785602" cy="740571"/>
          </a:xfrm>
          <a:prstGeom prst="rect">
            <a:avLst/>
          </a:prstGeom>
        </p:spPr>
      </p:pic>
      <p:pic>
        <p:nvPicPr>
          <p:cNvPr id="7" name="Imagen 6">
            <a:extLst>
              <a:ext uri="{FF2B5EF4-FFF2-40B4-BE49-F238E27FC236}">
                <a16:creationId xmlns:a16="http://schemas.microsoft.com/office/drawing/2014/main" id="{678922F9-DE66-4A7B-82F7-CE18BCAC43F1}"/>
              </a:ext>
            </a:extLst>
          </p:cNvPr>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2332798" y="3657601"/>
            <a:ext cx="7526404" cy="1457371"/>
          </a:xfrm>
          <a:prstGeom prst="rect">
            <a:avLst/>
          </a:prstGeom>
        </p:spPr>
      </p:pic>
      <p:pic>
        <p:nvPicPr>
          <p:cNvPr id="10" name="Imagen 9">
            <a:extLst>
              <a:ext uri="{FF2B5EF4-FFF2-40B4-BE49-F238E27FC236}">
                <a16:creationId xmlns:a16="http://schemas.microsoft.com/office/drawing/2014/main" id="{7FD78892-1C5E-46BD-ADC0-048150A7C2C3}"/>
              </a:ext>
            </a:extLst>
          </p:cNvPr>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2514600" y="5771228"/>
            <a:ext cx="3871088" cy="363886"/>
          </a:xfrm>
          <a:prstGeom prst="rect">
            <a:avLst/>
          </a:prstGeom>
        </p:spPr>
      </p:pic>
      <p:sp>
        <p:nvSpPr>
          <p:cNvPr id="11" name="Rectángulo: esquinas redondeadas 10">
            <a:extLst>
              <a:ext uri="{FF2B5EF4-FFF2-40B4-BE49-F238E27FC236}">
                <a16:creationId xmlns:a16="http://schemas.microsoft.com/office/drawing/2014/main" id="{77C03F3B-ADDD-434A-83CC-B77E4FD36BE4}"/>
              </a:ext>
            </a:extLst>
          </p:cNvPr>
          <p:cNvSpPr/>
          <p:nvPr/>
        </p:nvSpPr>
        <p:spPr>
          <a:xfrm>
            <a:off x="4450144" y="2296034"/>
            <a:ext cx="3931856" cy="390476"/>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2" name="CuadroTexto 11">
            <a:extLst>
              <a:ext uri="{FF2B5EF4-FFF2-40B4-BE49-F238E27FC236}">
                <a16:creationId xmlns:a16="http://schemas.microsoft.com/office/drawing/2014/main" id="{9257F033-0B6C-4666-85E6-E8CB428D2CA2}"/>
              </a:ext>
            </a:extLst>
          </p:cNvPr>
          <p:cNvSpPr txBox="1"/>
          <p:nvPr/>
        </p:nvSpPr>
        <p:spPr>
          <a:xfrm>
            <a:off x="8915401" y="2607034"/>
            <a:ext cx="3125343" cy="424732"/>
          </a:xfrm>
          <a:prstGeom prst="rect">
            <a:avLst/>
          </a:prstGeom>
          <a:noFill/>
        </p:spPr>
        <p:txBody>
          <a:bodyPr wrap="none" rtlCol="0">
            <a:spAutoFit/>
          </a:bodyPr>
          <a:lstStyle/>
          <a:p>
            <a:pPr>
              <a:lnSpc>
                <a:spcPct val="90000"/>
              </a:lnSpc>
            </a:pPr>
            <a:r>
              <a:rPr lang="es-419" sz="2400">
                <a:solidFill>
                  <a:srgbClr val="FFFF00"/>
                </a:solidFill>
                <a:latin typeface="Corbel"/>
              </a:rPr>
              <a:t>Ecuación Característica</a:t>
            </a:r>
          </a:p>
        </p:txBody>
      </p:sp>
      <p:cxnSp>
        <p:nvCxnSpPr>
          <p:cNvPr id="15" name="Conector recto de flecha 14">
            <a:extLst>
              <a:ext uri="{FF2B5EF4-FFF2-40B4-BE49-F238E27FC236}">
                <a16:creationId xmlns:a16="http://schemas.microsoft.com/office/drawing/2014/main" id="{40BCACC5-3CAB-4A70-BF83-13BC8B76B508}"/>
              </a:ext>
            </a:extLst>
          </p:cNvPr>
          <p:cNvCxnSpPr>
            <a:endCxn id="12" idx="1"/>
          </p:cNvCxnSpPr>
          <p:nvPr/>
        </p:nvCxnSpPr>
        <p:spPr>
          <a:xfrm>
            <a:off x="8382000" y="2686510"/>
            <a:ext cx="533400" cy="132890"/>
          </a:xfrm>
          <a:prstGeom prst="straightConnector1">
            <a:avLst/>
          </a:prstGeom>
          <a:ln w="38100">
            <a:solidFill>
              <a:schemeClr val="accent2"/>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 name="Rectángulo: esquinas redondeadas 15">
            <a:extLst>
              <a:ext uri="{FF2B5EF4-FFF2-40B4-BE49-F238E27FC236}">
                <a16:creationId xmlns:a16="http://schemas.microsoft.com/office/drawing/2014/main" id="{B3A622BA-DF9D-4185-A586-E2971978A6AC}"/>
              </a:ext>
            </a:extLst>
          </p:cNvPr>
          <p:cNvSpPr/>
          <p:nvPr/>
        </p:nvSpPr>
        <p:spPr>
          <a:xfrm>
            <a:off x="3886200" y="3657600"/>
            <a:ext cx="3200400" cy="390476"/>
          </a:xfrm>
          <a:prstGeom prst="roundRect">
            <a:avLst/>
          </a:prstGeom>
          <a:noFill/>
          <a:ln w="28575">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Tree>
    <p:extLst>
      <p:ext uri="{BB962C8B-B14F-4D97-AF65-F5344CB8AC3E}">
        <p14:creationId xmlns:p14="http://schemas.microsoft.com/office/powerpoint/2010/main" val="17028089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2" grpId="0"/>
      <p:bldP spid="1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8B594B-2443-4257-8F35-F241BA1AF203}"/>
              </a:ext>
            </a:extLst>
          </p:cNvPr>
          <p:cNvSpPr>
            <a:spLocks noGrp="1"/>
          </p:cNvSpPr>
          <p:nvPr>
            <p:ph type="title"/>
          </p:nvPr>
        </p:nvSpPr>
        <p:spPr>
          <a:xfrm>
            <a:off x="1295400" y="381000"/>
            <a:ext cx="9906000" cy="1020762"/>
          </a:xfrm>
        </p:spPr>
        <p:txBody>
          <a:bodyPr/>
          <a:lstStyle/>
          <a:p>
            <a:r>
              <a:rPr lang="es-419"/>
              <a:t>Ubicación de Polos – Realimentación Estados</a:t>
            </a:r>
          </a:p>
        </p:txBody>
      </p:sp>
      <p:sp>
        <p:nvSpPr>
          <p:cNvPr id="3" name="Marcador de contenido 2">
            <a:extLst>
              <a:ext uri="{FF2B5EF4-FFF2-40B4-BE49-F238E27FC236}">
                <a16:creationId xmlns:a16="http://schemas.microsoft.com/office/drawing/2014/main" id="{3FBB1696-E6EE-458B-812E-F08E75A58897}"/>
              </a:ext>
            </a:extLst>
          </p:cNvPr>
          <p:cNvSpPr>
            <a:spLocks noGrp="1"/>
          </p:cNvSpPr>
          <p:nvPr>
            <p:ph idx="1"/>
          </p:nvPr>
        </p:nvSpPr>
        <p:spPr/>
        <p:txBody>
          <a:bodyPr/>
          <a:lstStyle/>
          <a:p>
            <a:r>
              <a:rPr lang="es-ES"/>
              <a:t>Dada la siguiente función de transferencia:</a:t>
            </a:r>
          </a:p>
          <a:p>
            <a:endParaRPr lang="es-ES"/>
          </a:p>
          <a:p>
            <a:endParaRPr lang="es-ES"/>
          </a:p>
          <a:p>
            <a:r>
              <a:rPr lang="es-419"/>
              <a:t>su representación </a:t>
            </a:r>
            <a:r>
              <a:rPr lang="es-419">
                <a:solidFill>
                  <a:srgbClr val="FFFF00"/>
                </a:solidFill>
              </a:rPr>
              <a:t>FCC</a:t>
            </a:r>
            <a:r>
              <a:rPr lang="es-419"/>
              <a:t>:</a:t>
            </a:r>
          </a:p>
        </p:txBody>
      </p:sp>
      <p:pic>
        <p:nvPicPr>
          <p:cNvPr id="7" name="Imagen 6">
            <a:extLst>
              <a:ext uri="{FF2B5EF4-FFF2-40B4-BE49-F238E27FC236}">
                <a16:creationId xmlns:a16="http://schemas.microsoft.com/office/drawing/2014/main" id="{F80B227A-67D8-44AA-846C-BBEF8E9CB007}"/>
              </a:ext>
            </a:extLst>
          </p:cNvPr>
          <p:cNvPicPr>
            <a:picLocks noChangeAspect="1"/>
          </p:cNvPicPr>
          <p:nvPr>
            <p:custDataLst>
              <p:tags r:id="rId1"/>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1554006" y="2590800"/>
            <a:ext cx="2510630" cy="640000"/>
          </a:xfrm>
          <a:prstGeom prst="rect">
            <a:avLst/>
          </a:prstGeom>
        </p:spPr>
      </p:pic>
      <p:pic>
        <p:nvPicPr>
          <p:cNvPr id="10" name="Imagen 9">
            <a:extLst>
              <a:ext uri="{FF2B5EF4-FFF2-40B4-BE49-F238E27FC236}">
                <a16:creationId xmlns:a16="http://schemas.microsoft.com/office/drawing/2014/main" id="{3BF7B603-B14B-4AE1-BA63-17AF5AFED7CF}"/>
              </a:ext>
            </a:extLst>
          </p:cNvPr>
          <p:cNvPicPr>
            <a:picLocks noChangeAspect="1"/>
          </p:cNvPicPr>
          <p:nvPr>
            <p:custDataLst>
              <p:tags r:id="rId2"/>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5588217" y="2772743"/>
            <a:ext cx="1996802" cy="276114"/>
          </a:xfrm>
          <a:prstGeom prst="rect">
            <a:avLst/>
          </a:prstGeom>
        </p:spPr>
      </p:pic>
      <p:pic>
        <p:nvPicPr>
          <p:cNvPr id="13" name="Imagen 12">
            <a:extLst>
              <a:ext uri="{FF2B5EF4-FFF2-40B4-BE49-F238E27FC236}">
                <a16:creationId xmlns:a16="http://schemas.microsoft.com/office/drawing/2014/main" id="{CD8BD07A-E41E-427C-AF99-C7C4CB28E496}"/>
              </a:ext>
            </a:extLst>
          </p:cNvPr>
          <p:cNvPicPr>
            <a:picLocks noChangeAspect="1"/>
          </p:cNvPicPr>
          <p:nvPr>
            <p:custDataLst>
              <p:tags r:id="rId3"/>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8613226" y="2789201"/>
            <a:ext cx="3428575" cy="259657"/>
          </a:xfrm>
          <a:prstGeom prst="rect">
            <a:avLst/>
          </a:prstGeom>
        </p:spPr>
      </p:pic>
      <p:sp>
        <p:nvSpPr>
          <p:cNvPr id="14" name="Flecha: a la derecha 13">
            <a:extLst>
              <a:ext uri="{FF2B5EF4-FFF2-40B4-BE49-F238E27FC236}">
                <a16:creationId xmlns:a16="http://schemas.microsoft.com/office/drawing/2014/main" id="{A7054D7F-AB56-43A0-B48A-0A8B9A7409C1}"/>
              </a:ext>
            </a:extLst>
          </p:cNvPr>
          <p:cNvSpPr/>
          <p:nvPr/>
        </p:nvSpPr>
        <p:spPr>
          <a:xfrm>
            <a:off x="4733577" y="2789200"/>
            <a:ext cx="304800" cy="276114"/>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5" name="Flecha: a la derecha 14">
            <a:extLst>
              <a:ext uri="{FF2B5EF4-FFF2-40B4-BE49-F238E27FC236}">
                <a16:creationId xmlns:a16="http://schemas.microsoft.com/office/drawing/2014/main" id="{B4F297D7-6FAF-47DC-9716-095929BBE9A3}"/>
              </a:ext>
            </a:extLst>
          </p:cNvPr>
          <p:cNvSpPr/>
          <p:nvPr/>
        </p:nvSpPr>
        <p:spPr>
          <a:xfrm>
            <a:off x="7946722" y="2789200"/>
            <a:ext cx="304800" cy="276114"/>
          </a:xfrm>
          <a:prstGeom prst="rightArrow">
            <a:avLst/>
          </a:prstGeom>
          <a:solidFill>
            <a:schemeClr val="tx1"/>
          </a:solidFill>
          <a:ln>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pic>
        <p:nvPicPr>
          <p:cNvPr id="18" name="Imagen 17">
            <a:extLst>
              <a:ext uri="{FF2B5EF4-FFF2-40B4-BE49-F238E27FC236}">
                <a16:creationId xmlns:a16="http://schemas.microsoft.com/office/drawing/2014/main" id="{77C91888-C176-4A8E-94B7-EF3907EF48D5}"/>
              </a:ext>
            </a:extLst>
          </p:cNvPr>
          <p:cNvPicPr>
            <a:picLocks noChangeAspect="1"/>
          </p:cNvPicPr>
          <p:nvPr>
            <p:custDataLst>
              <p:tags r:id="rId4"/>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1566231" y="4191000"/>
            <a:ext cx="3578517" cy="729600"/>
          </a:xfrm>
          <a:prstGeom prst="rect">
            <a:avLst/>
          </a:prstGeom>
        </p:spPr>
      </p:pic>
      <p:pic>
        <p:nvPicPr>
          <p:cNvPr id="21" name="Imagen 20">
            <a:extLst>
              <a:ext uri="{FF2B5EF4-FFF2-40B4-BE49-F238E27FC236}">
                <a16:creationId xmlns:a16="http://schemas.microsoft.com/office/drawing/2014/main" id="{816B3FC4-55FC-4CB0-83AE-D19A4F660138}"/>
              </a:ext>
            </a:extLst>
          </p:cNvPr>
          <p:cNvPicPr>
            <a:picLocks noChangeAspect="1"/>
          </p:cNvPicPr>
          <p:nvPr>
            <p:custDataLst>
              <p:tags r:id="rId5"/>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1523999" y="5334857"/>
            <a:ext cx="2033372" cy="363886"/>
          </a:xfrm>
          <a:prstGeom prst="rect">
            <a:avLst/>
          </a:prstGeom>
        </p:spPr>
      </p:pic>
      <p:sp>
        <p:nvSpPr>
          <p:cNvPr id="22" name="Rectángulo 21">
            <a:extLst>
              <a:ext uri="{FF2B5EF4-FFF2-40B4-BE49-F238E27FC236}">
                <a16:creationId xmlns:a16="http://schemas.microsoft.com/office/drawing/2014/main" id="{2A95907B-21DC-49A7-A4D9-274631CFB064}"/>
              </a:ext>
            </a:extLst>
          </p:cNvPr>
          <p:cNvSpPr/>
          <p:nvPr/>
        </p:nvSpPr>
        <p:spPr>
          <a:xfrm>
            <a:off x="6574391" y="3764848"/>
            <a:ext cx="2744662" cy="369332"/>
          </a:xfrm>
          <a:prstGeom prst="rect">
            <a:avLst/>
          </a:prstGeom>
        </p:spPr>
        <p:txBody>
          <a:bodyPr wrap="none">
            <a:spAutoFit/>
          </a:bodyPr>
          <a:lstStyle/>
          <a:p>
            <a:r>
              <a:rPr lang="es-419">
                <a:solidFill>
                  <a:prstClr val="white"/>
                </a:solidFill>
                <a:latin typeface="Corbel"/>
              </a:rPr>
              <a:t>los autovalores del sistema</a:t>
            </a:r>
          </a:p>
        </p:txBody>
      </p:sp>
      <p:pic>
        <p:nvPicPr>
          <p:cNvPr id="25" name="Imagen 24">
            <a:extLst>
              <a:ext uri="{FF2B5EF4-FFF2-40B4-BE49-F238E27FC236}">
                <a16:creationId xmlns:a16="http://schemas.microsoft.com/office/drawing/2014/main" id="{1449478B-46D3-4714-9472-13E37CF3A049}"/>
              </a:ext>
            </a:extLst>
          </p:cNvPr>
          <p:cNvPicPr>
            <a:picLocks noChangeAspect="1"/>
          </p:cNvPicPr>
          <p:nvPr>
            <p:custDataLst>
              <p:tags r:id="rId6"/>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6638379" y="4250428"/>
            <a:ext cx="2616686" cy="305372"/>
          </a:xfrm>
          <a:prstGeom prst="rect">
            <a:avLst/>
          </a:prstGeom>
        </p:spPr>
      </p:pic>
      <p:pic>
        <p:nvPicPr>
          <p:cNvPr id="28" name="Imagen 27">
            <a:extLst>
              <a:ext uri="{FF2B5EF4-FFF2-40B4-BE49-F238E27FC236}">
                <a16:creationId xmlns:a16="http://schemas.microsoft.com/office/drawing/2014/main" id="{91F9997D-B36B-4F57-A333-4B0E89B110B8}"/>
              </a:ext>
            </a:extLst>
          </p:cNvPr>
          <p:cNvPicPr>
            <a:picLocks noChangeAspect="1"/>
          </p:cNvPicPr>
          <p:nvPr>
            <p:custDataLst>
              <p:tags r:id="rId7"/>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6625538" y="4761455"/>
            <a:ext cx="3402971" cy="731430"/>
          </a:xfrm>
          <a:prstGeom prst="rect">
            <a:avLst/>
          </a:prstGeom>
        </p:spPr>
      </p:pic>
      <p:pic>
        <p:nvPicPr>
          <p:cNvPr id="31" name="Imagen 30">
            <a:extLst>
              <a:ext uri="{FF2B5EF4-FFF2-40B4-BE49-F238E27FC236}">
                <a16:creationId xmlns:a16="http://schemas.microsoft.com/office/drawing/2014/main" id="{97B526BD-BDE6-4686-9CBB-7C48967D0BDB}"/>
              </a:ext>
            </a:extLst>
          </p:cNvPr>
          <p:cNvPicPr>
            <a:picLocks noChangeAspect="1"/>
          </p:cNvPicPr>
          <p:nvPr>
            <p:custDataLst>
              <p:tags r:id="rId8"/>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6574392" y="5700270"/>
            <a:ext cx="2570971" cy="327315"/>
          </a:xfrm>
          <a:prstGeom prst="rect">
            <a:avLst/>
          </a:prstGeom>
        </p:spPr>
      </p:pic>
      <p:pic>
        <p:nvPicPr>
          <p:cNvPr id="34" name="Imagen 33">
            <a:extLst>
              <a:ext uri="{FF2B5EF4-FFF2-40B4-BE49-F238E27FC236}">
                <a16:creationId xmlns:a16="http://schemas.microsoft.com/office/drawing/2014/main" id="{38720F31-6260-4BE0-8213-9A4BFD9D77D9}"/>
              </a:ext>
            </a:extLst>
          </p:cNvPr>
          <p:cNvPicPr>
            <a:picLocks noChangeAspect="1"/>
          </p:cNvPicPr>
          <p:nvPr>
            <p:custDataLst>
              <p:tags r:id="rId9"/>
            </p:custDataLst>
          </p:nvPr>
        </p:nvPicPr>
        <p:blipFill>
          <a:blip r:embed="rId20" cstate="print">
            <a:lum bright="70000" contrast="-70000"/>
            <a:extLst>
              <a:ext uri="{28A0092B-C50C-407E-A947-70E740481C1C}">
                <a14:useLocalDpi xmlns:a14="http://schemas.microsoft.com/office/drawing/2010/main" val="0"/>
              </a:ext>
            </a:extLst>
          </a:blip>
          <a:stretch>
            <a:fillRect/>
          </a:stretch>
        </p:blipFill>
        <p:spPr>
          <a:xfrm>
            <a:off x="6574391" y="6260811"/>
            <a:ext cx="3498057" cy="268801"/>
          </a:xfrm>
          <a:prstGeom prst="rect">
            <a:avLst/>
          </a:prstGeom>
        </p:spPr>
      </p:pic>
    </p:spTree>
    <p:extLst>
      <p:ext uri="{BB962C8B-B14F-4D97-AF65-F5344CB8AC3E}">
        <p14:creationId xmlns:p14="http://schemas.microsoft.com/office/powerpoint/2010/main" val="28562658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958E583-9BA2-4092-A50E-D580CD2EED66}"/>
              </a:ext>
            </a:extLst>
          </p:cNvPr>
          <p:cNvSpPr>
            <a:spLocks noGrp="1"/>
          </p:cNvSpPr>
          <p:nvPr>
            <p:ph idx="1"/>
          </p:nvPr>
        </p:nvSpPr>
        <p:spPr/>
        <p:txBody>
          <a:bodyPr/>
          <a:lstStyle/>
          <a:p>
            <a:r>
              <a:rPr lang="es-ES"/>
              <a:t>Aplicando una ley de control del tipo:</a:t>
            </a:r>
            <a:endParaRPr lang="es-419"/>
          </a:p>
        </p:txBody>
      </p:sp>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a:xfrm>
            <a:off x="1295400" y="381000"/>
            <a:ext cx="9906000" cy="1020762"/>
          </a:xfrm>
        </p:spPr>
        <p:txBody>
          <a:bodyPr/>
          <a:lstStyle/>
          <a:p>
            <a:r>
              <a:rPr lang="es-419"/>
              <a:t>Ubicación de Polos – Realimentación Estados</a:t>
            </a:r>
          </a:p>
        </p:txBody>
      </p:sp>
      <p:pic>
        <p:nvPicPr>
          <p:cNvPr id="5" name="Imagen 4">
            <a:extLst>
              <a:ext uri="{FF2B5EF4-FFF2-40B4-BE49-F238E27FC236}">
                <a16:creationId xmlns:a16="http://schemas.microsoft.com/office/drawing/2014/main" id="{606B28EC-5EAE-4224-A003-D4B6B85E7B3F}"/>
              </a:ext>
            </a:extLst>
          </p:cNvPr>
          <p:cNvPicPr>
            <a:picLocks noChangeAspect="1"/>
          </p:cNvPicPr>
          <p:nvPr>
            <p:custDataLst>
              <p:tags r:id="rId1"/>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828800" y="2438401"/>
            <a:ext cx="1885714" cy="318095"/>
          </a:xfrm>
          <a:prstGeom prst="rect">
            <a:avLst/>
          </a:prstGeom>
        </p:spPr>
      </p:pic>
      <p:pic>
        <p:nvPicPr>
          <p:cNvPr id="8" name="Imagen 7">
            <a:extLst>
              <a:ext uri="{FF2B5EF4-FFF2-40B4-BE49-F238E27FC236}">
                <a16:creationId xmlns:a16="http://schemas.microsoft.com/office/drawing/2014/main" id="{8401A202-11E8-4E1D-8F72-B69CB4342DC5}"/>
              </a:ext>
            </a:extLst>
          </p:cNvPr>
          <p:cNvPicPr>
            <a:picLocks noChangeAspect="1"/>
          </p:cNvPicPr>
          <p:nvPr>
            <p:custDataLst>
              <p:tags r:id="rId2"/>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828801" y="3092320"/>
            <a:ext cx="5148571" cy="760000"/>
          </a:xfrm>
          <a:prstGeom prst="rect">
            <a:avLst/>
          </a:prstGeom>
        </p:spPr>
      </p:pic>
      <p:pic>
        <p:nvPicPr>
          <p:cNvPr id="11" name="Imagen 10">
            <a:extLst>
              <a:ext uri="{FF2B5EF4-FFF2-40B4-BE49-F238E27FC236}">
                <a16:creationId xmlns:a16="http://schemas.microsoft.com/office/drawing/2014/main" id="{08F119BB-9314-4F52-8BE8-3ACA13166736}"/>
              </a:ext>
            </a:extLst>
          </p:cNvPr>
          <p:cNvPicPr>
            <a:picLocks noChangeAspect="1"/>
          </p:cNvPicPr>
          <p:nvPr>
            <p:custDataLst>
              <p:tags r:id="rId3"/>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1828800" y="4091854"/>
            <a:ext cx="4415237" cy="761905"/>
          </a:xfrm>
          <a:prstGeom prst="rect">
            <a:avLst/>
          </a:prstGeom>
        </p:spPr>
      </p:pic>
      <p:pic>
        <p:nvPicPr>
          <p:cNvPr id="14" name="Imagen 13">
            <a:extLst>
              <a:ext uri="{FF2B5EF4-FFF2-40B4-BE49-F238E27FC236}">
                <a16:creationId xmlns:a16="http://schemas.microsoft.com/office/drawing/2014/main" id="{7D297CE5-4BEA-4311-918F-081EB9E63A7E}"/>
              </a:ext>
            </a:extLst>
          </p:cNvPr>
          <p:cNvPicPr>
            <a:picLocks noChangeAspect="1"/>
          </p:cNvPicPr>
          <p:nvPr>
            <p:custDataLst>
              <p:tags r:id="rId4"/>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828799" y="5261547"/>
            <a:ext cx="3685713" cy="760000"/>
          </a:xfrm>
          <a:prstGeom prst="rect">
            <a:avLst/>
          </a:prstGeom>
        </p:spPr>
      </p:pic>
      <p:pic>
        <p:nvPicPr>
          <p:cNvPr id="17" name="Imagen 16">
            <a:extLst>
              <a:ext uri="{FF2B5EF4-FFF2-40B4-BE49-F238E27FC236}">
                <a16:creationId xmlns:a16="http://schemas.microsoft.com/office/drawing/2014/main" id="{029D0DA5-2D7C-448C-8D5F-90BE66A0CDEE}"/>
              </a:ext>
            </a:extLst>
          </p:cNvPr>
          <p:cNvPicPr>
            <a:picLocks noChangeAspect="1"/>
          </p:cNvPicPr>
          <p:nvPr>
            <p:custDataLst>
              <p:tags r:id="rId5"/>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7315201" y="5477890"/>
            <a:ext cx="4366629" cy="327315"/>
          </a:xfrm>
          <a:prstGeom prst="rect">
            <a:avLst/>
          </a:prstGeom>
        </p:spPr>
      </p:pic>
    </p:spTree>
    <p:extLst>
      <p:ext uri="{BB962C8B-B14F-4D97-AF65-F5344CB8AC3E}">
        <p14:creationId xmlns:p14="http://schemas.microsoft.com/office/powerpoint/2010/main" val="41122754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5958E583-9BA2-4092-A50E-D580CD2EED66}"/>
                  </a:ext>
                </a:extLst>
              </p:cNvPr>
              <p:cNvSpPr>
                <a:spLocks noGrp="1"/>
              </p:cNvSpPr>
              <p:nvPr>
                <p:ph idx="1"/>
              </p:nvPr>
            </p:nvSpPr>
            <p:spPr>
              <a:xfrm>
                <a:off x="1524002" y="1905000"/>
                <a:ext cx="9144000" cy="1020762"/>
              </a:xfrm>
            </p:spPr>
            <p:txBody>
              <a:bodyPr/>
              <a:lstStyle/>
              <a:p>
                <a:r>
                  <a:rPr lang="es-ES"/>
                  <a:t> Tiempo de establecimiento de un </a:t>
                </a:r>
                <a:r>
                  <a:rPr lang="es-ES">
                    <a:solidFill>
                      <a:srgbClr val="FFFF00"/>
                    </a:solidFill>
                  </a:rPr>
                  <a:t>75%</a:t>
                </a:r>
                <a:r>
                  <a:rPr lang="es-ES"/>
                  <a:t> mas rápido que el lazo abierto y con un factor de amortiguamiento de </a:t>
                </a:r>
                <a14:m>
                  <m:oMath xmlns:m="http://schemas.openxmlformats.org/officeDocument/2006/math">
                    <m:r>
                      <a:rPr lang="es-ES" i="1" dirty="0" smtClean="0">
                        <a:latin typeface="Cambria Math" panose="02040503050406030204" pitchFamily="18" charset="0"/>
                      </a:rPr>
                      <m:t>𝜁</m:t>
                    </m:r>
                    <m:r>
                      <a:rPr lang="es-ES" i="1" dirty="0">
                        <a:latin typeface="Cambria Math" panose="02040503050406030204" pitchFamily="18" charset="0"/>
                      </a:rPr>
                      <m:t>=</m:t>
                    </m:r>
                    <m:r>
                      <a:rPr lang="es-ES" i="1" dirty="0" smtClean="0">
                        <a:latin typeface="Cambria Math" panose="02040503050406030204" pitchFamily="18" charset="0"/>
                      </a:rPr>
                      <m:t>0.707 </m:t>
                    </m:r>
                  </m:oMath>
                </a14:m>
                <a:endParaRPr lang="es-419"/>
              </a:p>
            </p:txBody>
          </p:sp>
        </mc:Choice>
        <mc:Fallback>
          <p:sp>
            <p:nvSpPr>
              <p:cNvPr id="3" name="Marcador de contenido 2">
                <a:extLst>
                  <a:ext uri="{FF2B5EF4-FFF2-40B4-BE49-F238E27FC236}">
                    <a16:creationId xmlns:a16="http://schemas.microsoft.com/office/drawing/2014/main" id="{5958E583-9BA2-4092-A50E-D580CD2EED66}"/>
                  </a:ext>
                </a:extLst>
              </p:cNvPr>
              <p:cNvSpPr>
                <a:spLocks noGrp="1" noRot="1" noChangeAspect="1" noMove="1" noResize="1" noEditPoints="1" noAdjustHandles="1" noChangeArrowheads="1" noChangeShapeType="1" noTextEdit="1"/>
              </p:cNvSpPr>
              <p:nvPr>
                <p:ph idx="1"/>
              </p:nvPr>
            </p:nvSpPr>
            <p:spPr>
              <a:xfrm>
                <a:off x="1524002" y="1905000"/>
                <a:ext cx="9144000" cy="1020762"/>
              </a:xfrm>
              <a:blipFill>
                <a:blip r:embed="rId11"/>
                <a:stretch>
                  <a:fillRect l="-867" t="-8383" r="-933"/>
                </a:stretch>
              </a:blipFill>
            </p:spPr>
            <p:txBody>
              <a:bodyPr/>
              <a:lstStyle/>
              <a:p>
                <a:r>
                  <a:rPr lang="en-US">
                    <a:noFill/>
                  </a:rPr>
                  <a:t> </a:t>
                </a:r>
              </a:p>
            </p:txBody>
          </p:sp>
        </mc:Fallback>
      </mc:AlternateContent>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a:xfrm>
            <a:off x="1295400" y="381000"/>
            <a:ext cx="9906000" cy="1020762"/>
          </a:xfrm>
        </p:spPr>
        <p:txBody>
          <a:bodyPr/>
          <a:lstStyle/>
          <a:p>
            <a:r>
              <a:rPr lang="es-419"/>
              <a:t>Ubicación de Polos – Realimentación Estados</a:t>
            </a:r>
          </a:p>
        </p:txBody>
      </p:sp>
      <p:pic>
        <p:nvPicPr>
          <p:cNvPr id="6" name="Imagen 5">
            <a:extLst>
              <a:ext uri="{FF2B5EF4-FFF2-40B4-BE49-F238E27FC236}">
                <a16:creationId xmlns:a16="http://schemas.microsoft.com/office/drawing/2014/main" id="{AE923FB1-BF21-4EC8-A84B-4371D20C5E3F}"/>
              </a:ext>
            </a:extLst>
          </p:cNvPr>
          <p:cNvPicPr>
            <a:picLocks noChangeAspect="1"/>
          </p:cNvPicPr>
          <p:nvPr>
            <p:custDataLst>
              <p:tags r:id="rId1"/>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1234736" y="3319855"/>
            <a:ext cx="3969523" cy="340952"/>
          </a:xfrm>
          <a:prstGeom prst="rect">
            <a:avLst/>
          </a:prstGeom>
        </p:spPr>
      </p:pic>
      <p:pic>
        <p:nvPicPr>
          <p:cNvPr id="10" name="Imagen 9">
            <a:extLst>
              <a:ext uri="{FF2B5EF4-FFF2-40B4-BE49-F238E27FC236}">
                <a16:creationId xmlns:a16="http://schemas.microsoft.com/office/drawing/2014/main" id="{F4AC2ABE-3B95-4F4C-9FA8-AD74DE1A94D5}"/>
              </a:ext>
            </a:extLst>
          </p:cNvPr>
          <p:cNvPicPr>
            <a:picLocks noChangeAspect="1"/>
          </p:cNvPicPr>
          <p:nvPr>
            <p:custDataLst>
              <p:tags r:id="rId2"/>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6732528" y="3326674"/>
            <a:ext cx="4366629" cy="327315"/>
          </a:xfrm>
          <a:prstGeom prst="rect">
            <a:avLst/>
          </a:prstGeom>
        </p:spPr>
      </p:pic>
      <p:sp>
        <p:nvSpPr>
          <p:cNvPr id="12" name="CuadroTexto 11">
            <a:extLst>
              <a:ext uri="{FF2B5EF4-FFF2-40B4-BE49-F238E27FC236}">
                <a16:creationId xmlns:a16="http://schemas.microsoft.com/office/drawing/2014/main" id="{4F613829-A4B5-4DB9-932F-587A7401B313}"/>
              </a:ext>
            </a:extLst>
          </p:cNvPr>
          <p:cNvSpPr txBox="1"/>
          <p:nvPr/>
        </p:nvSpPr>
        <p:spPr>
          <a:xfrm>
            <a:off x="1130530" y="2786880"/>
            <a:ext cx="4292329" cy="424732"/>
          </a:xfrm>
          <a:prstGeom prst="rect">
            <a:avLst/>
          </a:prstGeom>
          <a:noFill/>
        </p:spPr>
        <p:txBody>
          <a:bodyPr wrap="none" rtlCol="0">
            <a:spAutoFit/>
          </a:bodyPr>
          <a:lstStyle/>
          <a:p>
            <a:pPr>
              <a:lnSpc>
                <a:spcPct val="90000"/>
              </a:lnSpc>
            </a:pPr>
            <a:r>
              <a:rPr lang="es-419" sz="2400">
                <a:solidFill>
                  <a:srgbClr val="FFFF00"/>
                </a:solidFill>
                <a:latin typeface="Corbel"/>
              </a:rPr>
              <a:t>Ecuación Característica Deseada</a:t>
            </a:r>
          </a:p>
        </p:txBody>
      </p:sp>
      <p:sp>
        <p:nvSpPr>
          <p:cNvPr id="13" name="CuadroTexto 12">
            <a:extLst>
              <a:ext uri="{FF2B5EF4-FFF2-40B4-BE49-F238E27FC236}">
                <a16:creationId xmlns:a16="http://schemas.microsoft.com/office/drawing/2014/main" id="{A3D0FEF3-CF52-4F58-8D9B-F05027D6EFBA}"/>
              </a:ext>
            </a:extLst>
          </p:cNvPr>
          <p:cNvSpPr txBox="1"/>
          <p:nvPr/>
        </p:nvSpPr>
        <p:spPr>
          <a:xfrm>
            <a:off x="6664941" y="2786880"/>
            <a:ext cx="4865371" cy="424732"/>
          </a:xfrm>
          <a:prstGeom prst="rect">
            <a:avLst/>
          </a:prstGeom>
          <a:noFill/>
        </p:spPr>
        <p:txBody>
          <a:bodyPr wrap="none" rtlCol="0">
            <a:spAutoFit/>
          </a:bodyPr>
          <a:lstStyle/>
          <a:p>
            <a:pPr>
              <a:lnSpc>
                <a:spcPct val="90000"/>
              </a:lnSpc>
            </a:pPr>
            <a:r>
              <a:rPr lang="es-419" sz="2400">
                <a:solidFill>
                  <a:srgbClr val="FFFF00"/>
                </a:solidFill>
                <a:latin typeface="Corbel"/>
              </a:rPr>
              <a:t>Ecuación Característica Lazo Cerrado</a:t>
            </a:r>
          </a:p>
        </p:txBody>
      </p:sp>
      <p:pic>
        <p:nvPicPr>
          <p:cNvPr id="18" name="Imagen 17">
            <a:extLst>
              <a:ext uri="{FF2B5EF4-FFF2-40B4-BE49-F238E27FC236}">
                <a16:creationId xmlns:a16="http://schemas.microsoft.com/office/drawing/2014/main" id="{8F3721BD-A122-48AC-9643-CC0F555B8846}"/>
              </a:ext>
            </a:extLst>
          </p:cNvPr>
          <p:cNvPicPr>
            <a:picLocks noChangeAspect="1"/>
          </p:cNvPicPr>
          <p:nvPr>
            <p:custDataLst>
              <p:tags r:id="rId3"/>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1234735" y="4023599"/>
            <a:ext cx="2434284" cy="266666"/>
          </a:xfrm>
          <a:prstGeom prst="rect">
            <a:avLst/>
          </a:prstGeom>
        </p:spPr>
      </p:pic>
      <p:pic>
        <p:nvPicPr>
          <p:cNvPr id="16" name="Imagen 15">
            <a:extLst>
              <a:ext uri="{FF2B5EF4-FFF2-40B4-BE49-F238E27FC236}">
                <a16:creationId xmlns:a16="http://schemas.microsoft.com/office/drawing/2014/main" id="{D0E0E548-B45D-4CF2-904C-9F7172D88EAE}"/>
              </a:ext>
            </a:extLst>
          </p:cNvPr>
          <p:cNvPicPr>
            <a:picLocks noChangeAspect="1"/>
          </p:cNvPicPr>
          <p:nvPr>
            <p:custDataLst>
              <p:tags r:id="rId4"/>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7072985" y="4038600"/>
            <a:ext cx="3685713" cy="760000"/>
          </a:xfrm>
          <a:prstGeom prst="rect">
            <a:avLst/>
          </a:prstGeom>
        </p:spPr>
      </p:pic>
      <p:pic>
        <p:nvPicPr>
          <p:cNvPr id="24" name="Imagen 23">
            <a:extLst>
              <a:ext uri="{FF2B5EF4-FFF2-40B4-BE49-F238E27FC236}">
                <a16:creationId xmlns:a16="http://schemas.microsoft.com/office/drawing/2014/main" id="{5740E9C6-5E29-4553-BE1B-203B07CD54FB}"/>
              </a:ext>
            </a:extLst>
          </p:cNvPr>
          <p:cNvPicPr>
            <a:picLocks noChangeAspect="1"/>
          </p:cNvPicPr>
          <p:nvPr>
            <p:custDataLst>
              <p:tags r:id="rId5"/>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1092849" y="5486400"/>
            <a:ext cx="2601903" cy="266666"/>
          </a:xfrm>
          <a:prstGeom prst="rect">
            <a:avLst/>
          </a:prstGeom>
        </p:spPr>
      </p:pic>
      <p:pic>
        <p:nvPicPr>
          <p:cNvPr id="22" name="Imagen 21">
            <a:extLst>
              <a:ext uri="{FF2B5EF4-FFF2-40B4-BE49-F238E27FC236}">
                <a16:creationId xmlns:a16="http://schemas.microsoft.com/office/drawing/2014/main" id="{956A287F-BFF5-4DAD-BDFF-5C62D45D9845}"/>
              </a:ext>
            </a:extLst>
          </p:cNvPr>
          <p:cNvPicPr>
            <a:picLocks noChangeAspect="1"/>
          </p:cNvPicPr>
          <p:nvPr>
            <p:custDataLst>
              <p:tags r:id="rId6"/>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1234735" y="4440271"/>
            <a:ext cx="1819046" cy="266666"/>
          </a:xfrm>
          <a:prstGeom prst="rect">
            <a:avLst/>
          </a:prstGeom>
        </p:spPr>
      </p:pic>
      <p:pic>
        <p:nvPicPr>
          <p:cNvPr id="27" name="Imagen 26">
            <a:extLst>
              <a:ext uri="{FF2B5EF4-FFF2-40B4-BE49-F238E27FC236}">
                <a16:creationId xmlns:a16="http://schemas.microsoft.com/office/drawing/2014/main" id="{E5B43F28-36D7-4BD9-8B0B-DB08F0CE75EB}"/>
              </a:ext>
            </a:extLst>
          </p:cNvPr>
          <p:cNvPicPr>
            <a:picLocks noChangeAspect="1"/>
          </p:cNvPicPr>
          <p:nvPr>
            <p:custDataLst>
              <p:tags r:id="rId7"/>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1054377" y="5905534"/>
            <a:ext cx="1819046" cy="266666"/>
          </a:xfrm>
          <a:prstGeom prst="rect">
            <a:avLst/>
          </a:prstGeom>
        </p:spPr>
      </p:pic>
      <p:pic>
        <p:nvPicPr>
          <p:cNvPr id="30" name="Imagen 29">
            <a:extLst>
              <a:ext uri="{FF2B5EF4-FFF2-40B4-BE49-F238E27FC236}">
                <a16:creationId xmlns:a16="http://schemas.microsoft.com/office/drawing/2014/main" id="{F7FFC5CE-F07F-4E34-BCB5-95B5BDCD12A0}"/>
              </a:ext>
            </a:extLst>
          </p:cNvPr>
          <p:cNvPicPr>
            <a:picLocks noChangeAspect="1"/>
          </p:cNvPicPr>
          <p:nvPr>
            <p:custDataLst>
              <p:tags r:id="rId8"/>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7089982" y="5566414"/>
            <a:ext cx="3739045" cy="760000"/>
          </a:xfrm>
          <a:prstGeom prst="rect">
            <a:avLst/>
          </a:prstGeom>
        </p:spPr>
      </p:pic>
    </p:spTree>
    <p:extLst>
      <p:ext uri="{BB962C8B-B14F-4D97-AF65-F5344CB8AC3E}">
        <p14:creationId xmlns:p14="http://schemas.microsoft.com/office/powerpoint/2010/main" val="22960097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Ubicación de Polos – Realimentación Estados</a:t>
            </a:r>
          </a:p>
        </p:txBody>
      </p:sp>
      <p:pic>
        <p:nvPicPr>
          <p:cNvPr id="9" name="Marcador de contenido 8">
            <a:extLst>
              <a:ext uri="{FF2B5EF4-FFF2-40B4-BE49-F238E27FC236}">
                <a16:creationId xmlns:a16="http://schemas.microsoft.com/office/drawing/2014/main" id="{69A6B9BC-DB84-408F-88FF-31DA5B2234AE}"/>
              </a:ext>
            </a:extLst>
          </p:cNvPr>
          <p:cNvPicPr>
            <a:picLocks noGrp="1" noChangeAspect="1"/>
          </p:cNvPicPr>
          <p:nvPr>
            <p:ph sz="half" idx="2"/>
          </p:nvPr>
        </p:nvPicPr>
        <p:blipFill>
          <a:blip r:embed="rId4"/>
          <a:stretch>
            <a:fillRect/>
          </a:stretch>
        </p:blipFill>
        <p:spPr>
          <a:xfrm>
            <a:off x="6248401" y="2114552"/>
            <a:ext cx="5410199" cy="4057649"/>
          </a:xfrm>
          <a:prstGeom prst="rect">
            <a:avLst/>
          </a:prstGeom>
        </p:spPr>
      </p:pic>
      <p:pic>
        <p:nvPicPr>
          <p:cNvPr id="30" name="Imagen 29">
            <a:extLst>
              <a:ext uri="{FF2B5EF4-FFF2-40B4-BE49-F238E27FC236}">
                <a16:creationId xmlns:a16="http://schemas.microsoft.com/office/drawing/2014/main" id="{F7FFC5CE-F07F-4E34-BCB5-95B5BDCD12A0}"/>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1371601" y="3429000"/>
            <a:ext cx="3739045" cy="760000"/>
          </a:xfrm>
          <a:prstGeom prst="rect">
            <a:avLst/>
          </a:prstGeom>
        </p:spPr>
      </p:pic>
    </p:spTree>
    <p:extLst>
      <p:ext uri="{BB962C8B-B14F-4D97-AF65-F5344CB8AC3E}">
        <p14:creationId xmlns:p14="http://schemas.microsoft.com/office/powerpoint/2010/main" val="16521948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Ubicación de Polos – Realimentación Estados</a:t>
            </a:r>
          </a:p>
        </p:txBody>
      </p:sp>
      <mc:AlternateContent xmlns:mc="http://schemas.openxmlformats.org/markup-compatibility/2006">
        <mc:Choice xmlns:a14="http://schemas.microsoft.com/office/drawing/2010/main" Requires="a14">
          <p:sp>
            <p:nvSpPr>
              <p:cNvPr id="5" name="Marcador de contenido 4">
                <a:extLst>
                  <a:ext uri="{FF2B5EF4-FFF2-40B4-BE49-F238E27FC236}">
                    <a16:creationId xmlns:a16="http://schemas.microsoft.com/office/drawing/2014/main" id="{77171E8C-4E2A-4383-830B-7FFCD3D8C56B}"/>
                  </a:ext>
                </a:extLst>
              </p:cNvPr>
              <p:cNvSpPr>
                <a:spLocks noGrp="1"/>
              </p:cNvSpPr>
              <p:nvPr>
                <p:ph idx="1"/>
              </p:nvPr>
            </p:nvSpPr>
            <p:spPr/>
            <p:txBody>
              <a:bodyPr/>
              <a:lstStyle/>
              <a:p>
                <a:r>
                  <a:rPr lang="es-ES"/>
                  <a:t>Esta realimentación de estados </a:t>
                </a:r>
                <a:r>
                  <a:rPr lang="es-ES">
                    <a:solidFill>
                      <a:srgbClr val="FFFF00"/>
                    </a:solidFill>
                  </a:rPr>
                  <a:t>solo funciona en la forma canónica controlable</a:t>
                </a:r>
                <a:r>
                  <a:rPr lang="es-ES"/>
                  <a:t>, porque el vector de </a:t>
                </a:r>
                <a:r>
                  <a:rPr lang="es-ES">
                    <a:solidFill>
                      <a:srgbClr val="FFFF00"/>
                    </a:solidFill>
                  </a:rPr>
                  <a:t>ganancias </a:t>
                </a:r>
                <a14:m>
                  <m:oMath xmlns:m="http://schemas.openxmlformats.org/officeDocument/2006/math">
                    <m:r>
                      <a:rPr lang="es-ES" i="1" dirty="0" smtClean="0">
                        <a:solidFill>
                          <a:srgbClr val="FFFF00"/>
                        </a:solidFill>
                        <a:latin typeface="Cambria Math" panose="02040503050406030204" pitchFamily="18" charset="0"/>
                      </a:rPr>
                      <m:t>𝑘</m:t>
                    </m:r>
                  </m:oMath>
                </a14:m>
                <a:r>
                  <a:rPr lang="es-ES"/>
                  <a:t> solo modifica la </a:t>
                </a:r>
                <a:r>
                  <a:rPr lang="es-ES">
                    <a:solidFill>
                      <a:srgbClr val="FFFF00"/>
                    </a:solidFill>
                  </a:rPr>
                  <a:t>ecuación característica </a:t>
                </a:r>
                <a:r>
                  <a:rPr lang="es-ES"/>
                  <a:t>del sistema.</a:t>
                </a:r>
              </a:p>
              <a:p>
                <a:r>
                  <a:rPr lang="es-ES"/>
                  <a:t>Si el sistema esta representado de una </a:t>
                </a:r>
                <a:r>
                  <a:rPr lang="es-ES">
                    <a:solidFill>
                      <a:srgbClr val="FFFF00"/>
                    </a:solidFill>
                  </a:rPr>
                  <a:t>forma diferente</a:t>
                </a:r>
                <a:r>
                  <a:rPr lang="es-ES"/>
                  <a:t>, el vector de </a:t>
                </a:r>
                <a:r>
                  <a:rPr lang="es-ES">
                    <a:solidFill>
                      <a:srgbClr val="FFFF00"/>
                    </a:solidFill>
                  </a:rPr>
                  <a:t>ganancias k </a:t>
                </a:r>
                <a:r>
                  <a:rPr lang="es-ES"/>
                  <a:t>puede aparecer en </a:t>
                </a:r>
                <a:r>
                  <a:rPr lang="es-ES">
                    <a:solidFill>
                      <a:srgbClr val="FFFF00"/>
                    </a:solidFill>
                  </a:rPr>
                  <a:t>cualquier parte </a:t>
                </a:r>
                <a:r>
                  <a:rPr lang="es-ES"/>
                  <a:t>de la matriz dinámica.</a:t>
                </a:r>
              </a:p>
              <a:p>
                <a:r>
                  <a:rPr lang="es-ES"/>
                  <a:t>Para esos casos se procede a </a:t>
                </a:r>
                <a:r>
                  <a:rPr lang="es-ES">
                    <a:solidFill>
                      <a:srgbClr val="FFFF00"/>
                    </a:solidFill>
                  </a:rPr>
                  <a:t>convertir</a:t>
                </a:r>
                <a:r>
                  <a:rPr lang="es-ES"/>
                  <a:t> el sistema a la forma canónica controlable utilizando el concepto de la </a:t>
                </a:r>
                <a:r>
                  <a:rPr lang="es-ES">
                    <a:solidFill>
                      <a:srgbClr val="FFFF00"/>
                    </a:solidFill>
                  </a:rPr>
                  <a:t>transformación de similitud</a:t>
                </a:r>
                <a:r>
                  <a:rPr lang="es-ES"/>
                  <a:t>.</a:t>
                </a:r>
                <a:endParaRPr lang="es-419"/>
              </a:p>
            </p:txBody>
          </p:sp>
        </mc:Choice>
        <mc:Fallback>
          <p:sp>
            <p:nvSpPr>
              <p:cNvPr id="5" name="Marcador de contenido 4">
                <a:extLst>
                  <a:ext uri="{FF2B5EF4-FFF2-40B4-BE49-F238E27FC236}">
                    <a16:creationId xmlns:a16="http://schemas.microsoft.com/office/drawing/2014/main" id="{77171E8C-4E2A-4383-830B-7FFCD3D8C56B}"/>
                  </a:ext>
                </a:extLst>
              </p:cNvPr>
              <p:cNvSpPr>
                <a:spLocks noGrp="1" noRot="1" noChangeAspect="1" noMove="1" noResize="1" noEditPoints="1" noAdjustHandles="1" noChangeArrowheads="1" noChangeShapeType="1" noTextEdit="1"/>
              </p:cNvSpPr>
              <p:nvPr>
                <p:ph idx="1"/>
              </p:nvPr>
            </p:nvSpPr>
            <p:spPr>
              <a:blipFill>
                <a:blip r:embed="rId3"/>
                <a:stretch>
                  <a:fillRect l="-933" t="-2000" r="-600"/>
                </a:stretch>
              </a:blipFill>
            </p:spPr>
            <p:txBody>
              <a:bodyPr/>
              <a:lstStyle/>
              <a:p>
                <a:r>
                  <a:rPr lang="en-US">
                    <a:noFill/>
                  </a:rPr>
                  <a:t> </a:t>
                </a:r>
              </a:p>
            </p:txBody>
          </p:sp>
        </mc:Fallback>
      </mc:AlternateContent>
    </p:spTree>
    <p:extLst>
      <p:ext uri="{BB962C8B-B14F-4D97-AF65-F5344CB8AC3E}">
        <p14:creationId xmlns:p14="http://schemas.microsoft.com/office/powerpoint/2010/main" val="4121525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Ubicación de Polos – Realimentación Estados – Ejemplo 2 – Sin forma FCC</a:t>
            </a:r>
          </a:p>
        </p:txBody>
      </p:sp>
      <p:sp>
        <p:nvSpPr>
          <p:cNvPr id="5" name="Marcador de contenido 4">
            <a:extLst>
              <a:ext uri="{FF2B5EF4-FFF2-40B4-BE49-F238E27FC236}">
                <a16:creationId xmlns:a16="http://schemas.microsoft.com/office/drawing/2014/main" id="{77171E8C-4E2A-4383-830B-7FFCD3D8C56B}"/>
              </a:ext>
            </a:extLst>
          </p:cNvPr>
          <p:cNvSpPr>
            <a:spLocks noGrp="1"/>
          </p:cNvSpPr>
          <p:nvPr>
            <p:ph idx="1"/>
          </p:nvPr>
        </p:nvSpPr>
        <p:spPr/>
        <p:txBody>
          <a:bodyPr/>
          <a:lstStyle/>
          <a:p>
            <a:pPr algn="just"/>
            <a:r>
              <a:rPr lang="es-ES"/>
              <a:t>Veremos el procedimiento que debe ser aplicado en el caso de nuestro sistema </a:t>
            </a:r>
            <a:r>
              <a:rPr lang="es-ES" b="1">
                <a:solidFill>
                  <a:srgbClr val="FFFF00"/>
                </a:solidFill>
              </a:rPr>
              <a:t>NO estar en la forma FCC </a:t>
            </a:r>
            <a:r>
              <a:rPr lang="es-ES"/>
              <a:t>y al final comprobaremos el resultado con MATLAB. </a:t>
            </a:r>
          </a:p>
          <a:p>
            <a:pPr algn="just"/>
            <a:r>
              <a:rPr lang="es-ES"/>
              <a:t>Todo este procedimiento es ejecutado automáticamente por la función </a:t>
            </a:r>
            <a:r>
              <a:rPr lang="es-ES" i="1">
                <a:solidFill>
                  <a:srgbClr val="FFFF00"/>
                </a:solidFill>
              </a:rPr>
              <a:t>place</a:t>
            </a:r>
            <a:r>
              <a:rPr lang="es-ES"/>
              <a:t> de Matlab, y aquí vamos a entender que es lo que hace la función por dentro.</a:t>
            </a:r>
            <a:endParaRPr lang="es-419"/>
          </a:p>
        </p:txBody>
      </p:sp>
    </p:spTree>
    <p:extLst>
      <p:ext uri="{BB962C8B-B14F-4D97-AF65-F5344CB8AC3E}">
        <p14:creationId xmlns:p14="http://schemas.microsoft.com/office/powerpoint/2010/main" val="764221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Ubicación de Polos – Realimentación Estados – Ejemplo 2 – Sin forma FCC</a:t>
            </a:r>
          </a:p>
        </p:txBody>
      </p:sp>
      <p:sp>
        <p:nvSpPr>
          <p:cNvPr id="5" name="Marcador de contenido 4">
            <a:extLst>
              <a:ext uri="{FF2B5EF4-FFF2-40B4-BE49-F238E27FC236}">
                <a16:creationId xmlns:a16="http://schemas.microsoft.com/office/drawing/2014/main" id="{77171E8C-4E2A-4383-830B-7FFCD3D8C56B}"/>
              </a:ext>
            </a:extLst>
          </p:cNvPr>
          <p:cNvSpPr>
            <a:spLocks noGrp="1"/>
          </p:cNvSpPr>
          <p:nvPr>
            <p:ph idx="1"/>
          </p:nvPr>
        </p:nvSpPr>
        <p:spPr>
          <a:xfrm>
            <a:off x="1524002" y="1600200"/>
            <a:ext cx="9144000" cy="4572000"/>
          </a:xfrm>
        </p:spPr>
        <p:txBody>
          <a:bodyPr/>
          <a:lstStyle/>
          <a:p>
            <a:pPr algn="just"/>
            <a:r>
              <a:rPr lang="es-ES"/>
              <a:t>Suponga que tenemos el siguiente sistema que </a:t>
            </a:r>
            <a:r>
              <a:rPr lang="es-ES">
                <a:solidFill>
                  <a:srgbClr val="FFFF00"/>
                </a:solidFill>
              </a:rPr>
              <a:t>NO está en la FCC</a:t>
            </a:r>
            <a:r>
              <a:rPr lang="es-ES"/>
              <a:t>:</a:t>
            </a:r>
          </a:p>
          <a:p>
            <a:pPr algn="just"/>
            <a:endParaRPr lang="es-ES"/>
          </a:p>
          <a:p>
            <a:pPr algn="just"/>
            <a:endParaRPr lang="es-ES"/>
          </a:p>
          <a:p>
            <a:pPr algn="just"/>
            <a:endParaRPr lang="es-ES"/>
          </a:p>
          <a:p>
            <a:pPr algn="just"/>
            <a:endParaRPr lang="es-ES"/>
          </a:p>
          <a:p>
            <a:pPr algn="just"/>
            <a:r>
              <a:rPr lang="es-ES"/>
              <a:t>Procedemos a verificar la controlabilidad del sistema:</a:t>
            </a:r>
            <a:endParaRPr lang="es-419"/>
          </a:p>
        </p:txBody>
      </p:sp>
      <p:pic>
        <p:nvPicPr>
          <p:cNvPr id="3" name="Imagen 2">
            <a:extLst>
              <a:ext uri="{FF2B5EF4-FFF2-40B4-BE49-F238E27FC236}">
                <a16:creationId xmlns:a16="http://schemas.microsoft.com/office/drawing/2014/main" id="{7E30B061-E10E-4037-9BD5-2551E5D2301C}"/>
              </a:ext>
            </a:extLst>
          </p:cNvPr>
          <p:cNvPicPr>
            <a:picLocks noChangeAspect="1"/>
          </p:cNvPicPr>
          <p:nvPr>
            <p:custDataLst>
              <p:tags r:id="rId1"/>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3505201" y="2134382"/>
            <a:ext cx="4657371" cy="1457371"/>
          </a:xfrm>
          <a:prstGeom prst="rect">
            <a:avLst/>
          </a:prstGeom>
        </p:spPr>
      </p:pic>
      <p:pic>
        <p:nvPicPr>
          <p:cNvPr id="7" name="Imagen 6">
            <a:extLst>
              <a:ext uri="{FF2B5EF4-FFF2-40B4-BE49-F238E27FC236}">
                <a16:creationId xmlns:a16="http://schemas.microsoft.com/office/drawing/2014/main" id="{C128901C-E55D-401F-B2B8-308040F93597}"/>
              </a:ext>
            </a:extLst>
          </p:cNvPr>
          <p:cNvPicPr>
            <a:picLocks noChangeAspect="1"/>
          </p:cNvPicPr>
          <p:nvPr>
            <p:custDataLst>
              <p:tags r:id="rId2"/>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3505201" y="3822695"/>
            <a:ext cx="2453333" cy="303238"/>
          </a:xfrm>
          <a:prstGeom prst="rect">
            <a:avLst/>
          </a:prstGeom>
        </p:spPr>
      </p:pic>
      <p:pic>
        <p:nvPicPr>
          <p:cNvPr id="16" name="Imagen 15">
            <a:extLst>
              <a:ext uri="{FF2B5EF4-FFF2-40B4-BE49-F238E27FC236}">
                <a16:creationId xmlns:a16="http://schemas.microsoft.com/office/drawing/2014/main" id="{E340B147-C3EC-4FE4-AF93-51B8539F0D01}"/>
              </a:ext>
            </a:extLst>
          </p:cNvPr>
          <p:cNvPicPr>
            <a:picLocks noChangeAspect="1"/>
          </p:cNvPicPr>
          <p:nvPr>
            <p:custDataLst>
              <p:tags r:id="rId3"/>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350948" y="5370301"/>
            <a:ext cx="3328000" cy="546743"/>
          </a:xfrm>
          <a:prstGeom prst="rect">
            <a:avLst/>
          </a:prstGeom>
        </p:spPr>
      </p:pic>
      <p:pic>
        <p:nvPicPr>
          <p:cNvPr id="11" name="Imagen 10">
            <a:extLst>
              <a:ext uri="{FF2B5EF4-FFF2-40B4-BE49-F238E27FC236}">
                <a16:creationId xmlns:a16="http://schemas.microsoft.com/office/drawing/2014/main" id="{65E04DAB-6FF1-4CEC-88D2-B83D99AF4D8B}"/>
              </a:ext>
            </a:extLst>
          </p:cNvPr>
          <p:cNvPicPr>
            <a:picLocks noChangeAspect="1"/>
          </p:cNvPicPr>
          <p:nvPr>
            <p:custDataLst>
              <p:tags r:id="rId4"/>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9024286" y="4938860"/>
            <a:ext cx="1153829" cy="305371"/>
          </a:xfrm>
          <a:prstGeom prst="rect">
            <a:avLst/>
          </a:prstGeom>
        </p:spPr>
      </p:pic>
      <p:pic>
        <p:nvPicPr>
          <p:cNvPr id="14" name="Imagen 13">
            <a:extLst>
              <a:ext uri="{FF2B5EF4-FFF2-40B4-BE49-F238E27FC236}">
                <a16:creationId xmlns:a16="http://schemas.microsoft.com/office/drawing/2014/main" id="{4F5D0353-F1AC-423F-8DDC-D1A224C5860F}"/>
              </a:ext>
            </a:extLst>
          </p:cNvPr>
          <p:cNvPicPr>
            <a:picLocks noChangeAspect="1"/>
          </p:cNvPicPr>
          <p:nvPr>
            <p:custDataLst>
              <p:tags r:id="rId5"/>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4490496" y="4938859"/>
            <a:ext cx="3448686" cy="1457372"/>
          </a:xfrm>
          <a:prstGeom prst="rect">
            <a:avLst/>
          </a:prstGeom>
        </p:spPr>
      </p:pic>
      <p:sp>
        <p:nvSpPr>
          <p:cNvPr id="17" name="Flecha: a la derecha 16">
            <a:extLst>
              <a:ext uri="{FF2B5EF4-FFF2-40B4-BE49-F238E27FC236}">
                <a16:creationId xmlns:a16="http://schemas.microsoft.com/office/drawing/2014/main" id="{AB34FFAE-308F-40E7-8D68-655494609C6B}"/>
              </a:ext>
            </a:extLst>
          </p:cNvPr>
          <p:cNvSpPr/>
          <p:nvPr/>
        </p:nvSpPr>
        <p:spPr>
          <a:xfrm>
            <a:off x="4021679" y="5433221"/>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Flecha: a la derecha 17">
            <a:extLst>
              <a:ext uri="{FF2B5EF4-FFF2-40B4-BE49-F238E27FC236}">
                <a16:creationId xmlns:a16="http://schemas.microsoft.com/office/drawing/2014/main" id="{E5D43014-FD2B-49F3-9073-B398E1A51C46}"/>
              </a:ext>
            </a:extLst>
          </p:cNvPr>
          <p:cNvSpPr/>
          <p:nvPr/>
        </p:nvSpPr>
        <p:spPr>
          <a:xfrm>
            <a:off x="8237048" y="5457095"/>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1" name="Gráfico 20" descr="Casilla marcada">
            <a:extLst>
              <a:ext uri="{FF2B5EF4-FFF2-40B4-BE49-F238E27FC236}">
                <a16:creationId xmlns:a16="http://schemas.microsoft.com/office/drawing/2014/main" id="{F33821A1-E41D-4539-9425-0F571F7F05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83094" y="5432356"/>
            <a:ext cx="551718" cy="551718"/>
          </a:xfrm>
          <a:prstGeom prst="rect">
            <a:avLst/>
          </a:prstGeom>
        </p:spPr>
      </p:pic>
      <p:sp>
        <p:nvSpPr>
          <p:cNvPr id="22" name="CuadroTexto 21">
            <a:extLst>
              <a:ext uri="{FF2B5EF4-FFF2-40B4-BE49-F238E27FC236}">
                <a16:creationId xmlns:a16="http://schemas.microsoft.com/office/drawing/2014/main" id="{F6719560-2253-41BD-A6D7-AC967CBBB533}"/>
              </a:ext>
            </a:extLst>
          </p:cNvPr>
          <p:cNvSpPr txBox="1"/>
          <p:nvPr/>
        </p:nvSpPr>
        <p:spPr>
          <a:xfrm>
            <a:off x="9201666" y="5518880"/>
            <a:ext cx="2310248" cy="424732"/>
          </a:xfrm>
          <a:prstGeom prst="rect">
            <a:avLst/>
          </a:prstGeom>
          <a:noFill/>
        </p:spPr>
        <p:txBody>
          <a:bodyPr wrap="none" rtlCol="0">
            <a:spAutoFit/>
          </a:bodyPr>
          <a:lstStyle/>
          <a:p>
            <a:pPr>
              <a:lnSpc>
                <a:spcPct val="90000"/>
              </a:lnSpc>
            </a:pPr>
            <a:r>
              <a:rPr lang="es-419" sz="2400" b="1">
                <a:solidFill>
                  <a:srgbClr val="FFFF00"/>
                </a:solidFill>
              </a:rPr>
              <a:t>CONTROLABLE</a:t>
            </a:r>
          </a:p>
        </p:txBody>
      </p:sp>
    </p:spTree>
    <p:extLst>
      <p:ext uri="{BB962C8B-B14F-4D97-AF65-F5344CB8AC3E}">
        <p14:creationId xmlns:p14="http://schemas.microsoft.com/office/powerpoint/2010/main" val="2816623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7" grpId="0" animBg="1"/>
      <p:bldP spid="18" grpId="0" animBg="1"/>
      <p:bldP spid="2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Ubicación de Polos – Realimentación Estados – Ejemplo 2 – Sin forma FCC</a:t>
            </a:r>
          </a:p>
        </p:txBody>
      </p:sp>
      <p:sp>
        <p:nvSpPr>
          <p:cNvPr id="5" name="Marcador de contenido 4">
            <a:extLst>
              <a:ext uri="{FF2B5EF4-FFF2-40B4-BE49-F238E27FC236}">
                <a16:creationId xmlns:a16="http://schemas.microsoft.com/office/drawing/2014/main" id="{77171E8C-4E2A-4383-830B-7FFCD3D8C56B}"/>
              </a:ext>
            </a:extLst>
          </p:cNvPr>
          <p:cNvSpPr>
            <a:spLocks noGrp="1"/>
          </p:cNvSpPr>
          <p:nvPr>
            <p:ph idx="1"/>
          </p:nvPr>
        </p:nvSpPr>
        <p:spPr>
          <a:xfrm>
            <a:off x="1524002" y="1600200"/>
            <a:ext cx="9144000" cy="3733800"/>
          </a:xfrm>
        </p:spPr>
        <p:txBody>
          <a:bodyPr/>
          <a:lstStyle/>
          <a:p>
            <a:pPr algn="just"/>
            <a:r>
              <a:rPr lang="es-ES"/>
              <a:t>Calculo la ecuación característica del sistema que independe del tipo de representación del sistema.</a:t>
            </a:r>
          </a:p>
          <a:p>
            <a:pPr algn="just"/>
            <a:endParaRPr lang="es-ES"/>
          </a:p>
          <a:p>
            <a:pPr algn="just"/>
            <a:endParaRPr lang="es-ES"/>
          </a:p>
          <a:p>
            <a:pPr algn="just"/>
            <a:r>
              <a:rPr lang="es-ES"/>
              <a:t>En este caso, DE LOS AUTOVALORES vemos que el sistema es </a:t>
            </a:r>
            <a:r>
              <a:rPr lang="es-ES" b="1">
                <a:solidFill>
                  <a:srgbClr val="FFFF00"/>
                </a:solidFill>
              </a:rPr>
              <a:t>inestable</a:t>
            </a:r>
            <a:r>
              <a:rPr lang="es-ES"/>
              <a:t> dado que tiene un polo en </a:t>
            </a:r>
            <a:r>
              <a:rPr lang="es-ES">
                <a:solidFill>
                  <a:srgbClr val="FFFF00"/>
                </a:solidFill>
              </a:rPr>
              <a:t>2.2361</a:t>
            </a:r>
            <a:r>
              <a:rPr lang="es-ES"/>
              <a:t> y dos polos en el </a:t>
            </a:r>
            <a:r>
              <a:rPr lang="es-ES">
                <a:solidFill>
                  <a:srgbClr val="FFFF00"/>
                </a:solidFill>
              </a:rPr>
              <a:t>origen</a:t>
            </a:r>
            <a:r>
              <a:rPr lang="es-ES"/>
              <a:t>.</a:t>
            </a:r>
          </a:p>
          <a:p>
            <a:pPr algn="just"/>
            <a:r>
              <a:rPr lang="es-ES"/>
              <a:t>Suponga que se desea establecer en lazo cerrado los siguientes autovalores:</a:t>
            </a:r>
          </a:p>
          <a:p>
            <a:pPr algn="just"/>
            <a:endParaRPr lang="es-ES"/>
          </a:p>
          <a:p>
            <a:pPr algn="just"/>
            <a:endParaRPr lang="es-ES"/>
          </a:p>
          <a:p>
            <a:pPr algn="just"/>
            <a:endParaRPr lang="es-ES"/>
          </a:p>
        </p:txBody>
      </p:sp>
      <p:pic>
        <p:nvPicPr>
          <p:cNvPr id="6" name="Imagen 5">
            <a:extLst>
              <a:ext uri="{FF2B5EF4-FFF2-40B4-BE49-F238E27FC236}">
                <a16:creationId xmlns:a16="http://schemas.microsoft.com/office/drawing/2014/main" id="{63499533-9932-40AE-813A-B6EE70461875}"/>
              </a:ext>
            </a:extLst>
          </p:cNvPr>
          <p:cNvPicPr>
            <a:picLocks noChangeAspect="1"/>
          </p:cNvPicPr>
          <p:nvPr>
            <p:custDataLst>
              <p:tags r:id="rId1"/>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3886201" y="2523957"/>
            <a:ext cx="2180571" cy="254476"/>
          </a:xfrm>
          <a:prstGeom prst="rect">
            <a:avLst/>
          </a:prstGeom>
        </p:spPr>
      </p:pic>
      <p:pic>
        <p:nvPicPr>
          <p:cNvPr id="9" name="Imagen 8">
            <a:extLst>
              <a:ext uri="{FF2B5EF4-FFF2-40B4-BE49-F238E27FC236}">
                <a16:creationId xmlns:a16="http://schemas.microsoft.com/office/drawing/2014/main" id="{8C8F2FF4-36BF-475D-9BCC-06797327072B}"/>
              </a:ext>
            </a:extLst>
          </p:cNvPr>
          <p:cNvPicPr>
            <a:picLocks noChangeAspect="1"/>
          </p:cNvPicPr>
          <p:nvPr>
            <p:custDataLst>
              <p:tags r:id="rId2"/>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3886200" y="3083233"/>
            <a:ext cx="3308190" cy="274286"/>
          </a:xfrm>
          <a:prstGeom prst="rect">
            <a:avLst/>
          </a:prstGeom>
        </p:spPr>
      </p:pic>
      <p:pic>
        <p:nvPicPr>
          <p:cNvPr id="12" name="Imagen 11">
            <a:extLst>
              <a:ext uri="{FF2B5EF4-FFF2-40B4-BE49-F238E27FC236}">
                <a16:creationId xmlns:a16="http://schemas.microsoft.com/office/drawing/2014/main" id="{086DB278-40EB-4CF5-8086-E852497318D0}"/>
              </a:ext>
            </a:extLst>
          </p:cNvPr>
          <p:cNvPicPr>
            <a:picLocks noChangeAspect="1"/>
          </p:cNvPicPr>
          <p:nvPr>
            <p:custDataLst>
              <p:tags r:id="rId3"/>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914401" y="5549123"/>
            <a:ext cx="2005333" cy="248381"/>
          </a:xfrm>
          <a:prstGeom prst="rect">
            <a:avLst/>
          </a:prstGeom>
        </p:spPr>
      </p:pic>
      <p:pic>
        <p:nvPicPr>
          <p:cNvPr id="15" name="Imagen 14">
            <a:extLst>
              <a:ext uri="{FF2B5EF4-FFF2-40B4-BE49-F238E27FC236}">
                <a16:creationId xmlns:a16="http://schemas.microsoft.com/office/drawing/2014/main" id="{1B7CCC0D-14FC-4521-A8F8-F60D99E60745}"/>
              </a:ext>
            </a:extLst>
          </p:cNvPr>
          <p:cNvPicPr>
            <a:picLocks noChangeAspect="1"/>
          </p:cNvPicPr>
          <p:nvPr>
            <p:custDataLst>
              <p:tags r:id="rId4"/>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914401" y="6066479"/>
            <a:ext cx="1479619" cy="248381"/>
          </a:xfrm>
          <a:prstGeom prst="rect">
            <a:avLst/>
          </a:prstGeom>
        </p:spPr>
      </p:pic>
      <p:pic>
        <p:nvPicPr>
          <p:cNvPr id="20" name="Imagen 19">
            <a:extLst>
              <a:ext uri="{FF2B5EF4-FFF2-40B4-BE49-F238E27FC236}">
                <a16:creationId xmlns:a16="http://schemas.microsoft.com/office/drawing/2014/main" id="{CF01C372-437B-4ACA-B898-44E4E72EE152}"/>
              </a:ext>
            </a:extLst>
          </p:cNvPr>
          <p:cNvPicPr>
            <a:picLocks noChangeAspect="1"/>
          </p:cNvPicPr>
          <p:nvPr>
            <p:custDataLst>
              <p:tags r:id="rId5"/>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7315200" y="5781526"/>
            <a:ext cx="4123428" cy="284952"/>
          </a:xfrm>
          <a:prstGeom prst="rect">
            <a:avLst/>
          </a:prstGeom>
        </p:spPr>
      </p:pic>
      <p:pic>
        <p:nvPicPr>
          <p:cNvPr id="24" name="Imagen 23">
            <a:extLst>
              <a:ext uri="{FF2B5EF4-FFF2-40B4-BE49-F238E27FC236}">
                <a16:creationId xmlns:a16="http://schemas.microsoft.com/office/drawing/2014/main" id="{47E2BFFB-173F-427D-91C9-B0BF2CBCE920}"/>
              </a:ext>
            </a:extLst>
          </p:cNvPr>
          <p:cNvPicPr>
            <a:picLocks noChangeAspect="1"/>
          </p:cNvPicPr>
          <p:nvPr>
            <p:custDataLst>
              <p:tags r:id="rId6"/>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4427914" y="5549123"/>
            <a:ext cx="1097143" cy="277943"/>
          </a:xfrm>
          <a:prstGeom prst="rect">
            <a:avLst/>
          </a:prstGeom>
        </p:spPr>
      </p:pic>
      <p:pic>
        <p:nvPicPr>
          <p:cNvPr id="26" name="Imagen 25">
            <a:extLst>
              <a:ext uri="{FF2B5EF4-FFF2-40B4-BE49-F238E27FC236}">
                <a16:creationId xmlns:a16="http://schemas.microsoft.com/office/drawing/2014/main" id="{63A2E135-9103-4328-987F-ADECF95596EA}"/>
              </a:ext>
            </a:extLst>
          </p:cNvPr>
          <p:cNvPicPr>
            <a:picLocks noChangeAspect="1"/>
          </p:cNvPicPr>
          <p:nvPr>
            <p:custDataLst>
              <p:tags r:id="rId7"/>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4049277" y="6066478"/>
            <a:ext cx="2136381" cy="257524"/>
          </a:xfrm>
          <a:prstGeom prst="rect">
            <a:avLst/>
          </a:prstGeom>
        </p:spPr>
      </p:pic>
      <p:sp>
        <p:nvSpPr>
          <p:cNvPr id="27" name="Flecha: a la derecha 26">
            <a:extLst>
              <a:ext uri="{FF2B5EF4-FFF2-40B4-BE49-F238E27FC236}">
                <a16:creationId xmlns:a16="http://schemas.microsoft.com/office/drawing/2014/main" id="{C8397184-2E3E-45A0-9D0D-E07B69C117AD}"/>
              </a:ext>
            </a:extLst>
          </p:cNvPr>
          <p:cNvSpPr/>
          <p:nvPr/>
        </p:nvSpPr>
        <p:spPr>
          <a:xfrm>
            <a:off x="3399405" y="5713552"/>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Flecha: a la derecha 27">
            <a:extLst>
              <a:ext uri="{FF2B5EF4-FFF2-40B4-BE49-F238E27FC236}">
                <a16:creationId xmlns:a16="http://schemas.microsoft.com/office/drawing/2014/main" id="{449E3D5A-A6BB-4454-89E4-E061F1CFFCC4}"/>
              </a:ext>
            </a:extLst>
          </p:cNvPr>
          <p:cNvSpPr/>
          <p:nvPr/>
        </p:nvSpPr>
        <p:spPr>
          <a:xfrm>
            <a:off x="6610800" y="5681058"/>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858079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736AC-C3F2-46A5-80D4-9C677CF30DBC}"/>
              </a:ext>
            </a:extLst>
          </p:cNvPr>
          <p:cNvSpPr>
            <a:spLocks noGrp="1"/>
          </p:cNvSpPr>
          <p:nvPr>
            <p:ph type="title"/>
          </p:nvPr>
        </p:nvSpPr>
        <p:spPr/>
        <p:txBody>
          <a:bodyPr/>
          <a:lstStyle/>
          <a:p>
            <a:r>
              <a:rPr lang="es-419"/>
              <a:t>Ubicación de Polos – Realimentación Estados – Ejemplo 2 – Sin forma FCC</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4BF2C35-8400-4DA0-A48D-87D7A2057A92}"/>
                  </a:ext>
                </a:extLst>
              </p:cNvPr>
              <p:cNvSpPr>
                <a:spLocks noGrp="1"/>
              </p:cNvSpPr>
              <p:nvPr>
                <p:ph idx="1"/>
              </p:nvPr>
            </p:nvSpPr>
            <p:spPr/>
            <p:txBody>
              <a:bodyPr/>
              <a:lstStyle/>
              <a:p>
                <a:r>
                  <a:rPr lang="es-ES"/>
                  <a:t>Para solucionar este problema, partimos inicialmente calculando el vector de ganancias k de </a:t>
                </a:r>
                <a:r>
                  <a:rPr lang="es-ES">
                    <a:solidFill>
                      <a:srgbClr val="FFFF00"/>
                    </a:solidFill>
                  </a:rPr>
                  <a:t>la misma forma como se hace cuando el sistema esta en la forma FCC</a:t>
                </a:r>
                <a:r>
                  <a:rPr lang="es-ES"/>
                  <a:t>, en este caso vamos a llamar el vector de ganancias como </a:t>
                </a:r>
                <a14:m>
                  <m:oMath xmlns:m="http://schemas.openxmlformats.org/officeDocument/2006/math">
                    <m:acc>
                      <m:accPr>
                        <m:chr m:val="̅"/>
                        <m:ctrlPr>
                          <a:rPr lang="es-ES" i="1" smtClean="0">
                            <a:solidFill>
                              <a:srgbClr val="FFFF00"/>
                            </a:solidFill>
                            <a:latin typeface="Cambria Math" panose="02040503050406030204" pitchFamily="18" charset="0"/>
                          </a:rPr>
                        </m:ctrlPr>
                      </m:accPr>
                      <m:e>
                        <m:r>
                          <a:rPr lang="en-US" b="0" i="1" smtClean="0">
                            <a:solidFill>
                              <a:srgbClr val="FFFF00"/>
                            </a:solidFill>
                            <a:latin typeface="Cambria Math" panose="02040503050406030204" pitchFamily="18" charset="0"/>
                          </a:rPr>
                          <m:t>𝑘</m:t>
                        </m:r>
                      </m:e>
                    </m:acc>
                  </m:oMath>
                </a14:m>
                <a:endParaRPr lang="es-419"/>
              </a:p>
            </p:txBody>
          </p:sp>
        </mc:Choice>
        <mc:Fallback>
          <p:sp>
            <p:nvSpPr>
              <p:cNvPr id="3" name="Marcador de contenido 2">
                <a:extLst>
                  <a:ext uri="{FF2B5EF4-FFF2-40B4-BE49-F238E27FC236}">
                    <a16:creationId xmlns:a16="http://schemas.microsoft.com/office/drawing/2014/main" id="{64BF2C35-8400-4DA0-A48D-87D7A2057A92}"/>
                  </a:ext>
                </a:extLst>
              </p:cNvPr>
              <p:cNvSpPr>
                <a:spLocks noGrp="1" noRot="1" noChangeAspect="1" noMove="1" noResize="1" noEditPoints="1" noAdjustHandles="1" noChangeArrowheads="1" noChangeShapeType="1" noTextEdit="1"/>
              </p:cNvSpPr>
              <p:nvPr>
                <p:ph idx="1"/>
              </p:nvPr>
            </p:nvSpPr>
            <p:spPr>
              <a:blipFill>
                <a:blip r:embed="rId5"/>
                <a:stretch>
                  <a:fillRect l="-933" t="-2000"/>
                </a:stretch>
              </a:blipFill>
            </p:spPr>
            <p:txBody>
              <a:bodyPr/>
              <a:lstStyle/>
              <a:p>
                <a:r>
                  <a:rPr lang="en-US">
                    <a:noFill/>
                  </a:rPr>
                  <a:t> </a:t>
                </a:r>
              </a:p>
            </p:txBody>
          </p:sp>
        </mc:Fallback>
      </mc:AlternateContent>
      <p:pic>
        <p:nvPicPr>
          <p:cNvPr id="9" name="Imagen 8">
            <a:extLst>
              <a:ext uri="{FF2B5EF4-FFF2-40B4-BE49-F238E27FC236}">
                <a16:creationId xmlns:a16="http://schemas.microsoft.com/office/drawing/2014/main" id="{952532C6-53E0-4AD7-B905-A039426F8BA9}"/>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2170562" y="3859972"/>
            <a:ext cx="7449600" cy="1093028"/>
          </a:xfrm>
          <a:prstGeom prst="rect">
            <a:avLst/>
          </a:prstGeom>
        </p:spPr>
      </p:pic>
      <p:pic>
        <p:nvPicPr>
          <p:cNvPr id="13" name="Imagen 12">
            <a:extLst>
              <a:ext uri="{FF2B5EF4-FFF2-40B4-BE49-F238E27FC236}">
                <a16:creationId xmlns:a16="http://schemas.microsoft.com/office/drawing/2014/main" id="{FB4B4A8E-5AAE-44B0-AF15-E077D21CAA9C}"/>
              </a:ext>
            </a:extLst>
          </p:cNvPr>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9714363" y="3859972"/>
            <a:ext cx="728229" cy="1093028"/>
          </a:xfrm>
          <a:prstGeom prst="rect">
            <a:avLst/>
          </a:prstGeom>
        </p:spPr>
      </p:pic>
      <p:pic>
        <p:nvPicPr>
          <p:cNvPr id="15" name="Imagen 14">
            <a:extLst>
              <a:ext uri="{FF2B5EF4-FFF2-40B4-BE49-F238E27FC236}">
                <a16:creationId xmlns:a16="http://schemas.microsoft.com/office/drawing/2014/main" id="{EDDB343B-DE34-40A8-A588-16E89D40BE3F}"/>
              </a:ext>
            </a:extLst>
          </p:cNvPr>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2695619" y="5579075"/>
            <a:ext cx="6800762" cy="284952"/>
          </a:xfrm>
          <a:prstGeom prst="rect">
            <a:avLst/>
          </a:prstGeom>
        </p:spPr>
      </p:pic>
    </p:spTree>
    <p:extLst>
      <p:ext uri="{BB962C8B-B14F-4D97-AF65-F5344CB8AC3E}">
        <p14:creationId xmlns:p14="http://schemas.microsoft.com/office/powerpoint/2010/main" val="3761583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736AC-C3F2-46A5-80D4-9C677CF30DBC}"/>
              </a:ext>
            </a:extLst>
          </p:cNvPr>
          <p:cNvSpPr>
            <a:spLocks noGrp="1"/>
          </p:cNvSpPr>
          <p:nvPr>
            <p:ph type="title"/>
          </p:nvPr>
        </p:nvSpPr>
        <p:spPr/>
        <p:txBody>
          <a:bodyPr/>
          <a:lstStyle/>
          <a:p>
            <a:r>
              <a:rPr lang="es-419"/>
              <a:t>Ubicación de Polos – Realimentación Estados – Ejemplo 2 – Sin forma FCC</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4BF2C35-8400-4DA0-A48D-87D7A2057A92}"/>
                  </a:ext>
                </a:extLst>
              </p:cNvPr>
              <p:cNvSpPr>
                <a:spLocks noGrp="1"/>
              </p:cNvSpPr>
              <p:nvPr>
                <p:ph idx="1"/>
              </p:nvPr>
            </p:nvSpPr>
            <p:spPr>
              <a:xfrm>
                <a:off x="1524002" y="1600200"/>
                <a:ext cx="9144000" cy="4572000"/>
              </a:xfrm>
            </p:spPr>
            <p:txBody>
              <a:bodyPr>
                <a:normAutofit/>
              </a:bodyPr>
              <a:lstStyle/>
              <a:p>
                <a:r>
                  <a:rPr lang="es-ES"/>
                  <a:t>Para solucionar este problema, partimos inicialmente calculando el vector de ganancias k de </a:t>
                </a:r>
                <a:r>
                  <a:rPr lang="es-ES">
                    <a:solidFill>
                      <a:srgbClr val="FFFF00"/>
                    </a:solidFill>
                  </a:rPr>
                  <a:t>la misma forma como se hace cuando el sistema esta en la forma FCC</a:t>
                </a:r>
                <a:r>
                  <a:rPr lang="es-ES"/>
                  <a:t>, en este caso vamos a llamar el vector de ganancias como </a:t>
                </a:r>
                <a14:m>
                  <m:oMath xmlns:m="http://schemas.openxmlformats.org/officeDocument/2006/math">
                    <m:acc>
                      <m:accPr>
                        <m:chr m:val="̅"/>
                        <m:ctrlPr>
                          <a:rPr lang="es-ES" i="1" smtClean="0">
                            <a:solidFill>
                              <a:srgbClr val="FFFF00"/>
                            </a:solidFill>
                            <a:latin typeface="Cambria Math" panose="02040503050406030204" pitchFamily="18" charset="0"/>
                          </a:rPr>
                        </m:ctrlPr>
                      </m:accPr>
                      <m:e>
                        <m:r>
                          <a:rPr lang="en-US" b="0" i="1" smtClean="0">
                            <a:solidFill>
                              <a:srgbClr val="FFFF00"/>
                            </a:solidFill>
                            <a:latin typeface="Cambria Math" panose="02040503050406030204" pitchFamily="18" charset="0"/>
                          </a:rPr>
                          <m:t>𝑘</m:t>
                        </m:r>
                      </m:e>
                    </m:acc>
                  </m:oMath>
                </a14:m>
                <a:endParaRPr lang="es-419"/>
              </a:p>
              <a:p>
                <a:endParaRPr lang="es-419"/>
              </a:p>
              <a:p>
                <a:endParaRPr lang="es-419"/>
              </a:p>
              <a:p>
                <a:r>
                  <a:rPr lang="es-ES"/>
                  <a:t>el vector de ganancias  </a:t>
                </a:r>
                <a14:m>
                  <m:oMath xmlns:m="http://schemas.openxmlformats.org/officeDocument/2006/math">
                    <m:acc>
                      <m:accPr>
                        <m:chr m:val="̅"/>
                        <m:ctrlPr>
                          <a:rPr lang="es-ES" i="1">
                            <a:solidFill>
                              <a:srgbClr val="FFFF00"/>
                            </a:solidFill>
                            <a:latin typeface="Cambria Math" panose="02040503050406030204" pitchFamily="18" charset="0"/>
                          </a:rPr>
                        </m:ctrlPr>
                      </m:accPr>
                      <m:e>
                        <m:r>
                          <a:rPr lang="en-US" i="1">
                            <a:solidFill>
                              <a:srgbClr val="FFFF00"/>
                            </a:solidFill>
                            <a:latin typeface="Cambria Math" panose="02040503050406030204" pitchFamily="18" charset="0"/>
                          </a:rPr>
                          <m:t>𝑘</m:t>
                        </m:r>
                      </m:e>
                    </m:acc>
                  </m:oMath>
                </a14:m>
                <a:r>
                  <a:rPr lang="es-419"/>
                  <a:t>:</a:t>
                </a:r>
              </a:p>
              <a:p>
                <a:endParaRPr lang="es-419"/>
              </a:p>
              <a:p>
                <a14:m>
                  <m:oMath xmlns:m="http://schemas.openxmlformats.org/officeDocument/2006/math">
                    <m:acc>
                      <m:accPr>
                        <m:chr m:val="̅"/>
                        <m:ctrlPr>
                          <a:rPr lang="es-ES" i="1">
                            <a:solidFill>
                              <a:srgbClr val="FFFF00"/>
                            </a:solidFill>
                            <a:latin typeface="Cambria Math" panose="02040503050406030204" pitchFamily="18" charset="0"/>
                          </a:rPr>
                        </m:ctrlPr>
                      </m:accPr>
                      <m:e>
                        <m:r>
                          <a:rPr lang="en-US" i="1">
                            <a:solidFill>
                              <a:srgbClr val="FFFF00"/>
                            </a:solidFill>
                            <a:latin typeface="Cambria Math" panose="02040503050406030204" pitchFamily="18" charset="0"/>
                          </a:rPr>
                          <m:t>𝑘</m:t>
                        </m:r>
                      </m:e>
                    </m:acc>
                    <m:r>
                      <a:rPr lang="en-US" i="1">
                        <a:solidFill>
                          <a:srgbClr val="FFFF00"/>
                        </a:solidFill>
                        <a:latin typeface="Cambria Math" panose="02040503050406030204" pitchFamily="18" charset="0"/>
                      </a:rPr>
                      <m:t> </m:t>
                    </m:r>
                  </m:oMath>
                </a14:m>
                <a:r>
                  <a:rPr lang="es-ES" b="1"/>
                  <a:t>no puede ser aplicado al sistema</a:t>
                </a:r>
                <a:r>
                  <a:rPr lang="es-ES"/>
                  <a:t>, por lo tanto se debe multiplicar ese vector por una matriz de similitud </a:t>
                </a:r>
                <a:r>
                  <a:rPr lang="es-ES" b="1">
                    <a:solidFill>
                      <a:srgbClr val="FFFF00"/>
                    </a:solidFill>
                  </a:rPr>
                  <a:t>P</a:t>
                </a:r>
                <a:endParaRPr lang="es-419" b="1">
                  <a:solidFill>
                    <a:srgbClr val="FFFF00"/>
                  </a:solidFill>
                </a:endParaRPr>
              </a:p>
            </p:txBody>
          </p:sp>
        </mc:Choice>
        <mc:Fallback>
          <p:sp>
            <p:nvSpPr>
              <p:cNvPr id="3" name="Marcador de contenido 2">
                <a:extLst>
                  <a:ext uri="{FF2B5EF4-FFF2-40B4-BE49-F238E27FC236}">
                    <a16:creationId xmlns:a16="http://schemas.microsoft.com/office/drawing/2014/main" id="{64BF2C35-8400-4DA0-A48D-87D7A2057A92}"/>
                  </a:ext>
                </a:extLst>
              </p:cNvPr>
              <p:cNvSpPr>
                <a:spLocks noGrp="1" noRot="1" noChangeAspect="1" noMove="1" noResize="1" noEditPoints="1" noAdjustHandles="1" noChangeArrowheads="1" noChangeShapeType="1" noTextEdit="1"/>
              </p:cNvSpPr>
              <p:nvPr>
                <p:ph idx="1"/>
              </p:nvPr>
            </p:nvSpPr>
            <p:spPr>
              <a:xfrm>
                <a:off x="1524002" y="1600200"/>
                <a:ext cx="9144000" cy="4572000"/>
              </a:xfrm>
              <a:blipFill>
                <a:blip r:embed="rId5"/>
                <a:stretch>
                  <a:fillRect l="-867" t="-1867" b="-2400"/>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47DBA6DB-943B-4AF9-9D5F-280D9F2C8F13}"/>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4343400" y="3049610"/>
            <a:ext cx="3630172" cy="755657"/>
          </a:xfrm>
          <a:prstGeom prst="rect">
            <a:avLst/>
          </a:prstGeom>
        </p:spPr>
      </p:pic>
      <p:cxnSp>
        <p:nvCxnSpPr>
          <p:cNvPr id="10" name="Conector recto 9">
            <a:extLst>
              <a:ext uri="{FF2B5EF4-FFF2-40B4-BE49-F238E27FC236}">
                <a16:creationId xmlns:a16="http://schemas.microsoft.com/office/drawing/2014/main" id="{F89A55D6-3602-4A18-A058-FED26FC84360}"/>
              </a:ext>
            </a:extLst>
          </p:cNvPr>
          <p:cNvCxnSpPr/>
          <p:nvPr/>
        </p:nvCxnSpPr>
        <p:spPr>
          <a:xfrm>
            <a:off x="4114802" y="3579838"/>
            <a:ext cx="4114798" cy="0"/>
          </a:xfrm>
          <a:prstGeom prst="line">
            <a:avLst/>
          </a:prstGeom>
          <a:ln w="3175">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2" name="Imagen 11">
            <a:extLst>
              <a:ext uri="{FF2B5EF4-FFF2-40B4-BE49-F238E27FC236}">
                <a16:creationId xmlns:a16="http://schemas.microsoft.com/office/drawing/2014/main" id="{E2584989-558B-4268-8486-F19C96CB0CD6}"/>
              </a:ext>
            </a:extLst>
          </p:cNvPr>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4615935" y="4837114"/>
            <a:ext cx="2337524" cy="303238"/>
          </a:xfrm>
          <a:prstGeom prst="rect">
            <a:avLst/>
          </a:prstGeom>
        </p:spPr>
      </p:pic>
      <p:pic>
        <p:nvPicPr>
          <p:cNvPr id="16" name="Imagen 15">
            <a:extLst>
              <a:ext uri="{FF2B5EF4-FFF2-40B4-BE49-F238E27FC236}">
                <a16:creationId xmlns:a16="http://schemas.microsoft.com/office/drawing/2014/main" id="{8D842D4F-7066-4CB1-9097-0CBD0684A884}"/>
              </a:ext>
            </a:extLst>
          </p:cNvPr>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5391554" y="6327601"/>
            <a:ext cx="786286" cy="219429"/>
          </a:xfrm>
          <a:prstGeom prst="rect">
            <a:avLst/>
          </a:prstGeom>
        </p:spPr>
      </p:pic>
    </p:spTree>
    <p:extLst>
      <p:ext uri="{BB962C8B-B14F-4D97-AF65-F5344CB8AC3E}">
        <p14:creationId xmlns:p14="http://schemas.microsoft.com/office/powerpoint/2010/main" val="40035164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D2F73C-297E-4257-9621-A43D85731841}"/>
              </a:ext>
            </a:extLst>
          </p:cNvPr>
          <p:cNvSpPr>
            <a:spLocks noGrp="1"/>
          </p:cNvSpPr>
          <p:nvPr>
            <p:ph type="title"/>
          </p:nvPr>
        </p:nvSpPr>
        <p:spPr/>
        <p:txBody>
          <a:bodyPr/>
          <a:lstStyle/>
          <a:p>
            <a:r>
              <a:rPr lang="es-419"/>
              <a:t>Ubicación de Polos – Realimentación Estados – Ejemplo 2 – Sin forma FCC</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C02EB914-00F5-44F7-9749-205437919DBA}"/>
                  </a:ext>
                </a:extLst>
              </p:cNvPr>
              <p:cNvSpPr>
                <a:spLocks noGrp="1"/>
              </p:cNvSpPr>
              <p:nvPr>
                <p:ph idx="1"/>
              </p:nvPr>
            </p:nvSpPr>
            <p:spPr/>
            <p:txBody>
              <a:bodyPr/>
              <a:lstStyle/>
              <a:p>
                <a:r>
                  <a:rPr lang="es-ES"/>
                  <a:t>Para encontrar la matriz de similitud basta con resolver la siguiente matriz que es </a:t>
                </a:r>
                <a:r>
                  <a:rPr lang="es-ES">
                    <a:solidFill>
                      <a:srgbClr val="FFFF00"/>
                    </a:solidFill>
                  </a:rPr>
                  <a:t>dependiente de la matriz de controlabilidad</a:t>
                </a:r>
                <a:r>
                  <a:rPr lang="es-ES"/>
                  <a:t>. </a:t>
                </a:r>
              </a:p>
              <a:p>
                <a:r>
                  <a:rPr lang="es-ES"/>
                  <a:t>Esta matriz Parte de una ecuación característica de la forma:</a:t>
                </a:r>
              </a:p>
              <a:p>
                <a:endParaRPr lang="es-ES"/>
              </a:p>
              <a:p>
                <a:r>
                  <a:rPr lang="es-ES"/>
                  <a:t>Considerando que el sistema es controlable entonces existe una transformación de similitud </a:t>
                </a:r>
                <a14:m>
                  <m:oMath xmlns:m="http://schemas.openxmlformats.org/officeDocument/2006/math">
                    <m:acc>
                      <m:accPr>
                        <m:chr m:val="̅"/>
                        <m:ctrlPr>
                          <a:rPr lang="es-ES" i="1">
                            <a:solidFill>
                              <a:srgbClr val="FFFF00"/>
                            </a:solidFill>
                            <a:latin typeface="Cambria Math" panose="02040503050406030204" pitchFamily="18" charset="0"/>
                          </a:rPr>
                        </m:ctrlPr>
                      </m:accPr>
                      <m:e>
                        <m:r>
                          <a:rPr lang="en-US" b="0" i="1" smtClean="0">
                            <a:solidFill>
                              <a:srgbClr val="FFFF00"/>
                            </a:solidFill>
                            <a:latin typeface="Cambria Math" panose="02040503050406030204" pitchFamily="18" charset="0"/>
                          </a:rPr>
                          <m:t>𝑥</m:t>
                        </m:r>
                      </m:e>
                    </m:acc>
                    <m:r>
                      <a:rPr lang="en-US" b="0"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𝑷</m:t>
                    </m:r>
                    <m:r>
                      <a:rPr lang="en-US" b="0" i="1" smtClean="0">
                        <a:solidFill>
                          <a:srgbClr val="FFFF00"/>
                        </a:solidFill>
                        <a:latin typeface="Cambria Math" panose="02040503050406030204" pitchFamily="18" charset="0"/>
                      </a:rPr>
                      <m:t>𝑥</m:t>
                    </m:r>
                    <m:r>
                      <a:rPr lang="en-US" i="1">
                        <a:solidFill>
                          <a:srgbClr val="FFFF00"/>
                        </a:solidFill>
                        <a:latin typeface="Cambria Math" panose="02040503050406030204" pitchFamily="18" charset="0"/>
                      </a:rPr>
                      <m:t> </m:t>
                    </m:r>
                  </m:oMath>
                </a14:m>
                <a:r>
                  <a:rPr lang="es-ES"/>
                  <a:t>donde:</a:t>
                </a:r>
                <a:endParaRPr lang="es-419"/>
              </a:p>
            </p:txBody>
          </p:sp>
        </mc:Choice>
        <mc:Fallback>
          <p:sp>
            <p:nvSpPr>
              <p:cNvPr id="3" name="Marcador de contenido 2">
                <a:extLst>
                  <a:ext uri="{FF2B5EF4-FFF2-40B4-BE49-F238E27FC236}">
                    <a16:creationId xmlns:a16="http://schemas.microsoft.com/office/drawing/2014/main" id="{C02EB914-00F5-44F7-9749-205437919DBA}"/>
                  </a:ext>
                </a:extLst>
              </p:cNvPr>
              <p:cNvSpPr>
                <a:spLocks noGrp="1" noRot="1" noChangeAspect="1" noMove="1" noResize="1" noEditPoints="1" noAdjustHandles="1" noChangeArrowheads="1" noChangeShapeType="1" noTextEdit="1"/>
              </p:cNvSpPr>
              <p:nvPr>
                <p:ph idx="1"/>
              </p:nvPr>
            </p:nvSpPr>
            <p:spPr>
              <a:blipFill>
                <a:blip r:embed="rId4"/>
                <a:stretch>
                  <a:fillRect l="-933" t="-2000"/>
                </a:stretch>
              </a:blipFill>
            </p:spPr>
            <p:txBody>
              <a:bodyPr/>
              <a:lstStyle/>
              <a:p>
                <a:r>
                  <a:rPr lang="en-US">
                    <a:noFill/>
                  </a:rPr>
                  <a:t> </a:t>
                </a:r>
              </a:p>
            </p:txBody>
          </p:sp>
        </mc:Fallback>
      </mc:AlternateContent>
      <p:pic>
        <p:nvPicPr>
          <p:cNvPr id="5" name="Imagen 4">
            <a:extLst>
              <a:ext uri="{FF2B5EF4-FFF2-40B4-BE49-F238E27FC236}">
                <a16:creationId xmlns:a16="http://schemas.microsoft.com/office/drawing/2014/main" id="{06369A8B-0A77-400D-A8BD-8B83D510E888}"/>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276601" y="3429001"/>
            <a:ext cx="4957257" cy="329143"/>
          </a:xfrm>
          <a:prstGeom prst="rect">
            <a:avLst/>
          </a:prstGeom>
        </p:spPr>
      </p:pic>
      <p:pic>
        <p:nvPicPr>
          <p:cNvPr id="8" name="Imagen 7">
            <a:extLst>
              <a:ext uri="{FF2B5EF4-FFF2-40B4-BE49-F238E27FC236}">
                <a16:creationId xmlns:a16="http://schemas.microsoft.com/office/drawing/2014/main" id="{39C8285C-5CEB-4A21-9D38-DA59F79CF24C}"/>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3631342" y="4800600"/>
            <a:ext cx="4247772" cy="1457372"/>
          </a:xfrm>
          <a:prstGeom prst="rect">
            <a:avLst/>
          </a:prstGeom>
        </p:spPr>
      </p:pic>
    </p:spTree>
    <p:extLst>
      <p:ext uri="{BB962C8B-B14F-4D97-AF65-F5344CB8AC3E}">
        <p14:creationId xmlns:p14="http://schemas.microsoft.com/office/powerpoint/2010/main" val="4166641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8991C9-3404-4A02-8A64-2FA7A2DC33A5}"/>
              </a:ext>
            </a:extLst>
          </p:cNvPr>
          <p:cNvSpPr>
            <a:spLocks noGrp="1"/>
          </p:cNvSpPr>
          <p:nvPr>
            <p:ph type="title"/>
          </p:nvPr>
        </p:nvSpPr>
        <p:spPr/>
        <p:txBody>
          <a:bodyPr/>
          <a:lstStyle/>
          <a:p>
            <a:r>
              <a:rPr lang="es-419"/>
              <a:t>Ubicación de Polos – Realimentación Estados – Ejemplo 2 – Sin forma FCC</a:t>
            </a:r>
          </a:p>
        </p:txBody>
      </p:sp>
      <p:sp>
        <p:nvSpPr>
          <p:cNvPr id="3" name="Marcador de contenido 2">
            <a:extLst>
              <a:ext uri="{FF2B5EF4-FFF2-40B4-BE49-F238E27FC236}">
                <a16:creationId xmlns:a16="http://schemas.microsoft.com/office/drawing/2014/main" id="{143D9513-65A3-429C-9D3D-EDB460865270}"/>
              </a:ext>
            </a:extLst>
          </p:cNvPr>
          <p:cNvSpPr>
            <a:spLocks noGrp="1"/>
          </p:cNvSpPr>
          <p:nvPr>
            <p:ph idx="1"/>
          </p:nvPr>
        </p:nvSpPr>
        <p:spPr/>
        <p:txBody>
          <a:bodyPr/>
          <a:lstStyle/>
          <a:p>
            <a:r>
              <a:rPr lang="es-ES"/>
              <a:t>De esa forma, encontrando la matriz de transformación de similitud realizando el producto anterior viene dado por:</a:t>
            </a:r>
            <a:endParaRPr lang="es-419"/>
          </a:p>
        </p:txBody>
      </p:sp>
      <p:pic>
        <p:nvPicPr>
          <p:cNvPr id="6" name="Imagen 5">
            <a:extLst>
              <a:ext uri="{FF2B5EF4-FFF2-40B4-BE49-F238E27FC236}">
                <a16:creationId xmlns:a16="http://schemas.microsoft.com/office/drawing/2014/main" id="{52C754F2-6816-4AE1-9285-1C7FB42BF4C4}"/>
              </a:ext>
            </a:extLst>
          </p:cNvPr>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129022" y="3048001"/>
            <a:ext cx="5694476" cy="1267809"/>
          </a:xfrm>
          <a:prstGeom prst="rect">
            <a:avLst/>
          </a:prstGeom>
        </p:spPr>
      </p:pic>
      <p:pic>
        <p:nvPicPr>
          <p:cNvPr id="9" name="Imagen 8">
            <a:extLst>
              <a:ext uri="{FF2B5EF4-FFF2-40B4-BE49-F238E27FC236}">
                <a16:creationId xmlns:a16="http://schemas.microsoft.com/office/drawing/2014/main" id="{C43E75AF-8DA9-488B-9A6D-B7AA374438B2}"/>
              </a:ext>
            </a:extLst>
          </p:cNvPr>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8255142" y="5252788"/>
            <a:ext cx="3539809" cy="1214476"/>
          </a:xfrm>
          <a:prstGeom prst="rect">
            <a:avLst/>
          </a:prstGeom>
        </p:spPr>
      </p:pic>
      <p:pic>
        <p:nvPicPr>
          <p:cNvPr id="11" name="Imagen 10">
            <a:extLst>
              <a:ext uri="{FF2B5EF4-FFF2-40B4-BE49-F238E27FC236}">
                <a16:creationId xmlns:a16="http://schemas.microsoft.com/office/drawing/2014/main" id="{A0429A57-C626-481A-8A76-590DD3E6791D}"/>
              </a:ext>
            </a:extLst>
          </p:cNvPr>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129023" y="4982305"/>
            <a:ext cx="3846095" cy="1214476"/>
          </a:xfrm>
          <a:prstGeom prst="rect">
            <a:avLst/>
          </a:prstGeom>
        </p:spPr>
      </p:pic>
      <p:pic>
        <p:nvPicPr>
          <p:cNvPr id="14" name="Imagen 13">
            <a:extLst>
              <a:ext uri="{FF2B5EF4-FFF2-40B4-BE49-F238E27FC236}">
                <a16:creationId xmlns:a16="http://schemas.microsoft.com/office/drawing/2014/main" id="{58A234F8-24C7-438F-9B8E-81A172F1C521}"/>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8763001" y="2824124"/>
            <a:ext cx="2873905" cy="1214476"/>
          </a:xfrm>
          <a:prstGeom prst="rect">
            <a:avLst/>
          </a:prstGeom>
        </p:spPr>
      </p:pic>
      <p:cxnSp>
        <p:nvCxnSpPr>
          <p:cNvPr id="16" name="Conector recto 15">
            <a:extLst>
              <a:ext uri="{FF2B5EF4-FFF2-40B4-BE49-F238E27FC236}">
                <a16:creationId xmlns:a16="http://schemas.microsoft.com/office/drawing/2014/main" id="{DE6D9BD8-645F-41A2-A6EF-8B19E157701F}"/>
              </a:ext>
            </a:extLst>
          </p:cNvPr>
          <p:cNvCxnSpPr/>
          <p:nvPr/>
        </p:nvCxnSpPr>
        <p:spPr>
          <a:xfrm>
            <a:off x="7543800" y="2745562"/>
            <a:ext cx="0" cy="3731438"/>
          </a:xfrm>
          <a:prstGeom prst="line">
            <a:avLst/>
          </a:prstGeom>
          <a:ln w="25400">
            <a:solidFill>
              <a:srgbClr val="FFFF00"/>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B426109A-F88A-43F2-86D9-A5AC359DCAAE}"/>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8197711" y="4611281"/>
            <a:ext cx="1816380" cy="274286"/>
          </a:xfrm>
          <a:prstGeom prst="rect">
            <a:avLst/>
          </a:prstGeom>
        </p:spPr>
      </p:pic>
    </p:spTree>
    <p:extLst>
      <p:ext uri="{BB962C8B-B14F-4D97-AF65-F5344CB8AC3E}">
        <p14:creationId xmlns:p14="http://schemas.microsoft.com/office/powerpoint/2010/main" val="30637488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C6449B-37F2-4691-B8E5-F57E6E228D26}"/>
              </a:ext>
            </a:extLst>
          </p:cNvPr>
          <p:cNvSpPr>
            <a:spLocks noGrp="1"/>
          </p:cNvSpPr>
          <p:nvPr>
            <p:ph type="title"/>
          </p:nvPr>
        </p:nvSpPr>
        <p:spPr/>
        <p:txBody>
          <a:bodyPr/>
          <a:lstStyle/>
          <a:p>
            <a:r>
              <a:rPr lang="es-419"/>
              <a:t>Ubicación de Polos – Realimentación Estados – Ejemplo 2 – Sin forma FCC</a:t>
            </a:r>
          </a:p>
        </p:txBody>
      </p:sp>
      <p:sp>
        <p:nvSpPr>
          <p:cNvPr id="3" name="Marcador de contenido 2">
            <a:extLst>
              <a:ext uri="{FF2B5EF4-FFF2-40B4-BE49-F238E27FC236}">
                <a16:creationId xmlns:a16="http://schemas.microsoft.com/office/drawing/2014/main" id="{B0728D3A-E532-4683-85CE-59722445306D}"/>
              </a:ext>
            </a:extLst>
          </p:cNvPr>
          <p:cNvSpPr>
            <a:spLocks noGrp="1"/>
          </p:cNvSpPr>
          <p:nvPr>
            <p:ph idx="1"/>
          </p:nvPr>
        </p:nvSpPr>
        <p:spPr/>
        <p:txBody>
          <a:bodyPr/>
          <a:lstStyle/>
          <a:p>
            <a:r>
              <a:rPr lang="es-ES"/>
              <a:t>De esa forma el vector de ganancias de realimentación de estados es:</a:t>
            </a:r>
            <a:endParaRPr lang="es-419"/>
          </a:p>
        </p:txBody>
      </p:sp>
      <p:pic>
        <p:nvPicPr>
          <p:cNvPr id="5" name="Imagen 4">
            <a:extLst>
              <a:ext uri="{FF2B5EF4-FFF2-40B4-BE49-F238E27FC236}">
                <a16:creationId xmlns:a16="http://schemas.microsoft.com/office/drawing/2014/main" id="{AA9F2A87-3D57-4960-9532-794DEE68E4E9}"/>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1679502" y="2611543"/>
            <a:ext cx="943543" cy="263314"/>
          </a:xfrm>
          <a:prstGeom prst="rect">
            <a:avLst/>
          </a:prstGeom>
        </p:spPr>
      </p:pic>
      <p:pic>
        <p:nvPicPr>
          <p:cNvPr id="7" name="Imagen 6">
            <a:extLst>
              <a:ext uri="{FF2B5EF4-FFF2-40B4-BE49-F238E27FC236}">
                <a16:creationId xmlns:a16="http://schemas.microsoft.com/office/drawing/2014/main" id="{D73D2738-DB99-4DD8-802C-C823F81C915F}"/>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1676401" y="3048000"/>
            <a:ext cx="5749333" cy="1214476"/>
          </a:xfrm>
          <a:prstGeom prst="rect">
            <a:avLst/>
          </a:prstGeom>
        </p:spPr>
      </p:pic>
      <p:pic>
        <p:nvPicPr>
          <p:cNvPr id="9" name="Imagen 8">
            <a:extLst>
              <a:ext uri="{FF2B5EF4-FFF2-40B4-BE49-F238E27FC236}">
                <a16:creationId xmlns:a16="http://schemas.microsoft.com/office/drawing/2014/main" id="{33B1068D-839D-4FF9-A33E-80C2CA2BED80}"/>
              </a:ext>
            </a:extLst>
          </p:cNvPr>
          <p:cNvPicPr>
            <a:picLocks noChangeAspect="1"/>
          </p:cNvPicPr>
          <p:nvPr>
            <p:custDataLst>
              <p:tags r:id="rId3"/>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640400" y="4762481"/>
            <a:ext cx="4979809" cy="303238"/>
          </a:xfrm>
          <a:prstGeom prst="rect">
            <a:avLst/>
          </a:prstGeom>
        </p:spPr>
      </p:pic>
    </p:spTree>
    <p:extLst>
      <p:ext uri="{BB962C8B-B14F-4D97-AF65-F5344CB8AC3E}">
        <p14:creationId xmlns:p14="http://schemas.microsoft.com/office/powerpoint/2010/main" val="1205372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6D7BE-CBE0-4425-A305-5019C6D1A889}"/>
              </a:ext>
            </a:extLst>
          </p:cNvPr>
          <p:cNvSpPr>
            <a:spLocks noGrp="1"/>
          </p:cNvSpPr>
          <p:nvPr>
            <p:ph type="title"/>
          </p:nvPr>
        </p:nvSpPr>
        <p:spPr/>
        <p:txBody>
          <a:bodyPr/>
          <a:lstStyle/>
          <a:p>
            <a:r>
              <a:rPr lang="es-419"/>
              <a:t>Ubicación de Polos – Realimentación Estados – Ejemplo 2 – Sin forma FCC</a:t>
            </a:r>
          </a:p>
        </p:txBody>
      </p:sp>
      <p:pic>
        <p:nvPicPr>
          <p:cNvPr id="6" name="Marcador de contenido 5">
            <a:extLst>
              <a:ext uri="{FF2B5EF4-FFF2-40B4-BE49-F238E27FC236}">
                <a16:creationId xmlns:a16="http://schemas.microsoft.com/office/drawing/2014/main" id="{EEC5DC58-6A0B-40C7-A787-40BEF4853D7F}"/>
              </a:ext>
            </a:extLst>
          </p:cNvPr>
          <p:cNvPicPr>
            <a:picLocks noGrp="1" noChangeAspect="1"/>
          </p:cNvPicPr>
          <p:nvPr>
            <p:ph sz="half" idx="2"/>
          </p:nvPr>
        </p:nvPicPr>
        <p:blipFill>
          <a:blip r:embed="rId9"/>
          <a:stretch>
            <a:fillRect/>
          </a:stretch>
        </p:blipFill>
        <p:spPr>
          <a:xfrm>
            <a:off x="6629400" y="1981200"/>
            <a:ext cx="5283200" cy="3962400"/>
          </a:xfrm>
          <a:prstGeom prst="rect">
            <a:avLst/>
          </a:prstGeom>
        </p:spPr>
      </p:pic>
      <p:pic>
        <p:nvPicPr>
          <p:cNvPr id="10" name="Imagen 9">
            <a:extLst>
              <a:ext uri="{FF2B5EF4-FFF2-40B4-BE49-F238E27FC236}">
                <a16:creationId xmlns:a16="http://schemas.microsoft.com/office/drawing/2014/main" id="{AFD05000-EA78-48BA-8F94-E8CCC1F6CB81}"/>
              </a:ext>
            </a:extLst>
          </p:cNvPr>
          <p:cNvPicPr>
            <a:picLocks noChangeAspect="1"/>
          </p:cNvPicPr>
          <p:nvPr>
            <p:custDataLst>
              <p:tags r:id="rId1"/>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762001" y="2015968"/>
            <a:ext cx="2910857" cy="910857"/>
          </a:xfrm>
          <a:prstGeom prst="rect">
            <a:avLst/>
          </a:prstGeom>
        </p:spPr>
      </p:pic>
      <p:pic>
        <p:nvPicPr>
          <p:cNvPr id="12" name="Imagen 11">
            <a:extLst>
              <a:ext uri="{FF2B5EF4-FFF2-40B4-BE49-F238E27FC236}">
                <a16:creationId xmlns:a16="http://schemas.microsoft.com/office/drawing/2014/main" id="{048E667A-CDE6-43FD-B0E0-15F532C13D45}"/>
              </a:ext>
            </a:extLst>
          </p:cNvPr>
          <p:cNvPicPr>
            <a:picLocks noChangeAspect="1"/>
          </p:cNvPicPr>
          <p:nvPr>
            <p:custDataLst>
              <p:tags r:id="rId2"/>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762000" y="3124201"/>
            <a:ext cx="1840000" cy="227429"/>
          </a:xfrm>
          <a:prstGeom prst="rect">
            <a:avLst/>
          </a:prstGeom>
        </p:spPr>
      </p:pic>
      <p:sp>
        <p:nvSpPr>
          <p:cNvPr id="13" name="CuadroTexto 12">
            <a:extLst>
              <a:ext uri="{FF2B5EF4-FFF2-40B4-BE49-F238E27FC236}">
                <a16:creationId xmlns:a16="http://schemas.microsoft.com/office/drawing/2014/main" id="{D28E6ED1-3745-47AC-8D9F-2518D1250DAF}"/>
              </a:ext>
            </a:extLst>
          </p:cNvPr>
          <p:cNvSpPr txBox="1"/>
          <p:nvPr/>
        </p:nvSpPr>
        <p:spPr>
          <a:xfrm>
            <a:off x="617228" y="1661625"/>
            <a:ext cx="3200400" cy="313932"/>
          </a:xfrm>
          <a:prstGeom prst="rect">
            <a:avLst/>
          </a:prstGeom>
          <a:noFill/>
        </p:spPr>
        <p:txBody>
          <a:bodyPr wrap="square" rtlCol="0">
            <a:spAutoFit/>
          </a:bodyPr>
          <a:lstStyle/>
          <a:p>
            <a:pPr>
              <a:lnSpc>
                <a:spcPct val="90000"/>
              </a:lnSpc>
            </a:pPr>
            <a:r>
              <a:rPr lang="es-419" sz="1600" b="1">
                <a:solidFill>
                  <a:srgbClr val="FFFF00"/>
                </a:solidFill>
              </a:rPr>
              <a:t>LAZO ABIERTO</a:t>
            </a:r>
          </a:p>
        </p:txBody>
      </p:sp>
      <p:sp>
        <p:nvSpPr>
          <p:cNvPr id="14" name="CuadroTexto 13">
            <a:extLst>
              <a:ext uri="{FF2B5EF4-FFF2-40B4-BE49-F238E27FC236}">
                <a16:creationId xmlns:a16="http://schemas.microsoft.com/office/drawing/2014/main" id="{B17843E4-3727-42D8-884C-F5A3098BA728}"/>
              </a:ext>
            </a:extLst>
          </p:cNvPr>
          <p:cNvSpPr txBox="1"/>
          <p:nvPr/>
        </p:nvSpPr>
        <p:spPr>
          <a:xfrm>
            <a:off x="575560" y="3500662"/>
            <a:ext cx="3200400" cy="313932"/>
          </a:xfrm>
          <a:prstGeom prst="rect">
            <a:avLst/>
          </a:prstGeom>
          <a:noFill/>
        </p:spPr>
        <p:txBody>
          <a:bodyPr wrap="square" rtlCol="0">
            <a:spAutoFit/>
          </a:bodyPr>
          <a:lstStyle/>
          <a:p>
            <a:pPr>
              <a:lnSpc>
                <a:spcPct val="90000"/>
              </a:lnSpc>
            </a:pPr>
            <a:r>
              <a:rPr lang="es-419" sz="1600" b="1">
                <a:solidFill>
                  <a:srgbClr val="FFFF00"/>
                </a:solidFill>
              </a:rPr>
              <a:t>Ley de Control</a:t>
            </a:r>
          </a:p>
        </p:txBody>
      </p:sp>
      <p:pic>
        <p:nvPicPr>
          <p:cNvPr id="17" name="Imagen 16">
            <a:extLst>
              <a:ext uri="{FF2B5EF4-FFF2-40B4-BE49-F238E27FC236}">
                <a16:creationId xmlns:a16="http://schemas.microsoft.com/office/drawing/2014/main" id="{EBE7E83A-E59D-465B-9E31-783EF55C9B71}"/>
              </a:ext>
            </a:extLst>
          </p:cNvPr>
          <p:cNvPicPr>
            <a:picLocks noChangeAspect="1"/>
          </p:cNvPicPr>
          <p:nvPr>
            <p:custDataLst>
              <p:tags r:id="rId3"/>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702102" y="3909157"/>
            <a:ext cx="1131428" cy="190857"/>
          </a:xfrm>
          <a:prstGeom prst="rect">
            <a:avLst/>
          </a:prstGeom>
        </p:spPr>
      </p:pic>
      <p:pic>
        <p:nvPicPr>
          <p:cNvPr id="20" name="Imagen 19">
            <a:extLst>
              <a:ext uri="{FF2B5EF4-FFF2-40B4-BE49-F238E27FC236}">
                <a16:creationId xmlns:a16="http://schemas.microsoft.com/office/drawing/2014/main" id="{DB391697-A695-4946-9CD1-D19EAB4942AC}"/>
              </a:ext>
            </a:extLst>
          </p:cNvPr>
          <p:cNvPicPr>
            <a:picLocks noChangeAspect="1"/>
          </p:cNvPicPr>
          <p:nvPr>
            <p:custDataLst>
              <p:tags r:id="rId4"/>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702103" y="4249074"/>
            <a:ext cx="3734857" cy="227429"/>
          </a:xfrm>
          <a:prstGeom prst="rect">
            <a:avLst/>
          </a:prstGeom>
        </p:spPr>
      </p:pic>
      <p:sp>
        <p:nvSpPr>
          <p:cNvPr id="21" name="CuadroTexto 20">
            <a:extLst>
              <a:ext uri="{FF2B5EF4-FFF2-40B4-BE49-F238E27FC236}">
                <a16:creationId xmlns:a16="http://schemas.microsoft.com/office/drawing/2014/main" id="{BD54F6A6-A6DD-4698-917F-C2AEBEE1B75E}"/>
              </a:ext>
            </a:extLst>
          </p:cNvPr>
          <p:cNvSpPr txBox="1"/>
          <p:nvPr/>
        </p:nvSpPr>
        <p:spPr>
          <a:xfrm>
            <a:off x="568870" y="4606455"/>
            <a:ext cx="3200400" cy="313932"/>
          </a:xfrm>
          <a:prstGeom prst="rect">
            <a:avLst/>
          </a:prstGeom>
          <a:noFill/>
        </p:spPr>
        <p:txBody>
          <a:bodyPr wrap="square" rtlCol="0">
            <a:spAutoFit/>
          </a:bodyPr>
          <a:lstStyle/>
          <a:p>
            <a:pPr>
              <a:lnSpc>
                <a:spcPct val="90000"/>
              </a:lnSpc>
            </a:pPr>
            <a:r>
              <a:rPr lang="es-419" sz="1600" b="1">
                <a:solidFill>
                  <a:srgbClr val="FFFF00"/>
                </a:solidFill>
              </a:rPr>
              <a:t>LAZO  CERRADO</a:t>
            </a:r>
          </a:p>
        </p:txBody>
      </p:sp>
      <p:pic>
        <p:nvPicPr>
          <p:cNvPr id="25" name="Imagen 24">
            <a:extLst>
              <a:ext uri="{FF2B5EF4-FFF2-40B4-BE49-F238E27FC236}">
                <a16:creationId xmlns:a16="http://schemas.microsoft.com/office/drawing/2014/main" id="{A192786B-6B33-4910-A3D0-5C88A1450BF2}"/>
              </a:ext>
            </a:extLst>
          </p:cNvPr>
          <p:cNvPicPr>
            <a:picLocks noChangeAspect="1"/>
          </p:cNvPicPr>
          <p:nvPr>
            <p:custDataLst>
              <p:tags r:id="rId5"/>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666101" y="5000033"/>
            <a:ext cx="1610286" cy="234286"/>
          </a:xfrm>
          <a:prstGeom prst="rect">
            <a:avLst/>
          </a:prstGeom>
        </p:spPr>
      </p:pic>
      <p:pic>
        <p:nvPicPr>
          <p:cNvPr id="27" name="Imagen 26">
            <a:extLst>
              <a:ext uri="{FF2B5EF4-FFF2-40B4-BE49-F238E27FC236}">
                <a16:creationId xmlns:a16="http://schemas.microsoft.com/office/drawing/2014/main" id="{6364341E-E987-40EA-8EC3-C9449124CC22}"/>
              </a:ext>
            </a:extLst>
          </p:cNvPr>
          <p:cNvPicPr>
            <a:picLocks noChangeAspect="1"/>
          </p:cNvPicPr>
          <p:nvPr>
            <p:custDataLst>
              <p:tags r:id="rId6"/>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697800" y="5462673"/>
            <a:ext cx="4525714" cy="910857"/>
          </a:xfrm>
          <a:prstGeom prst="rect">
            <a:avLst/>
          </a:prstGeom>
        </p:spPr>
      </p:pic>
    </p:spTree>
    <p:extLst>
      <p:ext uri="{BB962C8B-B14F-4D97-AF65-F5344CB8AC3E}">
        <p14:creationId xmlns:p14="http://schemas.microsoft.com/office/powerpoint/2010/main" val="22695742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4B7052C-A9BA-4495-9753-2872174D5782}"/>
              </a:ext>
            </a:extLst>
          </p:cNvPr>
          <p:cNvSpPr>
            <a:spLocks noGrp="1"/>
          </p:cNvSpPr>
          <p:nvPr>
            <p:ph type="ctrTitle"/>
          </p:nvPr>
        </p:nvSpPr>
        <p:spPr>
          <a:xfrm>
            <a:off x="1488000" y="36871"/>
            <a:ext cx="9144000" cy="1828800"/>
          </a:xfrm>
        </p:spPr>
        <p:txBody>
          <a:bodyPr/>
          <a:lstStyle/>
          <a:p>
            <a:pPr algn="ctr"/>
            <a:r>
              <a:rPr lang="es-419"/>
              <a:t>Control en Variables de Estado</a:t>
            </a:r>
          </a:p>
        </p:txBody>
      </p:sp>
      <p:sp>
        <p:nvSpPr>
          <p:cNvPr id="6" name="Subtítulo 5">
            <a:extLst>
              <a:ext uri="{FF2B5EF4-FFF2-40B4-BE49-F238E27FC236}">
                <a16:creationId xmlns:a16="http://schemas.microsoft.com/office/drawing/2014/main" id="{99F7E535-08D1-4242-97FD-836250BD3200}"/>
              </a:ext>
            </a:extLst>
          </p:cNvPr>
          <p:cNvSpPr>
            <a:spLocks noGrp="1"/>
          </p:cNvSpPr>
          <p:nvPr>
            <p:ph type="subTitle" idx="1"/>
          </p:nvPr>
        </p:nvSpPr>
        <p:spPr/>
        <p:txBody>
          <a:bodyPr/>
          <a:lstStyle/>
          <a:p>
            <a:r>
              <a:rPr lang="es-419"/>
              <a:t>por: Sergio Andres Castaño Giraldo</a:t>
            </a:r>
          </a:p>
          <a:p>
            <a:r>
              <a:rPr lang="en-US">
                <a:hlinkClick r:id="rId2"/>
              </a:rPr>
              <a:t>https://controlautomaticoeducacion.com/</a:t>
            </a:r>
            <a:endParaRPr lang="es-419"/>
          </a:p>
        </p:txBody>
      </p:sp>
      <p:sp>
        <p:nvSpPr>
          <p:cNvPr id="7" name="Título 4">
            <a:extLst>
              <a:ext uri="{FF2B5EF4-FFF2-40B4-BE49-F238E27FC236}">
                <a16:creationId xmlns:a16="http://schemas.microsoft.com/office/drawing/2014/main" id="{9243BA80-8B64-42F3-9427-2D1D3B92AAB7}"/>
              </a:ext>
            </a:extLst>
          </p:cNvPr>
          <p:cNvSpPr txBox="1">
            <a:spLocks/>
          </p:cNvSpPr>
          <p:nvPr/>
        </p:nvSpPr>
        <p:spPr>
          <a:xfrm>
            <a:off x="1524001" y="2552700"/>
            <a:ext cx="9144000" cy="11430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419" sz="4400">
                <a:solidFill>
                  <a:srgbClr val="FFFF00"/>
                </a:solidFill>
                <a:latin typeface="Consolas"/>
              </a:rPr>
              <a:t>Formula de Ackerman</a:t>
            </a:r>
          </a:p>
        </p:txBody>
      </p:sp>
    </p:spTree>
    <p:extLst>
      <p:ext uri="{BB962C8B-B14F-4D97-AF65-F5344CB8AC3E}">
        <p14:creationId xmlns:p14="http://schemas.microsoft.com/office/powerpoint/2010/main" val="3721411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0218FB-F659-42B8-AEB2-CC79B9EF60ED}"/>
              </a:ext>
            </a:extLst>
          </p:cNvPr>
          <p:cNvSpPr>
            <a:spLocks noGrp="1"/>
          </p:cNvSpPr>
          <p:nvPr>
            <p:ph type="title"/>
          </p:nvPr>
        </p:nvSpPr>
        <p:spPr/>
        <p:txBody>
          <a:bodyPr/>
          <a:lstStyle/>
          <a:p>
            <a:r>
              <a:rPr lang="es-419"/>
              <a:t>Formula de Ackerman</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4F50BB8D-7C6A-4DD8-B340-2EE562D1F71F}"/>
                  </a:ext>
                </a:extLst>
              </p:cNvPr>
              <p:cNvSpPr>
                <a:spLocks noGrp="1"/>
              </p:cNvSpPr>
              <p:nvPr>
                <p:ph idx="1"/>
              </p:nvPr>
            </p:nvSpPr>
            <p:spPr>
              <a:xfrm>
                <a:off x="1524002" y="1905000"/>
                <a:ext cx="9144000" cy="4678362"/>
              </a:xfrm>
            </p:spPr>
            <p:txBody>
              <a:bodyPr>
                <a:normAutofit fontScale="92500"/>
              </a:bodyPr>
              <a:lstStyle/>
              <a:p>
                <a:r>
                  <a:rPr lang="es-419" sz="2000"/>
                  <a:t>Cuando nos enfrentamos a un problema de control en </a:t>
                </a:r>
                <a:r>
                  <a:rPr lang="es-419" sz="2000">
                    <a:solidFill>
                      <a:srgbClr val="FFFF00"/>
                    </a:solidFill>
                  </a:rPr>
                  <a:t>variables de estado</a:t>
                </a:r>
                <a:r>
                  <a:rPr lang="es-419" sz="2000"/>
                  <a:t> </a:t>
                </a:r>
                <a:r>
                  <a:rPr lang="es-419" sz="2000" err="1"/>
                  <a:t>monovariable</a:t>
                </a:r>
                <a:r>
                  <a:rPr lang="es-419" sz="2000"/>
                  <a:t> (SISO), otra de las formas de encontrar la matriz de ganancias K de la realimentación de Estados es Usando la formula de Ackerman.</a:t>
                </a:r>
              </a:p>
              <a:p>
                <a:r>
                  <a:rPr lang="es-ES" sz="2000">
                    <a:latin typeface="Arial" panose="020B0604020202020204" pitchFamily="34" charset="0"/>
                  </a:rPr>
                  <a:t>Esta fórmula permite calcular directamente la matriz de ganancia de realimentación en el espacio de estados, a partir de la ecuación:</a:t>
                </a:r>
              </a:p>
              <a:p>
                <a:endParaRPr lang="es-ES" sz="2000">
                  <a:latin typeface="Arial" panose="020B0604020202020204" pitchFamily="34" charset="0"/>
                </a:endParaRPr>
              </a:p>
              <a:p>
                <a:endParaRPr lang="es-ES" sz="2000">
                  <a:latin typeface="Arial" panose="020B0604020202020204" pitchFamily="34" charset="0"/>
                </a:endParaRPr>
              </a:p>
              <a:p>
                <a:endParaRPr lang="es-ES" sz="2000">
                  <a:latin typeface="Arial" panose="020B0604020202020204" pitchFamily="34" charset="0"/>
                </a:endParaRPr>
              </a:p>
              <a:p>
                <a:r>
                  <a:rPr lang="es-ES" sz="2000">
                    <a:latin typeface="Arial" panose="020B0604020202020204" pitchFamily="34" charset="0"/>
                  </a:rPr>
                  <a:t>en donde</a:t>
                </a:r>
              </a:p>
              <a:p>
                <a:endParaRPr lang="es-ES" sz="2000">
                  <a:latin typeface="Arial" panose="020B0604020202020204" pitchFamily="34" charset="0"/>
                </a:endParaRPr>
              </a:p>
              <a:p>
                <a:r>
                  <a:rPr lang="es-ES" sz="2000">
                    <a:latin typeface="Arial" panose="020B0604020202020204" pitchFamily="34" charset="0"/>
                  </a:rPr>
                  <a:t>siendo </a:t>
                </a:r>
                <a14:m>
                  <m:oMath xmlns:m="http://schemas.openxmlformats.org/officeDocument/2006/math">
                    <m:sSub>
                      <m:sSubPr>
                        <m:ctrlPr>
                          <a:rPr lang="es-ES" sz="2000" i="1" dirty="0">
                            <a:latin typeface="Cambria Math" panose="02040503050406030204" pitchFamily="18" charset="0"/>
                          </a:rPr>
                        </m:ctrlPr>
                      </m:sSubPr>
                      <m:e>
                        <m:r>
                          <a:rPr lang="en-US" sz="2000" i="1" dirty="0">
                            <a:latin typeface="Cambria Math" panose="02040503050406030204" pitchFamily="18" charset="0"/>
                          </a:rPr>
                          <m:t>𝛼</m:t>
                        </m:r>
                      </m:e>
                      <m:sub>
                        <m:r>
                          <a:rPr lang="es-ES" sz="2000" i="1" dirty="0">
                            <a:latin typeface="Cambria Math" panose="02040503050406030204" pitchFamily="18" charset="0"/>
                          </a:rPr>
                          <m:t>1</m:t>
                        </m:r>
                      </m:sub>
                    </m:sSub>
                    <m:r>
                      <a:rPr lang="en-US" sz="2000" i="1" dirty="0">
                        <a:latin typeface="Cambria Math" panose="02040503050406030204" pitchFamily="18" charset="0"/>
                      </a:rPr>
                      <m:t>,</m:t>
                    </m:r>
                    <m:sSub>
                      <m:sSubPr>
                        <m:ctrlPr>
                          <a:rPr lang="es-ES" sz="2000" i="1" dirty="0">
                            <a:latin typeface="Cambria Math" panose="02040503050406030204" pitchFamily="18" charset="0"/>
                          </a:rPr>
                        </m:ctrlPr>
                      </m:sSubPr>
                      <m:e>
                        <m:r>
                          <a:rPr lang="en-US" sz="2000" i="1" dirty="0">
                            <a:latin typeface="Cambria Math" panose="02040503050406030204" pitchFamily="18" charset="0"/>
                          </a:rPr>
                          <m:t>𝛼</m:t>
                        </m:r>
                      </m:e>
                      <m:sub>
                        <m:r>
                          <a:rPr lang="es-ES" sz="2000" i="1" dirty="0">
                            <a:latin typeface="Cambria Math" panose="02040503050406030204" pitchFamily="18" charset="0"/>
                          </a:rPr>
                          <m:t>2</m:t>
                        </m:r>
                      </m:sub>
                    </m:sSub>
                    <m:r>
                      <a:rPr lang="en-US" sz="2000" i="1" dirty="0">
                        <a:latin typeface="Cambria Math" panose="02040503050406030204" pitchFamily="18" charset="0"/>
                      </a:rPr>
                      <m:t>,</m:t>
                    </m:r>
                    <m:sSub>
                      <m:sSubPr>
                        <m:ctrlPr>
                          <a:rPr lang="es-ES" sz="2000" i="1" dirty="0">
                            <a:latin typeface="Cambria Math" panose="02040503050406030204" pitchFamily="18" charset="0"/>
                          </a:rPr>
                        </m:ctrlPr>
                      </m:sSubPr>
                      <m:e>
                        <m:r>
                          <a:rPr lang="es-ES" sz="2000" i="1" dirty="0">
                            <a:latin typeface="Cambria Math" panose="02040503050406030204" pitchFamily="18" charset="0"/>
                          </a:rPr>
                          <m:t>𝛼</m:t>
                        </m:r>
                      </m:e>
                      <m:sub>
                        <m:r>
                          <a:rPr lang="en-US" sz="2000" i="1" dirty="0">
                            <a:latin typeface="Cambria Math" panose="02040503050406030204" pitchFamily="18" charset="0"/>
                          </a:rPr>
                          <m:t>𝑛</m:t>
                        </m:r>
                        <m:r>
                          <a:rPr lang="en-US" sz="2000" i="1" dirty="0">
                            <a:latin typeface="Cambria Math" panose="02040503050406030204" pitchFamily="18" charset="0"/>
                          </a:rPr>
                          <m:t>−</m:t>
                        </m:r>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s-ES" sz="2000" i="1" dirty="0" err="1">
                            <a:latin typeface="Cambria Math" panose="02040503050406030204" pitchFamily="18" charset="0"/>
                          </a:rPr>
                        </m:ctrlPr>
                      </m:sSubPr>
                      <m:e>
                        <m:r>
                          <a:rPr lang="es-ES" sz="2000" i="1" dirty="0">
                            <a:latin typeface="Cambria Math" panose="02040503050406030204" pitchFamily="18" charset="0"/>
                          </a:rPr>
                          <m:t>𝛼</m:t>
                        </m:r>
                      </m:e>
                      <m:sub>
                        <m:r>
                          <a:rPr lang="es-ES" sz="2000" i="1" dirty="0" err="1">
                            <a:latin typeface="Cambria Math" panose="02040503050406030204" pitchFamily="18" charset="0"/>
                          </a:rPr>
                          <m:t>𝑛</m:t>
                        </m:r>
                      </m:sub>
                    </m:sSub>
                  </m:oMath>
                </a14:m>
                <a:r>
                  <a:rPr lang="es-ES"/>
                  <a:t> los coeficientes de la ecuación característica deseada: </a:t>
                </a:r>
                <a:endParaRPr lang="es-ES" sz="2000">
                  <a:latin typeface="Arial" panose="020B0604020202020204" pitchFamily="34" charset="0"/>
                </a:endParaRPr>
              </a:p>
              <a:p>
                <a:endParaRPr lang="es-ES" sz="2000">
                  <a:latin typeface="Arial" panose="020B0604020202020204" pitchFamily="34" charset="0"/>
                </a:endParaRPr>
              </a:p>
              <a:p>
                <a:endParaRPr lang="es-419" sz="2000"/>
              </a:p>
            </p:txBody>
          </p:sp>
        </mc:Choice>
        <mc:Fallback>
          <p:sp>
            <p:nvSpPr>
              <p:cNvPr id="3" name="Marcador de contenido 2">
                <a:extLst>
                  <a:ext uri="{FF2B5EF4-FFF2-40B4-BE49-F238E27FC236}">
                    <a16:creationId xmlns:a16="http://schemas.microsoft.com/office/drawing/2014/main" id="{4F50BB8D-7C6A-4DD8-B340-2EE562D1F71F}"/>
                  </a:ext>
                </a:extLst>
              </p:cNvPr>
              <p:cNvSpPr>
                <a:spLocks noGrp="1" noRot="1" noChangeAspect="1" noMove="1" noResize="1" noEditPoints="1" noAdjustHandles="1" noChangeArrowheads="1" noChangeShapeType="1" noTextEdit="1"/>
              </p:cNvSpPr>
              <p:nvPr>
                <p:ph idx="1"/>
              </p:nvPr>
            </p:nvSpPr>
            <p:spPr>
              <a:xfrm>
                <a:off x="1524002" y="1905000"/>
                <a:ext cx="9144000" cy="4678362"/>
              </a:xfrm>
              <a:blipFill>
                <a:blip r:embed="rId7"/>
                <a:stretch>
                  <a:fillRect l="-467" t="-1304" b="-1043"/>
                </a:stretch>
              </a:blipFill>
            </p:spPr>
            <p:txBody>
              <a:bodyPr/>
              <a:lstStyle/>
              <a:p>
                <a:r>
                  <a:rPr lang="en-US">
                    <a:noFill/>
                  </a:rPr>
                  <a:t> </a:t>
                </a:r>
              </a:p>
            </p:txBody>
          </p:sp>
        </mc:Fallback>
      </mc:AlternateContent>
      <p:pic>
        <p:nvPicPr>
          <p:cNvPr id="22" name="Imagen 21">
            <a:extLst>
              <a:ext uri="{FF2B5EF4-FFF2-40B4-BE49-F238E27FC236}">
                <a16:creationId xmlns:a16="http://schemas.microsoft.com/office/drawing/2014/main" id="{3EA04A6C-FE57-4AEB-96E0-447DCB7E130F}"/>
              </a:ext>
            </a:extLst>
          </p:cNvPr>
          <p:cNvPicPr>
            <a:picLocks noChangeAspect="1"/>
          </p:cNvPicPr>
          <p:nvPr>
            <p:custDataLst>
              <p:tags r:id="rId1"/>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3810000" y="4422577"/>
            <a:ext cx="3417906" cy="303238"/>
          </a:xfrm>
          <a:prstGeom prst="rect">
            <a:avLst/>
          </a:prstGeom>
        </p:spPr>
      </p:pic>
      <p:pic>
        <p:nvPicPr>
          <p:cNvPr id="15" name="Imagen 14">
            <a:extLst>
              <a:ext uri="{FF2B5EF4-FFF2-40B4-BE49-F238E27FC236}">
                <a16:creationId xmlns:a16="http://schemas.microsoft.com/office/drawing/2014/main" id="{D02C3F3B-AC0C-4DB9-9534-ACD9BBE8FD13}"/>
              </a:ext>
            </a:extLst>
          </p:cNvPr>
          <p:cNvPicPr>
            <a:picLocks noChangeAspect="1"/>
          </p:cNvPicPr>
          <p:nvPr>
            <p:custDataLst>
              <p:tags r:id="rId2"/>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4842353" y="3981754"/>
            <a:ext cx="559238" cy="170667"/>
          </a:xfrm>
          <a:prstGeom prst="rect">
            <a:avLst/>
          </a:prstGeom>
        </p:spPr>
      </p:pic>
      <p:pic>
        <p:nvPicPr>
          <p:cNvPr id="19" name="Imagen 18">
            <a:extLst>
              <a:ext uri="{FF2B5EF4-FFF2-40B4-BE49-F238E27FC236}">
                <a16:creationId xmlns:a16="http://schemas.microsoft.com/office/drawing/2014/main" id="{AA3E238F-8E19-4601-A39B-EE5FD463A198}"/>
              </a:ext>
            </a:extLst>
          </p:cNvPr>
          <p:cNvPicPr>
            <a:picLocks noChangeAspect="1"/>
          </p:cNvPicPr>
          <p:nvPr>
            <p:custDataLst>
              <p:tags r:id="rId3"/>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5943601" y="3981755"/>
            <a:ext cx="600381" cy="128001"/>
          </a:xfrm>
          <a:prstGeom prst="rect">
            <a:avLst/>
          </a:prstGeom>
        </p:spPr>
      </p:pic>
      <p:pic>
        <p:nvPicPr>
          <p:cNvPr id="20" name="Imagen 19">
            <a:extLst>
              <a:ext uri="{FF2B5EF4-FFF2-40B4-BE49-F238E27FC236}">
                <a16:creationId xmlns:a16="http://schemas.microsoft.com/office/drawing/2014/main" id="{3CA48ECB-326E-4BE9-B776-B00D49661720}"/>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6757459" y="3981755"/>
            <a:ext cx="600381" cy="128001"/>
          </a:xfrm>
          <a:prstGeom prst="rect">
            <a:avLst/>
          </a:prstGeom>
        </p:spPr>
      </p:pic>
      <p:sp>
        <p:nvSpPr>
          <p:cNvPr id="23" name="Abrir llave 22">
            <a:extLst>
              <a:ext uri="{FF2B5EF4-FFF2-40B4-BE49-F238E27FC236}">
                <a16:creationId xmlns:a16="http://schemas.microsoft.com/office/drawing/2014/main" id="{F6D9B841-EFCA-4D94-97CF-91C4BADF896A}"/>
              </a:ext>
            </a:extLst>
          </p:cNvPr>
          <p:cNvSpPr/>
          <p:nvPr/>
        </p:nvSpPr>
        <p:spPr>
          <a:xfrm rot="5400000">
            <a:off x="5023890" y="3530834"/>
            <a:ext cx="163020" cy="1524000"/>
          </a:xfrm>
          <a:prstGeom prst="leftBrac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p:sp>
        <p:nvSpPr>
          <p:cNvPr id="24" name="Abrir llave 23">
            <a:extLst>
              <a:ext uri="{FF2B5EF4-FFF2-40B4-BE49-F238E27FC236}">
                <a16:creationId xmlns:a16="http://schemas.microsoft.com/office/drawing/2014/main" id="{2116CE17-6A44-42C5-8B98-830ED97D2585}"/>
              </a:ext>
            </a:extLst>
          </p:cNvPr>
          <p:cNvSpPr/>
          <p:nvPr/>
        </p:nvSpPr>
        <p:spPr>
          <a:xfrm rot="5400000">
            <a:off x="6162281" y="3972585"/>
            <a:ext cx="163020" cy="600381"/>
          </a:xfrm>
          <a:prstGeom prst="leftBrac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p:sp>
        <p:nvSpPr>
          <p:cNvPr id="25" name="Abrir llave 24">
            <a:extLst>
              <a:ext uri="{FF2B5EF4-FFF2-40B4-BE49-F238E27FC236}">
                <a16:creationId xmlns:a16="http://schemas.microsoft.com/office/drawing/2014/main" id="{CD8D1BEC-DE86-4979-958A-A32BE968F828}"/>
              </a:ext>
            </a:extLst>
          </p:cNvPr>
          <p:cNvSpPr/>
          <p:nvPr/>
        </p:nvSpPr>
        <p:spPr>
          <a:xfrm rot="5400000">
            <a:off x="6947257" y="3972586"/>
            <a:ext cx="163020" cy="600381"/>
          </a:xfrm>
          <a:prstGeom prst="leftBrac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p:pic>
        <p:nvPicPr>
          <p:cNvPr id="28" name="Imagen 27">
            <a:extLst>
              <a:ext uri="{FF2B5EF4-FFF2-40B4-BE49-F238E27FC236}">
                <a16:creationId xmlns:a16="http://schemas.microsoft.com/office/drawing/2014/main" id="{3F194287-3804-4543-9472-B7A95EE2B7F5}"/>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3316571" y="5638800"/>
            <a:ext cx="5558859" cy="272762"/>
          </a:xfrm>
          <a:prstGeom prst="rect">
            <a:avLst/>
          </a:prstGeom>
        </p:spPr>
      </p:pic>
      <p:sp>
        <p:nvSpPr>
          <p:cNvPr id="29" name="CuadroTexto 28">
            <a:extLst>
              <a:ext uri="{FF2B5EF4-FFF2-40B4-BE49-F238E27FC236}">
                <a16:creationId xmlns:a16="http://schemas.microsoft.com/office/drawing/2014/main" id="{C7C0DE89-D831-4A77-B45C-34CA73A8CFC7}"/>
              </a:ext>
            </a:extLst>
          </p:cNvPr>
          <p:cNvSpPr txBox="1"/>
          <p:nvPr/>
        </p:nvSpPr>
        <p:spPr>
          <a:xfrm>
            <a:off x="5656508" y="4897350"/>
            <a:ext cx="3402663" cy="424732"/>
          </a:xfrm>
          <a:prstGeom prst="rect">
            <a:avLst/>
          </a:prstGeom>
          <a:noFill/>
        </p:spPr>
        <p:txBody>
          <a:bodyPr wrap="none" rtlCol="0">
            <a:spAutoFit/>
          </a:bodyPr>
          <a:lstStyle/>
          <a:p>
            <a:pPr>
              <a:lnSpc>
                <a:spcPct val="90000"/>
              </a:lnSpc>
            </a:pPr>
            <a:r>
              <a:rPr lang="es-419" sz="2400">
                <a:solidFill>
                  <a:prstClr val="white"/>
                </a:solidFill>
                <a:latin typeface="Corbel"/>
              </a:rPr>
              <a:t>matriz de Controlabilidad</a:t>
            </a:r>
          </a:p>
        </p:txBody>
      </p:sp>
      <p:cxnSp>
        <p:nvCxnSpPr>
          <p:cNvPr id="31" name="Conector recto de flecha 30">
            <a:extLst>
              <a:ext uri="{FF2B5EF4-FFF2-40B4-BE49-F238E27FC236}">
                <a16:creationId xmlns:a16="http://schemas.microsoft.com/office/drawing/2014/main" id="{88217FB6-6D87-42A6-9EC4-55DB2108EA5E}"/>
              </a:ext>
            </a:extLst>
          </p:cNvPr>
          <p:cNvCxnSpPr/>
          <p:nvPr/>
        </p:nvCxnSpPr>
        <p:spPr>
          <a:xfrm>
            <a:off x="6243790" y="4661911"/>
            <a:ext cx="157010" cy="301974"/>
          </a:xfrm>
          <a:prstGeom prst="straightConnector1">
            <a:avLst/>
          </a:prstGeom>
          <a:ln w="25400">
            <a:solidFill>
              <a:srgbClr val="FFFF00"/>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6301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9"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ABB2B65D-8B0D-453C-A3A4-144FED35BBD7}"/>
              </a:ext>
            </a:extLst>
          </p:cNvPr>
          <p:cNvSpPr>
            <a:spLocks noGrp="1"/>
          </p:cNvSpPr>
          <p:nvPr>
            <p:ph type="title"/>
          </p:nvPr>
        </p:nvSpPr>
        <p:spPr/>
        <p:txBody>
          <a:bodyPr/>
          <a:lstStyle/>
          <a:p>
            <a:r>
              <a:rPr lang="es-419"/>
              <a:t>Ejemplo de la Formula de Ackerman</a:t>
            </a:r>
          </a:p>
        </p:txBody>
      </p:sp>
      <p:sp>
        <p:nvSpPr>
          <p:cNvPr id="5" name="Marcador de contenido 4">
            <a:extLst>
              <a:ext uri="{FF2B5EF4-FFF2-40B4-BE49-F238E27FC236}">
                <a16:creationId xmlns:a16="http://schemas.microsoft.com/office/drawing/2014/main" id="{77171E8C-4E2A-4383-830B-7FFCD3D8C56B}"/>
              </a:ext>
            </a:extLst>
          </p:cNvPr>
          <p:cNvSpPr>
            <a:spLocks noGrp="1"/>
          </p:cNvSpPr>
          <p:nvPr>
            <p:ph idx="1"/>
          </p:nvPr>
        </p:nvSpPr>
        <p:spPr>
          <a:xfrm>
            <a:off x="1524002" y="1600200"/>
            <a:ext cx="9144000" cy="4572000"/>
          </a:xfrm>
        </p:spPr>
        <p:txBody>
          <a:bodyPr/>
          <a:lstStyle/>
          <a:p>
            <a:pPr algn="just"/>
            <a:r>
              <a:rPr lang="es-ES"/>
              <a:t>Realizar un control en variables de estado donde la representación en el espacio de estados viene dado por:</a:t>
            </a:r>
          </a:p>
          <a:p>
            <a:pPr algn="just"/>
            <a:endParaRPr lang="es-ES"/>
          </a:p>
          <a:p>
            <a:pPr algn="just"/>
            <a:endParaRPr lang="es-ES"/>
          </a:p>
          <a:p>
            <a:pPr algn="just"/>
            <a:endParaRPr lang="es-ES"/>
          </a:p>
          <a:p>
            <a:pPr algn="just"/>
            <a:r>
              <a:rPr lang="es-ES"/>
              <a:t>Procedemos a verificar la controlabilidad del sistema:</a:t>
            </a:r>
            <a:endParaRPr lang="es-419"/>
          </a:p>
        </p:txBody>
      </p:sp>
      <p:pic>
        <p:nvPicPr>
          <p:cNvPr id="6" name="Imagen 5">
            <a:extLst>
              <a:ext uri="{FF2B5EF4-FFF2-40B4-BE49-F238E27FC236}">
                <a16:creationId xmlns:a16="http://schemas.microsoft.com/office/drawing/2014/main" id="{17AF9B39-399B-48F3-A5AE-010C6A14A0FB}"/>
              </a:ext>
            </a:extLst>
          </p:cNvPr>
          <p:cNvPicPr>
            <a:picLocks noChangeAspect="1"/>
          </p:cNvPicPr>
          <p:nvPr>
            <p:custDataLst>
              <p:tags r:id="rId1"/>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3770258" y="3582962"/>
            <a:ext cx="1379048" cy="303238"/>
          </a:xfrm>
          <a:prstGeom prst="rect">
            <a:avLst/>
          </a:prstGeom>
        </p:spPr>
      </p:pic>
      <p:pic>
        <p:nvPicPr>
          <p:cNvPr id="9" name="Imagen 8">
            <a:extLst>
              <a:ext uri="{FF2B5EF4-FFF2-40B4-BE49-F238E27FC236}">
                <a16:creationId xmlns:a16="http://schemas.microsoft.com/office/drawing/2014/main" id="{B6B827DC-3A51-46DA-97C0-59E6D502E897}"/>
              </a:ext>
            </a:extLst>
          </p:cNvPr>
          <p:cNvPicPr>
            <a:picLocks noChangeAspect="1"/>
          </p:cNvPicPr>
          <p:nvPr>
            <p:custDataLst>
              <p:tags r:id="rId2"/>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588685" y="5370300"/>
            <a:ext cx="1660343" cy="546743"/>
          </a:xfrm>
          <a:prstGeom prst="rect">
            <a:avLst/>
          </a:prstGeom>
        </p:spPr>
      </p:pic>
      <p:pic>
        <p:nvPicPr>
          <p:cNvPr id="19" name="Imagen 18">
            <a:extLst>
              <a:ext uri="{FF2B5EF4-FFF2-40B4-BE49-F238E27FC236}">
                <a16:creationId xmlns:a16="http://schemas.microsoft.com/office/drawing/2014/main" id="{85AF4912-75CA-4893-9017-9EEEDEC5CB20}"/>
              </a:ext>
            </a:extLst>
          </p:cNvPr>
          <p:cNvPicPr>
            <a:picLocks noChangeAspect="1"/>
          </p:cNvPicPr>
          <p:nvPr>
            <p:custDataLst>
              <p:tags r:id="rId3"/>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9024286" y="4938861"/>
            <a:ext cx="1146515" cy="305371"/>
          </a:xfrm>
          <a:prstGeom prst="rect">
            <a:avLst/>
          </a:prstGeom>
        </p:spPr>
      </p:pic>
      <p:pic>
        <p:nvPicPr>
          <p:cNvPr id="12" name="Imagen 11">
            <a:extLst>
              <a:ext uri="{FF2B5EF4-FFF2-40B4-BE49-F238E27FC236}">
                <a16:creationId xmlns:a16="http://schemas.microsoft.com/office/drawing/2014/main" id="{F138CEFE-F410-4CDA-9541-89FB012B7600}"/>
              </a:ext>
            </a:extLst>
          </p:cNvPr>
          <p:cNvPicPr>
            <a:picLocks noChangeAspect="1"/>
          </p:cNvPicPr>
          <p:nvPr>
            <p:custDataLst>
              <p:tags r:id="rId4"/>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4934733" y="5254474"/>
            <a:ext cx="1464686" cy="729600"/>
          </a:xfrm>
          <a:prstGeom prst="rect">
            <a:avLst/>
          </a:prstGeom>
        </p:spPr>
      </p:pic>
      <p:sp>
        <p:nvSpPr>
          <p:cNvPr id="17" name="Flecha: a la derecha 16">
            <a:extLst>
              <a:ext uri="{FF2B5EF4-FFF2-40B4-BE49-F238E27FC236}">
                <a16:creationId xmlns:a16="http://schemas.microsoft.com/office/drawing/2014/main" id="{AB34FFAE-308F-40E7-8D68-655494609C6B}"/>
              </a:ext>
            </a:extLst>
          </p:cNvPr>
          <p:cNvSpPr/>
          <p:nvPr/>
        </p:nvSpPr>
        <p:spPr>
          <a:xfrm>
            <a:off x="4021679" y="5433221"/>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8" name="Flecha: a la derecha 17">
            <a:extLst>
              <a:ext uri="{FF2B5EF4-FFF2-40B4-BE49-F238E27FC236}">
                <a16:creationId xmlns:a16="http://schemas.microsoft.com/office/drawing/2014/main" id="{E5D43014-FD2B-49F3-9073-B398E1A51C46}"/>
              </a:ext>
            </a:extLst>
          </p:cNvPr>
          <p:cNvSpPr/>
          <p:nvPr/>
        </p:nvSpPr>
        <p:spPr>
          <a:xfrm>
            <a:off x="8237048" y="5457095"/>
            <a:ext cx="316293" cy="420900"/>
          </a:xfrm>
          <a:prstGeom prst="rightArrow">
            <a:avLst/>
          </a:prstGeom>
          <a:solidFill>
            <a:srgbClr val="FFFF00"/>
          </a:solidFill>
          <a:ln>
            <a:solidFill>
              <a:srgbClr val="FFFF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pic>
        <p:nvPicPr>
          <p:cNvPr id="21" name="Gráfico 20" descr="Casilla marcada">
            <a:extLst>
              <a:ext uri="{FF2B5EF4-FFF2-40B4-BE49-F238E27FC236}">
                <a16:creationId xmlns:a16="http://schemas.microsoft.com/office/drawing/2014/main" id="{F33821A1-E41D-4539-9425-0F571F7F05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83094" y="5432356"/>
            <a:ext cx="551718" cy="551718"/>
          </a:xfrm>
          <a:prstGeom prst="rect">
            <a:avLst/>
          </a:prstGeom>
        </p:spPr>
      </p:pic>
      <p:sp>
        <p:nvSpPr>
          <p:cNvPr id="22" name="CuadroTexto 21">
            <a:extLst>
              <a:ext uri="{FF2B5EF4-FFF2-40B4-BE49-F238E27FC236}">
                <a16:creationId xmlns:a16="http://schemas.microsoft.com/office/drawing/2014/main" id="{F6719560-2253-41BD-A6D7-AC967CBBB533}"/>
              </a:ext>
            </a:extLst>
          </p:cNvPr>
          <p:cNvSpPr txBox="1"/>
          <p:nvPr/>
        </p:nvSpPr>
        <p:spPr>
          <a:xfrm>
            <a:off x="9201666" y="5518880"/>
            <a:ext cx="2310248" cy="424732"/>
          </a:xfrm>
          <a:prstGeom prst="rect">
            <a:avLst/>
          </a:prstGeom>
          <a:noFill/>
        </p:spPr>
        <p:txBody>
          <a:bodyPr wrap="none" rtlCol="0">
            <a:spAutoFit/>
          </a:bodyPr>
          <a:lstStyle/>
          <a:p>
            <a:pPr>
              <a:lnSpc>
                <a:spcPct val="90000"/>
              </a:lnSpc>
            </a:pPr>
            <a:r>
              <a:rPr lang="es-419" sz="2400" b="1">
                <a:solidFill>
                  <a:srgbClr val="FFFF00"/>
                </a:solidFill>
                <a:latin typeface="Corbel"/>
              </a:rPr>
              <a:t>CONTROLABLE</a:t>
            </a:r>
          </a:p>
        </p:txBody>
      </p:sp>
      <p:pic>
        <p:nvPicPr>
          <p:cNvPr id="13" name="Imagen 12">
            <a:extLst>
              <a:ext uri="{FF2B5EF4-FFF2-40B4-BE49-F238E27FC236}">
                <a16:creationId xmlns:a16="http://schemas.microsoft.com/office/drawing/2014/main" id="{C6A6E0A2-938C-40D9-BBAA-8633E6C33FB4}"/>
              </a:ext>
            </a:extLst>
          </p:cNvPr>
          <p:cNvPicPr>
            <a:picLocks noChangeAspect="1"/>
          </p:cNvPicPr>
          <p:nvPr>
            <p:custDataLst>
              <p:tags r:id="rId5"/>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3776762" y="2764727"/>
            <a:ext cx="2319238" cy="608000"/>
          </a:xfrm>
          <a:prstGeom prst="rect">
            <a:avLst/>
          </a:prstGeom>
        </p:spPr>
      </p:pic>
    </p:spTree>
    <p:extLst>
      <p:ext uri="{BB962C8B-B14F-4D97-AF65-F5344CB8AC3E}">
        <p14:creationId xmlns:p14="http://schemas.microsoft.com/office/powerpoint/2010/main" val="3553354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8DB221-9C83-45AB-BF46-EDA2E5137BD0}"/>
              </a:ext>
            </a:extLst>
          </p:cNvPr>
          <p:cNvSpPr>
            <a:spLocks noGrp="1"/>
          </p:cNvSpPr>
          <p:nvPr>
            <p:ph type="title"/>
          </p:nvPr>
        </p:nvSpPr>
        <p:spPr/>
        <p:txBody>
          <a:bodyPr/>
          <a:lstStyle/>
          <a:p>
            <a:r>
              <a:rPr lang="es-419"/>
              <a:t>Ejemplo de la Formula de Ackerman</a:t>
            </a:r>
          </a:p>
        </p:txBody>
      </p:sp>
      <p:pic>
        <p:nvPicPr>
          <p:cNvPr id="4" name="Imagen 3">
            <a:extLst>
              <a:ext uri="{FF2B5EF4-FFF2-40B4-BE49-F238E27FC236}">
                <a16:creationId xmlns:a16="http://schemas.microsoft.com/office/drawing/2014/main" id="{57BFD7F8-EC12-4715-839A-51E2F2393DFB}"/>
              </a:ext>
            </a:extLst>
          </p:cNvPr>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3962400" y="1753381"/>
            <a:ext cx="3417906" cy="303238"/>
          </a:xfrm>
          <a:prstGeom prst="rect">
            <a:avLst/>
          </a:prstGeom>
        </p:spPr>
      </p:pic>
      <p:pic>
        <p:nvPicPr>
          <p:cNvPr id="20" name="Imagen 19">
            <a:extLst>
              <a:ext uri="{FF2B5EF4-FFF2-40B4-BE49-F238E27FC236}">
                <a16:creationId xmlns:a16="http://schemas.microsoft.com/office/drawing/2014/main" id="{D2F6AC21-FD51-468F-90C3-A4FD45354E0C}"/>
              </a:ext>
            </a:extLst>
          </p:cNvPr>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443755" y="2566941"/>
            <a:ext cx="2282667" cy="283428"/>
          </a:xfrm>
          <a:prstGeom prst="rect">
            <a:avLst/>
          </a:prstGeom>
        </p:spPr>
      </p:pic>
      <p:sp>
        <p:nvSpPr>
          <p:cNvPr id="6" name="CuadroTexto 5">
            <a:extLst>
              <a:ext uri="{FF2B5EF4-FFF2-40B4-BE49-F238E27FC236}">
                <a16:creationId xmlns:a16="http://schemas.microsoft.com/office/drawing/2014/main" id="{6438289A-D06C-472D-A34E-45C66991CABD}"/>
              </a:ext>
            </a:extLst>
          </p:cNvPr>
          <p:cNvSpPr txBox="1"/>
          <p:nvPr/>
        </p:nvSpPr>
        <p:spPr>
          <a:xfrm>
            <a:off x="1143001" y="2181161"/>
            <a:ext cx="3270447" cy="341632"/>
          </a:xfrm>
          <a:prstGeom prst="rect">
            <a:avLst/>
          </a:prstGeom>
          <a:noFill/>
        </p:spPr>
        <p:txBody>
          <a:bodyPr wrap="none" rtlCol="0">
            <a:spAutoFit/>
          </a:bodyPr>
          <a:lstStyle/>
          <a:p>
            <a:pPr>
              <a:lnSpc>
                <a:spcPct val="90000"/>
              </a:lnSpc>
            </a:pPr>
            <a:r>
              <a:rPr lang="es-419">
                <a:solidFill>
                  <a:prstClr val="white"/>
                </a:solidFill>
                <a:latin typeface="Corbel"/>
              </a:rPr>
              <a:t>Ecuación característica deseada:</a:t>
            </a:r>
          </a:p>
        </p:txBody>
      </p:sp>
      <p:pic>
        <p:nvPicPr>
          <p:cNvPr id="25" name="Imagen 24">
            <a:extLst>
              <a:ext uri="{FF2B5EF4-FFF2-40B4-BE49-F238E27FC236}">
                <a16:creationId xmlns:a16="http://schemas.microsoft.com/office/drawing/2014/main" id="{8FA2A73B-09D4-4592-AABF-4FF8304F5B0D}"/>
              </a:ext>
            </a:extLst>
          </p:cNvPr>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447800" y="3131467"/>
            <a:ext cx="5327238" cy="659808"/>
          </a:xfrm>
          <a:prstGeom prst="rect">
            <a:avLst/>
          </a:prstGeom>
        </p:spPr>
      </p:pic>
      <p:pic>
        <p:nvPicPr>
          <p:cNvPr id="28" name="Imagen 27">
            <a:extLst>
              <a:ext uri="{FF2B5EF4-FFF2-40B4-BE49-F238E27FC236}">
                <a16:creationId xmlns:a16="http://schemas.microsoft.com/office/drawing/2014/main" id="{AFC86284-2C02-46B6-9D20-8992E7BE09D1}"/>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1447800" y="4070045"/>
            <a:ext cx="3289906" cy="659809"/>
          </a:xfrm>
          <a:prstGeom prst="rect">
            <a:avLst/>
          </a:prstGeom>
        </p:spPr>
      </p:pic>
      <p:pic>
        <p:nvPicPr>
          <p:cNvPr id="31" name="Imagen 30">
            <a:extLst>
              <a:ext uri="{FF2B5EF4-FFF2-40B4-BE49-F238E27FC236}">
                <a16:creationId xmlns:a16="http://schemas.microsoft.com/office/drawing/2014/main" id="{0E7150E8-8B46-451D-8A89-9A8E17589EB8}"/>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447802" y="4875955"/>
            <a:ext cx="1147429" cy="303238"/>
          </a:xfrm>
          <a:prstGeom prst="rect">
            <a:avLst/>
          </a:prstGeom>
        </p:spPr>
      </p:pic>
      <p:sp>
        <p:nvSpPr>
          <p:cNvPr id="32" name="CuadroTexto 31">
            <a:extLst>
              <a:ext uri="{FF2B5EF4-FFF2-40B4-BE49-F238E27FC236}">
                <a16:creationId xmlns:a16="http://schemas.microsoft.com/office/drawing/2014/main" id="{659296EF-A67C-4F06-8245-ACDC8FCADCC6}"/>
              </a:ext>
            </a:extLst>
          </p:cNvPr>
          <p:cNvSpPr txBox="1"/>
          <p:nvPr/>
        </p:nvSpPr>
        <p:spPr>
          <a:xfrm>
            <a:off x="1141412" y="5486401"/>
            <a:ext cx="2949846" cy="1117229"/>
          </a:xfrm>
          <a:prstGeom prst="rect">
            <a:avLst/>
          </a:prstGeom>
          <a:noFill/>
        </p:spPr>
        <p:txBody>
          <a:bodyPr wrap="none" rtlCol="0">
            <a:spAutoFit/>
          </a:bodyPr>
          <a:lstStyle/>
          <a:p>
            <a:pPr>
              <a:lnSpc>
                <a:spcPct val="90000"/>
              </a:lnSpc>
            </a:pPr>
            <a:r>
              <a:rPr lang="es-419">
                <a:solidFill>
                  <a:prstClr val="white"/>
                </a:solidFill>
                <a:latin typeface="Corbel"/>
              </a:rPr>
              <a:t>MATLAB:</a:t>
            </a:r>
          </a:p>
          <a:p>
            <a:pPr>
              <a:lnSpc>
                <a:spcPct val="90000"/>
              </a:lnSpc>
            </a:pPr>
            <a:endParaRPr lang="es-419">
              <a:solidFill>
                <a:prstClr val="white"/>
              </a:solidFill>
              <a:latin typeface="Corbel"/>
            </a:endParaRPr>
          </a:p>
          <a:p>
            <a:pPr>
              <a:lnSpc>
                <a:spcPct val="90000"/>
              </a:lnSpc>
            </a:pPr>
            <a:r>
              <a:rPr lang="es-419">
                <a:solidFill>
                  <a:prstClr val="white"/>
                </a:solidFill>
                <a:latin typeface="Corbel"/>
              </a:rPr>
              <a:t>&gt;&gt; </a:t>
            </a:r>
            <a:r>
              <a:rPr lang="it-IT">
                <a:solidFill>
                  <a:prstClr val="white"/>
                </a:solidFill>
                <a:latin typeface="Courier New" panose="02070309020205020404" pitchFamily="49" charset="0"/>
              </a:rPr>
              <a:t>k2 = acker(A,b,Ed)</a:t>
            </a:r>
          </a:p>
          <a:p>
            <a:pPr>
              <a:lnSpc>
                <a:spcPct val="90000"/>
              </a:lnSpc>
            </a:pPr>
            <a:endParaRPr lang="es-419">
              <a:solidFill>
                <a:prstClr val="white"/>
              </a:solidFill>
              <a:latin typeface="Corbel"/>
            </a:endParaRPr>
          </a:p>
        </p:txBody>
      </p:sp>
    </p:spTree>
    <p:extLst>
      <p:ext uri="{BB962C8B-B14F-4D97-AF65-F5344CB8AC3E}">
        <p14:creationId xmlns:p14="http://schemas.microsoft.com/office/powerpoint/2010/main" val="41783405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4B7052C-A9BA-4495-9753-2872174D5782}"/>
              </a:ext>
            </a:extLst>
          </p:cNvPr>
          <p:cNvSpPr>
            <a:spLocks noGrp="1"/>
          </p:cNvSpPr>
          <p:nvPr>
            <p:ph type="ctrTitle"/>
          </p:nvPr>
        </p:nvSpPr>
        <p:spPr>
          <a:xfrm>
            <a:off x="1488000" y="36871"/>
            <a:ext cx="9144000" cy="1828800"/>
          </a:xfrm>
        </p:spPr>
        <p:txBody>
          <a:bodyPr/>
          <a:lstStyle/>
          <a:p>
            <a:pPr algn="ctr"/>
            <a:r>
              <a:rPr lang="es-419"/>
              <a:t>Control en Variables de Estado</a:t>
            </a:r>
          </a:p>
        </p:txBody>
      </p:sp>
      <p:sp>
        <p:nvSpPr>
          <p:cNvPr id="6" name="Subtítulo 5">
            <a:extLst>
              <a:ext uri="{FF2B5EF4-FFF2-40B4-BE49-F238E27FC236}">
                <a16:creationId xmlns:a16="http://schemas.microsoft.com/office/drawing/2014/main" id="{99F7E535-08D1-4242-97FD-836250BD3200}"/>
              </a:ext>
            </a:extLst>
          </p:cNvPr>
          <p:cNvSpPr>
            <a:spLocks noGrp="1"/>
          </p:cNvSpPr>
          <p:nvPr>
            <p:ph type="subTitle" idx="1"/>
          </p:nvPr>
        </p:nvSpPr>
        <p:spPr/>
        <p:txBody>
          <a:bodyPr/>
          <a:lstStyle/>
          <a:p>
            <a:r>
              <a:rPr lang="es-419"/>
              <a:t>por: Sergio Andres Castaño Giraldo</a:t>
            </a:r>
          </a:p>
          <a:p>
            <a:r>
              <a:rPr lang="en-US">
                <a:hlinkClick r:id="rId2"/>
              </a:rPr>
              <a:t>https://controlautomaticoeducacion.com/</a:t>
            </a:r>
            <a:endParaRPr lang="es-419"/>
          </a:p>
        </p:txBody>
      </p:sp>
      <p:sp>
        <p:nvSpPr>
          <p:cNvPr id="7" name="Título 4">
            <a:extLst>
              <a:ext uri="{FF2B5EF4-FFF2-40B4-BE49-F238E27FC236}">
                <a16:creationId xmlns:a16="http://schemas.microsoft.com/office/drawing/2014/main" id="{9243BA80-8B64-42F3-9427-2D1D3B92AAB7}"/>
              </a:ext>
            </a:extLst>
          </p:cNvPr>
          <p:cNvSpPr txBox="1">
            <a:spLocks/>
          </p:cNvSpPr>
          <p:nvPr/>
        </p:nvSpPr>
        <p:spPr>
          <a:xfrm>
            <a:off x="1524001" y="2552700"/>
            <a:ext cx="9144000" cy="11430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419" sz="4000">
                <a:solidFill>
                  <a:srgbClr val="FFFF00"/>
                </a:solidFill>
                <a:latin typeface="Consolas"/>
              </a:rPr>
              <a:t>Problema de seguimiento de referencia</a:t>
            </a:r>
            <a:endParaRPr lang="es-419" sz="6600">
              <a:solidFill>
                <a:srgbClr val="FFFF00"/>
              </a:solidFill>
              <a:latin typeface="Consolas"/>
            </a:endParaRPr>
          </a:p>
        </p:txBody>
      </p:sp>
    </p:spTree>
    <p:extLst>
      <p:ext uri="{BB962C8B-B14F-4D97-AF65-F5344CB8AC3E}">
        <p14:creationId xmlns:p14="http://schemas.microsoft.com/office/powerpoint/2010/main" val="25334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82C07-5B8C-44F7-A5AE-82CF79407AB7}"/>
              </a:ext>
            </a:extLst>
          </p:cNvPr>
          <p:cNvSpPr>
            <a:spLocks noGrp="1"/>
          </p:cNvSpPr>
          <p:nvPr>
            <p:ph type="title"/>
          </p:nvPr>
        </p:nvSpPr>
        <p:spPr/>
        <p:txBody>
          <a:bodyPr/>
          <a:lstStyle/>
          <a:p>
            <a:r>
              <a:rPr lang="es-419"/>
              <a:t>Problema de seguimiento de referencia</a:t>
            </a: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54EDEB3E-632B-4BFB-A9E7-7ECE74CCC61A}"/>
                  </a:ext>
                </a:extLst>
              </p:cNvPr>
              <p:cNvSpPr/>
              <p:nvPr/>
            </p:nvSpPr>
            <p:spPr>
              <a:xfrm>
                <a:off x="6841574" y="2560407"/>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800" dirty="0">
                          <a:solidFill>
                            <a:prstClr val="white"/>
                          </a:solidFill>
                          <a:latin typeface="Corbel"/>
                        </a:rPr>
                        <m:t>Planta</m:t>
                      </m:r>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54EDEB3E-632B-4BFB-A9E7-7ECE74CCC61A}"/>
                  </a:ext>
                </a:extLst>
              </p:cNvPr>
              <p:cNvSpPr>
                <a:spLocks noRot="1" noChangeAspect="1" noMove="1" noResize="1" noEditPoints="1" noAdjustHandles="1" noChangeArrowheads="1" noChangeShapeType="1" noTextEdit="1"/>
              </p:cNvSpPr>
              <p:nvPr/>
            </p:nvSpPr>
            <p:spPr>
              <a:xfrm>
                <a:off x="6841574" y="2560407"/>
                <a:ext cx="1722536" cy="1020762"/>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5A486A65-8A30-4897-A2D6-C3C6A164DC3F}"/>
              </a:ext>
            </a:extLst>
          </p:cNvPr>
          <p:cNvCxnSpPr>
            <a:cxnSpLocks/>
            <a:stCxn id="9" idx="6"/>
            <a:endCxn id="19" idx="1"/>
          </p:cNvCxnSpPr>
          <p:nvPr/>
        </p:nvCxnSpPr>
        <p:spPr>
          <a:xfrm>
            <a:off x="3405094" y="3066046"/>
            <a:ext cx="862107" cy="4743"/>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AF8B79B0-1195-4D16-9BBB-5F125DB0EB84}"/>
              </a:ext>
            </a:extLst>
          </p:cNvPr>
          <p:cNvCxnSpPr>
            <a:cxnSpLocks/>
            <a:endCxn id="9" idx="2"/>
          </p:cNvCxnSpPr>
          <p:nvPr/>
        </p:nvCxnSpPr>
        <p:spPr>
          <a:xfrm>
            <a:off x="2109693" y="3066045"/>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CCC141DD-D769-41D7-96B1-F111CE68DE72}"/>
              </a:ext>
            </a:extLst>
          </p:cNvPr>
          <p:cNvCxnSpPr>
            <a:cxnSpLocks/>
            <a:stCxn id="4" idx="3"/>
          </p:cNvCxnSpPr>
          <p:nvPr/>
        </p:nvCxnSpPr>
        <p:spPr>
          <a:xfrm>
            <a:off x="8564110" y="3070788"/>
            <a:ext cx="1325464"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D0D86AF9-B90D-49FD-BC45-231044EDE9C3}"/>
              </a:ext>
            </a:extLst>
          </p:cNvPr>
          <p:cNvSpPr/>
          <p:nvPr/>
        </p:nvSpPr>
        <p:spPr>
          <a:xfrm>
            <a:off x="2871693" y="2799345"/>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11" name="Conector: angular 10">
            <a:extLst>
              <a:ext uri="{FF2B5EF4-FFF2-40B4-BE49-F238E27FC236}">
                <a16:creationId xmlns:a16="http://schemas.microsoft.com/office/drawing/2014/main" id="{D287612A-CE43-4C57-8C0E-374BD31CFF0F}"/>
              </a:ext>
            </a:extLst>
          </p:cNvPr>
          <p:cNvCxnSpPr>
            <a:cxnSpLocks/>
            <a:stCxn id="15" idx="2"/>
            <a:endCxn id="9" idx="4"/>
          </p:cNvCxnSpPr>
          <p:nvPr/>
        </p:nvCxnSpPr>
        <p:spPr>
          <a:xfrm rot="5400000">
            <a:off x="6083143" y="105849"/>
            <a:ext cx="282149" cy="6171645"/>
          </a:xfrm>
          <a:prstGeom prst="bentConnector3">
            <a:avLst>
              <a:gd name="adj1" fmla="val 431925"/>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E3C3997C-9C7A-4F95-968C-E1E974FAB600}"/>
                  </a:ext>
                </a:extLst>
              </p:cNvPr>
              <p:cNvSpPr txBox="1"/>
              <p:nvPr/>
            </p:nvSpPr>
            <p:spPr>
              <a:xfrm>
                <a:off x="2871694" y="2899846"/>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2" name="CuadroTexto 11">
                <a:extLst>
                  <a:ext uri="{FF2B5EF4-FFF2-40B4-BE49-F238E27FC236}">
                    <a16:creationId xmlns:a16="http://schemas.microsoft.com/office/drawing/2014/main" id="{E3C3997C-9C7A-4F95-968C-E1E974FAB600}"/>
                  </a:ext>
                </a:extLst>
              </p:cNvPr>
              <p:cNvSpPr txBox="1">
                <a:spLocks noRot="1" noChangeAspect="1" noMove="1" noResize="1" noEditPoints="1" noAdjustHandles="1" noChangeArrowheads="1" noChangeShapeType="1" noTextEdit="1"/>
              </p:cNvSpPr>
              <p:nvPr/>
            </p:nvSpPr>
            <p:spPr>
              <a:xfrm>
                <a:off x="2871694" y="2899846"/>
                <a:ext cx="290143" cy="332399"/>
              </a:xfrm>
              <a:prstGeom prst="rect">
                <a:avLst/>
              </a:prstGeom>
              <a:blipFill>
                <a:blip r:embed="rId6"/>
                <a:stretch>
                  <a:fillRect l="-22917" r="-20833" b="-74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ED009CCB-A89B-4EAC-BA3F-9B353B5AA8E1}"/>
                  </a:ext>
                </a:extLst>
              </p:cNvPr>
              <p:cNvSpPr txBox="1"/>
              <p:nvPr/>
            </p:nvSpPr>
            <p:spPr>
              <a:xfrm>
                <a:off x="3003593" y="3050597"/>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3" name="CuadroTexto 12">
                <a:extLst>
                  <a:ext uri="{FF2B5EF4-FFF2-40B4-BE49-F238E27FC236}">
                    <a16:creationId xmlns:a16="http://schemas.microsoft.com/office/drawing/2014/main" id="{ED009CCB-A89B-4EAC-BA3F-9B353B5AA8E1}"/>
                  </a:ext>
                </a:extLst>
              </p:cNvPr>
              <p:cNvSpPr txBox="1">
                <a:spLocks noRot="1" noChangeAspect="1" noMove="1" noResize="1" noEditPoints="1" noAdjustHandles="1" noChangeArrowheads="1" noChangeShapeType="1" noTextEdit="1"/>
              </p:cNvSpPr>
              <p:nvPr/>
            </p:nvSpPr>
            <p:spPr>
              <a:xfrm>
                <a:off x="3003593" y="3050597"/>
                <a:ext cx="290143" cy="332399"/>
              </a:xfrm>
              <a:prstGeom prst="rect">
                <a:avLst/>
              </a:prstGeom>
              <a:blipFill>
                <a:blip r:embed="rId7"/>
                <a:stretch>
                  <a:fillRect l="-8511"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75B5B077-DE2E-4230-9D53-CA5203A2E71A}"/>
                  </a:ext>
                </a:extLst>
              </p:cNvPr>
              <p:cNvSpPr txBox="1"/>
              <p:nvPr/>
            </p:nvSpPr>
            <p:spPr>
              <a:xfrm>
                <a:off x="2029106" y="2567447"/>
                <a:ext cx="599331"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4" name="CuadroTexto 13">
                <a:extLst>
                  <a:ext uri="{FF2B5EF4-FFF2-40B4-BE49-F238E27FC236}">
                    <a16:creationId xmlns:a16="http://schemas.microsoft.com/office/drawing/2014/main" id="{75B5B077-DE2E-4230-9D53-CA5203A2E71A}"/>
                  </a:ext>
                </a:extLst>
              </p:cNvPr>
              <p:cNvSpPr txBox="1">
                <a:spLocks noRot="1" noChangeAspect="1" noMove="1" noResize="1" noEditPoints="1" noAdjustHandles="1" noChangeArrowheads="1" noChangeShapeType="1" noTextEdit="1"/>
              </p:cNvSpPr>
              <p:nvPr/>
            </p:nvSpPr>
            <p:spPr>
              <a:xfrm>
                <a:off x="2029106" y="2567447"/>
                <a:ext cx="599331" cy="332399"/>
              </a:xfrm>
              <a:prstGeom prst="rect">
                <a:avLst/>
              </a:prstGeom>
              <a:blipFill>
                <a:blip r:embed="rId8"/>
                <a:stretch>
                  <a:fillRect l="-8163" t="-10909" r="-18367"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E428D5B1-D313-431F-AFD3-724B66711959}"/>
                  </a:ext>
                </a:extLst>
              </p:cNvPr>
              <p:cNvSpPr txBox="1"/>
              <p:nvPr/>
            </p:nvSpPr>
            <p:spPr>
              <a:xfrm>
                <a:off x="8998286" y="2718198"/>
                <a:ext cx="623504"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5" name="CuadroTexto 14">
                <a:extLst>
                  <a:ext uri="{FF2B5EF4-FFF2-40B4-BE49-F238E27FC236}">
                    <a16:creationId xmlns:a16="http://schemas.microsoft.com/office/drawing/2014/main" id="{E428D5B1-D313-431F-AFD3-724B66711959}"/>
                  </a:ext>
                </a:extLst>
              </p:cNvPr>
              <p:cNvSpPr txBox="1">
                <a:spLocks noRot="1" noChangeAspect="1" noMove="1" noResize="1" noEditPoints="1" noAdjustHandles="1" noChangeArrowheads="1" noChangeShapeType="1" noTextEdit="1"/>
              </p:cNvSpPr>
              <p:nvPr/>
            </p:nvSpPr>
            <p:spPr>
              <a:xfrm>
                <a:off x="8998286" y="2718198"/>
                <a:ext cx="623504" cy="332399"/>
              </a:xfrm>
              <a:prstGeom prst="rect">
                <a:avLst/>
              </a:prstGeom>
              <a:blipFill>
                <a:blip r:embed="rId9"/>
                <a:stretch>
                  <a:fillRect l="-12745" t="-11111" r="-18627" b="-38889"/>
                </a:stretch>
              </a:blipFill>
            </p:spPr>
            <p:txBody>
              <a:bodyPr/>
              <a:lstStyle/>
              <a:p>
                <a:r>
                  <a:rPr lang="en-US">
                    <a:noFill/>
                  </a:rPr>
                  <a:t> </a:t>
                </a:r>
              </a:p>
            </p:txBody>
          </p:sp>
        </mc:Fallback>
      </mc:AlternateContent>
      <p:sp>
        <p:nvSpPr>
          <p:cNvPr id="19" name="Rectángulo 18">
            <a:extLst>
              <a:ext uri="{FF2B5EF4-FFF2-40B4-BE49-F238E27FC236}">
                <a16:creationId xmlns:a16="http://schemas.microsoft.com/office/drawing/2014/main" id="{8D09F1E6-EB28-4EE5-BB2D-E26C84EFAACB}"/>
              </a:ext>
            </a:extLst>
          </p:cNvPr>
          <p:cNvSpPr/>
          <p:nvPr/>
        </p:nvSpPr>
        <p:spPr>
          <a:xfrm>
            <a:off x="4267200" y="2560407"/>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2400">
                <a:solidFill>
                  <a:prstClr val="white"/>
                </a:solidFill>
                <a:latin typeface="Corbel"/>
              </a:rPr>
              <a:t>Controlador</a:t>
            </a:r>
          </a:p>
        </p:txBody>
      </p:sp>
      <p:cxnSp>
        <p:nvCxnSpPr>
          <p:cNvPr id="26" name="Conector recto de flecha 25">
            <a:extLst>
              <a:ext uri="{FF2B5EF4-FFF2-40B4-BE49-F238E27FC236}">
                <a16:creationId xmlns:a16="http://schemas.microsoft.com/office/drawing/2014/main" id="{B823CF8E-8A60-483C-99ED-5B65413DE95F}"/>
              </a:ext>
            </a:extLst>
          </p:cNvPr>
          <p:cNvCxnSpPr>
            <a:cxnSpLocks/>
            <a:stCxn id="19" idx="3"/>
            <a:endCxn id="4" idx="1"/>
          </p:cNvCxnSpPr>
          <p:nvPr/>
        </p:nvCxnSpPr>
        <p:spPr>
          <a:xfrm>
            <a:off x="5989736" y="3070788"/>
            <a:ext cx="851838"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333DF651-E563-4821-A4F0-7A3BA9D0D0CB}"/>
                  </a:ext>
                </a:extLst>
              </p:cNvPr>
              <p:cNvSpPr txBox="1"/>
              <p:nvPr/>
            </p:nvSpPr>
            <p:spPr>
              <a:xfrm>
                <a:off x="3475922" y="2544274"/>
                <a:ext cx="6057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38" name="CuadroTexto 37">
                <a:extLst>
                  <a:ext uri="{FF2B5EF4-FFF2-40B4-BE49-F238E27FC236}">
                    <a16:creationId xmlns:a16="http://schemas.microsoft.com/office/drawing/2014/main" id="{333DF651-E563-4821-A4F0-7A3BA9D0D0CB}"/>
                  </a:ext>
                </a:extLst>
              </p:cNvPr>
              <p:cNvSpPr txBox="1">
                <a:spLocks noRot="1" noChangeAspect="1" noMove="1" noResize="1" noEditPoints="1" noAdjustHandles="1" noChangeArrowheads="1" noChangeShapeType="1" noTextEdit="1"/>
              </p:cNvSpPr>
              <p:nvPr/>
            </p:nvSpPr>
            <p:spPr>
              <a:xfrm>
                <a:off x="3475922" y="2544274"/>
                <a:ext cx="605743" cy="332399"/>
              </a:xfrm>
              <a:prstGeom prst="rect">
                <a:avLst/>
              </a:prstGeom>
              <a:blipFill>
                <a:blip r:embed="rId10"/>
                <a:stretch>
                  <a:fillRect l="-7000" t="-10909" r="-18000"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CuadroTexto 38">
                <a:extLst>
                  <a:ext uri="{FF2B5EF4-FFF2-40B4-BE49-F238E27FC236}">
                    <a16:creationId xmlns:a16="http://schemas.microsoft.com/office/drawing/2014/main" id="{E35BDCAA-C77C-4AFF-8E32-66B21978EF5C}"/>
                  </a:ext>
                </a:extLst>
              </p:cNvPr>
              <p:cNvSpPr txBox="1"/>
              <p:nvPr/>
            </p:nvSpPr>
            <p:spPr>
              <a:xfrm>
                <a:off x="6081876" y="2541903"/>
                <a:ext cx="630878"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39" name="CuadroTexto 38">
                <a:extLst>
                  <a:ext uri="{FF2B5EF4-FFF2-40B4-BE49-F238E27FC236}">
                    <a16:creationId xmlns:a16="http://schemas.microsoft.com/office/drawing/2014/main" id="{E35BDCAA-C77C-4AFF-8E32-66B21978EF5C}"/>
                  </a:ext>
                </a:extLst>
              </p:cNvPr>
              <p:cNvSpPr txBox="1">
                <a:spLocks noRot="1" noChangeAspect="1" noMove="1" noResize="1" noEditPoints="1" noAdjustHandles="1" noChangeArrowheads="1" noChangeShapeType="1" noTextEdit="1"/>
              </p:cNvSpPr>
              <p:nvPr/>
            </p:nvSpPr>
            <p:spPr>
              <a:xfrm>
                <a:off x="6081876" y="2541903"/>
                <a:ext cx="630878" cy="332399"/>
              </a:xfrm>
              <a:prstGeom prst="rect">
                <a:avLst/>
              </a:prstGeom>
              <a:blipFill>
                <a:blip r:embed="rId11"/>
                <a:stretch>
                  <a:fillRect l="-7767" t="-10909" r="-17476" b="-36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BD162E77-566A-4D73-9681-8769C017B5EB}"/>
                  </a:ext>
                </a:extLst>
              </p:cNvPr>
              <p:cNvSpPr txBox="1"/>
              <p:nvPr/>
            </p:nvSpPr>
            <p:spPr>
              <a:xfrm>
                <a:off x="7796495" y="1991402"/>
                <a:ext cx="68339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𝑤</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0" name="CuadroTexto 39">
                <a:extLst>
                  <a:ext uri="{FF2B5EF4-FFF2-40B4-BE49-F238E27FC236}">
                    <a16:creationId xmlns:a16="http://schemas.microsoft.com/office/drawing/2014/main" id="{BD162E77-566A-4D73-9681-8769C017B5EB}"/>
                  </a:ext>
                </a:extLst>
              </p:cNvPr>
              <p:cNvSpPr txBox="1">
                <a:spLocks noRot="1" noChangeAspect="1" noMove="1" noResize="1" noEditPoints="1" noAdjustHandles="1" noChangeArrowheads="1" noChangeShapeType="1" noTextEdit="1"/>
              </p:cNvSpPr>
              <p:nvPr/>
            </p:nvSpPr>
            <p:spPr>
              <a:xfrm>
                <a:off x="7796495" y="1991402"/>
                <a:ext cx="683392" cy="332399"/>
              </a:xfrm>
              <a:prstGeom prst="rect">
                <a:avLst/>
              </a:prstGeom>
              <a:blipFill>
                <a:blip r:embed="rId12"/>
                <a:stretch>
                  <a:fillRect l="-7143" t="-11111" r="-16071" b="-38889"/>
                </a:stretch>
              </a:blipFill>
            </p:spPr>
            <p:txBody>
              <a:bodyPr/>
              <a:lstStyle/>
              <a:p>
                <a:r>
                  <a:rPr lang="en-US">
                    <a:noFill/>
                  </a:rPr>
                  <a:t> </a:t>
                </a:r>
              </a:p>
            </p:txBody>
          </p:sp>
        </mc:Fallback>
      </mc:AlternateContent>
      <p:cxnSp>
        <p:nvCxnSpPr>
          <p:cNvPr id="41" name="Conector recto de flecha 40">
            <a:extLst>
              <a:ext uri="{FF2B5EF4-FFF2-40B4-BE49-F238E27FC236}">
                <a16:creationId xmlns:a16="http://schemas.microsoft.com/office/drawing/2014/main" id="{A45C9F19-7736-413E-9C49-854C3F0C0690}"/>
              </a:ext>
            </a:extLst>
          </p:cNvPr>
          <p:cNvCxnSpPr>
            <a:cxnSpLocks/>
            <a:endCxn id="4" idx="0"/>
          </p:cNvCxnSpPr>
          <p:nvPr/>
        </p:nvCxnSpPr>
        <p:spPr>
          <a:xfrm flipH="1">
            <a:off x="7702842" y="1840053"/>
            <a:ext cx="9430" cy="720355"/>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45" name="Imagen 44">
            <a:extLst>
              <a:ext uri="{FF2B5EF4-FFF2-40B4-BE49-F238E27FC236}">
                <a16:creationId xmlns:a16="http://schemas.microsoft.com/office/drawing/2014/main" id="{B85674FE-B47A-457D-9EEF-7CFF5FCCE859}"/>
              </a:ext>
            </a:extLst>
          </p:cNvPr>
          <p:cNvPicPr>
            <a:picLocks noChangeAspect="1"/>
          </p:cNvPicPr>
          <p:nvPr>
            <p:custDataLst>
              <p:tags r:id="rId1"/>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2733708" y="4838296"/>
            <a:ext cx="2317714" cy="254476"/>
          </a:xfrm>
          <a:prstGeom prst="rect">
            <a:avLst/>
          </a:prstGeom>
        </p:spPr>
      </p:pic>
      <p:sp>
        <p:nvSpPr>
          <p:cNvPr id="47" name="CuadroTexto 46">
            <a:extLst>
              <a:ext uri="{FF2B5EF4-FFF2-40B4-BE49-F238E27FC236}">
                <a16:creationId xmlns:a16="http://schemas.microsoft.com/office/drawing/2014/main" id="{62F9621E-67BF-4725-9996-F94C077D5B7F}"/>
              </a:ext>
            </a:extLst>
          </p:cNvPr>
          <p:cNvSpPr txBox="1"/>
          <p:nvPr/>
        </p:nvSpPr>
        <p:spPr>
          <a:xfrm>
            <a:off x="2383887" y="5715000"/>
            <a:ext cx="6096000" cy="369332"/>
          </a:xfrm>
          <a:prstGeom prst="rect">
            <a:avLst/>
          </a:prstGeom>
          <a:noFill/>
        </p:spPr>
        <p:txBody>
          <a:bodyPr wrap="square">
            <a:spAutoFit/>
          </a:bodyPr>
          <a:lstStyle/>
          <a:p>
            <a:r>
              <a:rPr lang="es-ES">
                <a:solidFill>
                  <a:prstClr val="white"/>
                </a:solidFill>
                <a:latin typeface="Corbel"/>
              </a:rPr>
              <a:t>Independiente del Valor de</a:t>
            </a:r>
            <a:endParaRPr lang="es-419">
              <a:solidFill>
                <a:prstClr val="white"/>
              </a:solidFill>
              <a:latin typeface="Corbel"/>
            </a:endParaRPr>
          </a:p>
        </p:txBody>
      </p:sp>
      <p:pic>
        <p:nvPicPr>
          <p:cNvPr id="53" name="Imagen 52">
            <a:extLst>
              <a:ext uri="{FF2B5EF4-FFF2-40B4-BE49-F238E27FC236}">
                <a16:creationId xmlns:a16="http://schemas.microsoft.com/office/drawing/2014/main" id="{FD5C0E25-0866-4EEB-89C9-796BACE75916}"/>
              </a:ext>
            </a:extLst>
          </p:cNvPr>
          <p:cNvPicPr>
            <a:picLocks noChangeAspect="1"/>
          </p:cNvPicPr>
          <p:nvPr>
            <p:custDataLst>
              <p:tags r:id="rId2"/>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5138604" y="5772428"/>
            <a:ext cx="1034667" cy="254476"/>
          </a:xfrm>
          <a:prstGeom prst="rect">
            <a:avLst/>
          </a:prstGeom>
        </p:spPr>
      </p:pic>
      <p:pic>
        <p:nvPicPr>
          <p:cNvPr id="51" name="Imagen 50">
            <a:extLst>
              <a:ext uri="{FF2B5EF4-FFF2-40B4-BE49-F238E27FC236}">
                <a16:creationId xmlns:a16="http://schemas.microsoft.com/office/drawing/2014/main" id="{AF202D88-3607-421F-BAB7-8DC9E1AD4A55}"/>
              </a:ext>
            </a:extLst>
          </p:cNvPr>
          <p:cNvPicPr>
            <a:picLocks noChangeAspect="1"/>
          </p:cNvPicPr>
          <p:nvPr>
            <p:custDataLst>
              <p:tags r:id="rId3"/>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6698191" y="4815424"/>
            <a:ext cx="1440000" cy="254476"/>
          </a:xfrm>
          <a:prstGeom prst="rect">
            <a:avLst/>
          </a:prstGeom>
        </p:spPr>
      </p:pic>
    </p:spTree>
    <p:extLst>
      <p:ext uri="{BB962C8B-B14F-4D97-AF65-F5344CB8AC3E}">
        <p14:creationId xmlns:p14="http://schemas.microsoft.com/office/powerpoint/2010/main" val="35511931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2" grpId="0"/>
      <p:bldP spid="13" grpId="0"/>
      <p:bldP spid="14" grpId="0"/>
      <p:bldP spid="15" grpId="0"/>
      <p:bldP spid="19" grpId="0" animBg="1"/>
      <p:bldP spid="38" grpId="0"/>
      <p:bldP spid="39" grpId="0"/>
      <p:bldP spid="40" grpId="0"/>
      <p:bldP spid="4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8C2D4-46CE-48FA-8531-6558E85A3F9B}"/>
              </a:ext>
            </a:extLst>
          </p:cNvPr>
          <p:cNvSpPr>
            <a:spLocks noGrp="1"/>
          </p:cNvSpPr>
          <p:nvPr>
            <p:ph type="title"/>
          </p:nvPr>
        </p:nvSpPr>
        <p:spPr/>
        <p:txBody>
          <a:bodyPr/>
          <a:lstStyle/>
          <a:p>
            <a:r>
              <a:rPr lang="es-419"/>
              <a:t>Problema de seguimiento de referencia</a:t>
            </a:r>
          </a:p>
        </p:txBody>
      </p:sp>
      <p:sp>
        <p:nvSpPr>
          <p:cNvPr id="3" name="Marcador de contenido 2">
            <a:extLst>
              <a:ext uri="{FF2B5EF4-FFF2-40B4-BE49-F238E27FC236}">
                <a16:creationId xmlns:a16="http://schemas.microsoft.com/office/drawing/2014/main" id="{0783BD1C-F38C-4C5E-8CBE-202799B8C1EE}"/>
              </a:ext>
            </a:extLst>
          </p:cNvPr>
          <p:cNvSpPr>
            <a:spLocks noGrp="1"/>
          </p:cNvSpPr>
          <p:nvPr>
            <p:ph idx="1"/>
          </p:nvPr>
        </p:nvSpPr>
        <p:spPr/>
        <p:txBody>
          <a:bodyPr/>
          <a:lstStyle/>
          <a:p>
            <a:pPr algn="just"/>
            <a:r>
              <a:rPr lang="es-ES"/>
              <a:t>El control en variables de estado parte del mismo punto de la ecuación en lazo cerrado del espacio de estados cuando le fue aplicada </a:t>
            </a:r>
            <a:r>
              <a:rPr lang="es-ES">
                <a:solidFill>
                  <a:srgbClr val="FFFF00"/>
                </a:solidFill>
              </a:rPr>
              <a:t>una realimentación de estados</a:t>
            </a:r>
            <a:r>
              <a:rPr lang="es-ES"/>
              <a:t>, como visto anteriormente. </a:t>
            </a:r>
          </a:p>
          <a:p>
            <a:pPr algn="just"/>
            <a:r>
              <a:rPr lang="es-ES"/>
              <a:t>En este contexto, para poder seguir una referencia constante existen </a:t>
            </a:r>
            <a:r>
              <a:rPr lang="es-ES">
                <a:solidFill>
                  <a:srgbClr val="FFFF00"/>
                </a:solidFill>
              </a:rPr>
              <a:t>dos estrategias de control </a:t>
            </a:r>
            <a:r>
              <a:rPr lang="es-ES"/>
              <a:t>por realimentación de estados los cuales vamos a presentar a continuación:</a:t>
            </a:r>
          </a:p>
          <a:p>
            <a:pPr algn="just"/>
            <a:r>
              <a:rPr lang="es-ES">
                <a:solidFill>
                  <a:srgbClr val="FFFF00"/>
                </a:solidFill>
              </a:rPr>
              <a:t>1. </a:t>
            </a:r>
            <a:r>
              <a:rPr lang="es-ES" err="1"/>
              <a:t>Pré</a:t>
            </a:r>
            <a:r>
              <a:rPr lang="es-ES"/>
              <a:t>-compensador estático</a:t>
            </a:r>
          </a:p>
          <a:p>
            <a:pPr algn="just"/>
            <a:r>
              <a:rPr lang="es-ES">
                <a:solidFill>
                  <a:srgbClr val="FFFF00"/>
                </a:solidFill>
              </a:rPr>
              <a:t>2</a:t>
            </a:r>
            <a:r>
              <a:rPr lang="es-ES"/>
              <a:t>. Inclusión de un integrador  en el lazo directo</a:t>
            </a:r>
            <a:endParaRPr lang="es-419"/>
          </a:p>
        </p:txBody>
      </p:sp>
    </p:spTree>
    <p:extLst>
      <p:ext uri="{BB962C8B-B14F-4D97-AF65-F5344CB8AC3E}">
        <p14:creationId xmlns:p14="http://schemas.microsoft.com/office/powerpoint/2010/main" val="15551296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B2338D-7ECA-488C-B895-8C750F17B645}"/>
              </a:ext>
            </a:extLst>
          </p:cNvPr>
          <p:cNvSpPr>
            <a:spLocks noGrp="1"/>
          </p:cNvSpPr>
          <p:nvPr>
            <p:ph type="title"/>
          </p:nvPr>
        </p:nvSpPr>
        <p:spPr/>
        <p:txBody>
          <a:bodyPr/>
          <a:lstStyle/>
          <a:p>
            <a:r>
              <a:rPr lang="es-ES" err="1"/>
              <a:t>Pré</a:t>
            </a:r>
            <a:r>
              <a:rPr lang="es-ES"/>
              <a:t>-compensador estático</a:t>
            </a:r>
            <a:endParaRPr lang="es-419"/>
          </a:p>
        </p:txBody>
      </p:sp>
      <p:sp>
        <p:nvSpPr>
          <p:cNvPr id="3" name="Marcador de contenido 2">
            <a:extLst>
              <a:ext uri="{FF2B5EF4-FFF2-40B4-BE49-F238E27FC236}">
                <a16:creationId xmlns:a16="http://schemas.microsoft.com/office/drawing/2014/main" id="{D32A1AAC-6081-41E5-803E-7DE8063648DC}"/>
              </a:ext>
            </a:extLst>
          </p:cNvPr>
          <p:cNvSpPr>
            <a:spLocks noGrp="1"/>
          </p:cNvSpPr>
          <p:nvPr>
            <p:ph idx="1"/>
          </p:nvPr>
        </p:nvSpPr>
        <p:spPr>
          <a:xfrm>
            <a:off x="990600" y="5701234"/>
            <a:ext cx="10439400" cy="1141284"/>
          </a:xfrm>
        </p:spPr>
        <p:txBody>
          <a:bodyPr>
            <a:normAutofit fontScale="92500" lnSpcReduction="20000"/>
          </a:bodyPr>
          <a:lstStyle/>
          <a:p>
            <a:r>
              <a:rPr lang="es-ES"/>
              <a:t>Esta es una solución simple para</a:t>
            </a:r>
            <a:r>
              <a:rPr lang="es-ES">
                <a:solidFill>
                  <a:srgbClr val="FFFF00"/>
                </a:solidFill>
              </a:rPr>
              <a:t> forzar </a:t>
            </a:r>
            <a:r>
              <a:rPr lang="es-ES"/>
              <a:t>que </a:t>
            </a:r>
            <a:r>
              <a:rPr lang="es-ES">
                <a:solidFill>
                  <a:srgbClr val="FFFF00"/>
                </a:solidFill>
              </a:rPr>
              <a:t>la salida sea igual que la entrada </a:t>
            </a:r>
            <a:r>
              <a:rPr lang="es-ES"/>
              <a:t>incluyendo </a:t>
            </a:r>
            <a:r>
              <a:rPr lang="es-ES">
                <a:solidFill>
                  <a:srgbClr val="FFFF00"/>
                </a:solidFill>
              </a:rPr>
              <a:t>un termino constante</a:t>
            </a:r>
            <a:r>
              <a:rPr lang="es-ES"/>
              <a:t> en la entrada de la realimentación de estados en lazo cerrado para lograr que la salida sea igual a la entrada en régimen permanente de nuestro sistema en variables de estado.</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F65C106F-7DD3-4224-92F3-19B389F01CDE}"/>
                  </a:ext>
                </a:extLst>
              </p:cNvPr>
              <p:cNvSpPr/>
              <p:nvPr/>
            </p:nvSpPr>
            <p:spPr>
              <a:xfrm>
                <a:off x="5109131"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𝑩</m:t>
                      </m:r>
                    </m:oMath>
                  </m:oMathPara>
                </a14:m>
                <a:endParaRPr lang="es-419" sz="2800" b="1">
                  <a:solidFill>
                    <a:prstClr val="white"/>
                  </a:solidFill>
                  <a:latin typeface="Corbel"/>
                </a:endParaRPr>
              </a:p>
            </p:txBody>
          </p:sp>
        </mc:Choice>
        <mc:Fallback>
          <p:sp>
            <p:nvSpPr>
              <p:cNvPr id="4" name="Rectángulo 3">
                <a:extLst>
                  <a:ext uri="{FF2B5EF4-FFF2-40B4-BE49-F238E27FC236}">
                    <a16:creationId xmlns:a16="http://schemas.microsoft.com/office/drawing/2014/main" id="{F65C106F-7DD3-4224-92F3-19B389F01CDE}"/>
                  </a:ext>
                </a:extLst>
              </p:cNvPr>
              <p:cNvSpPr>
                <a:spLocks noRot="1" noChangeAspect="1" noMove="1" noResize="1" noEditPoints="1" noAdjustHandles="1" noChangeArrowheads="1" noChangeShapeType="1" noTextEdit="1"/>
              </p:cNvSpPr>
              <p:nvPr/>
            </p:nvSpPr>
            <p:spPr>
              <a:xfrm>
                <a:off x="5109131" y="2247414"/>
                <a:ext cx="609600" cy="609600"/>
              </a:xfrm>
              <a:prstGeom prst="rect">
                <a:avLst/>
              </a:prstGeom>
              <a:blipFill>
                <a:blip r:embed="rId2"/>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896B1AA8-CC19-4561-BB61-EA6C3167BC2B}"/>
              </a:ext>
            </a:extLst>
          </p:cNvPr>
          <p:cNvCxnSpPr>
            <a:cxnSpLocks/>
            <a:stCxn id="4" idx="3"/>
            <a:endCxn id="7" idx="2"/>
          </p:cNvCxnSpPr>
          <p:nvPr/>
        </p:nvCxnSpPr>
        <p:spPr>
          <a:xfrm>
            <a:off x="5718731" y="2552214"/>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ángulo 5">
                <a:extLst>
                  <a:ext uri="{FF2B5EF4-FFF2-40B4-BE49-F238E27FC236}">
                    <a16:creationId xmlns:a16="http://schemas.microsoft.com/office/drawing/2014/main" id="{4EF4C6D3-3477-4833-87AC-34E9B923F530}"/>
                  </a:ext>
                </a:extLst>
              </p:cNvPr>
              <p:cNvSpPr/>
              <p:nvPr/>
            </p:nvSpPr>
            <p:spPr>
              <a:xfrm>
                <a:off x="7721574" y="2162659"/>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6" name="Rectángulo 5">
                <a:extLst>
                  <a:ext uri="{FF2B5EF4-FFF2-40B4-BE49-F238E27FC236}">
                    <a16:creationId xmlns:a16="http://schemas.microsoft.com/office/drawing/2014/main" id="{4EF4C6D3-3477-4833-87AC-34E9B923F530}"/>
                  </a:ext>
                </a:extLst>
              </p:cNvPr>
              <p:cNvSpPr>
                <a:spLocks noRot="1" noChangeAspect="1" noMove="1" noResize="1" noEditPoints="1" noAdjustHandles="1" noChangeArrowheads="1" noChangeShapeType="1" noTextEdit="1"/>
              </p:cNvSpPr>
              <p:nvPr/>
            </p:nvSpPr>
            <p:spPr>
              <a:xfrm>
                <a:off x="7721574" y="2162659"/>
                <a:ext cx="609600" cy="792122"/>
              </a:xfrm>
              <a:prstGeom prst="rect">
                <a:avLst/>
              </a:prstGeom>
              <a:blipFill>
                <a:blip r:embed="rId3"/>
                <a:stretch>
                  <a:fillRect/>
                </a:stretch>
              </a:blipFill>
              <a:ln w="57150">
                <a:solidFill>
                  <a:schemeClr val="tx1"/>
                </a:solidFill>
                <a:miter lim="800000"/>
              </a:ln>
            </p:spPr>
            <p:txBody>
              <a:bodyPr/>
              <a:lstStyle/>
              <a:p>
                <a:r>
                  <a:rPr lang="en-US">
                    <a:noFill/>
                  </a:rPr>
                  <a:t> </a:t>
                </a:r>
              </a:p>
            </p:txBody>
          </p:sp>
        </mc:Fallback>
      </mc:AlternateContent>
      <p:sp>
        <p:nvSpPr>
          <p:cNvPr id="7" name="Elipse 6">
            <a:extLst>
              <a:ext uri="{FF2B5EF4-FFF2-40B4-BE49-F238E27FC236}">
                <a16:creationId xmlns:a16="http://schemas.microsoft.com/office/drawing/2014/main" id="{881B6C19-F2D7-43B0-920C-DE2B5D24349A}"/>
              </a:ext>
            </a:extLst>
          </p:cNvPr>
          <p:cNvSpPr/>
          <p:nvPr/>
        </p:nvSpPr>
        <p:spPr>
          <a:xfrm>
            <a:off x="6132649"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EDEBDE1C-EDDF-4DEB-9B82-C039244A432B}"/>
                  </a:ext>
                </a:extLst>
              </p:cNvPr>
              <p:cNvSpPr/>
              <p:nvPr/>
            </p:nvSpPr>
            <p:spPr>
              <a:xfrm>
                <a:off x="9419617"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𝑪</m:t>
                      </m:r>
                    </m:oMath>
                  </m:oMathPara>
                </a14:m>
                <a:endParaRPr lang="es-419" sz="2800" b="1">
                  <a:solidFill>
                    <a:prstClr val="white"/>
                  </a:solidFill>
                  <a:latin typeface="Corbel"/>
                </a:endParaRPr>
              </a:p>
            </p:txBody>
          </p:sp>
        </mc:Choice>
        <mc:Fallback>
          <p:sp>
            <p:nvSpPr>
              <p:cNvPr id="8" name="Rectángulo 7">
                <a:extLst>
                  <a:ext uri="{FF2B5EF4-FFF2-40B4-BE49-F238E27FC236}">
                    <a16:creationId xmlns:a16="http://schemas.microsoft.com/office/drawing/2014/main" id="{EDEBDE1C-EDDF-4DEB-9B82-C039244A432B}"/>
                  </a:ext>
                </a:extLst>
              </p:cNvPr>
              <p:cNvSpPr>
                <a:spLocks noRot="1" noChangeAspect="1" noMove="1" noResize="1" noEditPoints="1" noAdjustHandles="1" noChangeArrowheads="1" noChangeShapeType="1" noTextEdit="1"/>
              </p:cNvSpPr>
              <p:nvPr/>
            </p:nvSpPr>
            <p:spPr>
              <a:xfrm>
                <a:off x="9419617" y="2247414"/>
                <a:ext cx="609600" cy="609600"/>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8640126F-3398-4E83-BA13-E83FB6F2B3A5}"/>
                  </a:ext>
                </a:extLst>
              </p:cNvPr>
              <p:cNvSpPr/>
              <p:nvPr/>
            </p:nvSpPr>
            <p:spPr>
              <a:xfrm>
                <a:off x="7086599" y="340494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𝑨</m:t>
                      </m:r>
                    </m:oMath>
                  </m:oMathPara>
                </a14:m>
                <a:endParaRPr lang="es-419" sz="2800" b="1">
                  <a:solidFill>
                    <a:prstClr val="white"/>
                  </a:solidFill>
                  <a:latin typeface="Corbel"/>
                </a:endParaRPr>
              </a:p>
            </p:txBody>
          </p:sp>
        </mc:Choice>
        <mc:Fallback>
          <p:sp>
            <p:nvSpPr>
              <p:cNvPr id="9" name="Rectángulo 8">
                <a:extLst>
                  <a:ext uri="{FF2B5EF4-FFF2-40B4-BE49-F238E27FC236}">
                    <a16:creationId xmlns:a16="http://schemas.microsoft.com/office/drawing/2014/main" id="{8640126F-3398-4E83-BA13-E83FB6F2B3A5}"/>
                  </a:ext>
                </a:extLst>
              </p:cNvPr>
              <p:cNvSpPr>
                <a:spLocks noRot="1" noChangeAspect="1" noMove="1" noResize="1" noEditPoints="1" noAdjustHandles="1" noChangeArrowheads="1" noChangeShapeType="1" noTextEdit="1"/>
              </p:cNvSpPr>
              <p:nvPr/>
            </p:nvSpPr>
            <p:spPr>
              <a:xfrm>
                <a:off x="7086599" y="3404944"/>
                <a:ext cx="609600" cy="609600"/>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p:cxnSp>
        <p:nvCxnSpPr>
          <p:cNvPr id="10" name="Conector recto de flecha 9">
            <a:extLst>
              <a:ext uri="{FF2B5EF4-FFF2-40B4-BE49-F238E27FC236}">
                <a16:creationId xmlns:a16="http://schemas.microsoft.com/office/drawing/2014/main" id="{89DCE4AF-0DE7-4A95-BB35-C1D8216711FE}"/>
              </a:ext>
            </a:extLst>
          </p:cNvPr>
          <p:cNvCxnSpPr>
            <a:cxnSpLocks/>
            <a:stCxn id="7" idx="6"/>
            <a:endCxn id="6" idx="1"/>
          </p:cNvCxnSpPr>
          <p:nvPr/>
        </p:nvCxnSpPr>
        <p:spPr>
          <a:xfrm>
            <a:off x="6666050" y="2552214"/>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7AA6EB12-4D90-4069-93E4-CFFEF8102C3D}"/>
              </a:ext>
            </a:extLst>
          </p:cNvPr>
          <p:cNvCxnSpPr>
            <a:cxnSpLocks/>
            <a:stCxn id="6" idx="3"/>
            <a:endCxn id="8" idx="1"/>
          </p:cNvCxnSpPr>
          <p:nvPr/>
        </p:nvCxnSpPr>
        <p:spPr>
          <a:xfrm flipV="1">
            <a:off x="8331175" y="2552214"/>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angular 11">
            <a:extLst>
              <a:ext uri="{FF2B5EF4-FFF2-40B4-BE49-F238E27FC236}">
                <a16:creationId xmlns:a16="http://schemas.microsoft.com/office/drawing/2014/main" id="{72F5F796-44A0-4BF0-9EE8-C7F43B65A55B}"/>
              </a:ext>
            </a:extLst>
          </p:cNvPr>
          <p:cNvCxnSpPr>
            <a:cxnSpLocks/>
            <a:endCxn id="9" idx="3"/>
          </p:cNvCxnSpPr>
          <p:nvPr/>
        </p:nvCxnSpPr>
        <p:spPr>
          <a:xfrm rot="5400000">
            <a:off x="7664909" y="2590012"/>
            <a:ext cx="1151024" cy="1088443"/>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angular 13">
            <a:extLst>
              <a:ext uri="{FF2B5EF4-FFF2-40B4-BE49-F238E27FC236}">
                <a16:creationId xmlns:a16="http://schemas.microsoft.com/office/drawing/2014/main" id="{243595FD-F2D5-444B-8170-5F506F62CC83}"/>
              </a:ext>
            </a:extLst>
          </p:cNvPr>
          <p:cNvCxnSpPr>
            <a:cxnSpLocks/>
            <a:stCxn id="9" idx="1"/>
            <a:endCxn id="7" idx="4"/>
          </p:cNvCxnSpPr>
          <p:nvPr/>
        </p:nvCxnSpPr>
        <p:spPr>
          <a:xfrm rot="10800000">
            <a:off x="6399349" y="2818914"/>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EA17AD68-2028-48E3-B629-D4FD3F4F6264}"/>
                  </a:ext>
                </a:extLst>
              </p:cNvPr>
              <p:cNvSpPr txBox="1"/>
              <p:nvPr/>
            </p:nvSpPr>
            <p:spPr>
              <a:xfrm>
                <a:off x="6827182" y="2027099"/>
                <a:ext cx="312200" cy="501804"/>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15" name="CuadroTexto 14">
                <a:extLst>
                  <a:ext uri="{FF2B5EF4-FFF2-40B4-BE49-F238E27FC236}">
                    <a16:creationId xmlns:a16="http://schemas.microsoft.com/office/drawing/2014/main" id="{EA17AD68-2028-48E3-B629-D4FD3F4F6264}"/>
                  </a:ext>
                </a:extLst>
              </p:cNvPr>
              <p:cNvSpPr txBox="1">
                <a:spLocks noRot="1" noChangeAspect="1" noMove="1" noResize="1" noEditPoints="1" noAdjustHandles="1" noChangeArrowheads="1" noChangeShapeType="1" noTextEdit="1"/>
              </p:cNvSpPr>
              <p:nvPr/>
            </p:nvSpPr>
            <p:spPr>
              <a:xfrm>
                <a:off x="6827182" y="2027099"/>
                <a:ext cx="312200" cy="501804"/>
              </a:xfrm>
              <a:prstGeom prst="rect">
                <a:avLst/>
              </a:prstGeom>
              <a:blipFill>
                <a:blip r:embed="rId6"/>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56A2C412-2A6A-46B2-AD34-BC8C8F4F7036}"/>
                  </a:ext>
                </a:extLst>
              </p:cNvPr>
              <p:cNvSpPr txBox="1"/>
              <p:nvPr/>
            </p:nvSpPr>
            <p:spPr>
              <a:xfrm>
                <a:off x="8619555" y="2115522"/>
                <a:ext cx="312200"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16" name="CuadroTexto 15">
                <a:extLst>
                  <a:ext uri="{FF2B5EF4-FFF2-40B4-BE49-F238E27FC236}">
                    <a16:creationId xmlns:a16="http://schemas.microsoft.com/office/drawing/2014/main" id="{56A2C412-2A6A-46B2-AD34-BC8C8F4F7036}"/>
                  </a:ext>
                </a:extLst>
              </p:cNvPr>
              <p:cNvSpPr txBox="1">
                <a:spLocks noRot="1" noChangeAspect="1" noMove="1" noResize="1" noEditPoints="1" noAdjustHandles="1" noChangeArrowheads="1" noChangeShapeType="1" noTextEdit="1"/>
              </p:cNvSpPr>
              <p:nvPr/>
            </p:nvSpPr>
            <p:spPr>
              <a:xfrm>
                <a:off x="8619555" y="2115522"/>
                <a:ext cx="312200" cy="44319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E4A40124-3054-46EE-B5C6-3A807CDE3E2F}"/>
                  </a:ext>
                </a:extLst>
              </p:cNvPr>
              <p:cNvSpPr txBox="1"/>
              <p:nvPr/>
            </p:nvSpPr>
            <p:spPr>
              <a:xfrm>
                <a:off x="10503032" y="2092699"/>
                <a:ext cx="23769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17" name="CuadroTexto 16">
                <a:extLst>
                  <a:ext uri="{FF2B5EF4-FFF2-40B4-BE49-F238E27FC236}">
                    <a16:creationId xmlns:a16="http://schemas.microsoft.com/office/drawing/2014/main" id="{E4A40124-3054-46EE-B5C6-3A807CDE3E2F}"/>
                  </a:ext>
                </a:extLst>
              </p:cNvPr>
              <p:cNvSpPr txBox="1">
                <a:spLocks noRot="1" noChangeAspect="1" noMove="1" noResize="1" noEditPoints="1" noAdjustHandles="1" noChangeArrowheads="1" noChangeShapeType="1" noTextEdit="1"/>
              </p:cNvSpPr>
              <p:nvPr/>
            </p:nvSpPr>
            <p:spPr>
              <a:xfrm>
                <a:off x="10503032" y="2092699"/>
                <a:ext cx="237693" cy="332399"/>
              </a:xfrm>
              <a:prstGeom prst="rect">
                <a:avLst/>
              </a:prstGeom>
              <a:blipFill>
                <a:blip r:embed="rId8"/>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D528D181-40CA-403F-BAB8-40C15BFB8B8B}"/>
                  </a:ext>
                </a:extLst>
              </p:cNvPr>
              <p:cNvSpPr txBox="1"/>
              <p:nvPr/>
            </p:nvSpPr>
            <p:spPr>
              <a:xfrm>
                <a:off x="4458836" y="2142782"/>
                <a:ext cx="24506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18" name="CuadroTexto 17">
                <a:extLst>
                  <a:ext uri="{FF2B5EF4-FFF2-40B4-BE49-F238E27FC236}">
                    <a16:creationId xmlns:a16="http://schemas.microsoft.com/office/drawing/2014/main" id="{D528D181-40CA-403F-BAB8-40C15BFB8B8B}"/>
                  </a:ext>
                </a:extLst>
              </p:cNvPr>
              <p:cNvSpPr txBox="1">
                <a:spLocks noRot="1" noChangeAspect="1" noMove="1" noResize="1" noEditPoints="1" noAdjustHandles="1" noChangeArrowheads="1" noChangeShapeType="1" noTextEdit="1"/>
              </p:cNvSpPr>
              <p:nvPr/>
            </p:nvSpPr>
            <p:spPr>
              <a:xfrm>
                <a:off x="4458836" y="2142782"/>
                <a:ext cx="245067" cy="332399"/>
              </a:xfrm>
              <a:prstGeom prst="rect">
                <a:avLst/>
              </a:prstGeom>
              <a:blipFill>
                <a:blip r:embed="rId9"/>
                <a:stretch>
                  <a:fillRect l="-17073" r="-14634"/>
                </a:stretch>
              </a:blipFill>
            </p:spPr>
            <p:txBody>
              <a:bodyPr/>
              <a:lstStyle/>
              <a:p>
                <a:r>
                  <a:rPr lang="en-US">
                    <a:noFill/>
                  </a:rPr>
                  <a:t> </a:t>
                </a:r>
              </a:p>
            </p:txBody>
          </p:sp>
        </mc:Fallback>
      </mc:AlternateContent>
      <p:sp>
        <p:nvSpPr>
          <p:cNvPr id="19" name="Rectángulo 18">
            <a:extLst>
              <a:ext uri="{FF2B5EF4-FFF2-40B4-BE49-F238E27FC236}">
                <a16:creationId xmlns:a16="http://schemas.microsoft.com/office/drawing/2014/main" id="{D82690A1-EF86-4311-B0B1-8632ED13B415}"/>
              </a:ext>
            </a:extLst>
          </p:cNvPr>
          <p:cNvSpPr/>
          <p:nvPr/>
        </p:nvSpPr>
        <p:spPr>
          <a:xfrm>
            <a:off x="4804331" y="1851355"/>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20" name="CuadroTexto 19">
            <a:extLst>
              <a:ext uri="{FF2B5EF4-FFF2-40B4-BE49-F238E27FC236}">
                <a16:creationId xmlns:a16="http://schemas.microsoft.com/office/drawing/2014/main" id="{E1E6528B-383E-489F-8768-57184563603B}"/>
              </a:ext>
            </a:extLst>
          </p:cNvPr>
          <p:cNvSpPr txBox="1"/>
          <p:nvPr/>
        </p:nvSpPr>
        <p:spPr>
          <a:xfrm>
            <a:off x="4803063" y="3840278"/>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mc:AlternateContent xmlns:mc="http://schemas.openxmlformats.org/markup-compatibility/2006">
        <mc:Choice xmlns:a14="http://schemas.microsoft.com/office/drawing/2010/main" Requires="a14">
          <p:sp>
            <p:nvSpPr>
              <p:cNvPr id="21" name="Rectángulo 20">
                <a:extLst>
                  <a:ext uri="{FF2B5EF4-FFF2-40B4-BE49-F238E27FC236}">
                    <a16:creationId xmlns:a16="http://schemas.microsoft.com/office/drawing/2014/main" id="{451EE971-73AE-4BDA-B22D-FEDE9B1DC3A7}"/>
                  </a:ext>
                </a:extLst>
              </p:cNvPr>
              <p:cNvSpPr/>
              <p:nvPr/>
            </p:nvSpPr>
            <p:spPr>
              <a:xfrm>
                <a:off x="6827183" y="4810402"/>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𝑲</m:t>
                      </m:r>
                    </m:oMath>
                  </m:oMathPara>
                </a14:m>
                <a:endParaRPr lang="es-419" sz="2800" b="1">
                  <a:solidFill>
                    <a:prstClr val="white"/>
                  </a:solidFill>
                  <a:latin typeface="Corbel"/>
                </a:endParaRPr>
              </a:p>
            </p:txBody>
          </p:sp>
        </mc:Choice>
        <mc:Fallback>
          <p:sp>
            <p:nvSpPr>
              <p:cNvPr id="21" name="Rectángulo 20">
                <a:extLst>
                  <a:ext uri="{FF2B5EF4-FFF2-40B4-BE49-F238E27FC236}">
                    <a16:creationId xmlns:a16="http://schemas.microsoft.com/office/drawing/2014/main" id="{451EE971-73AE-4BDA-B22D-FEDE9B1DC3A7}"/>
                  </a:ext>
                </a:extLst>
              </p:cNvPr>
              <p:cNvSpPr>
                <a:spLocks noRot="1" noChangeAspect="1" noMove="1" noResize="1" noEditPoints="1" noAdjustHandles="1" noChangeArrowheads="1" noChangeShapeType="1" noTextEdit="1"/>
              </p:cNvSpPr>
              <p:nvPr/>
            </p:nvSpPr>
            <p:spPr>
              <a:xfrm>
                <a:off x="6827183" y="4810402"/>
                <a:ext cx="869017" cy="609600"/>
              </a:xfrm>
              <a:prstGeom prst="rect">
                <a:avLst/>
              </a:prstGeom>
              <a:blipFill>
                <a:blip r:embed="rId10"/>
                <a:stretch>
                  <a:fillRect/>
                </a:stretch>
              </a:blipFill>
              <a:ln w="57150">
                <a:solidFill>
                  <a:schemeClr val="tx1"/>
                </a:solidFill>
                <a:miter lim="800000"/>
              </a:ln>
            </p:spPr>
            <p:txBody>
              <a:bodyPr/>
              <a:lstStyle/>
              <a:p>
                <a:r>
                  <a:rPr lang="en-US">
                    <a:noFill/>
                  </a:rPr>
                  <a:t> </a:t>
                </a:r>
              </a:p>
            </p:txBody>
          </p:sp>
        </mc:Fallback>
      </mc:AlternateContent>
      <p:cxnSp>
        <p:nvCxnSpPr>
          <p:cNvPr id="22" name="Conector: angular 21">
            <a:extLst>
              <a:ext uri="{FF2B5EF4-FFF2-40B4-BE49-F238E27FC236}">
                <a16:creationId xmlns:a16="http://schemas.microsoft.com/office/drawing/2014/main" id="{BDB5F51B-C3BA-4412-95AE-E808F2F3A07F}"/>
              </a:ext>
            </a:extLst>
          </p:cNvPr>
          <p:cNvCxnSpPr>
            <a:cxnSpLocks/>
            <a:endCxn id="21" idx="3"/>
          </p:cNvCxnSpPr>
          <p:nvPr/>
        </p:nvCxnSpPr>
        <p:spPr>
          <a:xfrm rot="5400000">
            <a:off x="7549723" y="3880278"/>
            <a:ext cx="1381402" cy="1088449"/>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90C98154-6BF6-48E1-B593-66156C89A45E}"/>
              </a:ext>
            </a:extLst>
          </p:cNvPr>
          <p:cNvSpPr/>
          <p:nvPr/>
        </p:nvSpPr>
        <p:spPr>
          <a:xfrm>
            <a:off x="3875221"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68EF9EA0-E9B4-4C15-943E-88BD7DC9AFC8}"/>
                  </a:ext>
                </a:extLst>
              </p:cNvPr>
              <p:cNvSpPr txBox="1"/>
              <p:nvPr/>
            </p:nvSpPr>
            <p:spPr>
              <a:xfrm>
                <a:off x="1656681" y="2034217"/>
                <a:ext cx="213520"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oMath>
                  </m:oMathPara>
                </a14:m>
                <a:endParaRPr lang="es-419" sz="3200">
                  <a:solidFill>
                    <a:prstClr val="white"/>
                  </a:solidFill>
                  <a:latin typeface="Corbel"/>
                </a:endParaRPr>
              </a:p>
            </p:txBody>
          </p:sp>
        </mc:Choice>
        <mc:Fallback>
          <p:sp>
            <p:nvSpPr>
              <p:cNvPr id="27" name="CuadroTexto 26">
                <a:extLst>
                  <a:ext uri="{FF2B5EF4-FFF2-40B4-BE49-F238E27FC236}">
                    <a16:creationId xmlns:a16="http://schemas.microsoft.com/office/drawing/2014/main" id="{68EF9EA0-E9B4-4C15-943E-88BD7DC9AFC8}"/>
                  </a:ext>
                </a:extLst>
              </p:cNvPr>
              <p:cNvSpPr txBox="1">
                <a:spLocks noRot="1" noChangeAspect="1" noMove="1" noResize="1" noEditPoints="1" noAdjustHandles="1" noChangeArrowheads="1" noChangeShapeType="1" noTextEdit="1"/>
              </p:cNvSpPr>
              <p:nvPr/>
            </p:nvSpPr>
            <p:spPr>
              <a:xfrm>
                <a:off x="1656681" y="2034217"/>
                <a:ext cx="213520" cy="332399"/>
              </a:xfrm>
              <a:prstGeom prst="rect">
                <a:avLst/>
              </a:prstGeom>
              <a:blipFill>
                <a:blip r:embed="rId11"/>
                <a:stretch>
                  <a:fillRect l="-22857" r="-1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778EF9AF-1AAE-41EB-9D2C-795030F82F04}"/>
                  </a:ext>
                </a:extLst>
              </p:cNvPr>
              <p:cNvSpPr txBox="1"/>
              <p:nvPr/>
            </p:nvSpPr>
            <p:spPr>
              <a:xfrm>
                <a:off x="3994704" y="2550499"/>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8" name="CuadroTexto 27">
                <a:extLst>
                  <a:ext uri="{FF2B5EF4-FFF2-40B4-BE49-F238E27FC236}">
                    <a16:creationId xmlns:a16="http://schemas.microsoft.com/office/drawing/2014/main" id="{778EF9AF-1AAE-41EB-9D2C-795030F82F04}"/>
                  </a:ext>
                </a:extLst>
              </p:cNvPr>
              <p:cNvSpPr txBox="1">
                <a:spLocks noRot="1" noChangeAspect="1" noMove="1" noResize="1" noEditPoints="1" noAdjustHandles="1" noChangeArrowheads="1" noChangeShapeType="1" noTextEdit="1"/>
              </p:cNvSpPr>
              <p:nvPr/>
            </p:nvSpPr>
            <p:spPr>
              <a:xfrm>
                <a:off x="3994704" y="2550499"/>
                <a:ext cx="290143" cy="332399"/>
              </a:xfrm>
              <a:prstGeom prst="rect">
                <a:avLst/>
              </a:prstGeom>
              <a:blipFill>
                <a:blip r:embed="rId12"/>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CuadroTexto 28">
                <a:extLst>
                  <a:ext uri="{FF2B5EF4-FFF2-40B4-BE49-F238E27FC236}">
                    <a16:creationId xmlns:a16="http://schemas.microsoft.com/office/drawing/2014/main" id="{6F5DD19C-4D01-4410-8B17-A3AB5C5D4059}"/>
                  </a:ext>
                </a:extLst>
              </p:cNvPr>
              <p:cNvSpPr txBox="1"/>
              <p:nvPr/>
            </p:nvSpPr>
            <p:spPr>
              <a:xfrm>
                <a:off x="3863404" y="2384300"/>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9" name="CuadroTexto 28">
                <a:extLst>
                  <a:ext uri="{FF2B5EF4-FFF2-40B4-BE49-F238E27FC236}">
                    <a16:creationId xmlns:a16="http://schemas.microsoft.com/office/drawing/2014/main" id="{6F5DD19C-4D01-4410-8B17-A3AB5C5D4059}"/>
                  </a:ext>
                </a:extLst>
              </p:cNvPr>
              <p:cNvSpPr txBox="1">
                <a:spLocks noRot="1" noChangeAspect="1" noMove="1" noResize="1" noEditPoints="1" noAdjustHandles="1" noChangeArrowheads="1" noChangeShapeType="1" noTextEdit="1"/>
              </p:cNvSpPr>
              <p:nvPr/>
            </p:nvSpPr>
            <p:spPr>
              <a:xfrm>
                <a:off x="3863404" y="2384300"/>
                <a:ext cx="290143" cy="332399"/>
              </a:xfrm>
              <a:prstGeom prst="rect">
                <a:avLst/>
              </a:prstGeom>
              <a:blipFill>
                <a:blip r:embed="rId13"/>
                <a:stretch>
                  <a:fillRect l="-23404" r="-23404"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Rectángulo 30">
                <a:extLst>
                  <a:ext uri="{FF2B5EF4-FFF2-40B4-BE49-F238E27FC236}">
                    <a16:creationId xmlns:a16="http://schemas.microsoft.com/office/drawing/2014/main" id="{691889A9-8E4B-4087-98F3-916D9E3F7C67}"/>
                  </a:ext>
                </a:extLst>
              </p:cNvPr>
              <p:cNvSpPr/>
              <p:nvPr/>
            </p:nvSpPr>
            <p:spPr>
              <a:xfrm>
                <a:off x="2294448"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𝑯</m:t>
                      </m:r>
                    </m:oMath>
                  </m:oMathPara>
                </a14:m>
                <a:endParaRPr lang="es-419" sz="2800" b="1">
                  <a:solidFill>
                    <a:prstClr val="white"/>
                  </a:solidFill>
                  <a:latin typeface="Corbel"/>
                </a:endParaRPr>
              </a:p>
            </p:txBody>
          </p:sp>
        </mc:Choice>
        <mc:Fallback>
          <p:sp>
            <p:nvSpPr>
              <p:cNvPr id="31" name="Rectángulo 30">
                <a:extLst>
                  <a:ext uri="{FF2B5EF4-FFF2-40B4-BE49-F238E27FC236}">
                    <a16:creationId xmlns:a16="http://schemas.microsoft.com/office/drawing/2014/main" id="{691889A9-8E4B-4087-98F3-916D9E3F7C67}"/>
                  </a:ext>
                </a:extLst>
              </p:cNvPr>
              <p:cNvSpPr>
                <a:spLocks noRot="1" noChangeAspect="1" noMove="1" noResize="1" noEditPoints="1" noAdjustHandles="1" noChangeArrowheads="1" noChangeShapeType="1" noTextEdit="1"/>
              </p:cNvSpPr>
              <p:nvPr/>
            </p:nvSpPr>
            <p:spPr>
              <a:xfrm>
                <a:off x="2294448" y="2247414"/>
                <a:ext cx="609600" cy="609600"/>
              </a:xfrm>
              <a:prstGeom prst="rect">
                <a:avLst/>
              </a:prstGeom>
              <a:blipFill>
                <a:blip r:embed="rId14"/>
                <a:stretch>
                  <a:fillRect/>
                </a:stretch>
              </a:blipFill>
              <a:ln w="57150">
                <a:solidFill>
                  <a:schemeClr val="tx1"/>
                </a:solidFill>
                <a:miter lim="800000"/>
              </a:ln>
            </p:spPr>
            <p:txBody>
              <a:bodyPr/>
              <a:lstStyle/>
              <a:p>
                <a:r>
                  <a:rPr lang="en-US">
                    <a:noFill/>
                  </a:rPr>
                  <a:t> </a:t>
                </a:r>
              </a:p>
            </p:txBody>
          </p:sp>
        </mc:Fallback>
      </mc:AlternateContent>
      <p:cxnSp>
        <p:nvCxnSpPr>
          <p:cNvPr id="38" name="Conector: angular 37">
            <a:extLst>
              <a:ext uri="{FF2B5EF4-FFF2-40B4-BE49-F238E27FC236}">
                <a16:creationId xmlns:a16="http://schemas.microsoft.com/office/drawing/2014/main" id="{C8C3E70B-ADFF-40D2-B044-07AEC03C0F50}"/>
              </a:ext>
            </a:extLst>
          </p:cNvPr>
          <p:cNvCxnSpPr>
            <a:cxnSpLocks/>
            <a:stCxn id="21" idx="1"/>
            <a:endCxn id="28" idx="2"/>
          </p:cNvCxnSpPr>
          <p:nvPr/>
        </p:nvCxnSpPr>
        <p:spPr>
          <a:xfrm rot="10800000">
            <a:off x="4139777" y="2882899"/>
            <a:ext cx="2687407" cy="2232305"/>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4346A482-5399-4ED6-9A00-588CEE249E8F}"/>
              </a:ext>
            </a:extLst>
          </p:cNvPr>
          <p:cNvCxnSpPr>
            <a:cxnSpLocks/>
            <a:stCxn id="8" idx="3"/>
          </p:cNvCxnSpPr>
          <p:nvPr/>
        </p:nvCxnSpPr>
        <p:spPr>
          <a:xfrm>
            <a:off x="10029218" y="2552215"/>
            <a:ext cx="1553183" cy="16053"/>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AFDEAF3E-BC78-477F-825A-438FF2486EA8}"/>
              </a:ext>
            </a:extLst>
          </p:cNvPr>
          <p:cNvCxnSpPr>
            <a:cxnSpLocks/>
            <a:stCxn id="31" idx="3"/>
            <a:endCxn id="29" idx="1"/>
          </p:cNvCxnSpPr>
          <p:nvPr/>
        </p:nvCxnSpPr>
        <p:spPr>
          <a:xfrm flipV="1">
            <a:off x="2904049" y="2550500"/>
            <a:ext cx="959355" cy="1715"/>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A53616B-1A07-4C55-83CC-2FE263A4C8AE}"/>
              </a:ext>
            </a:extLst>
          </p:cNvPr>
          <p:cNvCxnSpPr>
            <a:cxnSpLocks/>
            <a:endCxn id="31" idx="1"/>
          </p:cNvCxnSpPr>
          <p:nvPr/>
        </p:nvCxnSpPr>
        <p:spPr>
          <a:xfrm>
            <a:off x="1503644" y="2550498"/>
            <a:ext cx="790804" cy="171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1CF41F5C-17A0-4448-9838-C58FE0A0D3D4}"/>
              </a:ext>
            </a:extLst>
          </p:cNvPr>
          <p:cNvCxnSpPr>
            <a:cxnSpLocks/>
            <a:stCxn id="24" idx="6"/>
            <a:endCxn id="4" idx="1"/>
          </p:cNvCxnSpPr>
          <p:nvPr/>
        </p:nvCxnSpPr>
        <p:spPr>
          <a:xfrm>
            <a:off x="4408621" y="2552214"/>
            <a:ext cx="700510"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714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7" grpId="0" animBg="1"/>
      <p:bldP spid="8" grpId="0" animBg="1"/>
      <p:bldP spid="9" grpId="0" animBg="1"/>
      <p:bldP spid="15" grpId="0"/>
      <p:bldP spid="16" grpId="0"/>
      <p:bldP spid="17" grpId="0"/>
      <p:bldP spid="18" grpId="0"/>
      <p:bldP spid="19" grpId="0" animBg="1"/>
      <p:bldP spid="20" grpId="0"/>
      <p:bldP spid="21" grpId="0" animBg="1"/>
      <p:bldP spid="24" grpId="0" animBg="1"/>
      <p:bldP spid="27" grpId="0"/>
      <p:bldP spid="28" grpId="0"/>
      <p:bldP spid="29" grpId="0"/>
      <p:bldP spid="31"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BC79FE-C7C2-49BC-A33C-DCDCF8056FBC}"/>
              </a:ext>
            </a:extLst>
          </p:cNvPr>
          <p:cNvSpPr>
            <a:spLocks noGrp="1"/>
          </p:cNvSpPr>
          <p:nvPr>
            <p:ph type="title"/>
          </p:nvPr>
        </p:nvSpPr>
        <p:spPr/>
        <p:txBody>
          <a:bodyPr/>
          <a:lstStyle/>
          <a:p>
            <a:r>
              <a:rPr lang="es-ES" err="1"/>
              <a:t>Pré</a:t>
            </a:r>
            <a:r>
              <a:rPr lang="es-ES"/>
              <a:t>-compensador estático</a:t>
            </a:r>
            <a:endParaRPr lang="es-419"/>
          </a:p>
        </p:txBody>
      </p:sp>
      <p:sp>
        <p:nvSpPr>
          <p:cNvPr id="3" name="Marcador de contenido 2">
            <a:extLst>
              <a:ext uri="{FF2B5EF4-FFF2-40B4-BE49-F238E27FC236}">
                <a16:creationId xmlns:a16="http://schemas.microsoft.com/office/drawing/2014/main" id="{C09F23E5-53D0-4F99-B3C5-91ECDAF5E85C}"/>
              </a:ext>
            </a:extLst>
          </p:cNvPr>
          <p:cNvSpPr>
            <a:spLocks noGrp="1"/>
          </p:cNvSpPr>
          <p:nvPr>
            <p:ph idx="1"/>
          </p:nvPr>
        </p:nvSpPr>
        <p:spPr/>
        <p:txBody>
          <a:bodyPr/>
          <a:lstStyle/>
          <a:p>
            <a:r>
              <a:rPr lang="es-ES"/>
              <a:t>El objetivo es determinar los valores de </a:t>
            </a:r>
            <a:r>
              <a:rPr lang="es-ES" b="1"/>
              <a:t>K</a:t>
            </a:r>
            <a:r>
              <a:rPr lang="es-ES"/>
              <a:t> y </a:t>
            </a:r>
            <a:r>
              <a:rPr lang="es-ES" b="1"/>
              <a:t>H</a:t>
            </a:r>
          </a:p>
          <a:p>
            <a:endParaRPr lang="es-ES" b="1"/>
          </a:p>
          <a:p>
            <a:endParaRPr lang="es-ES" b="1"/>
          </a:p>
          <a:p>
            <a:r>
              <a:rPr lang="es-ES"/>
              <a:t>La dinámica en lazo cerrado del EE es:</a:t>
            </a:r>
          </a:p>
          <a:p>
            <a:endParaRPr lang="es-ES"/>
          </a:p>
          <a:p>
            <a:r>
              <a:rPr lang="es-ES"/>
              <a:t>La función de transferencia en lazo cerrado:</a:t>
            </a:r>
            <a:endParaRPr lang="es-419"/>
          </a:p>
        </p:txBody>
      </p:sp>
      <p:pic>
        <p:nvPicPr>
          <p:cNvPr id="9" name="Imagen 8">
            <a:extLst>
              <a:ext uri="{FF2B5EF4-FFF2-40B4-BE49-F238E27FC236}">
                <a16:creationId xmlns:a16="http://schemas.microsoft.com/office/drawing/2014/main" id="{B49AD9ED-2DAA-455D-8900-1176907A7886}"/>
              </a:ext>
            </a:extLst>
          </p:cNvPr>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905001" y="2475138"/>
            <a:ext cx="2377143" cy="254476"/>
          </a:xfrm>
          <a:prstGeom prst="rect">
            <a:avLst/>
          </a:prstGeom>
        </p:spPr>
      </p:pic>
      <p:pic>
        <p:nvPicPr>
          <p:cNvPr id="11" name="Imagen 10">
            <a:extLst>
              <a:ext uri="{FF2B5EF4-FFF2-40B4-BE49-F238E27FC236}">
                <a16:creationId xmlns:a16="http://schemas.microsoft.com/office/drawing/2014/main" id="{1C9BD051-66EE-459B-BF03-CAC43B368920}"/>
              </a:ext>
            </a:extLst>
          </p:cNvPr>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905001" y="2875222"/>
            <a:ext cx="1406477" cy="254476"/>
          </a:xfrm>
          <a:prstGeom prst="rect">
            <a:avLst/>
          </a:prstGeom>
        </p:spPr>
      </p:pic>
      <p:pic>
        <p:nvPicPr>
          <p:cNvPr id="13" name="Imagen 12">
            <a:extLst>
              <a:ext uri="{FF2B5EF4-FFF2-40B4-BE49-F238E27FC236}">
                <a16:creationId xmlns:a16="http://schemas.microsoft.com/office/drawing/2014/main" id="{C3AB3D26-C5EC-4055-93DC-BAB0E9A43F2B}"/>
              </a:ext>
            </a:extLst>
          </p:cNvPr>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905000" y="3275306"/>
            <a:ext cx="2563048" cy="254476"/>
          </a:xfrm>
          <a:prstGeom prst="rect">
            <a:avLst/>
          </a:prstGeom>
        </p:spPr>
      </p:pic>
      <p:pic>
        <p:nvPicPr>
          <p:cNvPr id="15" name="Imagen 14">
            <a:extLst>
              <a:ext uri="{FF2B5EF4-FFF2-40B4-BE49-F238E27FC236}">
                <a16:creationId xmlns:a16="http://schemas.microsoft.com/office/drawing/2014/main" id="{CD34332E-91DB-4989-8D8D-4A2B2264A4EE}"/>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1896037" y="4176703"/>
            <a:ext cx="3504763" cy="254476"/>
          </a:xfrm>
          <a:prstGeom prst="rect">
            <a:avLst/>
          </a:prstGeom>
        </p:spPr>
      </p:pic>
      <p:pic>
        <p:nvPicPr>
          <p:cNvPr id="20" name="Imagen 19">
            <a:extLst>
              <a:ext uri="{FF2B5EF4-FFF2-40B4-BE49-F238E27FC236}">
                <a16:creationId xmlns:a16="http://schemas.microsoft.com/office/drawing/2014/main" id="{C0F182AB-67F1-46F7-8ABA-6F97FC175D38}"/>
              </a:ext>
            </a:extLst>
          </p:cNvPr>
          <p:cNvPicPr>
            <a:picLocks noChangeAspect="1"/>
          </p:cNvPicPr>
          <p:nvPr>
            <p:custDataLst>
              <p:tags r:id="rId5"/>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896036" y="5202629"/>
            <a:ext cx="4493718" cy="598857"/>
          </a:xfrm>
          <a:prstGeom prst="rect">
            <a:avLst/>
          </a:prstGeom>
        </p:spPr>
      </p:pic>
      <p:pic>
        <p:nvPicPr>
          <p:cNvPr id="21" name="Imagen 20">
            <a:extLst>
              <a:ext uri="{FF2B5EF4-FFF2-40B4-BE49-F238E27FC236}">
                <a16:creationId xmlns:a16="http://schemas.microsoft.com/office/drawing/2014/main" id="{A26F7C7E-8F3D-42FB-AA55-8E10BF1D120D}"/>
              </a:ext>
            </a:extLst>
          </p:cNvPr>
          <p:cNvPicPr>
            <a:picLocks noChangeAspect="1"/>
          </p:cNvPicPr>
          <p:nvPr/>
        </p:nvPicPr>
        <p:blipFill>
          <a:blip r:embed="rId12"/>
          <a:stretch>
            <a:fillRect/>
          </a:stretch>
        </p:blipFill>
        <p:spPr>
          <a:xfrm>
            <a:off x="7241736" y="2685698"/>
            <a:ext cx="4736353" cy="1770063"/>
          </a:xfrm>
          <a:prstGeom prst="rect">
            <a:avLst/>
          </a:prstGeom>
        </p:spPr>
      </p:pic>
    </p:spTree>
    <p:extLst>
      <p:ext uri="{BB962C8B-B14F-4D97-AF65-F5344CB8AC3E}">
        <p14:creationId xmlns:p14="http://schemas.microsoft.com/office/powerpoint/2010/main" val="40033179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3BDA3-F715-4047-8463-F0282817017F}"/>
              </a:ext>
            </a:extLst>
          </p:cNvPr>
          <p:cNvSpPr>
            <a:spLocks noGrp="1"/>
          </p:cNvSpPr>
          <p:nvPr>
            <p:ph type="title"/>
          </p:nvPr>
        </p:nvSpPr>
        <p:spPr/>
        <p:txBody>
          <a:bodyPr/>
          <a:lstStyle/>
          <a:p>
            <a:r>
              <a:rPr lang="es-ES" err="1"/>
              <a:t>Pré</a:t>
            </a:r>
            <a:r>
              <a:rPr lang="es-ES"/>
              <a:t>-compensador estático</a:t>
            </a:r>
            <a:endParaRPr lang="es-419"/>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B02308F8-CC4F-4BCE-8852-EEB919D0C973}"/>
                  </a:ext>
                </a:extLst>
              </p:cNvPr>
              <p:cNvSpPr>
                <a:spLocks noGrp="1"/>
              </p:cNvSpPr>
              <p:nvPr>
                <p:ph idx="1"/>
              </p:nvPr>
            </p:nvSpPr>
            <p:spPr>
              <a:xfrm>
                <a:off x="1524002" y="1905000"/>
                <a:ext cx="9144000" cy="4953000"/>
              </a:xfrm>
            </p:spPr>
            <p:txBody>
              <a:bodyPr/>
              <a:lstStyle/>
              <a:p>
                <a:r>
                  <a:rPr lang="es-ES"/>
                  <a:t>Aplicando el concepto del teorema del valor final en la transformada de </a:t>
                </a:r>
                <a:r>
                  <a:rPr lang="es-ES" err="1"/>
                  <a:t>laplace</a:t>
                </a:r>
                <a:r>
                  <a:rPr lang="es-ES"/>
                  <a:t> tenemos que:</a:t>
                </a:r>
              </a:p>
              <a:p>
                <a:endParaRPr lang="es-ES"/>
              </a:p>
              <a:p>
                <a:endParaRPr lang="es-ES"/>
              </a:p>
              <a:p>
                <a:r>
                  <a:rPr lang="es-ES"/>
                  <a:t>Si la señal de entrada </a:t>
                </a:r>
                <a:r>
                  <a:rPr lang="es-ES">
                    <a:solidFill>
                      <a:srgbClr val="FFFF00"/>
                    </a:solidFill>
                  </a:rPr>
                  <a:t>no es constante</a:t>
                </a:r>
                <a:r>
                  <a:rPr lang="es-ES"/>
                  <a:t>, por ejemplo, si es una señal periódica basta con hacer que la ecuación, al igual que en el caso anterior sea igual a la identidad en régimen permanente:</a:t>
                </a:r>
              </a:p>
              <a:p>
                <a:endParaRPr lang="es-ES"/>
              </a:p>
              <a:p>
                <a:r>
                  <a:rPr lang="es-ES"/>
                  <a:t>Y en una </a:t>
                </a:r>
                <a:r>
                  <a:rPr lang="es-ES">
                    <a:solidFill>
                      <a:srgbClr val="FFFF00"/>
                    </a:solidFill>
                  </a:rPr>
                  <a:t>señal periódica </a:t>
                </a:r>
                <a:r>
                  <a:rPr lang="es-ES"/>
                  <a:t>eso se consigue igualando en este caso:</a:t>
                </a:r>
              </a:p>
              <a:p>
                <a:r>
                  <a:rPr lang="es-ES"/>
                  <a:t> </a:t>
                </a:r>
                <a14:m>
                  <m:oMath xmlns:m="http://schemas.openxmlformats.org/officeDocument/2006/math">
                    <m:r>
                      <a:rPr lang="es-ES" i="1" dirty="0" smtClean="0">
                        <a:latin typeface="Cambria Math" panose="02040503050406030204" pitchFamily="18" charset="0"/>
                      </a:rPr>
                      <m:t>𝑠</m:t>
                    </m:r>
                    <m:r>
                      <a:rPr lang="es-ES" i="1" dirty="0">
                        <a:latin typeface="Cambria Math" panose="02040503050406030204" pitchFamily="18" charset="0"/>
                      </a:rPr>
                      <m:t>=</m:t>
                    </m:r>
                    <m:r>
                      <a:rPr lang="es-ES" i="1" dirty="0">
                        <a:latin typeface="Cambria Math" panose="02040503050406030204" pitchFamily="18" charset="0"/>
                      </a:rPr>
                      <m:t>𝑗</m:t>
                    </m:r>
                    <m:r>
                      <a:rPr lang="es-ES" i="1" dirty="0" smtClean="0">
                        <a:latin typeface="Cambria Math" panose="02040503050406030204" pitchFamily="18" charset="0"/>
                      </a:rPr>
                      <m:t>𝜔</m:t>
                    </m:r>
                    <m:r>
                      <a:rPr lang="es-ES" i="1" dirty="0" smtClean="0">
                        <a:latin typeface="Cambria Math" panose="02040503050406030204" pitchFamily="18" charset="0"/>
                      </a:rPr>
                      <m:t> </m:t>
                    </m:r>
                  </m:oMath>
                </a14:m>
                <a:r>
                  <a:rPr lang="es-ES"/>
                  <a:t>donde </a:t>
                </a:r>
                <a14:m>
                  <m:oMath xmlns:m="http://schemas.openxmlformats.org/officeDocument/2006/math">
                    <m:r>
                      <a:rPr lang="es-ES" i="1" dirty="0" smtClean="0">
                        <a:latin typeface="Cambria Math" panose="02040503050406030204" pitchFamily="18" charset="0"/>
                      </a:rPr>
                      <m:t>𝜔</m:t>
                    </m:r>
                    <m:r>
                      <a:rPr lang="es-ES" i="1" dirty="0" smtClean="0">
                        <a:latin typeface="Cambria Math" panose="02040503050406030204" pitchFamily="18" charset="0"/>
                      </a:rPr>
                      <m:t> </m:t>
                    </m:r>
                  </m:oMath>
                </a14:m>
                <a:r>
                  <a:rPr lang="es-ES"/>
                  <a:t>es la </a:t>
                </a:r>
                <a:r>
                  <a:rPr lang="es-ES">
                    <a:solidFill>
                      <a:srgbClr val="FFFF00"/>
                    </a:solidFill>
                  </a:rPr>
                  <a:t>frecuencia</a:t>
                </a:r>
                <a:r>
                  <a:rPr lang="es-ES"/>
                  <a:t> de la señal de entrada.</a:t>
                </a:r>
                <a:endParaRPr lang="es-419"/>
              </a:p>
            </p:txBody>
          </p:sp>
        </mc:Choice>
        <mc:Fallback>
          <p:sp>
            <p:nvSpPr>
              <p:cNvPr id="3" name="Marcador de contenido 2">
                <a:extLst>
                  <a:ext uri="{FF2B5EF4-FFF2-40B4-BE49-F238E27FC236}">
                    <a16:creationId xmlns:a16="http://schemas.microsoft.com/office/drawing/2014/main" id="{B02308F8-CC4F-4BCE-8852-EEB919D0C973}"/>
                  </a:ext>
                </a:extLst>
              </p:cNvPr>
              <p:cNvSpPr>
                <a:spLocks noGrp="1" noRot="1" noChangeAspect="1" noMove="1" noResize="1" noEditPoints="1" noAdjustHandles="1" noChangeArrowheads="1" noChangeShapeType="1" noTextEdit="1"/>
              </p:cNvSpPr>
              <p:nvPr>
                <p:ph idx="1"/>
              </p:nvPr>
            </p:nvSpPr>
            <p:spPr>
              <a:xfrm>
                <a:off x="1524002" y="1905000"/>
                <a:ext cx="9144000" cy="4953000"/>
              </a:xfrm>
              <a:blipFill>
                <a:blip r:embed="rId5"/>
                <a:stretch>
                  <a:fillRect l="-867" t="-1724" r="-67"/>
                </a:stretch>
              </a:blipFill>
            </p:spPr>
            <p:txBody>
              <a:bodyPr/>
              <a:lstStyle/>
              <a:p>
                <a:r>
                  <a:rPr lang="en-US">
                    <a:noFill/>
                  </a:rPr>
                  <a:t> </a:t>
                </a:r>
              </a:p>
            </p:txBody>
          </p:sp>
        </mc:Fallback>
      </mc:AlternateContent>
      <p:pic>
        <p:nvPicPr>
          <p:cNvPr id="6" name="Imagen 5">
            <a:extLst>
              <a:ext uri="{FF2B5EF4-FFF2-40B4-BE49-F238E27FC236}">
                <a16:creationId xmlns:a16="http://schemas.microsoft.com/office/drawing/2014/main" id="{3656A79A-41A8-489F-9797-A7D05B62022E}"/>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1935367" y="3581400"/>
            <a:ext cx="1080382" cy="254476"/>
          </a:xfrm>
          <a:prstGeom prst="rect">
            <a:avLst/>
          </a:prstGeom>
        </p:spPr>
      </p:pic>
      <p:pic>
        <p:nvPicPr>
          <p:cNvPr id="7" name="Imagen 6">
            <a:extLst>
              <a:ext uri="{FF2B5EF4-FFF2-40B4-BE49-F238E27FC236}">
                <a16:creationId xmlns:a16="http://schemas.microsoft.com/office/drawing/2014/main" id="{2D32917A-5FC6-4BFD-AB69-53AF1E2AC64E}"/>
              </a:ext>
            </a:extLst>
          </p:cNvPr>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905000" y="2830144"/>
            <a:ext cx="4493718" cy="598857"/>
          </a:xfrm>
          <a:prstGeom prst="rect">
            <a:avLst/>
          </a:prstGeom>
        </p:spPr>
      </p:pic>
      <p:pic>
        <p:nvPicPr>
          <p:cNvPr id="10" name="Imagen 9">
            <a:extLst>
              <a:ext uri="{FF2B5EF4-FFF2-40B4-BE49-F238E27FC236}">
                <a16:creationId xmlns:a16="http://schemas.microsoft.com/office/drawing/2014/main" id="{B14C8A3D-9CEC-4418-897A-B325B9EB8F64}"/>
              </a:ext>
            </a:extLst>
          </p:cNvPr>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920619" y="5181601"/>
            <a:ext cx="3172575" cy="330667"/>
          </a:xfrm>
          <a:prstGeom prst="rect">
            <a:avLst/>
          </a:prstGeom>
        </p:spPr>
      </p:pic>
      <p:pic>
        <p:nvPicPr>
          <p:cNvPr id="11" name="Imagen 10">
            <a:extLst>
              <a:ext uri="{FF2B5EF4-FFF2-40B4-BE49-F238E27FC236}">
                <a16:creationId xmlns:a16="http://schemas.microsoft.com/office/drawing/2014/main" id="{06EC8071-A05C-45B1-8BAE-D82151A427E6}"/>
              </a:ext>
            </a:extLst>
          </p:cNvPr>
          <p:cNvPicPr>
            <a:picLocks noChangeAspect="1"/>
          </p:cNvPicPr>
          <p:nvPr/>
        </p:nvPicPr>
        <p:blipFill>
          <a:blip r:embed="rId9"/>
          <a:stretch>
            <a:fillRect/>
          </a:stretch>
        </p:blipFill>
        <p:spPr>
          <a:xfrm>
            <a:off x="7848601" y="58738"/>
            <a:ext cx="3886783" cy="1452563"/>
          </a:xfrm>
          <a:prstGeom prst="rect">
            <a:avLst/>
          </a:prstGeom>
        </p:spPr>
      </p:pic>
    </p:spTree>
    <p:extLst>
      <p:ext uri="{BB962C8B-B14F-4D97-AF65-F5344CB8AC3E}">
        <p14:creationId xmlns:p14="http://schemas.microsoft.com/office/powerpoint/2010/main" val="3031918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3BDA3-F715-4047-8463-F0282817017F}"/>
              </a:ext>
            </a:extLst>
          </p:cNvPr>
          <p:cNvSpPr>
            <a:spLocks noGrp="1"/>
          </p:cNvSpPr>
          <p:nvPr>
            <p:ph type="title"/>
          </p:nvPr>
        </p:nvSpPr>
        <p:spPr/>
        <p:txBody>
          <a:bodyPr/>
          <a:lstStyle/>
          <a:p>
            <a:r>
              <a:rPr lang="es-ES" err="1"/>
              <a:t>Pré</a:t>
            </a:r>
            <a:r>
              <a:rPr lang="es-ES"/>
              <a:t>-compensador estático</a:t>
            </a:r>
            <a:endParaRPr lang="es-419"/>
          </a:p>
        </p:txBody>
      </p:sp>
      <p:sp>
        <p:nvSpPr>
          <p:cNvPr id="3" name="Marcador de contenido 2">
            <a:extLst>
              <a:ext uri="{FF2B5EF4-FFF2-40B4-BE49-F238E27FC236}">
                <a16:creationId xmlns:a16="http://schemas.microsoft.com/office/drawing/2014/main" id="{B02308F8-CC4F-4BCE-8852-EEB919D0C973}"/>
              </a:ext>
            </a:extLst>
          </p:cNvPr>
          <p:cNvSpPr>
            <a:spLocks noGrp="1"/>
          </p:cNvSpPr>
          <p:nvPr>
            <p:ph idx="1"/>
          </p:nvPr>
        </p:nvSpPr>
        <p:spPr>
          <a:xfrm>
            <a:off x="1524002" y="1905000"/>
            <a:ext cx="9144000" cy="4953000"/>
          </a:xfrm>
        </p:spPr>
        <p:txBody>
          <a:bodyPr/>
          <a:lstStyle/>
          <a:p>
            <a:r>
              <a:rPr lang="es-ES"/>
              <a:t>por lo tanto el </a:t>
            </a:r>
            <a:r>
              <a:rPr lang="es-ES" err="1"/>
              <a:t>pré</a:t>
            </a:r>
            <a:r>
              <a:rPr lang="es-ES"/>
              <a:t>-compensador es determinado por la siguiente ecuación:</a:t>
            </a:r>
          </a:p>
          <a:p>
            <a:endParaRPr lang="es-ES"/>
          </a:p>
          <a:p>
            <a:r>
              <a:rPr lang="es-ES"/>
              <a:t>La utilización del </a:t>
            </a:r>
            <a:r>
              <a:rPr lang="es-ES" err="1"/>
              <a:t>pré</a:t>
            </a:r>
            <a:r>
              <a:rPr lang="es-ES"/>
              <a:t>-compensador estático para tener un error en régimen permanente nulo ante una referencia constante tiene el inconveniente de ser poco robusto ante las variaciones de los parámetros del modelo de la planta.</a:t>
            </a:r>
          </a:p>
        </p:txBody>
      </p:sp>
      <p:pic>
        <p:nvPicPr>
          <p:cNvPr id="5" name="Imagen 4">
            <a:extLst>
              <a:ext uri="{FF2B5EF4-FFF2-40B4-BE49-F238E27FC236}">
                <a16:creationId xmlns:a16="http://schemas.microsoft.com/office/drawing/2014/main" id="{A83F200F-5924-4CD4-8581-51DFA8ACEF4D}"/>
              </a:ext>
            </a:extLst>
          </p:cNvPr>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905000" y="2832372"/>
            <a:ext cx="3291432" cy="278857"/>
          </a:xfrm>
          <a:prstGeom prst="rect">
            <a:avLst/>
          </a:prstGeom>
        </p:spPr>
      </p:pic>
      <p:pic>
        <p:nvPicPr>
          <p:cNvPr id="12" name="Imagen 11">
            <a:extLst>
              <a:ext uri="{FF2B5EF4-FFF2-40B4-BE49-F238E27FC236}">
                <a16:creationId xmlns:a16="http://schemas.microsoft.com/office/drawing/2014/main" id="{0C131F74-711B-4808-A79A-B3CDCC6EFA1B}"/>
              </a:ext>
            </a:extLst>
          </p:cNvPr>
          <p:cNvPicPr>
            <a:picLocks noChangeAspect="1"/>
          </p:cNvPicPr>
          <p:nvPr>
            <p:custDataLst>
              <p:tags r:id="rId2"/>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705600" y="2864371"/>
            <a:ext cx="1500954" cy="214857"/>
          </a:xfrm>
          <a:prstGeom prst="rect">
            <a:avLst/>
          </a:prstGeom>
        </p:spPr>
      </p:pic>
      <p:pic>
        <p:nvPicPr>
          <p:cNvPr id="13" name="Imagen 12">
            <a:extLst>
              <a:ext uri="{FF2B5EF4-FFF2-40B4-BE49-F238E27FC236}">
                <a16:creationId xmlns:a16="http://schemas.microsoft.com/office/drawing/2014/main" id="{459489A0-AD75-4779-82C8-73E2B33B9B71}"/>
              </a:ext>
            </a:extLst>
          </p:cNvPr>
          <p:cNvPicPr>
            <a:picLocks noChangeAspect="1"/>
          </p:cNvPicPr>
          <p:nvPr/>
        </p:nvPicPr>
        <p:blipFill>
          <a:blip r:embed="rId6"/>
          <a:stretch>
            <a:fillRect/>
          </a:stretch>
        </p:blipFill>
        <p:spPr>
          <a:xfrm>
            <a:off x="3810001" y="4876801"/>
            <a:ext cx="4736353" cy="1770063"/>
          </a:xfrm>
          <a:prstGeom prst="rect">
            <a:avLst/>
          </a:prstGeom>
        </p:spPr>
      </p:pic>
    </p:spTree>
    <p:extLst>
      <p:ext uri="{BB962C8B-B14F-4D97-AF65-F5344CB8AC3E}">
        <p14:creationId xmlns:p14="http://schemas.microsoft.com/office/powerpoint/2010/main" val="2508002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4B7052C-A9BA-4495-9753-2872174D5782}"/>
              </a:ext>
            </a:extLst>
          </p:cNvPr>
          <p:cNvSpPr>
            <a:spLocks noGrp="1"/>
          </p:cNvSpPr>
          <p:nvPr>
            <p:ph type="ctrTitle"/>
          </p:nvPr>
        </p:nvSpPr>
        <p:spPr>
          <a:xfrm>
            <a:off x="1488000" y="36871"/>
            <a:ext cx="9144000" cy="1828800"/>
          </a:xfrm>
        </p:spPr>
        <p:txBody>
          <a:bodyPr/>
          <a:lstStyle/>
          <a:p>
            <a:pPr algn="ctr"/>
            <a:r>
              <a:rPr lang="es-419"/>
              <a:t>Control en Variables de Estado</a:t>
            </a:r>
          </a:p>
        </p:txBody>
      </p:sp>
      <p:sp>
        <p:nvSpPr>
          <p:cNvPr id="6" name="Subtítulo 5">
            <a:extLst>
              <a:ext uri="{FF2B5EF4-FFF2-40B4-BE49-F238E27FC236}">
                <a16:creationId xmlns:a16="http://schemas.microsoft.com/office/drawing/2014/main" id="{99F7E535-08D1-4242-97FD-836250BD3200}"/>
              </a:ext>
            </a:extLst>
          </p:cNvPr>
          <p:cNvSpPr>
            <a:spLocks noGrp="1"/>
          </p:cNvSpPr>
          <p:nvPr>
            <p:ph type="subTitle" idx="1"/>
          </p:nvPr>
        </p:nvSpPr>
        <p:spPr/>
        <p:txBody>
          <a:bodyPr/>
          <a:lstStyle/>
          <a:p>
            <a:r>
              <a:rPr lang="es-419"/>
              <a:t>por: Sergio Andres Castaño Giraldo</a:t>
            </a:r>
          </a:p>
          <a:p>
            <a:r>
              <a:rPr lang="en-US">
                <a:hlinkClick r:id="rId2"/>
              </a:rPr>
              <a:t>https://controlautomaticoeducacion.com/</a:t>
            </a:r>
            <a:endParaRPr lang="es-419"/>
          </a:p>
        </p:txBody>
      </p:sp>
      <p:sp>
        <p:nvSpPr>
          <p:cNvPr id="7" name="Título 4">
            <a:extLst>
              <a:ext uri="{FF2B5EF4-FFF2-40B4-BE49-F238E27FC236}">
                <a16:creationId xmlns:a16="http://schemas.microsoft.com/office/drawing/2014/main" id="{9243BA80-8B64-42F3-9427-2D1D3B92AAB7}"/>
              </a:ext>
            </a:extLst>
          </p:cNvPr>
          <p:cNvSpPr txBox="1">
            <a:spLocks/>
          </p:cNvSpPr>
          <p:nvPr/>
        </p:nvSpPr>
        <p:spPr>
          <a:xfrm>
            <a:off x="1524001" y="2552700"/>
            <a:ext cx="9144000" cy="11430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419" sz="4400">
                <a:solidFill>
                  <a:srgbClr val="FFFF00"/>
                </a:solidFill>
                <a:latin typeface="Consolas"/>
              </a:rPr>
              <a:t>Realimentación de Estados Tipo Servo</a:t>
            </a:r>
          </a:p>
        </p:txBody>
      </p:sp>
    </p:spTree>
    <p:extLst>
      <p:ext uri="{BB962C8B-B14F-4D97-AF65-F5344CB8AC3E}">
        <p14:creationId xmlns:p14="http://schemas.microsoft.com/office/powerpoint/2010/main" val="3835191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237715-1C36-4DF9-A3F7-9A037AF6BF49}"/>
              </a:ext>
            </a:extLst>
          </p:cNvPr>
          <p:cNvSpPr>
            <a:spLocks noGrp="1"/>
          </p:cNvSpPr>
          <p:nvPr>
            <p:ph type="title"/>
          </p:nvPr>
        </p:nvSpPr>
        <p:spPr/>
        <p:txBody>
          <a:bodyPr/>
          <a:lstStyle/>
          <a:p>
            <a:r>
              <a:rPr lang="es-419"/>
              <a:t>Acción integral en Variables de Estado</a:t>
            </a:r>
          </a:p>
        </p:txBody>
      </p:sp>
      <p:sp>
        <p:nvSpPr>
          <p:cNvPr id="3" name="Marcador de contenido 2">
            <a:extLst>
              <a:ext uri="{FF2B5EF4-FFF2-40B4-BE49-F238E27FC236}">
                <a16:creationId xmlns:a16="http://schemas.microsoft.com/office/drawing/2014/main" id="{839A5B3A-CD64-457F-83EB-7E8481154946}"/>
              </a:ext>
            </a:extLst>
          </p:cNvPr>
          <p:cNvSpPr>
            <a:spLocks noGrp="1"/>
          </p:cNvSpPr>
          <p:nvPr>
            <p:ph idx="1"/>
          </p:nvPr>
        </p:nvSpPr>
        <p:spPr/>
        <p:txBody>
          <a:bodyPr/>
          <a:lstStyle/>
          <a:p>
            <a:r>
              <a:rPr lang="es-ES"/>
              <a:t>Para obtener un </a:t>
            </a:r>
            <a:r>
              <a:rPr lang="es-ES">
                <a:solidFill>
                  <a:srgbClr val="FFFF00"/>
                </a:solidFill>
              </a:rPr>
              <a:t>error</a:t>
            </a:r>
            <a:r>
              <a:rPr lang="es-ES"/>
              <a:t> en régimen permanente </a:t>
            </a:r>
            <a:r>
              <a:rPr lang="es-ES">
                <a:solidFill>
                  <a:srgbClr val="FFFF00"/>
                </a:solidFill>
              </a:rPr>
              <a:t>nulo</a:t>
            </a:r>
            <a:r>
              <a:rPr lang="es-ES"/>
              <a:t> ante una </a:t>
            </a:r>
            <a:r>
              <a:rPr lang="es-ES">
                <a:solidFill>
                  <a:srgbClr val="FFFF00"/>
                </a:solidFill>
              </a:rPr>
              <a:t>entrada constante</a:t>
            </a:r>
            <a:r>
              <a:rPr lang="es-ES"/>
              <a:t> y que a la vez sea </a:t>
            </a:r>
            <a:r>
              <a:rPr lang="es-ES">
                <a:solidFill>
                  <a:srgbClr val="FFFF00"/>
                </a:solidFill>
              </a:rPr>
              <a:t>robusto</a:t>
            </a:r>
            <a:r>
              <a:rPr lang="es-ES"/>
              <a:t> ante las incertezas del modelo de la planta, la mejor opción es adicionar un </a:t>
            </a:r>
            <a:r>
              <a:rPr lang="es-ES">
                <a:solidFill>
                  <a:srgbClr val="FFFF00"/>
                </a:solidFill>
              </a:rPr>
              <a:t>integrador</a:t>
            </a:r>
            <a:r>
              <a:rPr lang="es-ES"/>
              <a:t> en el lazo directo del sistema de control del espacio de estados.</a:t>
            </a:r>
          </a:p>
          <a:p>
            <a:r>
              <a:rPr lang="es-ES"/>
              <a:t>De esa forma estamos incluyendo al lazo de control, el conocido </a:t>
            </a:r>
            <a:r>
              <a:rPr lang="es-ES">
                <a:solidFill>
                  <a:srgbClr val="FFFF00"/>
                </a:solidFill>
              </a:rPr>
              <a:t>principio del modelo interno</a:t>
            </a:r>
            <a:r>
              <a:rPr lang="es-ES"/>
              <a:t>. El cual nos indica que entre la entrada y la salida del sistema, debemos incluir en ese trayecto </a:t>
            </a:r>
            <a:r>
              <a:rPr lang="es-ES">
                <a:solidFill>
                  <a:srgbClr val="FFFF00"/>
                </a:solidFill>
              </a:rPr>
              <a:t>los modos no estables</a:t>
            </a:r>
            <a:r>
              <a:rPr lang="es-ES"/>
              <a:t> de la señal de entrada.</a:t>
            </a:r>
            <a:endParaRPr lang="es-419"/>
          </a:p>
        </p:txBody>
      </p:sp>
    </p:spTree>
    <p:extLst>
      <p:ext uri="{BB962C8B-B14F-4D97-AF65-F5344CB8AC3E}">
        <p14:creationId xmlns:p14="http://schemas.microsoft.com/office/powerpoint/2010/main" val="1967253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334258-FFF1-43D3-80F9-DD5452810835}"/>
              </a:ext>
            </a:extLst>
          </p:cNvPr>
          <p:cNvSpPr>
            <a:spLocks noGrp="1"/>
          </p:cNvSpPr>
          <p:nvPr>
            <p:ph type="title"/>
          </p:nvPr>
        </p:nvSpPr>
        <p:spPr/>
        <p:txBody>
          <a:bodyPr/>
          <a:lstStyle/>
          <a:p>
            <a:r>
              <a:rPr lang="es-419"/>
              <a:t>Acción integral</a:t>
            </a: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5D41C89F-D842-40BB-8E9F-C47B3783E16F}"/>
                  </a:ext>
                </a:extLst>
              </p:cNvPr>
              <p:cNvSpPr/>
              <p:nvPr/>
            </p:nvSpPr>
            <p:spPr>
              <a:xfrm>
                <a:off x="6175931"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𝑩</m:t>
                      </m:r>
                    </m:oMath>
                  </m:oMathPara>
                </a14:m>
                <a:endParaRPr lang="es-419" sz="2800" b="1">
                  <a:solidFill>
                    <a:prstClr val="white"/>
                  </a:solidFill>
                  <a:latin typeface="Corbel"/>
                </a:endParaRPr>
              </a:p>
            </p:txBody>
          </p:sp>
        </mc:Choice>
        <mc:Fallback>
          <p:sp>
            <p:nvSpPr>
              <p:cNvPr id="4" name="Rectángulo 3">
                <a:extLst>
                  <a:ext uri="{FF2B5EF4-FFF2-40B4-BE49-F238E27FC236}">
                    <a16:creationId xmlns:a16="http://schemas.microsoft.com/office/drawing/2014/main" id="{5D41C89F-D842-40BB-8E9F-C47B3783E16F}"/>
                  </a:ext>
                </a:extLst>
              </p:cNvPr>
              <p:cNvSpPr>
                <a:spLocks noRot="1" noChangeAspect="1" noMove="1" noResize="1" noEditPoints="1" noAdjustHandles="1" noChangeArrowheads="1" noChangeShapeType="1" noTextEdit="1"/>
              </p:cNvSpPr>
              <p:nvPr/>
            </p:nvSpPr>
            <p:spPr>
              <a:xfrm>
                <a:off x="6175931" y="2247414"/>
                <a:ext cx="609600" cy="609600"/>
              </a:xfrm>
              <a:prstGeom prst="rect">
                <a:avLst/>
              </a:prstGeom>
              <a:blipFill>
                <a:blip r:embed="rId2"/>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FD0CE14F-0B6F-42CE-9209-640674A939CD}"/>
              </a:ext>
            </a:extLst>
          </p:cNvPr>
          <p:cNvCxnSpPr>
            <a:cxnSpLocks/>
            <a:stCxn id="4" idx="3"/>
            <a:endCxn id="7" idx="2"/>
          </p:cNvCxnSpPr>
          <p:nvPr/>
        </p:nvCxnSpPr>
        <p:spPr>
          <a:xfrm>
            <a:off x="6785531" y="2552214"/>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ángulo 5">
                <a:extLst>
                  <a:ext uri="{FF2B5EF4-FFF2-40B4-BE49-F238E27FC236}">
                    <a16:creationId xmlns:a16="http://schemas.microsoft.com/office/drawing/2014/main" id="{59AD0ED5-5FE3-45E7-AA81-1187E62219DB}"/>
                  </a:ext>
                </a:extLst>
              </p:cNvPr>
              <p:cNvSpPr/>
              <p:nvPr/>
            </p:nvSpPr>
            <p:spPr>
              <a:xfrm>
                <a:off x="8788374" y="2162659"/>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6" name="Rectángulo 5">
                <a:extLst>
                  <a:ext uri="{FF2B5EF4-FFF2-40B4-BE49-F238E27FC236}">
                    <a16:creationId xmlns:a16="http://schemas.microsoft.com/office/drawing/2014/main" id="{59AD0ED5-5FE3-45E7-AA81-1187E62219DB}"/>
                  </a:ext>
                </a:extLst>
              </p:cNvPr>
              <p:cNvSpPr>
                <a:spLocks noRot="1" noChangeAspect="1" noMove="1" noResize="1" noEditPoints="1" noAdjustHandles="1" noChangeArrowheads="1" noChangeShapeType="1" noTextEdit="1"/>
              </p:cNvSpPr>
              <p:nvPr/>
            </p:nvSpPr>
            <p:spPr>
              <a:xfrm>
                <a:off x="8788374" y="2162659"/>
                <a:ext cx="609600" cy="792122"/>
              </a:xfrm>
              <a:prstGeom prst="rect">
                <a:avLst/>
              </a:prstGeom>
              <a:blipFill>
                <a:blip r:embed="rId3"/>
                <a:stretch>
                  <a:fillRect/>
                </a:stretch>
              </a:blipFill>
              <a:ln w="57150">
                <a:solidFill>
                  <a:schemeClr val="tx1"/>
                </a:solidFill>
                <a:miter lim="800000"/>
              </a:ln>
            </p:spPr>
            <p:txBody>
              <a:bodyPr/>
              <a:lstStyle/>
              <a:p>
                <a:r>
                  <a:rPr lang="en-US">
                    <a:noFill/>
                  </a:rPr>
                  <a:t> </a:t>
                </a:r>
              </a:p>
            </p:txBody>
          </p:sp>
        </mc:Fallback>
      </mc:AlternateContent>
      <p:sp>
        <p:nvSpPr>
          <p:cNvPr id="7" name="Elipse 6">
            <a:extLst>
              <a:ext uri="{FF2B5EF4-FFF2-40B4-BE49-F238E27FC236}">
                <a16:creationId xmlns:a16="http://schemas.microsoft.com/office/drawing/2014/main" id="{8EB461C4-A03B-4985-A47A-59ACA7334DBF}"/>
              </a:ext>
            </a:extLst>
          </p:cNvPr>
          <p:cNvSpPr/>
          <p:nvPr/>
        </p:nvSpPr>
        <p:spPr>
          <a:xfrm>
            <a:off x="7199449"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1E3ADED0-AA99-4095-AF11-E1F0FA7B303D}"/>
                  </a:ext>
                </a:extLst>
              </p:cNvPr>
              <p:cNvSpPr/>
              <p:nvPr/>
            </p:nvSpPr>
            <p:spPr>
              <a:xfrm>
                <a:off x="10486417"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𝑪</m:t>
                      </m:r>
                    </m:oMath>
                  </m:oMathPara>
                </a14:m>
                <a:endParaRPr lang="es-419" sz="2800" b="1">
                  <a:solidFill>
                    <a:prstClr val="white"/>
                  </a:solidFill>
                  <a:latin typeface="Corbel"/>
                </a:endParaRPr>
              </a:p>
            </p:txBody>
          </p:sp>
        </mc:Choice>
        <mc:Fallback>
          <p:sp>
            <p:nvSpPr>
              <p:cNvPr id="8" name="Rectángulo 7">
                <a:extLst>
                  <a:ext uri="{FF2B5EF4-FFF2-40B4-BE49-F238E27FC236}">
                    <a16:creationId xmlns:a16="http://schemas.microsoft.com/office/drawing/2014/main" id="{1E3ADED0-AA99-4095-AF11-E1F0FA7B303D}"/>
                  </a:ext>
                </a:extLst>
              </p:cNvPr>
              <p:cNvSpPr>
                <a:spLocks noRot="1" noChangeAspect="1" noMove="1" noResize="1" noEditPoints="1" noAdjustHandles="1" noChangeArrowheads="1" noChangeShapeType="1" noTextEdit="1"/>
              </p:cNvSpPr>
              <p:nvPr/>
            </p:nvSpPr>
            <p:spPr>
              <a:xfrm>
                <a:off x="10486417" y="2247414"/>
                <a:ext cx="609600" cy="609600"/>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039A397B-7AFF-4718-AC83-231A0107211F}"/>
                  </a:ext>
                </a:extLst>
              </p:cNvPr>
              <p:cNvSpPr/>
              <p:nvPr/>
            </p:nvSpPr>
            <p:spPr>
              <a:xfrm>
                <a:off x="8153399" y="340494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𝑨</m:t>
                      </m:r>
                    </m:oMath>
                  </m:oMathPara>
                </a14:m>
                <a:endParaRPr lang="es-419" sz="2800" b="1">
                  <a:solidFill>
                    <a:prstClr val="white"/>
                  </a:solidFill>
                  <a:latin typeface="Corbel"/>
                </a:endParaRPr>
              </a:p>
            </p:txBody>
          </p:sp>
        </mc:Choice>
        <mc:Fallback>
          <p:sp>
            <p:nvSpPr>
              <p:cNvPr id="9" name="Rectángulo 8">
                <a:extLst>
                  <a:ext uri="{FF2B5EF4-FFF2-40B4-BE49-F238E27FC236}">
                    <a16:creationId xmlns:a16="http://schemas.microsoft.com/office/drawing/2014/main" id="{039A397B-7AFF-4718-AC83-231A0107211F}"/>
                  </a:ext>
                </a:extLst>
              </p:cNvPr>
              <p:cNvSpPr>
                <a:spLocks noRot="1" noChangeAspect="1" noMove="1" noResize="1" noEditPoints="1" noAdjustHandles="1" noChangeArrowheads="1" noChangeShapeType="1" noTextEdit="1"/>
              </p:cNvSpPr>
              <p:nvPr/>
            </p:nvSpPr>
            <p:spPr>
              <a:xfrm>
                <a:off x="8153399" y="3404944"/>
                <a:ext cx="609600" cy="609600"/>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p:cxnSp>
        <p:nvCxnSpPr>
          <p:cNvPr id="10" name="Conector recto de flecha 9">
            <a:extLst>
              <a:ext uri="{FF2B5EF4-FFF2-40B4-BE49-F238E27FC236}">
                <a16:creationId xmlns:a16="http://schemas.microsoft.com/office/drawing/2014/main" id="{62A2CBA3-4B6C-4629-BAFC-BE9CCF795BE6}"/>
              </a:ext>
            </a:extLst>
          </p:cNvPr>
          <p:cNvCxnSpPr>
            <a:cxnSpLocks/>
            <a:stCxn id="7" idx="6"/>
            <a:endCxn id="6" idx="1"/>
          </p:cNvCxnSpPr>
          <p:nvPr/>
        </p:nvCxnSpPr>
        <p:spPr>
          <a:xfrm>
            <a:off x="7732850" y="2552214"/>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7FA85749-F4A7-4EAE-82B5-12CB15E505B1}"/>
              </a:ext>
            </a:extLst>
          </p:cNvPr>
          <p:cNvCxnSpPr>
            <a:cxnSpLocks/>
            <a:stCxn id="6" idx="3"/>
            <a:endCxn id="8" idx="1"/>
          </p:cNvCxnSpPr>
          <p:nvPr/>
        </p:nvCxnSpPr>
        <p:spPr>
          <a:xfrm flipV="1">
            <a:off x="9397975" y="2552214"/>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angular 11">
            <a:extLst>
              <a:ext uri="{FF2B5EF4-FFF2-40B4-BE49-F238E27FC236}">
                <a16:creationId xmlns:a16="http://schemas.microsoft.com/office/drawing/2014/main" id="{57756D3C-B2E3-4CEF-98AA-7C9547A7987E}"/>
              </a:ext>
            </a:extLst>
          </p:cNvPr>
          <p:cNvCxnSpPr>
            <a:cxnSpLocks/>
            <a:endCxn id="9" idx="3"/>
          </p:cNvCxnSpPr>
          <p:nvPr/>
        </p:nvCxnSpPr>
        <p:spPr>
          <a:xfrm rot="5400000">
            <a:off x="8731711" y="2590010"/>
            <a:ext cx="1151023" cy="1088444"/>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angular 12">
            <a:extLst>
              <a:ext uri="{FF2B5EF4-FFF2-40B4-BE49-F238E27FC236}">
                <a16:creationId xmlns:a16="http://schemas.microsoft.com/office/drawing/2014/main" id="{B1F44D7C-A3A0-4D06-8080-631C60D42106}"/>
              </a:ext>
            </a:extLst>
          </p:cNvPr>
          <p:cNvCxnSpPr>
            <a:cxnSpLocks/>
            <a:stCxn id="9" idx="1"/>
            <a:endCxn id="7" idx="4"/>
          </p:cNvCxnSpPr>
          <p:nvPr/>
        </p:nvCxnSpPr>
        <p:spPr>
          <a:xfrm rot="10800000">
            <a:off x="7466149" y="2818914"/>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DE1FB9C4-5F5D-49F8-9AA1-C5E971347B27}"/>
                  </a:ext>
                </a:extLst>
              </p:cNvPr>
              <p:cNvSpPr txBox="1"/>
              <p:nvPr/>
            </p:nvSpPr>
            <p:spPr>
              <a:xfrm>
                <a:off x="7893982" y="2027099"/>
                <a:ext cx="312200" cy="501804"/>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14" name="CuadroTexto 13">
                <a:extLst>
                  <a:ext uri="{FF2B5EF4-FFF2-40B4-BE49-F238E27FC236}">
                    <a16:creationId xmlns:a16="http://schemas.microsoft.com/office/drawing/2014/main" id="{DE1FB9C4-5F5D-49F8-9AA1-C5E971347B27}"/>
                  </a:ext>
                </a:extLst>
              </p:cNvPr>
              <p:cNvSpPr txBox="1">
                <a:spLocks noRot="1" noChangeAspect="1" noMove="1" noResize="1" noEditPoints="1" noAdjustHandles="1" noChangeArrowheads="1" noChangeShapeType="1" noTextEdit="1"/>
              </p:cNvSpPr>
              <p:nvPr/>
            </p:nvSpPr>
            <p:spPr>
              <a:xfrm>
                <a:off x="7893982" y="2027099"/>
                <a:ext cx="312200" cy="501804"/>
              </a:xfrm>
              <a:prstGeom prst="rect">
                <a:avLst/>
              </a:prstGeom>
              <a:blipFill>
                <a:blip r:embed="rId6"/>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809C751A-433B-4C25-BA4C-130429B3391C}"/>
                  </a:ext>
                </a:extLst>
              </p:cNvPr>
              <p:cNvSpPr txBox="1"/>
              <p:nvPr/>
            </p:nvSpPr>
            <p:spPr>
              <a:xfrm>
                <a:off x="9686355" y="2115522"/>
                <a:ext cx="312200" cy="443198"/>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15" name="CuadroTexto 14">
                <a:extLst>
                  <a:ext uri="{FF2B5EF4-FFF2-40B4-BE49-F238E27FC236}">
                    <a16:creationId xmlns:a16="http://schemas.microsoft.com/office/drawing/2014/main" id="{809C751A-433B-4C25-BA4C-130429B3391C}"/>
                  </a:ext>
                </a:extLst>
              </p:cNvPr>
              <p:cNvSpPr txBox="1">
                <a:spLocks noRot="1" noChangeAspect="1" noMove="1" noResize="1" noEditPoints="1" noAdjustHandles="1" noChangeArrowheads="1" noChangeShapeType="1" noTextEdit="1"/>
              </p:cNvSpPr>
              <p:nvPr/>
            </p:nvSpPr>
            <p:spPr>
              <a:xfrm>
                <a:off x="9686355" y="2115522"/>
                <a:ext cx="312200" cy="44319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02673F3B-C1B6-4BAB-BE99-E18F28380167}"/>
                  </a:ext>
                </a:extLst>
              </p:cNvPr>
              <p:cNvSpPr txBox="1"/>
              <p:nvPr/>
            </p:nvSpPr>
            <p:spPr>
              <a:xfrm>
                <a:off x="11406416" y="2196505"/>
                <a:ext cx="23769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16" name="CuadroTexto 15">
                <a:extLst>
                  <a:ext uri="{FF2B5EF4-FFF2-40B4-BE49-F238E27FC236}">
                    <a16:creationId xmlns:a16="http://schemas.microsoft.com/office/drawing/2014/main" id="{02673F3B-C1B6-4BAB-BE99-E18F28380167}"/>
                  </a:ext>
                </a:extLst>
              </p:cNvPr>
              <p:cNvSpPr txBox="1">
                <a:spLocks noRot="1" noChangeAspect="1" noMove="1" noResize="1" noEditPoints="1" noAdjustHandles="1" noChangeArrowheads="1" noChangeShapeType="1" noTextEdit="1"/>
              </p:cNvSpPr>
              <p:nvPr/>
            </p:nvSpPr>
            <p:spPr>
              <a:xfrm>
                <a:off x="11406416" y="2196505"/>
                <a:ext cx="237693" cy="332399"/>
              </a:xfrm>
              <a:prstGeom prst="rect">
                <a:avLst/>
              </a:prstGeom>
              <a:blipFill>
                <a:blip r:embed="rId8"/>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B0C192EB-E9DD-45FB-A33C-28B4E7E7440B}"/>
                  </a:ext>
                </a:extLst>
              </p:cNvPr>
              <p:cNvSpPr txBox="1"/>
              <p:nvPr/>
            </p:nvSpPr>
            <p:spPr>
              <a:xfrm>
                <a:off x="5525636" y="2142782"/>
                <a:ext cx="245067"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17" name="CuadroTexto 16">
                <a:extLst>
                  <a:ext uri="{FF2B5EF4-FFF2-40B4-BE49-F238E27FC236}">
                    <a16:creationId xmlns:a16="http://schemas.microsoft.com/office/drawing/2014/main" id="{B0C192EB-E9DD-45FB-A33C-28B4E7E7440B}"/>
                  </a:ext>
                </a:extLst>
              </p:cNvPr>
              <p:cNvSpPr txBox="1">
                <a:spLocks noRot="1" noChangeAspect="1" noMove="1" noResize="1" noEditPoints="1" noAdjustHandles="1" noChangeArrowheads="1" noChangeShapeType="1" noTextEdit="1"/>
              </p:cNvSpPr>
              <p:nvPr/>
            </p:nvSpPr>
            <p:spPr>
              <a:xfrm>
                <a:off x="5525636" y="2142782"/>
                <a:ext cx="245067" cy="332399"/>
              </a:xfrm>
              <a:prstGeom prst="rect">
                <a:avLst/>
              </a:prstGeom>
              <a:blipFill>
                <a:blip r:embed="rId9"/>
                <a:stretch>
                  <a:fillRect l="-17073" r="-14634"/>
                </a:stretch>
              </a:blipFill>
            </p:spPr>
            <p:txBody>
              <a:bodyPr/>
              <a:lstStyle/>
              <a:p>
                <a:r>
                  <a:rPr lang="en-US">
                    <a:noFill/>
                  </a:rPr>
                  <a:t> </a:t>
                </a:r>
              </a:p>
            </p:txBody>
          </p:sp>
        </mc:Fallback>
      </mc:AlternateContent>
      <p:sp>
        <p:nvSpPr>
          <p:cNvPr id="18" name="Rectángulo 17">
            <a:extLst>
              <a:ext uri="{FF2B5EF4-FFF2-40B4-BE49-F238E27FC236}">
                <a16:creationId xmlns:a16="http://schemas.microsoft.com/office/drawing/2014/main" id="{14087541-7A00-4EAA-A5B5-52DBBCF99ACC}"/>
              </a:ext>
            </a:extLst>
          </p:cNvPr>
          <p:cNvSpPr/>
          <p:nvPr/>
        </p:nvSpPr>
        <p:spPr>
          <a:xfrm>
            <a:off x="5871131" y="1851355"/>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9" name="CuadroTexto 18">
            <a:extLst>
              <a:ext uri="{FF2B5EF4-FFF2-40B4-BE49-F238E27FC236}">
                <a16:creationId xmlns:a16="http://schemas.microsoft.com/office/drawing/2014/main" id="{6A89F44C-44D6-47EE-83E7-D456BE91536A}"/>
              </a:ext>
            </a:extLst>
          </p:cNvPr>
          <p:cNvSpPr txBox="1"/>
          <p:nvPr/>
        </p:nvSpPr>
        <p:spPr>
          <a:xfrm>
            <a:off x="5869863" y="3840278"/>
            <a:ext cx="1218603" cy="424732"/>
          </a:xfrm>
          <a:prstGeom prst="rect">
            <a:avLst/>
          </a:prstGeom>
          <a:noFill/>
        </p:spPr>
        <p:txBody>
          <a:bodyPr wrap="square" rtlCol="0">
            <a:spAutoFit/>
          </a:bodyPr>
          <a:lstStyle/>
          <a:p>
            <a:pPr>
              <a:lnSpc>
                <a:spcPct val="90000"/>
              </a:lnSpc>
            </a:pPr>
            <a:r>
              <a:rPr lang="es-419" sz="2400">
                <a:solidFill>
                  <a:prstClr val="white"/>
                </a:solidFill>
                <a:latin typeface="Corbel"/>
              </a:rPr>
              <a:t>Sistema</a:t>
            </a:r>
          </a:p>
        </p:txBody>
      </p:sp>
      <mc:AlternateContent xmlns:mc="http://schemas.openxmlformats.org/markup-compatibility/2006">
        <mc:Choice xmlns:a14="http://schemas.microsoft.com/office/drawing/2010/main" Requires="a14">
          <p:sp>
            <p:nvSpPr>
              <p:cNvPr id="20" name="Rectángulo 19">
                <a:extLst>
                  <a:ext uri="{FF2B5EF4-FFF2-40B4-BE49-F238E27FC236}">
                    <a16:creationId xmlns:a16="http://schemas.microsoft.com/office/drawing/2014/main" id="{4CE01A12-E7F5-4ED6-9225-C87FAB64527E}"/>
                  </a:ext>
                </a:extLst>
              </p:cNvPr>
              <p:cNvSpPr/>
              <p:nvPr/>
            </p:nvSpPr>
            <p:spPr>
              <a:xfrm>
                <a:off x="7893983" y="4810402"/>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1" i="1">
                              <a:solidFill>
                                <a:prstClr val="white"/>
                              </a:solidFill>
                              <a:latin typeface="Cambria Math" panose="02040503050406030204" pitchFamily="18" charset="0"/>
                            </a:rPr>
                          </m:ctrlPr>
                        </m:sSubPr>
                        <m:e>
                          <m:r>
                            <a:rPr lang="en-US" sz="2800" b="1" i="1">
                              <a:solidFill>
                                <a:prstClr val="white"/>
                              </a:solidFill>
                              <a:latin typeface="Cambria Math" panose="02040503050406030204" pitchFamily="18" charset="0"/>
                            </a:rPr>
                            <m:t>𝑲</m:t>
                          </m:r>
                        </m:e>
                        <m:sub>
                          <m:r>
                            <a:rPr lang="en-US" sz="2800" b="1" i="1">
                              <a:solidFill>
                                <a:prstClr val="white"/>
                              </a:solidFill>
                              <a:latin typeface="Cambria Math" panose="02040503050406030204" pitchFamily="18" charset="0"/>
                            </a:rPr>
                            <m:t>𝟏</m:t>
                          </m:r>
                        </m:sub>
                      </m:sSub>
                    </m:oMath>
                  </m:oMathPara>
                </a14:m>
                <a:endParaRPr lang="es-419" sz="2800" b="1">
                  <a:solidFill>
                    <a:prstClr val="white"/>
                  </a:solidFill>
                  <a:latin typeface="Corbel"/>
                </a:endParaRPr>
              </a:p>
            </p:txBody>
          </p:sp>
        </mc:Choice>
        <mc:Fallback>
          <p:sp>
            <p:nvSpPr>
              <p:cNvPr id="20" name="Rectángulo 19">
                <a:extLst>
                  <a:ext uri="{FF2B5EF4-FFF2-40B4-BE49-F238E27FC236}">
                    <a16:creationId xmlns:a16="http://schemas.microsoft.com/office/drawing/2014/main" id="{4CE01A12-E7F5-4ED6-9225-C87FAB64527E}"/>
                  </a:ext>
                </a:extLst>
              </p:cNvPr>
              <p:cNvSpPr>
                <a:spLocks noRot="1" noChangeAspect="1" noMove="1" noResize="1" noEditPoints="1" noAdjustHandles="1" noChangeArrowheads="1" noChangeShapeType="1" noTextEdit="1"/>
              </p:cNvSpPr>
              <p:nvPr/>
            </p:nvSpPr>
            <p:spPr>
              <a:xfrm>
                <a:off x="7893983" y="4810402"/>
                <a:ext cx="869017" cy="609600"/>
              </a:xfrm>
              <a:prstGeom prst="rect">
                <a:avLst/>
              </a:prstGeom>
              <a:blipFill>
                <a:blip r:embed="rId10"/>
                <a:stretch>
                  <a:fillRect/>
                </a:stretch>
              </a:blipFill>
              <a:ln w="57150">
                <a:solidFill>
                  <a:schemeClr val="tx1"/>
                </a:solidFill>
                <a:miter lim="800000"/>
              </a:ln>
            </p:spPr>
            <p:txBody>
              <a:bodyPr/>
              <a:lstStyle/>
              <a:p>
                <a:r>
                  <a:rPr lang="en-US">
                    <a:noFill/>
                  </a:rPr>
                  <a:t> </a:t>
                </a:r>
              </a:p>
            </p:txBody>
          </p:sp>
        </mc:Fallback>
      </mc:AlternateContent>
      <p:cxnSp>
        <p:nvCxnSpPr>
          <p:cNvPr id="21" name="Conector: angular 20">
            <a:extLst>
              <a:ext uri="{FF2B5EF4-FFF2-40B4-BE49-F238E27FC236}">
                <a16:creationId xmlns:a16="http://schemas.microsoft.com/office/drawing/2014/main" id="{7EFFC2ED-0FEB-4330-8779-B417F6CAF2E5}"/>
              </a:ext>
            </a:extLst>
          </p:cNvPr>
          <p:cNvCxnSpPr>
            <a:cxnSpLocks/>
            <a:endCxn id="20" idx="3"/>
          </p:cNvCxnSpPr>
          <p:nvPr/>
        </p:nvCxnSpPr>
        <p:spPr>
          <a:xfrm rot="5400000">
            <a:off x="8616525" y="3880276"/>
            <a:ext cx="1381401" cy="108845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Elipse 21">
            <a:extLst>
              <a:ext uri="{FF2B5EF4-FFF2-40B4-BE49-F238E27FC236}">
                <a16:creationId xmlns:a16="http://schemas.microsoft.com/office/drawing/2014/main" id="{137155A5-C59A-4A4F-931D-B0E2F381C019}"/>
              </a:ext>
            </a:extLst>
          </p:cNvPr>
          <p:cNvSpPr/>
          <p:nvPr/>
        </p:nvSpPr>
        <p:spPr>
          <a:xfrm>
            <a:off x="4942021"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CDEA4810-CEC7-494F-A2F0-9F93E5BF5F4C}"/>
                  </a:ext>
                </a:extLst>
              </p:cNvPr>
              <p:cNvSpPr txBox="1"/>
              <p:nvPr/>
            </p:nvSpPr>
            <p:spPr>
              <a:xfrm>
                <a:off x="1049704" y="2115523"/>
                <a:ext cx="213520"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oMath>
                  </m:oMathPara>
                </a14:m>
                <a:endParaRPr lang="es-419" sz="3200">
                  <a:solidFill>
                    <a:prstClr val="white"/>
                  </a:solidFill>
                  <a:latin typeface="Corbel"/>
                </a:endParaRPr>
              </a:p>
            </p:txBody>
          </p:sp>
        </mc:Choice>
        <mc:Fallback>
          <p:sp>
            <p:nvSpPr>
              <p:cNvPr id="23" name="CuadroTexto 22">
                <a:extLst>
                  <a:ext uri="{FF2B5EF4-FFF2-40B4-BE49-F238E27FC236}">
                    <a16:creationId xmlns:a16="http://schemas.microsoft.com/office/drawing/2014/main" id="{CDEA4810-CEC7-494F-A2F0-9F93E5BF5F4C}"/>
                  </a:ext>
                </a:extLst>
              </p:cNvPr>
              <p:cNvSpPr txBox="1">
                <a:spLocks noRot="1" noChangeAspect="1" noMove="1" noResize="1" noEditPoints="1" noAdjustHandles="1" noChangeArrowheads="1" noChangeShapeType="1" noTextEdit="1"/>
              </p:cNvSpPr>
              <p:nvPr/>
            </p:nvSpPr>
            <p:spPr>
              <a:xfrm>
                <a:off x="1049704" y="2115523"/>
                <a:ext cx="213520" cy="332399"/>
              </a:xfrm>
              <a:prstGeom prst="rect">
                <a:avLst/>
              </a:prstGeom>
              <a:blipFill>
                <a:blip r:embed="rId11"/>
                <a:stretch>
                  <a:fillRect l="-20000" r="-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98DBA3F6-748F-4039-BF6A-0FEB912C275C}"/>
                  </a:ext>
                </a:extLst>
              </p:cNvPr>
              <p:cNvSpPr txBox="1"/>
              <p:nvPr/>
            </p:nvSpPr>
            <p:spPr>
              <a:xfrm>
                <a:off x="5061504" y="2550499"/>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4" name="CuadroTexto 23">
                <a:extLst>
                  <a:ext uri="{FF2B5EF4-FFF2-40B4-BE49-F238E27FC236}">
                    <a16:creationId xmlns:a16="http://schemas.microsoft.com/office/drawing/2014/main" id="{98DBA3F6-748F-4039-BF6A-0FEB912C275C}"/>
                  </a:ext>
                </a:extLst>
              </p:cNvPr>
              <p:cNvSpPr txBox="1">
                <a:spLocks noRot="1" noChangeAspect="1" noMove="1" noResize="1" noEditPoints="1" noAdjustHandles="1" noChangeArrowheads="1" noChangeShapeType="1" noTextEdit="1"/>
              </p:cNvSpPr>
              <p:nvPr/>
            </p:nvSpPr>
            <p:spPr>
              <a:xfrm>
                <a:off x="5061504" y="2550499"/>
                <a:ext cx="290143" cy="332399"/>
              </a:xfrm>
              <a:prstGeom prst="rect">
                <a:avLst/>
              </a:prstGeom>
              <a:blipFill>
                <a:blip r:embed="rId12"/>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0847B354-FCA7-4D38-832B-C4F2F5FD2278}"/>
                  </a:ext>
                </a:extLst>
              </p:cNvPr>
              <p:cNvSpPr txBox="1"/>
              <p:nvPr/>
            </p:nvSpPr>
            <p:spPr>
              <a:xfrm>
                <a:off x="4930204" y="2384300"/>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5" name="CuadroTexto 24">
                <a:extLst>
                  <a:ext uri="{FF2B5EF4-FFF2-40B4-BE49-F238E27FC236}">
                    <a16:creationId xmlns:a16="http://schemas.microsoft.com/office/drawing/2014/main" id="{0847B354-FCA7-4D38-832B-C4F2F5FD2278}"/>
                  </a:ext>
                </a:extLst>
              </p:cNvPr>
              <p:cNvSpPr txBox="1">
                <a:spLocks noRot="1" noChangeAspect="1" noMove="1" noResize="1" noEditPoints="1" noAdjustHandles="1" noChangeArrowheads="1" noChangeShapeType="1" noTextEdit="1"/>
              </p:cNvSpPr>
              <p:nvPr/>
            </p:nvSpPr>
            <p:spPr>
              <a:xfrm>
                <a:off x="4930204" y="2384300"/>
                <a:ext cx="290143" cy="332399"/>
              </a:xfrm>
              <a:prstGeom prst="rect">
                <a:avLst/>
              </a:prstGeom>
              <a:blipFill>
                <a:blip r:embed="rId13"/>
                <a:stretch>
                  <a:fillRect l="-23404" r="-23404"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ángulo 25">
                <a:extLst>
                  <a:ext uri="{FF2B5EF4-FFF2-40B4-BE49-F238E27FC236}">
                    <a16:creationId xmlns:a16="http://schemas.microsoft.com/office/drawing/2014/main" id="{9B5D9762-4B0F-490A-80FB-9F69E4F99878}"/>
                  </a:ext>
                </a:extLst>
              </p:cNvPr>
              <p:cNvSpPr/>
              <p:nvPr/>
            </p:nvSpPr>
            <p:spPr>
              <a:xfrm>
                <a:off x="3732003" y="2245698"/>
                <a:ext cx="839709"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1" i="1">
                              <a:solidFill>
                                <a:prstClr val="white"/>
                              </a:solidFill>
                              <a:latin typeface="Cambria Math" panose="02040503050406030204" pitchFamily="18" charset="0"/>
                            </a:rPr>
                          </m:ctrlPr>
                        </m:sSubPr>
                        <m:e>
                          <m:r>
                            <a:rPr lang="en-US" sz="2800" b="1" i="1">
                              <a:solidFill>
                                <a:prstClr val="white"/>
                              </a:solidFill>
                              <a:latin typeface="Cambria Math" panose="02040503050406030204" pitchFamily="18" charset="0"/>
                            </a:rPr>
                            <m:t>𝑲</m:t>
                          </m:r>
                        </m:e>
                        <m:sub>
                          <m:r>
                            <a:rPr lang="en-US" sz="2800" b="1" i="1">
                              <a:solidFill>
                                <a:prstClr val="white"/>
                              </a:solidFill>
                              <a:latin typeface="Cambria Math" panose="02040503050406030204" pitchFamily="18" charset="0"/>
                            </a:rPr>
                            <m:t>𝟐</m:t>
                          </m:r>
                        </m:sub>
                      </m:sSub>
                    </m:oMath>
                  </m:oMathPara>
                </a14:m>
                <a:endParaRPr lang="es-419" sz="2800" b="1">
                  <a:solidFill>
                    <a:prstClr val="white"/>
                  </a:solidFill>
                  <a:latin typeface="Corbel"/>
                </a:endParaRPr>
              </a:p>
            </p:txBody>
          </p:sp>
        </mc:Choice>
        <mc:Fallback>
          <p:sp>
            <p:nvSpPr>
              <p:cNvPr id="26" name="Rectángulo 25">
                <a:extLst>
                  <a:ext uri="{FF2B5EF4-FFF2-40B4-BE49-F238E27FC236}">
                    <a16:creationId xmlns:a16="http://schemas.microsoft.com/office/drawing/2014/main" id="{9B5D9762-4B0F-490A-80FB-9F69E4F99878}"/>
                  </a:ext>
                </a:extLst>
              </p:cNvPr>
              <p:cNvSpPr>
                <a:spLocks noRot="1" noChangeAspect="1" noMove="1" noResize="1" noEditPoints="1" noAdjustHandles="1" noChangeArrowheads="1" noChangeShapeType="1" noTextEdit="1"/>
              </p:cNvSpPr>
              <p:nvPr/>
            </p:nvSpPr>
            <p:spPr>
              <a:xfrm>
                <a:off x="3732003" y="2245698"/>
                <a:ext cx="839709" cy="609600"/>
              </a:xfrm>
              <a:prstGeom prst="rect">
                <a:avLst/>
              </a:prstGeom>
              <a:blipFill>
                <a:blip r:embed="rId14"/>
                <a:stretch>
                  <a:fillRect/>
                </a:stretch>
              </a:blipFill>
              <a:ln w="57150">
                <a:solidFill>
                  <a:schemeClr val="tx1"/>
                </a:solidFill>
                <a:miter lim="800000"/>
              </a:ln>
            </p:spPr>
            <p:txBody>
              <a:bodyPr/>
              <a:lstStyle/>
              <a:p>
                <a:r>
                  <a:rPr lang="en-US">
                    <a:noFill/>
                  </a:rPr>
                  <a:t> </a:t>
                </a:r>
              </a:p>
            </p:txBody>
          </p:sp>
        </mc:Fallback>
      </mc:AlternateContent>
      <p:cxnSp>
        <p:nvCxnSpPr>
          <p:cNvPr id="27" name="Conector: angular 26">
            <a:extLst>
              <a:ext uri="{FF2B5EF4-FFF2-40B4-BE49-F238E27FC236}">
                <a16:creationId xmlns:a16="http://schemas.microsoft.com/office/drawing/2014/main" id="{DA575826-E056-4474-94FB-8FA589C6681E}"/>
              </a:ext>
            </a:extLst>
          </p:cNvPr>
          <p:cNvCxnSpPr>
            <a:cxnSpLocks/>
            <a:stCxn id="20" idx="1"/>
            <a:endCxn id="24" idx="2"/>
          </p:cNvCxnSpPr>
          <p:nvPr/>
        </p:nvCxnSpPr>
        <p:spPr>
          <a:xfrm rot="10800000">
            <a:off x="5206577" y="2882899"/>
            <a:ext cx="2687407" cy="2232305"/>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8267B200-1F48-48DB-93C1-83B603BAA6F6}"/>
              </a:ext>
            </a:extLst>
          </p:cNvPr>
          <p:cNvCxnSpPr>
            <a:cxnSpLocks/>
            <a:stCxn id="8" idx="3"/>
          </p:cNvCxnSpPr>
          <p:nvPr/>
        </p:nvCxnSpPr>
        <p:spPr>
          <a:xfrm>
            <a:off x="11096018" y="2552214"/>
            <a:ext cx="787737"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5ED4185C-D8FC-4D7D-8336-CD4E25E04199}"/>
              </a:ext>
            </a:extLst>
          </p:cNvPr>
          <p:cNvCxnSpPr>
            <a:cxnSpLocks/>
            <a:stCxn id="26" idx="3"/>
            <a:endCxn id="25" idx="1"/>
          </p:cNvCxnSpPr>
          <p:nvPr/>
        </p:nvCxnSpPr>
        <p:spPr>
          <a:xfrm>
            <a:off x="4571711" y="2550499"/>
            <a:ext cx="358492" cy="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0059DAA1-2291-4EF7-A71B-ECCB4E101D96}"/>
              </a:ext>
            </a:extLst>
          </p:cNvPr>
          <p:cNvCxnSpPr>
            <a:cxnSpLocks/>
            <a:stCxn id="34" idx="3"/>
            <a:endCxn id="26" idx="1"/>
          </p:cNvCxnSpPr>
          <p:nvPr/>
        </p:nvCxnSpPr>
        <p:spPr>
          <a:xfrm>
            <a:off x="3241678" y="2550498"/>
            <a:ext cx="490325"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C59DE3E9-AF79-4DDC-B145-023915D396D5}"/>
              </a:ext>
            </a:extLst>
          </p:cNvPr>
          <p:cNvCxnSpPr>
            <a:cxnSpLocks/>
            <a:stCxn id="22" idx="6"/>
            <a:endCxn id="4" idx="1"/>
          </p:cNvCxnSpPr>
          <p:nvPr/>
        </p:nvCxnSpPr>
        <p:spPr>
          <a:xfrm>
            <a:off x="5475421" y="2552214"/>
            <a:ext cx="700510"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Rectángulo 33">
                <a:extLst>
                  <a:ext uri="{FF2B5EF4-FFF2-40B4-BE49-F238E27FC236}">
                    <a16:creationId xmlns:a16="http://schemas.microsoft.com/office/drawing/2014/main" id="{73F48AF0-A0CF-4CCD-B9B9-A31D3B0C0AD1}"/>
                  </a:ext>
                </a:extLst>
              </p:cNvPr>
              <p:cNvSpPr/>
              <p:nvPr/>
            </p:nvSpPr>
            <p:spPr>
              <a:xfrm>
                <a:off x="2659873" y="2210408"/>
                <a:ext cx="581805" cy="68018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34" name="Rectángulo 33">
                <a:extLst>
                  <a:ext uri="{FF2B5EF4-FFF2-40B4-BE49-F238E27FC236}">
                    <a16:creationId xmlns:a16="http://schemas.microsoft.com/office/drawing/2014/main" id="{73F48AF0-A0CF-4CCD-B9B9-A31D3B0C0AD1}"/>
                  </a:ext>
                </a:extLst>
              </p:cNvPr>
              <p:cNvSpPr>
                <a:spLocks noRot="1" noChangeAspect="1" noMove="1" noResize="1" noEditPoints="1" noAdjustHandles="1" noChangeArrowheads="1" noChangeShapeType="1" noTextEdit="1"/>
              </p:cNvSpPr>
              <p:nvPr/>
            </p:nvSpPr>
            <p:spPr>
              <a:xfrm>
                <a:off x="2659873" y="2210408"/>
                <a:ext cx="581805" cy="680180"/>
              </a:xfrm>
              <a:prstGeom prst="rect">
                <a:avLst/>
              </a:prstGeom>
              <a:blipFill>
                <a:blip r:embed="rId15"/>
                <a:stretch>
                  <a:fillRect/>
                </a:stretch>
              </a:blipFill>
              <a:ln w="57150">
                <a:solidFill>
                  <a:schemeClr val="tx1"/>
                </a:solidFill>
                <a:miter lim="800000"/>
              </a:ln>
            </p:spPr>
            <p:txBody>
              <a:bodyPr/>
              <a:lstStyle/>
              <a:p>
                <a:r>
                  <a:rPr lang="en-US">
                    <a:noFill/>
                  </a:rPr>
                  <a:t> </a:t>
                </a:r>
              </a:p>
            </p:txBody>
          </p:sp>
        </mc:Fallback>
      </mc:AlternateContent>
      <p:sp>
        <p:nvSpPr>
          <p:cNvPr id="39" name="Elipse 38">
            <a:extLst>
              <a:ext uri="{FF2B5EF4-FFF2-40B4-BE49-F238E27FC236}">
                <a16:creationId xmlns:a16="http://schemas.microsoft.com/office/drawing/2014/main" id="{E3476CEA-E04B-4B30-A284-C3D76D04A787}"/>
              </a:ext>
            </a:extLst>
          </p:cNvPr>
          <p:cNvSpPr/>
          <p:nvPr/>
        </p:nvSpPr>
        <p:spPr>
          <a:xfrm>
            <a:off x="1677325"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ABE94264-8077-4B11-AF2F-353BAB977CAF}"/>
                  </a:ext>
                </a:extLst>
              </p:cNvPr>
              <p:cNvSpPr txBox="1"/>
              <p:nvPr/>
            </p:nvSpPr>
            <p:spPr>
              <a:xfrm>
                <a:off x="1796808" y="2550499"/>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0" name="CuadroTexto 39">
                <a:extLst>
                  <a:ext uri="{FF2B5EF4-FFF2-40B4-BE49-F238E27FC236}">
                    <a16:creationId xmlns:a16="http://schemas.microsoft.com/office/drawing/2014/main" id="{ABE94264-8077-4B11-AF2F-353BAB977CAF}"/>
                  </a:ext>
                </a:extLst>
              </p:cNvPr>
              <p:cNvSpPr txBox="1">
                <a:spLocks noRot="1" noChangeAspect="1" noMove="1" noResize="1" noEditPoints="1" noAdjustHandles="1" noChangeArrowheads="1" noChangeShapeType="1" noTextEdit="1"/>
              </p:cNvSpPr>
              <p:nvPr/>
            </p:nvSpPr>
            <p:spPr>
              <a:xfrm>
                <a:off x="1796808" y="2550499"/>
                <a:ext cx="290143" cy="332399"/>
              </a:xfrm>
              <a:prstGeom prst="rect">
                <a:avLst/>
              </a:prstGeom>
              <a:blipFill>
                <a:blip r:embed="rId16"/>
                <a:stretch>
                  <a:fillRect l="-8511"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384AB8EE-012D-4F09-8EEF-F768E5B1AD72}"/>
                  </a:ext>
                </a:extLst>
              </p:cNvPr>
              <p:cNvSpPr txBox="1"/>
              <p:nvPr/>
            </p:nvSpPr>
            <p:spPr>
              <a:xfrm>
                <a:off x="1665508" y="2384300"/>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1" name="CuadroTexto 40">
                <a:extLst>
                  <a:ext uri="{FF2B5EF4-FFF2-40B4-BE49-F238E27FC236}">
                    <a16:creationId xmlns:a16="http://schemas.microsoft.com/office/drawing/2014/main" id="{384AB8EE-012D-4F09-8EEF-F768E5B1AD72}"/>
                  </a:ext>
                </a:extLst>
              </p:cNvPr>
              <p:cNvSpPr txBox="1">
                <a:spLocks noRot="1" noChangeAspect="1" noMove="1" noResize="1" noEditPoints="1" noAdjustHandles="1" noChangeArrowheads="1" noChangeShapeType="1" noTextEdit="1"/>
              </p:cNvSpPr>
              <p:nvPr/>
            </p:nvSpPr>
            <p:spPr>
              <a:xfrm>
                <a:off x="1665508" y="2384300"/>
                <a:ext cx="290143" cy="332399"/>
              </a:xfrm>
              <a:prstGeom prst="rect">
                <a:avLst/>
              </a:prstGeom>
              <a:blipFill>
                <a:blip r:embed="rId13"/>
                <a:stretch>
                  <a:fillRect l="-22917" r="-20833" b="-5455"/>
                </a:stretch>
              </a:blipFill>
            </p:spPr>
            <p:txBody>
              <a:bodyPr/>
              <a:lstStyle/>
              <a:p>
                <a:r>
                  <a:rPr lang="en-US">
                    <a:noFill/>
                  </a:rPr>
                  <a:t> </a:t>
                </a:r>
              </a:p>
            </p:txBody>
          </p:sp>
        </mc:Fallback>
      </mc:AlternateContent>
      <p:cxnSp>
        <p:nvCxnSpPr>
          <p:cNvPr id="48" name="Conector recto de flecha 47">
            <a:extLst>
              <a:ext uri="{FF2B5EF4-FFF2-40B4-BE49-F238E27FC236}">
                <a16:creationId xmlns:a16="http://schemas.microsoft.com/office/drawing/2014/main" id="{3E1CEC55-D2D2-46E8-9F2F-550B9832E118}"/>
              </a:ext>
            </a:extLst>
          </p:cNvPr>
          <p:cNvCxnSpPr>
            <a:cxnSpLocks/>
            <a:stCxn id="39" idx="6"/>
            <a:endCxn id="34" idx="1"/>
          </p:cNvCxnSpPr>
          <p:nvPr/>
        </p:nvCxnSpPr>
        <p:spPr>
          <a:xfrm flipV="1">
            <a:off x="2210726" y="2550498"/>
            <a:ext cx="449147" cy="171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de flecha 53">
            <a:extLst>
              <a:ext uri="{FF2B5EF4-FFF2-40B4-BE49-F238E27FC236}">
                <a16:creationId xmlns:a16="http://schemas.microsoft.com/office/drawing/2014/main" id="{4575CF22-B3AE-47BC-9527-A35685C9DE35}"/>
              </a:ext>
            </a:extLst>
          </p:cNvPr>
          <p:cNvCxnSpPr>
            <a:cxnSpLocks/>
            <a:endCxn id="41" idx="1"/>
          </p:cNvCxnSpPr>
          <p:nvPr/>
        </p:nvCxnSpPr>
        <p:spPr>
          <a:xfrm flipV="1">
            <a:off x="723075" y="2550500"/>
            <a:ext cx="942432" cy="822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angular 56">
            <a:extLst>
              <a:ext uri="{FF2B5EF4-FFF2-40B4-BE49-F238E27FC236}">
                <a16:creationId xmlns:a16="http://schemas.microsoft.com/office/drawing/2014/main" id="{1FC14F7F-C7AE-4B2E-B565-1C9F036D3035}"/>
              </a:ext>
            </a:extLst>
          </p:cNvPr>
          <p:cNvCxnSpPr>
            <a:cxnSpLocks/>
            <a:stCxn id="16" idx="2"/>
            <a:endCxn id="40" idx="2"/>
          </p:cNvCxnSpPr>
          <p:nvPr/>
        </p:nvCxnSpPr>
        <p:spPr>
          <a:xfrm rot="5400000">
            <a:off x="6556574" y="-2085791"/>
            <a:ext cx="353994" cy="9583383"/>
          </a:xfrm>
          <a:prstGeom prst="bentConnector3">
            <a:avLst>
              <a:gd name="adj1" fmla="val 936728"/>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CuadroTexto 61">
                <a:extLst>
                  <a:ext uri="{FF2B5EF4-FFF2-40B4-BE49-F238E27FC236}">
                    <a16:creationId xmlns:a16="http://schemas.microsoft.com/office/drawing/2014/main" id="{5C6000E2-02DB-4B2C-9C7E-A00B460E8E0C}"/>
                  </a:ext>
                </a:extLst>
              </p:cNvPr>
              <p:cNvSpPr txBox="1"/>
              <p:nvPr/>
            </p:nvSpPr>
            <p:spPr>
              <a:xfrm>
                <a:off x="2269892" y="2115523"/>
                <a:ext cx="21993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oMath>
                  </m:oMathPara>
                </a14:m>
                <a:endParaRPr lang="es-419" sz="3200">
                  <a:solidFill>
                    <a:prstClr val="white"/>
                  </a:solidFill>
                  <a:latin typeface="Corbel"/>
                </a:endParaRPr>
              </a:p>
            </p:txBody>
          </p:sp>
        </mc:Choice>
        <mc:Fallback>
          <p:sp>
            <p:nvSpPr>
              <p:cNvPr id="62" name="CuadroTexto 61">
                <a:extLst>
                  <a:ext uri="{FF2B5EF4-FFF2-40B4-BE49-F238E27FC236}">
                    <a16:creationId xmlns:a16="http://schemas.microsoft.com/office/drawing/2014/main" id="{5C6000E2-02DB-4B2C-9C7E-A00B460E8E0C}"/>
                  </a:ext>
                </a:extLst>
              </p:cNvPr>
              <p:cNvSpPr txBox="1">
                <a:spLocks noRot="1" noChangeAspect="1" noMove="1" noResize="1" noEditPoints="1" noAdjustHandles="1" noChangeArrowheads="1" noChangeShapeType="1" noTextEdit="1"/>
              </p:cNvSpPr>
              <p:nvPr/>
            </p:nvSpPr>
            <p:spPr>
              <a:xfrm>
                <a:off x="2269892" y="2115523"/>
                <a:ext cx="219932" cy="332399"/>
              </a:xfrm>
              <a:prstGeom prst="rect">
                <a:avLst/>
              </a:prstGeom>
              <a:blipFill>
                <a:blip r:embed="rId17"/>
                <a:stretch>
                  <a:fillRect l="-19444" r="-194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CuadroTexto 62">
                <a:extLst>
                  <a:ext uri="{FF2B5EF4-FFF2-40B4-BE49-F238E27FC236}">
                    <a16:creationId xmlns:a16="http://schemas.microsoft.com/office/drawing/2014/main" id="{FF81BA56-9F52-48E9-A53D-C6C7CDBFADE4}"/>
                  </a:ext>
                </a:extLst>
              </p:cNvPr>
              <p:cNvSpPr txBox="1"/>
              <p:nvPr/>
            </p:nvSpPr>
            <p:spPr>
              <a:xfrm>
                <a:off x="3411676" y="2002416"/>
                <a:ext cx="294953"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3200" i="1">
                          <a:solidFill>
                            <a:prstClr val="white"/>
                          </a:solidFill>
                          <a:latin typeface="Cambria Math" panose="02040503050406030204" pitchFamily="18" charset="0"/>
                        </a:rPr>
                        <m:t>𝜉</m:t>
                      </m:r>
                    </m:oMath>
                  </m:oMathPara>
                </a14:m>
                <a:endParaRPr lang="es-419" sz="3200">
                  <a:solidFill>
                    <a:prstClr val="white"/>
                  </a:solidFill>
                  <a:latin typeface="Corbel"/>
                </a:endParaRPr>
              </a:p>
            </p:txBody>
          </p:sp>
        </mc:Choice>
        <mc:Fallback>
          <p:sp>
            <p:nvSpPr>
              <p:cNvPr id="63" name="CuadroTexto 62">
                <a:extLst>
                  <a:ext uri="{FF2B5EF4-FFF2-40B4-BE49-F238E27FC236}">
                    <a16:creationId xmlns:a16="http://schemas.microsoft.com/office/drawing/2014/main" id="{FF81BA56-9F52-48E9-A53D-C6C7CDBFADE4}"/>
                  </a:ext>
                </a:extLst>
              </p:cNvPr>
              <p:cNvSpPr txBox="1">
                <a:spLocks noRot="1" noChangeAspect="1" noMove="1" noResize="1" noEditPoints="1" noAdjustHandles="1" noChangeArrowheads="1" noChangeShapeType="1" noTextEdit="1"/>
              </p:cNvSpPr>
              <p:nvPr/>
            </p:nvSpPr>
            <p:spPr>
              <a:xfrm>
                <a:off x="3411676" y="2002416"/>
                <a:ext cx="294953" cy="443198"/>
              </a:xfrm>
              <a:prstGeom prst="rect">
                <a:avLst/>
              </a:prstGeom>
              <a:blipFill>
                <a:blip r:embed="rId18"/>
                <a:stretch>
                  <a:fillRect/>
                </a:stretch>
              </a:blipFill>
            </p:spPr>
            <p:txBody>
              <a:bodyPr/>
              <a:lstStyle/>
              <a:p>
                <a:r>
                  <a:rPr lang="en-US">
                    <a:noFill/>
                  </a:rPr>
                  <a:t> </a:t>
                </a:r>
              </a:p>
            </p:txBody>
          </p:sp>
        </mc:Fallback>
      </mc:AlternateContent>
      <p:sp>
        <p:nvSpPr>
          <p:cNvPr id="65" name="CuadroTexto 64">
            <a:extLst>
              <a:ext uri="{FF2B5EF4-FFF2-40B4-BE49-F238E27FC236}">
                <a16:creationId xmlns:a16="http://schemas.microsoft.com/office/drawing/2014/main" id="{A2DBAD5F-D0AB-4263-849E-4542F40E7E54}"/>
              </a:ext>
            </a:extLst>
          </p:cNvPr>
          <p:cNvSpPr txBox="1"/>
          <p:nvPr/>
        </p:nvSpPr>
        <p:spPr>
          <a:xfrm>
            <a:off x="385093" y="6398696"/>
            <a:ext cx="6094070" cy="369332"/>
          </a:xfrm>
          <a:prstGeom prst="rect">
            <a:avLst/>
          </a:prstGeom>
          <a:noFill/>
        </p:spPr>
        <p:txBody>
          <a:bodyPr wrap="square">
            <a:spAutoFit/>
          </a:bodyPr>
          <a:lstStyle/>
          <a:p>
            <a:r>
              <a:rPr lang="es-419">
                <a:solidFill>
                  <a:prstClr val="white"/>
                </a:solidFill>
                <a:latin typeface="Corbel"/>
              </a:rPr>
              <a:t>similar a un controlador PI clásico</a:t>
            </a:r>
          </a:p>
        </p:txBody>
      </p:sp>
    </p:spTree>
    <p:extLst>
      <p:ext uri="{BB962C8B-B14F-4D97-AF65-F5344CB8AC3E}">
        <p14:creationId xmlns:p14="http://schemas.microsoft.com/office/powerpoint/2010/main" val="11826513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4" grpId="0"/>
      <p:bldP spid="15" grpId="0"/>
      <p:bldP spid="16" grpId="0"/>
      <p:bldP spid="17" grpId="0"/>
      <p:bldP spid="18" grpId="0" animBg="1"/>
      <p:bldP spid="19" grpId="0"/>
      <p:bldP spid="20" grpId="0" animBg="1"/>
      <p:bldP spid="22" grpId="0" animBg="1"/>
      <p:bldP spid="23" grpId="0"/>
      <p:bldP spid="24" grpId="0"/>
      <p:bldP spid="25" grpId="0"/>
      <p:bldP spid="26" grpId="0" animBg="1"/>
      <p:bldP spid="34" grpId="0" animBg="1"/>
      <p:bldP spid="39" grpId="0" animBg="1"/>
      <p:bldP spid="40" grpId="0"/>
      <p:bldP spid="41" grpId="0"/>
      <p:bldP spid="62" grpId="0"/>
      <p:bldP spid="63" grpId="0"/>
      <p:bldP spid="6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3291C5-5BF3-4108-AA34-F1EF40EFECE4}"/>
              </a:ext>
            </a:extLst>
          </p:cNvPr>
          <p:cNvSpPr>
            <a:spLocks noGrp="1"/>
          </p:cNvSpPr>
          <p:nvPr>
            <p:ph type="title"/>
          </p:nvPr>
        </p:nvSpPr>
        <p:spPr/>
        <p:txBody>
          <a:bodyPr/>
          <a:lstStyle/>
          <a:p>
            <a:r>
              <a:rPr lang="es-419"/>
              <a:t>Acción integral</a:t>
            </a:r>
          </a:p>
        </p:txBody>
      </p:sp>
      <mc:AlternateContent xmlns:mc="http://schemas.openxmlformats.org/markup-compatibility/2006">
        <mc:Choice xmlns:a14="http://schemas.microsoft.com/office/drawing/2010/main" Requires="a14">
          <p:sp>
            <p:nvSpPr>
              <p:cNvPr id="6" name="Marcador de contenido 5">
                <a:extLst>
                  <a:ext uri="{FF2B5EF4-FFF2-40B4-BE49-F238E27FC236}">
                    <a16:creationId xmlns:a16="http://schemas.microsoft.com/office/drawing/2014/main" id="{4F695B4B-6161-4593-A643-ED1412719FAC}"/>
                  </a:ext>
                </a:extLst>
              </p:cNvPr>
              <p:cNvSpPr>
                <a:spLocks noGrp="1"/>
              </p:cNvSpPr>
              <p:nvPr>
                <p:ph idx="1"/>
              </p:nvPr>
            </p:nvSpPr>
            <p:spPr/>
            <p:txBody>
              <a:bodyPr/>
              <a:lstStyle/>
              <a:p>
                <a:r>
                  <a:rPr lang="es-ES"/>
                  <a:t>Para realizar el proyecto de la ley de control de variables de estado:</a:t>
                </a:r>
              </a:p>
              <a:p>
                <a:endParaRPr lang="es-ES"/>
              </a:p>
              <a:p>
                <a:r>
                  <a:rPr lang="es-ES"/>
                  <a:t>en la realimentación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𝑲</m:t>
                        </m:r>
                      </m:e>
                      <m:sub>
                        <m:r>
                          <a:rPr lang="en-US" b="1" i="1" smtClean="0">
                            <a:latin typeface="Cambria Math" panose="02040503050406030204" pitchFamily="18" charset="0"/>
                          </a:rPr>
                          <m:t>𝟏</m:t>
                        </m:r>
                      </m:sub>
                    </m:sSub>
                  </m:oMath>
                </a14:m>
                <a:r>
                  <a:rPr lang="es-ES"/>
                  <a:t> es referente a los estados del sistema y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𝑲</m:t>
                        </m:r>
                      </m:e>
                      <m:sub>
                        <m:r>
                          <a:rPr lang="en-US" b="1" i="1" smtClean="0">
                            <a:latin typeface="Cambria Math" panose="02040503050406030204" pitchFamily="18" charset="0"/>
                          </a:rPr>
                          <m:t>𝟐</m:t>
                        </m:r>
                      </m:sub>
                    </m:sSub>
                    <m:r>
                      <a:rPr lang="en-US" b="1" i="1">
                        <a:latin typeface="Cambria Math" panose="02040503050406030204" pitchFamily="18" charset="0"/>
                      </a:rPr>
                      <m:t> </m:t>
                    </m:r>
                  </m:oMath>
                </a14:m>
                <a:r>
                  <a:rPr lang="es-ES"/>
                  <a:t>a los estados del controlador que fue colocado en el lazo de control.</a:t>
                </a:r>
              </a:p>
              <a:p>
                <a:endParaRPr lang="es-ES"/>
              </a:p>
              <a:p>
                <a:endParaRPr lang="es-ES"/>
              </a:p>
              <a:p>
                <a:r>
                  <a:rPr lang="es-419"/>
                  <a:t>sistema aumentado en EE:</a:t>
                </a:r>
              </a:p>
            </p:txBody>
          </p:sp>
        </mc:Choice>
        <mc:Fallback>
          <p:sp>
            <p:nvSpPr>
              <p:cNvPr id="6" name="Marcador de contenido 5">
                <a:extLst>
                  <a:ext uri="{FF2B5EF4-FFF2-40B4-BE49-F238E27FC236}">
                    <a16:creationId xmlns:a16="http://schemas.microsoft.com/office/drawing/2014/main" id="{4F695B4B-6161-4593-A643-ED1412719FAC}"/>
                  </a:ext>
                </a:extLst>
              </p:cNvPr>
              <p:cNvSpPr>
                <a:spLocks noGrp="1" noRot="1" noChangeAspect="1" noMove="1" noResize="1" noEditPoints="1" noAdjustHandles="1" noChangeArrowheads="1" noChangeShapeType="1" noTextEdit="1"/>
              </p:cNvSpPr>
              <p:nvPr>
                <p:ph idx="1"/>
              </p:nvPr>
            </p:nvSpPr>
            <p:spPr>
              <a:blipFill>
                <a:blip r:embed="rId6"/>
                <a:stretch>
                  <a:fillRect l="-933" t="-2000" r="-467"/>
                </a:stretch>
              </a:blipFill>
            </p:spPr>
            <p:txBody>
              <a:bodyPr/>
              <a:lstStyle/>
              <a:p>
                <a:r>
                  <a:rPr lang="en-US">
                    <a:noFill/>
                  </a:rPr>
                  <a:t> </a:t>
                </a:r>
              </a:p>
            </p:txBody>
          </p:sp>
        </mc:Fallback>
      </mc:AlternateContent>
      <p:pic>
        <p:nvPicPr>
          <p:cNvPr id="7" name="Marcador de contenido 3">
            <a:extLst>
              <a:ext uri="{FF2B5EF4-FFF2-40B4-BE49-F238E27FC236}">
                <a16:creationId xmlns:a16="http://schemas.microsoft.com/office/drawing/2014/main" id="{DF3F6B2B-33AA-4C3E-98C6-5B45D2EFFCF7}"/>
              </a:ext>
            </a:extLst>
          </p:cNvPr>
          <p:cNvPicPr>
            <a:picLocks noChangeAspect="1"/>
          </p:cNvPicPr>
          <p:nvPr/>
        </p:nvPicPr>
        <p:blipFill>
          <a:blip r:embed="rId7"/>
          <a:stretch>
            <a:fillRect/>
          </a:stretch>
        </p:blipFill>
        <p:spPr>
          <a:xfrm>
            <a:off x="7010400" y="4800600"/>
            <a:ext cx="4953000" cy="1892046"/>
          </a:xfrm>
          <a:prstGeom prst="rect">
            <a:avLst/>
          </a:prstGeom>
        </p:spPr>
      </p:pic>
      <p:pic>
        <p:nvPicPr>
          <p:cNvPr id="10" name="Imagen 9">
            <a:extLst>
              <a:ext uri="{FF2B5EF4-FFF2-40B4-BE49-F238E27FC236}">
                <a16:creationId xmlns:a16="http://schemas.microsoft.com/office/drawing/2014/main" id="{C8797BA0-4BAB-46DE-8179-C5E218F03230}"/>
              </a:ext>
            </a:extLst>
          </p:cNvPr>
          <p:cNvPicPr>
            <a:picLocks noChangeAspect="1"/>
          </p:cNvPicPr>
          <p:nvPr>
            <p:custDataLst>
              <p:tags r:id="rId1"/>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905001" y="2590800"/>
            <a:ext cx="2820575" cy="254476"/>
          </a:xfrm>
          <a:prstGeom prst="rect">
            <a:avLst/>
          </a:prstGeom>
        </p:spPr>
      </p:pic>
      <p:pic>
        <p:nvPicPr>
          <p:cNvPr id="18" name="Imagen 17">
            <a:extLst>
              <a:ext uri="{FF2B5EF4-FFF2-40B4-BE49-F238E27FC236}">
                <a16:creationId xmlns:a16="http://schemas.microsoft.com/office/drawing/2014/main" id="{EA023034-3865-4D5A-8AD7-D9D0D45651DB}"/>
              </a:ext>
            </a:extLst>
          </p:cNvPr>
          <p:cNvPicPr>
            <a:picLocks noChangeAspect="1"/>
          </p:cNvPicPr>
          <p:nvPr>
            <p:custDataLst>
              <p:tags r:id="rId2"/>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905001" y="4470354"/>
            <a:ext cx="3210669" cy="303238"/>
          </a:xfrm>
          <a:prstGeom prst="rect">
            <a:avLst/>
          </a:prstGeom>
        </p:spPr>
      </p:pic>
      <p:pic>
        <p:nvPicPr>
          <p:cNvPr id="16" name="Imagen 15">
            <a:extLst>
              <a:ext uri="{FF2B5EF4-FFF2-40B4-BE49-F238E27FC236}">
                <a16:creationId xmlns:a16="http://schemas.microsoft.com/office/drawing/2014/main" id="{04126113-3BDB-4931-AA75-D60231D31B78}"/>
              </a:ext>
            </a:extLst>
          </p:cNvPr>
          <p:cNvPicPr>
            <a:picLocks noChangeAspect="1"/>
          </p:cNvPicPr>
          <p:nvPr>
            <p:custDataLst>
              <p:tags r:id="rId3"/>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895475" y="5597959"/>
            <a:ext cx="5229719" cy="608000"/>
          </a:xfrm>
          <a:prstGeom prst="rect">
            <a:avLst/>
          </a:prstGeom>
        </p:spPr>
      </p:pic>
      <p:pic>
        <p:nvPicPr>
          <p:cNvPr id="19" name="Imagen 18">
            <a:extLst>
              <a:ext uri="{FF2B5EF4-FFF2-40B4-BE49-F238E27FC236}">
                <a16:creationId xmlns:a16="http://schemas.microsoft.com/office/drawing/2014/main" id="{0E9181D0-A703-47B0-B826-20838A38DD18}"/>
              </a:ext>
            </a:extLst>
          </p:cNvPr>
          <p:cNvPicPr>
            <a:picLocks noChangeAspect="1"/>
          </p:cNvPicPr>
          <p:nvPr>
            <p:custDataLst>
              <p:tags r:id="rId4"/>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901347" y="4016712"/>
            <a:ext cx="2377143" cy="254476"/>
          </a:xfrm>
          <a:prstGeom prst="rect">
            <a:avLst/>
          </a:prstGeom>
        </p:spPr>
      </p:pic>
    </p:spTree>
    <p:extLst>
      <p:ext uri="{BB962C8B-B14F-4D97-AF65-F5344CB8AC3E}">
        <p14:creationId xmlns:p14="http://schemas.microsoft.com/office/powerpoint/2010/main" val="15069111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3291C5-5BF3-4108-AA34-F1EF40EFECE4}"/>
              </a:ext>
            </a:extLst>
          </p:cNvPr>
          <p:cNvSpPr>
            <a:spLocks noGrp="1"/>
          </p:cNvSpPr>
          <p:nvPr>
            <p:ph type="title"/>
          </p:nvPr>
        </p:nvSpPr>
        <p:spPr/>
        <p:txBody>
          <a:bodyPr/>
          <a:lstStyle/>
          <a:p>
            <a:r>
              <a:rPr lang="es-419"/>
              <a:t>Acción integral</a:t>
            </a:r>
          </a:p>
        </p:txBody>
      </p:sp>
      <p:sp>
        <p:nvSpPr>
          <p:cNvPr id="6" name="Marcador de contenido 5">
            <a:extLst>
              <a:ext uri="{FF2B5EF4-FFF2-40B4-BE49-F238E27FC236}">
                <a16:creationId xmlns:a16="http://schemas.microsoft.com/office/drawing/2014/main" id="{4F695B4B-6161-4593-A643-ED1412719FAC}"/>
              </a:ext>
            </a:extLst>
          </p:cNvPr>
          <p:cNvSpPr>
            <a:spLocks noGrp="1"/>
          </p:cNvSpPr>
          <p:nvPr>
            <p:ph idx="1"/>
          </p:nvPr>
        </p:nvSpPr>
        <p:spPr>
          <a:xfrm>
            <a:off x="1524002" y="2514600"/>
            <a:ext cx="9144000" cy="3657600"/>
          </a:xfrm>
        </p:spPr>
        <p:txBody>
          <a:bodyPr/>
          <a:lstStyle/>
          <a:p>
            <a:r>
              <a:rPr lang="es-ES"/>
              <a:t>El cual puede ser reescrito de la siguiente forma compacta:</a:t>
            </a:r>
          </a:p>
        </p:txBody>
      </p:sp>
      <p:pic>
        <p:nvPicPr>
          <p:cNvPr id="7" name="Marcador de contenido 3">
            <a:extLst>
              <a:ext uri="{FF2B5EF4-FFF2-40B4-BE49-F238E27FC236}">
                <a16:creationId xmlns:a16="http://schemas.microsoft.com/office/drawing/2014/main" id="{DF3F6B2B-33AA-4C3E-98C6-5B45D2EFFCF7}"/>
              </a:ext>
            </a:extLst>
          </p:cNvPr>
          <p:cNvPicPr>
            <a:picLocks noChangeAspect="1"/>
          </p:cNvPicPr>
          <p:nvPr/>
        </p:nvPicPr>
        <p:blipFill>
          <a:blip r:embed="rId10"/>
          <a:stretch>
            <a:fillRect/>
          </a:stretch>
        </p:blipFill>
        <p:spPr>
          <a:xfrm>
            <a:off x="7010400" y="4800600"/>
            <a:ext cx="4953000" cy="1892046"/>
          </a:xfrm>
          <a:prstGeom prst="rect">
            <a:avLst/>
          </a:prstGeom>
        </p:spPr>
      </p:pic>
      <p:pic>
        <p:nvPicPr>
          <p:cNvPr id="16" name="Imagen 15">
            <a:extLst>
              <a:ext uri="{FF2B5EF4-FFF2-40B4-BE49-F238E27FC236}">
                <a16:creationId xmlns:a16="http://schemas.microsoft.com/office/drawing/2014/main" id="{04126113-3BDB-4931-AA75-D60231D31B78}"/>
              </a:ext>
            </a:extLst>
          </p:cNvPr>
          <p:cNvPicPr>
            <a:picLocks noChangeAspect="1"/>
          </p:cNvPicPr>
          <p:nvPr>
            <p:custDataLst>
              <p:tags r:id="rId1"/>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1774271" y="1752600"/>
            <a:ext cx="5229719" cy="608000"/>
          </a:xfrm>
          <a:prstGeom prst="rect">
            <a:avLst/>
          </a:prstGeom>
        </p:spPr>
      </p:pic>
      <p:pic>
        <p:nvPicPr>
          <p:cNvPr id="4" name="Imagen 3">
            <a:extLst>
              <a:ext uri="{FF2B5EF4-FFF2-40B4-BE49-F238E27FC236}">
                <a16:creationId xmlns:a16="http://schemas.microsoft.com/office/drawing/2014/main" id="{7BD6C409-0968-4F7F-93C5-4D1EECC1B8E5}"/>
              </a:ext>
            </a:extLst>
          </p:cNvPr>
          <p:cNvPicPr>
            <a:picLocks noChangeAspect="1"/>
          </p:cNvPicPr>
          <p:nvPr>
            <p:custDataLst>
              <p:tags r:id="rId2"/>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1762072" y="3048000"/>
            <a:ext cx="3905528" cy="254476"/>
          </a:xfrm>
          <a:prstGeom prst="rect">
            <a:avLst/>
          </a:prstGeom>
        </p:spPr>
      </p:pic>
      <p:pic>
        <p:nvPicPr>
          <p:cNvPr id="8" name="Imagen 7">
            <a:extLst>
              <a:ext uri="{FF2B5EF4-FFF2-40B4-BE49-F238E27FC236}">
                <a16:creationId xmlns:a16="http://schemas.microsoft.com/office/drawing/2014/main" id="{83A5D696-AADD-4654-BDB4-03251ACC954C}"/>
              </a:ext>
            </a:extLst>
          </p:cNvPr>
          <p:cNvPicPr>
            <a:picLocks noChangeAspect="1"/>
          </p:cNvPicPr>
          <p:nvPr>
            <p:custDataLst>
              <p:tags r:id="rId3"/>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1762072" y="3507430"/>
            <a:ext cx="1866668" cy="254476"/>
          </a:xfrm>
          <a:prstGeom prst="rect">
            <a:avLst/>
          </a:prstGeom>
        </p:spPr>
      </p:pic>
      <p:pic>
        <p:nvPicPr>
          <p:cNvPr id="13" name="Imagen 12">
            <a:extLst>
              <a:ext uri="{FF2B5EF4-FFF2-40B4-BE49-F238E27FC236}">
                <a16:creationId xmlns:a16="http://schemas.microsoft.com/office/drawing/2014/main" id="{0862FCFA-0949-4E82-92A8-70DB811072A1}"/>
              </a:ext>
            </a:extLst>
          </p:cNvPr>
          <p:cNvPicPr>
            <a:picLocks noChangeAspect="1"/>
          </p:cNvPicPr>
          <p:nvPr>
            <p:custDataLst>
              <p:tags r:id="rId4"/>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653330" y="4140896"/>
            <a:ext cx="1255620" cy="608000"/>
          </a:xfrm>
          <a:prstGeom prst="rect">
            <a:avLst/>
          </a:prstGeom>
        </p:spPr>
      </p:pic>
      <p:pic>
        <p:nvPicPr>
          <p:cNvPr id="22" name="Imagen 21">
            <a:extLst>
              <a:ext uri="{FF2B5EF4-FFF2-40B4-BE49-F238E27FC236}">
                <a16:creationId xmlns:a16="http://schemas.microsoft.com/office/drawing/2014/main" id="{B392772E-0AD1-46B7-BBA2-515118D79B72}"/>
              </a:ext>
            </a:extLst>
          </p:cNvPr>
          <p:cNvPicPr>
            <a:picLocks noChangeAspect="1"/>
          </p:cNvPicPr>
          <p:nvPr>
            <p:custDataLst>
              <p:tags r:id="rId5"/>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2146367" y="4140896"/>
            <a:ext cx="1680763" cy="608000"/>
          </a:xfrm>
          <a:prstGeom prst="rect">
            <a:avLst/>
          </a:prstGeom>
        </p:spPr>
      </p:pic>
      <p:pic>
        <p:nvPicPr>
          <p:cNvPr id="24" name="Imagen 23">
            <a:extLst>
              <a:ext uri="{FF2B5EF4-FFF2-40B4-BE49-F238E27FC236}">
                <a16:creationId xmlns:a16="http://schemas.microsoft.com/office/drawing/2014/main" id="{F6755FB5-7FC2-4325-B99B-397A0F76DF33}"/>
              </a:ext>
            </a:extLst>
          </p:cNvPr>
          <p:cNvPicPr>
            <a:picLocks noChangeAspect="1"/>
          </p:cNvPicPr>
          <p:nvPr>
            <p:custDataLst>
              <p:tags r:id="rId6"/>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4098647" y="4140896"/>
            <a:ext cx="1069715" cy="608000"/>
          </a:xfrm>
          <a:prstGeom prst="rect">
            <a:avLst/>
          </a:prstGeom>
        </p:spPr>
      </p:pic>
      <p:pic>
        <p:nvPicPr>
          <p:cNvPr id="26" name="Imagen 25">
            <a:extLst>
              <a:ext uri="{FF2B5EF4-FFF2-40B4-BE49-F238E27FC236}">
                <a16:creationId xmlns:a16="http://schemas.microsoft.com/office/drawing/2014/main" id="{7348FB1F-DC8C-4C4E-8BA8-C773734F081A}"/>
              </a:ext>
            </a:extLst>
          </p:cNvPr>
          <p:cNvPicPr>
            <a:picLocks noChangeAspect="1"/>
          </p:cNvPicPr>
          <p:nvPr>
            <p:custDataLst>
              <p:tags r:id="rId7"/>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754955" y="5425845"/>
            <a:ext cx="992001" cy="608000"/>
          </a:xfrm>
          <a:prstGeom prst="rect">
            <a:avLst/>
          </a:prstGeom>
        </p:spPr>
      </p:pic>
      <p:pic>
        <p:nvPicPr>
          <p:cNvPr id="29" name="Imagen 28">
            <a:extLst>
              <a:ext uri="{FF2B5EF4-FFF2-40B4-BE49-F238E27FC236}">
                <a16:creationId xmlns:a16="http://schemas.microsoft.com/office/drawing/2014/main" id="{2F5BFBEA-7AD3-4FD2-B7DE-E576DD8569A3}"/>
              </a:ext>
            </a:extLst>
          </p:cNvPr>
          <p:cNvPicPr>
            <a:picLocks noChangeAspect="1"/>
          </p:cNvPicPr>
          <p:nvPr>
            <p:custDataLst>
              <p:tags r:id="rId8"/>
            </p:custDataLst>
          </p:nvPr>
        </p:nvPicPr>
        <p:blipFill>
          <a:blip r:embed="rId18" cstate="print">
            <a:lum bright="70000" contrast="-70000"/>
            <a:extLst>
              <a:ext uri="{28A0092B-C50C-407E-A947-70E740481C1C}">
                <a14:useLocalDpi xmlns:a14="http://schemas.microsoft.com/office/drawing/2010/main" val="0"/>
              </a:ext>
            </a:extLst>
          </a:blip>
          <a:stretch>
            <a:fillRect/>
          </a:stretch>
        </p:blipFill>
        <p:spPr>
          <a:xfrm>
            <a:off x="2722834" y="5520423"/>
            <a:ext cx="2000764" cy="303238"/>
          </a:xfrm>
          <a:prstGeom prst="rect">
            <a:avLst/>
          </a:prstGeom>
        </p:spPr>
      </p:pic>
    </p:spTree>
    <p:extLst>
      <p:ext uri="{BB962C8B-B14F-4D97-AF65-F5344CB8AC3E}">
        <p14:creationId xmlns:p14="http://schemas.microsoft.com/office/powerpoint/2010/main" val="17955133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FF1D8-D7E3-CD06-E7C2-8D55ED6EC781}"/>
              </a:ext>
            </a:extLst>
          </p:cNvPr>
          <p:cNvSpPr>
            <a:spLocks noGrp="1"/>
          </p:cNvSpPr>
          <p:nvPr>
            <p:ph type="title"/>
          </p:nvPr>
        </p:nvSpPr>
        <p:spPr/>
        <p:txBody>
          <a:bodyPr/>
          <a:lstStyle/>
          <a:p>
            <a:r>
              <a:rPr lang="es-MX"/>
              <a:t>Ejemplo 1</a:t>
            </a:r>
            <a:endParaRPr lang="es-CO"/>
          </a:p>
        </p:txBody>
      </p:sp>
      <p:sp>
        <p:nvSpPr>
          <p:cNvPr id="4" name="Marcador de contenido 3">
            <a:extLst>
              <a:ext uri="{FF2B5EF4-FFF2-40B4-BE49-F238E27FC236}">
                <a16:creationId xmlns:a16="http://schemas.microsoft.com/office/drawing/2014/main" id="{10C66194-2F57-A494-F051-5823AF06F0BD}"/>
              </a:ext>
            </a:extLst>
          </p:cNvPr>
          <p:cNvSpPr>
            <a:spLocks noGrp="1"/>
          </p:cNvSpPr>
          <p:nvPr>
            <p:ph sz="half" idx="1"/>
          </p:nvPr>
        </p:nvSpPr>
        <p:spPr>
          <a:xfrm>
            <a:off x="357809" y="1696278"/>
            <a:ext cx="5377030" cy="4267200"/>
          </a:xfrm>
        </p:spPr>
        <p:txBody>
          <a:bodyPr/>
          <a:lstStyle/>
          <a:p>
            <a:pPr marL="0" indent="0">
              <a:buNone/>
            </a:pPr>
            <a:r>
              <a:rPr lang="es-MX"/>
              <a:t>Considere un sistema mecánico formado por un </a:t>
            </a:r>
            <a:r>
              <a:rPr lang="es-MX">
                <a:solidFill>
                  <a:schemeClr val="accent2"/>
                </a:solidFill>
              </a:rPr>
              <a:t>motor DC </a:t>
            </a:r>
            <a:r>
              <a:rPr lang="es-MX"/>
              <a:t>que acciona, a través de un eje, una </a:t>
            </a:r>
            <a:r>
              <a:rPr lang="es-MX">
                <a:solidFill>
                  <a:schemeClr val="accent2"/>
                </a:solidFill>
              </a:rPr>
              <a:t>carga rotacional con un resorte de torsión y fricción viscosa</a:t>
            </a:r>
            <a:r>
              <a:rPr lang="es-MX"/>
              <a:t>. Este es un modelo común para servomecanismos de posicionamiento (mesas de máquinas-herramienta, ejes de robots, antenas </a:t>
            </a:r>
            <a:r>
              <a:rPr lang="es-MX" err="1"/>
              <a:t>posicionadoras</a:t>
            </a:r>
            <a:r>
              <a:rPr lang="es-MX"/>
              <a:t>, etc.).</a:t>
            </a:r>
            <a:endParaRPr lang="es-CO"/>
          </a:p>
        </p:txBody>
      </p:sp>
      <p:pic>
        <p:nvPicPr>
          <p:cNvPr id="7" name="Marcador de contenido 6">
            <a:extLst>
              <a:ext uri="{FF2B5EF4-FFF2-40B4-BE49-F238E27FC236}">
                <a16:creationId xmlns:a16="http://schemas.microsoft.com/office/drawing/2014/main" id="{E0AE308F-152F-4855-AE95-2C171712779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34838" y="0"/>
            <a:ext cx="6286501" cy="3429000"/>
          </a:xfrm>
          <a:prstGeom prst="rect">
            <a:avLst/>
          </a:prstGeom>
        </p:spPr>
      </p:pic>
      <p:pic>
        <p:nvPicPr>
          <p:cNvPr id="9" name="Imagen 8">
            <a:extLst>
              <a:ext uri="{FF2B5EF4-FFF2-40B4-BE49-F238E27FC236}">
                <a16:creationId xmlns:a16="http://schemas.microsoft.com/office/drawing/2014/main" id="{84408D6E-F94E-2C45-053C-5B8731AE82C1}"/>
              </a:ext>
            </a:extLst>
          </p:cNvPr>
          <p:cNvPicPr>
            <a:picLocks noChangeAspect="1"/>
          </p:cNvPicPr>
          <p:nvPr/>
        </p:nvPicPr>
        <p:blipFill>
          <a:blip r:embed="rId3"/>
          <a:stretch>
            <a:fillRect/>
          </a:stretch>
        </p:blipFill>
        <p:spPr>
          <a:xfrm>
            <a:off x="6095999" y="3703638"/>
            <a:ext cx="5240901" cy="2647466"/>
          </a:xfrm>
          <a:prstGeom prst="rect">
            <a:avLst/>
          </a:prstGeom>
        </p:spPr>
      </p:pic>
    </p:spTree>
    <p:extLst>
      <p:ext uri="{BB962C8B-B14F-4D97-AF65-F5344CB8AC3E}">
        <p14:creationId xmlns:p14="http://schemas.microsoft.com/office/powerpoint/2010/main" val="46891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4AED8-9A23-4FF3-A28F-D093FBA08C25}"/>
              </a:ext>
            </a:extLst>
          </p:cNvPr>
          <p:cNvSpPr>
            <a:spLocks noGrp="1"/>
          </p:cNvSpPr>
          <p:nvPr>
            <p:ph type="title"/>
          </p:nvPr>
        </p:nvSpPr>
        <p:spPr/>
        <p:txBody>
          <a:bodyPr/>
          <a:lstStyle/>
          <a:p>
            <a:r>
              <a:rPr lang="es-419"/>
              <a:t>Ejemplo 2</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F2C2A17E-E755-45B6-B320-3FAB1F033F97}"/>
                  </a:ext>
                </a:extLst>
              </p:cNvPr>
              <p:cNvSpPr>
                <a:spLocks noGrp="1"/>
              </p:cNvSpPr>
              <p:nvPr>
                <p:ph idx="1"/>
              </p:nvPr>
            </p:nvSpPr>
            <p:spPr/>
            <p:txBody>
              <a:bodyPr/>
              <a:lstStyle/>
              <a:p>
                <a:r>
                  <a:rPr lang="es-ES"/>
                  <a:t>Considere que la siguiente ecuación diferencial representa la dinámica de un sistema:</a:t>
                </a:r>
              </a:p>
              <a:p>
                <a:endParaRPr lang="es-ES"/>
              </a:p>
              <a:p>
                <a:r>
                  <a:rPr lang="es-ES"/>
                  <a:t>Para el sistema anterior, se desea implementar una acción de control que garantice un </a:t>
                </a:r>
                <a:r>
                  <a:rPr lang="es-ES">
                    <a:solidFill>
                      <a:srgbClr val="FFFF00"/>
                    </a:solidFill>
                  </a:rPr>
                  <a:t>error nulo </a:t>
                </a:r>
                <a:r>
                  <a:rPr lang="es-ES"/>
                  <a:t>para el seguimiento de referencias constantes independientemente del valor del parámetro </a:t>
                </a:r>
                <a14:m>
                  <m:oMath xmlns:m="http://schemas.openxmlformats.org/officeDocument/2006/math">
                    <m:r>
                      <a:rPr lang="es-ES" i="1" dirty="0" smtClean="0">
                        <a:latin typeface="Cambria Math" panose="02040503050406030204" pitchFamily="18" charset="0"/>
                      </a:rPr>
                      <m:t>𝛼</m:t>
                    </m:r>
                  </m:oMath>
                </a14:m>
                <a:r>
                  <a:rPr lang="es-ES"/>
                  <a:t>.</a:t>
                </a:r>
              </a:p>
              <a:p>
                <a:pPr algn="just"/>
                <a:r>
                  <a:rPr lang="es-ES"/>
                  <a:t>Con este objetivo, suponga inicialmente que </a:t>
                </a:r>
                <a14:m>
                  <m:oMath xmlns:m="http://schemas.openxmlformats.org/officeDocument/2006/math">
                    <m:r>
                      <a:rPr lang="es-ES" i="1" dirty="0">
                        <a:latin typeface="Cambria Math" panose="02040503050406030204" pitchFamily="18" charset="0"/>
                      </a:rPr>
                      <m:t>𝛼</m:t>
                    </m:r>
                    <m:r>
                      <a:rPr lang="en-US" b="0" i="1" dirty="0" smtClean="0">
                        <a:latin typeface="Cambria Math" panose="02040503050406030204" pitchFamily="18" charset="0"/>
                      </a:rPr>
                      <m:t>=</m:t>
                    </m:r>
                    <m:r>
                      <a:rPr lang="en-US" b="0" i="1" dirty="0" smtClean="0">
                        <a:latin typeface="Cambria Math" panose="02040503050406030204" pitchFamily="18" charset="0"/>
                      </a:rPr>
                      <m:t>1</m:t>
                    </m:r>
                    <m:r>
                      <a:rPr lang="es-ES" i="1" dirty="0">
                        <a:latin typeface="Cambria Math" panose="02040503050406030204" pitchFamily="18" charset="0"/>
                      </a:rPr>
                      <m:t> </m:t>
                    </m:r>
                  </m:oMath>
                </a14:m>
                <a:r>
                  <a:rPr lang="es-ES"/>
                  <a:t>y considere el siguiente polinomio característico para la dinámica aumentada:</a:t>
                </a:r>
                <a:endParaRPr lang="es-419"/>
              </a:p>
            </p:txBody>
          </p:sp>
        </mc:Choice>
        <mc:Fallback>
          <p:sp>
            <p:nvSpPr>
              <p:cNvPr id="3" name="Marcador de contenido 2">
                <a:extLst>
                  <a:ext uri="{FF2B5EF4-FFF2-40B4-BE49-F238E27FC236}">
                    <a16:creationId xmlns:a16="http://schemas.microsoft.com/office/drawing/2014/main" id="{F2C2A17E-E755-45B6-B320-3FAB1F033F97}"/>
                  </a:ext>
                </a:extLst>
              </p:cNvPr>
              <p:cNvSpPr>
                <a:spLocks noGrp="1" noRot="1" noChangeAspect="1" noMove="1" noResize="1" noEditPoints="1" noAdjustHandles="1" noChangeArrowheads="1" noChangeShapeType="1" noTextEdit="1"/>
              </p:cNvSpPr>
              <p:nvPr>
                <p:ph idx="1"/>
              </p:nvPr>
            </p:nvSpPr>
            <p:spPr>
              <a:blipFill>
                <a:blip r:embed="rId4"/>
                <a:stretch>
                  <a:fillRect l="-933" t="-2000" r="-1000"/>
                </a:stretch>
              </a:blipFill>
            </p:spPr>
            <p:txBody>
              <a:bodyPr/>
              <a:lstStyle/>
              <a:p>
                <a:r>
                  <a:rPr lang="en-US">
                    <a:noFill/>
                  </a:rPr>
                  <a:t> </a:t>
                </a:r>
              </a:p>
            </p:txBody>
          </p:sp>
        </mc:Fallback>
      </mc:AlternateContent>
      <p:pic>
        <p:nvPicPr>
          <p:cNvPr id="6" name="Imagen 5">
            <a:extLst>
              <a:ext uri="{FF2B5EF4-FFF2-40B4-BE49-F238E27FC236}">
                <a16:creationId xmlns:a16="http://schemas.microsoft.com/office/drawing/2014/main" id="{79BF9460-0FC4-43FD-9E0D-947A7DA9AEF9}"/>
              </a:ext>
            </a:extLst>
          </p:cNvPr>
          <p:cNvPicPr>
            <a:picLocks noChangeAspect="1"/>
          </p:cNvPicPr>
          <p:nvPr>
            <p:custDataLst>
              <p:tags r:id="rId1"/>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5491809" y="2895600"/>
            <a:ext cx="1208382" cy="220952"/>
          </a:xfrm>
          <a:prstGeom prst="rect">
            <a:avLst/>
          </a:prstGeom>
        </p:spPr>
      </p:pic>
      <p:pic>
        <p:nvPicPr>
          <p:cNvPr id="9" name="Imagen 8">
            <a:extLst>
              <a:ext uri="{FF2B5EF4-FFF2-40B4-BE49-F238E27FC236}">
                <a16:creationId xmlns:a16="http://schemas.microsoft.com/office/drawing/2014/main" id="{BAE84DC3-6997-4E52-B07C-BF73F4B09774}"/>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5257801" y="5791200"/>
            <a:ext cx="1878859" cy="283428"/>
          </a:xfrm>
          <a:prstGeom prst="rect">
            <a:avLst/>
          </a:prstGeom>
        </p:spPr>
      </p:pic>
    </p:spTree>
    <p:extLst>
      <p:ext uri="{BB962C8B-B14F-4D97-AF65-F5344CB8AC3E}">
        <p14:creationId xmlns:p14="http://schemas.microsoft.com/office/powerpoint/2010/main" val="4061251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4AED8-9A23-4FF3-A28F-D093FBA08C25}"/>
              </a:ext>
            </a:extLst>
          </p:cNvPr>
          <p:cNvSpPr>
            <a:spLocks noGrp="1"/>
          </p:cNvSpPr>
          <p:nvPr>
            <p:ph type="title"/>
          </p:nvPr>
        </p:nvSpPr>
        <p:spPr/>
        <p:txBody>
          <a:bodyPr/>
          <a:lstStyle/>
          <a:p>
            <a:r>
              <a:rPr lang="es-419"/>
              <a:t>Ejemplo 2</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F2C2A17E-E755-45B6-B320-3FAB1F033F97}"/>
                  </a:ext>
                </a:extLst>
              </p:cNvPr>
              <p:cNvSpPr>
                <a:spLocks noGrp="1"/>
              </p:cNvSpPr>
              <p:nvPr>
                <p:ph idx="1"/>
              </p:nvPr>
            </p:nvSpPr>
            <p:spPr>
              <a:xfrm>
                <a:off x="1524002" y="2819400"/>
                <a:ext cx="9144000" cy="3352800"/>
              </a:xfrm>
            </p:spPr>
            <p:txBody>
              <a:bodyPr/>
              <a:lstStyle/>
              <a:p>
                <a:r>
                  <a:rPr lang="es-ES"/>
                  <a:t>El sistema aumentado en VE con </a:t>
                </a:r>
                <a14:m>
                  <m:oMath xmlns:m="http://schemas.openxmlformats.org/officeDocument/2006/math">
                    <m:r>
                      <a:rPr lang="es-ES" i="1" dirty="0">
                        <a:latin typeface="Cambria Math" panose="02040503050406030204" pitchFamily="18" charset="0"/>
                      </a:rPr>
                      <m:t>𝛼</m:t>
                    </m:r>
                    <m:r>
                      <a:rPr lang="en-US" i="1" dirty="0">
                        <a:latin typeface="Cambria Math" panose="02040503050406030204" pitchFamily="18" charset="0"/>
                      </a:rPr>
                      <m:t>=1</m:t>
                    </m:r>
                  </m:oMath>
                </a14:m>
                <a:r>
                  <a:rPr lang="es-ES"/>
                  <a:t> es:</a:t>
                </a:r>
              </a:p>
              <a:p>
                <a:endParaRPr lang="es-ES"/>
              </a:p>
              <a:p>
                <a:endParaRPr lang="es-ES"/>
              </a:p>
              <a:p>
                <a:endParaRPr lang="es-ES"/>
              </a:p>
              <a:p>
                <a:r>
                  <a:rPr lang="es-ES"/>
                  <a:t>Deseo realizar una realimentación de estados tal que</a:t>
                </a:r>
              </a:p>
            </p:txBody>
          </p:sp>
        </mc:Choice>
        <mc:Fallback>
          <p:sp>
            <p:nvSpPr>
              <p:cNvPr id="3" name="Marcador de contenido 2">
                <a:extLst>
                  <a:ext uri="{FF2B5EF4-FFF2-40B4-BE49-F238E27FC236}">
                    <a16:creationId xmlns:a16="http://schemas.microsoft.com/office/drawing/2014/main" id="{F2C2A17E-E755-45B6-B320-3FAB1F033F97}"/>
                  </a:ext>
                </a:extLst>
              </p:cNvPr>
              <p:cNvSpPr>
                <a:spLocks noGrp="1" noRot="1" noChangeAspect="1" noMove="1" noResize="1" noEditPoints="1" noAdjustHandles="1" noChangeArrowheads="1" noChangeShapeType="1" noTextEdit="1"/>
              </p:cNvSpPr>
              <p:nvPr>
                <p:ph idx="1"/>
              </p:nvPr>
            </p:nvSpPr>
            <p:spPr>
              <a:xfrm>
                <a:off x="1524002" y="2819400"/>
                <a:ext cx="9144000" cy="3352800"/>
              </a:xfrm>
              <a:blipFill>
                <a:blip r:embed="rId8"/>
                <a:stretch>
                  <a:fillRect l="-867" t="-2545"/>
                </a:stretch>
              </a:blipFill>
            </p:spPr>
            <p:txBody>
              <a:bodyPr/>
              <a:lstStyle/>
              <a:p>
                <a:r>
                  <a:rPr lang="en-US">
                    <a:noFill/>
                  </a:rPr>
                  <a:t> </a:t>
                </a:r>
              </a:p>
            </p:txBody>
          </p:sp>
        </mc:Fallback>
      </mc:AlternateContent>
      <p:pic>
        <p:nvPicPr>
          <p:cNvPr id="19" name="Imagen 18">
            <a:extLst>
              <a:ext uri="{FF2B5EF4-FFF2-40B4-BE49-F238E27FC236}">
                <a16:creationId xmlns:a16="http://schemas.microsoft.com/office/drawing/2014/main" id="{CD816C35-4533-400C-8D92-BF385F1C9348}"/>
              </a:ext>
            </a:extLst>
          </p:cNvPr>
          <p:cNvPicPr>
            <a:picLocks noChangeAspect="1"/>
          </p:cNvPicPr>
          <p:nvPr>
            <p:custDataLst>
              <p:tags r:id="rId1"/>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899538" y="3429002"/>
            <a:ext cx="4800005" cy="607999"/>
          </a:xfrm>
          <a:prstGeom prst="rect">
            <a:avLst/>
          </a:prstGeom>
        </p:spPr>
      </p:pic>
      <p:pic>
        <p:nvPicPr>
          <p:cNvPr id="10" name="Imagen 9">
            <a:extLst>
              <a:ext uri="{FF2B5EF4-FFF2-40B4-BE49-F238E27FC236}">
                <a16:creationId xmlns:a16="http://schemas.microsoft.com/office/drawing/2014/main" id="{19B0D6DB-AADB-4E15-9FB2-1C48B801AC49}"/>
              </a:ext>
            </a:extLst>
          </p:cNvPr>
          <p:cNvPicPr>
            <a:picLocks noChangeAspect="1"/>
          </p:cNvPicPr>
          <p:nvPr>
            <p:custDataLst>
              <p:tags r:id="rId2"/>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7848601" y="1981201"/>
            <a:ext cx="1005715" cy="591237"/>
          </a:xfrm>
          <a:prstGeom prst="rect">
            <a:avLst/>
          </a:prstGeom>
        </p:spPr>
      </p:pic>
      <p:sp>
        <p:nvSpPr>
          <p:cNvPr id="11" name="CuadroTexto 10">
            <a:extLst>
              <a:ext uri="{FF2B5EF4-FFF2-40B4-BE49-F238E27FC236}">
                <a16:creationId xmlns:a16="http://schemas.microsoft.com/office/drawing/2014/main" id="{162A42DB-6065-47A9-9A98-591F45CC80DB}"/>
              </a:ext>
            </a:extLst>
          </p:cNvPr>
          <p:cNvSpPr txBox="1"/>
          <p:nvPr/>
        </p:nvSpPr>
        <p:spPr>
          <a:xfrm>
            <a:off x="1290237" y="1981200"/>
            <a:ext cx="1218603" cy="424732"/>
          </a:xfrm>
          <a:prstGeom prst="rect">
            <a:avLst/>
          </a:prstGeom>
          <a:noFill/>
        </p:spPr>
        <p:txBody>
          <a:bodyPr wrap="none" rtlCol="0">
            <a:spAutoFit/>
          </a:bodyPr>
          <a:lstStyle/>
          <a:p>
            <a:pPr>
              <a:lnSpc>
                <a:spcPct val="90000"/>
              </a:lnSpc>
            </a:pPr>
            <a:r>
              <a:rPr lang="es-419" sz="2400">
                <a:solidFill>
                  <a:prstClr val="white"/>
                </a:solidFill>
                <a:latin typeface="Corbel"/>
              </a:rPr>
              <a:t>Sistema</a:t>
            </a:r>
          </a:p>
        </p:txBody>
      </p:sp>
      <p:sp>
        <p:nvSpPr>
          <p:cNvPr id="12" name="CuadroTexto 11">
            <a:extLst>
              <a:ext uri="{FF2B5EF4-FFF2-40B4-BE49-F238E27FC236}">
                <a16:creationId xmlns:a16="http://schemas.microsoft.com/office/drawing/2014/main" id="{DBF251AC-47A5-4B1D-85F6-BBD6D9DA5412}"/>
              </a:ext>
            </a:extLst>
          </p:cNvPr>
          <p:cNvSpPr txBox="1"/>
          <p:nvPr/>
        </p:nvSpPr>
        <p:spPr>
          <a:xfrm>
            <a:off x="6248400" y="2042059"/>
            <a:ext cx="1136850" cy="424732"/>
          </a:xfrm>
          <a:prstGeom prst="rect">
            <a:avLst/>
          </a:prstGeom>
          <a:noFill/>
        </p:spPr>
        <p:txBody>
          <a:bodyPr wrap="none" rtlCol="0">
            <a:spAutoFit/>
          </a:bodyPr>
          <a:lstStyle/>
          <a:p>
            <a:pPr>
              <a:lnSpc>
                <a:spcPct val="90000"/>
              </a:lnSpc>
            </a:pPr>
            <a:r>
              <a:rPr lang="es-419" sz="2400">
                <a:solidFill>
                  <a:prstClr val="white"/>
                </a:solidFill>
                <a:latin typeface="Corbel"/>
              </a:rPr>
              <a:t>Control</a:t>
            </a:r>
          </a:p>
        </p:txBody>
      </p:sp>
      <p:sp>
        <p:nvSpPr>
          <p:cNvPr id="13" name="Abrir llave 12">
            <a:extLst>
              <a:ext uri="{FF2B5EF4-FFF2-40B4-BE49-F238E27FC236}">
                <a16:creationId xmlns:a16="http://schemas.microsoft.com/office/drawing/2014/main" id="{665423F4-F8B1-4810-85BA-3561A5D9ADDF}"/>
              </a:ext>
            </a:extLst>
          </p:cNvPr>
          <p:cNvSpPr/>
          <p:nvPr/>
        </p:nvSpPr>
        <p:spPr>
          <a:xfrm>
            <a:off x="2667000" y="1761782"/>
            <a:ext cx="304800" cy="905219"/>
          </a:xfrm>
          <a:prstGeom prst="leftBrac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p:sp>
        <p:nvSpPr>
          <p:cNvPr id="14" name="Abrir llave 13">
            <a:extLst>
              <a:ext uri="{FF2B5EF4-FFF2-40B4-BE49-F238E27FC236}">
                <a16:creationId xmlns:a16="http://schemas.microsoft.com/office/drawing/2014/main" id="{06CBF2DA-7E11-4741-9B78-EF5E495AE7DD}"/>
              </a:ext>
            </a:extLst>
          </p:cNvPr>
          <p:cNvSpPr/>
          <p:nvPr/>
        </p:nvSpPr>
        <p:spPr>
          <a:xfrm>
            <a:off x="7480143" y="1801816"/>
            <a:ext cx="304800" cy="905219"/>
          </a:xfrm>
          <a:prstGeom prst="leftBrac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419">
              <a:solidFill>
                <a:prstClr val="white"/>
              </a:solidFill>
              <a:latin typeface="Corbel"/>
            </a:endParaRPr>
          </a:p>
        </p:txBody>
      </p:sp>
      <p:pic>
        <p:nvPicPr>
          <p:cNvPr id="17" name="Imagen 16">
            <a:extLst>
              <a:ext uri="{FF2B5EF4-FFF2-40B4-BE49-F238E27FC236}">
                <a16:creationId xmlns:a16="http://schemas.microsoft.com/office/drawing/2014/main" id="{B453FA6C-B637-4BEA-B493-CBE10A4CBDC5}"/>
              </a:ext>
            </a:extLst>
          </p:cNvPr>
          <p:cNvPicPr>
            <a:picLocks noChangeAspect="1"/>
          </p:cNvPicPr>
          <p:nvPr>
            <p:custDataLst>
              <p:tags r:id="rId3"/>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3276600" y="1914710"/>
            <a:ext cx="2076954" cy="557713"/>
          </a:xfrm>
          <a:prstGeom prst="rect">
            <a:avLst/>
          </a:prstGeom>
        </p:spPr>
      </p:pic>
      <p:pic>
        <p:nvPicPr>
          <p:cNvPr id="26" name="Imagen 25">
            <a:extLst>
              <a:ext uri="{FF2B5EF4-FFF2-40B4-BE49-F238E27FC236}">
                <a16:creationId xmlns:a16="http://schemas.microsoft.com/office/drawing/2014/main" id="{C3258D0F-7D7E-4BC4-90CD-0451170DE3DD}"/>
              </a:ext>
            </a:extLst>
          </p:cNvPr>
          <p:cNvPicPr>
            <a:picLocks noChangeAspect="1"/>
          </p:cNvPicPr>
          <p:nvPr>
            <p:custDataLst>
              <p:tags r:id="rId4"/>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1899537" y="4232359"/>
            <a:ext cx="1418668" cy="303238"/>
          </a:xfrm>
          <a:prstGeom prst="rect">
            <a:avLst/>
          </a:prstGeom>
        </p:spPr>
      </p:pic>
      <p:pic>
        <p:nvPicPr>
          <p:cNvPr id="34" name="Imagen 33">
            <a:extLst>
              <a:ext uri="{FF2B5EF4-FFF2-40B4-BE49-F238E27FC236}">
                <a16:creationId xmlns:a16="http://schemas.microsoft.com/office/drawing/2014/main" id="{4A762622-7A36-41FD-AAD4-CC3CEB214AEC}"/>
              </a:ext>
            </a:extLst>
          </p:cNvPr>
          <p:cNvPicPr>
            <a:picLocks noChangeAspect="1"/>
          </p:cNvPicPr>
          <p:nvPr>
            <p:custDataLst>
              <p:tags r:id="rId5"/>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1676401" y="5716599"/>
            <a:ext cx="3910099" cy="608000"/>
          </a:xfrm>
          <a:prstGeom prst="rect">
            <a:avLst/>
          </a:prstGeom>
        </p:spPr>
      </p:pic>
      <p:pic>
        <p:nvPicPr>
          <p:cNvPr id="32" name="Imagen 31">
            <a:extLst>
              <a:ext uri="{FF2B5EF4-FFF2-40B4-BE49-F238E27FC236}">
                <a16:creationId xmlns:a16="http://schemas.microsoft.com/office/drawing/2014/main" id="{AEC70CC5-A09C-45A2-8C9C-0AC83DF3A0F5}"/>
              </a:ext>
            </a:extLst>
          </p:cNvPr>
          <p:cNvPicPr>
            <a:picLocks noChangeAspect="1"/>
          </p:cNvPicPr>
          <p:nvPr>
            <p:custDataLst>
              <p:tags r:id="rId6"/>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8337579" y="3885381"/>
            <a:ext cx="1784382" cy="254476"/>
          </a:xfrm>
          <a:prstGeom prst="rect">
            <a:avLst/>
          </a:prstGeom>
        </p:spPr>
      </p:pic>
    </p:spTree>
    <p:extLst>
      <p:ext uri="{BB962C8B-B14F-4D97-AF65-F5344CB8AC3E}">
        <p14:creationId xmlns:p14="http://schemas.microsoft.com/office/powerpoint/2010/main" val="33977134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animBg="1"/>
      <p:bldP spid="1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736AC-C3F2-46A5-80D4-9C677CF30DBC}"/>
              </a:ext>
            </a:extLst>
          </p:cNvPr>
          <p:cNvSpPr>
            <a:spLocks noGrp="1"/>
          </p:cNvSpPr>
          <p:nvPr>
            <p:ph type="title"/>
          </p:nvPr>
        </p:nvSpPr>
        <p:spPr/>
        <p:txBody>
          <a:bodyPr/>
          <a:lstStyle/>
          <a:p>
            <a:r>
              <a:rPr lang="es-419"/>
              <a:t>Ejemplo 2</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4BF2C35-8400-4DA0-A48D-87D7A2057A92}"/>
                  </a:ext>
                </a:extLst>
              </p:cNvPr>
              <p:cNvSpPr>
                <a:spLocks noGrp="1"/>
              </p:cNvSpPr>
              <p:nvPr>
                <p:ph idx="1"/>
              </p:nvPr>
            </p:nvSpPr>
            <p:spPr>
              <a:xfrm>
                <a:off x="1524002" y="1600200"/>
                <a:ext cx="9144000" cy="4572000"/>
              </a:xfrm>
            </p:spPr>
            <p:txBody>
              <a:bodyPr>
                <a:normAutofit/>
              </a:bodyPr>
              <a:lstStyle/>
              <a:p>
                <a:r>
                  <a:rPr lang="en-US"/>
                  <a:t>Ganancia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𝑘</m:t>
                        </m:r>
                      </m:e>
                    </m:acc>
                    <m:r>
                      <a:rPr lang="en-US" b="0" i="1" smtClean="0">
                        <a:latin typeface="Cambria Math" panose="02040503050406030204" pitchFamily="18" charset="0"/>
                      </a:rPr>
                      <m:t>=[4  2]</m:t>
                    </m:r>
                  </m:oMath>
                </a14:m>
                <a:endParaRPr lang="en-US"/>
              </a:p>
              <a:p>
                <a:endParaRPr lang="es-419"/>
              </a:p>
              <a:p>
                <a:endParaRPr lang="es-419"/>
              </a:p>
              <a:p>
                <a:r>
                  <a:rPr lang="es-ES"/>
                  <a:t>el vector de ganancias  </a:t>
                </a:r>
                <a14:m>
                  <m:oMath xmlns:m="http://schemas.openxmlformats.org/officeDocument/2006/math">
                    <m:sSub>
                      <m:sSubPr>
                        <m:ctrlPr>
                          <a:rPr lang="en-US" b="0" i="1" smtClean="0">
                            <a:solidFill>
                              <a:srgbClr val="FFFF00"/>
                            </a:solidFill>
                            <a:latin typeface="Cambria Math" panose="02040503050406030204" pitchFamily="18" charset="0"/>
                          </a:rPr>
                        </m:ctrlPr>
                      </m:sSubPr>
                      <m:e>
                        <m:r>
                          <m:rPr>
                            <m:sty m:val="p"/>
                          </m:rPr>
                          <a:rPr lang="en-US" b="0" i="0" smtClean="0">
                            <a:solidFill>
                              <a:srgbClr val="FFFF00"/>
                            </a:solidFill>
                            <a:latin typeface="Cambria Math" panose="02040503050406030204" pitchFamily="18" charset="0"/>
                          </a:rPr>
                          <m:t>K</m:t>
                        </m:r>
                      </m:e>
                      <m:sub>
                        <m:r>
                          <m:rPr>
                            <m:sty m:val="p"/>
                          </m:rPr>
                          <a:rPr lang="en-US" b="0" i="0" smtClean="0">
                            <a:solidFill>
                              <a:srgbClr val="FFFF00"/>
                            </a:solidFill>
                            <a:latin typeface="Cambria Math" panose="02040503050406030204" pitchFamily="18" charset="0"/>
                          </a:rPr>
                          <m:t>a</m:t>
                        </m:r>
                      </m:sub>
                    </m:sSub>
                  </m:oMath>
                </a14:m>
                <a:r>
                  <a:rPr lang="es-419"/>
                  <a:t>:</a:t>
                </a:r>
              </a:p>
              <a:p>
                <a:r>
                  <a:rPr lang="es-419"/>
                  <a:t>Sistema en Lazo Cerrado en EE</a:t>
                </a:r>
              </a:p>
              <a:p>
                <a:endParaRPr lang="es-419"/>
              </a:p>
              <a:p>
                <a:pPr marL="0" indent="0">
                  <a:buNone/>
                </a:pPr>
                <a:endParaRPr lang="es-419" b="1">
                  <a:solidFill>
                    <a:srgbClr val="FFFF00"/>
                  </a:solidFill>
                </a:endParaRPr>
              </a:p>
            </p:txBody>
          </p:sp>
        </mc:Choice>
        <mc:Fallback>
          <p:sp>
            <p:nvSpPr>
              <p:cNvPr id="3" name="Marcador de contenido 2">
                <a:extLst>
                  <a:ext uri="{FF2B5EF4-FFF2-40B4-BE49-F238E27FC236}">
                    <a16:creationId xmlns:a16="http://schemas.microsoft.com/office/drawing/2014/main" id="{64BF2C35-8400-4DA0-A48D-87D7A2057A92}"/>
                  </a:ext>
                </a:extLst>
              </p:cNvPr>
              <p:cNvSpPr>
                <a:spLocks noGrp="1" noRot="1" noChangeAspect="1" noMove="1" noResize="1" noEditPoints="1" noAdjustHandles="1" noChangeArrowheads="1" noChangeShapeType="1" noTextEdit="1"/>
              </p:cNvSpPr>
              <p:nvPr>
                <p:ph idx="1"/>
              </p:nvPr>
            </p:nvSpPr>
            <p:spPr>
              <a:xfrm>
                <a:off x="1524002" y="1600200"/>
                <a:ext cx="9144000" cy="4572000"/>
              </a:xfrm>
              <a:blipFill>
                <a:blip r:embed="rId9"/>
                <a:stretch>
                  <a:fillRect l="-867" t="-1733"/>
                </a:stretch>
              </a:blipFill>
            </p:spPr>
            <p:txBody>
              <a:bodyPr/>
              <a:lstStyle/>
              <a:p>
                <a:r>
                  <a:rPr lang="en-US">
                    <a:noFill/>
                  </a:rPr>
                  <a:t> </a:t>
                </a:r>
              </a:p>
            </p:txBody>
          </p:sp>
        </mc:Fallback>
      </mc:AlternateContent>
      <p:pic>
        <p:nvPicPr>
          <p:cNvPr id="5" name="Imagen 4">
            <a:extLst>
              <a:ext uri="{FF2B5EF4-FFF2-40B4-BE49-F238E27FC236}">
                <a16:creationId xmlns:a16="http://schemas.microsoft.com/office/drawing/2014/main" id="{0DECE1F8-564B-41FD-B1F0-D5D2A6E63B1A}"/>
              </a:ext>
            </a:extLst>
          </p:cNvPr>
          <p:cNvPicPr>
            <a:picLocks noChangeAspect="1"/>
          </p:cNvPicPr>
          <p:nvPr>
            <p:custDataLst>
              <p:tags r:id="rId1"/>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3500354" y="2057400"/>
            <a:ext cx="1891200" cy="821486"/>
          </a:xfrm>
          <a:prstGeom prst="rect">
            <a:avLst/>
          </a:prstGeom>
        </p:spPr>
      </p:pic>
      <p:pic>
        <p:nvPicPr>
          <p:cNvPr id="19" name="Imagen 18">
            <a:extLst>
              <a:ext uri="{FF2B5EF4-FFF2-40B4-BE49-F238E27FC236}">
                <a16:creationId xmlns:a16="http://schemas.microsoft.com/office/drawing/2014/main" id="{C12E9D6F-684E-4FDD-8F07-43A7B0C0D1E5}"/>
              </a:ext>
            </a:extLst>
          </p:cNvPr>
          <p:cNvPicPr>
            <a:picLocks noChangeAspect="1"/>
          </p:cNvPicPr>
          <p:nvPr>
            <p:custDataLst>
              <p:tags r:id="rId2"/>
            </p:custDataLst>
          </p:nvPr>
        </p:nvPicPr>
        <p:blipFill>
          <a:blip r:embed="rId11" cstate="print">
            <a:lum bright="70000" contrast="-70000"/>
            <a:extLst>
              <a:ext uri="{28A0092B-C50C-407E-A947-70E740481C1C}">
                <a14:useLocalDpi xmlns:a14="http://schemas.microsoft.com/office/drawing/2010/main" val="0"/>
              </a:ext>
            </a:extLst>
          </a:blip>
          <a:stretch>
            <a:fillRect/>
          </a:stretch>
        </p:blipFill>
        <p:spPr>
          <a:xfrm>
            <a:off x="5867401" y="3352800"/>
            <a:ext cx="1543619" cy="303238"/>
          </a:xfrm>
          <a:prstGeom prst="rect">
            <a:avLst/>
          </a:prstGeom>
        </p:spPr>
      </p:pic>
      <p:pic>
        <p:nvPicPr>
          <p:cNvPr id="7" name="Imagen 6">
            <a:extLst>
              <a:ext uri="{FF2B5EF4-FFF2-40B4-BE49-F238E27FC236}">
                <a16:creationId xmlns:a16="http://schemas.microsoft.com/office/drawing/2014/main" id="{F784AB1D-C55C-4902-92CD-E32BEB2E954F}"/>
              </a:ext>
            </a:extLst>
          </p:cNvPr>
          <p:cNvPicPr>
            <a:picLocks noChangeAspect="1"/>
          </p:cNvPicPr>
          <p:nvPr>
            <p:custDataLst>
              <p:tags r:id="rId3"/>
            </p:custDataLst>
          </p:nvPr>
        </p:nvPicPr>
        <p:blipFill>
          <a:blip r:embed="rId12" cstate="print">
            <a:lum bright="70000" contrast="-70000"/>
            <a:extLst>
              <a:ext uri="{28A0092B-C50C-407E-A947-70E740481C1C}">
                <a14:useLocalDpi xmlns:a14="http://schemas.microsoft.com/office/drawing/2010/main" val="0"/>
              </a:ext>
            </a:extLst>
          </a:blip>
          <a:stretch>
            <a:fillRect/>
          </a:stretch>
        </p:blipFill>
        <p:spPr>
          <a:xfrm>
            <a:off x="1676400" y="4479943"/>
            <a:ext cx="3905528" cy="254476"/>
          </a:xfrm>
          <a:prstGeom prst="rect">
            <a:avLst/>
          </a:prstGeom>
        </p:spPr>
      </p:pic>
      <p:pic>
        <p:nvPicPr>
          <p:cNvPr id="11" name="Imagen 10">
            <a:extLst>
              <a:ext uri="{FF2B5EF4-FFF2-40B4-BE49-F238E27FC236}">
                <a16:creationId xmlns:a16="http://schemas.microsoft.com/office/drawing/2014/main" id="{8DEB2E9D-A148-4122-9D34-07D5DFBEC8F9}"/>
              </a:ext>
            </a:extLst>
          </p:cNvPr>
          <p:cNvPicPr>
            <a:picLocks noChangeAspect="1"/>
          </p:cNvPicPr>
          <p:nvPr>
            <p:custDataLst>
              <p:tags r:id="rId4"/>
            </p:custDataLst>
          </p:nvPr>
        </p:nvPicPr>
        <p:blipFill>
          <a:blip r:embed="rId13" cstate="print">
            <a:lum bright="70000" contrast="-70000"/>
            <a:extLst>
              <a:ext uri="{28A0092B-C50C-407E-A947-70E740481C1C}">
                <a14:useLocalDpi xmlns:a14="http://schemas.microsoft.com/office/drawing/2010/main" val="0"/>
              </a:ext>
            </a:extLst>
          </a:blip>
          <a:stretch>
            <a:fillRect/>
          </a:stretch>
        </p:blipFill>
        <p:spPr>
          <a:xfrm>
            <a:off x="1676400" y="4939372"/>
            <a:ext cx="1866668" cy="254476"/>
          </a:xfrm>
          <a:prstGeom prst="rect">
            <a:avLst/>
          </a:prstGeom>
        </p:spPr>
      </p:pic>
      <p:pic>
        <p:nvPicPr>
          <p:cNvPr id="13" name="Imagen 12">
            <a:extLst>
              <a:ext uri="{FF2B5EF4-FFF2-40B4-BE49-F238E27FC236}">
                <a16:creationId xmlns:a16="http://schemas.microsoft.com/office/drawing/2014/main" id="{A817D2CA-A9B9-49C9-AFAA-99C6C98B4F82}"/>
              </a:ext>
            </a:extLst>
          </p:cNvPr>
          <p:cNvPicPr>
            <a:picLocks noChangeAspect="1"/>
          </p:cNvPicPr>
          <p:nvPr>
            <p:custDataLst>
              <p:tags r:id="rId5"/>
            </p:custDataLst>
          </p:nvPr>
        </p:nvPicPr>
        <p:blipFill>
          <a:blip r:embed="rId14" cstate="print">
            <a:lum bright="70000" contrast="-70000"/>
            <a:extLst>
              <a:ext uri="{28A0092B-C50C-407E-A947-70E740481C1C}">
                <a14:useLocalDpi xmlns:a14="http://schemas.microsoft.com/office/drawing/2010/main" val="0"/>
              </a:ext>
            </a:extLst>
          </a:blip>
          <a:stretch>
            <a:fillRect/>
          </a:stretch>
        </p:blipFill>
        <p:spPr>
          <a:xfrm>
            <a:off x="1676400" y="5534557"/>
            <a:ext cx="4294100" cy="254476"/>
          </a:xfrm>
          <a:prstGeom prst="rect">
            <a:avLst/>
          </a:prstGeom>
        </p:spPr>
      </p:pic>
      <p:pic>
        <p:nvPicPr>
          <p:cNvPr id="14" name="Imagen 13">
            <a:extLst>
              <a:ext uri="{FF2B5EF4-FFF2-40B4-BE49-F238E27FC236}">
                <a16:creationId xmlns:a16="http://schemas.microsoft.com/office/drawing/2014/main" id="{ADA0D64D-DA82-49A7-B4A3-9445EAAEC4F0}"/>
              </a:ext>
            </a:extLst>
          </p:cNvPr>
          <p:cNvPicPr>
            <a:picLocks noChangeAspect="1"/>
          </p:cNvPicPr>
          <p:nvPr>
            <p:custDataLst>
              <p:tags r:id="rId6"/>
            </p:custDataLst>
          </p:nvPr>
        </p:nvPicPr>
        <p:blipFill>
          <a:blip r:embed="rId15" cstate="print">
            <a:lum bright="70000" contrast="-70000"/>
            <a:extLst>
              <a:ext uri="{28A0092B-C50C-407E-A947-70E740481C1C}">
                <a14:useLocalDpi xmlns:a14="http://schemas.microsoft.com/office/drawing/2010/main" val="0"/>
              </a:ext>
            </a:extLst>
          </a:blip>
          <a:stretch>
            <a:fillRect/>
          </a:stretch>
        </p:blipFill>
        <p:spPr>
          <a:xfrm>
            <a:off x="7696200" y="1674959"/>
            <a:ext cx="786286" cy="219429"/>
          </a:xfrm>
          <a:prstGeom prst="rect">
            <a:avLst/>
          </a:prstGeom>
        </p:spPr>
      </p:pic>
      <p:pic>
        <p:nvPicPr>
          <p:cNvPr id="17" name="Imagen 16">
            <a:extLst>
              <a:ext uri="{FF2B5EF4-FFF2-40B4-BE49-F238E27FC236}">
                <a16:creationId xmlns:a16="http://schemas.microsoft.com/office/drawing/2014/main" id="{CF6064E9-D877-4CF8-B8BC-3C82BE3B6D0B}"/>
              </a:ext>
            </a:extLst>
          </p:cNvPr>
          <p:cNvPicPr>
            <a:picLocks noChangeAspect="1"/>
          </p:cNvPicPr>
          <p:nvPr>
            <p:custDataLst>
              <p:tags r:id="rId7"/>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7367907" y="2118886"/>
            <a:ext cx="1790475" cy="760000"/>
          </a:xfrm>
          <a:prstGeom prst="rect">
            <a:avLst/>
          </a:prstGeom>
        </p:spPr>
      </p:pic>
    </p:spTree>
    <p:extLst>
      <p:ext uri="{BB962C8B-B14F-4D97-AF65-F5344CB8AC3E}">
        <p14:creationId xmlns:p14="http://schemas.microsoft.com/office/powerpoint/2010/main" val="4246590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736AC-C3F2-46A5-80D4-9C677CF30DBC}"/>
              </a:ext>
            </a:extLst>
          </p:cNvPr>
          <p:cNvSpPr>
            <a:spLocks noGrp="1"/>
          </p:cNvSpPr>
          <p:nvPr>
            <p:ph type="title"/>
          </p:nvPr>
        </p:nvSpPr>
        <p:spPr/>
        <p:txBody>
          <a:bodyPr/>
          <a:lstStyle/>
          <a:p>
            <a:r>
              <a:rPr lang="es-419"/>
              <a:t>Ejemplo 2</a:t>
            </a:r>
          </a:p>
        </p:txBody>
      </p:sp>
      <p:sp>
        <p:nvSpPr>
          <p:cNvPr id="3" name="Marcador de contenido 2">
            <a:extLst>
              <a:ext uri="{FF2B5EF4-FFF2-40B4-BE49-F238E27FC236}">
                <a16:creationId xmlns:a16="http://schemas.microsoft.com/office/drawing/2014/main" id="{64BF2C35-8400-4DA0-A48D-87D7A2057A92}"/>
              </a:ext>
            </a:extLst>
          </p:cNvPr>
          <p:cNvSpPr>
            <a:spLocks noGrp="1"/>
          </p:cNvSpPr>
          <p:nvPr>
            <p:ph idx="1"/>
          </p:nvPr>
        </p:nvSpPr>
        <p:spPr>
          <a:xfrm>
            <a:off x="1524002" y="2362200"/>
            <a:ext cx="9144000" cy="3810000"/>
          </a:xfrm>
        </p:spPr>
        <p:txBody>
          <a:bodyPr>
            <a:normAutofit/>
          </a:bodyPr>
          <a:lstStyle/>
          <a:p>
            <a:endParaRPr lang="es-419"/>
          </a:p>
          <a:p>
            <a:endParaRPr lang="es-419"/>
          </a:p>
          <a:p>
            <a:endParaRPr lang="es-419"/>
          </a:p>
          <a:p>
            <a:pPr marL="0" indent="0">
              <a:buNone/>
            </a:pPr>
            <a:endParaRPr lang="es-419" b="1">
              <a:solidFill>
                <a:srgbClr val="FFFF00"/>
              </a:solidFill>
            </a:endParaRPr>
          </a:p>
        </p:txBody>
      </p:sp>
      <p:pic>
        <p:nvPicPr>
          <p:cNvPr id="5" name="Imagen 4">
            <a:extLst>
              <a:ext uri="{FF2B5EF4-FFF2-40B4-BE49-F238E27FC236}">
                <a16:creationId xmlns:a16="http://schemas.microsoft.com/office/drawing/2014/main" id="{1A18B610-32B4-450F-856B-50A5ABE153BF}"/>
              </a:ext>
            </a:extLst>
          </p:cNvPr>
          <p:cNvPicPr>
            <a:picLocks noChangeAspect="1"/>
          </p:cNvPicPr>
          <p:nvPr>
            <p:custDataLst>
              <p:tags r:id="rId1"/>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1500289" y="2705149"/>
            <a:ext cx="7015237" cy="761905"/>
          </a:xfrm>
          <a:prstGeom prst="rect">
            <a:avLst/>
          </a:prstGeom>
        </p:spPr>
      </p:pic>
      <p:pic>
        <p:nvPicPr>
          <p:cNvPr id="20" name="Imagen 19">
            <a:extLst>
              <a:ext uri="{FF2B5EF4-FFF2-40B4-BE49-F238E27FC236}">
                <a16:creationId xmlns:a16="http://schemas.microsoft.com/office/drawing/2014/main" id="{BFB1E21A-B087-412C-99E0-FB3EAB3B693C}"/>
              </a:ext>
            </a:extLst>
          </p:cNvPr>
          <p:cNvPicPr>
            <a:picLocks noChangeAspect="1"/>
          </p:cNvPicPr>
          <p:nvPr>
            <p:custDataLst>
              <p:tags r:id="rId2"/>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523998" y="3809999"/>
            <a:ext cx="4478094" cy="760000"/>
          </a:xfrm>
          <a:prstGeom prst="rect">
            <a:avLst/>
          </a:prstGeom>
        </p:spPr>
      </p:pic>
      <p:pic>
        <p:nvPicPr>
          <p:cNvPr id="14" name="Imagen 13">
            <a:extLst>
              <a:ext uri="{FF2B5EF4-FFF2-40B4-BE49-F238E27FC236}">
                <a16:creationId xmlns:a16="http://schemas.microsoft.com/office/drawing/2014/main" id="{A2460077-6285-451E-AC99-F167C0822592}"/>
              </a:ext>
            </a:extLst>
          </p:cNvPr>
          <p:cNvPicPr>
            <a:picLocks noChangeAspect="1"/>
          </p:cNvPicPr>
          <p:nvPr>
            <p:custDataLst>
              <p:tags r:id="rId3"/>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524000" y="4903091"/>
            <a:ext cx="1773333" cy="379048"/>
          </a:xfrm>
          <a:prstGeom prst="rect">
            <a:avLst/>
          </a:prstGeom>
        </p:spPr>
      </p:pic>
      <p:pic>
        <p:nvPicPr>
          <p:cNvPr id="16" name="Imagen 15">
            <a:extLst>
              <a:ext uri="{FF2B5EF4-FFF2-40B4-BE49-F238E27FC236}">
                <a16:creationId xmlns:a16="http://schemas.microsoft.com/office/drawing/2014/main" id="{54B517FC-FDBE-4CF9-A521-7548324AF501}"/>
              </a:ext>
            </a:extLst>
          </p:cNvPr>
          <p:cNvPicPr>
            <a:picLocks noChangeAspect="1"/>
          </p:cNvPicPr>
          <p:nvPr>
            <p:custDataLst>
              <p:tags r:id="rId4"/>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615996" y="1918136"/>
            <a:ext cx="4294100" cy="254476"/>
          </a:xfrm>
          <a:prstGeom prst="rect">
            <a:avLst/>
          </a:prstGeom>
        </p:spPr>
      </p:pic>
    </p:spTree>
    <p:extLst>
      <p:ext uri="{BB962C8B-B14F-4D97-AF65-F5344CB8AC3E}">
        <p14:creationId xmlns:p14="http://schemas.microsoft.com/office/powerpoint/2010/main" val="8459447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334258-FFF1-43D3-80F9-DD5452810835}"/>
              </a:ext>
            </a:extLst>
          </p:cNvPr>
          <p:cNvSpPr>
            <a:spLocks noGrp="1"/>
          </p:cNvSpPr>
          <p:nvPr>
            <p:ph type="title"/>
          </p:nvPr>
        </p:nvSpPr>
        <p:spPr/>
        <p:txBody>
          <a:bodyPr/>
          <a:lstStyle/>
          <a:p>
            <a:r>
              <a:rPr lang="es-419"/>
              <a:t>Ejemplo 2</a:t>
            </a: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5D41C89F-D842-40BB-8E9F-C47B3783E16F}"/>
                  </a:ext>
                </a:extLst>
              </p:cNvPr>
              <p:cNvSpPr/>
              <p:nvPr/>
            </p:nvSpPr>
            <p:spPr>
              <a:xfrm>
                <a:off x="6175931"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𝟏</m:t>
                      </m:r>
                    </m:oMath>
                  </m:oMathPara>
                </a14:m>
                <a:endParaRPr lang="es-419" sz="2800" b="1">
                  <a:solidFill>
                    <a:prstClr val="white"/>
                  </a:solidFill>
                  <a:latin typeface="Corbel"/>
                </a:endParaRPr>
              </a:p>
            </p:txBody>
          </p:sp>
        </mc:Choice>
        <mc:Fallback>
          <p:sp>
            <p:nvSpPr>
              <p:cNvPr id="4" name="Rectángulo 3">
                <a:extLst>
                  <a:ext uri="{FF2B5EF4-FFF2-40B4-BE49-F238E27FC236}">
                    <a16:creationId xmlns:a16="http://schemas.microsoft.com/office/drawing/2014/main" id="{5D41C89F-D842-40BB-8E9F-C47B3783E16F}"/>
                  </a:ext>
                </a:extLst>
              </p:cNvPr>
              <p:cNvSpPr>
                <a:spLocks noRot="1" noChangeAspect="1" noMove="1" noResize="1" noEditPoints="1" noAdjustHandles="1" noChangeArrowheads="1" noChangeShapeType="1" noTextEdit="1"/>
              </p:cNvSpPr>
              <p:nvPr/>
            </p:nvSpPr>
            <p:spPr>
              <a:xfrm>
                <a:off x="6175931" y="2247414"/>
                <a:ext cx="609600" cy="609600"/>
              </a:xfrm>
              <a:prstGeom prst="rect">
                <a:avLst/>
              </a:prstGeom>
              <a:blipFill>
                <a:blip r:embed="rId3"/>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FD0CE14F-0B6F-42CE-9209-640674A939CD}"/>
              </a:ext>
            </a:extLst>
          </p:cNvPr>
          <p:cNvCxnSpPr>
            <a:cxnSpLocks/>
            <a:stCxn id="4" idx="3"/>
            <a:endCxn id="7" idx="2"/>
          </p:cNvCxnSpPr>
          <p:nvPr/>
        </p:nvCxnSpPr>
        <p:spPr>
          <a:xfrm>
            <a:off x="6785531" y="2552214"/>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 name="Rectángulo 5">
                <a:extLst>
                  <a:ext uri="{FF2B5EF4-FFF2-40B4-BE49-F238E27FC236}">
                    <a16:creationId xmlns:a16="http://schemas.microsoft.com/office/drawing/2014/main" id="{59AD0ED5-5FE3-45E7-AA81-1187E62219DB}"/>
                  </a:ext>
                </a:extLst>
              </p:cNvPr>
              <p:cNvSpPr/>
              <p:nvPr/>
            </p:nvSpPr>
            <p:spPr>
              <a:xfrm>
                <a:off x="8788374" y="2162659"/>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6" name="Rectángulo 5">
                <a:extLst>
                  <a:ext uri="{FF2B5EF4-FFF2-40B4-BE49-F238E27FC236}">
                    <a16:creationId xmlns:a16="http://schemas.microsoft.com/office/drawing/2014/main" id="{59AD0ED5-5FE3-45E7-AA81-1187E62219DB}"/>
                  </a:ext>
                </a:extLst>
              </p:cNvPr>
              <p:cNvSpPr>
                <a:spLocks noRot="1" noChangeAspect="1" noMove="1" noResize="1" noEditPoints="1" noAdjustHandles="1" noChangeArrowheads="1" noChangeShapeType="1" noTextEdit="1"/>
              </p:cNvSpPr>
              <p:nvPr/>
            </p:nvSpPr>
            <p:spPr>
              <a:xfrm>
                <a:off x="8788374" y="2162659"/>
                <a:ext cx="609600" cy="792122"/>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p:sp>
        <p:nvSpPr>
          <p:cNvPr id="7" name="Elipse 6">
            <a:extLst>
              <a:ext uri="{FF2B5EF4-FFF2-40B4-BE49-F238E27FC236}">
                <a16:creationId xmlns:a16="http://schemas.microsoft.com/office/drawing/2014/main" id="{8EB461C4-A03B-4985-A47A-59ACA7334DBF}"/>
              </a:ext>
            </a:extLst>
          </p:cNvPr>
          <p:cNvSpPr/>
          <p:nvPr/>
        </p:nvSpPr>
        <p:spPr>
          <a:xfrm>
            <a:off x="7199449"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1E3ADED0-AA99-4095-AF11-E1F0FA7B303D}"/>
                  </a:ext>
                </a:extLst>
              </p:cNvPr>
              <p:cNvSpPr/>
              <p:nvPr/>
            </p:nvSpPr>
            <p:spPr>
              <a:xfrm>
                <a:off x="10486417" y="224741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𝟏</m:t>
                      </m:r>
                    </m:oMath>
                  </m:oMathPara>
                </a14:m>
                <a:endParaRPr lang="es-419" sz="2800" b="1">
                  <a:solidFill>
                    <a:prstClr val="white"/>
                  </a:solidFill>
                  <a:latin typeface="Corbel"/>
                </a:endParaRPr>
              </a:p>
            </p:txBody>
          </p:sp>
        </mc:Choice>
        <mc:Fallback>
          <p:sp>
            <p:nvSpPr>
              <p:cNvPr id="8" name="Rectángulo 7">
                <a:extLst>
                  <a:ext uri="{FF2B5EF4-FFF2-40B4-BE49-F238E27FC236}">
                    <a16:creationId xmlns:a16="http://schemas.microsoft.com/office/drawing/2014/main" id="{1E3ADED0-AA99-4095-AF11-E1F0FA7B303D}"/>
                  </a:ext>
                </a:extLst>
              </p:cNvPr>
              <p:cNvSpPr>
                <a:spLocks noRot="1" noChangeAspect="1" noMove="1" noResize="1" noEditPoints="1" noAdjustHandles="1" noChangeArrowheads="1" noChangeShapeType="1" noTextEdit="1"/>
              </p:cNvSpPr>
              <p:nvPr/>
            </p:nvSpPr>
            <p:spPr>
              <a:xfrm>
                <a:off x="10486417" y="2247414"/>
                <a:ext cx="609600" cy="609600"/>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039A397B-7AFF-4718-AC83-231A0107211F}"/>
                  </a:ext>
                </a:extLst>
              </p:cNvPr>
              <p:cNvSpPr/>
              <p:nvPr/>
            </p:nvSpPr>
            <p:spPr>
              <a:xfrm>
                <a:off x="8153399" y="3404944"/>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𝟏</m:t>
                      </m:r>
                    </m:oMath>
                  </m:oMathPara>
                </a14:m>
                <a:endParaRPr lang="es-419" sz="2800" b="1">
                  <a:solidFill>
                    <a:prstClr val="white"/>
                  </a:solidFill>
                  <a:latin typeface="Corbel"/>
                </a:endParaRPr>
              </a:p>
            </p:txBody>
          </p:sp>
        </mc:Choice>
        <mc:Fallback>
          <p:sp>
            <p:nvSpPr>
              <p:cNvPr id="9" name="Rectángulo 8">
                <a:extLst>
                  <a:ext uri="{FF2B5EF4-FFF2-40B4-BE49-F238E27FC236}">
                    <a16:creationId xmlns:a16="http://schemas.microsoft.com/office/drawing/2014/main" id="{039A397B-7AFF-4718-AC83-231A0107211F}"/>
                  </a:ext>
                </a:extLst>
              </p:cNvPr>
              <p:cNvSpPr>
                <a:spLocks noRot="1" noChangeAspect="1" noMove="1" noResize="1" noEditPoints="1" noAdjustHandles="1" noChangeArrowheads="1" noChangeShapeType="1" noTextEdit="1"/>
              </p:cNvSpPr>
              <p:nvPr/>
            </p:nvSpPr>
            <p:spPr>
              <a:xfrm>
                <a:off x="8153399" y="3404944"/>
                <a:ext cx="609600" cy="609600"/>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p:cxnSp>
        <p:nvCxnSpPr>
          <p:cNvPr id="10" name="Conector recto de flecha 9">
            <a:extLst>
              <a:ext uri="{FF2B5EF4-FFF2-40B4-BE49-F238E27FC236}">
                <a16:creationId xmlns:a16="http://schemas.microsoft.com/office/drawing/2014/main" id="{62A2CBA3-4B6C-4629-BAFC-BE9CCF795BE6}"/>
              </a:ext>
            </a:extLst>
          </p:cNvPr>
          <p:cNvCxnSpPr>
            <a:cxnSpLocks/>
            <a:stCxn id="7" idx="6"/>
            <a:endCxn id="6" idx="1"/>
          </p:cNvCxnSpPr>
          <p:nvPr/>
        </p:nvCxnSpPr>
        <p:spPr>
          <a:xfrm>
            <a:off x="7732850" y="2552214"/>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7FA85749-F4A7-4EAE-82B5-12CB15E505B1}"/>
              </a:ext>
            </a:extLst>
          </p:cNvPr>
          <p:cNvCxnSpPr>
            <a:cxnSpLocks/>
            <a:stCxn id="6" idx="3"/>
            <a:endCxn id="8" idx="1"/>
          </p:cNvCxnSpPr>
          <p:nvPr/>
        </p:nvCxnSpPr>
        <p:spPr>
          <a:xfrm flipV="1">
            <a:off x="9397975" y="2552214"/>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angular 11">
            <a:extLst>
              <a:ext uri="{FF2B5EF4-FFF2-40B4-BE49-F238E27FC236}">
                <a16:creationId xmlns:a16="http://schemas.microsoft.com/office/drawing/2014/main" id="{57756D3C-B2E3-4CEF-98AA-7C9547A7987E}"/>
              </a:ext>
            </a:extLst>
          </p:cNvPr>
          <p:cNvCxnSpPr>
            <a:cxnSpLocks/>
            <a:endCxn id="9" idx="3"/>
          </p:cNvCxnSpPr>
          <p:nvPr/>
        </p:nvCxnSpPr>
        <p:spPr>
          <a:xfrm rot="5400000">
            <a:off x="8731711" y="2590010"/>
            <a:ext cx="1151023" cy="1088444"/>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angular 12">
            <a:extLst>
              <a:ext uri="{FF2B5EF4-FFF2-40B4-BE49-F238E27FC236}">
                <a16:creationId xmlns:a16="http://schemas.microsoft.com/office/drawing/2014/main" id="{B1F44D7C-A3A0-4D06-8080-631C60D42106}"/>
              </a:ext>
            </a:extLst>
          </p:cNvPr>
          <p:cNvCxnSpPr>
            <a:cxnSpLocks/>
            <a:stCxn id="9" idx="1"/>
            <a:endCxn id="7" idx="4"/>
          </p:cNvCxnSpPr>
          <p:nvPr/>
        </p:nvCxnSpPr>
        <p:spPr>
          <a:xfrm rot="10800000">
            <a:off x="7466149" y="2818914"/>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DE1FB9C4-5F5D-49F8-9AA1-C5E971347B27}"/>
                  </a:ext>
                </a:extLst>
              </p:cNvPr>
              <p:cNvSpPr txBox="1"/>
              <p:nvPr/>
            </p:nvSpPr>
            <p:spPr>
              <a:xfrm>
                <a:off x="7893982" y="2027099"/>
                <a:ext cx="312200" cy="501804"/>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14" name="CuadroTexto 13">
                <a:extLst>
                  <a:ext uri="{FF2B5EF4-FFF2-40B4-BE49-F238E27FC236}">
                    <a16:creationId xmlns:a16="http://schemas.microsoft.com/office/drawing/2014/main" id="{DE1FB9C4-5F5D-49F8-9AA1-C5E971347B27}"/>
                  </a:ext>
                </a:extLst>
              </p:cNvPr>
              <p:cNvSpPr txBox="1">
                <a:spLocks noRot="1" noChangeAspect="1" noMove="1" noResize="1" noEditPoints="1" noAdjustHandles="1" noChangeArrowheads="1" noChangeShapeType="1" noTextEdit="1"/>
              </p:cNvSpPr>
              <p:nvPr/>
            </p:nvSpPr>
            <p:spPr>
              <a:xfrm>
                <a:off x="7893982" y="2027099"/>
                <a:ext cx="312200" cy="501804"/>
              </a:xfrm>
              <a:prstGeom prst="rect">
                <a:avLst/>
              </a:prstGeom>
              <a:blipFill>
                <a:blip r:embed="rId7"/>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uadroTexto 14">
                <a:extLst>
                  <a:ext uri="{FF2B5EF4-FFF2-40B4-BE49-F238E27FC236}">
                    <a16:creationId xmlns:a16="http://schemas.microsoft.com/office/drawing/2014/main" id="{809C751A-433B-4C25-BA4C-130429B3391C}"/>
                  </a:ext>
                </a:extLst>
              </p:cNvPr>
              <p:cNvSpPr txBox="1"/>
              <p:nvPr/>
            </p:nvSpPr>
            <p:spPr>
              <a:xfrm>
                <a:off x="9686355" y="2115522"/>
                <a:ext cx="312200" cy="443198"/>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15" name="CuadroTexto 14">
                <a:extLst>
                  <a:ext uri="{FF2B5EF4-FFF2-40B4-BE49-F238E27FC236}">
                    <a16:creationId xmlns:a16="http://schemas.microsoft.com/office/drawing/2014/main" id="{809C751A-433B-4C25-BA4C-130429B3391C}"/>
                  </a:ext>
                </a:extLst>
              </p:cNvPr>
              <p:cNvSpPr txBox="1">
                <a:spLocks noRot="1" noChangeAspect="1" noMove="1" noResize="1" noEditPoints="1" noAdjustHandles="1" noChangeArrowheads="1" noChangeShapeType="1" noTextEdit="1"/>
              </p:cNvSpPr>
              <p:nvPr/>
            </p:nvSpPr>
            <p:spPr>
              <a:xfrm>
                <a:off x="9686355" y="2115522"/>
                <a:ext cx="312200" cy="44319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02673F3B-C1B6-4BAB-BE99-E18F28380167}"/>
                  </a:ext>
                </a:extLst>
              </p:cNvPr>
              <p:cNvSpPr txBox="1"/>
              <p:nvPr/>
            </p:nvSpPr>
            <p:spPr>
              <a:xfrm>
                <a:off x="11406416" y="2196505"/>
                <a:ext cx="23769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16" name="CuadroTexto 15">
                <a:extLst>
                  <a:ext uri="{FF2B5EF4-FFF2-40B4-BE49-F238E27FC236}">
                    <a16:creationId xmlns:a16="http://schemas.microsoft.com/office/drawing/2014/main" id="{02673F3B-C1B6-4BAB-BE99-E18F28380167}"/>
                  </a:ext>
                </a:extLst>
              </p:cNvPr>
              <p:cNvSpPr txBox="1">
                <a:spLocks noRot="1" noChangeAspect="1" noMove="1" noResize="1" noEditPoints="1" noAdjustHandles="1" noChangeArrowheads="1" noChangeShapeType="1" noTextEdit="1"/>
              </p:cNvSpPr>
              <p:nvPr/>
            </p:nvSpPr>
            <p:spPr>
              <a:xfrm>
                <a:off x="11406416" y="2196505"/>
                <a:ext cx="237693" cy="332399"/>
              </a:xfrm>
              <a:prstGeom prst="rect">
                <a:avLst/>
              </a:prstGeom>
              <a:blipFill>
                <a:blip r:embed="rId9"/>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B0C192EB-E9DD-45FB-A33C-28B4E7E7440B}"/>
                  </a:ext>
                </a:extLst>
              </p:cNvPr>
              <p:cNvSpPr txBox="1"/>
              <p:nvPr/>
            </p:nvSpPr>
            <p:spPr>
              <a:xfrm>
                <a:off x="5525636" y="2142782"/>
                <a:ext cx="245067"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17" name="CuadroTexto 16">
                <a:extLst>
                  <a:ext uri="{FF2B5EF4-FFF2-40B4-BE49-F238E27FC236}">
                    <a16:creationId xmlns:a16="http://schemas.microsoft.com/office/drawing/2014/main" id="{B0C192EB-E9DD-45FB-A33C-28B4E7E7440B}"/>
                  </a:ext>
                </a:extLst>
              </p:cNvPr>
              <p:cNvSpPr txBox="1">
                <a:spLocks noRot="1" noChangeAspect="1" noMove="1" noResize="1" noEditPoints="1" noAdjustHandles="1" noChangeArrowheads="1" noChangeShapeType="1" noTextEdit="1"/>
              </p:cNvSpPr>
              <p:nvPr/>
            </p:nvSpPr>
            <p:spPr>
              <a:xfrm>
                <a:off x="5525636" y="2142782"/>
                <a:ext cx="245067" cy="332399"/>
              </a:xfrm>
              <a:prstGeom prst="rect">
                <a:avLst/>
              </a:prstGeom>
              <a:blipFill>
                <a:blip r:embed="rId10"/>
                <a:stretch>
                  <a:fillRect l="-17073" r="-14634"/>
                </a:stretch>
              </a:blipFill>
            </p:spPr>
            <p:txBody>
              <a:bodyPr/>
              <a:lstStyle/>
              <a:p>
                <a:r>
                  <a:rPr lang="en-US">
                    <a:noFill/>
                  </a:rPr>
                  <a:t> </a:t>
                </a:r>
              </a:p>
            </p:txBody>
          </p:sp>
        </mc:Fallback>
      </mc:AlternateContent>
      <p:sp>
        <p:nvSpPr>
          <p:cNvPr id="18" name="Rectángulo 17">
            <a:extLst>
              <a:ext uri="{FF2B5EF4-FFF2-40B4-BE49-F238E27FC236}">
                <a16:creationId xmlns:a16="http://schemas.microsoft.com/office/drawing/2014/main" id="{14087541-7A00-4EAA-A5B5-52DBBCF99ACC}"/>
              </a:ext>
            </a:extLst>
          </p:cNvPr>
          <p:cNvSpPr/>
          <p:nvPr/>
        </p:nvSpPr>
        <p:spPr>
          <a:xfrm>
            <a:off x="5871131" y="1851355"/>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19" name="CuadroTexto 18">
            <a:extLst>
              <a:ext uri="{FF2B5EF4-FFF2-40B4-BE49-F238E27FC236}">
                <a16:creationId xmlns:a16="http://schemas.microsoft.com/office/drawing/2014/main" id="{6A89F44C-44D6-47EE-83E7-D456BE91536A}"/>
              </a:ext>
            </a:extLst>
          </p:cNvPr>
          <p:cNvSpPr txBox="1"/>
          <p:nvPr/>
        </p:nvSpPr>
        <p:spPr>
          <a:xfrm>
            <a:off x="5869863" y="3840278"/>
            <a:ext cx="1218603" cy="424732"/>
          </a:xfrm>
          <a:prstGeom prst="rect">
            <a:avLst/>
          </a:prstGeom>
          <a:noFill/>
        </p:spPr>
        <p:txBody>
          <a:bodyPr wrap="square" rtlCol="0">
            <a:spAutoFit/>
          </a:bodyPr>
          <a:lstStyle/>
          <a:p>
            <a:pPr>
              <a:lnSpc>
                <a:spcPct val="90000"/>
              </a:lnSpc>
            </a:pPr>
            <a:r>
              <a:rPr lang="es-419" sz="2400">
                <a:solidFill>
                  <a:prstClr val="white"/>
                </a:solidFill>
                <a:latin typeface="Corbel"/>
              </a:rPr>
              <a:t>Sistema</a:t>
            </a:r>
          </a:p>
        </p:txBody>
      </p:sp>
      <mc:AlternateContent xmlns:mc="http://schemas.openxmlformats.org/markup-compatibility/2006">
        <mc:Choice xmlns:a14="http://schemas.microsoft.com/office/drawing/2010/main" Requires="a14">
          <p:sp>
            <p:nvSpPr>
              <p:cNvPr id="20" name="Rectángulo 19">
                <a:extLst>
                  <a:ext uri="{FF2B5EF4-FFF2-40B4-BE49-F238E27FC236}">
                    <a16:creationId xmlns:a16="http://schemas.microsoft.com/office/drawing/2014/main" id="{4CE01A12-E7F5-4ED6-9225-C87FAB64527E}"/>
                  </a:ext>
                </a:extLst>
              </p:cNvPr>
              <p:cNvSpPr/>
              <p:nvPr/>
            </p:nvSpPr>
            <p:spPr>
              <a:xfrm>
                <a:off x="7893983" y="4810402"/>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𝟒</m:t>
                      </m:r>
                    </m:oMath>
                  </m:oMathPara>
                </a14:m>
                <a:endParaRPr lang="es-419" sz="2800" b="1">
                  <a:solidFill>
                    <a:prstClr val="white"/>
                  </a:solidFill>
                  <a:latin typeface="Corbel"/>
                </a:endParaRPr>
              </a:p>
            </p:txBody>
          </p:sp>
        </mc:Choice>
        <mc:Fallback>
          <p:sp>
            <p:nvSpPr>
              <p:cNvPr id="20" name="Rectángulo 19">
                <a:extLst>
                  <a:ext uri="{FF2B5EF4-FFF2-40B4-BE49-F238E27FC236}">
                    <a16:creationId xmlns:a16="http://schemas.microsoft.com/office/drawing/2014/main" id="{4CE01A12-E7F5-4ED6-9225-C87FAB64527E}"/>
                  </a:ext>
                </a:extLst>
              </p:cNvPr>
              <p:cNvSpPr>
                <a:spLocks noRot="1" noChangeAspect="1" noMove="1" noResize="1" noEditPoints="1" noAdjustHandles="1" noChangeArrowheads="1" noChangeShapeType="1" noTextEdit="1"/>
              </p:cNvSpPr>
              <p:nvPr/>
            </p:nvSpPr>
            <p:spPr>
              <a:xfrm>
                <a:off x="7893983" y="4810402"/>
                <a:ext cx="869017" cy="609600"/>
              </a:xfrm>
              <a:prstGeom prst="rect">
                <a:avLst/>
              </a:prstGeom>
              <a:blipFill>
                <a:blip r:embed="rId11"/>
                <a:stretch>
                  <a:fillRect/>
                </a:stretch>
              </a:blipFill>
              <a:ln w="57150">
                <a:solidFill>
                  <a:schemeClr val="tx1"/>
                </a:solidFill>
                <a:miter lim="800000"/>
              </a:ln>
            </p:spPr>
            <p:txBody>
              <a:bodyPr/>
              <a:lstStyle/>
              <a:p>
                <a:r>
                  <a:rPr lang="en-US">
                    <a:noFill/>
                  </a:rPr>
                  <a:t> </a:t>
                </a:r>
              </a:p>
            </p:txBody>
          </p:sp>
        </mc:Fallback>
      </mc:AlternateContent>
      <p:cxnSp>
        <p:nvCxnSpPr>
          <p:cNvPr id="21" name="Conector: angular 20">
            <a:extLst>
              <a:ext uri="{FF2B5EF4-FFF2-40B4-BE49-F238E27FC236}">
                <a16:creationId xmlns:a16="http://schemas.microsoft.com/office/drawing/2014/main" id="{7EFFC2ED-0FEB-4330-8779-B417F6CAF2E5}"/>
              </a:ext>
            </a:extLst>
          </p:cNvPr>
          <p:cNvCxnSpPr>
            <a:cxnSpLocks/>
            <a:endCxn id="20" idx="3"/>
          </p:cNvCxnSpPr>
          <p:nvPr/>
        </p:nvCxnSpPr>
        <p:spPr>
          <a:xfrm rot="5400000">
            <a:off x="8616525" y="3880276"/>
            <a:ext cx="1381401" cy="108845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Elipse 21">
            <a:extLst>
              <a:ext uri="{FF2B5EF4-FFF2-40B4-BE49-F238E27FC236}">
                <a16:creationId xmlns:a16="http://schemas.microsoft.com/office/drawing/2014/main" id="{137155A5-C59A-4A4F-931D-B0E2F381C019}"/>
              </a:ext>
            </a:extLst>
          </p:cNvPr>
          <p:cNvSpPr/>
          <p:nvPr/>
        </p:nvSpPr>
        <p:spPr>
          <a:xfrm>
            <a:off x="4942021"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CDEA4810-CEC7-494F-A2F0-9F93E5BF5F4C}"/>
                  </a:ext>
                </a:extLst>
              </p:cNvPr>
              <p:cNvSpPr txBox="1"/>
              <p:nvPr/>
            </p:nvSpPr>
            <p:spPr>
              <a:xfrm>
                <a:off x="1049704" y="2115523"/>
                <a:ext cx="213520"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oMath>
                  </m:oMathPara>
                </a14:m>
                <a:endParaRPr lang="es-419" sz="3200">
                  <a:solidFill>
                    <a:prstClr val="white"/>
                  </a:solidFill>
                  <a:latin typeface="Corbel"/>
                </a:endParaRPr>
              </a:p>
            </p:txBody>
          </p:sp>
        </mc:Choice>
        <mc:Fallback>
          <p:sp>
            <p:nvSpPr>
              <p:cNvPr id="23" name="CuadroTexto 22">
                <a:extLst>
                  <a:ext uri="{FF2B5EF4-FFF2-40B4-BE49-F238E27FC236}">
                    <a16:creationId xmlns:a16="http://schemas.microsoft.com/office/drawing/2014/main" id="{CDEA4810-CEC7-494F-A2F0-9F93E5BF5F4C}"/>
                  </a:ext>
                </a:extLst>
              </p:cNvPr>
              <p:cNvSpPr txBox="1">
                <a:spLocks noRot="1" noChangeAspect="1" noMove="1" noResize="1" noEditPoints="1" noAdjustHandles="1" noChangeArrowheads="1" noChangeShapeType="1" noTextEdit="1"/>
              </p:cNvSpPr>
              <p:nvPr/>
            </p:nvSpPr>
            <p:spPr>
              <a:xfrm>
                <a:off x="1049704" y="2115523"/>
                <a:ext cx="213520" cy="332399"/>
              </a:xfrm>
              <a:prstGeom prst="rect">
                <a:avLst/>
              </a:prstGeom>
              <a:blipFill>
                <a:blip r:embed="rId12"/>
                <a:stretch>
                  <a:fillRect l="-20000" r="-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98DBA3F6-748F-4039-BF6A-0FEB912C275C}"/>
                  </a:ext>
                </a:extLst>
              </p:cNvPr>
              <p:cNvSpPr txBox="1"/>
              <p:nvPr/>
            </p:nvSpPr>
            <p:spPr>
              <a:xfrm>
                <a:off x="5061504" y="2550499"/>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4" name="CuadroTexto 23">
                <a:extLst>
                  <a:ext uri="{FF2B5EF4-FFF2-40B4-BE49-F238E27FC236}">
                    <a16:creationId xmlns:a16="http://schemas.microsoft.com/office/drawing/2014/main" id="{98DBA3F6-748F-4039-BF6A-0FEB912C275C}"/>
                  </a:ext>
                </a:extLst>
              </p:cNvPr>
              <p:cNvSpPr txBox="1">
                <a:spLocks noRot="1" noChangeAspect="1" noMove="1" noResize="1" noEditPoints="1" noAdjustHandles="1" noChangeArrowheads="1" noChangeShapeType="1" noTextEdit="1"/>
              </p:cNvSpPr>
              <p:nvPr/>
            </p:nvSpPr>
            <p:spPr>
              <a:xfrm>
                <a:off x="5061504" y="2550499"/>
                <a:ext cx="290143" cy="332399"/>
              </a:xfrm>
              <a:prstGeom prst="rect">
                <a:avLst/>
              </a:prstGeom>
              <a:blipFill>
                <a:blip r:embed="rId13"/>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0847B354-FCA7-4D38-832B-C4F2F5FD2278}"/>
                  </a:ext>
                </a:extLst>
              </p:cNvPr>
              <p:cNvSpPr txBox="1"/>
              <p:nvPr/>
            </p:nvSpPr>
            <p:spPr>
              <a:xfrm>
                <a:off x="4930204" y="2384300"/>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5" name="CuadroTexto 24">
                <a:extLst>
                  <a:ext uri="{FF2B5EF4-FFF2-40B4-BE49-F238E27FC236}">
                    <a16:creationId xmlns:a16="http://schemas.microsoft.com/office/drawing/2014/main" id="{0847B354-FCA7-4D38-832B-C4F2F5FD2278}"/>
                  </a:ext>
                </a:extLst>
              </p:cNvPr>
              <p:cNvSpPr txBox="1">
                <a:spLocks noRot="1" noChangeAspect="1" noMove="1" noResize="1" noEditPoints="1" noAdjustHandles="1" noChangeArrowheads="1" noChangeShapeType="1" noTextEdit="1"/>
              </p:cNvSpPr>
              <p:nvPr/>
            </p:nvSpPr>
            <p:spPr>
              <a:xfrm>
                <a:off x="4930204" y="2384300"/>
                <a:ext cx="290143" cy="332399"/>
              </a:xfrm>
              <a:prstGeom prst="rect">
                <a:avLst/>
              </a:prstGeom>
              <a:blipFill>
                <a:blip r:embed="rId14"/>
                <a:stretch>
                  <a:fillRect l="-23404" r="-23404"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Rectángulo 25">
                <a:extLst>
                  <a:ext uri="{FF2B5EF4-FFF2-40B4-BE49-F238E27FC236}">
                    <a16:creationId xmlns:a16="http://schemas.microsoft.com/office/drawing/2014/main" id="{9B5D9762-4B0F-490A-80FB-9F69E4F99878}"/>
                  </a:ext>
                </a:extLst>
              </p:cNvPr>
              <p:cNvSpPr/>
              <p:nvPr/>
            </p:nvSpPr>
            <p:spPr>
              <a:xfrm>
                <a:off x="3842303" y="2245698"/>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𝟐</m:t>
                      </m:r>
                    </m:oMath>
                  </m:oMathPara>
                </a14:m>
                <a:endParaRPr lang="es-419" sz="2800" b="1">
                  <a:solidFill>
                    <a:prstClr val="white"/>
                  </a:solidFill>
                  <a:latin typeface="Corbel"/>
                </a:endParaRPr>
              </a:p>
            </p:txBody>
          </p:sp>
        </mc:Choice>
        <mc:Fallback>
          <p:sp>
            <p:nvSpPr>
              <p:cNvPr id="26" name="Rectángulo 25">
                <a:extLst>
                  <a:ext uri="{FF2B5EF4-FFF2-40B4-BE49-F238E27FC236}">
                    <a16:creationId xmlns:a16="http://schemas.microsoft.com/office/drawing/2014/main" id="{9B5D9762-4B0F-490A-80FB-9F69E4F99878}"/>
                  </a:ext>
                </a:extLst>
              </p:cNvPr>
              <p:cNvSpPr>
                <a:spLocks noRot="1" noChangeAspect="1" noMove="1" noResize="1" noEditPoints="1" noAdjustHandles="1" noChangeArrowheads="1" noChangeShapeType="1" noTextEdit="1"/>
              </p:cNvSpPr>
              <p:nvPr/>
            </p:nvSpPr>
            <p:spPr>
              <a:xfrm>
                <a:off x="3842303" y="2245698"/>
                <a:ext cx="609600" cy="609600"/>
              </a:xfrm>
              <a:prstGeom prst="rect">
                <a:avLst/>
              </a:prstGeom>
              <a:blipFill>
                <a:blip r:embed="rId15"/>
                <a:stretch>
                  <a:fillRect/>
                </a:stretch>
              </a:blipFill>
              <a:ln w="57150">
                <a:solidFill>
                  <a:schemeClr val="tx1"/>
                </a:solidFill>
                <a:miter lim="800000"/>
              </a:ln>
            </p:spPr>
            <p:txBody>
              <a:bodyPr/>
              <a:lstStyle/>
              <a:p>
                <a:r>
                  <a:rPr lang="en-US">
                    <a:noFill/>
                  </a:rPr>
                  <a:t> </a:t>
                </a:r>
              </a:p>
            </p:txBody>
          </p:sp>
        </mc:Fallback>
      </mc:AlternateContent>
      <p:cxnSp>
        <p:nvCxnSpPr>
          <p:cNvPr id="27" name="Conector: angular 26">
            <a:extLst>
              <a:ext uri="{FF2B5EF4-FFF2-40B4-BE49-F238E27FC236}">
                <a16:creationId xmlns:a16="http://schemas.microsoft.com/office/drawing/2014/main" id="{DA575826-E056-4474-94FB-8FA589C6681E}"/>
              </a:ext>
            </a:extLst>
          </p:cNvPr>
          <p:cNvCxnSpPr>
            <a:cxnSpLocks/>
            <a:stCxn id="20" idx="1"/>
            <a:endCxn id="24" idx="2"/>
          </p:cNvCxnSpPr>
          <p:nvPr/>
        </p:nvCxnSpPr>
        <p:spPr>
          <a:xfrm rot="10800000">
            <a:off x="5206577" y="2882899"/>
            <a:ext cx="2687407" cy="2232305"/>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8267B200-1F48-48DB-93C1-83B603BAA6F6}"/>
              </a:ext>
            </a:extLst>
          </p:cNvPr>
          <p:cNvCxnSpPr>
            <a:cxnSpLocks/>
            <a:stCxn id="8" idx="3"/>
          </p:cNvCxnSpPr>
          <p:nvPr/>
        </p:nvCxnSpPr>
        <p:spPr>
          <a:xfrm>
            <a:off x="11096018" y="2552214"/>
            <a:ext cx="787737"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5ED4185C-D8FC-4D7D-8336-CD4E25E04199}"/>
              </a:ext>
            </a:extLst>
          </p:cNvPr>
          <p:cNvCxnSpPr>
            <a:cxnSpLocks/>
            <a:stCxn id="26" idx="3"/>
            <a:endCxn id="25" idx="1"/>
          </p:cNvCxnSpPr>
          <p:nvPr/>
        </p:nvCxnSpPr>
        <p:spPr>
          <a:xfrm>
            <a:off x="4451903" y="2550499"/>
            <a:ext cx="478300" cy="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0059DAA1-2291-4EF7-A71B-ECCB4E101D96}"/>
              </a:ext>
            </a:extLst>
          </p:cNvPr>
          <p:cNvCxnSpPr>
            <a:cxnSpLocks/>
            <a:stCxn id="34" idx="3"/>
            <a:endCxn id="26" idx="1"/>
          </p:cNvCxnSpPr>
          <p:nvPr/>
        </p:nvCxnSpPr>
        <p:spPr>
          <a:xfrm>
            <a:off x="3241677" y="2550498"/>
            <a:ext cx="600626"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C59DE3E9-AF79-4DDC-B145-023915D396D5}"/>
              </a:ext>
            </a:extLst>
          </p:cNvPr>
          <p:cNvCxnSpPr>
            <a:cxnSpLocks/>
            <a:stCxn id="22" idx="6"/>
            <a:endCxn id="4" idx="1"/>
          </p:cNvCxnSpPr>
          <p:nvPr/>
        </p:nvCxnSpPr>
        <p:spPr>
          <a:xfrm>
            <a:off x="5475421" y="2552214"/>
            <a:ext cx="700510"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Rectángulo 33">
                <a:extLst>
                  <a:ext uri="{FF2B5EF4-FFF2-40B4-BE49-F238E27FC236}">
                    <a16:creationId xmlns:a16="http://schemas.microsoft.com/office/drawing/2014/main" id="{73F48AF0-A0CF-4CCD-B9B9-A31D3B0C0AD1}"/>
                  </a:ext>
                </a:extLst>
              </p:cNvPr>
              <p:cNvSpPr/>
              <p:nvPr/>
            </p:nvSpPr>
            <p:spPr>
              <a:xfrm>
                <a:off x="2659873" y="2210408"/>
                <a:ext cx="581805" cy="68018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34" name="Rectángulo 33">
                <a:extLst>
                  <a:ext uri="{FF2B5EF4-FFF2-40B4-BE49-F238E27FC236}">
                    <a16:creationId xmlns:a16="http://schemas.microsoft.com/office/drawing/2014/main" id="{73F48AF0-A0CF-4CCD-B9B9-A31D3B0C0AD1}"/>
                  </a:ext>
                </a:extLst>
              </p:cNvPr>
              <p:cNvSpPr>
                <a:spLocks noRot="1" noChangeAspect="1" noMove="1" noResize="1" noEditPoints="1" noAdjustHandles="1" noChangeArrowheads="1" noChangeShapeType="1" noTextEdit="1"/>
              </p:cNvSpPr>
              <p:nvPr/>
            </p:nvSpPr>
            <p:spPr>
              <a:xfrm>
                <a:off x="2659873" y="2210408"/>
                <a:ext cx="581805" cy="680180"/>
              </a:xfrm>
              <a:prstGeom prst="rect">
                <a:avLst/>
              </a:prstGeom>
              <a:blipFill>
                <a:blip r:embed="rId16"/>
                <a:stretch>
                  <a:fillRect/>
                </a:stretch>
              </a:blipFill>
              <a:ln w="57150">
                <a:solidFill>
                  <a:schemeClr val="tx1"/>
                </a:solidFill>
                <a:miter lim="800000"/>
              </a:ln>
            </p:spPr>
            <p:txBody>
              <a:bodyPr/>
              <a:lstStyle/>
              <a:p>
                <a:r>
                  <a:rPr lang="en-US">
                    <a:noFill/>
                  </a:rPr>
                  <a:t> </a:t>
                </a:r>
              </a:p>
            </p:txBody>
          </p:sp>
        </mc:Fallback>
      </mc:AlternateContent>
      <p:sp>
        <p:nvSpPr>
          <p:cNvPr id="39" name="Elipse 38">
            <a:extLst>
              <a:ext uri="{FF2B5EF4-FFF2-40B4-BE49-F238E27FC236}">
                <a16:creationId xmlns:a16="http://schemas.microsoft.com/office/drawing/2014/main" id="{E3476CEA-E04B-4B30-A284-C3D76D04A787}"/>
              </a:ext>
            </a:extLst>
          </p:cNvPr>
          <p:cNvSpPr/>
          <p:nvPr/>
        </p:nvSpPr>
        <p:spPr>
          <a:xfrm>
            <a:off x="1677325" y="228551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ABE94264-8077-4B11-AF2F-353BAB977CAF}"/>
                  </a:ext>
                </a:extLst>
              </p:cNvPr>
              <p:cNvSpPr txBox="1"/>
              <p:nvPr/>
            </p:nvSpPr>
            <p:spPr>
              <a:xfrm>
                <a:off x="1796808" y="2550499"/>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0" name="CuadroTexto 39">
                <a:extLst>
                  <a:ext uri="{FF2B5EF4-FFF2-40B4-BE49-F238E27FC236}">
                    <a16:creationId xmlns:a16="http://schemas.microsoft.com/office/drawing/2014/main" id="{ABE94264-8077-4B11-AF2F-353BAB977CAF}"/>
                  </a:ext>
                </a:extLst>
              </p:cNvPr>
              <p:cNvSpPr txBox="1">
                <a:spLocks noRot="1" noChangeAspect="1" noMove="1" noResize="1" noEditPoints="1" noAdjustHandles="1" noChangeArrowheads="1" noChangeShapeType="1" noTextEdit="1"/>
              </p:cNvSpPr>
              <p:nvPr/>
            </p:nvSpPr>
            <p:spPr>
              <a:xfrm>
                <a:off x="1796808" y="2550499"/>
                <a:ext cx="290143" cy="332399"/>
              </a:xfrm>
              <a:prstGeom prst="rect">
                <a:avLst/>
              </a:prstGeom>
              <a:blipFill>
                <a:blip r:embed="rId17"/>
                <a:stretch>
                  <a:fillRect l="-8511"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384AB8EE-012D-4F09-8EEF-F768E5B1AD72}"/>
                  </a:ext>
                </a:extLst>
              </p:cNvPr>
              <p:cNvSpPr txBox="1"/>
              <p:nvPr/>
            </p:nvSpPr>
            <p:spPr>
              <a:xfrm>
                <a:off x="1665508" y="2384300"/>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1" name="CuadroTexto 40">
                <a:extLst>
                  <a:ext uri="{FF2B5EF4-FFF2-40B4-BE49-F238E27FC236}">
                    <a16:creationId xmlns:a16="http://schemas.microsoft.com/office/drawing/2014/main" id="{384AB8EE-012D-4F09-8EEF-F768E5B1AD72}"/>
                  </a:ext>
                </a:extLst>
              </p:cNvPr>
              <p:cNvSpPr txBox="1">
                <a:spLocks noRot="1" noChangeAspect="1" noMove="1" noResize="1" noEditPoints="1" noAdjustHandles="1" noChangeArrowheads="1" noChangeShapeType="1" noTextEdit="1"/>
              </p:cNvSpPr>
              <p:nvPr/>
            </p:nvSpPr>
            <p:spPr>
              <a:xfrm>
                <a:off x="1665508" y="2384300"/>
                <a:ext cx="290143" cy="332399"/>
              </a:xfrm>
              <a:prstGeom prst="rect">
                <a:avLst/>
              </a:prstGeom>
              <a:blipFill>
                <a:blip r:embed="rId14"/>
                <a:stretch>
                  <a:fillRect l="-22917" r="-20833" b="-5455"/>
                </a:stretch>
              </a:blipFill>
            </p:spPr>
            <p:txBody>
              <a:bodyPr/>
              <a:lstStyle/>
              <a:p>
                <a:r>
                  <a:rPr lang="en-US">
                    <a:noFill/>
                  </a:rPr>
                  <a:t> </a:t>
                </a:r>
              </a:p>
            </p:txBody>
          </p:sp>
        </mc:Fallback>
      </mc:AlternateContent>
      <p:cxnSp>
        <p:nvCxnSpPr>
          <p:cNvPr id="48" name="Conector recto de flecha 47">
            <a:extLst>
              <a:ext uri="{FF2B5EF4-FFF2-40B4-BE49-F238E27FC236}">
                <a16:creationId xmlns:a16="http://schemas.microsoft.com/office/drawing/2014/main" id="{3E1CEC55-D2D2-46E8-9F2F-550B9832E118}"/>
              </a:ext>
            </a:extLst>
          </p:cNvPr>
          <p:cNvCxnSpPr>
            <a:cxnSpLocks/>
            <a:stCxn id="39" idx="6"/>
            <a:endCxn id="34" idx="1"/>
          </p:cNvCxnSpPr>
          <p:nvPr/>
        </p:nvCxnSpPr>
        <p:spPr>
          <a:xfrm flipV="1">
            <a:off x="2210726" y="2550498"/>
            <a:ext cx="449147" cy="171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de flecha 53">
            <a:extLst>
              <a:ext uri="{FF2B5EF4-FFF2-40B4-BE49-F238E27FC236}">
                <a16:creationId xmlns:a16="http://schemas.microsoft.com/office/drawing/2014/main" id="{4575CF22-B3AE-47BC-9527-A35685C9DE35}"/>
              </a:ext>
            </a:extLst>
          </p:cNvPr>
          <p:cNvCxnSpPr>
            <a:cxnSpLocks/>
            <a:endCxn id="41" idx="1"/>
          </p:cNvCxnSpPr>
          <p:nvPr/>
        </p:nvCxnSpPr>
        <p:spPr>
          <a:xfrm flipV="1">
            <a:off x="723075" y="2550500"/>
            <a:ext cx="942432" cy="822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angular 56">
            <a:extLst>
              <a:ext uri="{FF2B5EF4-FFF2-40B4-BE49-F238E27FC236}">
                <a16:creationId xmlns:a16="http://schemas.microsoft.com/office/drawing/2014/main" id="{1FC14F7F-C7AE-4B2E-B565-1C9F036D3035}"/>
              </a:ext>
            </a:extLst>
          </p:cNvPr>
          <p:cNvCxnSpPr>
            <a:cxnSpLocks/>
            <a:stCxn id="16" idx="2"/>
            <a:endCxn id="40" idx="2"/>
          </p:cNvCxnSpPr>
          <p:nvPr/>
        </p:nvCxnSpPr>
        <p:spPr>
          <a:xfrm rot="5400000">
            <a:off x="6556574" y="-2085791"/>
            <a:ext cx="353994" cy="9583383"/>
          </a:xfrm>
          <a:prstGeom prst="bentConnector3">
            <a:avLst>
              <a:gd name="adj1" fmla="val 936728"/>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CuadroTexto 61">
                <a:extLst>
                  <a:ext uri="{FF2B5EF4-FFF2-40B4-BE49-F238E27FC236}">
                    <a16:creationId xmlns:a16="http://schemas.microsoft.com/office/drawing/2014/main" id="{5C6000E2-02DB-4B2C-9C7E-A00B460E8E0C}"/>
                  </a:ext>
                </a:extLst>
              </p:cNvPr>
              <p:cNvSpPr txBox="1"/>
              <p:nvPr/>
            </p:nvSpPr>
            <p:spPr>
              <a:xfrm>
                <a:off x="2269892" y="2115523"/>
                <a:ext cx="21993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oMath>
                  </m:oMathPara>
                </a14:m>
                <a:endParaRPr lang="es-419" sz="3200">
                  <a:solidFill>
                    <a:prstClr val="white"/>
                  </a:solidFill>
                  <a:latin typeface="Corbel"/>
                </a:endParaRPr>
              </a:p>
            </p:txBody>
          </p:sp>
        </mc:Choice>
        <mc:Fallback>
          <p:sp>
            <p:nvSpPr>
              <p:cNvPr id="62" name="CuadroTexto 61">
                <a:extLst>
                  <a:ext uri="{FF2B5EF4-FFF2-40B4-BE49-F238E27FC236}">
                    <a16:creationId xmlns:a16="http://schemas.microsoft.com/office/drawing/2014/main" id="{5C6000E2-02DB-4B2C-9C7E-A00B460E8E0C}"/>
                  </a:ext>
                </a:extLst>
              </p:cNvPr>
              <p:cNvSpPr txBox="1">
                <a:spLocks noRot="1" noChangeAspect="1" noMove="1" noResize="1" noEditPoints="1" noAdjustHandles="1" noChangeArrowheads="1" noChangeShapeType="1" noTextEdit="1"/>
              </p:cNvSpPr>
              <p:nvPr/>
            </p:nvSpPr>
            <p:spPr>
              <a:xfrm>
                <a:off x="2269892" y="2115523"/>
                <a:ext cx="219932" cy="332399"/>
              </a:xfrm>
              <a:prstGeom prst="rect">
                <a:avLst/>
              </a:prstGeom>
              <a:blipFill>
                <a:blip r:embed="rId18"/>
                <a:stretch>
                  <a:fillRect l="-19444" r="-194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3" name="CuadroTexto 62">
                <a:extLst>
                  <a:ext uri="{FF2B5EF4-FFF2-40B4-BE49-F238E27FC236}">
                    <a16:creationId xmlns:a16="http://schemas.microsoft.com/office/drawing/2014/main" id="{FF81BA56-9F52-48E9-A53D-C6C7CDBFADE4}"/>
                  </a:ext>
                </a:extLst>
              </p:cNvPr>
              <p:cNvSpPr txBox="1"/>
              <p:nvPr/>
            </p:nvSpPr>
            <p:spPr>
              <a:xfrm>
                <a:off x="3411676" y="2002416"/>
                <a:ext cx="294953"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3200" i="1">
                          <a:solidFill>
                            <a:prstClr val="white"/>
                          </a:solidFill>
                          <a:latin typeface="Cambria Math" panose="02040503050406030204" pitchFamily="18" charset="0"/>
                        </a:rPr>
                        <m:t>𝜉</m:t>
                      </m:r>
                    </m:oMath>
                  </m:oMathPara>
                </a14:m>
                <a:endParaRPr lang="es-419" sz="3200">
                  <a:solidFill>
                    <a:prstClr val="white"/>
                  </a:solidFill>
                  <a:latin typeface="Corbel"/>
                </a:endParaRPr>
              </a:p>
            </p:txBody>
          </p:sp>
        </mc:Choice>
        <mc:Fallback>
          <p:sp>
            <p:nvSpPr>
              <p:cNvPr id="63" name="CuadroTexto 62">
                <a:extLst>
                  <a:ext uri="{FF2B5EF4-FFF2-40B4-BE49-F238E27FC236}">
                    <a16:creationId xmlns:a16="http://schemas.microsoft.com/office/drawing/2014/main" id="{FF81BA56-9F52-48E9-A53D-C6C7CDBFADE4}"/>
                  </a:ext>
                </a:extLst>
              </p:cNvPr>
              <p:cNvSpPr txBox="1">
                <a:spLocks noRot="1" noChangeAspect="1" noMove="1" noResize="1" noEditPoints="1" noAdjustHandles="1" noChangeArrowheads="1" noChangeShapeType="1" noTextEdit="1"/>
              </p:cNvSpPr>
              <p:nvPr/>
            </p:nvSpPr>
            <p:spPr>
              <a:xfrm>
                <a:off x="3411676" y="2002416"/>
                <a:ext cx="294953" cy="443198"/>
              </a:xfrm>
              <a:prstGeom prst="rect">
                <a:avLst/>
              </a:prstGeom>
              <a:blipFill>
                <a:blip r:embed="rId19"/>
                <a:stretch>
                  <a:fillRect/>
                </a:stretch>
              </a:blipFill>
            </p:spPr>
            <p:txBody>
              <a:bodyPr/>
              <a:lstStyle/>
              <a:p>
                <a:r>
                  <a:rPr lang="en-US">
                    <a:noFill/>
                  </a:rPr>
                  <a:t> </a:t>
                </a:r>
              </a:p>
            </p:txBody>
          </p:sp>
        </mc:Fallback>
      </mc:AlternateContent>
      <p:pic>
        <p:nvPicPr>
          <p:cNvPr id="43" name="Imagen 42">
            <a:extLst>
              <a:ext uri="{FF2B5EF4-FFF2-40B4-BE49-F238E27FC236}">
                <a16:creationId xmlns:a16="http://schemas.microsoft.com/office/drawing/2014/main" id="{27E5A12E-4798-44BF-B0E2-839312558E28}"/>
              </a:ext>
            </a:extLst>
          </p:cNvPr>
          <p:cNvPicPr>
            <a:picLocks noChangeAspect="1"/>
          </p:cNvPicPr>
          <p:nvPr>
            <p:custDataLst>
              <p:tags r:id="rId1"/>
            </p:custDataLst>
          </p:nvPr>
        </p:nvPicPr>
        <p:blipFill>
          <a:blip r:embed="rId20" cstate="print">
            <a:lum bright="70000" contrast="-70000"/>
            <a:extLst>
              <a:ext uri="{28A0092B-C50C-407E-A947-70E740481C1C}">
                <a14:useLocalDpi xmlns:a14="http://schemas.microsoft.com/office/drawing/2010/main" val="0"/>
              </a:ext>
            </a:extLst>
          </a:blip>
          <a:stretch>
            <a:fillRect/>
          </a:stretch>
        </p:blipFill>
        <p:spPr>
          <a:xfrm>
            <a:off x="4739403" y="403935"/>
            <a:ext cx="6769523" cy="761905"/>
          </a:xfrm>
          <a:prstGeom prst="rect">
            <a:avLst/>
          </a:prstGeom>
        </p:spPr>
      </p:pic>
    </p:spTree>
    <p:extLst>
      <p:ext uri="{BB962C8B-B14F-4D97-AF65-F5344CB8AC3E}">
        <p14:creationId xmlns:p14="http://schemas.microsoft.com/office/powerpoint/2010/main" val="941869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4" grpId="0"/>
      <p:bldP spid="15" grpId="0"/>
      <p:bldP spid="16" grpId="0"/>
      <p:bldP spid="17" grpId="0"/>
      <p:bldP spid="18" grpId="0" animBg="1"/>
      <p:bldP spid="19" grpId="0"/>
      <p:bldP spid="20" grpId="0" animBg="1"/>
      <p:bldP spid="22" grpId="0" animBg="1"/>
      <p:bldP spid="23" grpId="0"/>
      <p:bldP spid="24" grpId="0"/>
      <p:bldP spid="25" grpId="0"/>
      <p:bldP spid="26" grpId="0" animBg="1"/>
      <p:bldP spid="34" grpId="0" animBg="1"/>
      <p:bldP spid="39" grpId="0" animBg="1"/>
      <p:bldP spid="40" grpId="0"/>
      <p:bldP spid="41" grpId="0"/>
      <p:bldP spid="62" grpId="0"/>
      <p:bldP spid="6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4B7052C-A9BA-4495-9753-2872174D5782}"/>
              </a:ext>
            </a:extLst>
          </p:cNvPr>
          <p:cNvSpPr>
            <a:spLocks noGrp="1"/>
          </p:cNvSpPr>
          <p:nvPr>
            <p:ph type="ctrTitle"/>
          </p:nvPr>
        </p:nvSpPr>
        <p:spPr>
          <a:xfrm>
            <a:off x="1488000" y="36871"/>
            <a:ext cx="9144000" cy="1828800"/>
          </a:xfrm>
        </p:spPr>
        <p:txBody>
          <a:bodyPr/>
          <a:lstStyle/>
          <a:p>
            <a:pPr algn="ctr"/>
            <a:r>
              <a:rPr lang="es-419"/>
              <a:t>Control en Variables de Estado</a:t>
            </a:r>
          </a:p>
        </p:txBody>
      </p:sp>
      <p:sp>
        <p:nvSpPr>
          <p:cNvPr id="6" name="Subtítulo 5">
            <a:extLst>
              <a:ext uri="{FF2B5EF4-FFF2-40B4-BE49-F238E27FC236}">
                <a16:creationId xmlns:a16="http://schemas.microsoft.com/office/drawing/2014/main" id="{99F7E535-08D1-4242-97FD-836250BD3200}"/>
              </a:ext>
            </a:extLst>
          </p:cNvPr>
          <p:cNvSpPr>
            <a:spLocks noGrp="1"/>
          </p:cNvSpPr>
          <p:nvPr>
            <p:ph type="subTitle" idx="1"/>
          </p:nvPr>
        </p:nvSpPr>
        <p:spPr/>
        <p:txBody>
          <a:bodyPr/>
          <a:lstStyle/>
          <a:p>
            <a:r>
              <a:rPr lang="es-419"/>
              <a:t>por: Sergio Andres Castaño Giraldo</a:t>
            </a:r>
          </a:p>
          <a:p>
            <a:r>
              <a:rPr lang="en-US">
                <a:hlinkClick r:id="rId2"/>
              </a:rPr>
              <a:t>https://controlautomaticoeducacion.com/</a:t>
            </a:r>
            <a:endParaRPr lang="es-419"/>
          </a:p>
        </p:txBody>
      </p:sp>
      <p:sp>
        <p:nvSpPr>
          <p:cNvPr id="7" name="Título 4">
            <a:extLst>
              <a:ext uri="{FF2B5EF4-FFF2-40B4-BE49-F238E27FC236}">
                <a16:creationId xmlns:a16="http://schemas.microsoft.com/office/drawing/2014/main" id="{9243BA80-8B64-42F3-9427-2D1D3B92AAB7}"/>
              </a:ext>
            </a:extLst>
          </p:cNvPr>
          <p:cNvSpPr txBox="1">
            <a:spLocks/>
          </p:cNvSpPr>
          <p:nvPr/>
        </p:nvSpPr>
        <p:spPr>
          <a:xfrm>
            <a:off x="1524001" y="2552700"/>
            <a:ext cx="9144000" cy="114300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5400" kern="1200">
                <a:solidFill>
                  <a:schemeClr val="tx1"/>
                </a:solidFill>
                <a:latin typeface="+mj-lt"/>
                <a:ea typeface="+mj-ea"/>
                <a:cs typeface="+mj-cs"/>
              </a:defRPr>
            </a:lvl1pPr>
          </a:lstStyle>
          <a:p>
            <a:pPr algn="ctr"/>
            <a:r>
              <a:rPr lang="es-419" sz="4400">
                <a:solidFill>
                  <a:srgbClr val="FFFF00"/>
                </a:solidFill>
                <a:latin typeface="Consolas"/>
              </a:rPr>
              <a:t>Realimentación de Estados Rechazo de Perturbaciones</a:t>
            </a:r>
          </a:p>
        </p:txBody>
      </p:sp>
    </p:spTree>
    <p:extLst>
      <p:ext uri="{BB962C8B-B14F-4D97-AF65-F5344CB8AC3E}">
        <p14:creationId xmlns:p14="http://schemas.microsoft.com/office/powerpoint/2010/main" val="1428986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a:t>
            </a:r>
          </a:p>
        </p:txBody>
      </p:sp>
      <p:sp>
        <p:nvSpPr>
          <p:cNvPr id="3" name="Marcador de contenido 2">
            <a:extLst>
              <a:ext uri="{FF2B5EF4-FFF2-40B4-BE49-F238E27FC236}">
                <a16:creationId xmlns:a16="http://schemas.microsoft.com/office/drawing/2014/main" id="{6A73D56A-D7F6-444A-857F-26FD53D40E20}"/>
              </a:ext>
            </a:extLst>
          </p:cNvPr>
          <p:cNvSpPr>
            <a:spLocks noGrp="1"/>
          </p:cNvSpPr>
          <p:nvPr>
            <p:ph idx="1"/>
          </p:nvPr>
        </p:nvSpPr>
        <p:spPr>
          <a:xfrm>
            <a:off x="1524002" y="1664935"/>
            <a:ext cx="9144000" cy="2348242"/>
          </a:xfrm>
        </p:spPr>
        <p:txBody>
          <a:bodyPr/>
          <a:lstStyle/>
          <a:p>
            <a:r>
              <a:rPr lang="es-ES"/>
              <a:t>El uso de una </a:t>
            </a:r>
            <a:r>
              <a:rPr lang="es-ES">
                <a:solidFill>
                  <a:srgbClr val="FFFF00"/>
                </a:solidFill>
              </a:rPr>
              <a:t>acción integral</a:t>
            </a:r>
            <a:r>
              <a:rPr lang="es-ES"/>
              <a:t> dentro del lazo directo del sistema de control además de garantizar un </a:t>
            </a:r>
            <a:r>
              <a:rPr lang="es-ES">
                <a:solidFill>
                  <a:srgbClr val="FFFF00"/>
                </a:solidFill>
              </a:rPr>
              <a:t>error nulo </a:t>
            </a:r>
            <a:r>
              <a:rPr lang="es-ES"/>
              <a:t>en el seguimiento de referencias constantes también le da al sistema la propiedad de </a:t>
            </a:r>
            <a:r>
              <a:rPr lang="es-ES">
                <a:solidFill>
                  <a:srgbClr val="FFFF00"/>
                </a:solidFill>
              </a:rPr>
              <a:t>rechazar perturbaciones </a:t>
            </a:r>
            <a:r>
              <a:rPr lang="es-ES"/>
              <a:t>en régimen permanente.</a:t>
            </a:r>
          </a:p>
          <a:p>
            <a:r>
              <a:rPr lang="es-ES"/>
              <a:t>Para demostrar esta propiedad, se considera un sistema de control SISO sujeto a una perturbación aditiva en la entrada del proceso:</a:t>
            </a:r>
            <a:endParaRPr lang="es-419"/>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B37E0B03-1CC3-4879-A68F-45D70DC6A5C7}"/>
                  </a:ext>
                </a:extLst>
              </p:cNvPr>
              <p:cNvSpPr/>
              <p:nvPr/>
            </p:nvSpPr>
            <p:spPr>
              <a:xfrm>
                <a:off x="7611037" y="4682684"/>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800" dirty="0">
                          <a:solidFill>
                            <a:prstClr val="white"/>
                          </a:solidFill>
                          <a:latin typeface="Corbel"/>
                        </a:rPr>
                        <m:t>Planta</m:t>
                      </m:r>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B37E0B03-1CC3-4879-A68F-45D70DC6A5C7}"/>
                  </a:ext>
                </a:extLst>
              </p:cNvPr>
              <p:cNvSpPr>
                <a:spLocks noRot="1" noChangeAspect="1" noMove="1" noResize="1" noEditPoints="1" noAdjustHandles="1" noChangeArrowheads="1" noChangeShapeType="1" noTextEdit="1"/>
              </p:cNvSpPr>
              <p:nvPr/>
            </p:nvSpPr>
            <p:spPr>
              <a:xfrm>
                <a:off x="7611037" y="4682684"/>
                <a:ext cx="1722536" cy="1020762"/>
              </a:xfrm>
              <a:prstGeom prst="rect">
                <a:avLst/>
              </a:prstGeom>
              <a:blipFill>
                <a:blip r:embed="rId2"/>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F7A2D8B2-9A80-4507-8482-383F9C23FC3E}"/>
              </a:ext>
            </a:extLst>
          </p:cNvPr>
          <p:cNvCxnSpPr>
            <a:cxnSpLocks/>
            <a:stCxn id="8" idx="6"/>
            <a:endCxn id="14" idx="1"/>
          </p:cNvCxnSpPr>
          <p:nvPr/>
        </p:nvCxnSpPr>
        <p:spPr>
          <a:xfrm>
            <a:off x="3345320" y="5188323"/>
            <a:ext cx="862107" cy="4743"/>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11F5272F-6B33-48CA-8613-E5D36EA8E280}"/>
              </a:ext>
            </a:extLst>
          </p:cNvPr>
          <p:cNvCxnSpPr>
            <a:cxnSpLocks/>
            <a:endCxn id="8" idx="2"/>
          </p:cNvCxnSpPr>
          <p:nvPr/>
        </p:nvCxnSpPr>
        <p:spPr>
          <a:xfrm>
            <a:off x="2049919" y="5188322"/>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2E3DD2E2-0679-4A65-82B5-D981657BC43B}"/>
              </a:ext>
            </a:extLst>
          </p:cNvPr>
          <p:cNvCxnSpPr>
            <a:cxnSpLocks/>
            <a:stCxn id="4" idx="3"/>
          </p:cNvCxnSpPr>
          <p:nvPr/>
        </p:nvCxnSpPr>
        <p:spPr>
          <a:xfrm>
            <a:off x="9333573" y="5193065"/>
            <a:ext cx="1325464"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C847CBAC-ADB7-481D-83ED-D421775D79DD}"/>
              </a:ext>
            </a:extLst>
          </p:cNvPr>
          <p:cNvSpPr/>
          <p:nvPr/>
        </p:nvSpPr>
        <p:spPr>
          <a:xfrm>
            <a:off x="2811919" y="4921622"/>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9" name="Conector: angular 8">
            <a:extLst>
              <a:ext uri="{FF2B5EF4-FFF2-40B4-BE49-F238E27FC236}">
                <a16:creationId xmlns:a16="http://schemas.microsoft.com/office/drawing/2014/main" id="{FF67A1AF-BBD2-4969-B80C-A7EFF8916D60}"/>
              </a:ext>
            </a:extLst>
          </p:cNvPr>
          <p:cNvCxnSpPr>
            <a:cxnSpLocks/>
            <a:stCxn id="13" idx="2"/>
            <a:endCxn id="8" idx="4"/>
          </p:cNvCxnSpPr>
          <p:nvPr/>
        </p:nvCxnSpPr>
        <p:spPr>
          <a:xfrm rot="5400000">
            <a:off x="6437987" y="1813506"/>
            <a:ext cx="282149" cy="7000882"/>
          </a:xfrm>
          <a:prstGeom prst="bentConnector3">
            <a:avLst>
              <a:gd name="adj1" fmla="val 417986"/>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3DCDB0E-FA25-4F82-9C93-6D13B0B93836}"/>
                  </a:ext>
                </a:extLst>
              </p:cNvPr>
              <p:cNvSpPr txBox="1"/>
              <p:nvPr/>
            </p:nvSpPr>
            <p:spPr>
              <a:xfrm>
                <a:off x="2811920" y="5022123"/>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0" name="CuadroTexto 9">
                <a:extLst>
                  <a:ext uri="{FF2B5EF4-FFF2-40B4-BE49-F238E27FC236}">
                    <a16:creationId xmlns:a16="http://schemas.microsoft.com/office/drawing/2014/main" id="{33DCDB0E-FA25-4F82-9C93-6D13B0B93836}"/>
                  </a:ext>
                </a:extLst>
              </p:cNvPr>
              <p:cNvSpPr txBox="1">
                <a:spLocks noRot="1" noChangeAspect="1" noMove="1" noResize="1" noEditPoints="1" noAdjustHandles="1" noChangeArrowheads="1" noChangeShapeType="1" noTextEdit="1"/>
              </p:cNvSpPr>
              <p:nvPr/>
            </p:nvSpPr>
            <p:spPr>
              <a:xfrm>
                <a:off x="2811920" y="5022123"/>
                <a:ext cx="290143" cy="332399"/>
              </a:xfrm>
              <a:prstGeom prst="rect">
                <a:avLst/>
              </a:prstGeom>
              <a:blipFill>
                <a:blip r:embed="rId3"/>
                <a:stretch>
                  <a:fillRect l="-22917" r="-20833" b="-74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70182AFF-35C4-4454-8CCF-2C6A3C41DF36}"/>
                  </a:ext>
                </a:extLst>
              </p:cNvPr>
              <p:cNvSpPr txBox="1"/>
              <p:nvPr/>
            </p:nvSpPr>
            <p:spPr>
              <a:xfrm>
                <a:off x="2943819" y="5172874"/>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1" name="CuadroTexto 10">
                <a:extLst>
                  <a:ext uri="{FF2B5EF4-FFF2-40B4-BE49-F238E27FC236}">
                    <a16:creationId xmlns:a16="http://schemas.microsoft.com/office/drawing/2014/main" id="{70182AFF-35C4-4454-8CCF-2C6A3C41DF36}"/>
                  </a:ext>
                </a:extLst>
              </p:cNvPr>
              <p:cNvSpPr txBox="1">
                <a:spLocks noRot="1" noChangeAspect="1" noMove="1" noResize="1" noEditPoints="1" noAdjustHandles="1" noChangeArrowheads="1" noChangeShapeType="1" noTextEdit="1"/>
              </p:cNvSpPr>
              <p:nvPr/>
            </p:nvSpPr>
            <p:spPr>
              <a:xfrm>
                <a:off x="2943819" y="5172874"/>
                <a:ext cx="290143" cy="332399"/>
              </a:xfrm>
              <a:prstGeom prst="rect">
                <a:avLst/>
              </a:prstGeom>
              <a:blipFill>
                <a:blip r:embed="rId4"/>
                <a:stretch>
                  <a:fillRect l="-8333" r="-41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50AABAE5-F5CF-485A-9882-443E40705252}"/>
                  </a:ext>
                </a:extLst>
              </p:cNvPr>
              <p:cNvSpPr txBox="1"/>
              <p:nvPr/>
            </p:nvSpPr>
            <p:spPr>
              <a:xfrm>
                <a:off x="1969332" y="4689724"/>
                <a:ext cx="599331"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2" name="CuadroTexto 11">
                <a:extLst>
                  <a:ext uri="{FF2B5EF4-FFF2-40B4-BE49-F238E27FC236}">
                    <a16:creationId xmlns:a16="http://schemas.microsoft.com/office/drawing/2014/main" id="{50AABAE5-F5CF-485A-9882-443E40705252}"/>
                  </a:ext>
                </a:extLst>
              </p:cNvPr>
              <p:cNvSpPr txBox="1">
                <a:spLocks noRot="1" noChangeAspect="1" noMove="1" noResize="1" noEditPoints="1" noAdjustHandles="1" noChangeArrowheads="1" noChangeShapeType="1" noTextEdit="1"/>
              </p:cNvSpPr>
              <p:nvPr/>
            </p:nvSpPr>
            <p:spPr>
              <a:xfrm>
                <a:off x="1969332" y="4689724"/>
                <a:ext cx="599331" cy="332399"/>
              </a:xfrm>
              <a:prstGeom prst="rect">
                <a:avLst/>
              </a:prstGeom>
              <a:blipFill>
                <a:blip r:embed="rId5"/>
                <a:stretch>
                  <a:fillRect l="-7143" t="-10909" r="-19388"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79529591-C1E4-4B6B-A163-A306D676D08E}"/>
                  </a:ext>
                </a:extLst>
              </p:cNvPr>
              <p:cNvSpPr txBox="1"/>
              <p:nvPr/>
            </p:nvSpPr>
            <p:spPr>
              <a:xfrm>
                <a:off x="9767749" y="4840475"/>
                <a:ext cx="623504"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3" name="CuadroTexto 12">
                <a:extLst>
                  <a:ext uri="{FF2B5EF4-FFF2-40B4-BE49-F238E27FC236}">
                    <a16:creationId xmlns:a16="http://schemas.microsoft.com/office/drawing/2014/main" id="{79529591-C1E4-4B6B-A163-A306D676D08E}"/>
                  </a:ext>
                </a:extLst>
              </p:cNvPr>
              <p:cNvSpPr txBox="1">
                <a:spLocks noRot="1" noChangeAspect="1" noMove="1" noResize="1" noEditPoints="1" noAdjustHandles="1" noChangeArrowheads="1" noChangeShapeType="1" noTextEdit="1"/>
              </p:cNvSpPr>
              <p:nvPr/>
            </p:nvSpPr>
            <p:spPr>
              <a:xfrm>
                <a:off x="9767749" y="4840475"/>
                <a:ext cx="623504" cy="332399"/>
              </a:xfrm>
              <a:prstGeom prst="rect">
                <a:avLst/>
              </a:prstGeom>
              <a:blipFill>
                <a:blip r:embed="rId6"/>
                <a:stretch>
                  <a:fillRect l="-12621" t="-10909" r="-17476" b="-38182"/>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811DF0B0-DE22-4C57-B33D-685F10C6726E}"/>
              </a:ext>
            </a:extLst>
          </p:cNvPr>
          <p:cNvSpPr/>
          <p:nvPr/>
        </p:nvSpPr>
        <p:spPr>
          <a:xfrm>
            <a:off x="4207426" y="4682684"/>
            <a:ext cx="1722536"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2400">
                <a:solidFill>
                  <a:prstClr val="white"/>
                </a:solidFill>
                <a:latin typeface="Corbel"/>
              </a:rPr>
              <a:t>Controlador</a:t>
            </a:r>
          </a:p>
        </p:txBody>
      </p:sp>
      <p:cxnSp>
        <p:nvCxnSpPr>
          <p:cNvPr id="15" name="Conector recto de flecha 14">
            <a:extLst>
              <a:ext uri="{FF2B5EF4-FFF2-40B4-BE49-F238E27FC236}">
                <a16:creationId xmlns:a16="http://schemas.microsoft.com/office/drawing/2014/main" id="{A877AA14-1C70-41FF-9789-95504EA7B552}"/>
              </a:ext>
            </a:extLst>
          </p:cNvPr>
          <p:cNvCxnSpPr>
            <a:cxnSpLocks/>
            <a:stCxn id="14" idx="3"/>
            <a:endCxn id="23" idx="2"/>
          </p:cNvCxnSpPr>
          <p:nvPr/>
        </p:nvCxnSpPr>
        <p:spPr>
          <a:xfrm flipV="1">
            <a:off x="5929963" y="5188323"/>
            <a:ext cx="645203" cy="4743"/>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58F5F417-9783-45BF-976B-25014E210344}"/>
                  </a:ext>
                </a:extLst>
              </p:cNvPr>
              <p:cNvSpPr txBox="1"/>
              <p:nvPr/>
            </p:nvSpPr>
            <p:spPr>
              <a:xfrm>
                <a:off x="3416148" y="4666551"/>
                <a:ext cx="6057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6" name="CuadroTexto 15">
                <a:extLst>
                  <a:ext uri="{FF2B5EF4-FFF2-40B4-BE49-F238E27FC236}">
                    <a16:creationId xmlns:a16="http://schemas.microsoft.com/office/drawing/2014/main" id="{58F5F417-9783-45BF-976B-25014E210344}"/>
                  </a:ext>
                </a:extLst>
              </p:cNvPr>
              <p:cNvSpPr txBox="1">
                <a:spLocks noRot="1" noChangeAspect="1" noMove="1" noResize="1" noEditPoints="1" noAdjustHandles="1" noChangeArrowheads="1" noChangeShapeType="1" noTextEdit="1"/>
              </p:cNvSpPr>
              <p:nvPr/>
            </p:nvSpPr>
            <p:spPr>
              <a:xfrm>
                <a:off x="3416148" y="4666551"/>
                <a:ext cx="605743" cy="332399"/>
              </a:xfrm>
              <a:prstGeom prst="rect">
                <a:avLst/>
              </a:prstGeom>
              <a:blipFill>
                <a:blip r:embed="rId7"/>
                <a:stretch>
                  <a:fillRect l="-7000" t="-11111" r="-18000" b="-388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27A1D265-F945-497B-9946-08E910902167}"/>
                  </a:ext>
                </a:extLst>
              </p:cNvPr>
              <p:cNvSpPr txBox="1"/>
              <p:nvPr/>
            </p:nvSpPr>
            <p:spPr>
              <a:xfrm>
                <a:off x="6022102" y="4664180"/>
                <a:ext cx="630878"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7" name="CuadroTexto 16">
                <a:extLst>
                  <a:ext uri="{FF2B5EF4-FFF2-40B4-BE49-F238E27FC236}">
                    <a16:creationId xmlns:a16="http://schemas.microsoft.com/office/drawing/2014/main" id="{27A1D265-F945-497B-9946-08E910902167}"/>
                  </a:ext>
                </a:extLst>
              </p:cNvPr>
              <p:cNvSpPr txBox="1">
                <a:spLocks noRot="1" noChangeAspect="1" noMove="1" noResize="1" noEditPoints="1" noAdjustHandles="1" noChangeArrowheads="1" noChangeShapeType="1" noTextEdit="1"/>
              </p:cNvSpPr>
              <p:nvPr/>
            </p:nvSpPr>
            <p:spPr>
              <a:xfrm>
                <a:off x="6022102" y="4664180"/>
                <a:ext cx="630878" cy="332399"/>
              </a:xfrm>
              <a:prstGeom prst="rect">
                <a:avLst/>
              </a:prstGeom>
              <a:blipFill>
                <a:blip r:embed="rId8"/>
                <a:stretch>
                  <a:fillRect l="-7767" t="-10909" r="-17476"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D1DE3006-902D-480B-979A-2CBC09461476}"/>
                  </a:ext>
                </a:extLst>
              </p:cNvPr>
              <p:cNvSpPr txBox="1"/>
              <p:nvPr/>
            </p:nvSpPr>
            <p:spPr>
              <a:xfrm>
                <a:off x="6575165" y="4023272"/>
                <a:ext cx="68339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𝑤</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8" name="CuadroTexto 17">
                <a:extLst>
                  <a:ext uri="{FF2B5EF4-FFF2-40B4-BE49-F238E27FC236}">
                    <a16:creationId xmlns:a16="http://schemas.microsoft.com/office/drawing/2014/main" id="{D1DE3006-902D-480B-979A-2CBC09461476}"/>
                  </a:ext>
                </a:extLst>
              </p:cNvPr>
              <p:cNvSpPr txBox="1">
                <a:spLocks noRot="1" noChangeAspect="1" noMove="1" noResize="1" noEditPoints="1" noAdjustHandles="1" noChangeArrowheads="1" noChangeShapeType="1" noTextEdit="1"/>
              </p:cNvSpPr>
              <p:nvPr/>
            </p:nvSpPr>
            <p:spPr>
              <a:xfrm>
                <a:off x="6575165" y="4023272"/>
                <a:ext cx="683392" cy="332399"/>
              </a:xfrm>
              <a:prstGeom prst="rect">
                <a:avLst/>
              </a:prstGeom>
              <a:blipFill>
                <a:blip r:embed="rId9"/>
                <a:stretch>
                  <a:fillRect l="-7143" t="-10909" r="-16071" b="-36364"/>
                </a:stretch>
              </a:blipFill>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14AC91FC-A702-433D-AA5D-682E3DAABC69}"/>
              </a:ext>
            </a:extLst>
          </p:cNvPr>
          <p:cNvCxnSpPr>
            <a:cxnSpLocks/>
            <a:endCxn id="25" idx="0"/>
          </p:cNvCxnSpPr>
          <p:nvPr/>
        </p:nvCxnSpPr>
        <p:spPr>
          <a:xfrm>
            <a:off x="6847348" y="4434662"/>
            <a:ext cx="7691" cy="474448"/>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3" name="Elipse 22">
            <a:extLst>
              <a:ext uri="{FF2B5EF4-FFF2-40B4-BE49-F238E27FC236}">
                <a16:creationId xmlns:a16="http://schemas.microsoft.com/office/drawing/2014/main" id="{FA7D0589-2341-4D12-8330-9D4D799E448D}"/>
              </a:ext>
            </a:extLst>
          </p:cNvPr>
          <p:cNvSpPr/>
          <p:nvPr/>
        </p:nvSpPr>
        <p:spPr>
          <a:xfrm>
            <a:off x="6575165" y="4921622"/>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7BC19EB8-6E0F-4708-9D24-725480335A96}"/>
                  </a:ext>
                </a:extLst>
              </p:cNvPr>
              <p:cNvSpPr txBox="1"/>
              <p:nvPr/>
            </p:nvSpPr>
            <p:spPr>
              <a:xfrm>
                <a:off x="6575166" y="5022123"/>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4" name="CuadroTexto 23">
                <a:extLst>
                  <a:ext uri="{FF2B5EF4-FFF2-40B4-BE49-F238E27FC236}">
                    <a16:creationId xmlns:a16="http://schemas.microsoft.com/office/drawing/2014/main" id="{7BC19EB8-6E0F-4708-9D24-725480335A96}"/>
                  </a:ext>
                </a:extLst>
              </p:cNvPr>
              <p:cNvSpPr txBox="1">
                <a:spLocks noRot="1" noChangeAspect="1" noMove="1" noResize="1" noEditPoints="1" noAdjustHandles="1" noChangeArrowheads="1" noChangeShapeType="1" noTextEdit="1"/>
              </p:cNvSpPr>
              <p:nvPr/>
            </p:nvSpPr>
            <p:spPr>
              <a:xfrm>
                <a:off x="6575166" y="5022123"/>
                <a:ext cx="290143" cy="332399"/>
              </a:xfrm>
              <a:prstGeom prst="rect">
                <a:avLst/>
              </a:prstGeom>
              <a:blipFill>
                <a:blip r:embed="rId3"/>
                <a:stretch>
                  <a:fillRect l="-23404" r="-23404" b="-74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CC39D34F-B188-420E-AE3D-E6E815C6F51D}"/>
                  </a:ext>
                </a:extLst>
              </p:cNvPr>
              <p:cNvSpPr txBox="1"/>
              <p:nvPr/>
            </p:nvSpPr>
            <p:spPr>
              <a:xfrm>
                <a:off x="6709967" y="4909111"/>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5" name="CuadroTexto 24">
                <a:extLst>
                  <a:ext uri="{FF2B5EF4-FFF2-40B4-BE49-F238E27FC236}">
                    <a16:creationId xmlns:a16="http://schemas.microsoft.com/office/drawing/2014/main" id="{CC39D34F-B188-420E-AE3D-E6E815C6F51D}"/>
                  </a:ext>
                </a:extLst>
              </p:cNvPr>
              <p:cNvSpPr txBox="1">
                <a:spLocks noRot="1" noChangeAspect="1" noMove="1" noResize="1" noEditPoints="1" noAdjustHandles="1" noChangeArrowheads="1" noChangeShapeType="1" noTextEdit="1"/>
              </p:cNvSpPr>
              <p:nvPr/>
            </p:nvSpPr>
            <p:spPr>
              <a:xfrm>
                <a:off x="6709967" y="4909111"/>
                <a:ext cx="290143" cy="332399"/>
              </a:xfrm>
              <a:prstGeom prst="rect">
                <a:avLst/>
              </a:prstGeom>
              <a:blipFill>
                <a:blip r:embed="rId3"/>
                <a:stretch>
                  <a:fillRect l="-23404" r="-23404" b="-5455"/>
                </a:stretch>
              </a:blipFill>
            </p:spPr>
            <p:txBody>
              <a:bodyPr/>
              <a:lstStyle/>
              <a:p>
                <a:r>
                  <a:rPr lang="en-US">
                    <a:noFill/>
                  </a:rPr>
                  <a:t> </a:t>
                </a:r>
              </a:p>
            </p:txBody>
          </p:sp>
        </mc:Fallback>
      </mc:AlternateContent>
      <p:cxnSp>
        <p:nvCxnSpPr>
          <p:cNvPr id="29" name="Conector recto de flecha 28">
            <a:extLst>
              <a:ext uri="{FF2B5EF4-FFF2-40B4-BE49-F238E27FC236}">
                <a16:creationId xmlns:a16="http://schemas.microsoft.com/office/drawing/2014/main" id="{7D4CECCA-5DE6-4E0B-B0DA-EAE15CE93B1A}"/>
              </a:ext>
            </a:extLst>
          </p:cNvPr>
          <p:cNvCxnSpPr>
            <a:cxnSpLocks/>
            <a:stCxn id="23" idx="6"/>
            <a:endCxn id="4" idx="1"/>
          </p:cNvCxnSpPr>
          <p:nvPr/>
        </p:nvCxnSpPr>
        <p:spPr>
          <a:xfrm>
            <a:off x="7108565" y="5188323"/>
            <a:ext cx="502472" cy="4743"/>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2182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animBg="1"/>
      <p:bldP spid="10" grpId="0"/>
      <p:bldP spid="11" grpId="0"/>
      <p:bldP spid="12" grpId="0"/>
      <p:bldP spid="13" grpId="0"/>
      <p:bldP spid="14" grpId="0" animBg="1"/>
      <p:bldP spid="16" grpId="0"/>
      <p:bldP spid="17" grpId="0"/>
      <p:bldP spid="18" grpId="0"/>
      <p:bldP spid="23" grpId="0" animBg="1"/>
      <p:bldP spid="24" grpId="0"/>
      <p:bldP spid="2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a:t>
            </a:r>
          </a:p>
        </p:txBody>
      </p:sp>
      <p:sp>
        <p:nvSpPr>
          <p:cNvPr id="3" name="Marcador de contenido 2">
            <a:extLst>
              <a:ext uri="{FF2B5EF4-FFF2-40B4-BE49-F238E27FC236}">
                <a16:creationId xmlns:a16="http://schemas.microsoft.com/office/drawing/2014/main" id="{6A73D56A-D7F6-444A-857F-26FD53D40E20}"/>
              </a:ext>
            </a:extLst>
          </p:cNvPr>
          <p:cNvSpPr>
            <a:spLocks noGrp="1"/>
          </p:cNvSpPr>
          <p:nvPr>
            <p:ph idx="1"/>
          </p:nvPr>
        </p:nvSpPr>
        <p:spPr/>
        <p:txBody>
          <a:bodyPr/>
          <a:lstStyle/>
          <a:p>
            <a:r>
              <a:rPr lang="es-ES"/>
              <a:t>Suponiendo una representación por variables de estado del sistema ampliado (donde se incluye el integrador en el lazo directo), el sistema puede ser representado por:</a:t>
            </a:r>
            <a:endParaRPr lang="es-419"/>
          </a:p>
        </p:txBody>
      </p:sp>
      <p:pic>
        <p:nvPicPr>
          <p:cNvPr id="5" name="Imagen 4">
            <a:extLst>
              <a:ext uri="{FF2B5EF4-FFF2-40B4-BE49-F238E27FC236}">
                <a16:creationId xmlns:a16="http://schemas.microsoft.com/office/drawing/2014/main" id="{E0569D91-9AFC-4FF5-935D-6DD17C899F06}"/>
              </a:ext>
            </a:extLst>
          </p:cNvPr>
          <p:cNvPicPr>
            <a:picLocks noChangeAspect="1"/>
          </p:cNvPicPr>
          <p:nvPr>
            <p:custDataLst>
              <p:tags r:id="rId1"/>
            </p:custDataLst>
          </p:nvPr>
        </p:nvPicPr>
        <p:blipFill>
          <a:blip r:embed="rId7" cstate="print">
            <a:lum bright="70000" contrast="-70000"/>
            <a:extLst>
              <a:ext uri="{28A0092B-C50C-407E-A947-70E740481C1C}">
                <a14:useLocalDpi xmlns:a14="http://schemas.microsoft.com/office/drawing/2010/main" val="0"/>
              </a:ext>
            </a:extLst>
          </a:blip>
          <a:stretch>
            <a:fillRect/>
          </a:stretch>
        </p:blipFill>
        <p:spPr>
          <a:xfrm>
            <a:off x="1896039" y="3081843"/>
            <a:ext cx="5897143" cy="305371"/>
          </a:xfrm>
          <a:prstGeom prst="rect">
            <a:avLst/>
          </a:prstGeom>
        </p:spPr>
      </p:pic>
      <p:pic>
        <p:nvPicPr>
          <p:cNvPr id="9" name="Imagen 8">
            <a:extLst>
              <a:ext uri="{FF2B5EF4-FFF2-40B4-BE49-F238E27FC236}">
                <a16:creationId xmlns:a16="http://schemas.microsoft.com/office/drawing/2014/main" id="{9D2A390A-EA90-4031-A4D5-563C0C6D8CDB}"/>
              </a:ext>
            </a:extLst>
          </p:cNvPr>
          <p:cNvPicPr>
            <a:picLocks noChangeAspect="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896038" y="3574541"/>
            <a:ext cx="1952914" cy="305371"/>
          </a:xfrm>
          <a:prstGeom prst="rect">
            <a:avLst/>
          </a:prstGeom>
        </p:spPr>
      </p:pic>
      <p:pic>
        <p:nvPicPr>
          <p:cNvPr id="11" name="Imagen 10">
            <a:extLst>
              <a:ext uri="{FF2B5EF4-FFF2-40B4-BE49-F238E27FC236}">
                <a16:creationId xmlns:a16="http://schemas.microsoft.com/office/drawing/2014/main" id="{7861DC7E-7C5A-47EA-8F54-E02E366BCEA1}"/>
              </a:ext>
            </a:extLst>
          </p:cNvPr>
          <p:cNvPicPr>
            <a:picLocks noChangeAspect="1"/>
          </p:cNvPicPr>
          <p:nvPr>
            <p:custDataLst>
              <p:tags r:id="rId3"/>
            </p:custDataLst>
          </p:nvPr>
        </p:nvPicPr>
        <p:blipFill>
          <a:blip r:embed="rId9" cstate="print">
            <a:lum bright="70000" contrast="-70000"/>
            <a:extLst>
              <a:ext uri="{28A0092B-C50C-407E-A947-70E740481C1C}">
                <a14:useLocalDpi xmlns:a14="http://schemas.microsoft.com/office/drawing/2010/main" val="0"/>
              </a:ext>
            </a:extLst>
          </a:blip>
          <a:stretch>
            <a:fillRect/>
          </a:stretch>
        </p:blipFill>
        <p:spPr>
          <a:xfrm>
            <a:off x="1896039" y="4081162"/>
            <a:ext cx="2225371" cy="305371"/>
          </a:xfrm>
          <a:prstGeom prst="rect">
            <a:avLst/>
          </a:prstGeom>
        </p:spPr>
      </p:pic>
      <p:pic>
        <p:nvPicPr>
          <p:cNvPr id="19" name="Imagen 18">
            <a:extLst>
              <a:ext uri="{FF2B5EF4-FFF2-40B4-BE49-F238E27FC236}">
                <a16:creationId xmlns:a16="http://schemas.microsoft.com/office/drawing/2014/main" id="{5BA8D8BB-0C49-47A4-B23B-26E58430E07A}"/>
              </a:ext>
            </a:extLst>
          </p:cNvPr>
          <p:cNvPicPr>
            <a:picLocks noChangeAspect="1"/>
          </p:cNvPicPr>
          <p:nvPr>
            <p:custDataLst>
              <p:tags r:id="rId4"/>
            </p:custDataLst>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1923947" y="5194993"/>
            <a:ext cx="6147656" cy="305371"/>
          </a:xfrm>
          <a:prstGeom prst="rect">
            <a:avLst/>
          </a:prstGeom>
        </p:spPr>
      </p:pic>
      <p:pic>
        <p:nvPicPr>
          <p:cNvPr id="13" name="Imagen 12">
            <a:extLst>
              <a:ext uri="{FF2B5EF4-FFF2-40B4-BE49-F238E27FC236}">
                <a16:creationId xmlns:a16="http://schemas.microsoft.com/office/drawing/2014/main" id="{F27D86C1-9EDA-4DAF-AD49-AF2258F13369}"/>
              </a:ext>
            </a:extLst>
          </p:cNvPr>
          <p:cNvPicPr>
            <a:picLocks noChangeAspect="1"/>
          </p:cNvPicPr>
          <p:nvPr>
            <p:custDataLst>
              <p:tags r:id="rId5"/>
            </p:custDataLst>
          </p:nvPr>
        </p:nvPicPr>
        <p:blipFill>
          <a:blip r:embed="rId8" cstate="print">
            <a:lum bright="70000" contrast="-70000"/>
            <a:extLst>
              <a:ext uri="{28A0092B-C50C-407E-A947-70E740481C1C}">
                <a14:useLocalDpi xmlns:a14="http://schemas.microsoft.com/office/drawing/2010/main" val="0"/>
              </a:ext>
            </a:extLst>
          </a:blip>
          <a:stretch>
            <a:fillRect/>
          </a:stretch>
        </p:blipFill>
        <p:spPr>
          <a:xfrm>
            <a:off x="1896038" y="5683597"/>
            <a:ext cx="1952914" cy="305371"/>
          </a:xfrm>
          <a:prstGeom prst="rect">
            <a:avLst/>
          </a:prstGeom>
        </p:spPr>
      </p:pic>
      <p:sp>
        <p:nvSpPr>
          <p:cNvPr id="20" name="Rectángulo: esquinas redondeadas 19">
            <a:extLst>
              <a:ext uri="{FF2B5EF4-FFF2-40B4-BE49-F238E27FC236}">
                <a16:creationId xmlns:a16="http://schemas.microsoft.com/office/drawing/2014/main" id="{A7A7E9AB-2CFE-41CF-97D1-77E22878E471}"/>
              </a:ext>
            </a:extLst>
          </p:cNvPr>
          <p:cNvSpPr/>
          <p:nvPr/>
        </p:nvSpPr>
        <p:spPr>
          <a:xfrm>
            <a:off x="4997776" y="2895600"/>
            <a:ext cx="488625" cy="575188"/>
          </a:xfrm>
          <a:prstGeom prst="roundRect">
            <a:avLst/>
          </a:prstGeom>
          <a:noFill/>
          <a:ln>
            <a:solidFill>
              <a:srgbClr val="FFFF00"/>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21" name="Forma libre: forma 20">
            <a:extLst>
              <a:ext uri="{FF2B5EF4-FFF2-40B4-BE49-F238E27FC236}">
                <a16:creationId xmlns:a16="http://schemas.microsoft.com/office/drawing/2014/main" id="{E2C40351-3A63-4A61-A0D3-67F53EE07240}"/>
              </a:ext>
            </a:extLst>
          </p:cNvPr>
          <p:cNvSpPr/>
          <p:nvPr/>
        </p:nvSpPr>
        <p:spPr>
          <a:xfrm>
            <a:off x="4180298" y="3549445"/>
            <a:ext cx="1111074" cy="703264"/>
          </a:xfrm>
          <a:custGeom>
            <a:avLst/>
            <a:gdLst>
              <a:gd name="connsiteX0" fmla="*/ 0 w 1111074"/>
              <a:gd name="connsiteY0" fmla="*/ 668594 h 703264"/>
              <a:gd name="connsiteX1" fmla="*/ 49161 w 1111074"/>
              <a:gd name="connsiteY1" fmla="*/ 698090 h 703264"/>
              <a:gd name="connsiteX2" fmla="*/ 196645 w 1111074"/>
              <a:gd name="connsiteY2" fmla="*/ 678426 h 703264"/>
              <a:gd name="connsiteX3" fmla="*/ 344129 w 1111074"/>
              <a:gd name="connsiteY3" fmla="*/ 668594 h 703264"/>
              <a:gd name="connsiteX4" fmla="*/ 383458 w 1111074"/>
              <a:gd name="connsiteY4" fmla="*/ 658761 h 703264"/>
              <a:gd name="connsiteX5" fmla="*/ 580103 w 1111074"/>
              <a:gd name="connsiteY5" fmla="*/ 639097 h 703264"/>
              <a:gd name="connsiteX6" fmla="*/ 668593 w 1111074"/>
              <a:gd name="connsiteY6" fmla="*/ 619432 h 703264"/>
              <a:gd name="connsiteX7" fmla="*/ 698090 w 1111074"/>
              <a:gd name="connsiteY7" fmla="*/ 609600 h 703264"/>
              <a:gd name="connsiteX8" fmla="*/ 796413 w 1111074"/>
              <a:gd name="connsiteY8" fmla="*/ 589936 h 703264"/>
              <a:gd name="connsiteX9" fmla="*/ 825909 w 1111074"/>
              <a:gd name="connsiteY9" fmla="*/ 580103 h 703264"/>
              <a:gd name="connsiteX10" fmla="*/ 884903 w 1111074"/>
              <a:gd name="connsiteY10" fmla="*/ 530942 h 703264"/>
              <a:gd name="connsiteX11" fmla="*/ 904567 w 1111074"/>
              <a:gd name="connsiteY11" fmla="*/ 501445 h 703264"/>
              <a:gd name="connsiteX12" fmla="*/ 963561 w 1111074"/>
              <a:gd name="connsiteY12" fmla="*/ 442452 h 703264"/>
              <a:gd name="connsiteX13" fmla="*/ 1002890 w 1111074"/>
              <a:gd name="connsiteY13" fmla="*/ 393290 h 703264"/>
              <a:gd name="connsiteX14" fmla="*/ 1012722 w 1111074"/>
              <a:gd name="connsiteY14" fmla="*/ 363794 h 703264"/>
              <a:gd name="connsiteX15" fmla="*/ 1032387 w 1111074"/>
              <a:gd name="connsiteY15" fmla="*/ 334297 h 703264"/>
              <a:gd name="connsiteX16" fmla="*/ 1061884 w 1111074"/>
              <a:gd name="connsiteY16" fmla="*/ 245807 h 703264"/>
              <a:gd name="connsiteX17" fmla="*/ 1071716 w 1111074"/>
              <a:gd name="connsiteY17" fmla="*/ 216310 h 703264"/>
              <a:gd name="connsiteX18" fmla="*/ 1081548 w 1111074"/>
              <a:gd name="connsiteY18" fmla="*/ 186813 h 703264"/>
              <a:gd name="connsiteX19" fmla="*/ 1101213 w 1111074"/>
              <a:gd name="connsiteY19" fmla="*/ 117987 h 703264"/>
              <a:gd name="connsiteX20" fmla="*/ 1111045 w 1111074"/>
              <a:gd name="connsiteY20" fmla="*/ 0 h 703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11074" h="703264">
                <a:moveTo>
                  <a:pt x="0" y="668594"/>
                </a:moveTo>
                <a:cubicBezTo>
                  <a:pt x="16387" y="678426"/>
                  <a:pt x="30198" y="695720"/>
                  <a:pt x="49161" y="698090"/>
                </a:cubicBezTo>
                <a:cubicBezTo>
                  <a:pt x="182105" y="714708"/>
                  <a:pt x="117967" y="686708"/>
                  <a:pt x="196645" y="678426"/>
                </a:cubicBezTo>
                <a:cubicBezTo>
                  <a:pt x="245645" y="673268"/>
                  <a:pt x="294968" y="671871"/>
                  <a:pt x="344129" y="668594"/>
                </a:cubicBezTo>
                <a:cubicBezTo>
                  <a:pt x="357239" y="665316"/>
                  <a:pt x="370163" y="661178"/>
                  <a:pt x="383458" y="658761"/>
                </a:cubicBezTo>
                <a:cubicBezTo>
                  <a:pt x="453304" y="646061"/>
                  <a:pt x="505299" y="644851"/>
                  <a:pt x="580103" y="639097"/>
                </a:cubicBezTo>
                <a:cubicBezTo>
                  <a:pt x="646505" y="616964"/>
                  <a:pt x="564768" y="642505"/>
                  <a:pt x="668593" y="619432"/>
                </a:cubicBezTo>
                <a:cubicBezTo>
                  <a:pt x="678710" y="617184"/>
                  <a:pt x="688125" y="612447"/>
                  <a:pt x="698090" y="609600"/>
                </a:cubicBezTo>
                <a:cubicBezTo>
                  <a:pt x="739159" y="597866"/>
                  <a:pt x="750056" y="597662"/>
                  <a:pt x="796413" y="589936"/>
                </a:cubicBezTo>
                <a:cubicBezTo>
                  <a:pt x="806245" y="586658"/>
                  <a:pt x="816639" y="584738"/>
                  <a:pt x="825909" y="580103"/>
                </a:cubicBezTo>
                <a:cubicBezTo>
                  <a:pt x="848008" y="569053"/>
                  <a:pt x="869369" y="549583"/>
                  <a:pt x="884903" y="530942"/>
                </a:cubicBezTo>
                <a:cubicBezTo>
                  <a:pt x="892468" y="521864"/>
                  <a:pt x="896716" y="510277"/>
                  <a:pt x="904567" y="501445"/>
                </a:cubicBezTo>
                <a:cubicBezTo>
                  <a:pt x="923043" y="480660"/>
                  <a:pt x="963561" y="442452"/>
                  <a:pt x="963561" y="442452"/>
                </a:cubicBezTo>
                <a:cubicBezTo>
                  <a:pt x="988273" y="368313"/>
                  <a:pt x="952064" y="456822"/>
                  <a:pt x="1002890" y="393290"/>
                </a:cubicBezTo>
                <a:cubicBezTo>
                  <a:pt x="1009364" y="385197"/>
                  <a:pt x="1008087" y="373064"/>
                  <a:pt x="1012722" y="363794"/>
                </a:cubicBezTo>
                <a:cubicBezTo>
                  <a:pt x="1018007" y="353225"/>
                  <a:pt x="1025832" y="344129"/>
                  <a:pt x="1032387" y="334297"/>
                </a:cubicBezTo>
                <a:lnTo>
                  <a:pt x="1061884" y="245807"/>
                </a:lnTo>
                <a:lnTo>
                  <a:pt x="1071716" y="216310"/>
                </a:lnTo>
                <a:cubicBezTo>
                  <a:pt x="1074993" y="206478"/>
                  <a:pt x="1079034" y="196868"/>
                  <a:pt x="1081548" y="186813"/>
                </a:cubicBezTo>
                <a:cubicBezTo>
                  <a:pt x="1093894" y="137429"/>
                  <a:pt x="1087107" y="160304"/>
                  <a:pt x="1101213" y="117987"/>
                </a:cubicBezTo>
                <a:cubicBezTo>
                  <a:pt x="1112131" y="19725"/>
                  <a:pt x="1111045" y="59175"/>
                  <a:pt x="1111045" y="0"/>
                </a:cubicBezTo>
              </a:path>
            </a:pathLst>
          </a:custGeom>
          <a:noFill/>
          <a:ln w="28575">
            <a:solidFill>
              <a:srgbClr val="FFFF00"/>
            </a:solidFill>
            <a:miter lim="80000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22" name="Rectángulo: esquinas redondeadas 21">
            <a:extLst>
              <a:ext uri="{FF2B5EF4-FFF2-40B4-BE49-F238E27FC236}">
                <a16:creationId xmlns:a16="http://schemas.microsoft.com/office/drawing/2014/main" id="{1CFD4631-D85C-4E84-BDDA-31B4217329C8}"/>
              </a:ext>
            </a:extLst>
          </p:cNvPr>
          <p:cNvSpPr/>
          <p:nvPr/>
        </p:nvSpPr>
        <p:spPr>
          <a:xfrm>
            <a:off x="1752600" y="4996133"/>
            <a:ext cx="6858000" cy="1176067"/>
          </a:xfrm>
          <a:prstGeom prst="roundRect">
            <a:avLst/>
          </a:prstGeom>
          <a:noFill/>
          <a:ln w="38100">
            <a:solidFill>
              <a:srgbClr val="FFFF00"/>
            </a:solidFill>
            <a:prstDash val="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Tree>
    <p:extLst>
      <p:ext uri="{BB962C8B-B14F-4D97-AF65-F5344CB8AC3E}">
        <p14:creationId xmlns:p14="http://schemas.microsoft.com/office/powerpoint/2010/main" val="2848159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a:t>
            </a:r>
          </a:p>
        </p:txBody>
      </p:sp>
      <mc:AlternateContent xmlns:mc="http://schemas.openxmlformats.org/markup-compatibility/2006">
        <mc:Choice xmlns:a14="http://schemas.microsoft.com/office/drawing/2010/main" Requires="a14">
          <p:sp>
            <p:nvSpPr>
              <p:cNvPr id="10" name="Rectángulo 9">
                <a:extLst>
                  <a:ext uri="{FF2B5EF4-FFF2-40B4-BE49-F238E27FC236}">
                    <a16:creationId xmlns:a16="http://schemas.microsoft.com/office/drawing/2014/main" id="{71184829-0924-4969-A568-A08AA75F8895}"/>
                  </a:ext>
                </a:extLst>
              </p:cNvPr>
              <p:cNvSpPr/>
              <p:nvPr/>
            </p:nvSpPr>
            <p:spPr>
              <a:xfrm>
                <a:off x="5910804" y="3528511"/>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𝑩</m:t>
                      </m:r>
                    </m:oMath>
                  </m:oMathPara>
                </a14:m>
                <a:endParaRPr lang="es-419" sz="2800" b="1">
                  <a:solidFill>
                    <a:prstClr val="white"/>
                  </a:solidFill>
                  <a:latin typeface="Corbel"/>
                </a:endParaRPr>
              </a:p>
            </p:txBody>
          </p:sp>
        </mc:Choice>
        <mc:Fallback>
          <p:sp>
            <p:nvSpPr>
              <p:cNvPr id="10" name="Rectángulo 9">
                <a:extLst>
                  <a:ext uri="{FF2B5EF4-FFF2-40B4-BE49-F238E27FC236}">
                    <a16:creationId xmlns:a16="http://schemas.microsoft.com/office/drawing/2014/main" id="{71184829-0924-4969-A568-A08AA75F8895}"/>
                  </a:ext>
                </a:extLst>
              </p:cNvPr>
              <p:cNvSpPr>
                <a:spLocks noRot="1" noChangeAspect="1" noMove="1" noResize="1" noEditPoints="1" noAdjustHandles="1" noChangeArrowheads="1" noChangeShapeType="1" noTextEdit="1"/>
              </p:cNvSpPr>
              <p:nvPr/>
            </p:nvSpPr>
            <p:spPr>
              <a:xfrm>
                <a:off x="5910804" y="3528511"/>
                <a:ext cx="609600" cy="609600"/>
              </a:xfrm>
              <a:prstGeom prst="rect">
                <a:avLst/>
              </a:prstGeom>
              <a:blipFill>
                <a:blip r:embed="rId4"/>
                <a:stretch>
                  <a:fillRect/>
                </a:stretch>
              </a:blipFill>
              <a:ln w="57150">
                <a:solidFill>
                  <a:schemeClr val="tx1"/>
                </a:solidFill>
                <a:miter lim="800000"/>
              </a:ln>
            </p:spPr>
            <p:txBody>
              <a:bodyPr/>
              <a:lstStyle/>
              <a:p>
                <a:r>
                  <a:rPr lang="en-US">
                    <a:noFill/>
                  </a:rPr>
                  <a:t> </a:t>
                </a:r>
              </a:p>
            </p:txBody>
          </p:sp>
        </mc:Fallback>
      </mc:AlternateContent>
      <p:cxnSp>
        <p:nvCxnSpPr>
          <p:cNvPr id="12" name="Conector recto de flecha 11">
            <a:extLst>
              <a:ext uri="{FF2B5EF4-FFF2-40B4-BE49-F238E27FC236}">
                <a16:creationId xmlns:a16="http://schemas.microsoft.com/office/drawing/2014/main" id="{AA81BE9A-3E4F-400B-844A-6EB6687E7715}"/>
              </a:ext>
            </a:extLst>
          </p:cNvPr>
          <p:cNvCxnSpPr>
            <a:cxnSpLocks/>
            <a:stCxn id="10" idx="3"/>
            <a:endCxn id="14" idx="2"/>
          </p:cNvCxnSpPr>
          <p:nvPr/>
        </p:nvCxnSpPr>
        <p:spPr>
          <a:xfrm>
            <a:off x="6520404" y="3833311"/>
            <a:ext cx="413918"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Rectángulo 12">
                <a:extLst>
                  <a:ext uri="{FF2B5EF4-FFF2-40B4-BE49-F238E27FC236}">
                    <a16:creationId xmlns:a16="http://schemas.microsoft.com/office/drawing/2014/main" id="{197D4A23-8570-40C0-96A0-4DEF8DD27854}"/>
                  </a:ext>
                </a:extLst>
              </p:cNvPr>
              <p:cNvSpPr/>
              <p:nvPr/>
            </p:nvSpPr>
            <p:spPr>
              <a:xfrm>
                <a:off x="8523247" y="3443756"/>
                <a:ext cx="609600" cy="79212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13" name="Rectángulo 12">
                <a:extLst>
                  <a:ext uri="{FF2B5EF4-FFF2-40B4-BE49-F238E27FC236}">
                    <a16:creationId xmlns:a16="http://schemas.microsoft.com/office/drawing/2014/main" id="{197D4A23-8570-40C0-96A0-4DEF8DD27854}"/>
                  </a:ext>
                </a:extLst>
              </p:cNvPr>
              <p:cNvSpPr>
                <a:spLocks noRot="1" noChangeAspect="1" noMove="1" noResize="1" noEditPoints="1" noAdjustHandles="1" noChangeArrowheads="1" noChangeShapeType="1" noTextEdit="1"/>
              </p:cNvSpPr>
              <p:nvPr/>
            </p:nvSpPr>
            <p:spPr>
              <a:xfrm>
                <a:off x="8523247" y="3443756"/>
                <a:ext cx="609600" cy="792122"/>
              </a:xfrm>
              <a:prstGeom prst="rect">
                <a:avLst/>
              </a:prstGeom>
              <a:blipFill>
                <a:blip r:embed="rId5"/>
                <a:stretch>
                  <a:fillRect/>
                </a:stretch>
              </a:blipFill>
              <a:ln w="57150">
                <a:solidFill>
                  <a:schemeClr val="tx1"/>
                </a:solidFill>
                <a:miter lim="800000"/>
              </a:ln>
            </p:spPr>
            <p:txBody>
              <a:bodyPr/>
              <a:lstStyle/>
              <a:p>
                <a:r>
                  <a:rPr lang="en-US">
                    <a:noFill/>
                  </a:rPr>
                  <a:t> </a:t>
                </a:r>
              </a:p>
            </p:txBody>
          </p:sp>
        </mc:Fallback>
      </mc:AlternateContent>
      <p:sp>
        <p:nvSpPr>
          <p:cNvPr id="14" name="Elipse 13">
            <a:extLst>
              <a:ext uri="{FF2B5EF4-FFF2-40B4-BE49-F238E27FC236}">
                <a16:creationId xmlns:a16="http://schemas.microsoft.com/office/drawing/2014/main" id="{3AFA8538-3ED8-486F-ADE2-418AC7F33BB8}"/>
              </a:ext>
            </a:extLst>
          </p:cNvPr>
          <p:cNvSpPr/>
          <p:nvPr/>
        </p:nvSpPr>
        <p:spPr>
          <a:xfrm>
            <a:off x="6934322" y="3566611"/>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15" name="Rectángulo 14">
                <a:extLst>
                  <a:ext uri="{FF2B5EF4-FFF2-40B4-BE49-F238E27FC236}">
                    <a16:creationId xmlns:a16="http://schemas.microsoft.com/office/drawing/2014/main" id="{AB7773E6-F1AF-415C-9D18-76D46BBEC5FB}"/>
                  </a:ext>
                </a:extLst>
              </p:cNvPr>
              <p:cNvSpPr/>
              <p:nvPr/>
            </p:nvSpPr>
            <p:spPr>
              <a:xfrm>
                <a:off x="10221290" y="3528511"/>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𝑪</m:t>
                      </m:r>
                    </m:oMath>
                  </m:oMathPara>
                </a14:m>
                <a:endParaRPr lang="es-419" sz="2800" b="1">
                  <a:solidFill>
                    <a:prstClr val="white"/>
                  </a:solidFill>
                  <a:latin typeface="Corbel"/>
                </a:endParaRPr>
              </a:p>
            </p:txBody>
          </p:sp>
        </mc:Choice>
        <mc:Fallback>
          <p:sp>
            <p:nvSpPr>
              <p:cNvPr id="15" name="Rectángulo 14">
                <a:extLst>
                  <a:ext uri="{FF2B5EF4-FFF2-40B4-BE49-F238E27FC236}">
                    <a16:creationId xmlns:a16="http://schemas.microsoft.com/office/drawing/2014/main" id="{AB7773E6-F1AF-415C-9D18-76D46BBEC5FB}"/>
                  </a:ext>
                </a:extLst>
              </p:cNvPr>
              <p:cNvSpPr>
                <a:spLocks noRot="1" noChangeAspect="1" noMove="1" noResize="1" noEditPoints="1" noAdjustHandles="1" noChangeArrowheads="1" noChangeShapeType="1" noTextEdit="1"/>
              </p:cNvSpPr>
              <p:nvPr/>
            </p:nvSpPr>
            <p:spPr>
              <a:xfrm>
                <a:off x="10221290" y="3528511"/>
                <a:ext cx="609600" cy="609600"/>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ángulo 15">
                <a:extLst>
                  <a:ext uri="{FF2B5EF4-FFF2-40B4-BE49-F238E27FC236}">
                    <a16:creationId xmlns:a16="http://schemas.microsoft.com/office/drawing/2014/main" id="{21A721E5-48E9-4854-9B4B-9E9A70170069}"/>
                  </a:ext>
                </a:extLst>
              </p:cNvPr>
              <p:cNvSpPr/>
              <p:nvPr/>
            </p:nvSpPr>
            <p:spPr>
              <a:xfrm>
                <a:off x="7888272" y="4686041"/>
                <a:ext cx="609600"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a:solidFill>
                            <a:prstClr val="white"/>
                          </a:solidFill>
                          <a:latin typeface="Cambria Math" panose="02040503050406030204" pitchFamily="18" charset="0"/>
                        </a:rPr>
                        <m:t>𝑨</m:t>
                      </m:r>
                    </m:oMath>
                  </m:oMathPara>
                </a14:m>
                <a:endParaRPr lang="es-419" sz="2800" b="1">
                  <a:solidFill>
                    <a:prstClr val="white"/>
                  </a:solidFill>
                  <a:latin typeface="Corbel"/>
                </a:endParaRPr>
              </a:p>
            </p:txBody>
          </p:sp>
        </mc:Choice>
        <mc:Fallback>
          <p:sp>
            <p:nvSpPr>
              <p:cNvPr id="16" name="Rectángulo 15">
                <a:extLst>
                  <a:ext uri="{FF2B5EF4-FFF2-40B4-BE49-F238E27FC236}">
                    <a16:creationId xmlns:a16="http://schemas.microsoft.com/office/drawing/2014/main" id="{21A721E5-48E9-4854-9B4B-9E9A70170069}"/>
                  </a:ext>
                </a:extLst>
              </p:cNvPr>
              <p:cNvSpPr>
                <a:spLocks noRot="1" noChangeAspect="1" noMove="1" noResize="1" noEditPoints="1" noAdjustHandles="1" noChangeArrowheads="1" noChangeShapeType="1" noTextEdit="1"/>
              </p:cNvSpPr>
              <p:nvPr/>
            </p:nvSpPr>
            <p:spPr>
              <a:xfrm>
                <a:off x="7888272" y="4686041"/>
                <a:ext cx="609600" cy="609600"/>
              </a:xfrm>
              <a:prstGeom prst="rect">
                <a:avLst/>
              </a:prstGeom>
              <a:blipFill>
                <a:blip r:embed="rId7"/>
                <a:stretch>
                  <a:fillRect/>
                </a:stretch>
              </a:blipFill>
              <a:ln w="57150">
                <a:solidFill>
                  <a:schemeClr val="tx1"/>
                </a:solidFill>
                <a:miter lim="800000"/>
              </a:ln>
            </p:spPr>
            <p:txBody>
              <a:bodyPr/>
              <a:lstStyle/>
              <a:p>
                <a:r>
                  <a:rPr lang="en-US">
                    <a:noFill/>
                  </a:rPr>
                  <a:t> </a:t>
                </a:r>
              </a:p>
            </p:txBody>
          </p:sp>
        </mc:Fallback>
      </mc:AlternateContent>
      <p:cxnSp>
        <p:nvCxnSpPr>
          <p:cNvPr id="17" name="Conector recto de flecha 16">
            <a:extLst>
              <a:ext uri="{FF2B5EF4-FFF2-40B4-BE49-F238E27FC236}">
                <a16:creationId xmlns:a16="http://schemas.microsoft.com/office/drawing/2014/main" id="{7A268B3C-1E48-4267-BBC7-C015EFB64BA3}"/>
              </a:ext>
            </a:extLst>
          </p:cNvPr>
          <p:cNvCxnSpPr>
            <a:cxnSpLocks/>
            <a:stCxn id="14" idx="6"/>
            <a:endCxn id="13" idx="1"/>
          </p:cNvCxnSpPr>
          <p:nvPr/>
        </p:nvCxnSpPr>
        <p:spPr>
          <a:xfrm>
            <a:off x="7467723" y="3833311"/>
            <a:ext cx="1055525"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07EBABB9-023E-415D-85A8-72E38A2EF6A6}"/>
              </a:ext>
            </a:extLst>
          </p:cNvPr>
          <p:cNvCxnSpPr>
            <a:cxnSpLocks/>
            <a:stCxn id="13" idx="3"/>
            <a:endCxn id="15" idx="1"/>
          </p:cNvCxnSpPr>
          <p:nvPr/>
        </p:nvCxnSpPr>
        <p:spPr>
          <a:xfrm flipV="1">
            <a:off x="9132848" y="3833311"/>
            <a:ext cx="1088443" cy="650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F6EC8162-52D5-4F49-8E4F-2E7B15B3F759}"/>
              </a:ext>
            </a:extLst>
          </p:cNvPr>
          <p:cNvCxnSpPr>
            <a:cxnSpLocks/>
            <a:endCxn id="16" idx="3"/>
          </p:cNvCxnSpPr>
          <p:nvPr/>
        </p:nvCxnSpPr>
        <p:spPr>
          <a:xfrm rot="5400000">
            <a:off x="8466584" y="3871107"/>
            <a:ext cx="1151023" cy="1088444"/>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a:extLst>
              <a:ext uri="{FF2B5EF4-FFF2-40B4-BE49-F238E27FC236}">
                <a16:creationId xmlns:a16="http://schemas.microsoft.com/office/drawing/2014/main" id="{07DD6996-D189-461E-93D0-CB173F835162}"/>
              </a:ext>
            </a:extLst>
          </p:cNvPr>
          <p:cNvCxnSpPr>
            <a:cxnSpLocks/>
            <a:stCxn id="16" idx="1"/>
            <a:endCxn id="14" idx="4"/>
          </p:cNvCxnSpPr>
          <p:nvPr/>
        </p:nvCxnSpPr>
        <p:spPr>
          <a:xfrm rot="10800000">
            <a:off x="7201022" y="4100011"/>
            <a:ext cx="687250" cy="89083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0EF63B2D-8560-45BF-BD5D-F4A00F25E58C}"/>
                  </a:ext>
                </a:extLst>
              </p:cNvPr>
              <p:cNvSpPr txBox="1"/>
              <p:nvPr/>
            </p:nvSpPr>
            <p:spPr>
              <a:xfrm>
                <a:off x="7628855" y="3308196"/>
                <a:ext cx="312200" cy="501804"/>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e>
                      </m:acc>
                    </m:oMath>
                  </m:oMathPara>
                </a14:m>
                <a:endParaRPr lang="es-419" sz="3200">
                  <a:solidFill>
                    <a:prstClr val="white"/>
                  </a:solidFill>
                  <a:latin typeface="Corbel"/>
                </a:endParaRPr>
              </a:p>
            </p:txBody>
          </p:sp>
        </mc:Choice>
        <mc:Fallback>
          <p:sp>
            <p:nvSpPr>
              <p:cNvPr id="21" name="CuadroTexto 20">
                <a:extLst>
                  <a:ext uri="{FF2B5EF4-FFF2-40B4-BE49-F238E27FC236}">
                    <a16:creationId xmlns:a16="http://schemas.microsoft.com/office/drawing/2014/main" id="{0EF63B2D-8560-45BF-BD5D-F4A00F25E58C}"/>
                  </a:ext>
                </a:extLst>
              </p:cNvPr>
              <p:cNvSpPr txBox="1">
                <a:spLocks noRot="1" noChangeAspect="1" noMove="1" noResize="1" noEditPoints="1" noAdjustHandles="1" noChangeArrowheads="1" noChangeShapeType="1" noTextEdit="1"/>
              </p:cNvSpPr>
              <p:nvPr/>
            </p:nvSpPr>
            <p:spPr>
              <a:xfrm>
                <a:off x="7628855" y="3308196"/>
                <a:ext cx="312200" cy="501804"/>
              </a:xfrm>
              <a:prstGeom prst="rect">
                <a:avLst/>
              </a:prstGeom>
              <a:blipFill>
                <a:blip r:embed="rId8"/>
                <a:stretch>
                  <a:fillRect t="-36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D490B27A-4B2E-4FF3-8781-ECC9B5F4454C}"/>
                  </a:ext>
                </a:extLst>
              </p:cNvPr>
              <p:cNvSpPr txBox="1"/>
              <p:nvPr/>
            </p:nvSpPr>
            <p:spPr>
              <a:xfrm>
                <a:off x="9421228" y="3396619"/>
                <a:ext cx="312200" cy="443198"/>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acc>
                        <m:accPr>
                          <m:chr m:val="⃗"/>
                          <m:ctrlPr>
                            <a:rPr lang="es-419" sz="3200" i="1">
                              <a:solidFill>
                                <a:prstClr val="white"/>
                              </a:solidFill>
                              <a:latin typeface="Cambria Math" panose="02040503050406030204" pitchFamily="18" charset="0"/>
                            </a:rPr>
                          </m:ctrlPr>
                        </m:accPr>
                        <m:e>
                          <m:r>
                            <a:rPr lang="en-US" sz="3200" i="1">
                              <a:solidFill>
                                <a:prstClr val="white"/>
                              </a:solidFill>
                              <a:latin typeface="Cambria Math" panose="02040503050406030204" pitchFamily="18" charset="0"/>
                            </a:rPr>
                            <m:t>𝑥</m:t>
                          </m:r>
                        </m:e>
                      </m:acc>
                    </m:oMath>
                  </m:oMathPara>
                </a14:m>
                <a:endParaRPr lang="es-419" sz="3200">
                  <a:solidFill>
                    <a:prstClr val="white"/>
                  </a:solidFill>
                  <a:latin typeface="Corbel"/>
                </a:endParaRPr>
              </a:p>
            </p:txBody>
          </p:sp>
        </mc:Choice>
        <mc:Fallback>
          <p:sp>
            <p:nvSpPr>
              <p:cNvPr id="22" name="CuadroTexto 21">
                <a:extLst>
                  <a:ext uri="{FF2B5EF4-FFF2-40B4-BE49-F238E27FC236}">
                    <a16:creationId xmlns:a16="http://schemas.microsoft.com/office/drawing/2014/main" id="{D490B27A-4B2E-4FF3-8781-ECC9B5F4454C}"/>
                  </a:ext>
                </a:extLst>
              </p:cNvPr>
              <p:cNvSpPr txBox="1">
                <a:spLocks noRot="1" noChangeAspect="1" noMove="1" noResize="1" noEditPoints="1" noAdjustHandles="1" noChangeArrowheads="1" noChangeShapeType="1" noTextEdit="1"/>
              </p:cNvSpPr>
              <p:nvPr/>
            </p:nvSpPr>
            <p:spPr>
              <a:xfrm>
                <a:off x="9421228" y="3396619"/>
                <a:ext cx="312200" cy="44319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EC276B67-648E-44A0-AD3B-0EC9C3B670C6}"/>
                  </a:ext>
                </a:extLst>
              </p:cNvPr>
              <p:cNvSpPr txBox="1"/>
              <p:nvPr/>
            </p:nvSpPr>
            <p:spPr>
              <a:xfrm>
                <a:off x="11141289" y="3477602"/>
                <a:ext cx="23769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oMath>
                  </m:oMathPara>
                </a14:m>
                <a:endParaRPr lang="es-419" sz="3200">
                  <a:solidFill>
                    <a:prstClr val="white"/>
                  </a:solidFill>
                  <a:latin typeface="Corbel"/>
                </a:endParaRPr>
              </a:p>
            </p:txBody>
          </p:sp>
        </mc:Choice>
        <mc:Fallback>
          <p:sp>
            <p:nvSpPr>
              <p:cNvPr id="23" name="CuadroTexto 22">
                <a:extLst>
                  <a:ext uri="{FF2B5EF4-FFF2-40B4-BE49-F238E27FC236}">
                    <a16:creationId xmlns:a16="http://schemas.microsoft.com/office/drawing/2014/main" id="{EC276B67-648E-44A0-AD3B-0EC9C3B670C6}"/>
                  </a:ext>
                </a:extLst>
              </p:cNvPr>
              <p:cNvSpPr txBox="1">
                <a:spLocks noRot="1" noChangeAspect="1" noMove="1" noResize="1" noEditPoints="1" noAdjustHandles="1" noChangeArrowheads="1" noChangeShapeType="1" noTextEdit="1"/>
              </p:cNvSpPr>
              <p:nvPr/>
            </p:nvSpPr>
            <p:spPr>
              <a:xfrm>
                <a:off x="11141289" y="3477602"/>
                <a:ext cx="237693" cy="332399"/>
              </a:xfrm>
              <a:prstGeom prst="rect">
                <a:avLst/>
              </a:prstGeom>
              <a:blipFill>
                <a:blip r:embed="rId10"/>
                <a:stretch>
                  <a:fillRect l="-33333" r="-30769" b="-272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0D800F76-695C-40DF-9AE4-9CDFE69FB1F8}"/>
                  </a:ext>
                </a:extLst>
              </p:cNvPr>
              <p:cNvSpPr txBox="1"/>
              <p:nvPr/>
            </p:nvSpPr>
            <p:spPr>
              <a:xfrm>
                <a:off x="4397416" y="3381014"/>
                <a:ext cx="245067"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oMath>
                  </m:oMathPara>
                </a14:m>
                <a:endParaRPr lang="es-419" sz="3200">
                  <a:solidFill>
                    <a:prstClr val="white"/>
                  </a:solidFill>
                  <a:latin typeface="Corbel"/>
                </a:endParaRPr>
              </a:p>
            </p:txBody>
          </p:sp>
        </mc:Choice>
        <mc:Fallback>
          <p:sp>
            <p:nvSpPr>
              <p:cNvPr id="24" name="CuadroTexto 23">
                <a:extLst>
                  <a:ext uri="{FF2B5EF4-FFF2-40B4-BE49-F238E27FC236}">
                    <a16:creationId xmlns:a16="http://schemas.microsoft.com/office/drawing/2014/main" id="{0D800F76-695C-40DF-9AE4-9CDFE69FB1F8}"/>
                  </a:ext>
                </a:extLst>
              </p:cNvPr>
              <p:cNvSpPr txBox="1">
                <a:spLocks noRot="1" noChangeAspect="1" noMove="1" noResize="1" noEditPoints="1" noAdjustHandles="1" noChangeArrowheads="1" noChangeShapeType="1" noTextEdit="1"/>
              </p:cNvSpPr>
              <p:nvPr/>
            </p:nvSpPr>
            <p:spPr>
              <a:xfrm>
                <a:off x="4397416" y="3381014"/>
                <a:ext cx="245067" cy="332399"/>
              </a:xfrm>
              <a:prstGeom prst="rect">
                <a:avLst/>
              </a:prstGeom>
              <a:blipFill>
                <a:blip r:embed="rId11"/>
                <a:stretch>
                  <a:fillRect l="-17073" r="-14634"/>
                </a:stretch>
              </a:blipFill>
            </p:spPr>
            <p:txBody>
              <a:bodyPr/>
              <a:lstStyle/>
              <a:p>
                <a:r>
                  <a:rPr lang="en-US">
                    <a:noFill/>
                  </a:rPr>
                  <a:t> </a:t>
                </a:r>
              </a:p>
            </p:txBody>
          </p:sp>
        </mc:Fallback>
      </mc:AlternateContent>
      <p:sp>
        <p:nvSpPr>
          <p:cNvPr id="25" name="Rectángulo 24">
            <a:extLst>
              <a:ext uri="{FF2B5EF4-FFF2-40B4-BE49-F238E27FC236}">
                <a16:creationId xmlns:a16="http://schemas.microsoft.com/office/drawing/2014/main" id="{361F246B-26F4-4028-B51F-9114F56D7B74}"/>
              </a:ext>
            </a:extLst>
          </p:cNvPr>
          <p:cNvSpPr/>
          <p:nvPr/>
        </p:nvSpPr>
        <p:spPr>
          <a:xfrm>
            <a:off x="5606004" y="3132452"/>
            <a:ext cx="5410200" cy="2362179"/>
          </a:xfrm>
          <a:prstGeom prst="rect">
            <a:avLst/>
          </a:prstGeom>
          <a:noFill/>
          <a:ln w="28575">
            <a:solidFill>
              <a:schemeClr val="tx1"/>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26" name="CuadroTexto 25">
            <a:extLst>
              <a:ext uri="{FF2B5EF4-FFF2-40B4-BE49-F238E27FC236}">
                <a16:creationId xmlns:a16="http://schemas.microsoft.com/office/drawing/2014/main" id="{D07612C9-BBB7-4585-85E9-38226FE6C773}"/>
              </a:ext>
            </a:extLst>
          </p:cNvPr>
          <p:cNvSpPr txBox="1"/>
          <p:nvPr/>
        </p:nvSpPr>
        <p:spPr>
          <a:xfrm>
            <a:off x="5604736" y="5121375"/>
            <a:ext cx="1218603" cy="424732"/>
          </a:xfrm>
          <a:prstGeom prst="rect">
            <a:avLst/>
          </a:prstGeom>
          <a:noFill/>
        </p:spPr>
        <p:txBody>
          <a:bodyPr wrap="square" rtlCol="0">
            <a:spAutoFit/>
          </a:bodyPr>
          <a:lstStyle/>
          <a:p>
            <a:pPr>
              <a:lnSpc>
                <a:spcPct val="90000"/>
              </a:lnSpc>
            </a:pPr>
            <a:r>
              <a:rPr lang="es-419" sz="2400">
                <a:solidFill>
                  <a:prstClr val="white"/>
                </a:solidFill>
                <a:latin typeface="Corbel"/>
              </a:rPr>
              <a:t>Sistema</a:t>
            </a:r>
          </a:p>
        </p:txBody>
      </p:sp>
      <mc:AlternateContent xmlns:mc="http://schemas.openxmlformats.org/markup-compatibility/2006">
        <mc:Choice xmlns:a14="http://schemas.microsoft.com/office/drawing/2010/main" Requires="a14">
          <p:sp>
            <p:nvSpPr>
              <p:cNvPr id="27" name="Rectángulo 26">
                <a:extLst>
                  <a:ext uri="{FF2B5EF4-FFF2-40B4-BE49-F238E27FC236}">
                    <a16:creationId xmlns:a16="http://schemas.microsoft.com/office/drawing/2014/main" id="{A9AC65B3-63C7-4113-A02F-94E97382E911}"/>
                  </a:ext>
                </a:extLst>
              </p:cNvPr>
              <p:cNvSpPr/>
              <p:nvPr/>
            </p:nvSpPr>
            <p:spPr>
              <a:xfrm>
                <a:off x="7624483" y="5598556"/>
                <a:ext cx="869017"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1" i="1">
                              <a:solidFill>
                                <a:prstClr val="white"/>
                              </a:solidFill>
                              <a:latin typeface="Cambria Math" panose="02040503050406030204" pitchFamily="18" charset="0"/>
                            </a:rPr>
                          </m:ctrlPr>
                        </m:sSubPr>
                        <m:e>
                          <m:r>
                            <a:rPr lang="en-US" sz="2800" b="1" i="1">
                              <a:solidFill>
                                <a:prstClr val="white"/>
                              </a:solidFill>
                              <a:latin typeface="Cambria Math" panose="02040503050406030204" pitchFamily="18" charset="0"/>
                            </a:rPr>
                            <m:t>𝑲</m:t>
                          </m:r>
                        </m:e>
                        <m:sub>
                          <m:r>
                            <a:rPr lang="en-US" sz="2800" b="1" i="1">
                              <a:solidFill>
                                <a:prstClr val="white"/>
                              </a:solidFill>
                              <a:latin typeface="Cambria Math" panose="02040503050406030204" pitchFamily="18" charset="0"/>
                            </a:rPr>
                            <m:t>𝟏</m:t>
                          </m:r>
                        </m:sub>
                      </m:sSub>
                    </m:oMath>
                  </m:oMathPara>
                </a14:m>
                <a:endParaRPr lang="es-419" sz="2800" b="1">
                  <a:solidFill>
                    <a:prstClr val="white"/>
                  </a:solidFill>
                  <a:latin typeface="Corbel"/>
                </a:endParaRPr>
              </a:p>
            </p:txBody>
          </p:sp>
        </mc:Choice>
        <mc:Fallback>
          <p:sp>
            <p:nvSpPr>
              <p:cNvPr id="27" name="Rectángulo 26">
                <a:extLst>
                  <a:ext uri="{FF2B5EF4-FFF2-40B4-BE49-F238E27FC236}">
                    <a16:creationId xmlns:a16="http://schemas.microsoft.com/office/drawing/2014/main" id="{A9AC65B3-63C7-4113-A02F-94E97382E911}"/>
                  </a:ext>
                </a:extLst>
              </p:cNvPr>
              <p:cNvSpPr>
                <a:spLocks noRot="1" noChangeAspect="1" noMove="1" noResize="1" noEditPoints="1" noAdjustHandles="1" noChangeArrowheads="1" noChangeShapeType="1" noTextEdit="1"/>
              </p:cNvSpPr>
              <p:nvPr/>
            </p:nvSpPr>
            <p:spPr>
              <a:xfrm>
                <a:off x="7624483" y="5598556"/>
                <a:ext cx="869017" cy="609600"/>
              </a:xfrm>
              <a:prstGeom prst="rect">
                <a:avLst/>
              </a:prstGeom>
              <a:blipFill>
                <a:blip r:embed="rId12"/>
                <a:stretch>
                  <a:fillRect/>
                </a:stretch>
              </a:blipFill>
              <a:ln w="57150">
                <a:solidFill>
                  <a:schemeClr val="tx1"/>
                </a:solidFill>
                <a:miter lim="800000"/>
              </a:ln>
            </p:spPr>
            <p:txBody>
              <a:bodyPr/>
              <a:lstStyle/>
              <a:p>
                <a:r>
                  <a:rPr lang="en-US">
                    <a:noFill/>
                  </a:rPr>
                  <a:t> </a:t>
                </a:r>
              </a:p>
            </p:txBody>
          </p:sp>
        </mc:Fallback>
      </mc:AlternateContent>
      <p:cxnSp>
        <p:nvCxnSpPr>
          <p:cNvPr id="28" name="Conector: angular 27">
            <a:extLst>
              <a:ext uri="{FF2B5EF4-FFF2-40B4-BE49-F238E27FC236}">
                <a16:creationId xmlns:a16="http://schemas.microsoft.com/office/drawing/2014/main" id="{28C754F6-92D3-4C43-AB81-96C19CDAAE09}"/>
              </a:ext>
            </a:extLst>
          </p:cNvPr>
          <p:cNvCxnSpPr>
            <a:cxnSpLocks/>
            <a:endCxn id="27" idx="3"/>
          </p:cNvCxnSpPr>
          <p:nvPr/>
        </p:nvCxnSpPr>
        <p:spPr>
          <a:xfrm rot="5400000">
            <a:off x="8347025" y="4668430"/>
            <a:ext cx="1381401" cy="108845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Elipse 28">
            <a:extLst>
              <a:ext uri="{FF2B5EF4-FFF2-40B4-BE49-F238E27FC236}">
                <a16:creationId xmlns:a16="http://schemas.microsoft.com/office/drawing/2014/main" id="{B4B06807-E980-4977-A5CB-804DE36D328A}"/>
              </a:ext>
            </a:extLst>
          </p:cNvPr>
          <p:cNvSpPr/>
          <p:nvPr/>
        </p:nvSpPr>
        <p:spPr>
          <a:xfrm>
            <a:off x="4833608" y="3567256"/>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4BC8273E-0DEB-45C2-9C45-89148D4F3F7B}"/>
                  </a:ext>
                </a:extLst>
              </p:cNvPr>
              <p:cNvSpPr txBox="1"/>
              <p:nvPr/>
            </p:nvSpPr>
            <p:spPr>
              <a:xfrm>
                <a:off x="784577" y="3396620"/>
                <a:ext cx="213520"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𝑟</m:t>
                      </m:r>
                    </m:oMath>
                  </m:oMathPara>
                </a14:m>
                <a:endParaRPr lang="es-419" sz="3200">
                  <a:solidFill>
                    <a:prstClr val="white"/>
                  </a:solidFill>
                  <a:latin typeface="Corbel"/>
                </a:endParaRPr>
              </a:p>
            </p:txBody>
          </p:sp>
        </mc:Choice>
        <mc:Fallback>
          <p:sp>
            <p:nvSpPr>
              <p:cNvPr id="30" name="CuadroTexto 29">
                <a:extLst>
                  <a:ext uri="{FF2B5EF4-FFF2-40B4-BE49-F238E27FC236}">
                    <a16:creationId xmlns:a16="http://schemas.microsoft.com/office/drawing/2014/main" id="{4BC8273E-0DEB-45C2-9C45-89148D4F3F7B}"/>
                  </a:ext>
                </a:extLst>
              </p:cNvPr>
              <p:cNvSpPr txBox="1">
                <a:spLocks noRot="1" noChangeAspect="1" noMove="1" noResize="1" noEditPoints="1" noAdjustHandles="1" noChangeArrowheads="1" noChangeShapeType="1" noTextEdit="1"/>
              </p:cNvSpPr>
              <p:nvPr/>
            </p:nvSpPr>
            <p:spPr>
              <a:xfrm>
                <a:off x="784577" y="3396620"/>
                <a:ext cx="213520" cy="332399"/>
              </a:xfrm>
              <a:prstGeom prst="rect">
                <a:avLst/>
              </a:prstGeom>
              <a:blipFill>
                <a:blip r:embed="rId13"/>
                <a:stretch>
                  <a:fillRect l="-22857" r="-171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120912CC-C308-446B-987B-41ACA98209E2}"/>
                  </a:ext>
                </a:extLst>
              </p:cNvPr>
              <p:cNvSpPr txBox="1"/>
              <p:nvPr/>
            </p:nvSpPr>
            <p:spPr>
              <a:xfrm>
                <a:off x="4974680" y="3555621"/>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31" name="CuadroTexto 30">
                <a:extLst>
                  <a:ext uri="{FF2B5EF4-FFF2-40B4-BE49-F238E27FC236}">
                    <a16:creationId xmlns:a16="http://schemas.microsoft.com/office/drawing/2014/main" id="{120912CC-C308-446B-987B-41ACA98209E2}"/>
                  </a:ext>
                </a:extLst>
              </p:cNvPr>
              <p:cNvSpPr txBox="1">
                <a:spLocks noRot="1" noChangeAspect="1" noMove="1" noResize="1" noEditPoints="1" noAdjustHandles="1" noChangeArrowheads="1" noChangeShapeType="1" noTextEdit="1"/>
              </p:cNvSpPr>
              <p:nvPr/>
            </p:nvSpPr>
            <p:spPr>
              <a:xfrm>
                <a:off x="4974680" y="3555621"/>
                <a:ext cx="290143" cy="332399"/>
              </a:xfrm>
              <a:prstGeom prst="rect">
                <a:avLst/>
              </a:prstGeom>
              <a:blipFill>
                <a:blip r:embed="rId14"/>
                <a:stretch>
                  <a:fillRect l="-22917" r="-20833"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1174AC05-AC6D-4BE8-96BA-5C5CAA9A6838}"/>
                  </a:ext>
                </a:extLst>
              </p:cNvPr>
              <p:cNvSpPr txBox="1"/>
              <p:nvPr/>
            </p:nvSpPr>
            <p:spPr>
              <a:xfrm>
                <a:off x="4820156" y="3665397"/>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32" name="CuadroTexto 31">
                <a:extLst>
                  <a:ext uri="{FF2B5EF4-FFF2-40B4-BE49-F238E27FC236}">
                    <a16:creationId xmlns:a16="http://schemas.microsoft.com/office/drawing/2014/main" id="{1174AC05-AC6D-4BE8-96BA-5C5CAA9A6838}"/>
                  </a:ext>
                </a:extLst>
              </p:cNvPr>
              <p:cNvSpPr txBox="1">
                <a:spLocks noRot="1" noChangeAspect="1" noMove="1" noResize="1" noEditPoints="1" noAdjustHandles="1" noChangeArrowheads="1" noChangeShapeType="1" noTextEdit="1"/>
              </p:cNvSpPr>
              <p:nvPr/>
            </p:nvSpPr>
            <p:spPr>
              <a:xfrm>
                <a:off x="4820156" y="3665397"/>
                <a:ext cx="290143" cy="332399"/>
              </a:xfrm>
              <a:prstGeom prst="rect">
                <a:avLst/>
              </a:prstGeom>
              <a:blipFill>
                <a:blip r:embed="rId14"/>
                <a:stretch>
                  <a:fillRect l="-23404" r="-23404"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Rectángulo 32">
                <a:extLst>
                  <a:ext uri="{FF2B5EF4-FFF2-40B4-BE49-F238E27FC236}">
                    <a16:creationId xmlns:a16="http://schemas.microsoft.com/office/drawing/2014/main" id="{D5E9F2B3-731F-4884-AF8E-0BF790BEEBC9}"/>
                  </a:ext>
                </a:extLst>
              </p:cNvPr>
              <p:cNvSpPr/>
              <p:nvPr/>
            </p:nvSpPr>
            <p:spPr>
              <a:xfrm>
                <a:off x="3466876" y="3526795"/>
                <a:ext cx="839709" cy="60960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800" b="1" i="1">
                              <a:solidFill>
                                <a:prstClr val="white"/>
                              </a:solidFill>
                              <a:latin typeface="Cambria Math" panose="02040503050406030204" pitchFamily="18" charset="0"/>
                            </a:rPr>
                          </m:ctrlPr>
                        </m:sSubPr>
                        <m:e>
                          <m:r>
                            <a:rPr lang="en-US" sz="2800" b="1" i="1">
                              <a:solidFill>
                                <a:prstClr val="white"/>
                              </a:solidFill>
                              <a:latin typeface="Cambria Math" panose="02040503050406030204" pitchFamily="18" charset="0"/>
                            </a:rPr>
                            <m:t>𝑲</m:t>
                          </m:r>
                        </m:e>
                        <m:sub>
                          <m:r>
                            <a:rPr lang="en-US" sz="2800" b="1" i="1">
                              <a:solidFill>
                                <a:prstClr val="white"/>
                              </a:solidFill>
                              <a:latin typeface="Cambria Math" panose="02040503050406030204" pitchFamily="18" charset="0"/>
                            </a:rPr>
                            <m:t>𝟐</m:t>
                          </m:r>
                        </m:sub>
                      </m:sSub>
                    </m:oMath>
                  </m:oMathPara>
                </a14:m>
                <a:endParaRPr lang="es-419" sz="2800" b="1">
                  <a:solidFill>
                    <a:prstClr val="white"/>
                  </a:solidFill>
                  <a:latin typeface="Corbel"/>
                </a:endParaRPr>
              </a:p>
            </p:txBody>
          </p:sp>
        </mc:Choice>
        <mc:Fallback>
          <p:sp>
            <p:nvSpPr>
              <p:cNvPr id="33" name="Rectángulo 32">
                <a:extLst>
                  <a:ext uri="{FF2B5EF4-FFF2-40B4-BE49-F238E27FC236}">
                    <a16:creationId xmlns:a16="http://schemas.microsoft.com/office/drawing/2014/main" id="{D5E9F2B3-731F-4884-AF8E-0BF790BEEBC9}"/>
                  </a:ext>
                </a:extLst>
              </p:cNvPr>
              <p:cNvSpPr>
                <a:spLocks noRot="1" noChangeAspect="1" noMove="1" noResize="1" noEditPoints="1" noAdjustHandles="1" noChangeArrowheads="1" noChangeShapeType="1" noTextEdit="1"/>
              </p:cNvSpPr>
              <p:nvPr/>
            </p:nvSpPr>
            <p:spPr>
              <a:xfrm>
                <a:off x="3466876" y="3526795"/>
                <a:ext cx="839709" cy="609600"/>
              </a:xfrm>
              <a:prstGeom prst="rect">
                <a:avLst/>
              </a:prstGeom>
              <a:blipFill>
                <a:blip r:embed="rId15"/>
                <a:stretch>
                  <a:fillRect/>
                </a:stretch>
              </a:blipFill>
              <a:ln w="57150">
                <a:solidFill>
                  <a:schemeClr val="tx1"/>
                </a:solidFill>
                <a:miter lim="800000"/>
              </a:ln>
            </p:spPr>
            <p:txBody>
              <a:bodyPr/>
              <a:lstStyle/>
              <a:p>
                <a:r>
                  <a:rPr lang="en-US">
                    <a:noFill/>
                  </a:rPr>
                  <a:t> </a:t>
                </a:r>
              </a:p>
            </p:txBody>
          </p:sp>
        </mc:Fallback>
      </mc:AlternateContent>
      <p:cxnSp>
        <p:nvCxnSpPr>
          <p:cNvPr id="34" name="Conector: angular 33">
            <a:extLst>
              <a:ext uri="{FF2B5EF4-FFF2-40B4-BE49-F238E27FC236}">
                <a16:creationId xmlns:a16="http://schemas.microsoft.com/office/drawing/2014/main" id="{F09A69E6-82CF-40E2-9EC4-E0675F5B4C71}"/>
              </a:ext>
            </a:extLst>
          </p:cNvPr>
          <p:cNvCxnSpPr>
            <a:cxnSpLocks/>
            <a:stCxn id="27" idx="1"/>
            <a:endCxn id="29" idx="4"/>
          </p:cNvCxnSpPr>
          <p:nvPr/>
        </p:nvCxnSpPr>
        <p:spPr>
          <a:xfrm rot="10800000">
            <a:off x="5100308" y="4100656"/>
            <a:ext cx="2524174" cy="1802700"/>
          </a:xfrm>
          <a:prstGeom prst="bentConnector2">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84E4DF67-B16B-4997-85DD-4E58C07EAC3C}"/>
              </a:ext>
            </a:extLst>
          </p:cNvPr>
          <p:cNvCxnSpPr>
            <a:cxnSpLocks/>
            <a:stCxn id="15" idx="3"/>
          </p:cNvCxnSpPr>
          <p:nvPr/>
        </p:nvCxnSpPr>
        <p:spPr>
          <a:xfrm>
            <a:off x="10830891" y="3833311"/>
            <a:ext cx="787737"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E137C056-E773-4427-AEBA-2D98276C19A2}"/>
              </a:ext>
            </a:extLst>
          </p:cNvPr>
          <p:cNvCxnSpPr>
            <a:cxnSpLocks/>
            <a:stCxn id="33" idx="3"/>
            <a:endCxn id="32" idx="1"/>
          </p:cNvCxnSpPr>
          <p:nvPr/>
        </p:nvCxnSpPr>
        <p:spPr>
          <a:xfrm>
            <a:off x="4306585" y="3831596"/>
            <a:ext cx="513571" cy="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4315EE40-D1DA-43E9-B15E-7C1923696964}"/>
              </a:ext>
            </a:extLst>
          </p:cNvPr>
          <p:cNvCxnSpPr>
            <a:cxnSpLocks/>
            <a:stCxn id="39" idx="3"/>
            <a:endCxn id="33" idx="1"/>
          </p:cNvCxnSpPr>
          <p:nvPr/>
        </p:nvCxnSpPr>
        <p:spPr>
          <a:xfrm>
            <a:off x="2976551" y="3831595"/>
            <a:ext cx="490325" cy="0"/>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BAB9F498-2A52-4BF8-8C15-00CDBFFAA2E6}"/>
              </a:ext>
            </a:extLst>
          </p:cNvPr>
          <p:cNvCxnSpPr>
            <a:cxnSpLocks/>
            <a:stCxn id="29" idx="6"/>
            <a:endCxn id="10" idx="1"/>
          </p:cNvCxnSpPr>
          <p:nvPr/>
        </p:nvCxnSpPr>
        <p:spPr>
          <a:xfrm flipV="1">
            <a:off x="5367008" y="3833312"/>
            <a:ext cx="543796" cy="645"/>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Rectángulo 38">
                <a:extLst>
                  <a:ext uri="{FF2B5EF4-FFF2-40B4-BE49-F238E27FC236}">
                    <a16:creationId xmlns:a16="http://schemas.microsoft.com/office/drawing/2014/main" id="{AB994E6E-5031-49F0-8FD7-9A9160415BFA}"/>
                  </a:ext>
                </a:extLst>
              </p:cNvPr>
              <p:cNvSpPr/>
              <p:nvPr/>
            </p:nvSpPr>
            <p:spPr>
              <a:xfrm>
                <a:off x="2394746" y="3491505"/>
                <a:ext cx="581805" cy="680180"/>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nary>
                        <m:naryPr>
                          <m:limLoc m:val="undOvr"/>
                          <m:subHide m:val="on"/>
                          <m:supHide m:val="on"/>
                          <m:ctrlPr>
                            <a:rPr lang="es-419" i="1">
                              <a:solidFill>
                                <a:prstClr val="white"/>
                              </a:solidFill>
                              <a:latin typeface="Cambria Math" panose="02040503050406030204" pitchFamily="18" charset="0"/>
                            </a:rPr>
                          </m:ctrlPr>
                        </m:naryPr>
                        <m:sub/>
                        <m:sup/>
                        <m:e>
                          <m:r>
                            <a:rPr lang="en-US" i="1">
                              <a:solidFill>
                                <a:prstClr val="white"/>
                              </a:solidFill>
                              <a:latin typeface="Cambria Math" panose="02040503050406030204" pitchFamily="18" charset="0"/>
                            </a:rPr>
                            <m:t> </m:t>
                          </m:r>
                        </m:e>
                      </m:nary>
                    </m:oMath>
                  </m:oMathPara>
                </a14:m>
                <a:endParaRPr lang="es-419">
                  <a:solidFill>
                    <a:prstClr val="white"/>
                  </a:solidFill>
                  <a:latin typeface="Corbel"/>
                </a:endParaRPr>
              </a:p>
            </p:txBody>
          </p:sp>
        </mc:Choice>
        <mc:Fallback>
          <p:sp>
            <p:nvSpPr>
              <p:cNvPr id="39" name="Rectángulo 38">
                <a:extLst>
                  <a:ext uri="{FF2B5EF4-FFF2-40B4-BE49-F238E27FC236}">
                    <a16:creationId xmlns:a16="http://schemas.microsoft.com/office/drawing/2014/main" id="{AB994E6E-5031-49F0-8FD7-9A9160415BFA}"/>
                  </a:ext>
                </a:extLst>
              </p:cNvPr>
              <p:cNvSpPr>
                <a:spLocks noRot="1" noChangeAspect="1" noMove="1" noResize="1" noEditPoints="1" noAdjustHandles="1" noChangeArrowheads="1" noChangeShapeType="1" noTextEdit="1"/>
              </p:cNvSpPr>
              <p:nvPr/>
            </p:nvSpPr>
            <p:spPr>
              <a:xfrm>
                <a:off x="2394746" y="3491505"/>
                <a:ext cx="581805" cy="680180"/>
              </a:xfrm>
              <a:prstGeom prst="rect">
                <a:avLst/>
              </a:prstGeom>
              <a:blipFill>
                <a:blip r:embed="rId16"/>
                <a:stretch>
                  <a:fillRect/>
                </a:stretch>
              </a:blipFill>
              <a:ln w="57150">
                <a:solidFill>
                  <a:schemeClr val="tx1"/>
                </a:solidFill>
                <a:miter lim="800000"/>
              </a:ln>
            </p:spPr>
            <p:txBody>
              <a:bodyPr/>
              <a:lstStyle/>
              <a:p>
                <a:r>
                  <a:rPr lang="en-US">
                    <a:noFill/>
                  </a:rPr>
                  <a:t> </a:t>
                </a:r>
              </a:p>
            </p:txBody>
          </p:sp>
        </mc:Fallback>
      </mc:AlternateContent>
      <p:sp>
        <p:nvSpPr>
          <p:cNvPr id="40" name="Elipse 39">
            <a:extLst>
              <a:ext uri="{FF2B5EF4-FFF2-40B4-BE49-F238E27FC236}">
                <a16:creationId xmlns:a16="http://schemas.microsoft.com/office/drawing/2014/main" id="{6B73A3D8-9006-4ADF-B056-1C00E5EAFEE5}"/>
              </a:ext>
            </a:extLst>
          </p:cNvPr>
          <p:cNvSpPr/>
          <p:nvPr/>
        </p:nvSpPr>
        <p:spPr>
          <a:xfrm>
            <a:off x="1412198" y="3566611"/>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61EFDFA8-64BC-4CF7-B1B4-A257771659E1}"/>
                  </a:ext>
                </a:extLst>
              </p:cNvPr>
              <p:cNvSpPr txBox="1"/>
              <p:nvPr/>
            </p:nvSpPr>
            <p:spPr>
              <a:xfrm>
                <a:off x="1531681" y="3831596"/>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1" name="CuadroTexto 40">
                <a:extLst>
                  <a:ext uri="{FF2B5EF4-FFF2-40B4-BE49-F238E27FC236}">
                    <a16:creationId xmlns:a16="http://schemas.microsoft.com/office/drawing/2014/main" id="{61EFDFA8-64BC-4CF7-B1B4-A257771659E1}"/>
                  </a:ext>
                </a:extLst>
              </p:cNvPr>
              <p:cNvSpPr txBox="1">
                <a:spLocks noRot="1" noChangeAspect="1" noMove="1" noResize="1" noEditPoints="1" noAdjustHandles="1" noChangeArrowheads="1" noChangeShapeType="1" noTextEdit="1"/>
              </p:cNvSpPr>
              <p:nvPr/>
            </p:nvSpPr>
            <p:spPr>
              <a:xfrm>
                <a:off x="1531681" y="3831596"/>
                <a:ext cx="290143" cy="332399"/>
              </a:xfrm>
              <a:prstGeom prst="rect">
                <a:avLst/>
              </a:prstGeom>
              <a:blipFill>
                <a:blip r:embed="rId17"/>
                <a:stretch>
                  <a:fillRect l="-6250" r="-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FCDB1F78-722A-483E-8C0A-C363DCC7812F}"/>
                  </a:ext>
                </a:extLst>
              </p:cNvPr>
              <p:cNvSpPr txBox="1"/>
              <p:nvPr/>
            </p:nvSpPr>
            <p:spPr>
              <a:xfrm>
                <a:off x="1400381" y="3665397"/>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42" name="CuadroTexto 41">
                <a:extLst>
                  <a:ext uri="{FF2B5EF4-FFF2-40B4-BE49-F238E27FC236}">
                    <a16:creationId xmlns:a16="http://schemas.microsoft.com/office/drawing/2014/main" id="{FCDB1F78-722A-483E-8C0A-C363DCC7812F}"/>
                  </a:ext>
                </a:extLst>
              </p:cNvPr>
              <p:cNvSpPr txBox="1">
                <a:spLocks noRot="1" noChangeAspect="1" noMove="1" noResize="1" noEditPoints="1" noAdjustHandles="1" noChangeArrowheads="1" noChangeShapeType="1" noTextEdit="1"/>
              </p:cNvSpPr>
              <p:nvPr/>
            </p:nvSpPr>
            <p:spPr>
              <a:xfrm>
                <a:off x="1400381" y="3665397"/>
                <a:ext cx="290143" cy="332399"/>
              </a:xfrm>
              <a:prstGeom prst="rect">
                <a:avLst/>
              </a:prstGeom>
              <a:blipFill>
                <a:blip r:embed="rId14"/>
                <a:stretch>
                  <a:fillRect l="-23404" r="-23404" b="-5455"/>
                </a:stretch>
              </a:blipFill>
            </p:spPr>
            <p:txBody>
              <a:bodyPr/>
              <a:lstStyle/>
              <a:p>
                <a:r>
                  <a:rPr lang="en-US">
                    <a:noFill/>
                  </a:rPr>
                  <a:t> </a:t>
                </a:r>
              </a:p>
            </p:txBody>
          </p:sp>
        </mc:Fallback>
      </mc:AlternateContent>
      <p:cxnSp>
        <p:nvCxnSpPr>
          <p:cNvPr id="43" name="Conector recto de flecha 42">
            <a:extLst>
              <a:ext uri="{FF2B5EF4-FFF2-40B4-BE49-F238E27FC236}">
                <a16:creationId xmlns:a16="http://schemas.microsoft.com/office/drawing/2014/main" id="{EF5AEC13-A9F2-49EF-A8B5-200B6C4369C5}"/>
              </a:ext>
            </a:extLst>
          </p:cNvPr>
          <p:cNvCxnSpPr>
            <a:cxnSpLocks/>
            <a:stCxn id="40" idx="6"/>
            <a:endCxn id="39" idx="1"/>
          </p:cNvCxnSpPr>
          <p:nvPr/>
        </p:nvCxnSpPr>
        <p:spPr>
          <a:xfrm flipV="1">
            <a:off x="1945599" y="3831595"/>
            <a:ext cx="449147" cy="1716"/>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F1C8163F-BBD2-4B96-AF53-47CAE21524C7}"/>
              </a:ext>
            </a:extLst>
          </p:cNvPr>
          <p:cNvCxnSpPr>
            <a:cxnSpLocks/>
            <a:endCxn id="42" idx="1"/>
          </p:cNvCxnSpPr>
          <p:nvPr/>
        </p:nvCxnSpPr>
        <p:spPr>
          <a:xfrm flipV="1">
            <a:off x="457948" y="3831597"/>
            <a:ext cx="942432" cy="8221"/>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r 44">
            <a:extLst>
              <a:ext uri="{FF2B5EF4-FFF2-40B4-BE49-F238E27FC236}">
                <a16:creationId xmlns:a16="http://schemas.microsoft.com/office/drawing/2014/main" id="{74D683B0-E215-4AA1-B315-EA853217EF1C}"/>
              </a:ext>
            </a:extLst>
          </p:cNvPr>
          <p:cNvCxnSpPr>
            <a:cxnSpLocks/>
            <a:stCxn id="23" idx="2"/>
            <a:endCxn id="41" idx="2"/>
          </p:cNvCxnSpPr>
          <p:nvPr/>
        </p:nvCxnSpPr>
        <p:spPr>
          <a:xfrm rot="5400000">
            <a:off x="6291447" y="-804694"/>
            <a:ext cx="353994" cy="9583383"/>
          </a:xfrm>
          <a:prstGeom prst="bentConnector3">
            <a:avLst>
              <a:gd name="adj1" fmla="val 74230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6" name="CuadroTexto 45">
                <a:extLst>
                  <a:ext uri="{FF2B5EF4-FFF2-40B4-BE49-F238E27FC236}">
                    <a16:creationId xmlns:a16="http://schemas.microsoft.com/office/drawing/2014/main" id="{D8870ACA-AEEF-4B9D-A730-52D463382CB0}"/>
                  </a:ext>
                </a:extLst>
              </p:cNvPr>
              <p:cNvSpPr txBox="1"/>
              <p:nvPr/>
            </p:nvSpPr>
            <p:spPr>
              <a:xfrm>
                <a:off x="2004765" y="3396620"/>
                <a:ext cx="21993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oMath>
                  </m:oMathPara>
                </a14:m>
                <a:endParaRPr lang="es-419" sz="3200">
                  <a:solidFill>
                    <a:prstClr val="white"/>
                  </a:solidFill>
                  <a:latin typeface="Corbel"/>
                </a:endParaRPr>
              </a:p>
            </p:txBody>
          </p:sp>
        </mc:Choice>
        <mc:Fallback>
          <p:sp>
            <p:nvSpPr>
              <p:cNvPr id="46" name="CuadroTexto 45">
                <a:extLst>
                  <a:ext uri="{FF2B5EF4-FFF2-40B4-BE49-F238E27FC236}">
                    <a16:creationId xmlns:a16="http://schemas.microsoft.com/office/drawing/2014/main" id="{D8870ACA-AEEF-4B9D-A730-52D463382CB0}"/>
                  </a:ext>
                </a:extLst>
              </p:cNvPr>
              <p:cNvSpPr txBox="1">
                <a:spLocks noRot="1" noChangeAspect="1" noMove="1" noResize="1" noEditPoints="1" noAdjustHandles="1" noChangeArrowheads="1" noChangeShapeType="1" noTextEdit="1"/>
              </p:cNvSpPr>
              <p:nvPr/>
            </p:nvSpPr>
            <p:spPr>
              <a:xfrm>
                <a:off x="2004765" y="3396620"/>
                <a:ext cx="219932" cy="332399"/>
              </a:xfrm>
              <a:prstGeom prst="rect">
                <a:avLst/>
              </a:prstGeom>
              <a:blipFill>
                <a:blip r:embed="rId18"/>
                <a:stretch>
                  <a:fillRect l="-22222" r="-1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CuadroTexto 46">
                <a:extLst>
                  <a:ext uri="{FF2B5EF4-FFF2-40B4-BE49-F238E27FC236}">
                    <a16:creationId xmlns:a16="http://schemas.microsoft.com/office/drawing/2014/main" id="{0D5B3D21-E1C4-4456-9391-11252B82D6EB}"/>
                  </a:ext>
                </a:extLst>
              </p:cNvPr>
              <p:cNvSpPr txBox="1"/>
              <p:nvPr/>
            </p:nvSpPr>
            <p:spPr>
              <a:xfrm>
                <a:off x="3146549" y="3283513"/>
                <a:ext cx="294953" cy="443198"/>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3200" i="1">
                          <a:solidFill>
                            <a:prstClr val="white"/>
                          </a:solidFill>
                          <a:latin typeface="Cambria Math" panose="02040503050406030204" pitchFamily="18" charset="0"/>
                        </a:rPr>
                        <m:t>𝜉</m:t>
                      </m:r>
                    </m:oMath>
                  </m:oMathPara>
                </a14:m>
                <a:endParaRPr lang="es-419" sz="3200">
                  <a:solidFill>
                    <a:prstClr val="white"/>
                  </a:solidFill>
                  <a:latin typeface="Corbel"/>
                </a:endParaRPr>
              </a:p>
            </p:txBody>
          </p:sp>
        </mc:Choice>
        <mc:Fallback>
          <p:sp>
            <p:nvSpPr>
              <p:cNvPr id="47" name="CuadroTexto 46">
                <a:extLst>
                  <a:ext uri="{FF2B5EF4-FFF2-40B4-BE49-F238E27FC236}">
                    <a16:creationId xmlns:a16="http://schemas.microsoft.com/office/drawing/2014/main" id="{0D5B3D21-E1C4-4456-9391-11252B82D6EB}"/>
                  </a:ext>
                </a:extLst>
              </p:cNvPr>
              <p:cNvSpPr txBox="1">
                <a:spLocks noRot="1" noChangeAspect="1" noMove="1" noResize="1" noEditPoints="1" noAdjustHandles="1" noChangeArrowheads="1" noChangeShapeType="1" noTextEdit="1"/>
              </p:cNvSpPr>
              <p:nvPr/>
            </p:nvSpPr>
            <p:spPr>
              <a:xfrm>
                <a:off x="3146549" y="3283513"/>
                <a:ext cx="294953" cy="443198"/>
              </a:xfrm>
              <a:prstGeom prst="rect">
                <a:avLst/>
              </a:prstGeom>
              <a:blipFill>
                <a:blip r:embed="rId19"/>
                <a:stretch>
                  <a:fillRect/>
                </a:stretch>
              </a:blipFill>
            </p:spPr>
            <p:txBody>
              <a:bodyPr/>
              <a:lstStyle/>
              <a:p>
                <a:r>
                  <a:rPr lang="en-US">
                    <a:noFill/>
                  </a:rPr>
                  <a:t> </a:t>
                </a:r>
              </a:p>
            </p:txBody>
          </p:sp>
        </mc:Fallback>
      </mc:AlternateContent>
      <p:cxnSp>
        <p:nvCxnSpPr>
          <p:cNvPr id="48" name="Conector recto de flecha 47">
            <a:extLst>
              <a:ext uri="{FF2B5EF4-FFF2-40B4-BE49-F238E27FC236}">
                <a16:creationId xmlns:a16="http://schemas.microsoft.com/office/drawing/2014/main" id="{2A83F608-C25F-492E-BB29-8CAAFD442D06}"/>
              </a:ext>
            </a:extLst>
          </p:cNvPr>
          <p:cNvCxnSpPr>
            <a:cxnSpLocks/>
            <a:endCxn id="29" idx="0"/>
          </p:cNvCxnSpPr>
          <p:nvPr/>
        </p:nvCxnSpPr>
        <p:spPr>
          <a:xfrm>
            <a:off x="5100308" y="3001452"/>
            <a:ext cx="0" cy="565804"/>
          </a:xfrm>
          <a:prstGeom prst="straightConnector1">
            <a:avLst/>
          </a:prstGeom>
          <a:ln w="5715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CuadroTexto 53">
                <a:extLst>
                  <a:ext uri="{FF2B5EF4-FFF2-40B4-BE49-F238E27FC236}">
                    <a16:creationId xmlns:a16="http://schemas.microsoft.com/office/drawing/2014/main" id="{9B4D0FED-12DF-4A52-8559-0780FF6B0F95}"/>
                  </a:ext>
                </a:extLst>
              </p:cNvPr>
              <p:cNvSpPr txBox="1"/>
              <p:nvPr/>
            </p:nvSpPr>
            <p:spPr>
              <a:xfrm>
                <a:off x="4965228" y="2539083"/>
                <a:ext cx="245067"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𝑤</m:t>
                      </m:r>
                    </m:oMath>
                  </m:oMathPara>
                </a14:m>
                <a:endParaRPr lang="es-419" sz="3200">
                  <a:solidFill>
                    <a:prstClr val="white"/>
                  </a:solidFill>
                  <a:latin typeface="Corbel"/>
                </a:endParaRPr>
              </a:p>
            </p:txBody>
          </p:sp>
        </mc:Choice>
        <mc:Fallback>
          <p:sp>
            <p:nvSpPr>
              <p:cNvPr id="54" name="CuadroTexto 53">
                <a:extLst>
                  <a:ext uri="{FF2B5EF4-FFF2-40B4-BE49-F238E27FC236}">
                    <a16:creationId xmlns:a16="http://schemas.microsoft.com/office/drawing/2014/main" id="{9B4D0FED-12DF-4A52-8559-0780FF6B0F95}"/>
                  </a:ext>
                </a:extLst>
              </p:cNvPr>
              <p:cNvSpPr txBox="1">
                <a:spLocks noRot="1" noChangeAspect="1" noMove="1" noResize="1" noEditPoints="1" noAdjustHandles="1" noChangeArrowheads="1" noChangeShapeType="1" noTextEdit="1"/>
              </p:cNvSpPr>
              <p:nvPr/>
            </p:nvSpPr>
            <p:spPr>
              <a:xfrm>
                <a:off x="4965228" y="2539083"/>
                <a:ext cx="245067" cy="332399"/>
              </a:xfrm>
              <a:prstGeom prst="rect">
                <a:avLst/>
              </a:prstGeom>
              <a:blipFill>
                <a:blip r:embed="rId20"/>
                <a:stretch>
                  <a:fillRect l="-30000" r="-2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9" name="CuadroTexto 58">
                <a:extLst>
                  <a:ext uri="{FF2B5EF4-FFF2-40B4-BE49-F238E27FC236}">
                    <a16:creationId xmlns:a16="http://schemas.microsoft.com/office/drawing/2014/main" id="{9BAC93D8-E164-4E28-8240-7F6C507BE6C3}"/>
                  </a:ext>
                </a:extLst>
              </p:cNvPr>
              <p:cNvSpPr txBox="1"/>
              <p:nvPr/>
            </p:nvSpPr>
            <p:spPr>
              <a:xfrm>
                <a:off x="4960084" y="3721820"/>
                <a:ext cx="290143"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_</m:t>
                      </m:r>
                    </m:oMath>
                  </m:oMathPara>
                </a14:m>
                <a:endParaRPr lang="es-419" sz="2400">
                  <a:solidFill>
                    <a:prstClr val="white"/>
                  </a:solidFill>
                  <a:latin typeface="Corbel"/>
                </a:endParaRPr>
              </a:p>
            </p:txBody>
          </p:sp>
        </mc:Choice>
        <mc:Fallback>
          <p:sp>
            <p:nvSpPr>
              <p:cNvPr id="59" name="CuadroTexto 58">
                <a:extLst>
                  <a:ext uri="{FF2B5EF4-FFF2-40B4-BE49-F238E27FC236}">
                    <a16:creationId xmlns:a16="http://schemas.microsoft.com/office/drawing/2014/main" id="{9BAC93D8-E164-4E28-8240-7F6C507BE6C3}"/>
                  </a:ext>
                </a:extLst>
              </p:cNvPr>
              <p:cNvSpPr txBox="1">
                <a:spLocks noRot="1" noChangeAspect="1" noMove="1" noResize="1" noEditPoints="1" noAdjustHandles="1" noChangeArrowheads="1" noChangeShapeType="1" noTextEdit="1"/>
              </p:cNvSpPr>
              <p:nvPr/>
            </p:nvSpPr>
            <p:spPr>
              <a:xfrm>
                <a:off x="4960084" y="3721820"/>
                <a:ext cx="290143" cy="33239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0" name="CuadroTexto 59">
                <a:extLst>
                  <a:ext uri="{FF2B5EF4-FFF2-40B4-BE49-F238E27FC236}">
                    <a16:creationId xmlns:a16="http://schemas.microsoft.com/office/drawing/2014/main" id="{9A67B549-B7AC-4F3A-8300-4BA35236DDE5}"/>
                  </a:ext>
                </a:extLst>
              </p:cNvPr>
              <p:cNvSpPr txBox="1"/>
              <p:nvPr/>
            </p:nvSpPr>
            <p:spPr>
              <a:xfrm>
                <a:off x="5308137" y="3334266"/>
                <a:ext cx="245067" cy="332399"/>
              </a:xfrm>
              <a:prstGeom prst="rect">
                <a:avLst/>
              </a:prstGeom>
              <a:noFill/>
            </p:spPr>
            <p:txBody>
              <a:bodyPr wrap="squar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𝑣</m:t>
                      </m:r>
                    </m:oMath>
                  </m:oMathPara>
                </a14:m>
                <a:endParaRPr lang="es-419" sz="3200">
                  <a:solidFill>
                    <a:prstClr val="white"/>
                  </a:solidFill>
                  <a:latin typeface="Corbel"/>
                </a:endParaRPr>
              </a:p>
            </p:txBody>
          </p:sp>
        </mc:Choice>
        <mc:Fallback>
          <p:sp>
            <p:nvSpPr>
              <p:cNvPr id="60" name="CuadroTexto 59">
                <a:extLst>
                  <a:ext uri="{FF2B5EF4-FFF2-40B4-BE49-F238E27FC236}">
                    <a16:creationId xmlns:a16="http://schemas.microsoft.com/office/drawing/2014/main" id="{9A67B549-B7AC-4F3A-8300-4BA35236DDE5}"/>
                  </a:ext>
                </a:extLst>
              </p:cNvPr>
              <p:cNvSpPr txBox="1">
                <a:spLocks noRot="1" noChangeAspect="1" noMove="1" noResize="1" noEditPoints="1" noAdjustHandles="1" noChangeArrowheads="1" noChangeShapeType="1" noTextEdit="1"/>
              </p:cNvSpPr>
              <p:nvPr/>
            </p:nvSpPr>
            <p:spPr>
              <a:xfrm>
                <a:off x="5308137" y="3334266"/>
                <a:ext cx="245067" cy="332399"/>
              </a:xfrm>
              <a:prstGeom prst="rect">
                <a:avLst/>
              </a:prstGeom>
              <a:blipFill>
                <a:blip r:embed="rId22"/>
                <a:stretch>
                  <a:fillRect l="-17500" r="-15000" b="-1852"/>
                </a:stretch>
              </a:blipFill>
            </p:spPr>
            <p:txBody>
              <a:bodyPr/>
              <a:lstStyle/>
              <a:p>
                <a:r>
                  <a:rPr lang="en-US">
                    <a:noFill/>
                  </a:rPr>
                  <a:t> </a:t>
                </a:r>
              </a:p>
            </p:txBody>
          </p:sp>
        </mc:Fallback>
      </mc:AlternateContent>
      <p:pic>
        <p:nvPicPr>
          <p:cNvPr id="61" name="Imagen 60">
            <a:extLst>
              <a:ext uri="{FF2B5EF4-FFF2-40B4-BE49-F238E27FC236}">
                <a16:creationId xmlns:a16="http://schemas.microsoft.com/office/drawing/2014/main" id="{32DF63BC-B875-49E0-848D-D9563284FCFD}"/>
              </a:ext>
            </a:extLst>
          </p:cNvPr>
          <p:cNvPicPr>
            <a:picLocks noChangeAspect="1"/>
          </p:cNvPicPr>
          <p:nvPr>
            <p:custDataLst>
              <p:tags r:id="rId1"/>
            </p:custDataLst>
          </p:nvPr>
        </p:nvPicPr>
        <p:blipFill>
          <a:blip r:embed="rId23" cstate="print">
            <a:lum bright="70000" contrast="-70000"/>
            <a:extLst>
              <a:ext uri="{28A0092B-C50C-407E-A947-70E740481C1C}">
                <a14:useLocalDpi xmlns:a14="http://schemas.microsoft.com/office/drawing/2010/main" val="0"/>
              </a:ext>
            </a:extLst>
          </a:blip>
          <a:stretch>
            <a:fillRect/>
          </a:stretch>
        </p:blipFill>
        <p:spPr>
          <a:xfrm>
            <a:off x="741975" y="1821854"/>
            <a:ext cx="6147656" cy="305371"/>
          </a:xfrm>
          <a:prstGeom prst="rect">
            <a:avLst/>
          </a:prstGeom>
        </p:spPr>
      </p:pic>
      <p:pic>
        <p:nvPicPr>
          <p:cNvPr id="62" name="Imagen 61">
            <a:extLst>
              <a:ext uri="{FF2B5EF4-FFF2-40B4-BE49-F238E27FC236}">
                <a16:creationId xmlns:a16="http://schemas.microsoft.com/office/drawing/2014/main" id="{CADE9B90-FEC5-4314-B47E-A8E03050EEB5}"/>
              </a:ext>
            </a:extLst>
          </p:cNvPr>
          <p:cNvPicPr>
            <a:picLocks noChangeAspect="1"/>
          </p:cNvPicPr>
          <p:nvPr>
            <p:custDataLst>
              <p:tags r:id="rId2"/>
            </p:custDataLst>
          </p:nvPr>
        </p:nvPicPr>
        <p:blipFill>
          <a:blip r:embed="rId24" cstate="print">
            <a:lum bright="70000" contrast="-70000"/>
            <a:extLst>
              <a:ext uri="{28A0092B-C50C-407E-A947-70E740481C1C}">
                <a14:useLocalDpi xmlns:a14="http://schemas.microsoft.com/office/drawing/2010/main" val="0"/>
              </a:ext>
            </a:extLst>
          </a:blip>
          <a:stretch>
            <a:fillRect/>
          </a:stretch>
        </p:blipFill>
        <p:spPr>
          <a:xfrm>
            <a:off x="714066" y="2310458"/>
            <a:ext cx="1952914" cy="305371"/>
          </a:xfrm>
          <a:prstGeom prst="rect">
            <a:avLst/>
          </a:prstGeom>
        </p:spPr>
      </p:pic>
    </p:spTree>
    <p:extLst>
      <p:ext uri="{BB962C8B-B14F-4D97-AF65-F5344CB8AC3E}">
        <p14:creationId xmlns:p14="http://schemas.microsoft.com/office/powerpoint/2010/main" val="25385632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par>
                                <p:cTn id="74" presetID="10" presetClass="entr" presetSubtype="0" fill="hold"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par>
                                <p:cTn id="77" presetID="10" presetClass="entr" presetSubtype="0" fill="hold" nodeType="withEffect">
                                  <p:stCondLst>
                                    <p:cond delay="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500"/>
                                        <p:tgtEl>
                                          <p:spTgt spid="35"/>
                                        </p:tgtEl>
                                      </p:cBhvr>
                                    </p:animEffect>
                                  </p:childTnLst>
                                </p:cTn>
                              </p:par>
                              <p:par>
                                <p:cTn id="80" presetID="10" presetClass="entr" presetSubtype="0" fill="hold" nodeType="with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500"/>
                                        <p:tgtEl>
                                          <p:spTgt spid="36"/>
                                        </p:tgtEl>
                                      </p:cBhvr>
                                    </p:animEffect>
                                  </p:childTnLst>
                                </p:cTn>
                              </p:par>
                              <p:par>
                                <p:cTn id="83" presetID="10"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10" presetClass="entr" presetSubtype="0" fill="hold"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5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500"/>
                                        <p:tgtEl>
                                          <p:spTgt spid="42"/>
                                        </p:tgtEl>
                                      </p:cBhvr>
                                    </p:animEffect>
                                  </p:childTnLst>
                                </p:cTn>
                              </p:par>
                              <p:par>
                                <p:cTn id="101" presetID="10" presetClass="entr" presetSubtype="0" fill="hold"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500"/>
                                        <p:tgtEl>
                                          <p:spTgt spid="43"/>
                                        </p:tgtEl>
                                      </p:cBhvr>
                                    </p:animEffect>
                                  </p:childTnLst>
                                </p:cTn>
                              </p:par>
                              <p:par>
                                <p:cTn id="104" presetID="10" presetClass="entr" presetSubtype="0" fill="hold"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childTnLst>
                                </p:cTn>
                              </p:par>
                              <p:par>
                                <p:cTn id="107" presetID="10" presetClass="entr" presetSubtype="0" fill="hold" nodeType="with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500"/>
                                        <p:tgtEl>
                                          <p:spTgt spid="4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500"/>
                                        <p:tgtEl>
                                          <p:spTgt spid="4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500"/>
                                        <p:tgtEl>
                                          <p:spTgt spid="47"/>
                                        </p:tgtEl>
                                      </p:cBhvr>
                                    </p:animEffect>
                                  </p:childTnLst>
                                </p:cTn>
                              </p:par>
                              <p:par>
                                <p:cTn id="116" presetID="10" presetClass="entr" presetSubtype="0" fill="hold" nodeType="with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500"/>
                                        <p:tgtEl>
                                          <p:spTgt spid="4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54"/>
                                        </p:tgtEl>
                                        <p:attrNameLst>
                                          <p:attrName>style.visibility</p:attrName>
                                        </p:attrNameLst>
                                      </p:cBhvr>
                                      <p:to>
                                        <p:strVal val="visible"/>
                                      </p:to>
                                    </p:set>
                                    <p:animEffect transition="in" filter="fade">
                                      <p:cBhvr>
                                        <p:cTn id="121" dur="500"/>
                                        <p:tgtEl>
                                          <p:spTgt spid="5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9"/>
                                        </p:tgtEl>
                                        <p:attrNameLst>
                                          <p:attrName>style.visibility</p:attrName>
                                        </p:attrNameLst>
                                      </p:cBhvr>
                                      <p:to>
                                        <p:strVal val="visible"/>
                                      </p:to>
                                    </p:set>
                                    <p:animEffect transition="in" filter="fade">
                                      <p:cBhvr>
                                        <p:cTn id="124" dur="500"/>
                                        <p:tgtEl>
                                          <p:spTgt spid="5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0"/>
                                        </p:tgtEl>
                                        <p:attrNameLst>
                                          <p:attrName>style.visibility</p:attrName>
                                        </p:attrNameLst>
                                      </p:cBhvr>
                                      <p:to>
                                        <p:strVal val="visible"/>
                                      </p:to>
                                    </p:set>
                                    <p:animEffect transition="in" filter="fade">
                                      <p:cBhvr>
                                        <p:cTn id="12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P spid="15" grpId="0" animBg="1"/>
      <p:bldP spid="16" grpId="0" animBg="1"/>
      <p:bldP spid="21" grpId="0"/>
      <p:bldP spid="22" grpId="0"/>
      <p:bldP spid="23" grpId="0"/>
      <p:bldP spid="24" grpId="0"/>
      <p:bldP spid="25" grpId="0" animBg="1"/>
      <p:bldP spid="26" grpId="0"/>
      <p:bldP spid="27" grpId="0" animBg="1"/>
      <p:bldP spid="29" grpId="0" animBg="1"/>
      <p:bldP spid="30" grpId="0"/>
      <p:bldP spid="31" grpId="0"/>
      <p:bldP spid="32" grpId="0"/>
      <p:bldP spid="33" grpId="0" animBg="1"/>
      <p:bldP spid="39" grpId="0" animBg="1"/>
      <p:bldP spid="40" grpId="0" animBg="1"/>
      <p:bldP spid="41" grpId="0"/>
      <p:bldP spid="42" grpId="0"/>
      <p:bldP spid="46" grpId="0"/>
      <p:bldP spid="47" grpId="0"/>
      <p:bldP spid="54" grpId="0"/>
      <p:bldP spid="59" grpId="0"/>
      <p:bldP spid="6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A73D56A-D7F6-444A-857F-26FD53D40E20}"/>
                  </a:ext>
                </a:extLst>
              </p:cNvPr>
              <p:cNvSpPr>
                <a:spLocks noGrp="1"/>
              </p:cNvSpPr>
              <p:nvPr>
                <p:ph idx="1"/>
              </p:nvPr>
            </p:nvSpPr>
            <p:spPr>
              <a:xfrm>
                <a:off x="57547" y="1600200"/>
                <a:ext cx="12076907" cy="1143000"/>
              </a:xfrm>
            </p:spPr>
            <p:txBody>
              <a:bodyPr/>
              <a:lstStyle/>
              <a:p>
                <a:pPr marL="0" indent="0">
                  <a:buNone/>
                </a:pPr>
                <a:r>
                  <a:rPr lang="es-ES"/>
                  <a:t>Si el sistema en </a:t>
                </a:r>
                <a:r>
                  <a:rPr lang="es-ES">
                    <a:solidFill>
                      <a:srgbClr val="FFFF00"/>
                    </a:solidFill>
                  </a:rPr>
                  <a:t>lazo cerrado </a:t>
                </a:r>
                <a:r>
                  <a:rPr lang="es-ES"/>
                  <a:t>en el espacio de estados del diagrama anterior, se representa por medio de una </a:t>
                </a:r>
                <a:r>
                  <a:rPr lang="es-ES">
                    <a:solidFill>
                      <a:srgbClr val="FFFF00"/>
                    </a:solidFill>
                  </a:rPr>
                  <a:t>función de transferencia </a:t>
                </a:r>
                <a14:m>
                  <m:oMath xmlns:m="http://schemas.openxmlformats.org/officeDocument/2006/math">
                    <m:r>
                      <a:rPr lang="es-ES" i="1" dirty="0" smtClean="0">
                        <a:solidFill>
                          <a:srgbClr val="FFFF00"/>
                        </a:solidFill>
                        <a:latin typeface="Cambria Math" panose="02040503050406030204" pitchFamily="18" charset="0"/>
                      </a:rPr>
                      <m:t>𝐺</m:t>
                    </m:r>
                    <m:r>
                      <a:rPr lang="es-ES" i="1" dirty="0" smtClean="0">
                        <a:solidFill>
                          <a:srgbClr val="FFFF00"/>
                        </a:solidFill>
                        <a:latin typeface="Cambria Math" panose="02040503050406030204" pitchFamily="18" charset="0"/>
                      </a:rPr>
                      <m:t>(</m:t>
                    </m:r>
                    <m:r>
                      <a:rPr lang="es-ES" i="1" dirty="0" smtClean="0">
                        <a:solidFill>
                          <a:srgbClr val="FFFF00"/>
                        </a:solidFill>
                        <a:latin typeface="Cambria Math" panose="02040503050406030204" pitchFamily="18" charset="0"/>
                      </a:rPr>
                      <m:t>𝑠</m:t>
                    </m:r>
                    <m:r>
                      <a:rPr lang="es-ES" i="1" dirty="0" smtClean="0">
                        <a:solidFill>
                          <a:srgbClr val="FFFF00"/>
                        </a:solidFill>
                        <a:latin typeface="Cambria Math" panose="02040503050406030204" pitchFamily="18" charset="0"/>
                      </a:rPr>
                      <m:t>)</m:t>
                    </m:r>
                  </m:oMath>
                </a14:m>
                <a:r>
                  <a:rPr lang="es-ES">
                    <a:solidFill>
                      <a:srgbClr val="FFFF00"/>
                    </a:solidFill>
                  </a:rPr>
                  <a:t> </a:t>
                </a:r>
                <a:r>
                  <a:rPr lang="es-ES"/>
                  <a:t>equivalente, que relaciona la señal de perturbación </a:t>
                </a:r>
                <a14:m>
                  <m:oMath xmlns:m="http://schemas.openxmlformats.org/officeDocument/2006/math">
                    <m:r>
                      <a:rPr lang="es-ES" i="1" dirty="0" smtClean="0">
                        <a:solidFill>
                          <a:srgbClr val="FFFF00"/>
                        </a:solidFill>
                        <a:latin typeface="Cambria Math" panose="02040503050406030204" pitchFamily="18" charset="0"/>
                      </a:rPr>
                      <m:t>𝑣</m:t>
                    </m:r>
                  </m:oMath>
                </a14:m>
                <a:r>
                  <a:rPr lang="es-ES"/>
                  <a:t> con la señal de salida </a:t>
                </a:r>
                <a14:m>
                  <m:oMath xmlns:m="http://schemas.openxmlformats.org/officeDocument/2006/math">
                    <m:r>
                      <a:rPr lang="es-ES" i="1" dirty="0" smtClean="0">
                        <a:solidFill>
                          <a:srgbClr val="FFFF00"/>
                        </a:solidFill>
                        <a:latin typeface="Cambria Math" panose="02040503050406030204" pitchFamily="18" charset="0"/>
                      </a:rPr>
                      <m:t>𝑦</m:t>
                    </m:r>
                  </m:oMath>
                </a14:m>
                <a:r>
                  <a:rPr lang="es-ES"/>
                  <a:t> considerando una realimentación  </a:t>
                </a:r>
                <a14:m>
                  <m:oMath xmlns:m="http://schemas.openxmlformats.org/officeDocument/2006/math">
                    <m:r>
                      <a:rPr lang="es-ES" i="1" dirty="0" smtClean="0">
                        <a:solidFill>
                          <a:srgbClr val="FFFF00"/>
                        </a:solidFill>
                        <a:latin typeface="Cambria Math" panose="02040503050406030204" pitchFamily="18" charset="0"/>
                      </a:rPr>
                      <m:t>−</m:t>
                    </m:r>
                    <m:sSub>
                      <m:sSubPr>
                        <m:ctrlPr>
                          <a:rPr lang="es-ES" i="1" dirty="0" smtClean="0">
                            <a:solidFill>
                              <a:srgbClr val="FFFF00"/>
                            </a:solidFill>
                            <a:latin typeface="Cambria Math" panose="02040503050406030204" pitchFamily="18" charset="0"/>
                          </a:rPr>
                        </m:ctrlPr>
                      </m:sSubPr>
                      <m:e>
                        <m:r>
                          <a:rPr lang="es-ES" i="1" dirty="0" smtClean="0">
                            <a:solidFill>
                              <a:srgbClr val="FFFF00"/>
                            </a:solidFill>
                            <a:latin typeface="Cambria Math" panose="02040503050406030204" pitchFamily="18" charset="0"/>
                          </a:rPr>
                          <m:t>𝐾</m:t>
                        </m:r>
                      </m:e>
                      <m:sub>
                        <m:r>
                          <a:rPr lang="es-ES" i="1" dirty="0" smtClean="0">
                            <a:solidFill>
                              <a:srgbClr val="FFFF00"/>
                            </a:solidFill>
                            <a:latin typeface="Cambria Math" panose="02040503050406030204" pitchFamily="18" charset="0"/>
                          </a:rPr>
                          <m:t>1</m:t>
                        </m:r>
                      </m:sub>
                    </m:sSub>
                    <m:r>
                      <a:rPr lang="es-ES" i="1" dirty="0" smtClean="0">
                        <a:solidFill>
                          <a:srgbClr val="FFFF00"/>
                        </a:solidFill>
                        <a:latin typeface="Cambria Math" panose="02040503050406030204" pitchFamily="18" charset="0"/>
                      </a:rPr>
                      <m:t>𝑥</m:t>
                    </m:r>
                  </m:oMath>
                </a14:m>
                <a:r>
                  <a:rPr lang="es-ES"/>
                  <a:t>:</a:t>
                </a:r>
                <a:endParaRPr lang="es-419"/>
              </a:p>
            </p:txBody>
          </p:sp>
        </mc:Choice>
        <mc:Fallback>
          <p:sp>
            <p:nvSpPr>
              <p:cNvPr id="3" name="Marcador de contenido 2">
                <a:extLst>
                  <a:ext uri="{FF2B5EF4-FFF2-40B4-BE49-F238E27FC236}">
                    <a16:creationId xmlns:a16="http://schemas.microsoft.com/office/drawing/2014/main" id="{6A73D56A-D7F6-444A-857F-26FD53D40E20}"/>
                  </a:ext>
                </a:extLst>
              </p:cNvPr>
              <p:cNvSpPr>
                <a:spLocks noGrp="1" noRot="1" noChangeAspect="1" noMove="1" noResize="1" noEditPoints="1" noAdjustHandles="1" noChangeArrowheads="1" noChangeShapeType="1" noTextEdit="1"/>
              </p:cNvSpPr>
              <p:nvPr>
                <p:ph idx="1"/>
              </p:nvPr>
            </p:nvSpPr>
            <p:spPr>
              <a:xfrm>
                <a:off x="57547" y="1600200"/>
                <a:ext cx="12076907" cy="1143000"/>
              </a:xfrm>
              <a:blipFill>
                <a:blip r:embed="rId5"/>
                <a:stretch>
                  <a:fillRect l="-757" t="-7487" r="-1211" b="-64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0C631140-C43D-4537-AD27-0D500C7FFD09}"/>
                  </a:ext>
                </a:extLst>
              </p:cNvPr>
              <p:cNvSpPr/>
              <p:nvPr/>
            </p:nvSpPr>
            <p:spPr>
              <a:xfrm>
                <a:off x="9982201" y="4379473"/>
                <a:ext cx="877783"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sz="2800" dirty="0">
                          <a:solidFill>
                            <a:prstClr val="white"/>
                          </a:solidFill>
                          <a:latin typeface="Corbel"/>
                        </a:rPr>
                        <m:t>G</m:t>
                      </m:r>
                      <m:r>
                        <m:rPr>
                          <m:nor/>
                        </m:rPr>
                        <a:rPr lang="en-US" sz="2800" dirty="0">
                          <a:solidFill>
                            <a:prstClr val="white"/>
                          </a:solidFill>
                          <a:latin typeface="Corbel"/>
                        </a:rPr>
                        <m:t>(</m:t>
                      </m:r>
                      <m:r>
                        <m:rPr>
                          <m:nor/>
                        </m:rPr>
                        <a:rPr lang="en-US" sz="2800" dirty="0">
                          <a:solidFill>
                            <a:prstClr val="white"/>
                          </a:solidFill>
                          <a:latin typeface="Corbel"/>
                        </a:rPr>
                        <m:t>s</m:t>
                      </m:r>
                      <m:r>
                        <m:rPr>
                          <m:nor/>
                        </m:rPr>
                        <a:rPr lang="en-US" sz="2800" dirty="0">
                          <a:solidFill>
                            <a:prstClr val="white"/>
                          </a:solidFill>
                          <a:latin typeface="Corbel"/>
                        </a:rPr>
                        <m:t>)</m:t>
                      </m:r>
                    </m:oMath>
                  </m:oMathPara>
                </a14:m>
                <a:endParaRPr lang="es-419" sz="2800">
                  <a:solidFill>
                    <a:prstClr val="white"/>
                  </a:solidFill>
                  <a:latin typeface="Corbel"/>
                </a:endParaRPr>
              </a:p>
            </p:txBody>
          </p:sp>
        </mc:Choice>
        <mc:Fallback>
          <p:sp>
            <p:nvSpPr>
              <p:cNvPr id="4" name="Rectángulo 3">
                <a:extLst>
                  <a:ext uri="{FF2B5EF4-FFF2-40B4-BE49-F238E27FC236}">
                    <a16:creationId xmlns:a16="http://schemas.microsoft.com/office/drawing/2014/main" id="{0C631140-C43D-4537-AD27-0D500C7FFD09}"/>
                  </a:ext>
                </a:extLst>
              </p:cNvPr>
              <p:cNvSpPr>
                <a:spLocks noRot="1" noChangeAspect="1" noMove="1" noResize="1" noEditPoints="1" noAdjustHandles="1" noChangeArrowheads="1" noChangeShapeType="1" noTextEdit="1"/>
              </p:cNvSpPr>
              <p:nvPr/>
            </p:nvSpPr>
            <p:spPr>
              <a:xfrm>
                <a:off x="9982201" y="4379473"/>
                <a:ext cx="877783" cy="1020762"/>
              </a:xfrm>
              <a:prstGeom prst="rect">
                <a:avLst/>
              </a:prstGeom>
              <a:blipFill>
                <a:blip r:embed="rId6"/>
                <a:stretch>
                  <a:fillRect/>
                </a:stretch>
              </a:blipFill>
              <a:ln w="57150">
                <a:solidFill>
                  <a:schemeClr val="tx1"/>
                </a:solidFill>
                <a:miter lim="800000"/>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AA362E4-1E9B-455E-BBBD-EE8C729377C5}"/>
              </a:ext>
            </a:extLst>
          </p:cNvPr>
          <p:cNvCxnSpPr>
            <a:cxnSpLocks/>
            <a:stCxn id="8" idx="6"/>
            <a:endCxn id="14" idx="1"/>
          </p:cNvCxnSpPr>
          <p:nvPr/>
        </p:nvCxnSpPr>
        <p:spPr>
          <a:xfrm>
            <a:off x="6118338" y="4878073"/>
            <a:ext cx="737821" cy="4743"/>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869D572D-134D-431E-9E61-39F7EEF3FE7C}"/>
              </a:ext>
            </a:extLst>
          </p:cNvPr>
          <p:cNvCxnSpPr>
            <a:cxnSpLocks/>
            <a:endCxn id="8" idx="2"/>
          </p:cNvCxnSpPr>
          <p:nvPr/>
        </p:nvCxnSpPr>
        <p:spPr>
          <a:xfrm>
            <a:off x="4822937" y="4878072"/>
            <a:ext cx="762000"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058032EE-1C3F-4560-9EE8-AB32098A6848}"/>
              </a:ext>
            </a:extLst>
          </p:cNvPr>
          <p:cNvCxnSpPr>
            <a:cxnSpLocks/>
            <a:stCxn id="4" idx="3"/>
          </p:cNvCxnSpPr>
          <p:nvPr/>
        </p:nvCxnSpPr>
        <p:spPr>
          <a:xfrm>
            <a:off x="10859984" y="4889854"/>
            <a:ext cx="935255" cy="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 name="Elipse 7">
            <a:extLst>
              <a:ext uri="{FF2B5EF4-FFF2-40B4-BE49-F238E27FC236}">
                <a16:creationId xmlns:a16="http://schemas.microsoft.com/office/drawing/2014/main" id="{CF93D14C-6F69-45E9-9911-7CF016EA224F}"/>
              </a:ext>
            </a:extLst>
          </p:cNvPr>
          <p:cNvSpPr/>
          <p:nvPr/>
        </p:nvSpPr>
        <p:spPr>
          <a:xfrm>
            <a:off x="5584937" y="4611372"/>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cxnSp>
        <p:nvCxnSpPr>
          <p:cNvPr id="9" name="Conector: angular 8">
            <a:extLst>
              <a:ext uri="{FF2B5EF4-FFF2-40B4-BE49-F238E27FC236}">
                <a16:creationId xmlns:a16="http://schemas.microsoft.com/office/drawing/2014/main" id="{6F822FCC-4E39-4811-9BBA-BA3DBED85F53}"/>
              </a:ext>
            </a:extLst>
          </p:cNvPr>
          <p:cNvCxnSpPr>
            <a:cxnSpLocks/>
            <a:endCxn id="8" idx="4"/>
          </p:cNvCxnSpPr>
          <p:nvPr/>
        </p:nvCxnSpPr>
        <p:spPr>
          <a:xfrm rot="10800000" flipV="1">
            <a:off x="5851637" y="4882815"/>
            <a:ext cx="5331878" cy="261957"/>
          </a:xfrm>
          <a:prstGeom prst="bentConnector4">
            <a:avLst>
              <a:gd name="adj1" fmla="val 845"/>
              <a:gd name="adj2" fmla="val 416223"/>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0404EBD1-8105-49EE-8714-D74153FC50FB}"/>
                  </a:ext>
                </a:extLst>
              </p:cNvPr>
              <p:cNvSpPr txBox="1"/>
              <p:nvPr/>
            </p:nvSpPr>
            <p:spPr>
              <a:xfrm>
                <a:off x="5584938" y="4711873"/>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0" name="CuadroTexto 9">
                <a:extLst>
                  <a:ext uri="{FF2B5EF4-FFF2-40B4-BE49-F238E27FC236}">
                    <a16:creationId xmlns:a16="http://schemas.microsoft.com/office/drawing/2014/main" id="{0404EBD1-8105-49EE-8714-D74153FC50FB}"/>
                  </a:ext>
                </a:extLst>
              </p:cNvPr>
              <p:cNvSpPr txBox="1">
                <a:spLocks noRot="1" noChangeAspect="1" noMove="1" noResize="1" noEditPoints="1" noAdjustHandles="1" noChangeArrowheads="1" noChangeShapeType="1" noTextEdit="1"/>
              </p:cNvSpPr>
              <p:nvPr/>
            </p:nvSpPr>
            <p:spPr>
              <a:xfrm>
                <a:off x="5584938" y="4711873"/>
                <a:ext cx="290143" cy="332399"/>
              </a:xfrm>
              <a:prstGeom prst="rect">
                <a:avLst/>
              </a:prstGeom>
              <a:blipFill>
                <a:blip r:embed="rId7"/>
                <a:stretch>
                  <a:fillRect l="-22917" r="-20833" b="-74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F90D4961-F379-457F-A979-BFB675AEAA89}"/>
                  </a:ext>
                </a:extLst>
              </p:cNvPr>
              <p:cNvSpPr txBox="1"/>
              <p:nvPr/>
            </p:nvSpPr>
            <p:spPr>
              <a:xfrm>
                <a:off x="5716837" y="4862624"/>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1" name="CuadroTexto 10">
                <a:extLst>
                  <a:ext uri="{FF2B5EF4-FFF2-40B4-BE49-F238E27FC236}">
                    <a16:creationId xmlns:a16="http://schemas.microsoft.com/office/drawing/2014/main" id="{F90D4961-F379-457F-A979-BFB675AEAA89}"/>
                  </a:ext>
                </a:extLst>
              </p:cNvPr>
              <p:cNvSpPr txBox="1">
                <a:spLocks noRot="1" noChangeAspect="1" noMove="1" noResize="1" noEditPoints="1" noAdjustHandles="1" noChangeArrowheads="1" noChangeShapeType="1" noTextEdit="1"/>
              </p:cNvSpPr>
              <p:nvPr/>
            </p:nvSpPr>
            <p:spPr>
              <a:xfrm>
                <a:off x="5716837" y="4862624"/>
                <a:ext cx="290143" cy="332399"/>
              </a:xfrm>
              <a:prstGeom prst="rect">
                <a:avLst/>
              </a:prstGeom>
              <a:blipFill>
                <a:blip r:embed="rId8"/>
                <a:stretch>
                  <a:fillRect l="-8511" r="-63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039AEC18-F010-4705-A84E-E12D3EE73947}"/>
                  </a:ext>
                </a:extLst>
              </p:cNvPr>
              <p:cNvSpPr txBox="1"/>
              <p:nvPr/>
            </p:nvSpPr>
            <p:spPr>
              <a:xfrm>
                <a:off x="4358460" y="4412324"/>
                <a:ext cx="1168397"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srgbClr val="FFFF00"/>
                          </a:solidFill>
                          <a:latin typeface="Cambria Math" panose="02040503050406030204" pitchFamily="18" charset="0"/>
                        </a:rPr>
                        <m:t>𝑟</m:t>
                      </m:r>
                      <m:d>
                        <m:dPr>
                          <m:ctrlPr>
                            <a:rPr lang="en-US" sz="2400" i="1">
                              <a:solidFill>
                                <a:srgbClr val="FFFF00"/>
                              </a:solidFill>
                              <a:latin typeface="Cambria Math" panose="02040503050406030204" pitchFamily="18" charset="0"/>
                            </a:rPr>
                          </m:ctrlPr>
                        </m:dPr>
                        <m:e>
                          <m:r>
                            <a:rPr lang="en-US" sz="2400" i="1">
                              <a:solidFill>
                                <a:srgbClr val="FFFF00"/>
                              </a:solidFill>
                              <a:latin typeface="Cambria Math" panose="02040503050406030204" pitchFamily="18" charset="0"/>
                            </a:rPr>
                            <m:t>𝑡</m:t>
                          </m:r>
                        </m:e>
                      </m:d>
                      <m:r>
                        <a:rPr lang="en-US" sz="2400" i="1">
                          <a:solidFill>
                            <a:srgbClr val="FFFF00"/>
                          </a:solidFill>
                          <a:latin typeface="Cambria Math" panose="02040503050406030204" pitchFamily="18" charset="0"/>
                        </a:rPr>
                        <m:t>=</m:t>
                      </m:r>
                      <m:r>
                        <a:rPr lang="en-US" sz="2400" i="1">
                          <a:solidFill>
                            <a:srgbClr val="FFFF00"/>
                          </a:solidFill>
                          <a:latin typeface="Cambria Math" panose="02040503050406030204" pitchFamily="18" charset="0"/>
                        </a:rPr>
                        <m:t>0</m:t>
                      </m:r>
                    </m:oMath>
                  </m:oMathPara>
                </a14:m>
                <a:endParaRPr lang="es-419" sz="2400">
                  <a:solidFill>
                    <a:srgbClr val="FFFF00"/>
                  </a:solidFill>
                  <a:latin typeface="Corbel"/>
                </a:endParaRPr>
              </a:p>
            </p:txBody>
          </p:sp>
        </mc:Choice>
        <mc:Fallback>
          <p:sp>
            <p:nvSpPr>
              <p:cNvPr id="12" name="CuadroTexto 11">
                <a:extLst>
                  <a:ext uri="{FF2B5EF4-FFF2-40B4-BE49-F238E27FC236}">
                    <a16:creationId xmlns:a16="http://schemas.microsoft.com/office/drawing/2014/main" id="{039AEC18-F010-4705-A84E-E12D3EE73947}"/>
                  </a:ext>
                </a:extLst>
              </p:cNvPr>
              <p:cNvSpPr txBox="1">
                <a:spLocks noRot="1" noChangeAspect="1" noMove="1" noResize="1" noEditPoints="1" noAdjustHandles="1" noChangeArrowheads="1" noChangeShapeType="1" noTextEdit="1"/>
              </p:cNvSpPr>
              <p:nvPr/>
            </p:nvSpPr>
            <p:spPr>
              <a:xfrm>
                <a:off x="4358460" y="4412324"/>
                <a:ext cx="1168397" cy="332399"/>
              </a:xfrm>
              <a:prstGeom prst="rect">
                <a:avLst/>
              </a:prstGeom>
              <a:blipFill>
                <a:blip r:embed="rId9"/>
                <a:stretch>
                  <a:fillRect l="-3646" t="-3704" r="-5729" b="-74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8868EFDF-04E3-43D3-BAAE-0034498C05BF}"/>
                  </a:ext>
                </a:extLst>
              </p:cNvPr>
              <p:cNvSpPr txBox="1"/>
              <p:nvPr/>
            </p:nvSpPr>
            <p:spPr>
              <a:xfrm>
                <a:off x="10896090" y="4442908"/>
                <a:ext cx="623504"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𝑦</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3" name="CuadroTexto 12">
                <a:extLst>
                  <a:ext uri="{FF2B5EF4-FFF2-40B4-BE49-F238E27FC236}">
                    <a16:creationId xmlns:a16="http://schemas.microsoft.com/office/drawing/2014/main" id="{8868EFDF-04E3-43D3-BAAE-0034498C05BF}"/>
                  </a:ext>
                </a:extLst>
              </p:cNvPr>
              <p:cNvSpPr txBox="1">
                <a:spLocks noRot="1" noChangeAspect="1" noMove="1" noResize="1" noEditPoints="1" noAdjustHandles="1" noChangeArrowheads="1" noChangeShapeType="1" noTextEdit="1"/>
              </p:cNvSpPr>
              <p:nvPr/>
            </p:nvSpPr>
            <p:spPr>
              <a:xfrm>
                <a:off x="10896090" y="4442908"/>
                <a:ext cx="623504" cy="332399"/>
              </a:xfrm>
              <a:prstGeom prst="rect">
                <a:avLst/>
              </a:prstGeom>
              <a:blipFill>
                <a:blip r:embed="rId10"/>
                <a:stretch>
                  <a:fillRect l="-12621" t="-11111" r="-17476" b="-388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ángulo 13">
                <a:extLst>
                  <a:ext uri="{FF2B5EF4-FFF2-40B4-BE49-F238E27FC236}">
                    <a16:creationId xmlns:a16="http://schemas.microsoft.com/office/drawing/2014/main" id="{664231EB-6C55-4C31-8518-BB59C63A97B4}"/>
                  </a:ext>
                </a:extLst>
              </p:cNvPr>
              <p:cNvSpPr/>
              <p:nvPr/>
            </p:nvSpPr>
            <p:spPr>
              <a:xfrm>
                <a:off x="6856158" y="4372434"/>
                <a:ext cx="476128"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s-419" sz="2400" i="1">
                              <a:solidFill>
                                <a:prstClr val="white"/>
                              </a:solidFill>
                              <a:latin typeface="Cambria Math" panose="02040503050406030204" pitchFamily="18" charset="0"/>
                            </a:rPr>
                          </m:ctrlPr>
                        </m:fPr>
                        <m:num>
                          <m:r>
                            <a:rPr lang="en-US" sz="2400" i="1">
                              <a:solidFill>
                                <a:prstClr val="white"/>
                              </a:solidFill>
                              <a:latin typeface="Cambria Math" panose="02040503050406030204" pitchFamily="18" charset="0"/>
                            </a:rPr>
                            <m:t>1</m:t>
                          </m:r>
                        </m:num>
                        <m:den>
                          <m:r>
                            <a:rPr lang="en-US" sz="2400" i="1">
                              <a:solidFill>
                                <a:prstClr val="white"/>
                              </a:solidFill>
                              <a:latin typeface="Cambria Math" panose="02040503050406030204" pitchFamily="18" charset="0"/>
                            </a:rPr>
                            <m:t>𝑠</m:t>
                          </m:r>
                        </m:den>
                      </m:f>
                    </m:oMath>
                  </m:oMathPara>
                </a14:m>
                <a:endParaRPr lang="es-419" sz="2400">
                  <a:solidFill>
                    <a:prstClr val="white"/>
                  </a:solidFill>
                  <a:latin typeface="Corbel"/>
                </a:endParaRPr>
              </a:p>
            </p:txBody>
          </p:sp>
        </mc:Choice>
        <mc:Fallback>
          <p:sp>
            <p:nvSpPr>
              <p:cNvPr id="14" name="Rectángulo 13">
                <a:extLst>
                  <a:ext uri="{FF2B5EF4-FFF2-40B4-BE49-F238E27FC236}">
                    <a16:creationId xmlns:a16="http://schemas.microsoft.com/office/drawing/2014/main" id="{664231EB-6C55-4C31-8518-BB59C63A97B4}"/>
                  </a:ext>
                </a:extLst>
              </p:cNvPr>
              <p:cNvSpPr>
                <a:spLocks noRot="1" noChangeAspect="1" noMove="1" noResize="1" noEditPoints="1" noAdjustHandles="1" noChangeArrowheads="1" noChangeShapeType="1" noTextEdit="1"/>
              </p:cNvSpPr>
              <p:nvPr/>
            </p:nvSpPr>
            <p:spPr>
              <a:xfrm>
                <a:off x="6856158" y="4372434"/>
                <a:ext cx="476128" cy="1020762"/>
              </a:xfrm>
              <a:prstGeom prst="rect">
                <a:avLst/>
              </a:prstGeom>
              <a:blipFill>
                <a:blip r:embed="rId11"/>
                <a:stretch>
                  <a:fillRect/>
                </a:stretch>
              </a:blipFill>
              <a:ln w="57150">
                <a:solidFill>
                  <a:schemeClr val="tx1"/>
                </a:solidFill>
                <a:miter lim="800000"/>
              </a:ln>
            </p:spPr>
            <p:txBody>
              <a:bodyPr/>
              <a:lstStyle/>
              <a:p>
                <a:r>
                  <a:rPr lang="en-US">
                    <a:noFill/>
                  </a:rPr>
                  <a:t> </a:t>
                </a:r>
              </a:p>
            </p:txBody>
          </p:sp>
        </mc:Fallback>
      </mc:AlternateContent>
      <p:cxnSp>
        <p:nvCxnSpPr>
          <p:cNvPr id="15" name="Conector recto de flecha 14">
            <a:extLst>
              <a:ext uri="{FF2B5EF4-FFF2-40B4-BE49-F238E27FC236}">
                <a16:creationId xmlns:a16="http://schemas.microsoft.com/office/drawing/2014/main" id="{32B3AAAA-ED22-4D1E-9969-BCE39BA9DB6E}"/>
              </a:ext>
            </a:extLst>
          </p:cNvPr>
          <p:cNvCxnSpPr>
            <a:cxnSpLocks/>
            <a:stCxn id="33" idx="3"/>
            <a:endCxn id="20" idx="2"/>
          </p:cNvCxnSpPr>
          <p:nvPr/>
        </p:nvCxnSpPr>
        <p:spPr>
          <a:xfrm>
            <a:off x="8444564" y="4889854"/>
            <a:ext cx="623747" cy="73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1275D4BF-7017-42F0-AD8B-EE852FE04256}"/>
                  </a:ext>
                </a:extLst>
              </p:cNvPr>
              <p:cNvSpPr txBox="1"/>
              <p:nvPr/>
            </p:nvSpPr>
            <p:spPr>
              <a:xfrm>
                <a:off x="6118338" y="4379474"/>
                <a:ext cx="6057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𝑒</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6" name="CuadroTexto 15">
                <a:extLst>
                  <a:ext uri="{FF2B5EF4-FFF2-40B4-BE49-F238E27FC236}">
                    <a16:creationId xmlns:a16="http://schemas.microsoft.com/office/drawing/2014/main" id="{1275D4BF-7017-42F0-AD8B-EE852FE04256}"/>
                  </a:ext>
                </a:extLst>
              </p:cNvPr>
              <p:cNvSpPr txBox="1">
                <a:spLocks noRot="1" noChangeAspect="1" noMove="1" noResize="1" noEditPoints="1" noAdjustHandles="1" noChangeArrowheads="1" noChangeShapeType="1" noTextEdit="1"/>
              </p:cNvSpPr>
              <p:nvPr/>
            </p:nvSpPr>
            <p:spPr>
              <a:xfrm>
                <a:off x="6118338" y="4379474"/>
                <a:ext cx="605743" cy="332399"/>
              </a:xfrm>
              <a:prstGeom prst="rect">
                <a:avLst/>
              </a:prstGeom>
              <a:blipFill>
                <a:blip r:embed="rId12"/>
                <a:stretch>
                  <a:fillRect l="-8081" t="-10909" r="-18182"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4204393F-DD22-45AB-B6B1-726EB50DA23D}"/>
                  </a:ext>
                </a:extLst>
              </p:cNvPr>
              <p:cNvSpPr txBox="1"/>
              <p:nvPr/>
            </p:nvSpPr>
            <p:spPr>
              <a:xfrm>
                <a:off x="8515247" y="4366442"/>
                <a:ext cx="630878"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𝑢</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7" name="CuadroTexto 16">
                <a:extLst>
                  <a:ext uri="{FF2B5EF4-FFF2-40B4-BE49-F238E27FC236}">
                    <a16:creationId xmlns:a16="http://schemas.microsoft.com/office/drawing/2014/main" id="{4204393F-DD22-45AB-B6B1-726EB50DA23D}"/>
                  </a:ext>
                </a:extLst>
              </p:cNvPr>
              <p:cNvSpPr txBox="1">
                <a:spLocks noRot="1" noChangeAspect="1" noMove="1" noResize="1" noEditPoints="1" noAdjustHandles="1" noChangeArrowheads="1" noChangeShapeType="1" noTextEdit="1"/>
              </p:cNvSpPr>
              <p:nvPr/>
            </p:nvSpPr>
            <p:spPr>
              <a:xfrm>
                <a:off x="8515247" y="4366442"/>
                <a:ext cx="630878" cy="332399"/>
              </a:xfrm>
              <a:prstGeom prst="rect">
                <a:avLst/>
              </a:prstGeom>
              <a:blipFill>
                <a:blip r:embed="rId13"/>
                <a:stretch>
                  <a:fillRect l="-7767" t="-10909" r="-17476" b="-381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CuadroTexto 17">
                <a:extLst>
                  <a:ext uri="{FF2B5EF4-FFF2-40B4-BE49-F238E27FC236}">
                    <a16:creationId xmlns:a16="http://schemas.microsoft.com/office/drawing/2014/main" id="{813822B2-DF2D-462F-8B16-AE23A2C390B6}"/>
                  </a:ext>
                </a:extLst>
              </p:cNvPr>
              <p:cNvSpPr txBox="1"/>
              <p:nvPr/>
            </p:nvSpPr>
            <p:spPr>
              <a:xfrm>
                <a:off x="9068310" y="3712539"/>
                <a:ext cx="683392"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𝑤</m:t>
                      </m:r>
                      <m:r>
                        <a:rPr lang="en-US" sz="2400" i="1">
                          <a:solidFill>
                            <a:prstClr val="white"/>
                          </a:solidFill>
                          <a:latin typeface="Cambria Math" panose="02040503050406030204" pitchFamily="18" charset="0"/>
                        </a:rPr>
                        <m:t>(</m:t>
                      </m:r>
                      <m:r>
                        <a:rPr lang="en-US" sz="2400" i="1">
                          <a:solidFill>
                            <a:prstClr val="white"/>
                          </a:solidFill>
                          <a:latin typeface="Cambria Math" panose="02040503050406030204" pitchFamily="18" charset="0"/>
                        </a:rPr>
                        <m:t>𝑡</m:t>
                      </m:r>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18" name="CuadroTexto 17">
                <a:extLst>
                  <a:ext uri="{FF2B5EF4-FFF2-40B4-BE49-F238E27FC236}">
                    <a16:creationId xmlns:a16="http://schemas.microsoft.com/office/drawing/2014/main" id="{813822B2-DF2D-462F-8B16-AE23A2C390B6}"/>
                  </a:ext>
                </a:extLst>
              </p:cNvPr>
              <p:cNvSpPr txBox="1">
                <a:spLocks noRot="1" noChangeAspect="1" noMove="1" noResize="1" noEditPoints="1" noAdjustHandles="1" noChangeArrowheads="1" noChangeShapeType="1" noTextEdit="1"/>
              </p:cNvSpPr>
              <p:nvPr/>
            </p:nvSpPr>
            <p:spPr>
              <a:xfrm>
                <a:off x="9068310" y="3712539"/>
                <a:ext cx="683392" cy="332399"/>
              </a:xfrm>
              <a:prstGeom prst="rect">
                <a:avLst/>
              </a:prstGeom>
              <a:blipFill>
                <a:blip r:embed="rId14"/>
                <a:stretch>
                  <a:fillRect l="-7143" t="-10909" r="-16071" b="-38182"/>
                </a:stretch>
              </a:blipFill>
            </p:spPr>
            <p:txBody>
              <a:bodyPr/>
              <a:lstStyle/>
              <a:p>
                <a:r>
                  <a:rPr lang="en-US">
                    <a:noFill/>
                  </a:rPr>
                  <a:t> </a:t>
                </a:r>
              </a:p>
            </p:txBody>
          </p:sp>
        </mc:Fallback>
      </mc:AlternateContent>
      <p:cxnSp>
        <p:nvCxnSpPr>
          <p:cNvPr id="19" name="Conector recto de flecha 18">
            <a:extLst>
              <a:ext uri="{FF2B5EF4-FFF2-40B4-BE49-F238E27FC236}">
                <a16:creationId xmlns:a16="http://schemas.microsoft.com/office/drawing/2014/main" id="{21F1F726-5EFA-4AE4-9209-C127321AD811}"/>
              </a:ext>
            </a:extLst>
          </p:cNvPr>
          <p:cNvCxnSpPr>
            <a:cxnSpLocks/>
            <a:endCxn id="22" idx="0"/>
          </p:cNvCxnSpPr>
          <p:nvPr/>
        </p:nvCxnSpPr>
        <p:spPr>
          <a:xfrm>
            <a:off x="9340493" y="4136924"/>
            <a:ext cx="7691" cy="474448"/>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0" name="Elipse 19">
            <a:extLst>
              <a:ext uri="{FF2B5EF4-FFF2-40B4-BE49-F238E27FC236}">
                <a16:creationId xmlns:a16="http://schemas.microsoft.com/office/drawing/2014/main" id="{49525698-80F0-486D-B56D-BA4ADE689FA6}"/>
              </a:ext>
            </a:extLst>
          </p:cNvPr>
          <p:cNvSpPr/>
          <p:nvPr/>
        </p:nvSpPr>
        <p:spPr>
          <a:xfrm>
            <a:off x="9068310" y="4623884"/>
            <a:ext cx="533400" cy="533400"/>
          </a:xfrm>
          <a:prstGeom prst="ellipse">
            <a:avLst/>
          </a:prstGeom>
          <a:noFill/>
          <a:ln w="381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7B3D1632-70CC-499F-985D-E3739AF226E0}"/>
                  </a:ext>
                </a:extLst>
              </p:cNvPr>
              <p:cNvSpPr txBox="1"/>
              <p:nvPr/>
            </p:nvSpPr>
            <p:spPr>
              <a:xfrm>
                <a:off x="9068311" y="4724385"/>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1" name="CuadroTexto 20">
                <a:extLst>
                  <a:ext uri="{FF2B5EF4-FFF2-40B4-BE49-F238E27FC236}">
                    <a16:creationId xmlns:a16="http://schemas.microsoft.com/office/drawing/2014/main" id="{7B3D1632-70CC-499F-985D-E3739AF226E0}"/>
                  </a:ext>
                </a:extLst>
              </p:cNvPr>
              <p:cNvSpPr txBox="1">
                <a:spLocks noRot="1" noChangeAspect="1" noMove="1" noResize="1" noEditPoints="1" noAdjustHandles="1" noChangeArrowheads="1" noChangeShapeType="1" noTextEdit="1"/>
              </p:cNvSpPr>
              <p:nvPr/>
            </p:nvSpPr>
            <p:spPr>
              <a:xfrm>
                <a:off x="9068311" y="4724385"/>
                <a:ext cx="290143" cy="332399"/>
              </a:xfrm>
              <a:prstGeom prst="rect">
                <a:avLst/>
              </a:prstGeom>
              <a:blipFill>
                <a:blip r:embed="rId7"/>
                <a:stretch>
                  <a:fillRect l="-23404" r="-23404" b="-5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2FF79712-AA3F-4504-B7EF-C8166BE6EE47}"/>
                  </a:ext>
                </a:extLst>
              </p:cNvPr>
              <p:cNvSpPr txBox="1"/>
              <p:nvPr/>
            </p:nvSpPr>
            <p:spPr>
              <a:xfrm>
                <a:off x="9203112" y="4611373"/>
                <a:ext cx="290143" cy="332399"/>
              </a:xfrm>
              <a:prstGeom prst="rect">
                <a:avLst/>
              </a:prstGeom>
              <a:noFill/>
            </p:spPr>
            <p:txBody>
              <a:bodyPr wrap="none" lIns="0" tIns="0" rIns="0" bIns="0" rtlCol="0">
                <a:spAutoFit/>
              </a:bodyPr>
              <a:lstStyle/>
              <a:p>
                <a:pPr>
                  <a:lnSpc>
                    <a:spcPct val="90000"/>
                  </a:lnSpc>
                </a:pPr>
                <a14:m>
                  <m:oMathPara xmlns:m="http://schemas.openxmlformats.org/officeDocument/2006/math">
                    <m:oMathParaPr>
                      <m:jc m:val="centerGroup"/>
                    </m:oMathParaPr>
                    <m:oMath xmlns:m="http://schemas.openxmlformats.org/officeDocument/2006/math">
                      <m:r>
                        <a:rPr lang="en-US" sz="2400" i="1">
                          <a:solidFill>
                            <a:prstClr val="white"/>
                          </a:solidFill>
                          <a:latin typeface="Cambria Math" panose="02040503050406030204" pitchFamily="18" charset="0"/>
                        </a:rPr>
                        <m:t>+</m:t>
                      </m:r>
                    </m:oMath>
                  </m:oMathPara>
                </a14:m>
                <a:endParaRPr lang="es-419" sz="2400">
                  <a:solidFill>
                    <a:prstClr val="white"/>
                  </a:solidFill>
                  <a:latin typeface="Corbel"/>
                </a:endParaRPr>
              </a:p>
            </p:txBody>
          </p:sp>
        </mc:Choice>
        <mc:Fallback>
          <p:sp>
            <p:nvSpPr>
              <p:cNvPr id="22" name="CuadroTexto 21">
                <a:extLst>
                  <a:ext uri="{FF2B5EF4-FFF2-40B4-BE49-F238E27FC236}">
                    <a16:creationId xmlns:a16="http://schemas.microsoft.com/office/drawing/2014/main" id="{2FF79712-AA3F-4504-B7EF-C8166BE6EE47}"/>
                  </a:ext>
                </a:extLst>
              </p:cNvPr>
              <p:cNvSpPr txBox="1">
                <a:spLocks noRot="1" noChangeAspect="1" noMove="1" noResize="1" noEditPoints="1" noAdjustHandles="1" noChangeArrowheads="1" noChangeShapeType="1" noTextEdit="1"/>
              </p:cNvSpPr>
              <p:nvPr/>
            </p:nvSpPr>
            <p:spPr>
              <a:xfrm>
                <a:off x="9203112" y="4611373"/>
                <a:ext cx="290143" cy="332399"/>
              </a:xfrm>
              <a:prstGeom prst="rect">
                <a:avLst/>
              </a:prstGeom>
              <a:blipFill>
                <a:blip r:embed="rId7"/>
                <a:stretch>
                  <a:fillRect l="-23404" r="-23404" b="-5455"/>
                </a:stretch>
              </a:blipFill>
            </p:spPr>
            <p:txBody>
              <a:bodyPr/>
              <a:lstStyle/>
              <a:p>
                <a:r>
                  <a:rPr lang="en-US">
                    <a:noFill/>
                  </a:rPr>
                  <a:t> </a:t>
                </a:r>
              </a:p>
            </p:txBody>
          </p:sp>
        </mc:Fallback>
      </mc:AlternateContent>
      <p:cxnSp>
        <p:nvCxnSpPr>
          <p:cNvPr id="23" name="Conector recto de flecha 22">
            <a:extLst>
              <a:ext uri="{FF2B5EF4-FFF2-40B4-BE49-F238E27FC236}">
                <a16:creationId xmlns:a16="http://schemas.microsoft.com/office/drawing/2014/main" id="{4E74BC5B-5A75-4415-B745-EF79F59B131F}"/>
              </a:ext>
            </a:extLst>
          </p:cNvPr>
          <p:cNvCxnSpPr>
            <a:cxnSpLocks/>
            <a:stCxn id="20" idx="6"/>
            <a:endCxn id="4" idx="1"/>
          </p:cNvCxnSpPr>
          <p:nvPr/>
        </p:nvCxnSpPr>
        <p:spPr>
          <a:xfrm flipV="1">
            <a:off x="9601710" y="4889854"/>
            <a:ext cx="380490" cy="730"/>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Rectángulo 32">
                <a:extLst>
                  <a:ext uri="{FF2B5EF4-FFF2-40B4-BE49-F238E27FC236}">
                    <a16:creationId xmlns:a16="http://schemas.microsoft.com/office/drawing/2014/main" id="{A54FC385-90D9-45EB-84C8-23C7D9BA61D0}"/>
                  </a:ext>
                </a:extLst>
              </p:cNvPr>
              <p:cNvSpPr/>
              <p:nvPr/>
            </p:nvSpPr>
            <p:spPr>
              <a:xfrm>
                <a:off x="7897829" y="4379473"/>
                <a:ext cx="546734" cy="1020762"/>
              </a:xfrm>
              <a:prstGeom prst="rect">
                <a:avLst/>
              </a:prstGeom>
              <a:noFill/>
              <a:ln w="571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a:solidFill>
                                <a:prstClr val="white"/>
                              </a:solidFill>
                              <a:latin typeface="Cambria Math" panose="02040503050406030204" pitchFamily="18" charset="0"/>
                            </a:rPr>
                          </m:ctrlPr>
                        </m:sSubPr>
                        <m:e>
                          <m:r>
                            <a:rPr lang="en-US" sz="2400" i="1">
                              <a:solidFill>
                                <a:prstClr val="white"/>
                              </a:solidFill>
                              <a:latin typeface="Cambria Math" panose="02040503050406030204" pitchFamily="18" charset="0"/>
                            </a:rPr>
                            <m:t>𝐾</m:t>
                          </m:r>
                        </m:e>
                        <m:sub>
                          <m:r>
                            <a:rPr lang="en-US" sz="2400" i="1">
                              <a:solidFill>
                                <a:prstClr val="white"/>
                              </a:solidFill>
                              <a:latin typeface="Cambria Math" panose="02040503050406030204" pitchFamily="18" charset="0"/>
                            </a:rPr>
                            <m:t>1</m:t>
                          </m:r>
                        </m:sub>
                      </m:sSub>
                    </m:oMath>
                  </m:oMathPara>
                </a14:m>
                <a:endParaRPr lang="es-419" sz="2400">
                  <a:solidFill>
                    <a:prstClr val="white"/>
                  </a:solidFill>
                  <a:latin typeface="Corbel"/>
                </a:endParaRPr>
              </a:p>
            </p:txBody>
          </p:sp>
        </mc:Choice>
        <mc:Fallback>
          <p:sp>
            <p:nvSpPr>
              <p:cNvPr id="33" name="Rectángulo 32">
                <a:extLst>
                  <a:ext uri="{FF2B5EF4-FFF2-40B4-BE49-F238E27FC236}">
                    <a16:creationId xmlns:a16="http://schemas.microsoft.com/office/drawing/2014/main" id="{A54FC385-90D9-45EB-84C8-23C7D9BA61D0}"/>
                  </a:ext>
                </a:extLst>
              </p:cNvPr>
              <p:cNvSpPr>
                <a:spLocks noRot="1" noChangeAspect="1" noMove="1" noResize="1" noEditPoints="1" noAdjustHandles="1" noChangeArrowheads="1" noChangeShapeType="1" noTextEdit="1"/>
              </p:cNvSpPr>
              <p:nvPr/>
            </p:nvSpPr>
            <p:spPr>
              <a:xfrm>
                <a:off x="7897829" y="4379473"/>
                <a:ext cx="546734" cy="1020762"/>
              </a:xfrm>
              <a:prstGeom prst="rect">
                <a:avLst/>
              </a:prstGeom>
              <a:blipFill>
                <a:blip r:embed="rId15"/>
                <a:stretch>
                  <a:fillRect l="-1020"/>
                </a:stretch>
              </a:blipFill>
              <a:ln w="57150">
                <a:solidFill>
                  <a:schemeClr val="tx1"/>
                </a:solidFill>
                <a:miter lim="800000"/>
              </a:ln>
            </p:spPr>
            <p:txBody>
              <a:bodyPr/>
              <a:lstStyle/>
              <a:p>
                <a:r>
                  <a:rPr lang="en-US">
                    <a:noFill/>
                  </a:rPr>
                  <a:t> </a:t>
                </a:r>
              </a:p>
            </p:txBody>
          </p:sp>
        </mc:Fallback>
      </mc:AlternateContent>
      <p:cxnSp>
        <p:nvCxnSpPr>
          <p:cNvPr id="35" name="Conector recto de flecha 34">
            <a:extLst>
              <a:ext uri="{FF2B5EF4-FFF2-40B4-BE49-F238E27FC236}">
                <a16:creationId xmlns:a16="http://schemas.microsoft.com/office/drawing/2014/main" id="{6967D184-B2DA-49D0-BD6D-5AB5AFCD16B9}"/>
              </a:ext>
            </a:extLst>
          </p:cNvPr>
          <p:cNvCxnSpPr>
            <a:cxnSpLocks/>
            <a:stCxn id="14" idx="3"/>
            <a:endCxn id="33" idx="1"/>
          </p:cNvCxnSpPr>
          <p:nvPr/>
        </p:nvCxnSpPr>
        <p:spPr>
          <a:xfrm>
            <a:off x="7332287" y="4882816"/>
            <a:ext cx="565543" cy="7039"/>
          </a:xfrm>
          <a:prstGeom prst="straightConnector1">
            <a:avLst/>
          </a:prstGeom>
          <a:ln w="571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50" name="Imagen 49">
            <a:extLst>
              <a:ext uri="{FF2B5EF4-FFF2-40B4-BE49-F238E27FC236}">
                <a16:creationId xmlns:a16="http://schemas.microsoft.com/office/drawing/2014/main" id="{1752BF1A-C14E-46C1-97D1-FAD892E42FE9}"/>
              </a:ext>
            </a:extLst>
          </p:cNvPr>
          <p:cNvPicPr>
            <a:picLocks noChangeAspect="1"/>
          </p:cNvPicPr>
          <p:nvPr>
            <p:custDataLst>
              <p:tags r:id="rId1"/>
            </p:custDataLst>
          </p:nvPr>
        </p:nvPicPr>
        <p:blipFill>
          <a:blip r:embed="rId16" cstate="print">
            <a:lum bright="70000" contrast="-70000"/>
            <a:extLst>
              <a:ext uri="{28A0092B-C50C-407E-A947-70E740481C1C}">
                <a14:useLocalDpi xmlns:a14="http://schemas.microsoft.com/office/drawing/2010/main" val="0"/>
              </a:ext>
            </a:extLst>
          </a:blip>
          <a:stretch>
            <a:fillRect/>
          </a:stretch>
        </p:blipFill>
        <p:spPr>
          <a:xfrm>
            <a:off x="696680" y="2985994"/>
            <a:ext cx="3407238" cy="598857"/>
          </a:xfrm>
          <a:prstGeom prst="rect">
            <a:avLst/>
          </a:prstGeom>
        </p:spPr>
      </p:pic>
      <p:pic>
        <p:nvPicPr>
          <p:cNvPr id="53" name="Imagen 52">
            <a:extLst>
              <a:ext uri="{FF2B5EF4-FFF2-40B4-BE49-F238E27FC236}">
                <a16:creationId xmlns:a16="http://schemas.microsoft.com/office/drawing/2014/main" id="{FC1376F4-3D15-4B09-AEED-0DDF1E8A7D6A}"/>
              </a:ext>
            </a:extLst>
          </p:cNvPr>
          <p:cNvPicPr>
            <a:picLocks noChangeAspect="1"/>
          </p:cNvPicPr>
          <p:nvPr>
            <p:custDataLst>
              <p:tags r:id="rId2"/>
            </p:custDataLst>
          </p:nvPr>
        </p:nvPicPr>
        <p:blipFill>
          <a:blip r:embed="rId17" cstate="print">
            <a:lum bright="70000" contrast="-70000"/>
            <a:extLst>
              <a:ext uri="{28A0092B-C50C-407E-A947-70E740481C1C}">
                <a14:useLocalDpi xmlns:a14="http://schemas.microsoft.com/office/drawing/2010/main" val="0"/>
              </a:ext>
            </a:extLst>
          </a:blip>
          <a:stretch>
            <a:fillRect/>
          </a:stretch>
        </p:blipFill>
        <p:spPr>
          <a:xfrm>
            <a:off x="717907" y="3791985"/>
            <a:ext cx="1612191" cy="252952"/>
          </a:xfrm>
          <a:prstGeom prst="rect">
            <a:avLst/>
          </a:prstGeom>
        </p:spPr>
      </p:pic>
      <p:pic>
        <p:nvPicPr>
          <p:cNvPr id="54" name="Imagen 53">
            <a:extLst>
              <a:ext uri="{FF2B5EF4-FFF2-40B4-BE49-F238E27FC236}">
                <a16:creationId xmlns:a16="http://schemas.microsoft.com/office/drawing/2014/main" id="{C0BB8F87-9EE8-4457-8729-BF61DFC0E324}"/>
              </a:ext>
            </a:extLst>
          </p:cNvPr>
          <p:cNvPicPr>
            <a:picLocks noChangeAspect="1"/>
          </p:cNvPicPr>
          <p:nvPr/>
        </p:nvPicPr>
        <p:blipFill>
          <a:blip r:embed="rId18"/>
          <a:stretch>
            <a:fillRect/>
          </a:stretch>
        </p:blipFill>
        <p:spPr>
          <a:xfrm>
            <a:off x="8008082" y="27480"/>
            <a:ext cx="3986320" cy="1430285"/>
          </a:xfrm>
          <a:prstGeom prst="rect">
            <a:avLst/>
          </a:prstGeom>
        </p:spPr>
      </p:pic>
      <p:pic>
        <p:nvPicPr>
          <p:cNvPr id="57" name="Imagen 56">
            <a:extLst>
              <a:ext uri="{FF2B5EF4-FFF2-40B4-BE49-F238E27FC236}">
                <a16:creationId xmlns:a16="http://schemas.microsoft.com/office/drawing/2014/main" id="{3FE83C1F-E06A-447B-8B05-FD88D0C50CAE}"/>
              </a:ext>
            </a:extLst>
          </p:cNvPr>
          <p:cNvPicPr>
            <a:picLocks noChangeAspect="1"/>
          </p:cNvPicPr>
          <p:nvPr>
            <p:custDataLst>
              <p:tags r:id="rId3"/>
            </p:custDataLst>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1038392" y="5714060"/>
            <a:ext cx="3878097" cy="598856"/>
          </a:xfrm>
          <a:prstGeom prst="rect">
            <a:avLst/>
          </a:prstGeom>
        </p:spPr>
      </p:pic>
    </p:spTree>
    <p:extLst>
      <p:ext uri="{BB962C8B-B14F-4D97-AF65-F5344CB8AC3E}">
        <p14:creationId xmlns:p14="http://schemas.microsoft.com/office/powerpoint/2010/main" val="395074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animBg="1"/>
      <p:bldP spid="10" grpId="0"/>
      <p:bldP spid="11" grpId="0"/>
      <p:bldP spid="12" grpId="0"/>
      <p:bldP spid="13" grpId="0"/>
      <p:bldP spid="14" grpId="0" animBg="1"/>
      <p:bldP spid="16" grpId="0"/>
      <p:bldP spid="17" grpId="0"/>
      <p:bldP spid="18" grpId="0"/>
      <p:bldP spid="20" grpId="0" animBg="1"/>
      <p:bldP spid="21" grpId="0"/>
      <p:bldP spid="22" grpId="0"/>
      <p:bldP spid="3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a:t>
            </a:r>
          </a:p>
        </p:txBody>
      </p:sp>
      <p:pic>
        <p:nvPicPr>
          <p:cNvPr id="57" name="Imagen 56">
            <a:extLst>
              <a:ext uri="{FF2B5EF4-FFF2-40B4-BE49-F238E27FC236}">
                <a16:creationId xmlns:a16="http://schemas.microsoft.com/office/drawing/2014/main" id="{3FE83C1F-E06A-447B-8B05-FD88D0C50CAE}"/>
              </a:ext>
            </a:extLst>
          </p:cNvPr>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1295401" y="1905000"/>
            <a:ext cx="3878097" cy="598856"/>
          </a:xfrm>
          <a:prstGeom prst="rect">
            <a:avLst/>
          </a:prstGeom>
        </p:spPr>
      </p:pic>
      <p:sp>
        <p:nvSpPr>
          <p:cNvPr id="34" name="CuadroTexto 33">
            <a:extLst>
              <a:ext uri="{FF2B5EF4-FFF2-40B4-BE49-F238E27FC236}">
                <a16:creationId xmlns:a16="http://schemas.microsoft.com/office/drawing/2014/main" id="{7C5C6D34-E2EC-49C7-9A3D-66838DCDBC2D}"/>
              </a:ext>
            </a:extLst>
          </p:cNvPr>
          <p:cNvSpPr txBox="1"/>
          <p:nvPr/>
        </p:nvSpPr>
        <p:spPr>
          <a:xfrm>
            <a:off x="1143000" y="2667001"/>
            <a:ext cx="10287000" cy="646331"/>
          </a:xfrm>
          <a:prstGeom prst="rect">
            <a:avLst/>
          </a:prstGeom>
          <a:noFill/>
        </p:spPr>
        <p:txBody>
          <a:bodyPr wrap="square">
            <a:spAutoFit/>
          </a:bodyPr>
          <a:lstStyle/>
          <a:p>
            <a:r>
              <a:rPr lang="es-419">
                <a:solidFill>
                  <a:prstClr val="white"/>
                </a:solidFill>
                <a:latin typeface="Corbel"/>
              </a:rPr>
              <a:t>Si aplicamos el </a:t>
            </a:r>
            <a:r>
              <a:rPr lang="es-419">
                <a:solidFill>
                  <a:srgbClr val="FFFF00"/>
                </a:solidFill>
                <a:latin typeface="Corbel"/>
              </a:rPr>
              <a:t>teorema del valor final </a:t>
            </a:r>
            <a:r>
              <a:rPr lang="es-419">
                <a:solidFill>
                  <a:prstClr val="white"/>
                </a:solidFill>
                <a:latin typeface="Corbel"/>
              </a:rPr>
              <a:t>a la ecuación anterior, podremos notar que en régimen permanente, la perturbación </a:t>
            </a:r>
            <a:r>
              <a:rPr lang="es-419">
                <a:solidFill>
                  <a:srgbClr val="FFFF00"/>
                </a:solidFill>
                <a:latin typeface="Corbel"/>
              </a:rPr>
              <a:t>se vuelve cero en la salida</a:t>
            </a:r>
            <a:r>
              <a:rPr lang="es-419">
                <a:solidFill>
                  <a:prstClr val="white"/>
                </a:solidFill>
                <a:latin typeface="Corbel"/>
              </a:rPr>
              <a:t>, es decir, la perturbación es totalmente rechazada.</a:t>
            </a:r>
          </a:p>
        </p:txBody>
      </p:sp>
      <p:pic>
        <p:nvPicPr>
          <p:cNvPr id="27" name="Imagen 26">
            <a:extLst>
              <a:ext uri="{FF2B5EF4-FFF2-40B4-BE49-F238E27FC236}">
                <a16:creationId xmlns:a16="http://schemas.microsoft.com/office/drawing/2014/main" id="{96DB1C5F-C5E2-459E-B466-6FA4B027CBBA}"/>
              </a:ext>
            </a:extLst>
          </p:cNvPr>
          <p:cNvPicPr>
            <a:picLocks noChangeAspect="1"/>
          </p:cNvPicPr>
          <p:nvPr/>
        </p:nvPicPr>
        <p:blipFill>
          <a:blip r:embed="rId5"/>
          <a:stretch>
            <a:fillRect/>
          </a:stretch>
        </p:blipFill>
        <p:spPr>
          <a:xfrm>
            <a:off x="6477000" y="4114801"/>
            <a:ext cx="5410200" cy="1983049"/>
          </a:xfrm>
          <a:prstGeom prst="rect">
            <a:avLst/>
          </a:prstGeom>
        </p:spPr>
      </p:pic>
      <p:pic>
        <p:nvPicPr>
          <p:cNvPr id="29" name="Imagen 28">
            <a:extLst>
              <a:ext uri="{FF2B5EF4-FFF2-40B4-BE49-F238E27FC236}">
                <a16:creationId xmlns:a16="http://schemas.microsoft.com/office/drawing/2014/main" id="{CB26BCFA-089A-47DC-8080-CFAF42D630A7}"/>
              </a:ext>
            </a:extLst>
          </p:cNvPr>
          <p:cNvPicPr>
            <a:picLocks noChangeAspect="1"/>
          </p:cNvPicPr>
          <p:nvPr>
            <p:custDataLst>
              <p:tags r:id="rId2"/>
            </p:custDataLst>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1143000" y="3742885"/>
            <a:ext cx="2915050" cy="265142"/>
          </a:xfrm>
          <a:prstGeom prst="rect">
            <a:avLst/>
          </a:prstGeom>
        </p:spPr>
      </p:pic>
      <p:sp>
        <p:nvSpPr>
          <p:cNvPr id="30" name="Forma libre: forma 29">
            <a:extLst>
              <a:ext uri="{FF2B5EF4-FFF2-40B4-BE49-F238E27FC236}">
                <a16:creationId xmlns:a16="http://schemas.microsoft.com/office/drawing/2014/main" id="{77363DA6-EC36-4A38-B8B4-7A3F2DEDF053}"/>
              </a:ext>
            </a:extLst>
          </p:cNvPr>
          <p:cNvSpPr/>
          <p:nvPr/>
        </p:nvSpPr>
        <p:spPr>
          <a:xfrm>
            <a:off x="10345123" y="4316362"/>
            <a:ext cx="1219200" cy="344129"/>
          </a:xfrm>
          <a:custGeom>
            <a:avLst/>
            <a:gdLst>
              <a:gd name="connsiteX0" fmla="*/ 0 w 1219200"/>
              <a:gd name="connsiteY0" fmla="*/ 0 h 344129"/>
              <a:gd name="connsiteX1" fmla="*/ 29497 w 1219200"/>
              <a:gd name="connsiteY1" fmla="*/ 127820 h 344129"/>
              <a:gd name="connsiteX2" fmla="*/ 49162 w 1219200"/>
              <a:gd name="connsiteY2" fmla="*/ 157316 h 344129"/>
              <a:gd name="connsiteX3" fmla="*/ 78659 w 1219200"/>
              <a:gd name="connsiteY3" fmla="*/ 167149 h 344129"/>
              <a:gd name="connsiteX4" fmla="*/ 127820 w 1219200"/>
              <a:gd name="connsiteY4" fmla="*/ 206478 h 344129"/>
              <a:gd name="connsiteX5" fmla="*/ 245807 w 1219200"/>
              <a:gd name="connsiteY5" fmla="*/ 265471 h 344129"/>
              <a:gd name="connsiteX6" fmla="*/ 275304 w 1219200"/>
              <a:gd name="connsiteY6" fmla="*/ 275304 h 344129"/>
              <a:gd name="connsiteX7" fmla="*/ 304800 w 1219200"/>
              <a:gd name="connsiteY7" fmla="*/ 294968 h 344129"/>
              <a:gd name="connsiteX8" fmla="*/ 353962 w 1219200"/>
              <a:gd name="connsiteY8" fmla="*/ 304800 h 344129"/>
              <a:gd name="connsiteX9" fmla="*/ 383459 w 1219200"/>
              <a:gd name="connsiteY9" fmla="*/ 314633 h 344129"/>
              <a:gd name="connsiteX10" fmla="*/ 521110 w 1219200"/>
              <a:gd name="connsiteY10" fmla="*/ 334297 h 344129"/>
              <a:gd name="connsiteX11" fmla="*/ 570271 w 1219200"/>
              <a:gd name="connsiteY11" fmla="*/ 344129 h 344129"/>
              <a:gd name="connsiteX12" fmla="*/ 963562 w 1219200"/>
              <a:gd name="connsiteY12" fmla="*/ 334297 h 344129"/>
              <a:gd name="connsiteX13" fmla="*/ 1150375 w 1219200"/>
              <a:gd name="connsiteY13" fmla="*/ 314633 h 344129"/>
              <a:gd name="connsiteX14" fmla="*/ 1219200 w 1219200"/>
              <a:gd name="connsiteY14" fmla="*/ 304800 h 34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 h="344129">
                <a:moveTo>
                  <a:pt x="0" y="0"/>
                </a:moveTo>
                <a:cubicBezTo>
                  <a:pt x="4533" y="31726"/>
                  <a:pt x="9868" y="98377"/>
                  <a:pt x="29497" y="127820"/>
                </a:cubicBezTo>
                <a:cubicBezTo>
                  <a:pt x="36052" y="137652"/>
                  <a:pt x="39935" y="149934"/>
                  <a:pt x="49162" y="157316"/>
                </a:cubicBezTo>
                <a:cubicBezTo>
                  <a:pt x="57255" y="163790"/>
                  <a:pt x="68827" y="163871"/>
                  <a:pt x="78659" y="167149"/>
                </a:cubicBezTo>
                <a:cubicBezTo>
                  <a:pt x="114992" y="221648"/>
                  <a:pt x="77535" y="178541"/>
                  <a:pt x="127820" y="206478"/>
                </a:cubicBezTo>
                <a:cubicBezTo>
                  <a:pt x="242181" y="270013"/>
                  <a:pt x="130957" y="227188"/>
                  <a:pt x="245807" y="265471"/>
                </a:cubicBezTo>
                <a:cubicBezTo>
                  <a:pt x="255639" y="268748"/>
                  <a:pt x="266680" y="269555"/>
                  <a:pt x="275304" y="275304"/>
                </a:cubicBezTo>
                <a:cubicBezTo>
                  <a:pt x="285136" y="281859"/>
                  <a:pt x="293736" y="290819"/>
                  <a:pt x="304800" y="294968"/>
                </a:cubicBezTo>
                <a:cubicBezTo>
                  <a:pt x="320448" y="300836"/>
                  <a:pt x="337749" y="300747"/>
                  <a:pt x="353962" y="304800"/>
                </a:cubicBezTo>
                <a:cubicBezTo>
                  <a:pt x="364017" y="307314"/>
                  <a:pt x="373342" y="312385"/>
                  <a:pt x="383459" y="314633"/>
                </a:cubicBezTo>
                <a:cubicBezTo>
                  <a:pt x="430733" y="325139"/>
                  <a:pt x="472749" y="326857"/>
                  <a:pt x="521110" y="334297"/>
                </a:cubicBezTo>
                <a:cubicBezTo>
                  <a:pt x="537627" y="336838"/>
                  <a:pt x="553884" y="340852"/>
                  <a:pt x="570271" y="344129"/>
                </a:cubicBezTo>
                <a:lnTo>
                  <a:pt x="963562" y="334297"/>
                </a:lnTo>
                <a:cubicBezTo>
                  <a:pt x="1032271" y="331654"/>
                  <a:pt x="1084979" y="324694"/>
                  <a:pt x="1150375" y="314633"/>
                </a:cubicBezTo>
                <a:cubicBezTo>
                  <a:pt x="1217790" y="304261"/>
                  <a:pt x="1188579" y="304800"/>
                  <a:pt x="1219200" y="304800"/>
                </a:cubicBezTo>
              </a:path>
            </a:pathLst>
          </a:custGeom>
          <a:noFill/>
          <a:ln w="38100">
            <a:solidFill>
              <a:srgbClr val="FFFF00"/>
            </a:solidFill>
            <a:miter lim="80000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
        <p:nvSpPr>
          <p:cNvPr id="31" name="Signo de multiplicación 30">
            <a:extLst>
              <a:ext uri="{FF2B5EF4-FFF2-40B4-BE49-F238E27FC236}">
                <a16:creationId xmlns:a16="http://schemas.microsoft.com/office/drawing/2014/main" id="{52EAD5A2-FBDF-4EF6-8DC6-F4E3B8A55D1C}"/>
              </a:ext>
            </a:extLst>
          </p:cNvPr>
          <p:cNvSpPr/>
          <p:nvPr/>
        </p:nvSpPr>
        <p:spPr>
          <a:xfrm>
            <a:off x="11049000" y="4191001"/>
            <a:ext cx="381000" cy="344129"/>
          </a:xfrm>
          <a:prstGeom prst="mathMultiply">
            <a:avLst/>
          </a:prstGeom>
          <a:solidFill>
            <a:srgbClr val="FF0000"/>
          </a:solidFill>
          <a:ln>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orbel"/>
            </a:endParaRPr>
          </a:p>
        </p:txBody>
      </p:sp>
    </p:spTree>
    <p:extLst>
      <p:ext uri="{BB962C8B-B14F-4D97-AF65-F5344CB8AC3E}">
        <p14:creationId xmlns:p14="http://schemas.microsoft.com/office/powerpoint/2010/main" val="2330428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0" grpId="0" animBg="1"/>
      <p:bldP spid="3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BAB0DD-24B3-4BBD-9492-AC479FD69830}"/>
              </a:ext>
            </a:extLst>
          </p:cNvPr>
          <p:cNvSpPr>
            <a:spLocks noGrp="1"/>
          </p:cNvSpPr>
          <p:nvPr>
            <p:ph type="title"/>
          </p:nvPr>
        </p:nvSpPr>
        <p:spPr/>
        <p:txBody>
          <a:bodyPr/>
          <a:lstStyle/>
          <a:p>
            <a:r>
              <a:rPr lang="es-419"/>
              <a:t>Rechazo de Perturbaciones - EJEMPLO</a:t>
            </a:r>
          </a:p>
        </p:txBody>
      </p:sp>
      <p:sp>
        <p:nvSpPr>
          <p:cNvPr id="3" name="Marcador de contenido 2">
            <a:extLst>
              <a:ext uri="{FF2B5EF4-FFF2-40B4-BE49-F238E27FC236}">
                <a16:creationId xmlns:a16="http://schemas.microsoft.com/office/drawing/2014/main" id="{6A73D56A-D7F6-444A-857F-26FD53D40E20}"/>
              </a:ext>
            </a:extLst>
          </p:cNvPr>
          <p:cNvSpPr>
            <a:spLocks noGrp="1"/>
          </p:cNvSpPr>
          <p:nvPr>
            <p:ph idx="1"/>
          </p:nvPr>
        </p:nvSpPr>
        <p:spPr/>
        <p:txBody>
          <a:bodyPr/>
          <a:lstStyle/>
          <a:p>
            <a:r>
              <a:rPr lang="es-419"/>
              <a:t>Para el mismo ejemplo del video de </a:t>
            </a:r>
            <a:r>
              <a:rPr lang="es-419">
                <a:solidFill>
                  <a:srgbClr val="FFFF00"/>
                </a:solidFill>
              </a:rPr>
              <a:t>realimentación de estados </a:t>
            </a:r>
            <a:r>
              <a:rPr lang="es-419"/>
              <a:t>que </a:t>
            </a:r>
            <a:r>
              <a:rPr lang="es-419">
                <a:solidFill>
                  <a:srgbClr val="FFFF00"/>
                </a:solidFill>
              </a:rPr>
              <a:t>no esta en la forma FCC </a:t>
            </a:r>
            <a:r>
              <a:rPr lang="es-419"/>
              <a:t>y visto al final del video </a:t>
            </a:r>
            <a:r>
              <a:rPr lang="es-419">
                <a:solidFill>
                  <a:srgbClr val="FFFF00"/>
                </a:solidFill>
              </a:rPr>
              <a:t>tipo SERVO</a:t>
            </a:r>
            <a:r>
              <a:rPr lang="es-419"/>
              <a:t>, adicionar a la simulación un </a:t>
            </a:r>
            <a:r>
              <a:rPr lang="es-419">
                <a:solidFill>
                  <a:srgbClr val="FFFF00"/>
                </a:solidFill>
              </a:rPr>
              <a:t>disturbio del tipo escalón </a:t>
            </a:r>
            <a:r>
              <a:rPr lang="es-419"/>
              <a:t>de magnitud </a:t>
            </a:r>
            <a:r>
              <a:rPr lang="es-419">
                <a:solidFill>
                  <a:srgbClr val="FFFF00"/>
                </a:solidFill>
              </a:rPr>
              <a:t>1.5</a:t>
            </a:r>
            <a:r>
              <a:rPr lang="es-419"/>
              <a:t> que ingrese al sistema en el </a:t>
            </a:r>
            <a:r>
              <a:rPr lang="es-419">
                <a:solidFill>
                  <a:srgbClr val="FFFF00"/>
                </a:solidFill>
              </a:rPr>
              <a:t>segundo 15</a:t>
            </a:r>
            <a:r>
              <a:rPr lang="es-419"/>
              <a:t>.</a:t>
            </a:r>
          </a:p>
        </p:txBody>
      </p:sp>
      <p:pic>
        <p:nvPicPr>
          <p:cNvPr id="7" name="Imagen 6">
            <a:extLst>
              <a:ext uri="{FF2B5EF4-FFF2-40B4-BE49-F238E27FC236}">
                <a16:creationId xmlns:a16="http://schemas.microsoft.com/office/drawing/2014/main" id="{A5C1ABEE-271C-4B87-9103-3371EBF66400}"/>
              </a:ext>
            </a:extLst>
          </p:cNvPr>
          <p:cNvPicPr>
            <a:picLocks noChangeAspect="1"/>
          </p:cNvPicPr>
          <p:nvPr>
            <p:custDataLst>
              <p:tags r:id="rId1"/>
            </p:custDataLst>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3352801" y="3810002"/>
            <a:ext cx="5836801" cy="1457371"/>
          </a:xfrm>
          <a:prstGeom prst="rect">
            <a:avLst/>
          </a:prstGeom>
        </p:spPr>
      </p:pic>
      <p:pic>
        <p:nvPicPr>
          <p:cNvPr id="5" name="Imagen 4">
            <a:extLst>
              <a:ext uri="{FF2B5EF4-FFF2-40B4-BE49-F238E27FC236}">
                <a16:creationId xmlns:a16="http://schemas.microsoft.com/office/drawing/2014/main" id="{1552421D-6B5E-4CAD-BCBB-3509B35AF7BB}"/>
              </a:ext>
            </a:extLst>
          </p:cNvPr>
          <p:cNvPicPr>
            <a:picLocks noChangeAspect="1"/>
          </p:cNvPicPr>
          <p:nvPr>
            <p:custDataLst>
              <p:tags r:id="rId2"/>
            </p:custDataLst>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352801" y="5868962"/>
            <a:ext cx="2453333" cy="303238"/>
          </a:xfrm>
          <a:prstGeom prst="rect">
            <a:avLst/>
          </a:prstGeom>
        </p:spPr>
      </p:pic>
    </p:spTree>
    <p:extLst>
      <p:ext uri="{BB962C8B-B14F-4D97-AF65-F5344CB8AC3E}">
        <p14:creationId xmlns:p14="http://schemas.microsoft.com/office/powerpoint/2010/main" val="4062853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LENAME" val=""/>
  <p:tag name="IGUANATEXCURSOR" val="226"/>
  <p:tag name="IGUANATEXSIZE" val="25"/>
  <p:tag name="INPUTTYPE" val="0"/>
  <p:tag name="LATEXADDIN" val="\documentclass{article}&#10;\usepackage[brazil]{babel}&#10;\usepackage[T1]{fontenc}&#10;\usepackage{ae} %incluido&#10;\usepackage{amsmath}&#10;\usepackage{multirow}&#10;\pagestyle{empty}&#10;\begin{document}&#10;&#10;&#10;$\dot{x}(t)=Ax(t)+Bu(t)$&#10;&#10;$y(t)=Cx(t)+Du(t)$&#10;&#10;\end{document}"/>
  <p:tag name="LATEXENGINEID" val="0"/>
  <p:tag name="ORIGINALHEIGHT" val="274,5"/>
  <p:tag name="ORIGINALWIDTH" val="1140,75"/>
  <p:tag name="OUTPUTDPI" val="1200"/>
  <p:tag name="TEMPFOLDER" val="C:\Latex\"/>
  <p:tag name="TRANSPARENCY" val="Verdadeiro"/>
</p:tagLst>
</file>

<file path=ppt/tags/tag2.xml><?xml version="1.0" encoding="utf-8"?>
<p:tagLst xmlns:a="http://schemas.openxmlformats.org/drawingml/2006/main" xmlns:r="http://schemas.openxmlformats.org/officeDocument/2006/relationships" xmlns:p="http://schemas.openxmlformats.org/presentationml/2006/main">
  <p:tag name="FILENAME" val=""/>
  <p:tag name="IGUANATEXCURSOR" val="203"/>
  <p:tag name="IGUANATEXSIZE" val="25"/>
  <p:tag name="INPUTTYPE" val="0"/>
  <p:tag name="LATEXADDIN" val="\documentclass{article}&#10;\usepackage[brazil]{babel}&#10;\usepackage[T1]{fontenc}&#10;\usepackage{ae} %incluido&#10;\usepackage{amsmath}&#10;\usepackage{multirow}&#10;\pagestyle{empty}&#10;\begin{document}&#10;&#10;$G(s)=C(sI-A)^{-1}B+D$&#10;&#10;\end{document}"/>
  <p:tag name="LATEXENGINEID" val="0"/>
  <p:tag name="ORIGINALHEIGHT" val="134,25"/>
  <p:tag name="ORIGINALWIDTH" val="1463,25"/>
  <p:tag name="OUTPUTDPI" val="1200"/>
  <p:tag name="TEMPFOLDER" val="C:\Latex\"/>
  <p:tag name="TRANSPARENCY" val="Verdadeiro"/>
</p:tagLst>
</file>

<file path=ppt/tags/tag3.xml><?xml version="1.0" encoding="utf-8"?>
<p:tagLst xmlns:a="http://schemas.openxmlformats.org/drawingml/2006/main" xmlns:r="http://schemas.openxmlformats.org/officeDocument/2006/relationships" xmlns:p="http://schemas.openxmlformats.org/presentationml/2006/main">
  <p:tag name="BITMAPVECTOR" val="1"/>
  <p:tag name="IGUANATEXCURSOR" val="263"/>
  <p:tag name="IGUANATEXSIZE" val="25"/>
  <p:tag name="IGUANATEXVERSION" val="160"/>
  <p:tag name="LATEXADDIN" val="\documentclass{article}&#10;\usepackage[brazil]{babel}&#10;\usepackage[T1]{fontenc}&#10;\usepackage{ae} %incluido&#10;\usepackage{amsmath}&#10;\usepackage{multirow}&#10;\pagestyle{empty}&#10;\begin{document}&#10;&#10;&#10;$G(s)=\dfrac{b_1s^{n-1}+...+b_{n-1}s^{n-1}s+b_n}{s^n+a_1s^{n-1}+...+a_{n-1}s+a_n}$&#10;&#10;\end{document}"/>
  <p:tag name="LATEXENGINEID" val="0"/>
  <p:tag name="LATEXFORMHEIGHT" val="320"/>
  <p:tag name="LATEXFORMWIDTH" val="385"/>
  <p:tag name="LATEXFORMWRAP" val="True"/>
  <p:tag name="ORIGINALHEIGHT" val="23.38379"/>
  <p:tag name="ORIGINALWIDTH" val="167.6063"/>
  <p:tag name="OUTPUTTYPE" val="SVG"/>
  <p:tag name="TEMPFOLDER" val="c:\temp\"/>
  <p:tag name="TRANSPARENCY" val="True"/>
</p:tagLst>
</file>

<file path=ppt/tags/tag4.xml><?xml version="1.0" encoding="utf-8"?>
<p:tagLst xmlns:a="http://schemas.openxmlformats.org/drawingml/2006/main" xmlns:r="http://schemas.openxmlformats.org/officeDocument/2006/relationships" xmlns:p="http://schemas.openxmlformats.org/presentationml/2006/main">
  <p:tag name="BITMAPVECTOR" val="1"/>
  <p:tag name="EMFCHILD" val="True"/>
  <p:tag name="IGUANATEXCURSOR" val="263"/>
  <p:tag name="IGUANATEXSIZE" val="25"/>
  <p:tag name="LATEXADDIN" val="\documentclass{article}&#10;\usepackage[brazil]{babel}&#10;\usepackage[T1]{fontenc}&#10;\usepackage{ae} %incluido&#10;\usepackage{amsmath}&#10;\usepackage{multirow}&#10;\pagestyle{empty}&#10;\begin{document}&#10;&#10;&#10;$G(s)=\dfrac{b_1s^{n-1}+...+b_{n-1}s^{n-1}s+b_n}{s^n+a_1s^{n-1}+...+a_{n-1}s+a_n}$&#10;&#10;\end{document}"/>
  <p:tag name="LATEXENGINEID" val="0"/>
  <p:tag name="LATEXFORMHEIGHT" val="320"/>
  <p:tag name="LATEXFORMWIDTH" val="385"/>
  <p:tag name="LATEXFORMWRAP" val="True"/>
  <p:tag name="ORIGINALHEIGHT" val="7.242813"/>
  <p:tag name="ORIGINALWIDTH" val="7.073472"/>
  <p:tag name="TEMPFOLDER" val="c:\temp\"/>
  <p:tag name="TRANSPARENCY" val="True"/>
</p:tagLst>
</file>

<file path=ppt/tags/tag5.xml><?xml version="1.0" encoding="utf-8"?>
<p:tagLst xmlns:a="http://schemas.openxmlformats.org/drawingml/2006/main" xmlns:r="http://schemas.openxmlformats.org/officeDocument/2006/relationships" xmlns:p="http://schemas.openxmlformats.org/presentationml/2006/main">
  <p:tag name="EMFCHILD" val="True"/>
  <p:tag name="ORIGINALHEIGHT" val="9.962638"/>
  <p:tag name="ORIGINALWIDTH" val="2.311314"/>
</p:tagLst>
</file>

<file path=ppt/tags/tag6.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7.xml><?xml version="1.0" encoding="utf-8"?>
<p:tagLst xmlns:a="http://schemas.openxmlformats.org/drawingml/2006/main" xmlns:r="http://schemas.openxmlformats.org/officeDocument/2006/relationships" xmlns:p="http://schemas.openxmlformats.org/presentationml/2006/main">
  <p:tag name="EMFCHILD" val="True"/>
  <p:tag name="ORIGINALHEIGHT" val="9.962638"/>
  <p:tag name="ORIGINALWIDTH" val="2.311314"/>
</p:tagLst>
</file>

<file path=ppt/tags/tag8.xml><?xml version="1.0" encoding="utf-8"?>
<p:tagLst xmlns:a="http://schemas.openxmlformats.org/drawingml/2006/main" xmlns:r="http://schemas.openxmlformats.org/officeDocument/2006/relationships" xmlns:p="http://schemas.openxmlformats.org/presentationml/2006/main">
  <p:tag name="EMFCHILD" val="True"/>
  <p:tag name="ORIGINALHEIGHT" val="2.331252"/>
  <p:tag name="ORIGINALWIDTH" val="6.625127"/>
</p:tagLst>
</file>

<file path=ppt/tags/tag9.xml><?xml version="1.0" encoding="utf-8"?>
<p:tagLst xmlns:a="http://schemas.openxmlformats.org/drawingml/2006/main" xmlns:r="http://schemas.openxmlformats.org/officeDocument/2006/relationships" xmlns:p="http://schemas.openxmlformats.org/presentationml/2006/main">
  <p:tag name="EMFCHILD" val="True"/>
  <p:tag name="ORIGINALHEIGHT" val="7.023662"/>
  <p:tag name="ORIGINALWIDTH" val="3.666235"/>
</p:tagLst>
</file>

<file path=ppt/tags/tag10.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11.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12.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13.xml><?xml version="1.0" encoding="utf-8"?>
<p:tagLst xmlns:a="http://schemas.openxmlformats.org/drawingml/2006/main" xmlns:r="http://schemas.openxmlformats.org/officeDocument/2006/relationships" xmlns:p="http://schemas.openxmlformats.org/presentationml/2006/main">
  <p:tag name="EMFCHILD" val="True"/>
  <p:tag name="ORIGINALHEIGHT" val="0.341702"/>
  <p:tag name="ORIGINALWIDTH" val="4.714294"/>
</p:tagLst>
</file>

<file path=ppt/tags/tag14.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15.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16.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17.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18.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19.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20.xml><?xml version="1.0" encoding="utf-8"?>
<p:tagLst xmlns:a="http://schemas.openxmlformats.org/drawingml/2006/main" xmlns:r="http://schemas.openxmlformats.org/officeDocument/2006/relationships" xmlns:p="http://schemas.openxmlformats.org/presentationml/2006/main">
  <p:tag name="EMFCHILD" val="True"/>
  <p:tag name="ORIGINALHEIGHT" val="7.023662"/>
  <p:tag name="ORIGINALWIDTH" val="3.666235"/>
</p:tagLst>
</file>

<file path=ppt/tags/tag21.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22.xml><?xml version="1.0" encoding="utf-8"?>
<p:tagLst xmlns:a="http://schemas.openxmlformats.org/drawingml/2006/main" xmlns:r="http://schemas.openxmlformats.org/officeDocument/2006/relationships" xmlns:p="http://schemas.openxmlformats.org/presentationml/2006/main">
  <p:tag name="EMFCHILD" val="True"/>
  <p:tag name="ORIGINALHEIGHT" val="0.341702"/>
  <p:tag name="ORIGINALWIDTH" val="4.714294"/>
</p:tagLst>
</file>

<file path=ppt/tags/tag23.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24.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25.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26.xml><?xml version="1.0" encoding="utf-8"?>
<p:tagLst xmlns:a="http://schemas.openxmlformats.org/drawingml/2006/main" xmlns:r="http://schemas.openxmlformats.org/officeDocument/2006/relationships" xmlns:p="http://schemas.openxmlformats.org/presentationml/2006/main">
  <p:tag name="EMFCHILD" val="True"/>
  <p:tag name="ORIGINALHEIGHT" val="0.341702"/>
  <p:tag name="ORIGINALWIDTH" val="4.714294"/>
</p:tagLst>
</file>

<file path=ppt/tags/tag27.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28.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29.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30.xml><?xml version="1.0" encoding="utf-8"?>
<p:tagLst xmlns:a="http://schemas.openxmlformats.org/drawingml/2006/main" xmlns:r="http://schemas.openxmlformats.org/officeDocument/2006/relationships" xmlns:p="http://schemas.openxmlformats.org/presentationml/2006/main">
  <p:tag name="EMFCHILD" val="True"/>
  <p:tag name="ORIGINALHEIGHT" val="7.023662"/>
  <p:tag name="ORIGINALWIDTH" val="3.666235"/>
</p:tagLst>
</file>

<file path=ppt/tags/tag31.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32.xml><?xml version="1.0" encoding="utf-8"?>
<p:tagLst xmlns:a="http://schemas.openxmlformats.org/drawingml/2006/main" xmlns:r="http://schemas.openxmlformats.org/officeDocument/2006/relationships" xmlns:p="http://schemas.openxmlformats.org/presentationml/2006/main">
  <p:tag name="EMFCHILD" val="True"/>
  <p:tag name="ORIGINALHEIGHT" val="0.3984691"/>
  <p:tag name="ORIGINALWIDTH" val="133.3737"/>
</p:tagLst>
</file>

<file path=ppt/tags/tag33.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34.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35.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36.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4.562861"/>
</p:tagLst>
</file>

<file path=ppt/tags/tag37.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38.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39.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40.xml><?xml version="1.0" encoding="utf-8"?>
<p:tagLst xmlns:a="http://schemas.openxmlformats.org/drawingml/2006/main" xmlns:r="http://schemas.openxmlformats.org/officeDocument/2006/relationships" xmlns:p="http://schemas.openxmlformats.org/presentationml/2006/main">
  <p:tag name="EMFCHILD" val="True"/>
  <p:tag name="ORIGINALHEIGHT" val="0.341702"/>
  <p:tag name="ORIGINALWIDTH" val="4.714294"/>
</p:tagLst>
</file>

<file path=ppt/tags/tag41.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42.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43.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44.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45.xml><?xml version="1.0" encoding="utf-8"?>
<p:tagLst xmlns:a="http://schemas.openxmlformats.org/drawingml/2006/main" xmlns:r="http://schemas.openxmlformats.org/officeDocument/2006/relationships" xmlns:p="http://schemas.openxmlformats.org/presentationml/2006/main">
  <p:tag name="EMFCHILD" val="True"/>
  <p:tag name="ORIGINALHEIGHT" val="1.056018"/>
  <p:tag name="ORIGINALWIDTH" val="1.056025"/>
</p:tagLst>
</file>

<file path=ppt/tags/tag46.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47.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4.562861"/>
</p:tagLst>
</file>

<file path=ppt/tags/tag48.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49.xml><?xml version="1.0" encoding="utf-8"?>
<p:tagLst xmlns:a="http://schemas.openxmlformats.org/drawingml/2006/main" xmlns:r="http://schemas.openxmlformats.org/officeDocument/2006/relationships" xmlns:p="http://schemas.openxmlformats.org/presentationml/2006/main">
  <p:tag name="EMFCHILD" val="True"/>
  <p:tag name="ORIGINALHEIGHT" val="0.341702"/>
  <p:tag name="ORIGINALWIDTH" val="4.714294"/>
</p:tagLst>
</file>

<file path=ppt/tags/tag50.xml><?xml version="1.0" encoding="utf-8"?>
<p:tagLst xmlns:a="http://schemas.openxmlformats.org/drawingml/2006/main" xmlns:r="http://schemas.openxmlformats.org/officeDocument/2006/relationships" xmlns:p="http://schemas.openxmlformats.org/presentationml/2006/main">
  <p:tag name="EMFCHILD" val="True"/>
  <p:tag name="ORIGINALHEIGHT" val="4.630617"/>
  <p:tag name="ORIGINALWIDTH" val="2.538478"/>
</p:tagLst>
</file>

<file path=ppt/tags/tag51.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3.666235"/>
</p:tagLst>
</file>

<file path=ppt/tags/tag52.xml><?xml version="1.0" encoding="utf-8"?>
<p:tagLst xmlns:a="http://schemas.openxmlformats.org/drawingml/2006/main" xmlns:r="http://schemas.openxmlformats.org/officeDocument/2006/relationships" xmlns:p="http://schemas.openxmlformats.org/presentationml/2006/main">
  <p:tag name="EMFCHILD" val="True"/>
  <p:tag name="ORIGINALHEIGHT" val="6.635088"/>
  <p:tag name="ORIGINALWIDTH" val="6.625127"/>
</p:tagLst>
</file>

<file path=ppt/tags/tag53.xml><?xml version="1.0" encoding="utf-8"?>
<p:tagLst xmlns:a="http://schemas.openxmlformats.org/drawingml/2006/main" xmlns:r="http://schemas.openxmlformats.org/officeDocument/2006/relationships" xmlns:p="http://schemas.openxmlformats.org/presentationml/2006/main">
  <p:tag name="EMFCHILD" val="True"/>
  <p:tag name="ORIGINALHEIGHT" val="4.513062"/>
  <p:tag name="ORIGINALWIDTH" val="4.562861"/>
</p:tagLst>
</file>

<file path=ppt/tags/tag54.xml><?xml version="1.0" encoding="utf-8"?>
<p:tagLst xmlns:a="http://schemas.openxmlformats.org/drawingml/2006/main" xmlns:r="http://schemas.openxmlformats.org/officeDocument/2006/relationships" xmlns:p="http://schemas.openxmlformats.org/presentationml/2006/main">
  <p:tag name="EMFCHILD" val="True"/>
  <p:tag name="ORIGINALHEIGHT" val="3.145185"/>
  <p:tag name="ORIGINALWIDTH" val="4.261005"/>
</p:tagLst>
</file>

<file path=ppt/tags/tag55.xml><?xml version="1.0" encoding="utf-8"?>
<p:tagLst xmlns:a="http://schemas.openxmlformats.org/drawingml/2006/main" xmlns:r="http://schemas.openxmlformats.org/officeDocument/2006/relationships" xmlns:p="http://schemas.openxmlformats.org/presentationml/2006/main">
  <p:tag name="FILENAME" val=""/>
  <p:tag name="IGUANATEXCURSOR" val="205"/>
  <p:tag name="IGUANATEXSIZE" val="25"/>
  <p:tag name="INPUTTYPE" val="0"/>
  <p:tag name="LATEXADDIN" val="\documentclass{article}&#10;\usepackage[brazil]{babel}&#10;\usepackage[T1]{fontenc}&#10;\usepackage{ae} %incluido&#10;\usepackage{amsmath}&#10;\usepackage{multirow}&#10;\pagestyle{empty}&#10;\begin{document}&#10;&#10;$g(s)=\dfrac{y(s)}{u(s)}=\dfrac{\beta_1s^3+\beta_2s^2+\beta_3s+\beta_4}{s^4+\alpha_1s^3+\alpha_2s^2+\alpha_3s+\alpha_4}$&#10;&#10;\end{document}"/>
  <p:tag name="LATEXENGINEID" val="0"/>
  <p:tag name="ORIGINALHEIGHT" val="303,75"/>
  <p:tag name="ORIGINALWIDTH" val="2373"/>
  <p:tag name="OUTPUTDPI" val="1200"/>
  <p:tag name="TEMPFOLDER" val="C:\Latex\"/>
  <p:tag name="TRANSPARENCY" val="Verdadeiro"/>
</p:tagLst>
</file>

<file path=ppt/tags/tag56.xml><?xml version="1.0" encoding="utf-8"?>
<p:tagLst xmlns:a="http://schemas.openxmlformats.org/drawingml/2006/main" xmlns:r="http://schemas.openxmlformats.org/officeDocument/2006/relationships" xmlns:p="http://schemas.openxmlformats.org/presentationml/2006/main">
  <p:tag name="FILENAME" val=""/>
  <p:tag name="IGUANATEXCURSOR" val="556"/>
  <p:tag name="IGUANATEXSIZE" val="25"/>
  <p:tag name="INPUTTYPE" val="0"/>
  <p:tag name="LATEXADDIN" val="\documentclass{article}&#10;\usepackage[brazil]{babel}&#10;\usepackage[T1]{fontenc}&#10;\usepackage{ae} %incluido&#10;\usepackage{amsmath}&#10;\usepackage{multirow}&#10;\pagestyle{empty}&#10;\begin{document}&#10;&#10;$\begin{bmatrix}&#10;\dot{x_1}(t)\\&#10;\dot{x_2}(t)\\&#10;\dot{x_3}(t)\\&#10;\dot{x_4}(t)&#10;\end{bmatrix}=\begin{bmatrix}&#10;0&amp;1&amp;0&amp;0\\&#10;0&amp;0&amp;1&amp;0\\&#10;0&amp;0&amp;0&amp;1\\&#10;-\alpha_4 &amp; -\alpha_3 &amp; -\alpha_2 &amp; -\alpha_1&#10;\end{bmatrix}\begin{bmatrix}&#10;x_1(t)\\&#10;x_2(t)\\&#10;x_3(t)\\&#10;x_4(t)&#10;\end{bmatrix}+\begin{bmatrix}0\\0\\0\\1 \end{bmatrix}u(t)$&#10;&#10;$y(s)=\begin{bmatrix}\beta_4&amp;\beta_3&amp;\beta_2&amp;\beta_1 \end{bmatrix}x(t)$&#10;&#10;\end{document}"/>
  <p:tag name="LATEXENGINEID" val="0"/>
  <p:tag name="ORIGINALHEIGHT" val="760,5"/>
  <p:tag name="ORIGINALWIDTH" val="3124,5"/>
  <p:tag name="OUTPUTDPI" val="1200"/>
  <p:tag name="TEMPFOLDER" val="C:\Latex\"/>
  <p:tag name="TRANSPARENCY" val="Verdadeiro"/>
</p:tagLst>
</file>

<file path=ppt/tags/tag57.xml><?xml version="1.0" encoding="utf-8"?>
<p:tagLst xmlns:a="http://schemas.openxmlformats.org/drawingml/2006/main" xmlns:r="http://schemas.openxmlformats.org/officeDocument/2006/relationships" xmlns:p="http://schemas.openxmlformats.org/presentationml/2006/main">
  <p:tag name="FILENAME" val=""/>
  <p:tag name="IGUANATEXCURSOR" val="558"/>
  <p:tag name="IGUANATEXSIZE" val="25"/>
  <p:tag name="INPUTTYPE" val="0"/>
  <p:tag name="LATEXADDIN" val="\documentclass{article}&#10;\usepackage[brazil]{babel}&#10;\usepackage[T1]{fontenc}&#10;\usepackage{ae} %incluido&#10;\usepackage{amsmath}&#10;\usepackage{multirow}&#10;\pagestyle{empty}&#10;\begin{document}&#10;&#10;$\begin{bmatrix}&#10;\dot{x_1}(t)\\&#10;\dot{x_2}(t)\\&#10;\dot{x_3}(t)\\&#10;\dot{x_4}(t)&#10;\end{bmatrix}=\begin{bmatrix}&#10; 0&amp; 0 &amp; 0&amp;-\alpha_4\\&#10;1 &amp;0&amp;0&amp;-\alpha_3\\&#10;0&amp;1&amp;0&amp;-\alpha_2\\&#10;0&amp;0&amp;1&amp;-\alpha_1&#10;\end{bmatrix}\begin{bmatrix}&#10;x_1(t)\\&#10;x_2(t)\\&#10;x_3(t)\\&#10;x_4(t)&#10;\end{bmatrix}+\begin{bmatrix}\beta_4\\ \beta_3\\ \beta_2\\ \beta_1 \end{bmatrix}u(t)$&#10;&#10;$y(s)=\begin{bmatrix}0&amp;0&amp;0&amp;1 \end{bmatrix}x(t)$&#10;&#10;\end{document}"/>
  <p:tag name="LATEXENGINEID" val="0"/>
  <p:tag name="ORIGINALHEIGHT" val="760,5"/>
  <p:tag name="ORIGINALWIDTH" val="2678,25"/>
  <p:tag name="OUTPUTDPI" val="1200"/>
  <p:tag name="TEMPFOLDER" val="C:\Latex\"/>
  <p:tag name="TRANSPARENCY" val="Verdadeiro"/>
</p:tagLst>
</file>

<file path=ppt/tags/tag58.xml><?xml version="1.0" encoding="utf-8"?>
<p:tagLst xmlns:a="http://schemas.openxmlformats.org/drawingml/2006/main" xmlns:r="http://schemas.openxmlformats.org/officeDocument/2006/relationships" xmlns:p="http://schemas.openxmlformats.org/presentationml/2006/main">
  <p:tag name="FILENAME" val=""/>
  <p:tag name="IGUANATEXCURSOR" val="205"/>
  <p:tag name="IGUANATEXSIZE" val="25"/>
  <p:tag name="INPUTTYPE" val="0"/>
  <p:tag name="LATEXADDIN" val="\documentclass{article}&#10;\usepackage[brazil]{babel}&#10;\usepackage[T1]{fontenc}&#10;\usepackage{ae} %incluido&#10;\usepackage{amsmath}&#10;\usepackage{multirow}&#10;\pagestyle{empty}&#10;\begin{document}&#10;&#10;$g(s)=\dfrac{y(s)}{u(s)}=\dfrac{\beta_1s^3+\beta_2s^2+\beta_3s+\beta_4}{s^4+\alpha_1s^3+\alpha_2s^2+\alpha_3s+\alpha_4}$&#10;&#10;\end{document}"/>
  <p:tag name="LATEXENGINEID" val="0"/>
  <p:tag name="ORIGINALHEIGHT" val="303,75"/>
  <p:tag name="ORIGINALWIDTH" val="2373"/>
  <p:tag name="OUTPUTDPI" val="1200"/>
  <p:tag name="TEMPFOLDER" val="C:\Latex\"/>
  <p:tag name="TRANSPARENCY" val="Verdadeiro"/>
</p:tagLst>
</file>

<file path=ppt/tags/tag59.xml><?xml version="1.0" encoding="utf-8"?>
<p:tagLst xmlns:a="http://schemas.openxmlformats.org/drawingml/2006/main" xmlns:r="http://schemas.openxmlformats.org/officeDocument/2006/relationships" xmlns:p="http://schemas.openxmlformats.org/presentationml/2006/main">
  <p:tag name="FILENAME" val=""/>
  <p:tag name="IGUANATEXCURSOR" val="559"/>
  <p:tag name="IGUANATEXSIZE" val="25"/>
  <p:tag name="INPUTTYPE" val="0"/>
  <p:tag name="LATEXADDIN" val="\documentclass{article}&#10;\usepackage[brazil]{babel}&#10;\usepackage[T1]{fontenc}&#10;\usepackage{ae} %incluido&#10;\usepackage{amsmath}&#10;\usepackage{multirow}&#10;\pagestyle{empty}&#10;\begin{document}&#10;&#10;$\begin{bmatrix}&#10;\dot{x_1}(t)\\&#10;\dot{x_2}(t)\\&#10;\dot{x_3}(t)\\&#10;\dot{x_4}(t)&#10;\end{bmatrix}=\begin{bmatrix}&#10;-\alpha_1 &amp; 1&amp; 0 &amp; 0\\&#10;-\alpha_2 &amp;0&amp;1&amp;0\\&#10;-\alpha_3&amp;0&amp;0&amp;1\\&#10;-\alpha_4&amp;0&amp;0&amp;0&#10;\end{bmatrix}\begin{bmatrix}&#10;x_1(t)\\&#10;x_2(t)\\&#10;x_3(t)\\&#10;x_4(t)&#10;\end{bmatrix}+\begin{bmatrix}\beta_1\\ \beta_2\\ \beta_3\\ \beta_4 \end{bmatrix}u(t)$&#10;&#10;$y(s)=\begin{bmatrix}1&amp;0&amp;0&amp;0 \end{bmatrix}x(t)$&#10;&#10;\end{document}"/>
  <p:tag name="LATEXENGINEID" val="0"/>
  <p:tag name="ORIGINALHEIGHT" val="760,5"/>
  <p:tag name="ORIGINALWIDTH" val="2678,25"/>
  <p:tag name="OUTPUTDPI" val="1200"/>
  <p:tag name="TEMPFOLDER" val="C:\Latex\"/>
  <p:tag name="TRANSPARENCY" val="Verdadeiro"/>
</p:tagLst>
</file>

<file path=ppt/tags/tag60.xml><?xml version="1.0" encoding="utf-8"?>
<p:tagLst xmlns:a="http://schemas.openxmlformats.org/drawingml/2006/main" xmlns:r="http://schemas.openxmlformats.org/officeDocument/2006/relationships" xmlns:p="http://schemas.openxmlformats.org/presentationml/2006/main">
  <p:tag name="FILENAME" val=""/>
  <p:tag name="IGUANATEXCURSOR" val="558"/>
  <p:tag name="IGUANATEXSIZE" val="25"/>
  <p:tag name="INPUTTYPE" val="0"/>
  <p:tag name="LATEXADDIN" val="\documentclass{article}&#10;\usepackage[brazil]{babel}&#10;\usepackage[T1]{fontenc}&#10;\usepackage{ae} %incluido&#10;\usepackage{amsmath}&#10;\usepackage{multirow}&#10;\pagestyle{empty}&#10;\begin{document}&#10;&#10;&#10;$\begin{bmatrix}&#10;\dot{x_1}(t)\\&#10;\dot{x_2}(t)\\&#10;\dot{x_3}(t)\\&#10;\dot{x_4}(t)&#10;\end{bmatrix}=\begin{bmatrix}&#10;-\alpha_1 &amp; -\alpha_2 &amp; -\alpha_3 &amp; -\alpha_4\\&#10;1&amp;0&amp;0&amp;0\\&#10;0&amp;1&amp;0&amp;0\\&#10;0&amp;0&amp;1&amp;0&#10;\end{bmatrix}\begin{bmatrix}&#10;x_1(t)\\&#10;x_2(t)\\&#10;x_3(t)\\&#10;x_4(t)&#10;\end{bmatrix}+\begin{bmatrix}1\\0\\0\\0 \end{bmatrix}u(t)$&#10;&#10;$y(s)=\begin{bmatrix}\beta_1&amp;\beta_2&amp;\beta_3&amp;\beta_4 \end{bmatrix}x(t)$&#10;&#10;&#10;\end{document}"/>
  <p:tag name="LATEXENGINEID" val="0"/>
  <p:tag name="ORIGINALHEIGHT" val="760,5"/>
  <p:tag name="ORIGINALWIDTH" val="3124,5"/>
  <p:tag name="OUTPUTDPI" val="1200"/>
  <p:tag name="TEMPFOLDER" val="C:\Latex\"/>
  <p:tag name="TRANSPARENCY" val="Verdadeiro"/>
</p:tagLst>
</file>

<file path=ppt/tags/tag61.xml><?xml version="1.0" encoding="utf-8"?>
<p:tagLst xmlns:a="http://schemas.openxmlformats.org/drawingml/2006/main" xmlns:r="http://schemas.openxmlformats.org/officeDocument/2006/relationships" xmlns:p="http://schemas.openxmlformats.org/presentationml/2006/main">
  <p:tag name="FILENAME" val=""/>
  <p:tag name="IGUANATEXCURSOR" val="251"/>
  <p:tag name="IGUANATEXSIZE" val="25"/>
  <p:tag name="INPUTTYPE" val="0"/>
  <p:tag name="LATEXADDIN" val="\documentclass{article}&#10;\usepackage[brazil]{babel}&#10;\usepackage[T1]{fontenc}&#10;\usepackage{ae} %incluido&#10;\usepackage{amsmath}&#10;\usepackage{multirow}&#10;\pagestyle{empty}&#10;\begin{document}&#10;&#10;$&#10;A=\begin{bmatrix}&#10;4 &amp; 1 &amp; -1\\&#10;3 &amp; 2 &amp; 0\\&#10;1 &amp; 1 &amp; 0&#10;\end{bmatrix}&#10;$&#10;&#10;\end{document}"/>
  <p:tag name="LATEXENGINEID" val="0"/>
  <p:tag name="ORIGINALHEIGHT" val="448,5"/>
  <p:tag name="ORIGINALWIDTH" val="914,25"/>
  <p:tag name="OUTPUTDPI" val="1200"/>
  <p:tag name="TEMPFOLDER" val="C:\Latex\"/>
  <p:tag name="TRANSPARENCY" val="Verdadeiro"/>
</p:tagLst>
</file>

<file path=ppt/tags/tag62.xml><?xml version="1.0" encoding="utf-8"?>
<p:tagLst xmlns:a="http://schemas.openxmlformats.org/drawingml/2006/main" xmlns:r="http://schemas.openxmlformats.org/officeDocument/2006/relationships" xmlns:p="http://schemas.openxmlformats.org/presentationml/2006/main">
  <p:tag name="FILENAME" val=""/>
  <p:tag name="IGUANATEXCURSOR" val="221"/>
  <p:tag name="IGUANATEXSIZE" val="25"/>
  <p:tag name="INPUTTYPE" val="0"/>
  <p:tag name="LATEXADDIN" val="\documentclass{article}&#10;\usepackage[brazil]{babel}&#10;\usepackage[T1]{fontenc}&#10;\usepackage{ae} %incluido&#10;\usepackage{amsmath}&#10;\usepackage{multirow}&#10;\pagestyle{empty}&#10;\begin{document}&#10;&#10;$x(k+1)=Ax(k)+Bu(k)$&#10;&#10;$y(k)=Cx(k)+Du(k)$&#10;&#10;\end{document}"/>
  <p:tag name="LATEXENGINEID" val="0"/>
  <p:tag name="ORIGINALHEIGHT" val="274,5"/>
  <p:tag name="ORIGINALWIDTH" val="1422"/>
  <p:tag name="OUTPUTDPI" val="1200"/>
  <p:tag name="TEMPFOLDER" val="C:\Latex\"/>
  <p:tag name="TRANSPARENCY" val="Verdadeiro"/>
</p:tagLst>
</file>

<file path=ppt/tags/tag63.xml><?xml version="1.0" encoding="utf-8"?>
<p:tagLst xmlns:a="http://schemas.openxmlformats.org/drawingml/2006/main" xmlns:r="http://schemas.openxmlformats.org/officeDocument/2006/relationships" xmlns:p="http://schemas.openxmlformats.org/presentationml/2006/main">
  <p:tag name="FILENAME" val=""/>
  <p:tag name="IGUANATEXCURSOR" val="201"/>
  <p:tag name="IGUANATEXSIZE" val="25"/>
  <p:tag name="INPUTTYPE" val="0"/>
  <p:tag name="LATEXADDIN" val="\documentclass{article}&#10;\usepackage[brazil]{babel}&#10;\usepackage[T1]{fontenc}&#10;\usepackage{ae} %incluido&#10;\usepackage{amsmath}&#10;\usepackage{multirow}&#10;\pagestyle{empty}&#10;\begin{document}&#10;&#10;$x(k+1)=Ax(k)+Bu(k)$&#10;&#10;\end{document}"/>
  <p:tag name="LATEXENGINEID" val="0"/>
  <p:tag name="ORIGINALHEIGHT" val="125,25"/>
  <p:tag name="ORIGINALWIDTH" val="1421,25"/>
  <p:tag name="OUTPUTDPI" val="1200"/>
  <p:tag name="TEMPFOLDER" val="C:\Latex\"/>
  <p:tag name="TRANSPARENCY" val="Verdadeiro"/>
</p:tagLst>
</file>

<file path=ppt/tags/tag64.xml><?xml version="1.0" encoding="utf-8"?>
<p:tagLst xmlns:a="http://schemas.openxmlformats.org/drawingml/2006/main" xmlns:r="http://schemas.openxmlformats.org/officeDocument/2006/relationships" xmlns:p="http://schemas.openxmlformats.org/presentationml/2006/main">
  <p:tag name="FILENAME" val=""/>
  <p:tag name="IGUANATEXCURSOR" val="199"/>
  <p:tag name="IGUANATEXSIZE" val="25"/>
  <p:tag name="INPUTTYPE" val="0"/>
  <p:tag name="LATEXADDIN" val="\documentclass{article}&#10;\usepackage[brazil]{babel}&#10;\usepackage[T1]{fontenc}&#10;\usepackage{ae} %incluido&#10;\usepackage{amsmath}&#10;\usepackage{multirow}&#10;\pagestyle{empty}&#10;\begin{document}&#10;&#10;$x(1)=Ax(0)+Bu(0)$&#10;&#10;\end{document}"/>
  <p:tag name="LATEXENGINEID" val="0"/>
  <p:tag name="ORIGINALHEIGHT" val="125,25"/>
  <p:tag name="ORIGINALWIDTH" val="1187,25"/>
  <p:tag name="OUTPUTDPI" val="1200"/>
  <p:tag name="TEMPFOLDER" val="C:\Latex\"/>
  <p:tag name="TRANSPARENCY" val="Verdadeiro"/>
</p:tagLst>
</file>

<file path=ppt/tags/tag65.xml><?xml version="1.0" encoding="utf-8"?>
<p:tagLst xmlns:a="http://schemas.openxmlformats.org/drawingml/2006/main" xmlns:r="http://schemas.openxmlformats.org/officeDocument/2006/relationships" xmlns:p="http://schemas.openxmlformats.org/presentationml/2006/main">
  <p:tag name="FILENAME" val=""/>
  <p:tag name="IGUANATEXCURSOR" val="199"/>
  <p:tag name="IGUANATEXSIZE" val="25"/>
  <p:tag name="INPUTTYPE" val="0"/>
  <p:tag name="LATEXADDIN" val="\documentclass{article}&#10;\usepackage[brazil]{babel}&#10;\usepackage[T1]{fontenc}&#10;\usepackage{ae} %incluido&#10;\usepackage{amsmath}&#10;\usepackage{multirow}&#10;\pagestyle{empty}&#10;\begin{document}&#10;&#10;$x(2)=Ax(1)+Bu(1)$&#10;&#10;\end{document}"/>
  <p:tag name="LATEXENGINEID" val="0"/>
  <p:tag name="ORIGINALHEIGHT" val="125,25"/>
  <p:tag name="ORIGINALWIDTH" val="1187,25"/>
  <p:tag name="OUTPUTDPI" val="1200"/>
  <p:tag name="TEMPFOLDER" val="C:\Latex\"/>
  <p:tag name="TRANSPARENCY" val="Verdadeiro"/>
</p:tagLst>
</file>

<file path=ppt/tags/tag66.xml><?xml version="1.0" encoding="utf-8"?>
<p:tagLst xmlns:a="http://schemas.openxmlformats.org/drawingml/2006/main" xmlns:r="http://schemas.openxmlformats.org/officeDocument/2006/relationships" xmlns:p="http://schemas.openxmlformats.org/presentationml/2006/main">
  <p:tag name="FILENAME" val=""/>
  <p:tag name="IGUANATEXCURSOR" val="205"/>
  <p:tag name="IGUANATEXSIZE" val="25"/>
  <p:tag name="INPUTTYPE" val="0"/>
  <p:tag name="LATEXADDIN" val="\documentclass{article}&#10;\usepackage[brazil]{babel}&#10;\usepackage[T1]{fontenc}&#10;\usepackage{ae} %incluido&#10;\usepackage{amsmath}&#10;\usepackage{multirow}&#10;\pagestyle{empty}&#10;\begin{document}&#10;&#10;$=A^2x(0)+ABu(0)+Bu(1)$&#10;&#10;&#10;\end{document}"/>
  <p:tag name="LATEXENGINEID" val="0"/>
  <p:tag name="ORIGINALHEIGHT" val="134,25"/>
  <p:tag name="ORIGINALWIDTH" val="1551,75"/>
  <p:tag name="OUTPUTDPI" val="1200"/>
  <p:tag name="TEMPFOLDER" val="C:\Latex\"/>
  <p:tag name="TRANSPARENCY" val="Verdadeiro"/>
</p:tagLst>
</file>

<file path=ppt/tags/tag67.xml><?xml version="1.0" encoding="utf-8"?>
<p:tagLst xmlns:a="http://schemas.openxmlformats.org/drawingml/2006/main" xmlns:r="http://schemas.openxmlformats.org/officeDocument/2006/relationships" xmlns:p="http://schemas.openxmlformats.org/presentationml/2006/main">
  <p:tag name="FILENAME" val=""/>
  <p:tag name="IGUANATEXCURSOR" val="189"/>
  <p:tag name="IGUANATEXSIZE" val="25"/>
  <p:tag name="INPUTTYPE" val="0"/>
  <p:tag name="LATEXADDIN" val="\documentclass{article}&#10;\usepackage[brazil]{babel}&#10;\usepackage[T1]{fontenc}&#10;\usepackage{ae} %incluido&#10;\usepackage{amsmath}&#10;\usepackage{multirow}&#10;\pagestyle{empty}&#10;\begin{document}&#10;&#10;$\vdots$&#10;&#10;\end{document}"/>
  <p:tag name="LATEXENGINEID" val="0"/>
  <p:tag name="ORIGINALHEIGHT" val="113,25"/>
  <p:tag name="ORIGINALWIDTH" val="13,5"/>
  <p:tag name="OUTPUTDPI" val="1200"/>
  <p:tag name="TEMPFOLDER" val="C:\Latex\"/>
  <p:tag name="TRANSPARENCY" val="Verdadeiro"/>
</p:tagLst>
</file>

<file path=ppt/tags/tag68.xml><?xml version="1.0" encoding="utf-8"?>
<p:tagLst xmlns:a="http://schemas.openxmlformats.org/drawingml/2006/main" xmlns:r="http://schemas.openxmlformats.org/officeDocument/2006/relationships" xmlns:p="http://schemas.openxmlformats.org/presentationml/2006/main">
  <p:tag name="FILENAME" val=""/>
  <p:tag name="IGUANATEXCURSOR" val="189"/>
  <p:tag name="IGUANATEXSIZE" val="25"/>
  <p:tag name="INPUTTYPE" val="0"/>
  <p:tag name="LATEXADDIN" val="\documentclass{article}&#10;\usepackage[brazil]{babel}&#10;\usepackage[T1]{fontenc}&#10;\usepackage{ae} %incluido&#10;\usepackage{amsmath}&#10;\usepackage{multirow}&#10;\pagestyle{empty}&#10;\begin{document}&#10;&#10;$\vdots$&#10;&#10;\end{document}"/>
  <p:tag name="LATEXENGINEID" val="0"/>
  <p:tag name="ORIGINALHEIGHT" val="113,25"/>
  <p:tag name="ORIGINALWIDTH" val="13,5"/>
  <p:tag name="OUTPUTDPI" val="1200"/>
  <p:tag name="TEMPFOLDER" val="C:\Latex\"/>
  <p:tag name="TRANSPARENCY" val="Verdadeiro"/>
</p:tagLst>
</file>

<file path=ppt/tags/tag69.xml><?xml version="1.0" encoding="utf-8"?>
<p:tagLst xmlns:a="http://schemas.openxmlformats.org/drawingml/2006/main" xmlns:r="http://schemas.openxmlformats.org/officeDocument/2006/relationships" xmlns:p="http://schemas.openxmlformats.org/presentationml/2006/main">
  <p:tag name="FILENAME" val=""/>
  <p:tag name="IGUANATEXCURSOR" val="189"/>
  <p:tag name="IGUANATEXSIZE" val="25"/>
  <p:tag name="INPUTTYPE" val="0"/>
  <p:tag name="LATEXADDIN" val="\documentclass{article}&#10;\usepackage[brazil]{babel}&#10;\usepackage[T1]{fontenc}&#10;\usepackage{ae} %incluido&#10;\usepackage{amsmath}&#10;\usepackage{multirow}&#10;\pagestyle{empty}&#10;\begin{document}&#10;&#10;$\vdots$&#10;&#10;\end{document}"/>
  <p:tag name="LATEXENGINEID" val="0"/>
  <p:tag name="ORIGINALHEIGHT" val="113,25"/>
  <p:tag name="ORIGINALWIDTH" val="13,5"/>
  <p:tag name="OUTPUTDPI" val="1200"/>
  <p:tag name="TEMPFOLDER" val="C:\Latex\"/>
  <p:tag name="TRANSPARENCY" val="Verdadeiro"/>
</p:tagLst>
</file>

<file path=ppt/tags/tag70.xml><?xml version="1.0" encoding="utf-8"?>
<p:tagLst xmlns:a="http://schemas.openxmlformats.org/drawingml/2006/main" xmlns:r="http://schemas.openxmlformats.org/officeDocument/2006/relationships" xmlns:p="http://schemas.openxmlformats.org/presentationml/2006/main">
  <p:tag name="FILENAME" val=""/>
  <p:tag name="IGUANATEXCURSOR" val="189"/>
  <p:tag name="IGUANATEXSIZE" val="25"/>
  <p:tag name="INPUTTYPE" val="0"/>
  <p:tag name="LATEXADDIN" val="\documentclass{article}&#10;\usepackage[brazil]{babel}&#10;\usepackage[T1]{fontenc}&#10;\usepackage{ae} %incluido&#10;\usepackage{amsmath}&#10;\usepackage{multirow}&#10;\pagestyle{empty}&#10;\begin{document}&#10;&#10;$\vdots$&#10;&#10;\end{document}"/>
  <p:tag name="LATEXENGINEID" val="0"/>
  <p:tag name="ORIGINALHEIGHT" val="113,25"/>
  <p:tag name="ORIGINALWIDTH" val="13,5"/>
  <p:tag name="OUTPUTDPI" val="1200"/>
  <p:tag name="TEMPFOLDER" val="C:\Latex\"/>
  <p:tag name="TRANSPARENCY" val="Verdadeiro"/>
</p:tagLst>
</file>

<file path=ppt/tags/tag71.xml><?xml version="1.0" encoding="utf-8"?>
<p:tagLst xmlns:a="http://schemas.openxmlformats.org/drawingml/2006/main" xmlns:r="http://schemas.openxmlformats.org/officeDocument/2006/relationships" xmlns:p="http://schemas.openxmlformats.org/presentationml/2006/main">
  <p:tag name="FILENAME" val=""/>
  <p:tag name="IGUANATEXCURSOR" val="189"/>
  <p:tag name="IGUANATEXSIZE" val="25"/>
  <p:tag name="INPUTTYPE" val="0"/>
  <p:tag name="LATEXADDIN" val="\documentclass{article}&#10;\usepackage[brazil]{babel}&#10;\usepackage[T1]{fontenc}&#10;\usepackage{ae} %incluido&#10;\usepackage{amsmath}&#10;\usepackage{multirow}&#10;\pagestyle{empty}&#10;\begin{document}&#10;&#10;$\vdots$&#10;&#10;\end{document}"/>
  <p:tag name="LATEXENGINEID" val="0"/>
  <p:tag name="ORIGINALHEIGHT" val="113,25"/>
  <p:tag name="ORIGINALWIDTH" val="13,5"/>
  <p:tag name="OUTPUTDPI" val="1200"/>
  <p:tag name="TEMPFOLDER" val="C:\Latex\"/>
  <p:tag name="TRANSPARENCY" val="Verdadeiro"/>
</p:tagLst>
</file>

<file path=ppt/tags/tag72.xml><?xml version="1.0" encoding="utf-8"?>
<p:tagLst xmlns:a="http://schemas.openxmlformats.org/drawingml/2006/main" xmlns:r="http://schemas.openxmlformats.org/officeDocument/2006/relationships" xmlns:p="http://schemas.openxmlformats.org/presentationml/2006/main">
  <p:tag name="FILENAME" val=""/>
  <p:tag name="IGUANATEXCURSOR" val="248"/>
  <p:tag name="IGUANATEXSIZE" val="25"/>
  <p:tag name="INPUTTYPE" val="0"/>
  <p:tag name="LATEXADDIN" val="\documentclass{article}&#10;\usepackage[brazil]{babel}&#10;\usepackage[T1]{fontenc}&#10;\usepackage{ae} %incluido&#10;\usepackage{amsmath}&#10;\usepackage{multirow}&#10;\pagestyle{empty}&#10;\begin{document}&#10;&#10;$x(n)=A^{n}x(0)+A^{n-1}B u(0)+A^{n-2}B u(1)+...+AB u(n-2)+B u(n-1)$&#10;&#10;\end{document}"/>
  <p:tag name="LATEXENGINEID" val="0"/>
  <p:tag name="ORIGINALHEIGHT" val="134,25"/>
  <p:tag name="ORIGINALWIDTH" val="4092,75"/>
  <p:tag name="OUTPUTDPI" val="1200"/>
  <p:tag name="TEMPFOLDER" val="C:\Latex\"/>
  <p:tag name="TRANSPARENCY" val="Verdadeiro"/>
</p:tagLst>
</file>

<file path=ppt/tags/tag73.xml><?xml version="1.0" encoding="utf-8"?>
<p:tagLst xmlns:a="http://schemas.openxmlformats.org/drawingml/2006/main" xmlns:r="http://schemas.openxmlformats.org/officeDocument/2006/relationships" xmlns:p="http://schemas.openxmlformats.org/presentationml/2006/main">
  <p:tag name="FILENAME" val=""/>
  <p:tag name="IGUANATEXCURSOR" val="329"/>
  <p:tag name="IGUANATEXSIZE" val="25"/>
  <p:tag name="INPUTTYPE" val="0"/>
  <p:tag name="LATEXADDIN" val="\documentclass{article}&#10;\usepackage[brazil]{babel}&#10;\usepackage[T1]{fontenc}&#10;\usepackage{ae} %incluido&#10;\usepackage{amsmath}&#10;\usepackage{multirow}&#10;\pagestyle{empty}&#10;\begin{document}&#10;&#10;$x(n)=A^{n}x(0)+\begin{bmatrix}&#10;B &amp; AB &amp; A^2B &amp; \cdots &amp; A^{n-1}B&#10;\end{bmatrix}\begin{bmatrix}&#10;u(n-1)\\&#10;u(n-2)\\&#10;\vdots\\&#10;u(1)\\&#10;u(0)&#10;\end{bmatrix}$&#10;&#10;\end{document}"/>
  <p:tag name="LATEXENGINEID" val="0"/>
  <p:tag name="ORIGINALHEIGHT" val="822"/>
  <p:tag name="ORIGINALWIDTH" val="3254,25"/>
  <p:tag name="OUTPUTDPI" val="1200"/>
  <p:tag name="TEMPFOLDER" val="C:\Latex\"/>
  <p:tag name="TRANSPARENCY" val="Verdadeiro"/>
</p:tagLst>
</file>

<file path=ppt/tags/tag74.xml><?xml version="1.0" encoding="utf-8"?>
<p:tagLst xmlns:a="http://schemas.openxmlformats.org/drawingml/2006/main" xmlns:r="http://schemas.openxmlformats.org/officeDocument/2006/relationships" xmlns:p="http://schemas.openxmlformats.org/presentationml/2006/main">
  <p:tag name="FILENAME" val=""/>
  <p:tag name="IGUANATEXCURSOR" val="329"/>
  <p:tag name="IGUANATEXSIZE" val="25"/>
  <p:tag name="INPUTTYPE" val="0"/>
  <p:tag name="LATEXADDIN" val="\documentclass{article}&#10;\usepackage[brazil]{babel}&#10;\usepackage[T1]{fontenc}&#10;\usepackage{ae} %incluido&#10;\usepackage{amsmath}&#10;\usepackage{multirow}&#10;\pagestyle{empty}&#10;\begin{document}&#10;&#10;$x(n)=A^{n}x(0)+\begin{bmatrix}&#10;B &amp; AB &amp; A^2B &amp; \cdots &amp; A^{n-1}B&#10;\end{bmatrix}\begin{bmatrix}&#10;u(n-1)\\&#10;u(n-2)\\&#10;\vdots\\&#10;u(1)\\&#10;u(0)&#10;\end{bmatrix}$&#10;&#10;\end{document}"/>
  <p:tag name="LATEXENGINEID" val="0"/>
  <p:tag name="ORIGINALHEIGHT" val="822"/>
  <p:tag name="ORIGINALWIDTH" val="3254,25"/>
  <p:tag name="OUTPUTDPI" val="1200"/>
  <p:tag name="TEMPFOLDER" val="C:\Latex\"/>
  <p:tag name="TRANSPARENCY" val="Verdadeiro"/>
</p:tagLst>
</file>

<file path=ppt/tags/tag75.xml><?xml version="1.0" encoding="utf-8"?>
<p:tagLst xmlns:a="http://schemas.openxmlformats.org/drawingml/2006/main" xmlns:r="http://schemas.openxmlformats.org/officeDocument/2006/relationships" xmlns:p="http://schemas.openxmlformats.org/presentationml/2006/main">
  <p:tag name="FILENAME" val=""/>
  <p:tag name="IGUANATEXCURSOR" val="329"/>
  <p:tag name="IGUANATEXSIZE" val="25"/>
  <p:tag name="INPUTTYPE" val="0"/>
  <p:tag name="LATEXADDIN" val="\documentclass{article}&#10;\usepackage[brazil]{babel}&#10;\usepackage[T1]{fontenc}&#10;\usepackage{ae} %incluido&#10;\usepackage{amsmath}&#10;\usepackage{multirow}&#10;\pagestyle{empty}&#10;\begin{document}&#10;&#10;$x(n)-A^{n}x(0)=\begin{bmatrix}&#10;B &amp; AB &amp; A^2B &amp; \cdots &amp; A^{n-1}B&#10;\end{bmatrix}\begin{bmatrix}&#10;u(n-1)\\&#10;u(n-2)\\&#10;\vdots\\&#10;u(1)\\&#10;u(0)&#10;\end{bmatrix}$&#10;&#10;\end{document}"/>
  <p:tag name="LATEXENGINEID" val="0"/>
  <p:tag name="ORIGINALHEIGHT" val="822"/>
  <p:tag name="ORIGINALWIDTH" val="3254,25"/>
  <p:tag name="OUTPUTDPI" val="1200"/>
  <p:tag name="TEMPFOLDER" val="C:\Latex\"/>
  <p:tag name="TRANSPARENCY" val="Verdadeiro"/>
</p:tagLst>
</file>

<file path=ppt/tags/tag76.xml><?xml version="1.0" encoding="utf-8"?>
<p:tagLst xmlns:a="http://schemas.openxmlformats.org/drawingml/2006/main" xmlns:r="http://schemas.openxmlformats.org/officeDocument/2006/relationships" xmlns:p="http://schemas.openxmlformats.org/presentationml/2006/main">
  <p:tag name="FILENAME" val=""/>
  <p:tag name="IGUANATEXCURSOR" val="259"/>
  <p:tag name="IGUANATEXSIZE" val="25"/>
  <p:tag name="INPUTTYPE" val="0"/>
  <p:tag name="LATEXADDIN" val="\documentclass{article}&#10;\usepackage[brazil]{babel}&#10;\usepackage[T1]{fontenc}&#10;\usepackage{ae} %incluido&#10;\usepackage{amsmath}&#10;\usepackage{multirow}&#10;\pagestyle{empty}&#10;\begin{document}&#10;&#10;$\emph{Rank}\begin{bmatrix}&#10;B &amp; AB &amp; A^2B &amp; \cdots &amp; A^{n-1}B&#10;\end{bmatrix}=n$&#10;&#10;\end{document}"/>
  <p:tag name="LATEXENGINEID" val="0"/>
  <p:tag name="ORIGINALHEIGHT" val="150"/>
  <p:tag name="ORIGINALWIDTH" val="2227,5"/>
  <p:tag name="OUTPUTDPI" val="1200"/>
  <p:tag name="TEMPFOLDER" val="C:\Latex\"/>
  <p:tag name="TRANSPARENCY" val="Verdadeiro"/>
</p:tagLst>
</file>

<file path=ppt/tags/tag77.xml><?xml version="1.0" encoding="utf-8"?>
<p:tagLst xmlns:a="http://schemas.openxmlformats.org/drawingml/2006/main" xmlns:r="http://schemas.openxmlformats.org/officeDocument/2006/relationships" xmlns:p="http://schemas.openxmlformats.org/presentationml/2006/main">
  <p:tag name="FILENAME" val=""/>
  <p:tag name="IGUANATEXCURSOR" val="221"/>
  <p:tag name="IGUANATEXSIZE" val="25"/>
  <p:tag name="INPUTTYPE" val="0"/>
  <p:tag name="LATEXADDIN" val="\documentclass{article}&#10;\usepackage[brazil]{babel}&#10;\usepackage[T1]{fontenc}&#10;\usepackage{ae} %incluido&#10;\usepackage{amsmath}&#10;\usepackage{multirow}&#10;\pagestyle{empty}&#10;\begin{document}&#10;&#10;$x(k+1)=Ax(k)+Bu(k)$&#10;&#10;$y(k)=Cx(k)+Du(k)$&#10;&#10;\end{document}"/>
  <p:tag name="LATEXENGINEID" val="0"/>
  <p:tag name="ORIGINALHEIGHT" val="274,5"/>
  <p:tag name="ORIGINALWIDTH" val="1422"/>
  <p:tag name="OUTPUTDPI" val="1200"/>
  <p:tag name="TEMPFOLDER" val="C:\Latex\"/>
  <p:tag name="TRANSPARENCY" val="Verdadeiro"/>
</p:tagLst>
</file>

<file path=ppt/tags/tag78.xml><?xml version="1.0" encoding="utf-8"?>
<p:tagLst xmlns:a="http://schemas.openxmlformats.org/drawingml/2006/main" xmlns:r="http://schemas.openxmlformats.org/officeDocument/2006/relationships" xmlns:p="http://schemas.openxmlformats.org/presentationml/2006/main">
  <p:tag name="FILENAME" val=""/>
  <p:tag name="IGUANATEXCURSOR" val="209"/>
  <p:tag name="IGUANATEXSIZE" val="25"/>
  <p:tag name="INPUTTYPE" val="0"/>
  <p:tag name="LATEXADDIN" val="\documentclass{article}&#10;\usepackage[brazil]{babel}&#10;\usepackage[T1]{fontenc}&#10;\usepackage{ae} %incluido&#10;\usepackage{amsmath}&#10;\usepackage{multirow}&#10;\pagestyle{empty}&#10;\begin{document}&#10;&#10;$x(k+1)=Ax(k)$&#10;&#10;$y(k)=Cx(k)$&#10;&#10;\end{document}"/>
  <p:tag name="LATEXENGINEID" val="0"/>
  <p:tag name="ORIGINALHEIGHT" val="274,5"/>
  <p:tag name="ORIGINALWIDTH" val="932,25"/>
  <p:tag name="OUTPUTDPI" val="1200"/>
  <p:tag name="TEMPFOLDER" val="C:\Latex\"/>
  <p:tag name="TRANSPARENCY" val="Verdadeiro"/>
</p:tagLst>
</file>

<file path=ppt/tags/tag79.xml><?xml version="1.0" encoding="utf-8"?>
<p:tagLst xmlns:a="http://schemas.openxmlformats.org/drawingml/2006/main" xmlns:r="http://schemas.openxmlformats.org/officeDocument/2006/relationships" xmlns:p="http://schemas.openxmlformats.org/presentationml/2006/main">
  <p:tag name="FILENAME" val=""/>
  <p:tag name="IGUANATEXCURSOR" val="209"/>
  <p:tag name="IGUANATEXSIZE" val="25"/>
  <p:tag name="INPUTTYPE" val="0"/>
  <p:tag name="LATEXADDIN" val="\documentclass{article}&#10;\usepackage[brazil]{babel}&#10;\usepackage[T1]{fontenc}&#10;\usepackage{ae} %incluido&#10;\usepackage{amsmath}&#10;\usepackage{multirow}&#10;\pagestyle{empty}&#10;\begin{document}&#10;&#10;$x(k+1)=Ax(k)$&#10;&#10;$y(k)=Cx(k)$&#10;&#10;\end{document}"/>
  <p:tag name="LATEXENGINEID" val="0"/>
  <p:tag name="ORIGINALHEIGHT" val="274,5"/>
  <p:tag name="ORIGINALWIDTH" val="932,25"/>
  <p:tag name="OUTPUTDPI" val="1200"/>
  <p:tag name="TEMPFOLDER" val="C:\Latex\"/>
  <p:tag name="TRANSPARENCY" val="Verdadeiro"/>
</p:tagLst>
</file>

<file path=ppt/tags/tag80.xml><?xml version="1.0" encoding="utf-8"?>
<p:tagLst xmlns:a="http://schemas.openxmlformats.org/drawingml/2006/main" xmlns:r="http://schemas.openxmlformats.org/officeDocument/2006/relationships" xmlns:p="http://schemas.openxmlformats.org/presentationml/2006/main">
  <p:tag name="FILENAME" val=""/>
  <p:tag name="IGUANATEXCURSOR" val="209"/>
  <p:tag name="IGUANATEXSIZE" val="25"/>
  <p:tag name="INPUTTYPE" val="0"/>
  <p:tag name="LATEXADDIN" val="\documentclass{article}&#10;\usepackage[brazil]{babel}&#10;\usepackage[T1]{fontenc}&#10;\usepackage{ae} %incluido&#10;\usepackage{amsmath}&#10;\usepackage{multirow}&#10;\pagestyle{empty}&#10;\begin{document}&#10;&#10;$x(k+1)=Ax(k)$&#10;&#10;$y(k)=Cx(k)$&#10;&#10;\end{document}"/>
  <p:tag name="LATEXENGINEID" val="0"/>
  <p:tag name="ORIGINALHEIGHT" val="274,5"/>
  <p:tag name="ORIGINALWIDTH" val="932,25"/>
  <p:tag name="OUTPUTDPI" val="1200"/>
  <p:tag name="TEMPFOLDER" val="C:\Latex\"/>
  <p:tag name="TRANSPARENCY" val="Verdadeiro"/>
</p:tagLst>
</file>

<file path=ppt/tags/tag81.xml><?xml version="1.0" encoding="utf-8"?>
<p:tagLst xmlns:a="http://schemas.openxmlformats.org/drawingml/2006/main" xmlns:r="http://schemas.openxmlformats.org/officeDocument/2006/relationships" xmlns:p="http://schemas.openxmlformats.org/presentationml/2006/main">
  <p:tag name="FILENAME" val=""/>
  <p:tag name="IGUANATEXCURSOR" val="193"/>
  <p:tag name="IGUANATEXSIZE" val="25"/>
  <p:tag name="INPUTTYPE" val="0"/>
  <p:tag name="LATEXADDIN" val="\documentclass{article}&#10;\usepackage[brazil]{babel}&#10;\usepackage[T1]{fontenc}&#10;\usepackage{ae} %incluido&#10;\usepackage{amsmath}&#10;\usepackage{multirow}&#10;\pagestyle{empty}&#10;\begin{document}&#10;&#10;$y(0)=Cx(0)$&#10;&#10;\end{document}"/>
  <p:tag name="LATEXENGINEID" val="0"/>
  <p:tag name="ORIGINALHEIGHT" val="125,25"/>
  <p:tag name="ORIGINALWIDTH" val="703,5"/>
  <p:tag name="OUTPUTDPI" val="1200"/>
  <p:tag name="TEMPFOLDER" val="C:\Latex\"/>
  <p:tag name="TRANSPARENCY" val="Verdadeiro"/>
</p:tagLst>
</file>

<file path=ppt/tags/tag82.xml><?xml version="1.0" encoding="utf-8"?>
<p:tagLst xmlns:a="http://schemas.openxmlformats.org/drawingml/2006/main" xmlns:r="http://schemas.openxmlformats.org/officeDocument/2006/relationships" xmlns:p="http://schemas.openxmlformats.org/presentationml/2006/main">
  <p:tag name="FILENAME" val=""/>
  <p:tag name="IGUANATEXCURSOR" val="200"/>
  <p:tag name="IGUANATEXSIZE" val="25"/>
  <p:tag name="INPUTTYPE" val="0"/>
  <p:tag name="LATEXADDIN" val="\documentclass{article}&#10;\usepackage[brazil]{babel}&#10;\usepackage[T1]{fontenc}&#10;\usepackage{ae} %incluido&#10;\usepackage{amsmath}&#10;\usepackage{multirow}&#10;\pagestyle{empty}&#10;\begin{document}&#10;&#10;$y(1)=Cx(1)=CAx(0)$&#10;&#10;\end{document}"/>
  <p:tag name="LATEXENGINEID" val="0"/>
  <p:tag name="ORIGINALHEIGHT" val="125,25"/>
  <p:tag name="ORIGINALWIDTH" val="1290,75"/>
  <p:tag name="OUTPUTDPI" val="1200"/>
  <p:tag name="TEMPFOLDER" val="C:\Latex\"/>
  <p:tag name="TRANSPARENCY" val="Verdadeiro"/>
</p:tagLst>
</file>

<file path=ppt/tags/tag83.xml><?xml version="1.0" encoding="utf-8"?>
<p:tagLst xmlns:a="http://schemas.openxmlformats.org/drawingml/2006/main" xmlns:r="http://schemas.openxmlformats.org/officeDocument/2006/relationships" xmlns:p="http://schemas.openxmlformats.org/presentationml/2006/main">
  <p:tag name="FILENAME" val=""/>
  <p:tag name="IGUANATEXCURSOR" val="203"/>
  <p:tag name="IGUANATEXSIZE" val="25"/>
  <p:tag name="INPUTTYPE" val="0"/>
  <p:tag name="LATEXADDIN" val="\documentclass{article}&#10;\usepackage[brazil]{babel}&#10;\usepackage[T1]{fontenc}&#10;\usepackage{ae} %incluido&#10;\usepackage{amsmath}&#10;\usepackage{multirow}&#10;\pagestyle{empty}&#10;\begin{document}&#10;&#10;$y(2)=CAx(1)=CA^2x(0)$&#10;&#10;\end{document}"/>
  <p:tag name="LATEXENGINEID" val="0"/>
  <p:tag name="ORIGINALHEIGHT" val="134,25"/>
  <p:tag name="ORIGINALWIDTH" val="1440,75"/>
  <p:tag name="OUTPUTDPI" val="1200"/>
  <p:tag name="TEMPFOLDER" val="C:\Latex\"/>
  <p:tag name="TRANSPARENCY" val="Verdadeiro"/>
</p:tagLst>
</file>

<file path=ppt/tags/tag84.xml><?xml version="1.0" encoding="utf-8"?>
<p:tagLst xmlns:a="http://schemas.openxmlformats.org/drawingml/2006/main" xmlns:r="http://schemas.openxmlformats.org/officeDocument/2006/relationships" xmlns:p="http://schemas.openxmlformats.org/presentationml/2006/main">
  <p:tag name="FILENAME" val=""/>
  <p:tag name="IGUANATEXCURSOR" val="220"/>
  <p:tag name="IGUANATEXSIZE" val="25"/>
  <p:tag name="INPUTTYPE" val="0"/>
  <p:tag name="LATEXADDIN" val="\documentclass{article}&#10;\usepackage[brazil]{babel}&#10;\usepackage[T1]{fontenc}&#10;\usepackage{ae} %incluido&#10;\usepackage{amsmath}&#10;\usepackage{multirow}&#10;\pagestyle{empty}&#10;\begin{document}&#10;&#10;$\vdots$&#10;&#10;$y(n-1)=Cx(n-1)=CA^{n-1}x(0)$&#10;&#10;\end{document}"/>
  <p:tag name="LATEXENGINEID" val="0"/>
  <p:tag name="ORIGINALHEIGHT" val="294"/>
  <p:tag name="ORIGINALWIDTH" val="1940,25"/>
  <p:tag name="OUTPUTDPI" val="1200"/>
  <p:tag name="TEMPFOLDER" val="C:\Latex\"/>
  <p:tag name="TRANSPARENCY" val="Verdadeiro"/>
</p:tagLst>
</file>

<file path=ppt/tags/tag85.xml><?xml version="1.0" encoding="utf-8"?>
<p:tagLst xmlns:a="http://schemas.openxmlformats.org/drawingml/2006/main" xmlns:r="http://schemas.openxmlformats.org/officeDocument/2006/relationships" xmlns:p="http://schemas.openxmlformats.org/presentationml/2006/main">
  <p:tag name="FILENAME" val=""/>
  <p:tag name="IGUANATEXCURSOR" val="318"/>
  <p:tag name="IGUANATEXSIZE" val="25"/>
  <p:tag name="INPUTTYPE" val="0"/>
  <p:tag name="LATEXADDIN" val="\documentclass{article}&#10;\usepackage[brazil]{babel}&#10;\usepackage[T1]{fontenc}&#10;\usepackage{ae} %incluido&#10;\usepackage{amsmath}&#10;\usepackage{multirow}&#10;\pagestyle{empty}&#10;\begin{document}&#10;&#10;$\begin{bmatrix}&#10;y(0)\\&#10;y(1)\\&#10;y(2)\\&#10;\vdots\\&#10;y(n-1)&#10;\end{bmatrix}=&#10;\begin{bmatrix}&#10;C\\&#10;CA\\&#10;CA^2\\&#10;\vdots\\&#10;CA^{n-1}&#10;\end{bmatrix}x(0)$&#10;&#10;\end{document}"/>
  <p:tag name="LATEXENGINEID" val="0"/>
  <p:tag name="ORIGINALHEIGHT" val="822"/>
  <p:tag name="ORIGINALWIDTH" val="1534,5"/>
  <p:tag name="OUTPUTDPI" val="1200"/>
  <p:tag name="TEMPFOLDER" val="C:\Latex\"/>
  <p:tag name="TRANSPARENCY" val="Verdadeiro"/>
</p:tagLst>
</file>

<file path=ppt/tags/tag86.xml><?xml version="1.0" encoding="utf-8"?>
<p:tagLst xmlns:a="http://schemas.openxmlformats.org/drawingml/2006/main" xmlns:r="http://schemas.openxmlformats.org/officeDocument/2006/relationships" xmlns:p="http://schemas.openxmlformats.org/presentationml/2006/main">
  <p:tag name="FILENAME" val=""/>
  <p:tag name="IGUANATEXCURSOR" val="258"/>
  <p:tag name="IGUANATEXSIZE" val="25"/>
  <p:tag name="INPUTTYPE" val="0"/>
  <p:tag name="LATEXADDIN" val="\documentclass{article}&#10;\usepackage[brazil]{babel}&#10;\usepackage[T1]{fontenc}&#10;\usepackage{ae} %incluido&#10;\usepackage{amsmath}&#10;\usepackage{multirow}&#10;\pagestyle{empty}&#10;\begin{document}&#10;&#10;$\emph{rank}\begin{bmatrix}&#10;C\\&#10;CA\\&#10;CA^2\\&#10;\vdots\\&#10;CA^{n-1}&#10;\end{bmatrix}=n$&#10;&#10;\end{document}"/>
  <p:tag name="LATEXENGINEID" val="0"/>
  <p:tag name="ORIGINALHEIGHT" val="822"/>
  <p:tag name="ORIGINALWIDTH" val="1038"/>
  <p:tag name="OUTPUTDPI" val="1200"/>
  <p:tag name="TEMPFOLDER" val="C:\Latex\"/>
  <p:tag name="TRANSPARENCY" val="Verdadeiro"/>
</p:tagLst>
</file>

<file path=ppt/tags/tag8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9"/>
  <p:tag name="IGUANATEXSIZE" val="25"/>
  <p:tag name="LATEXADDIN" val="\documentclass{article}&#10;\usepackage{ae} %incluido&#10;\usepackage{multirow}&#10;\usepackage{mathrsfs} %Transformada de laplace e Fourier&#10;\usepackage{amsmath}&#10;\pagestyle{empty}&#10;&#10;\begin{document}&#10;&#10;$\dfrac{Y(s)}{R(s)}=\dfrac{G(s)}{1+kG(s)}$&#10;&#10;\end{document}"/>
  <p:tag name="LATEXENGINEID" val="0"/>
  <p:tag name="LATEXFORMHEIGHT" val="312"/>
  <p:tag name="LATEXFORMWIDTH" val="384"/>
  <p:tag name="LATEXFORMWRAP" val="Verdadero"/>
  <p:tag name="ORIGINALHEIGHT" val="294.7131"/>
  <p:tag name="ORIGINALWIDTH" val="986.8766"/>
  <p:tag name="OUTPUTDPI" val="1200"/>
  <p:tag name="TEMPFOLDER" val="c:\temp\"/>
  <p:tag name="TRANSPARENCY" val="Verdadero"/>
</p:tagLst>
</file>

<file path=ppt/tags/tag8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5"/>
  <p:tag name="LATEXADDIN" val="\documentclass{article}&#10;\usepackage{ae} %incluido&#10;\usepackage{multirow}&#10;\usepackage{mathrsfs} %Transformada de laplace e Fourier&#10;\usepackage{amsmath}&#10;\pagestyle{empty}&#10;&#10;\begin{document}&#10;&#10;$G(s)=\dfrac{b_0s}{s^2+a_1s+a_2}$&#10;&#10;\end{document}"/>
  <p:tag name="LATEXENGINEID" val="0"/>
  <p:tag name="LATEXFORMHEIGHT" val="312"/>
  <p:tag name="LATEXFORMWIDTH" val="384"/>
  <p:tag name="LATEXFORMWRAP" val="Verdadero"/>
  <p:tag name="ORIGINALHEIGHT" val="274.4657"/>
  <p:tag name="ORIGINALWIDTH" val="1148.856"/>
  <p:tag name="OUTPUTDPI" val="1200"/>
  <p:tag name="TEMPFOLDER" val="c:\temp\"/>
  <p:tag name="TRANSPARENCY" val="Verdadero"/>
</p:tagLst>
</file>

<file path=ppt/tags/tag8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4"/>
  <p:tag name="IGUANATEXSIZE" val="25"/>
  <p:tag name="LATEXADDIN" val="\documentclass{article}&#10;\usepackage{ae} %incluido&#10;\usepackage{multirow}&#10;\usepackage{mathrsfs} %Transformada de laplace e Fourier&#10;\usepackage{amsmath}&#10;\pagestyle{empty}&#10;&#10;\begin{document}&#10;&#10;$\dfrac{Y(s)}{R(s)}=\dfrac{\dfrac{b_0s}{s^2+a_1s+a_2}}{1+k\dfrac{b_0s}{s^2+a_1s+a_2}}$&#10;&#10;&#10;\end{document}"/>
  <p:tag name="LATEXENGINEID" val="0"/>
  <p:tag name="LATEXFORMHEIGHT" val="312"/>
  <p:tag name="LATEXFORMWIDTH" val="384"/>
  <p:tag name="LATEXFORMWRAP" val="Verdadero"/>
  <p:tag name="ORIGINALHEIGHT" val="584.177"/>
  <p:tag name="ORIGINALWIDTH" val="1484.065"/>
  <p:tag name="OUTPUTDPI" val="1200"/>
  <p:tag name="TEMPFOLDER" val="c:\temp\"/>
  <p:tag name="TRANSPARENCY" val="Verdadero"/>
</p:tagLst>
</file>

<file path=ppt/tags/tag9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1"/>
  <p:tag name="IGUANATEXSIZE" val="25"/>
  <p:tag name="LATEXADDIN" val="\documentclass{article}&#10;\usepackage{ae} %incluido&#10;\usepackage{multirow}&#10;\usepackage{mathrsfs} %Transformada de laplace e Fourier&#10;\usepackage{amsmath}&#10;\pagestyle{empty}&#10;&#10;\begin{document}&#10;&#10;$\dfrac{Y(s)}{R(s)}=\dfrac{b_0s}{s^2+(kb_0+a_1)s+a_2}$&#10;&#10;\end{document}"/>
  <p:tag name="LATEXENGINEID" val="0"/>
  <p:tag name="LATEXFORMHEIGHT" val="312"/>
  <p:tag name="LATEXFORMWIDTH" val="384"/>
  <p:tag name="LATEXFORMWRAP" val="Verdadero"/>
  <p:tag name="ORIGINALHEIGHT" val="294.7131"/>
  <p:tag name="ORIGINALWIDTH" val="1598.05"/>
  <p:tag name="OUTPUTDPI" val="1200"/>
  <p:tag name="TEMPFOLDER" val="c:\temp\"/>
  <p:tag name="TRANSPARENCY" val="Verdadero"/>
</p:tagLst>
</file>

<file path=ppt/tags/tag9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9"/>
  <p:tag name="IGUANATEXSIZE" val="25"/>
  <p:tag name="LATEXADDIN" val="\documentclass{article}&#10;\usepackage{ae} %incluido&#10;\usepackage{multirow}&#10;\usepackage{mathrsfs} %Transformada de laplace e Fourier&#10;\usepackage{amsmath}&#10;\pagestyle{empty}&#10;&#10;\begin{document}&#10;&#10;$\dfrac{Y(s)}{R(s)}=\dfrac{G(s)}{1+kG(s)}$&#10;&#10;\end{document}"/>
  <p:tag name="LATEXENGINEID" val="0"/>
  <p:tag name="LATEXFORMHEIGHT" val="312"/>
  <p:tag name="LATEXFORMWIDTH" val="384"/>
  <p:tag name="LATEXFORMWRAP" val="Verdadero"/>
  <p:tag name="ORIGINALHEIGHT" val="294.7131"/>
  <p:tag name="ORIGINALWIDTH" val="986.8766"/>
  <p:tag name="OUTPUTDPI" val="1200"/>
  <p:tag name="TEMPFOLDER" val="c:\temp\"/>
  <p:tag name="TRANSPARENCY" val="Verdadero"/>
</p:tagLst>
</file>

<file path=ppt/tags/tag9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1"/>
  <p:tag name="IGUANATEXSIZE" val="25"/>
  <p:tag name="LATEXADDIN" val="\documentclass{article}&#10;\usepackage{ae} %incluido&#10;\usepackage{multirow}&#10;\usepackage{mathrsfs} %Transformada de laplace e Fourier&#10;\usepackage{amsmath}&#10;\pagestyle{empty}&#10;&#10;\begin{document}&#10;&#10;$\dfrac{Y(s)}{R(s)}=\dfrac{b_0s}{s^2+(kb_0+a_1)s+a_2}$&#10;&#10;\end{document}"/>
  <p:tag name="LATEXENGINEID" val="0"/>
  <p:tag name="LATEXFORMHEIGHT" val="312"/>
  <p:tag name="LATEXFORMWIDTH" val="384"/>
  <p:tag name="LATEXFORMWRAP" val="Verdadero"/>
  <p:tag name="ORIGINALHEIGHT" val="294.7131"/>
  <p:tag name="ORIGINALWIDTH" val="1598.05"/>
  <p:tag name="OUTPUTDPI" val="1200"/>
  <p:tag name="TEMPFOLDER" val="c:\temp\"/>
  <p:tag name="TRANSPARENCY" val="Verdadero"/>
</p:tagLst>
</file>

<file path=ppt/tags/tag9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88"/>
  <p:tag name="IGUANATEXSIZE" val="25"/>
  <p:tag name="LATEXADDIN" val="\documentclass{article}&#10;\usepackage{ae} %incluido&#10;\usepackage{multirow}&#10;\usepackage{mathrsfs} %Transformada de laplace e Fourier&#10;\usepackage{amsmath}&#10;\pagestyle{empty}&#10;&#10;\begin{document}&#10;&#10;$s^2+(kb_0+a_1)s+a_2=0$&#10;&#10;\end{document}"/>
  <p:tag name="LATEXENGINEID" val="0"/>
  <p:tag name="LATEXFORMHEIGHT" val="312"/>
  <p:tag name="LATEXFORMWIDTH" val="384"/>
  <p:tag name="LATEXFORMWRAP" val="Verdadero"/>
  <p:tag name="ORIGINALHEIGHT" val="134.2332"/>
  <p:tag name="ORIGINALWIDTH" val="1364.829"/>
  <p:tag name="OUTPUTDPI" val="1200"/>
  <p:tag name="TEMPFOLDER" val="c:\temp\"/>
  <p:tag name="TRANSPARENCY" val="Verdadero"/>
</p:tagLst>
</file>

<file path=ppt/tags/tag9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6"/>
  <p:tag name="IGUANATEXSIZE" val="25"/>
  <p:tag name="LATEXADDIN" val="\documentclass{article}&#10;\usepackage{ae} %incluido&#10;\usepackage{multirow}&#10;\usepackage{mathrsfs} %Transformada de laplace e Fourier&#10;\usepackage{amsmath}&#10;\pagestyle{empty}&#10;&#10;\begin{document}&#10;&#10;$\dot{x}(t)=\mathbf{A}\vec{x}(t)+\vec{b}u(t)$&#10;&#10;\end{document}"/>
  <p:tag name="LATEXENGINEID" val="0"/>
  <p:tag name="LATEXFORMHEIGHT" val="312"/>
  <p:tag name="LATEXFORMWIDTH" val="384"/>
  <p:tag name="LATEXFORMWRAP" val="Verdadero"/>
  <p:tag name="ORIGINALHEIGHT" val="153.7308"/>
  <p:tag name="ORIGINALWIDTH" val="1103.862"/>
  <p:tag name="OUTPUTDPI" val="1200"/>
  <p:tag name="TEMPFOLDER" val="c:\temp\"/>
  <p:tag name="TRANSPARENCY" val="Verdadero"/>
</p:tagLst>
</file>

<file path=ppt/tags/tag9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5"/>
  <p:tag name="LATEXADDIN" val="\documentclass{article}&#10;\usepackage{ae} %incluido&#10;\usepackage{multirow}&#10;\usepackage{mathrsfs} %Transformada de laplace e Fourier&#10;\usepackage{amsmath}&#10;\pagestyle{empty}&#10;&#10;\begin{document}&#10;&#10;$u(t)=x(\vec{x}(t),t)$&#10;&#10;\end{document}"/>
  <p:tag name="LATEXENGINEID" val="0"/>
  <p:tag name="LATEXFORMHEIGHT" val="312"/>
  <p:tag name="LATEXFORMWIDTH" val="384"/>
  <p:tag name="LATEXFORMWRAP" val="Verdadero"/>
  <p:tag name="ORIGINALHEIGHT" val="125.2343"/>
  <p:tag name="ORIGINALWIDTH" val="845.1443"/>
  <p:tag name="OUTPUTDPI" val="1200"/>
  <p:tag name="TEMPFOLDER" val="c:\temp\"/>
  <p:tag name="TRANSPARENCY" val="Verdadero"/>
</p:tagLst>
</file>

<file path=ppt/tags/tag9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6"/>
  <p:tag name="IGUANATEXSIZE" val="25"/>
  <p:tag name="LATEXADDIN" val="\documentclass{article}&#10;\usepackage{ae} %incluido&#10;\usepackage{multirow}&#10;\usepackage{mathrsfs} %Transformada de laplace e Fourier&#10;\usepackage{amsmath}&#10;\pagestyle{empty}&#10;&#10;\begin{document}&#10;&#10;$u(t)=-k\vec{x}(t),\ \vec{x}\in\Re^n,\ k\in\Re^{1\times n}$&#10;&#10;\end{document}"/>
  <p:tag name="LATEXENGINEID" val="0"/>
  <p:tag name="LATEXFORMHEIGHT" val="312"/>
  <p:tag name="LATEXFORMWIDTH" val="384"/>
  <p:tag name="LATEXFORMWRAP" val="Verdadero"/>
  <p:tag name="ORIGINALHEIGHT" val="134.2332"/>
  <p:tag name="ORIGINALWIDTH" val="1825.272"/>
  <p:tag name="OUTPUTDPI" val="1200"/>
  <p:tag name="TEMPFOLDER" val="c:\temp\"/>
  <p:tag name="TRANSPARENCY" val="Verdadero"/>
</p:tagLst>
</file>

<file path=ppt/tags/tag9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6"/>
  <p:tag name="IGUANATEXSIZE" val="25"/>
  <p:tag name="LATEXADDIN" val="\documentclass{article}&#10;\usepackage{ae} %incluido&#10;\usepackage{multirow}&#10;\usepackage{mathrsfs} %Transformada de laplace e Fourier&#10;\usepackage{amsmath}&#10;\pagestyle{empty}&#10;&#10;\begin{document}&#10;&#10;$\dot{x}(t)=\mathbf{A}\vec{x}(t)+\vec{b}u(t)$&#10;&#10;\end{document}"/>
  <p:tag name="LATEXENGINEID" val="0"/>
  <p:tag name="LATEXFORMHEIGHT" val="312"/>
  <p:tag name="LATEXFORMWIDTH" val="384"/>
  <p:tag name="LATEXFORMWRAP" val="Verdadero"/>
  <p:tag name="ORIGINALHEIGHT" val="153.7308"/>
  <p:tag name="ORIGINALWIDTH" val="1103.862"/>
  <p:tag name="OUTPUTDPI" val="1200"/>
  <p:tag name="TEMPFOLDER" val="c:\temp\"/>
  <p:tag name="TRANSPARENCY" val="Verdadero"/>
</p:tagLst>
</file>

<file path=ppt/tags/tag9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5"/>
  <p:tag name="IGUANATEXSIZE" val="25"/>
  <p:tag name="LATEXADDIN" val="\documentclass{article}&#10;\usepackage{ae} %incluido&#10;\usepackage{multirow}&#10;\usepackage{mathrsfs} %Transformada de laplace e Fourier&#10;\usepackage{amsmath}&#10;\pagestyle{empty}&#10;&#10;\begin{document}&#10;&#10;$u(t)=-k\vec{x}(t)$&#10;&#10;\end{document}"/>
  <p:tag name="LATEXENGINEID" val="0"/>
  <p:tag name="LATEXFORMHEIGHT" val="312"/>
  <p:tag name="LATEXFORMWIDTH" val="384"/>
  <p:tag name="LATEXFORMWRAP" val="Verdadero"/>
  <p:tag name="ORIGINALHEIGHT" val="125.2343"/>
  <p:tag name="ORIGINALWIDTH" val="742.4072"/>
  <p:tag name="OUTPUTDPI" val="1200"/>
  <p:tag name="TEMPFOLDER" val="c:\temp\"/>
  <p:tag name="TRANSPARENCY" val="Verdadero"/>
</p:tagLst>
</file>

<file path=ppt/tags/tag9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9"/>
  <p:tag name="IGUANATEXSIZE" val="25"/>
  <p:tag name="LATEXADDIN" val="\documentclass{article}&#10;\usepackage{ae} %incluido&#10;\usepackage{multirow}&#10;\usepackage{mathrsfs} %Transformada de laplace e Fourier&#10;\usepackage{amsmath}&#10;\pagestyle{empty}&#10;&#10;\begin{document}&#10;&#10;$\dot{x}(t)=\mathbf{A}\vec{x}(t)-\vec{b}k\vec{x}(t)$&#10;&#10;\end{document}"/>
  <p:tag name="LATEXENGINEID" val="0"/>
  <p:tag name="LATEXFORMHEIGHT" val="312"/>
  <p:tag name="LATEXFORMWIDTH" val="384"/>
  <p:tag name="LATEXFORMWRAP" val="Verdadero"/>
  <p:tag name="ORIGINALHEIGHT" val="153.7308"/>
  <p:tag name="ORIGINALWIDTH" val="1172.104"/>
  <p:tag name="OUTPUTDPI" val="1200"/>
  <p:tag name="TEMPFOLDER" val="c:\temp\"/>
  <p:tag name="TRANSPARENCY" val="Verdadero"/>
</p:tagLst>
</file>

<file path=ppt/tags/tag10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5"/>
  <p:tag name="LATEXADDIN" val="\documentclass{article}&#10;\usepackage{ae} %incluido&#10;\usepackage{multirow}&#10;\usepackage{mathrsfs} %Transformada de laplace e Fourier&#10;\usepackage{amsmath}&#10;\pagestyle{empty}&#10;&#10;\begin{document}&#10;&#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0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5"/>
  <p:tag name="LATEXADDIN" val="\documentclass{article}&#10;\usepackage{ae} %incluido&#10;\usepackage{multirow}&#10;\usepackage{mathrsfs} %Transformada de laplace e Fourier&#10;\usepackage{amsmath}&#10;\pagestyle{empty}&#10;&#10;\begin{document}&#10;&#10;$\mathbf{\tilde{A}}$&#10;&#10;\end{document}"/>
  <p:tag name="LATEXENGINEID" val="0"/>
  <p:tag name="LATEXFORMHEIGHT" val="312"/>
  <p:tag name="LATEXFORMWIDTH" val="384"/>
  <p:tag name="LATEXFORMWRAP" val="Verdadero"/>
  <p:tag name="ORIGINALHEIGHT" val="116.2354"/>
  <p:tag name="ORIGINALWIDTH" val="98.98764"/>
  <p:tag name="OUTPUTDPI" val="1200"/>
  <p:tag name="TEMPFOLDER" val="c:\temp\"/>
  <p:tag name="TRANSPARENCY" val="Verdadero"/>
</p:tagLst>
</file>

<file path=ppt/tags/tag10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5"/>
  <p:tag name="LATEXADDIN" val="\documentclass{article}&#10;\usepackage{ae} %incluido&#10;\usepackage{multirow}&#10;\usepackage{mathrsfs} %Transformada de laplace e Fourier&#10;\usepackage{amsmath}&#10;\pagestyle{empty}&#10;&#10;\begin{document}&#10;&#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0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5"/>
  <p:tag name="LATEXADDIN" val="\documentclass{article}&#10;\usepackage{ae} %incluido&#10;\usepackage{multirow}&#10;\usepackage{mathrsfs} %Transformada de laplace e Fourier&#10;\usepackage{amsmath}&#10;\pagestyle{empty}&#10;&#10;\begin{document}&#10;&#10;$G(s)=\dfrac{b_0s}{s^2+a_1s+a_2}$&#10;&#10;\end{document}"/>
  <p:tag name="LATEXENGINEID" val="0"/>
  <p:tag name="LATEXFORMHEIGHT" val="312"/>
  <p:tag name="LATEXFORMWIDTH" val="384"/>
  <p:tag name="LATEXFORMWRAP" val="Verdadero"/>
  <p:tag name="ORIGINALHEIGHT" val="274.4657"/>
  <p:tag name="ORIGINALWIDTH" val="1148.856"/>
  <p:tag name="OUTPUTDPI" val="1200"/>
  <p:tag name="TEMPFOLDER" val="c:\temp\"/>
  <p:tag name="TRANSPARENCY" val="Verdadero"/>
</p:tagLst>
</file>

<file path=ppt/tags/tag10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5"/>
  <p:tag name="LATEXADDIN" val="\documentclass{article}&#10;\usepackage{ae} %incluido&#10;\usepackage{multirow}&#10;\usepackage{mathrsfs} %Transformada de laplace e Fourier&#10;\usepackage{amsmath}&#10;\pagestyle{empty}&#10;&#10;\begin{document}&#10;&#10;$\dot{\vec{x}}=\begin{bmatrix}&#10;-a_1 &amp; -a_2\\&#10;1 &amp; 0&#10;\end{bmatrix}\vec{x}$&#10;&#10;\end{document}"/>
  <p:tag name="LATEXENGINEID" val="0"/>
  <p:tag name="LATEXFORMHEIGHT" val="312"/>
  <p:tag name="LATEXFORMWIDTH" val="384"/>
  <p:tag name="LATEXFORMWRAP" val="Verdadero"/>
  <p:tag name="ORIGINALHEIGHT" val="299.2126"/>
  <p:tag name="ORIGINALWIDTH" val="1024.372"/>
  <p:tag name="OUTPUTDPI" val="1200"/>
  <p:tag name="TEMPFOLDER" val="c:\temp\"/>
  <p:tag name="TRANSPARENCY" val="Verdadero"/>
</p:tagLst>
</file>

<file path=ppt/tags/tag10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5"/>
  <p:tag name="IGUANATEXSIZE" val="25"/>
  <p:tag name="LATEXADDIN" val="\documentclass{article}&#10;\usepackage{ae} %incluido&#10;\usepackage{multirow}&#10;\usepackage{mathrsfs} %Transformada de laplace e Fourier&#10;\usepackage{amsmath}&#10;\pagestyle{empty}&#10;&#10;\begin{document}&#10;&#10;$y=\begin{bmatrix}&#10;b_0 &amp; 0&#10;\end{bmatrix}\vec{x}$&#10;&#10;\end{document}"/>
  <p:tag name="LATEXENGINEID" val="0"/>
  <p:tag name="LATEXFORMHEIGHT" val="312"/>
  <p:tag name="LATEXFORMWIDTH" val="384"/>
  <p:tag name="LATEXFORMWRAP" val="Verdadero"/>
  <p:tag name="ORIGINALHEIGHT" val="149.2313"/>
  <p:tag name="ORIGINALWIDTH" val="725.1594"/>
  <p:tag name="OUTPUTDPI" val="1200"/>
  <p:tag name="TEMPFOLDER" val="c:\temp\"/>
  <p:tag name="TRANSPARENCY" val="Verdadero"/>
</p:tagLst>
</file>

<file path=ppt/tags/tag10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5"/>
  <p:tag name="LATEXADDIN" val="\documentclass{article}&#10;\usepackage{ae} %incluido&#10;\usepackage{multirow}&#10;\usepackage{mathrsfs} %Transformada de laplace e Fourier&#10;\usepackage{amsmath}&#10;\pagestyle{empty}&#10;&#10;\begin{document}&#10;&#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0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3"/>
  <p:tag name="IGUANATEXSIZE" val="25"/>
  <p:tag name="LATEXADDIN" val="\documentclass{article}&#10;\usepackage{ae} %incluido&#10;\usepackage{multirow}&#10;\usepackage{mathrsfs} %Transformada de laplace e Fourier&#10;\usepackage{amsmath}&#10;\pagestyle{empty}&#10;&#10;\begin{document}&#10;&#10;$\dot{\vec{x}}(t)=\begin{bmatrix}&#10;-a_1-k_1&amp; -a_2-k_2 \\&#10;1 &amp; 0&#10;\end{bmatrix}\vec{x}(t)$&#10;&#10;\end{document}"/>
  <p:tag name="LATEXENGINEID" val="0"/>
  <p:tag name="LATEXFORMHEIGHT" val="312"/>
  <p:tag name="LATEXFORMWIDTH" val="384"/>
  <p:tag name="LATEXFORMWRAP" val="Verdadero"/>
  <p:tag name="ORIGINALHEIGHT" val="299.2126"/>
  <p:tag name="ORIGINALWIDTH" val="1835.77"/>
  <p:tag name="OUTPUTDPI" val="1200"/>
  <p:tag name="TEMPFOLDER" val="c:\temp\"/>
  <p:tag name="TRANSPARENCY" val="Verdadero"/>
</p:tagLst>
</file>

<file path=ppt/tags/tag10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6"/>
  <p:tag name="IGUANATEXSIZE" val="25"/>
  <p:tag name="LATEXADDIN" val="\documentclass{article}&#10;\usepackage{ae} %incluido&#10;\usepackage{multirow}&#10;\usepackage{mathrsfs} %Transformada de laplace e Fourier&#10;\usepackage{amsmath}&#10;\pagestyle{empty}&#10;&#10;\begin{document}&#10;&#10;$\dot{x}(t)=\mathbf{A}\vec{x}(t)+\vec{b}u(t)$&#10;&#10;\end{document}"/>
  <p:tag name="LATEXENGINEID" val="0"/>
  <p:tag name="LATEXFORMHEIGHT" val="312"/>
  <p:tag name="LATEXFORMWIDTH" val="384"/>
  <p:tag name="LATEXFORMWRAP" val="Verdadero"/>
  <p:tag name="ORIGINALHEIGHT" val="153.7308"/>
  <p:tag name="ORIGINALWIDTH" val="1103.862"/>
  <p:tag name="OUTPUTDPI" val="1200"/>
  <p:tag name="TEMPFOLDER" val="c:\temp\"/>
  <p:tag name="TRANSPARENCY" val="Verdadero"/>
</p:tagLst>
</file>

<file path=ppt/tags/tag10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0"/>
  <p:tag name="IGUANATEXSIZE" val="25"/>
  <p:tag name="LATEXADDIN" val="\documentclass{article}&#10;\usepackage{ae} %incluido&#10;\usepackage{multirow}&#10;\usepackage{mathrsfs} %Transformada de laplace e Fourier&#10;\usepackage{amsmath}&#10;\pagestyle{empty}&#10;&#10;\begin{document}&#10;&#10;$u(t)=-k\vec{x}(t)+r(t)$&#10;&#10;\end{document}"/>
  <p:tag name="LATEXENGINEID" val="0"/>
  <p:tag name="LATEXFORMHEIGHT" val="312"/>
  <p:tag name="LATEXFORMWIDTH" val="384"/>
  <p:tag name="LATEXFORMWRAP" val="Verdadero"/>
  <p:tag name="ORIGINALHEIGHT" val="125.2343"/>
  <p:tag name="ORIGINALWIDTH" val="1096.363"/>
  <p:tag name="OUTPUTDPI" val="1200"/>
  <p:tag name="TEMPFOLDER" val="c:\temp\"/>
  <p:tag name="TRANSPARENCY" val="Verdadero"/>
</p:tagLst>
</file>

<file path=ppt/tags/tag11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3"/>
  <p:tag name="IGUANATEXSIZE" val="25"/>
  <p:tag name="LATEXADDIN" val="\documentclass{article}&#10;\usepackage{ae} %incluido&#10;\usepackage{multirow}&#10;\usepackage{mathrsfs} %Transformada de laplace e Fourier&#10;\usepackage{amsmath}&#10;\pagestyle{empty}&#10;&#10;\begin{document}&#10;&#10;$\dot{x}(t)=(\mathbf{A}-\vec{b}k)\vec{x}(t)+\vec{b}r(t)$&#10;&#10;\end{document}"/>
  <p:tag name="LATEXENGINEID" val="0"/>
  <p:tag name="LATEXFORMHEIGHT" val="312"/>
  <p:tag name="LATEXFORMWIDTH" val="384"/>
  <p:tag name="LATEXFORMWRAP" val="Verdadero"/>
  <p:tag name="ORIGINALHEIGHT" val="153.7308"/>
  <p:tag name="ORIGINALWIDTH" val="1463.067"/>
  <p:tag name="OUTPUTDPI" val="1200"/>
  <p:tag name="TEMPFOLDER" val="c:\temp\"/>
  <p:tag name="TRANSPARENCY" val="Verdadero"/>
</p:tagLst>
</file>

<file path=ppt/tags/tag11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3"/>
  <p:tag name="IGUANATEXSIZE" val="25"/>
  <p:tag name="LATEXADDIN" val="\documentclass{article}&#10;\usepackage{ae} %incluido&#10;\usepackage{multirow}&#10;\usepackage{mathrsfs} %Transformada de laplace e Fourier&#10;\usepackage{amsmath}&#10;\pagestyle{empty}&#10;&#10;\begin{document}&#10;&#10;$\dot{x}(t)=(\mathbf{A}-\vec{b}k)\vec{x}(t)+\vec{b}r(t)$&#10;&#10;\end{document}"/>
  <p:tag name="LATEXENGINEID" val="0"/>
  <p:tag name="LATEXFORMHEIGHT" val="312"/>
  <p:tag name="LATEXFORMWIDTH" val="384"/>
  <p:tag name="LATEXFORMWRAP" val="Verdadero"/>
  <p:tag name="ORIGINALHEIGHT" val="153.7308"/>
  <p:tag name="ORIGINALWIDTH" val="1463.067"/>
  <p:tag name="OUTPUTDPI" val="1200"/>
  <p:tag name="TEMPFOLDER" val="c:\temp\"/>
  <p:tag name="TRANSPARENCY" val="Verdadero"/>
</p:tagLst>
</file>

<file path=ppt/tags/tag11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5"/>
  <p:tag name="LATEXADDIN" val="\documentclass{article}&#10;\usepackage{ae} %incluido&#10;\usepackage{multirow}&#10;\usepackage{mathrsfs} %Transformada de laplace e Fourier&#10;\usepackage{amsmath}&#10;\pagestyle{empty}&#10;&#10;\begin{document}&#10;&#10;$G(s)=\vec{c}(s\mathbf{I}-\mathbf{A})^{-1}\vec{b}$&#10;&#10;\end{document}"/>
  <p:tag name="LATEXENGINEID" val="0"/>
  <p:tag name="LATEXFORMHEIGHT" val="312"/>
  <p:tag name="LATEXFORMWIDTH" val="384"/>
  <p:tag name="LATEXFORMWRAP" val="Verdadero"/>
  <p:tag name="ORIGINALHEIGHT" val="153.7308"/>
  <p:tag name="ORIGINALWIDTH" val="1134.608"/>
  <p:tag name="OUTPUTDPI" val="1200"/>
  <p:tag name="TEMPFOLDER" val="c:\temp\"/>
  <p:tag name="TRANSPARENCY" val="Verdadero"/>
</p:tagLst>
</file>

<file path=ppt/tags/tag11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89"/>
  <p:tag name="IGUANATEXSIZE" val="25"/>
  <p:tag name="LATEXADDIN" val="\documentclass{article}&#10;\usepackage{ae} %incluido&#10;\usepackage{multirow}&#10;\usepackage{mathrsfs} %Transformada de laplace e Fourier&#10;\usepackage{amsmath}&#10;\pagestyle{empty}&#10;&#10;\begin{document}&#10;&#10;$G_{LC}(s)=\vec{c}(s\mathbf{I}-(\mathbf{A}-\vec{b}k))^{-1}\vec{b}$&#10;&#10;\end{document}"/>
  <p:tag name="LATEXENGINEID" val="0"/>
  <p:tag name="LATEXFORMHEIGHT" val="312"/>
  <p:tag name="LATEXFORMWIDTH" val="384"/>
  <p:tag name="LATEXFORMWRAP" val="Verdadero"/>
  <p:tag name="ORIGINALHEIGHT" val="153.7308"/>
  <p:tag name="ORIGINALWIDTH" val="1657.293"/>
  <p:tag name="OUTPUTDPI" val="1200"/>
  <p:tag name="TEMPFOLDER" val="c:\temp\"/>
  <p:tag name="TRANSPARENCY" val="Verdadero"/>
</p:tagLst>
</file>

<file path=ppt/tags/tag11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5"/>
  <p:tag name="LATEXADDIN" val="\documentclass{article}&#10;\usepackage{ae} %incluido&#10;\usepackage{multirow}&#10;\usepackage{mathrsfs} %Transformada de laplace e Fourier&#10;\usepackage{amsmath}&#10;\pagestyle{empty}&#10;&#10;\begin{document}&#10;&#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1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87"/>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ot{\vec{x}}=\begin{bmatrix}&#10;1 &amp; 2\\&#10;3 &amp; 1&#10;\end{bmatrix}\vec{x}+\begin{bmatrix}&#10;0\\&#10;1&#10;\end{bmatrix}u$&#10;&#10;\end{document}"/>
  <p:tag name="LATEXENGINEID" val="0"/>
  <p:tag name="LATEXFORMHEIGHT" val="312"/>
  <p:tag name="LATEXFORMWIDTH" val="384"/>
  <p:tag name="LATEXFORMWRAP" val="Verdadero"/>
  <p:tag name="ORIGINALHEIGHT" val="299.2126"/>
  <p:tag name="ORIGINALWIDTH" val="1141.357"/>
  <p:tag name="OUTPUTDPI" val="1200"/>
  <p:tag name="TEMPFOLDER" val="c:\temp\"/>
  <p:tag name="TRANSPARENCY" val="Verdadero"/>
</p:tagLst>
</file>

<file path=ppt/tags/tag11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y=\begin{bmatrix}&#10;1 &amp; 2&#10;\end{bmatrix}\vec{x}$&#10;&#10;\end{document}"/>
  <p:tag name="LATEXENGINEID" val="0"/>
  <p:tag name="LATEXFORMHEIGHT" val="312"/>
  <p:tag name="LATEXFORMWIDTH" val="384"/>
  <p:tag name="LATEXFORMWRAP" val="Verdadero"/>
  <p:tag name="ORIGINALHEIGHT" val="149.2313"/>
  <p:tag name="ORIGINALWIDTH" val="678.6652"/>
  <p:tag name="OUTPUTDPI" val="1200"/>
  <p:tag name="TEMPFOLDER" val="c:\temp\"/>
  <p:tag name="TRANSPARENCY" val="Verdadero"/>
</p:tagLst>
</file>

<file path=ppt/tags/tag11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16"/>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G(s)=\dfrac{2s}{s^2 - 2 s - 5}$&#10;&#10;\end{document}"/>
  <p:tag name="LATEXENGINEID" val="0"/>
  <p:tag name="LATEXFORMHEIGHT" val="312"/>
  <p:tag name="LATEXFORMWIDTH" val="384"/>
  <p:tag name="LATEXFORMWRAP" val="Verdadero"/>
  <p:tag name="ORIGINALHEIGHT" val="254.9681"/>
  <p:tag name="ORIGINALWIDTH" val="1029.621"/>
  <p:tag name="OUTPUTDPI" val="1200"/>
  <p:tag name="TEMPFOLDER" val="c:\temp\"/>
  <p:tag name="TRANSPARENCY" val="Verdadero"/>
</p:tagLst>
</file>

<file path=ppt/tags/tag11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41"/>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u=-\begin{bmatrix}&#10;3 &amp; 1&#10;\end{bmatrix}\vec{x}=-3x_1-x_2$&#10;&#10;\end{document}"/>
  <p:tag name="LATEXENGINEID" val="0"/>
  <p:tag name="LATEXFORMHEIGHT" val="312"/>
  <p:tag name="LATEXFORMWIDTH" val="384"/>
  <p:tag name="LATEXFORMWRAP" val="Verdadero"/>
  <p:tag name="ORIGINALHEIGHT" val="149.2313"/>
  <p:tag name="ORIGINALWIDTH" val="1516.311"/>
  <p:tag name="OUTPUTDPI" val="1200"/>
  <p:tag name="TEMPFOLDER" val="c:\temp\"/>
  <p:tag name="TRANSPARENCY" val="Verdadero"/>
</p:tagLst>
</file>

<file path=ppt/tags/tag11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5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ot{\vec{x}}=\begin{bmatrix}&#10;1 &amp; 2\\&#10;0 &amp; 0&#10;\end{bmatrix}\vec{x}$&#10;&#10;\end{document}"/>
  <p:tag name="LATEXENGINEID" val="0"/>
  <p:tag name="LATEXFORMHEIGHT" val="312"/>
  <p:tag name="LATEXFORMWIDTH" val="384"/>
  <p:tag name="LATEXFORMWRAP" val="Verdadero"/>
  <p:tag name="ORIGINALHEIGHT" val="299.2126"/>
  <p:tag name="ORIGINALWIDTH" val="711.661"/>
  <p:tag name="OUTPUTDPI" val="1200"/>
  <p:tag name="TEMPFOLDER" val="c:\temp\"/>
  <p:tag name="TRANSPARENCY" val="Verdadero"/>
</p:tagLst>
</file>

<file path=ppt/tags/tag12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y=\begin{bmatrix}&#10;1 &amp; 2&#10;\end{bmatrix}\vec{x}$&#10;&#10;\end{document}"/>
  <p:tag name="LATEXENGINEID" val="0"/>
  <p:tag name="LATEXFORMHEIGHT" val="312"/>
  <p:tag name="LATEXFORMWIDTH" val="384"/>
  <p:tag name="LATEXFORMWRAP" val="Verdadero"/>
  <p:tag name="ORIGINALHEIGHT" val="149.2313"/>
  <p:tag name="ORIGINALWIDTH" val="678.6652"/>
  <p:tag name="OUTPUTDPI" val="1200"/>
  <p:tag name="TEMPFOLDER" val="c:\temp\"/>
  <p:tag name="TRANSPARENCY" val="Verdadero"/>
</p:tagLst>
</file>

<file path=ppt/tags/tag12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8"/>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lambda=\begin{bmatrix}&#10;1\\0&#10;\end{bmatrix}$&#10;&#10;\end{document}"/>
  <p:tag name="LATEXENGINEID" val="0"/>
  <p:tag name="LATEXFORMHEIGHT" val="312"/>
  <p:tag name="LATEXFORMWIDTH" val="384"/>
  <p:tag name="LATEXFORMWRAP" val="Verdadero"/>
  <p:tag name="ORIGINALHEIGHT" val="299.2126"/>
  <p:tag name="ORIGINALWIDTH" val="395.2006"/>
  <p:tag name="OUTPUTDPI" val="1200"/>
  <p:tag name="TEMPFOLDER" val="c:\temp\"/>
  <p:tag name="TRANSPARENCY" val="Verdadero"/>
</p:tagLst>
</file>

<file path=ppt/tags/tag12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5"/>
  <p:tag name="LATEXADDIN" val="\documentclass{article}&#10;\usepackage{ae} %incluido&#10;\usepackage{multirow}&#10;\usepackage{mathrsfs} %Transformada de laplace e Fourier&#10;\usepackage{amsmath}&#10;\pagestyle{empty}&#10;&#10;\begin{document}&#10;&#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2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42"/>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O}_f=\begin{bmatrix}&#10;1 &amp; 2\\&#10;1 &amp; 2&#10;\end{bmatrix}$&#10;&#10;\end{document}"/>
  <p:tag name="LATEXENGINEID" val="0"/>
  <p:tag name="LATEXFORMHEIGHT" val="312"/>
  <p:tag name="LATEXFORMWIDTH" val="384"/>
  <p:tag name="LATEXFORMWRAP" val="Verdadero"/>
  <p:tag name="ORIGINALHEIGHT" val="299.2126"/>
  <p:tag name="ORIGINALWIDTH" val="672.6659"/>
  <p:tag name="OUTPUTDPI" val="1200"/>
  <p:tag name="TEMPFOLDER" val="c:\temp\"/>
  <p:tag name="TRANSPARENCY" val="Verdadero"/>
</p:tagLst>
</file>

<file path=ppt/tags/tag12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6"/>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rho(\mathbb{O}_f)=1$&#10;&#10;\end{document}"/>
  <p:tag name="LATEXENGINEID" val="0"/>
  <p:tag name="LATEXFORMHEIGHT" val="312"/>
  <p:tag name="LATEXFORMWIDTH" val="384"/>
  <p:tag name="LATEXFORMWRAP" val="Verdadero"/>
  <p:tag name="ORIGINALHEIGHT" val="130.4837"/>
  <p:tag name="ORIGINALWIDTH" val="538.4327"/>
  <p:tag name="OUTPUTDPI" val="1200"/>
  <p:tag name="TEMPFOLDER" val="c:\temp\"/>
  <p:tag name="TRANSPARENCY" val="Verdadero"/>
</p:tagLst>
</file>

<file path=ppt/tags/tag12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604"/>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g(s)=\dfrac{y(s)}{u(s)}=\dfrac{\beta_1s^3+\beta_2s^2+\beta_3s+\beta_4}{s^4+\alpha_1s^3+\alpha_2s^2+\alpha_3s+\alpha_4}$&#10;&#10;\end{document}"/>
  <p:tag name="LATEXENGINEID" val="0"/>
  <p:tag name="LATEXFORMHEIGHT" val="312"/>
  <p:tag name="LATEXFORMWIDTH" val="384"/>
  <p:tag name="LATEXFORMWRAP" val="Verdadero"/>
  <p:tag name="ORIGINALHEIGHT" val="303.712"/>
  <p:tag name="ORIGINALWIDTH" val="2372.703"/>
  <p:tag name="OUTPUTDPI" val="1200"/>
  <p:tag name="TEMPFOLDER" val="c:\temp\"/>
  <p:tag name="TRANSPARENCY" val="Verdadero"/>
</p:tagLst>
</file>

<file path=ppt/tags/tag12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604"/>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g(s)=\dfrac{y(s)}{u(s)}=\dfrac{\beta_1s^3+\beta_2s^2+\beta_3s+\beta_4}{s^4+\alpha_1s^3+\alpha_2s^2+\alpha_3s+\alpha_4}$&#10;&#10;\end{document}"/>
  <p:tag name="LATEXENGINEID" val="0"/>
  <p:tag name="LATEXFORMHEIGHT" val="312"/>
  <p:tag name="LATEXFORMWIDTH" val="384"/>
  <p:tag name="LATEXFORMWRAP" val="Verdadero"/>
  <p:tag name="ORIGINALHEIGHT" val="303.712"/>
  <p:tag name="ORIGINALWIDTH" val="2372.703"/>
  <p:tag name="OUTPUTDPI" val="1200"/>
  <p:tag name="TEMPFOLDER" val="c:\temp\"/>
  <p:tag name="TRANSPARENCY" val="Verdadero"/>
</p:tagLst>
</file>

<file path=ppt/tags/tag127.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3086.61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begin{bmatrix}&#10;\dot{x_1}(t)\\&#10;\dot{x_2}(t)\\&#10;\dot{x_3}(t)\\&#10;\dot{x_4}(t)&#10;\end{bmatrix}=\begin{bmatrix}&#10;-\alpha_1 &amp; -\alpha_2 &amp; -\alpha_3 &amp; -\alpha_4\\&#10;1&amp;0&amp;0&amp;0\\&#10;0&amp;1&amp;0&amp;0\\&#10;0&amp;0&amp;1&amp;0&#10;\end{bmatrix}\begin{bmatrix}&#10;x_1(t)\\&#10;x_2(t)\\&#10;x_3(t)\\&#10;x_4(t)&#10;\end{bmatrix}+\begin{bmatrix}1\\0\\0\\0 \end{bmatrix}u(t)$&#10;&#10;\end{document}"/>
  <p:tag name="IGUANATEXSIZE" val="24"/>
  <p:tag name="IGUANATEXCURSOR" val="786"/>
  <p:tag name="TRANSPARENCY" val="Verdadero"/>
  <p:tag name="FILENAME" val=""/>
  <p:tag name="LATEXENGINEID" val="0"/>
  <p:tag name="TEMPFOLDER" val="c:\temp\"/>
  <p:tag name="LATEXFORMHEIGHT" val="312"/>
  <p:tag name="LATEXFORMWIDTH" val="384"/>
  <p:tag name="LATEXFORMWRAP" val="Verdadero"/>
  <p:tag name="BITMAPVECTOR" val="0"/>
</p:tagLst>
</file>

<file path=ppt/tags/tag12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61"/>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y(s)=\begin{bmatrix}\beta_1&amp;\beta_2&amp;\beta_3&amp;\beta_4 \end{bmatrix}\vec{x}(t)$&#10;\end{document}"/>
  <p:tag name="LATEXENGINEID" val="0"/>
  <p:tag name="LATEXFORMHEIGHT" val="312"/>
  <p:tag name="LATEXFORMWIDTH" val="384"/>
  <p:tag name="LATEXFORMWRAP" val="Verdadero"/>
  <p:tag name="ORIGINALHEIGHT" val="149.2313"/>
  <p:tag name="ORIGINALWIDTH" val="1587.552"/>
  <p:tag name="OUTPUTDPI" val="1200"/>
  <p:tag name="TEMPFOLDER" val="c:\temp\"/>
  <p:tag name="TRANSPARENCY" val="Verdadero"/>
</p:tagLst>
</file>

<file path=ppt/tags/tag12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14"/>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G(s)=\dfrac{2}{s^2 + 3 s +1}$&#10;&#10;\end{document}"/>
  <p:tag name="LATEXENGINEID" val="0"/>
  <p:tag name="LATEXFORMHEIGHT" val="312"/>
  <p:tag name="LATEXFORMWIDTH" val="384"/>
  <p:tag name="LATEXFORMWRAP" val="Verdadero"/>
  <p:tag name="ORIGINALHEIGHT" val="262.4672"/>
  <p:tag name="ORIGINALWIDTH" val="1029.621"/>
  <p:tag name="OUTPUTDPI" val="1200"/>
  <p:tag name="TEMPFOLDER" val="c:\temp\"/>
  <p:tag name="TRANSPARENCY" val="Verdadero"/>
</p:tagLst>
</file>

<file path=ppt/tags/tag13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s^2 + 3 s +1=0$&#10;&#10;\end{document}"/>
  <p:tag name="LATEXENGINEID" val="0"/>
  <p:tag name="LATEXFORMHEIGHT" val="312"/>
  <p:tag name="LATEXFORMWIDTH" val="384"/>
  <p:tag name="LATEXFORMWRAP" val="Verdadero"/>
  <p:tag name="ORIGINALHEIGHT" val="113.2358"/>
  <p:tag name="ORIGINALWIDTH" val="818.8976"/>
  <p:tag name="OUTPUTDPI" val="1200"/>
  <p:tag name="TEMPFOLDER" val="c:\temp\"/>
  <p:tag name="TRANSPARENCY" val="Verdadero"/>
</p:tagLst>
</file>

<file path=ppt/tags/tag13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9"/>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s_1=-2.618,\ s_2=-0.382$&#10;&#10;\end{document}"/>
  <p:tag name="LATEXENGINEID" val="0"/>
  <p:tag name="LATEXFORMHEIGHT" val="312"/>
  <p:tag name="LATEXFORMWIDTH" val="384"/>
  <p:tag name="LATEXFORMWRAP" val="Verdadero"/>
  <p:tag name="ORIGINALHEIGHT" val="106.4867"/>
  <p:tag name="ORIGINALWIDTH" val="1406.074"/>
  <p:tag name="OUTPUTDPI" val="1200"/>
  <p:tag name="TEMPFOLDER" val="c:\temp\"/>
  <p:tag name="TRANSPARENCY" val="Verdadero"/>
</p:tagLst>
</file>

<file path=ppt/tags/tag13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89"/>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ot{\vec{x}}=\begin{bmatrix}&#10;-3&amp; -1 \\&#10;1 &amp; 0&#10;\end{bmatrix}\vec{x}+\begin{bmatrix}1\\0\end{bmatrix}u(t)$&#10;&#10;\end{document}"/>
  <p:tag name="LATEXENGINEID" val="0"/>
  <p:tag name="LATEXFORMHEIGHT" val="312"/>
  <p:tag name="LATEXFORMWIDTH" val="384"/>
  <p:tag name="LATEXFORMWRAP" val="Verdadero"/>
  <p:tag name="ORIGINALHEIGHT" val="299.2126"/>
  <p:tag name="ORIGINALWIDTH" val="1467.567"/>
  <p:tag name="OUTPUTDPI" val="1200"/>
  <p:tag name="TEMPFOLDER" val="c:\temp\"/>
  <p:tag name="TRANSPARENCY" val="Verdadero"/>
</p:tagLst>
</file>

<file path=ppt/tags/tag13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y(s)=\begin{bmatrix}0&amp;2 \end{bmatrix}\vec{x}$&#10;&#10;\end{document}"/>
  <p:tag name="LATEXENGINEID" val="0"/>
  <p:tag name="LATEXFORMHEIGHT" val="312"/>
  <p:tag name="LATEXFORMWIDTH" val="384"/>
  <p:tag name="LATEXFORMWRAP" val="Verdadero"/>
  <p:tag name="ORIGINALHEIGHT" val="149.2313"/>
  <p:tag name="ORIGINALWIDTH" val="833.8958"/>
  <p:tag name="OUTPUTDPI" val="1200"/>
  <p:tag name="TEMPFOLDER" val="c:\temp\"/>
  <p:tag name="TRANSPARENCY" val="Verdadero"/>
</p:tagLst>
</file>

<file path=ppt/tags/tag13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6"/>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elta(\lambda)=det(\lambda \mathbf{I}-\mathbf{A})$&#10;&#10;\end{document}"/>
  <p:tag name="LATEXENGINEID" val="0"/>
  <p:tag name="LATEXFORMHEIGHT" val="312"/>
  <p:tag name="LATEXFORMWIDTH" val="384"/>
  <p:tag name="LATEXFORMWRAP" val="Verdadero"/>
  <p:tag name="ORIGINALHEIGHT" val="125.2343"/>
  <p:tag name="ORIGINALWIDTH" val="1073.116"/>
  <p:tag name="OUTPUTDPI" val="1200"/>
  <p:tag name="TEMPFOLDER" val="c:\temp\"/>
  <p:tag name="TRANSPARENCY" val="Verdadero"/>
</p:tagLst>
</file>

<file path=ppt/tags/tag13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77"/>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elta(\lambda)=det\left( \begin{bmatrix}&#10;\lambda+3&amp; 1 \\&#10;-1 &amp; \lambda&#10;\end{bmatrix}\right)$&#10;&#10;\end{document}"/>
  <p:tag name="LATEXENGINEID" val="0"/>
  <p:tag name="LATEXFORMHEIGHT" val="312"/>
  <p:tag name="LATEXFORMWIDTH" val="384"/>
  <p:tag name="LATEXFORMWRAP" val="Verdadero"/>
  <p:tag name="ORIGINALHEIGHT" val="299.9625"/>
  <p:tag name="ORIGINALWIDTH" val="1395.575"/>
  <p:tag name="OUTPUTDPI" val="1200"/>
  <p:tag name="TEMPFOLDER" val="c:\temp\"/>
  <p:tag name="TRANSPARENCY" val="Verdadero"/>
</p:tagLst>
</file>

<file path=ppt/tags/tag13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2"/>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elta(\lambda)=\lambda^2+3\lambda+1$&#10;&#10;\end{document}"/>
  <p:tag name="LATEXENGINEID" val="0"/>
  <p:tag name="LATEXFORMHEIGHT" val="312"/>
  <p:tag name="LATEXFORMWIDTH" val="384"/>
  <p:tag name="LATEXFORMWRAP" val="Verdadero"/>
  <p:tag name="ORIGINALHEIGHT" val="134.2332"/>
  <p:tag name="ORIGINALWIDTH" val="1054.368"/>
  <p:tag name="OUTPUTDPI" val="1200"/>
  <p:tag name="TEMPFOLDER" val="c:\temp\"/>
  <p:tag name="TRANSPARENCY" val="Verdadero"/>
</p:tagLst>
</file>

<file path=ppt/tags/tag13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1"/>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lambda_1=-2.618,\ \lambda_2=-0.382$&#10;&#10;\end{document}"/>
  <p:tag name="LATEXENGINEID" val="0"/>
  <p:tag name="LATEXFORMHEIGHT" val="312"/>
  <p:tag name="LATEXFORMWIDTH" val="384"/>
  <p:tag name="LATEXFORMWRAP" val="Verdadero"/>
  <p:tag name="ORIGINALHEIGHT" val="110.2362"/>
  <p:tag name="ORIGINALWIDTH" val="1434.571"/>
  <p:tag name="OUTPUTDPI" val="1200"/>
  <p:tag name="TEMPFOLDER" val="c:\temp\"/>
  <p:tag name="TRANSPARENCY" val="Verdadero"/>
</p:tagLst>
</file>

<file path=ppt/tags/tag13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5"/>
  <p:tag name="IGUANATEXSIZE" val="25"/>
  <p:tag name="LATEXADDIN" val="\documentclass{article}&#10;\usepackage{ae} %incluido&#10;\usepackage{multirow}&#10;\usepackage{mathrsfs} %Transformada de laplace e Fourier&#10;\usepackage{amsmath}&#10;\pagestyle{empty}&#10;&#10;\begin{document}&#10;&#10;$u(t)=-k\vec{x}(t)$&#10;&#10;\end{document}"/>
  <p:tag name="LATEXENGINEID" val="0"/>
  <p:tag name="LATEXFORMHEIGHT" val="312"/>
  <p:tag name="LATEXFORMWIDTH" val="384"/>
  <p:tag name="LATEXFORMWRAP" val="Verdadero"/>
  <p:tag name="ORIGINALHEIGHT" val="125.2343"/>
  <p:tag name="ORIGINALWIDTH" val="742.4072"/>
  <p:tag name="OUTPUTDPI" val="1200"/>
  <p:tag name="TEMPFOLDER" val="c:\temp\"/>
  <p:tag name="TRANSPARENCY" val="Verdadero"/>
</p:tagLst>
</file>

<file path=ppt/tags/tag13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34"/>
  <p:tag name="IGUANATEXSIZE" val="25"/>
  <p:tag name="LATEXADDIN" val="\documentclass{article}&#10;\usepackage{ae} %incluido&#10;\usepackage{multirow}&#10;\usepackage{mathrsfs} %Transformada de laplace e Fourier&#10;\usepackage{amsmath}&#10;\pagestyle{empty}&#10;&#10;\begin{document}&#10;&#10;$\dot{\vec{x}}=\begin{bmatrix}&#10;-3&amp; -1 \\&#10;1 &amp; 0&#10;\end{bmatrix}\vec{x}+\begin{bmatrix}1\\0\end{bmatrix}\begin{bmatrix}-k_1&amp; -k_2 \end{bmatrix}\vec{x}$&#10;&#10;\end{document}"/>
  <p:tag name="LATEXENGINEID" val="0"/>
  <p:tag name="LATEXFORMHEIGHT" val="312"/>
  <p:tag name="LATEXFORMWIDTH" val="384"/>
  <p:tag name="LATEXFORMWRAP" val="Verdadero"/>
  <p:tag name="ORIGINALHEIGHT" val="299.2126"/>
  <p:tag name="ORIGINALWIDTH" val="2026.997"/>
  <p:tag name="OUTPUTDPI" val="1200"/>
  <p:tag name="TEMPFOLDER" val="c:\temp\"/>
  <p:tag name="TRANSPARENCY" val="Verdadero"/>
</p:tagLst>
</file>

<file path=ppt/tags/tag14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0"/>
  <p:tag name="IGUANATEXSIZE" val="25"/>
  <p:tag name="LATEXADDIN" val="\documentclass{article}&#10;\usepackage{ae} %incluido&#10;\usepackage{multirow}&#10;\usepackage{mathrsfs} %Transformada de laplace e Fourier&#10;\usepackage{amsmath}&#10;\pagestyle{empty}&#10;&#10;\begin{document}&#10;&#10;$\dot{\vec{x}}=\left(\begin{bmatrix}&#10;-3&amp; -1 \\&#10;1 &amp; 0&#10;\end{bmatrix}-\begin{bmatrix}k_1 &amp;k_2\\0&amp;0\end{bmatrix}\right)\vec{x}$&#10;&#10;\end{document}"/>
  <p:tag name="LATEXENGINEID" val="0"/>
  <p:tag name="LATEXFORMHEIGHT" val="312"/>
  <p:tag name="LATEXFORMWIDTH" val="384"/>
  <p:tag name="LATEXFORMWRAP" val="Verdadero"/>
  <p:tag name="ORIGINALHEIGHT" val="299.9625"/>
  <p:tag name="ORIGINALWIDTH" val="1738.283"/>
  <p:tag name="OUTPUTDPI" val="1200"/>
  <p:tag name="TEMPFOLDER" val="c:\temp\"/>
  <p:tag name="TRANSPARENCY" val="Verdadero"/>
</p:tagLst>
</file>

<file path=ppt/tags/tag14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3"/>
  <p:tag name="IGUANATEXSIZE" val="25"/>
  <p:tag name="LATEXADDIN" val="\documentclass{article}&#10;\usepackage{ae} %incluido&#10;\usepackage{multirow}&#10;\usepackage{mathrsfs} %Transformada de laplace e Fourier&#10;\usepackage{amsmath}&#10;\pagestyle{empty}&#10;&#10;\begin{document}&#10;&#10;$\dot{\vec{x}}=\begin{bmatrix}&#10;-3-k_1&amp; -1-k_2 \\&#10;1 &amp; 0&#10;\end{bmatrix}\vec{x}$&#10;&#10;\end{document}"/>
  <p:tag name="LATEXENGINEID" val="0"/>
  <p:tag name="LATEXFORMHEIGHT" val="312"/>
  <p:tag name="LATEXFORMWIDTH" val="384"/>
  <p:tag name="LATEXFORMWRAP" val="Verdadero"/>
  <p:tag name="ORIGINALHEIGHT" val="299.2126"/>
  <p:tag name="ORIGINALWIDTH" val="1451.069"/>
  <p:tag name="OUTPUTDPI" val="1200"/>
  <p:tag name="TEMPFOLDER" val="c:\temp\"/>
  <p:tag name="TRANSPARENCY" val="Verdadero"/>
</p:tagLst>
</file>

<file path=ppt/tags/tag14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3"/>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elta(\lambda)=\lambda^2+(3+k_1)\lambda+(1+k_2)$&#10;&#10;\end{document}"/>
  <p:tag name="LATEXENGINEID" val="0"/>
  <p:tag name="LATEXFORMHEIGHT" val="312"/>
  <p:tag name="LATEXFORMWIDTH" val="384"/>
  <p:tag name="LATEXFORMWRAP" val="Verdadero"/>
  <p:tag name="ORIGINALHEIGHT" val="134.2332"/>
  <p:tag name="ORIGINALWIDTH" val="1790.776"/>
  <p:tag name="OUTPUTDPI" val="1200"/>
  <p:tag name="TEMPFOLDER" val="c:\temp\"/>
  <p:tag name="TRANSPARENCY" val="Verdadero"/>
</p:tagLst>
</file>

<file path=ppt/tags/tag14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4"/>
  <p:tag name="IGUANATEXSIZE" val="25"/>
  <p:tag name="LATEXADDIN" val="\documentclass{article}&#10;\usepackage{ae} %incluido&#10;\usepackage{multirow}&#10;\usepackage{mathrsfs} %Transformada de laplace e Fourier&#10;\usepackage{amsmath}&#10;\pagestyle{empty}&#10;&#10;\begin{document}&#10;&#10;$\Delta(\lambda)=\lambda^2+1.041\lambda+0.5425$&#10;&#10;\end{document}"/>
  <p:tag name="LATEXENGINEID" val="0"/>
  <p:tag name="LATEXFORMHEIGHT" val="312"/>
  <p:tag name="LATEXFORMWIDTH" val="384"/>
  <p:tag name="LATEXFORMWRAP" val="Verdadero"/>
  <p:tag name="ORIGINALHEIGHT" val="134.2332"/>
  <p:tag name="ORIGINALWIDTH" val="1562.805"/>
  <p:tag name="OUTPUTDPI" val="1200"/>
  <p:tag name="TEMPFOLDER" val="c:\temp\"/>
  <p:tag name="TRANSPARENCY" val="Verdadero"/>
</p:tagLst>
</file>

<file path=ppt/tags/tag14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33"/>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Delta(\lambda)=\lambda^2+(3+k_1)\lambda+(1+k_2)$&#10;&#10;\end{document}"/>
  <p:tag name="LATEXENGINEID" val="0"/>
  <p:tag name="LATEXFORMHEIGHT" val="312"/>
  <p:tag name="LATEXFORMWIDTH" val="384"/>
  <p:tag name="LATEXFORMWRAP" val="Verdadero"/>
  <p:tag name="ORIGINALHEIGHT" val="134.2332"/>
  <p:tag name="ORIGINALWIDTH" val="1790.776"/>
  <p:tag name="OUTPUTDPI" val="1200"/>
  <p:tag name="TEMPFOLDER" val="c:\temp\"/>
  <p:tag name="TRANSPARENCY" val="Verdadero"/>
</p:tagLst>
</file>

<file path=ppt/tags/tag14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6"/>
  <p:tag name="IGUANATEXSIZE" val="25"/>
  <p:tag name="LATEXADDIN" val="\documentclass{article}&#10;\usepackage{ae} %incluido&#10;\usepackage{multirow}&#10;\usepackage{mathrsfs} %Transformada de laplace e Fourier&#10;\usepackage{amsmath}&#10;\pagestyle{empty}&#10;&#10;\begin{document}&#10;&#10;$-3-k_1=-1.041$&#10;&#10;\end{document}"/>
  <p:tag name="LATEXENGINEID" val="0"/>
  <p:tag name="LATEXFORMHEIGHT" val="312"/>
  <p:tag name="LATEXFORMWIDTH" val="384"/>
  <p:tag name="LATEXFORMWRAP" val="Verdadero"/>
  <p:tag name="ORIGINALHEIGHT" val="104.9868"/>
  <p:tag name="ORIGINALWIDTH" val="958.3802"/>
  <p:tag name="OUTPUTDPI" val="1200"/>
  <p:tag name="TEMPFOLDER" val="c:\temp\"/>
  <p:tag name="TRANSPARENCY" val="Verdadero"/>
</p:tagLst>
</file>

<file path=ppt/tags/tag14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3"/>
  <p:tag name="IGUANATEXSIZE" val="25"/>
  <p:tag name="LATEXADDIN" val="\documentclass{article}&#10;\usepackage{ae} %incluido&#10;\usepackage{multirow}&#10;\usepackage{mathrsfs} %Transformada de laplace e Fourier&#10;\usepackage{amsmath}&#10;\pagestyle{empty}&#10;&#10;\begin{document}&#10;&#10;$\dot{\vec{x}}=\begin{bmatrix}&#10;-3-k_1&amp; -1-k_2 \\&#10;1 &amp; 0&#10;\end{bmatrix}\vec{x}$&#10;&#10;\end{document}"/>
  <p:tag name="LATEXENGINEID" val="0"/>
  <p:tag name="LATEXFORMHEIGHT" val="312"/>
  <p:tag name="LATEXFORMWIDTH" val="384"/>
  <p:tag name="LATEXFORMWRAP" val="Verdadero"/>
  <p:tag name="ORIGINALHEIGHT" val="299.2126"/>
  <p:tag name="ORIGINALWIDTH" val="1451.069"/>
  <p:tag name="OUTPUTDPI" val="1200"/>
  <p:tag name="TEMPFOLDER" val="c:\temp\"/>
  <p:tag name="TRANSPARENCY" val="Verdadero"/>
</p:tagLst>
</file>

<file path=ppt/tags/tag14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3"/>
  <p:tag name="IGUANATEXSIZE" val="25"/>
  <p:tag name="LATEXADDIN" val="\documentclass{article}&#10;\usepackage{ae} %incluido&#10;\usepackage{multirow}&#10;\usepackage{mathrsfs} %Transformada de laplace e Fourier&#10;\usepackage{amsmath}&#10;\pagestyle{empty}&#10;&#10;\begin{document}&#10;&#10;$-1-k_2=-0.5425$&#10;&#10;\end{document}"/>
  <p:tag name="LATEXENGINEID" val="0"/>
  <p:tag name="LATEXFORMHEIGHT" val="312"/>
  <p:tag name="LATEXFORMWIDTH" val="384"/>
  <p:tag name="LATEXFORMWRAP" val="Verdadero"/>
  <p:tag name="ORIGINALHEIGHT" val="104.9868"/>
  <p:tag name="ORIGINALWIDTH" val="1024.372"/>
  <p:tag name="OUTPUTDPI" val="1200"/>
  <p:tag name="TEMPFOLDER" val="c:\temp\"/>
  <p:tag name="TRANSPARENCY" val="Verdadero"/>
</p:tagLst>
</file>

<file path=ppt/tags/tag14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5"/>
  <p:tag name="LATEXADDIN" val="\documentclass{article}&#10;\usepackage{ae} %incluido&#10;\usepackage{multirow}&#10;\usepackage{mathrsfs} %Transformada de laplace e Fourier&#10;\usepackage{amsmath}&#10;\pagestyle{empty}&#10;&#10;\begin{document}&#10;&#10;$k_1=-1.9585$&#10;&#10;\end{document}"/>
  <p:tag name="LATEXENGINEID" val="0"/>
  <p:tag name="LATEXFORMHEIGHT" val="312"/>
  <p:tag name="LATEXFORMWIDTH" val="384"/>
  <p:tag name="LATEXFORMWRAP" val="Verdadero"/>
  <p:tag name="ORIGINALHEIGHT" val="104.9868"/>
  <p:tag name="ORIGINALWIDTH" val="716.1605"/>
  <p:tag name="OUTPUTDPI" val="1200"/>
  <p:tag name="TEMPFOLDER" val="c:\temp\"/>
  <p:tag name="TRANSPARENCY" val="Verdadero"/>
</p:tagLst>
</file>

<file path=ppt/tags/tag14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5"/>
  <p:tag name="LATEXADDIN" val="\documentclass{article}&#10;\usepackage{ae} %incluido&#10;\usepackage{multirow}&#10;\usepackage{mathrsfs} %Transformada de laplace e Fourier&#10;\usepackage{amsmath}&#10;\pagestyle{empty}&#10;&#10;\begin{document}&#10;&#10;$k_2=-0.4575$&#10;&#10;\end{document}"/>
  <p:tag name="LATEXENGINEID" val="0"/>
  <p:tag name="LATEXFORMHEIGHT" val="312"/>
  <p:tag name="LATEXFORMWIDTH" val="384"/>
  <p:tag name="LATEXFORMWRAP" val="Verdadero"/>
  <p:tag name="ORIGINALHEIGHT" val="104.9868"/>
  <p:tag name="ORIGINALWIDTH" val="716.1605"/>
  <p:tag name="OUTPUTDPI" val="1200"/>
  <p:tag name="TEMPFOLDER" val="c:\temp\"/>
  <p:tag name="TRANSPARENCY" val="Verdadero"/>
</p:tagLst>
</file>

<file path=ppt/tags/tag15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5"/>
  <p:tag name="IGUANATEXSIZE" val="25"/>
  <p:tag name="LATEXADDIN" val="\documentclass{article}&#10;\usepackage{ae} %incluido&#10;\usepackage{multirow}&#10;\usepackage{mathrsfs} %Transformada de laplace e Fourier&#10;\usepackage{amsmath}&#10;\pagestyle{empty}&#10;&#10;\begin{document}&#10;&#10;$\dot{\vec{x}}=\begin{bmatrix}&#10;-1.0415&amp; -0.5425 \\&#10;1 &amp; 0&#10;\end{bmatrix}\vec{x}$&#10;&#10;\end{document}"/>
  <p:tag name="LATEXENGINEID" val="0"/>
  <p:tag name="LATEXFORMHEIGHT" val="312"/>
  <p:tag name="LATEXFORMWIDTH" val="384"/>
  <p:tag name="LATEXFORMWRAP" val="Verdadero"/>
  <p:tag name="ORIGINALHEIGHT" val="299.2126"/>
  <p:tag name="ORIGINALWIDTH" val="1472.066"/>
  <p:tag name="OUTPUTDPI" val="1200"/>
  <p:tag name="TEMPFOLDER" val="c:\temp\"/>
  <p:tag name="TRANSPARENCY" val="Verdadero"/>
</p:tagLst>
</file>

<file path=ppt/tags/tag15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5"/>
  <p:tag name="IGUANATEXSIZE" val="25"/>
  <p:tag name="LATEXADDIN" val="\documentclass{article}&#10;\usepackage{ae} %incluido&#10;\usepackage{multirow}&#10;\usepackage{mathrsfs} %Transformada de laplace e Fourier&#10;\usepackage{amsmath}&#10;\pagestyle{empty}&#10;&#10;\begin{document}&#10;&#10;$\dot{\vec{x}}=\begin{bmatrix}&#10;-1.0415&amp; -0.5425 \\&#10;1 &amp; 0&#10;\end{bmatrix}\vec{x}$&#10;&#10;\end{document}"/>
  <p:tag name="LATEXENGINEID" val="0"/>
  <p:tag name="LATEXFORMHEIGHT" val="312"/>
  <p:tag name="LATEXFORMWIDTH" val="384"/>
  <p:tag name="LATEXFORMWRAP" val="Verdadero"/>
  <p:tag name="ORIGINALHEIGHT" val="299.2126"/>
  <p:tag name="ORIGINALWIDTH" val="1472.066"/>
  <p:tag name="OUTPUTDPI" val="1200"/>
  <p:tag name="TEMPFOLDER" val="c:\temp\"/>
  <p:tag name="TRANSPARENCY" val="Verdadero"/>
</p:tagLst>
</file>

<file path=ppt/tags/tag15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3"/>
  <p:tag name="IGUANATEXSIZE" val="24"/>
  <p:tag name="LATEXADDIN" val="\documentclass{article}&#10;\usepackage{ae} %incluido&#10;\usepackage{multirow}&#10;\usepackage{mathrsfs} %Transformada de laplace e Fourier&#10;\usepackage{amsmath}&#10;\pagestyle{empty}&#10;&#10;\begin{document}&#10;$\dot{\vec{x}}=\begin{bmatrix}&#10;0&amp; 1 &amp; 0 &amp; 0\\&#10;0 &amp; 0 &amp; -1 &amp;0 \\&#10;0 &amp; 0 &amp; 0 &amp;1 \\&#10;0 &amp; 0 &amp; 5 &amp;0&#10;\end{bmatrix}\vec{x}+\begin{bmatrix}0\\1\\0\\-2\end{bmatrix}u(t)$&#10;&#10;\end{document}"/>
  <p:tag name="LATEXENGINEID" val="0"/>
  <p:tag name="LATEXFORMHEIGHT" val="312"/>
  <p:tag name="LATEXFORMWIDTH" val="384"/>
  <p:tag name="LATEXFORMWRAP" val="Verdadero"/>
  <p:tag name="ORIGINALHEIGHT" val="597.6753"/>
  <p:tag name="ORIGINALWIDTH" val="1910.011"/>
  <p:tag name="OUTPUTDPI" val="1200"/>
  <p:tag name="TEMPFOLDER" val="c:\temp\"/>
  <p:tag name="TRANSPARENCY" val="Verdadero"/>
</p:tagLst>
</file>

<file path=ppt/tags/tag15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0"/>
  <p:tag name="IGUANATEXSIZE" val="20"/>
  <p:tag name="LATEXADDIN" val="\documentclass{article}&#10;\usepackage{ae} %incluido&#10;\usepackage{multirow}&#10;\usepackage{mathrsfs} %Transformada de laplace e Fourier&#10;\usepackage{amsmath}&#10;\pagestyle{empty}&#10;&#10;\begin{document}&#10;$y(s)=\begin{bmatrix}1 &amp; 0 &amp; 0&amp;0 \end{bmatrix}\vec{x}$&#10;&#10;\end{document}"/>
  <p:tag name="LATEXENGINEID" val="0"/>
  <p:tag name="LATEXFORMHEIGHT" val="312"/>
  <p:tag name="LATEXFORMWIDTH" val="384"/>
  <p:tag name="LATEXFORMWRAP" val="Verdadero"/>
  <p:tag name="ORIGINALHEIGHT" val="149.2313"/>
  <p:tag name="ORIGINALWIDTH" val="1207.349"/>
  <p:tag name="OUTPUTDPI" val="1200"/>
  <p:tag name="TEMPFOLDER" val="c:\temp\"/>
  <p:tag name="TRANSPARENCY" val="Verdadero"/>
</p:tagLst>
</file>

<file path=ppt/tags/tag15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97"/>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C}=\begin{bmatrix}&#10;\vec{b} &amp;  \mathbf{A}\vec{b}&amp; \mathbf{A}^2\vec{b} &amp; \mathbf{A}^3\vec{b}&#10;\end{bmatrix}$&#10;&#10;\end{document}"/>
  <p:tag name="LATEXENGINEID" val="0"/>
  <p:tag name="LATEXFORMHEIGHT" val="312"/>
  <p:tag name="LATEXFORMWIDTH" val="384"/>
  <p:tag name="LATEXFORMWRAP" val="Verdadero"/>
  <p:tag name="ORIGINALHEIGHT" val="224.222"/>
  <p:tag name="ORIGINALWIDTH" val="1364.829"/>
  <p:tag name="OUTPUTDPI" val="1200"/>
  <p:tag name="TEMPFOLDER" val="c:\temp\"/>
  <p:tag name="TRANSPARENCY" val="Verdadero"/>
</p:tagLst>
</file>

<file path=ppt/tags/tag15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85"/>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rho(\mathbb{C})=4$&#10;&#10;\end{document}"/>
  <p:tag name="LATEXENGINEID" val="0"/>
  <p:tag name="LATEXFORMHEIGHT" val="312"/>
  <p:tag name="LATEXFORMWIDTH" val="384"/>
  <p:tag name="LATEXFORMWRAP" val="Verdadero"/>
  <p:tag name="ORIGINALHEIGHT" val="125.2343"/>
  <p:tag name="ORIGINALWIDTH" val="473.1909"/>
  <p:tag name="OUTPUTDPI" val="1200"/>
  <p:tag name="TEMPFOLDER" val="c:\temp\"/>
  <p:tag name="TRANSPARENCY" val="Verdadero"/>
</p:tagLst>
</file>

<file path=ppt/tags/tag15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9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C}=\begin{bmatrix}&#10;0&amp; 1 &amp; 0 &amp; 2\\&#10;1 &amp; 0 &amp; 2 &amp;0 \\&#10;0 &amp; -2 &amp; 0 &amp;10 \\&#10;-2&amp; 0 &amp; -10 &amp;0&#10;\end{bmatrix}$&#10;&#10;\end{document}"/>
  <p:tag name="LATEXENGINEID" val="0"/>
  <p:tag name="LATEXFORMHEIGHT" val="312"/>
  <p:tag name="LATEXFORMWIDTH" val="384"/>
  <p:tag name="LATEXFORMWRAP" val="Verdadero"/>
  <p:tag name="ORIGINALHEIGHT" val="597.6753"/>
  <p:tag name="ORIGINALWIDTH" val="1414.323"/>
  <p:tag name="OUTPUTDPI" val="1200"/>
  <p:tag name="TEMPFOLDER" val="c:\temp\"/>
  <p:tag name="TRANSPARENCY" val="Verdadero"/>
</p:tagLst>
</file>

<file path=ppt/tags/tag15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Delta(\lambda)=det(\lambda \mathbf{I}-\mathbf{A})$&#10;&#10;\end{document}"/>
  <p:tag name="LATEXENGINEID" val="0"/>
  <p:tag name="LATEXFORMHEIGHT" val="312"/>
  <p:tag name="LATEXFORMWIDTH" val="384"/>
  <p:tag name="LATEXFORMWRAP" val="Verdadero"/>
  <p:tag name="ORIGINALHEIGHT" val="125.2343"/>
  <p:tag name="ORIGINALWIDTH" val="1073.116"/>
  <p:tag name="OUTPUTDPI" val="1200"/>
  <p:tag name="TEMPFOLDER" val="c:\temp\"/>
  <p:tag name="TRANSPARENCY" val="Verdadero"/>
</p:tagLst>
</file>

<file path=ppt/tags/tag15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7"/>
  <p:tag name="IGUANATEXSIZE" val="20"/>
  <p:tag name="LATEXADDIN" val="\documentclass{article}&#10;\usepackage{ae} %incluido&#10;\usepackage{multirow}&#10;\usepackage{mathrsfs} %Transformada de laplace e Fourier&#10;\usepackage{amsmath}&#10;\pagestyle{empty}&#10;&#10;\begin{document}&#10;$\Delta(\lambda)=\lambda^2(\lambda^2-5)=\lambda^4-5\lambda^2$&#10;&#10;\end{document}"/>
  <p:tag name="LATEXENGINEID" val="0"/>
  <p:tag name="LATEXFORMHEIGHT" val="312"/>
  <p:tag name="LATEXFORMWIDTH" val="384"/>
  <p:tag name="LATEXFORMWRAP" val="Verdadero"/>
  <p:tag name="ORIGINALHEIGHT" val="134.9832"/>
  <p:tag name="ORIGINALWIDTH" val="1628.047"/>
  <p:tag name="OUTPUTDPI" val="1200"/>
  <p:tag name="TEMPFOLDER" val="c:\temp\"/>
  <p:tag name="TRANSPARENCY" val="Verdadero"/>
</p:tagLst>
</file>

<file path=ppt/tags/tag15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4"/>
  <p:tag name="IGUANATEXSIZE" val="20"/>
  <p:tag name="LATEXADDIN" val="\documentclass{article}&#10;\usepackage{ae} %incluido&#10;\usepackage{multirow}&#10;\usepackage{mathrsfs} %Transformada de laplace e Fourier&#10;\usepackage{amsmath}&#10;\pagestyle{empty}&#10;&#10;\begin{document}&#10;$\lambda_{1,2}=-1.5\pm j0.5$&#10;&#10;\end{document}"/>
  <p:tag name="LATEXENGINEID" val="0"/>
  <p:tag name="LATEXFORMHEIGHT" val="312"/>
  <p:tag name="LATEXFORMWIDTH" val="384"/>
  <p:tag name="LATEXFORMWRAP" val="Verdadero"/>
  <p:tag name="ORIGINALHEIGHT" val="122.2347"/>
  <p:tag name="ORIGINALWIDTH" val="986.8766"/>
  <p:tag name="OUTPUTDPI" val="1200"/>
  <p:tag name="TEMPFOLDER" val="c:\temp\"/>
  <p:tag name="TRANSPARENCY" val="Verdadero"/>
</p:tagLst>
</file>

<file path=ppt/tags/tag16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lambda_{3,4}=-1\pm j$&#10;&#10;\end{document}"/>
  <p:tag name="LATEXENGINEID" val="0"/>
  <p:tag name="LATEXFORMHEIGHT" val="312"/>
  <p:tag name="LATEXFORMWIDTH" val="384"/>
  <p:tag name="LATEXFORMWRAP" val="Verdadero"/>
  <p:tag name="ORIGINALHEIGHT" val="122.2347"/>
  <p:tag name="ORIGINALWIDTH" val="728.159"/>
  <p:tag name="OUTPUTDPI" val="1200"/>
  <p:tag name="TEMPFOLDER" val="c:\temp\"/>
  <p:tag name="TRANSPARENCY" val="Verdadero"/>
</p:tagLst>
</file>

<file path=ppt/tags/tag16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0"/>
  <p:tag name="LATEXADDIN" val="\documentclass{article}&#10;\usepackage{ae} %incluido&#10;\usepackage{multirow}&#10;\usepackage{mathrsfs} %Transformada de laplace e Fourier&#10;\usepackage{amsmath}&#10;\pagestyle{empty}&#10;&#10;\begin{document}&#10;$\Delta_f(\lambda)=\lambda^4+5\lambda^3+10.5\lambda^2+11\lambda+5$&#10;&#10;\end{document}"/>
  <p:tag name="LATEXENGINEID" val="0"/>
  <p:tag name="LATEXFORMHEIGHT" val="312"/>
  <p:tag name="LATEXFORMWIDTH" val="384"/>
  <p:tag name="LATEXFORMWRAP" val="Verdadero"/>
  <p:tag name="ORIGINALHEIGHT" val="140.2324"/>
  <p:tag name="ORIGINALWIDTH" val="2029.246"/>
  <p:tag name="OUTPUTDPI" val="1200"/>
  <p:tag name="TEMPFOLDER" val="c:\temp\"/>
  <p:tag name="TRANSPARENCY" val="Verdadero"/>
</p:tagLst>
</file>

<file path=ppt/tags/tag16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4"/>
  <p:tag name="LATEXADDIN" val="\documentclass{article}&#10;\usepackage{ae} %incluido&#10;\usepackage{multirow}&#10;\usepackage{mathrsfs} %Transformada de laplace e Fourier&#10;\usepackage{amsmath}&#10;\pagestyle{empty}&#10;&#10;\begin{document}&#10;$-\alpha \pm j \beta$&#10;&#10;\end{document}"/>
  <p:tag name="LATEXENGINEID" val="0"/>
  <p:tag name="LATEXFORMHEIGHT" val="312"/>
  <p:tag name="LATEXFORMWIDTH" val="384"/>
  <p:tag name="LATEXFORMWRAP" val="Verdadero"/>
  <p:tag name="ORIGINALHEIGHT" val="113.9857"/>
  <p:tag name="ORIGINALWIDTH" val="449.9438"/>
  <p:tag name="OUTPUTDPI" val="1200"/>
  <p:tag name="TEMPFOLDER" val="c:\temp\"/>
  <p:tag name="TRANSPARENCY" val="Verdadero"/>
</p:tagLst>
</file>

<file path=ppt/tags/tag16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2"/>
  <p:tag name="IGUANATEXSIZE" val="20"/>
  <p:tag name="LATEXADDIN" val="\documentclass{article}&#10;\usepackage{ae} %incluido&#10;\usepackage{multirow}&#10;\usepackage{mathrsfs} %Transformada de laplace e Fourier&#10;\usepackage{amsmath}&#10;\pagestyle{empty}&#10;&#10;\begin{document}&#10;$\lambda^2+2\alpha \lambda + \alpha^2+\beta^2$&#10;&#10;\end{document}"/>
  <p:tag name="LATEXENGINEID" val="0"/>
  <p:tag name="LATEXFORMHEIGHT" val="312"/>
  <p:tag name="LATEXFORMWIDTH" val="384"/>
  <p:tag name="LATEXFORMWRAP" val="Verdadero"/>
  <p:tag name="ORIGINALHEIGHT" val="126.7342"/>
  <p:tag name="ORIGINALWIDTH" val="1051.369"/>
  <p:tag name="OUTPUTDPI" val="1200"/>
  <p:tag name="TEMPFOLDER" val="c:\temp\"/>
  <p:tag name="TRANSPARENCY" val="Verdadero"/>
</p:tagLst>
</file>

<file path=ppt/tags/tag16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69"/>
  <p:tag name="IGUANATEXSIZE" val="18"/>
  <p:tag name="LATEXADDIN" val="\documentclass{article}&#10;\usepackage{ae} %incluido&#10;\usepackage{multirow}&#10;\usepackage{mathrsfs} %Transformada de laplace e Fourier&#10;\usepackage{amsmath}&#10;\pagestyle{empty}&#10;&#10;\begin{document}&#10;$\begin{bmatrix}&#10;\dot{x_1}(t)\\&#10;\dot{x_2}(t)\\&#10;\dot{x_3}(t)\\&#10;\dot{x_4}(t)&#10;\end{bmatrix}=\begin{bmatrix}&#10;-(\alpha_1+k_1) &amp; -(\alpha_2+k_2) &amp; -(\alpha_3+k_3) &amp; -(\alpha_4+k_4)\\&#10;1&amp;0&amp;0&amp;0\\&#10;0&amp;1&amp;0&amp;0\\&#10;0&amp;0&amp;1&amp;0&#10;\end{bmatrix}\begin{bmatrix}&#10;x_1(t)\\&#10;x_2(t)\\&#10;x_3(t)\\&#10;x_4(t)&#10;\end{bmatrix}+$&#10;&#10;\end{document}"/>
  <p:tag name="LATEXENGINEID" val="0"/>
  <p:tag name="LATEXFORMHEIGHT" val="312"/>
  <p:tag name="LATEXFORMWIDTH" val="384"/>
  <p:tag name="LATEXFORMWRAP" val="Verdadero"/>
  <p:tag name="ORIGINALHEIGHT" val="597.6753"/>
  <p:tag name="ORIGINALWIDTH" val="4073.491"/>
  <p:tag name="OUTPUTDPI" val="1200"/>
  <p:tag name="TEMPFOLDER" val="c:\temp\"/>
  <p:tag name="TRANSPARENCY" val="Verdadero"/>
</p:tagLst>
</file>

<file path=ppt/tags/tag16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2"/>
  <p:tag name="IGUANATEXSIZE" val="18"/>
  <p:tag name="LATEXADDIN" val="\documentclass{article}&#10;\usepackage{ae} %incluido&#10;\usepackage{multirow}&#10;\usepackage{mathrsfs} %Transformada de laplace e Fourier&#10;\usepackage{amsmath}&#10;\pagestyle{empty}&#10;&#10;\begin{document}&#10;&#10;$\begin{bmatrix}1\\0\\0\\0 \end{bmatrix}r(t)$&#10;\end{document}"/>
  <p:tag name="LATEXENGINEID" val="0"/>
  <p:tag name="LATEXFORMHEIGHT" val="312"/>
  <p:tag name="LATEXFORMWIDTH" val="384"/>
  <p:tag name="LATEXFORMWRAP" val="Verdadero"/>
  <p:tag name="ORIGINALHEIGHT" val="597.6753"/>
  <p:tag name="ORIGINALWIDTH" val="398.2002"/>
  <p:tag name="OUTPUTDPI" val="1200"/>
  <p:tag name="TEMPFOLDER" val="c:\temp\"/>
  <p:tag name="TRANSPARENCY" val="Verdadero"/>
</p:tagLst>
</file>

<file path=ppt/tags/tag16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8"/>
  <p:tag name="IGUANATEXSIZE" val="20"/>
  <p:tag name="LATEXADDIN" val="\documentclass{article}&#10;\usepackage{ae} %incluido&#10;\usepackage{multirow}&#10;\usepackage{mathrsfs} %Transformada de laplace e Fourier&#10;\usepackage{amsmath}&#10;\pagestyle{empty}&#10;&#10;\begin{document}&#10;$\Delta_f=s^4+(\alpha_1+k_1) s^3+(\alpha_2+k_2)s^2+(\alpha_3+k_3)s+(\alpha_4+k_4)$&#10;&#10;\end{document}"/>
  <p:tag name="LATEXENGINEID" val="0"/>
  <p:tag name="LATEXFORMHEIGHT" val="312"/>
  <p:tag name="LATEXFORMWIDTH" val="384"/>
  <p:tag name="LATEXFORMWRAP" val="Verdadero"/>
  <p:tag name="ORIGINALHEIGHT" val="140.2324"/>
  <p:tag name="ORIGINALWIDTH" val="3346.832"/>
  <p:tag name="OUTPUTDPI" val="1200"/>
  <p:tag name="TEMPFOLDER" val="c:\temp\"/>
  <p:tag name="TRANSPARENCY" val="Verdadero"/>
</p:tagLst>
</file>

<file path=ppt/tags/tag16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20"/>
  <p:tag name="IGUANATEXSIZE" val="18"/>
  <p:tag name="LATEXADDIN" val="\documentclass{article}&#10;\usepackage{ae} %incluido&#10;\usepackage{multirow}&#10;\usepackage{mathrsfs} %Transformada de laplace e Fourier&#10;\usepackage{amsmath}&#10;\pagestyle{empty}&#10;&#10;\begin{document}&#10;$\begin{matrix}&#10; \lambda^4&amp; +5\lambda^3 &amp;+10.5\lambda^2  &amp;+11\lambda &amp;+5 \\&#10; -(\lambda^4&amp; +0\lambda^3 &amp;-5\lambda^2  &amp;+0\lambda &amp;+0)\\&#10;&amp; +5\lambda^3&amp;  +15.5\lambda^2&amp;  +11\lambda&amp; +5&#10;&#10;\end{matrix}&#10;$&#10;&#10;\end{document}"/>
  <p:tag name="LATEXENGINEID" val="0"/>
  <p:tag name="LATEXFORMHEIGHT" val="312"/>
  <p:tag name="LATEXFORMWIDTH" val="384"/>
  <p:tag name="LATEXFORMWRAP" val="Verdadero"/>
  <p:tag name="ORIGINALHEIGHT" val="413.1983"/>
  <p:tag name="ORIGINALWIDTH" val="1985.002"/>
  <p:tag name="OUTPUTDPI" val="1200"/>
  <p:tag name="TEMPFOLDER" val="c:\temp\"/>
  <p:tag name="TRANSPARENCY" val="Verdadero"/>
</p:tagLst>
</file>

<file path=ppt/tags/tag16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2"/>
  <p:tag name="IGUANATEXSIZE" val="20"/>
  <p:tag name="LATEXADDIN" val="\documentclass{article}&#10;\usepackage{ae} %incluido&#10;\usepackage{multirow}&#10;\usepackage{mathrsfs} %Transformada de laplace e Fourier&#10;\usepackage{amsmath}&#10;\pagestyle{empty}&#10;&#10;\begin{document}&#10;$\bar{k}=\begin{bmatrix}&#10;5&amp;  15.5&amp;  11&amp; 5&#10;\end{bmatrix}$&#10;&#10;\end{document}"/>
  <p:tag name="LATEXENGINEID" val="0"/>
  <p:tag name="LATEXFORMHEIGHT" val="312"/>
  <p:tag name="LATEXFORMWIDTH" val="384"/>
  <p:tag name="LATEXFORMWRAP" val="Verdadero"/>
  <p:tag name="ORIGINALHEIGHT" val="149.2313"/>
  <p:tag name="ORIGINALWIDTH" val="1150.356"/>
  <p:tag name="OUTPUTDPI" val="1200"/>
  <p:tag name="TEMPFOLDER" val="c:\temp\"/>
  <p:tag name="TRANSPARENCY" val="Verdadero"/>
</p:tagLst>
</file>

<file path=ppt/tags/tag16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0"/>
  <p:tag name="LATEXADDIN" val="\documentclass{article}&#10;\usepackage{ae} %incluido&#10;\usepackage{multirow}&#10;\usepackage{mathrsfs} %Transformada de laplace e Fourier&#10;\usepackage{amsmath}&#10;\pagestyle{empty}&#10;&#10;\begin{document}&#10;$k=\bar{k}\mathbf{P}$&#10;&#10;\end{document}"/>
  <p:tag name="LATEXENGINEID" val="0"/>
  <p:tag name="LATEXFORMHEIGHT" val="312"/>
  <p:tag name="LATEXFORMWIDTH" val="384"/>
  <p:tag name="LATEXFORMWRAP" val="Verdadero"/>
  <p:tag name="ORIGINALHEIGHT" val="107.9865"/>
  <p:tag name="ORIGINALWIDTH" val="386.9517"/>
  <p:tag name="OUTPUTDPI" val="1200"/>
  <p:tag name="TEMPFOLDER" val="c:\temp\"/>
  <p:tag name="TRANSPARENCY" val="Verdadero"/>
</p:tagLst>
</file>

<file path=ppt/tags/tag17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5"/>
  <p:tag name="IGUANATEXSIZE" val="24"/>
  <p:tag name="LATEXADDIN" val="\documentclass{article}&#10;\usepackage{ae} %incluido&#10;\usepackage{multirow}&#10;\usepackage{mathrsfs} %Transformada de laplace e Fourier&#10;\usepackage{amsmath}&#10;\pagestyle{empty}&#10;&#10;\begin{document}&#10;$\Delta(\lambda)=\lambda^4+\alpha_1 \lambda^3+\alpha_2\lambda^2+\alpha_3\lambda+\alpha_4$&#10;&#10;\end{document}"/>
  <p:tag name="LATEXENGINEID" val="0"/>
  <p:tag name="LATEXFORMHEIGHT" val="312"/>
  <p:tag name="LATEXFORMWIDTH" val="384"/>
  <p:tag name="LATEXFORMWRAP" val="Verdadero"/>
  <p:tag name="ORIGINALHEIGHT" val="134.9832"/>
  <p:tag name="ORIGINALWIDTH" val="2032.996"/>
  <p:tag name="OUTPUTDPI" val="1200"/>
  <p:tag name="TEMPFOLDER" val="c:\temp\"/>
  <p:tag name="TRANSPARENCY" val="Verdadero"/>
</p:tagLst>
</file>

<file path=ppt/tags/tag17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653"/>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Q}=\mathbf{P}^{-1}=\mathbb{C}\begin{bmatrix}&#10;1&amp; \alpha_1 &amp; \alpha_2 &amp; \alpha_3\\&#10;0 &amp; 1 &amp; \alpha_1 &amp;\alpha_2 \\&#10;0 &amp; 0 &amp; 1 &amp;\alpha_1 \\&#10;0&amp; 0 &amp; 0 &amp;1&#10;\end{bmatrix}$&#10;&#10;\end{document}"/>
  <p:tag name="LATEXENGINEID" val="0"/>
  <p:tag name="LATEXFORMHEIGHT" val="312"/>
  <p:tag name="LATEXFORMWIDTH" val="384"/>
  <p:tag name="LATEXFORMWRAP" val="Verdadero"/>
  <p:tag name="ORIGINALHEIGHT" val="597.6753"/>
  <p:tag name="ORIGINALWIDTH" val="1742.032"/>
  <p:tag name="OUTPUTDPI" val="1200"/>
  <p:tag name="TEMPFOLDER" val="c:\temp\"/>
  <p:tag name="TRANSPARENCY" val="Verdadero"/>
</p:tagLst>
</file>

<file path=ppt/tags/tag17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03"/>
  <p:tag name="IGUANATEXSIZE" val="20"/>
  <p:tag name="LATEXADDIN" val="\documentclass{article}&#10;\usepackage{ae} %incluido&#10;\usepackage{multirow}&#10;\usepackage{mathrsfs} %Transformada de laplace e Fourier&#10;\usepackage{amsmath}&#10;\pagestyle{empty}&#10;&#10;\begin{document}&#10;$\mathbf{P}=\left(\begin{bmatrix}&#10;0&amp; 1 &amp; 0 &amp; 2\\&#10;1 &amp; 0 &amp; 2 &amp;0 \\&#10;0 &amp; -2 &amp; 0 &amp;10 \\&#10;-2&amp; 0 &amp; -10 &amp;0&#10;\end{bmatrix}&#10;\begin{bmatrix}&#10;1&amp; 0 &amp; -5 &amp; 0\\&#10;0 &amp; 1 &amp; 0 &amp;-5 \\&#10;0 &amp; 0 &amp; 1 &amp;0 \\&#10;0&amp; 0 &amp; 0 &amp;1&#10;\end{bmatrix}&#10; \right)^{-1}$&#10;&#10;\end{document}"/>
  <p:tag name="LATEXENGINEID" val="0"/>
  <p:tag name="LATEXFORMHEIGHT" val="312"/>
  <p:tag name="LATEXFORMWIDTH" val="384"/>
  <p:tag name="LATEXFORMWRAP" val="Verdadero"/>
  <p:tag name="ORIGINALHEIGHT" val="623.922"/>
  <p:tag name="ORIGINALWIDTH" val="2802.4"/>
  <p:tag name="OUTPUTDPI" val="1200"/>
  <p:tag name="TEMPFOLDER" val="c:\temp\"/>
  <p:tag name="TRANSPARENCY" val="Verdadero"/>
</p:tagLst>
</file>

<file path=ppt/tags/tag17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653"/>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Q}=\mathbf{P}^{-1}=\mathbb{C}\begin{bmatrix}&#10;1&amp; \alpha_1 &amp; \alpha_2 &amp; \alpha_3\\&#10;0 &amp; 1 &amp; \alpha_1 &amp;\alpha_2 \\&#10;0 &amp; 0 &amp; 1 &amp;\alpha_1 \\&#10;0&amp; 0 &amp; 0 &amp;1&#10;\end{bmatrix}$&#10;&#10;\end{document}"/>
  <p:tag name="LATEXENGINEID" val="0"/>
  <p:tag name="LATEXFORMHEIGHT" val="312"/>
  <p:tag name="LATEXFORMWIDTH" val="384"/>
  <p:tag name="LATEXFORMWRAP" val="Verdadero"/>
  <p:tag name="ORIGINALHEIGHT" val="597.6753"/>
  <p:tag name="ORIGINALWIDTH" val="1742.032"/>
  <p:tag name="OUTPUTDPI" val="1200"/>
  <p:tag name="TEMPFOLDER" val="c:\temp\"/>
  <p:tag name="TRANSPARENCY" val="Verdadero"/>
</p:tagLst>
</file>

<file path=ppt/tags/tag17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5"/>
  <p:tag name="IGUANATEXSIZE" val="20"/>
  <p:tag name="LATEXADDIN" val="\documentclass{article}&#10;\usepackage{ae} %incluido&#10;\usepackage{multirow}&#10;\usepackage{mathrsfs} %Transformada de laplace e Fourier&#10;\usepackage{amsmath}&#10;\pagestyle{empty}&#10;&#10;\begin{document}&#10;$\mathbf{P}=\begin{bmatrix}&#10;0&amp; 0 &amp; 0 &amp; -1/2\\&#10;0 &amp; 0 &amp; -1/2 &amp;0 \\&#10;0 &amp; -1/3 &amp; 0 &amp;-1/6 \\&#10;-1/3&amp; 0 &amp; -1/6 &amp;0&#10;\end{bmatrix}$&#10;&#10;\end{document}"/>
  <p:tag name="LATEXENGINEID" val="0"/>
  <p:tag name="LATEXFORMHEIGHT" val="312"/>
  <p:tag name="LATEXFORMWIDTH" val="384"/>
  <p:tag name="LATEXFORMWRAP" val="Verdadero"/>
  <p:tag name="ORIGINALHEIGHT" val="597.6753"/>
  <p:tag name="ORIGINALWIDTH" val="1892.763"/>
  <p:tag name="OUTPUTDPI" val="1200"/>
  <p:tag name="TEMPFOLDER" val="c:\temp\"/>
  <p:tag name="TRANSPARENCY" val="Verdadero"/>
</p:tagLst>
</file>

<file path=ppt/tags/tag17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90"/>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C}=\begin{bmatrix}&#10;0&amp; 1 &amp; 0 &amp; 2\\&#10;1 &amp; 0 &amp; 2 &amp;0 \\&#10;0 &amp; -2 &amp; 0 &amp;10 \\&#10;-2&amp; 0 &amp; -10 &amp;0&#10;\end{bmatrix}$&#10;&#10;\end{document}"/>
  <p:tag name="LATEXENGINEID" val="0"/>
  <p:tag name="LATEXFORMHEIGHT" val="312"/>
  <p:tag name="LATEXFORMWIDTH" val="384"/>
  <p:tag name="LATEXFORMWRAP" val="Verdadero"/>
  <p:tag name="ORIGINALHEIGHT" val="597.6753"/>
  <p:tag name="ORIGINALWIDTH" val="1414.323"/>
  <p:tag name="OUTPUTDPI" val="1200"/>
  <p:tag name="TEMPFOLDER" val="c:\temp\"/>
  <p:tag name="TRANSPARENCY" val="Verdadero"/>
</p:tagLst>
</file>

<file path=ppt/tags/tag17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2"/>
  <p:tag name="IGUANATEXSIZE" val="20"/>
  <p:tag name="LATEXADDIN" val="\documentclass{article}&#10;\usepackage{ae} %incluido&#10;\usepackage{multirow}&#10;\usepackage{mathrsfs} %Transformada de laplace e Fourier&#10;\usepackage{amsmath}&#10;\pagestyle{empty}&#10;&#10;\begin{document}&#10;$\Delta(\lambda)=\lambda^4-5\lambda^2$&#10;&#10;\end{document}"/>
  <p:tag name="LATEXENGINEID" val="0"/>
  <p:tag name="LATEXFORMHEIGHT" val="312"/>
  <p:tag name="LATEXFORMWIDTH" val="384"/>
  <p:tag name="LATEXFORMWRAP" val="Verdadero"/>
  <p:tag name="ORIGINALHEIGHT" val="134.9832"/>
  <p:tag name="ORIGINALWIDTH" val="893.8882"/>
  <p:tag name="OUTPUTDPI" val="1200"/>
  <p:tag name="TEMPFOLDER" val="c:\temp\"/>
  <p:tag name="TRANSPARENCY" val="Verdadero"/>
</p:tagLst>
</file>

<file path=ppt/tags/tag17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4"/>
  <p:tag name="LATEXADDIN" val="\documentclass{article}&#10;\usepackage{ae} %incluido&#10;\usepackage{multirow}&#10;\usepackage{mathrsfs} %Transformada de laplace e Fourier&#10;\usepackage{amsmath}&#10;\pagestyle{empty}&#10;&#10;\begin{document}&#10;$k=\bar{k}\mathbf{P}$&#10;&#10;\end{document}"/>
  <p:tag name="LATEXENGINEID" val="0"/>
  <p:tag name="LATEXFORMHEIGHT" val="312"/>
  <p:tag name="LATEXFORMWIDTH" val="384"/>
  <p:tag name="LATEXFORMWRAP" val="Verdadero"/>
  <p:tag name="ORIGINALHEIGHT" val="107.9865"/>
  <p:tag name="ORIGINALWIDTH" val="386.9517"/>
  <p:tag name="OUTPUTDPI" val="1200"/>
  <p:tag name="TEMPFOLDER" val="c:\temp\"/>
  <p:tag name="TRANSPARENCY" val="Verdadero"/>
</p:tagLst>
</file>

<file path=ppt/tags/tag17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3"/>
  <p:tag name="IGUANATEXSIZE" val="20"/>
  <p:tag name="LATEXADDIN" val="\documentclass{article}&#10;\usepackage{ae} %incluido&#10;\usepackage{multirow}&#10;\usepackage{mathrsfs} %Transformada de laplace e Fourier&#10;\usepackage{amsmath}&#10;\pagestyle{empty}&#10;&#10;\begin{document}&#10;&#10;$k=\begin{bmatrix}&#10;5&amp;  15.5&amp;  11&amp; 5&#10;\end{bmatrix}\begin{bmatrix}&#10;0&amp; 0 &amp; 0 &amp; -1/2\\&#10;0 &amp; 0 &amp; -1/2 &amp;0 \\&#10;0 &amp; -1/3 &amp; 0 &amp;-1/6 \\&#10;-1/3&amp; 0 &amp; -1/6 &amp;0&#10;\end{bmatrix}$&#10;\end{document}"/>
  <p:tag name="LATEXENGINEID" val="0"/>
  <p:tag name="LATEXFORMHEIGHT" val="312"/>
  <p:tag name="LATEXFORMWIDTH" val="384"/>
  <p:tag name="LATEXFORMWRAP" val="Verdadero"/>
  <p:tag name="ORIGINALHEIGHT" val="597.6753"/>
  <p:tag name="ORIGINALWIDTH" val="2829.396"/>
  <p:tag name="OUTPUTDPI" val="1200"/>
  <p:tag name="TEMPFOLDER" val="c:\temp\"/>
  <p:tag name="TRANSPARENCY" val="Verdadero"/>
</p:tagLst>
</file>

<file path=ppt/tags/tag17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k=\begin{bmatrix}&#10;-1.6667&amp;   -3.6667 &amp;  -8.5833 &amp;  -4.3333&#10;\end{bmatrix}$&#10;&#10;\end{document}"/>
  <p:tag name="LATEXENGINEID" val="0"/>
  <p:tag name="LATEXFORMHEIGHT" val="312"/>
  <p:tag name="LATEXFORMWIDTH" val="384"/>
  <p:tag name="LATEXFORMWRAP" val="Verdadero"/>
  <p:tag name="ORIGINALHEIGHT" val="149.2313"/>
  <p:tag name="ORIGINALWIDTH" val="2450.694"/>
  <p:tag name="OUTPUTDPI" val="1200"/>
  <p:tag name="TEMPFOLDER" val="c:\temp\"/>
  <p:tag name="TRANSPARENCY" val="Verdadero"/>
</p:tagLst>
</file>

<file path=ppt/tags/tag18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3"/>
  <p:tag name="IGUANATEXSIZE" val="15"/>
  <p:tag name="LATEXADDIN" val="\documentclass{article}&#10;\usepackage{ae} %incluido&#10;\usepackage{multirow}&#10;\usepackage{mathrsfs} %Transformada de laplace e Fourier&#10;\usepackage{amsmath}&#10;\pagestyle{empty}&#10;&#10;\begin{document}&#10;$\dot{\vec{x}}=\begin{bmatrix}&#10;0&amp; 1 &amp; 0 &amp; 0\\&#10;0 &amp; 0 &amp; -1 &amp;0 \\&#10;0 &amp; 0 &amp; 0 &amp;1 \\&#10;0 &amp; 0 &amp; 5 &amp;0&#10;\end{bmatrix}\vec{x}+\begin{bmatrix}0\\1\\0\\-2\end{bmatrix}u(t)$&#10;&#10;\end{document}"/>
  <p:tag name="LATEXENGINEID" val="0"/>
  <p:tag name="LATEXFORMHEIGHT" val="312"/>
  <p:tag name="LATEXFORMWIDTH" val="384"/>
  <p:tag name="LATEXFORMWRAP" val="Verdadero"/>
  <p:tag name="ORIGINALHEIGHT" val="597.6753"/>
  <p:tag name="ORIGINALWIDTH" val="1910.011"/>
  <p:tag name="OUTPUTDPI" val="1200"/>
  <p:tag name="TEMPFOLDER" val="c:\temp\"/>
  <p:tag name="TRANSPARENCY" val="Verdadero"/>
</p:tagLst>
</file>

<file path=ppt/tags/tag18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0"/>
  <p:tag name="IGUANATEXSIZE" val="15"/>
  <p:tag name="LATEXADDIN" val="\documentclass{article}&#10;\usepackage{ae} %incluido&#10;\usepackage{multirow}&#10;\usepackage{mathrsfs} %Transformada de laplace e Fourier&#10;\usepackage{amsmath}&#10;\pagestyle{empty}&#10;&#10;\begin{document}&#10;$y(s)=\begin{bmatrix}1 &amp; 0 &amp; 0&amp;0 \end{bmatrix}\vec{x}$&#10;&#10;\end{document}"/>
  <p:tag name="LATEXENGINEID" val="0"/>
  <p:tag name="LATEXFORMHEIGHT" val="312"/>
  <p:tag name="LATEXFORMWIDTH" val="384"/>
  <p:tag name="LATEXFORMWRAP" val="Verdadero"/>
  <p:tag name="ORIGINALHEIGHT" val="149.2313"/>
  <p:tag name="ORIGINALWIDTH" val="1207.349"/>
  <p:tag name="OUTPUTDPI" val="1200"/>
  <p:tag name="TEMPFOLDER" val="c:\temp\"/>
  <p:tag name="TRANSPARENCY" val="Verdadero"/>
</p:tagLst>
</file>

<file path=ppt/tags/tag18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5"/>
  <p:tag name="IGUANATEXSIZE" val="15"/>
  <p:tag name="LATEXADDIN" val="\documentclass{article}&#10;\usepackage{ae} %incluido&#10;\usepackage{multirow}&#10;\usepackage{mathrsfs} %Transformada de laplace e Fourier&#10;\usepackage{amsmath}&#10;\pagestyle{empty}&#10;&#10;\begin{document}&#10;&#10;$u(t)=-k\vec{x}(t)$&#10;&#10;\end{document}"/>
  <p:tag name="LATEXENGINEID" val="0"/>
  <p:tag name="LATEXFORMHEIGHT" val="312"/>
  <p:tag name="LATEXFORMWIDTH" val="384"/>
  <p:tag name="LATEXFORMWRAP" val="Verdadero"/>
  <p:tag name="ORIGINALHEIGHT" val="125.2343"/>
  <p:tag name="ORIGINALWIDTH" val="742.4072"/>
  <p:tag name="OUTPUTDPI" val="1200"/>
  <p:tag name="TEMPFOLDER" val="c:\temp\"/>
  <p:tag name="TRANSPARENCY" val="Verdadero"/>
</p:tagLst>
</file>

<file path=ppt/tags/tag18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15"/>
  <p:tag name="LATEXADDIN" val="\documentclass{article}&#10;\usepackage{ae} %incluido&#10;\usepackage{multirow}&#10;\usepackage{mathrsfs} %Transformada de laplace e Fourier&#10;\usepackage{amsmath}&#10;\pagestyle{empty}&#10;&#10;\begin{document}&#10;$k=\begin{bmatrix}&#10;-1.6667&amp;   -3.6667 &amp;  -8.5833 &amp;  -4.3333&#10;\end{bmatrix}$&#10;&#10;\end{document}"/>
  <p:tag name="LATEXENGINEID" val="0"/>
  <p:tag name="LATEXFORMHEIGHT" val="312"/>
  <p:tag name="LATEXFORMWIDTH" val="384"/>
  <p:tag name="LATEXFORMWRAP" val="Verdadero"/>
  <p:tag name="ORIGINALHEIGHT" val="149.2313"/>
  <p:tag name="ORIGINALWIDTH" val="2450.694"/>
  <p:tag name="OUTPUTDPI" val="1200"/>
  <p:tag name="TEMPFOLDER" val="c:\temp\"/>
  <p:tag name="TRANSPARENCY" val="Verdadero"/>
</p:tagLst>
</file>

<file path=ppt/tags/tag18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15"/>
  <p:tag name="LATEXADDIN" val="\documentclass{article}&#10;\usepackage{ae} %incluido&#10;\usepackage{multirow}&#10;\usepackage{mathrsfs} %Transformada de laplace e Fourier&#10;\usepackage{amsmath}&#10;\pagestyle{empty}&#10;&#10;\begin{document}&#10;$\dot{x}(t)=(\mathbf{A}-\vec{b}k)\vec{x}(t)$&#10;&#10;\end{document}"/>
  <p:tag name="LATEXENGINEID" val="0"/>
  <p:tag name="LATEXFORMHEIGHT" val="312"/>
  <p:tag name="LATEXFORMWIDTH" val="384"/>
  <p:tag name="LATEXFORMWRAP" val="Verdadero"/>
  <p:tag name="ORIGINALHEIGHT" val="153.7308"/>
  <p:tag name="ORIGINALWIDTH" val="1056.618"/>
  <p:tag name="OUTPUTDPI" val="1200"/>
  <p:tag name="TEMPFOLDER" val="c:\temp\"/>
  <p:tag name="TRANSPARENCY" val="Verdadero"/>
</p:tagLst>
</file>

<file path=ppt/tags/tag18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15"/>
  <p:tag name="LATEXADDIN" val="\documentclass{article}&#10;\usepackage{ae} %incluido&#10;\usepackage{multirow}&#10;\usepackage{mathrsfs} %Transformada de laplace e Fourier&#10;\usepackage{amsmath}&#10;\pagestyle{empty}&#10;&#10;\begin{document}&#10;$\dot{x}(t)=\begin{bmatrix}&#10;      0    &amp;1.0000        &amp; 0        &amp; 0\\&#10;    1.6667   &amp; 3.6667  &amp;  7.5833  &amp;  4.3333\\&#10;         0    &amp;     0       &amp;  0    1.0000\\&#10;   -3.3333 &amp;  -7.3333 &amp; -12.1667 &amp;  -8.6667&#10;\end{bmatrix}\vec{x}(t)$&#10;&#10;\end{document}"/>
  <p:tag name="LATEXENGINEID" val="0"/>
  <p:tag name="LATEXFORMHEIGHT" val="312"/>
  <p:tag name="LATEXFORMWIDTH" val="384"/>
  <p:tag name="LATEXFORMWRAP" val="Verdadero"/>
  <p:tag name="ORIGINALHEIGHT" val="597.6753"/>
  <p:tag name="ORIGINALWIDTH" val="2969.629"/>
  <p:tag name="OUTPUTDPI" val="1200"/>
  <p:tag name="TEMPFOLDER" val="c:\temp\"/>
  <p:tag name="TRANSPARENCY" val="Verdadero"/>
</p:tagLst>
</file>

<file path=ppt/tags/tag18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44"/>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k}=\begin{bmatrix}&#10;0&amp; 0 &amp; ... &amp; 1&#10;\end{bmatrix}\ \ \mathbb{C}^{-1}\ \ \mathbf{\phi(A)}$&#10;&#10;\end{document}"/>
  <p:tag name="LATEXENGINEID" val="0"/>
  <p:tag name="LATEXFORMHEIGHT" val="312"/>
  <p:tag name="LATEXFORMWIDTH" val="384"/>
  <p:tag name="LATEXFORMWRAP" val="Verdadero"/>
  <p:tag name="ORIGINALHEIGHT" val="149.2313"/>
  <p:tag name="ORIGINALWIDTH" val="1682.04"/>
  <p:tag name="OUTPUTDPI" val="1200"/>
  <p:tag name="TEMPFOLDER" val="c:\temp\"/>
  <p:tag name="TRANSPARENCY" val="Verdadero"/>
</p:tagLst>
</file>

<file path=ppt/tags/tag18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94"/>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1\times n$&#10;&#10;\end{document}"/>
  <p:tag name="LATEXENGINEID" val="0"/>
  <p:tag name="LATEXFORMHEIGHT" val="312"/>
  <p:tag name="LATEXFORMWIDTH" val="384"/>
  <p:tag name="LATEXFORMWRAP" val="Verdadero"/>
  <p:tag name="ORIGINALHEIGHT" val="83.98952"/>
  <p:tag name="ORIGINALWIDTH" val="275.2156"/>
  <p:tag name="OUTPUTDPI" val="1200"/>
  <p:tag name="TEMPFOLDER" val="c:\temp\"/>
  <p:tag name="TRANSPARENCY" val="Verdadero"/>
</p:tagLst>
</file>

<file path=ppt/tags/tag18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86"/>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n\times n$&#10;&#10;\end{document}"/>
  <p:tag name="LATEXENGINEID" val="0"/>
  <p:tag name="LATEXFORMHEIGHT" val="312"/>
  <p:tag name="LATEXFORMWIDTH" val="384"/>
  <p:tag name="LATEXFORMWRAP" val="Verdadero"/>
  <p:tag name="ORIGINALHEIGHT" val="62.99213"/>
  <p:tag name="ORIGINALWIDTH" val="295.4631"/>
  <p:tag name="OUTPUTDPI" val="1200"/>
  <p:tag name="TEMPFOLDER" val="c:\temp\"/>
  <p:tag name="TRANSPARENCY" val="Verdadero"/>
</p:tagLst>
</file>

<file path=ppt/tags/tag18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86"/>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n\times n$&#10;&#10;\end{document}"/>
  <p:tag name="LATEXENGINEID" val="0"/>
  <p:tag name="LATEXFORMHEIGHT" val="312"/>
  <p:tag name="LATEXFORMWIDTH" val="384"/>
  <p:tag name="LATEXFORMWRAP" val="Verdadero"/>
  <p:tag name="ORIGINALHEIGHT" val="62.99213"/>
  <p:tag name="ORIGINALWIDTH" val="295.4631"/>
  <p:tag name="OUTPUTDPI" val="1200"/>
  <p:tag name="TEMPFOLDER" val="c:\temp\"/>
  <p:tag name="TRANSPARENCY" val="Verdadero"/>
</p:tagLst>
</file>

<file path=ppt/tags/tag19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2"/>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phi(A)}=\lambda^n+\alpha_1\lambda^{n-1}+\alpha_2\lambda^{n-2}+...+\alpha_{n-1}\lambda+\alpha_n$&#10;&#10;\end{document}"/>
  <p:tag name="LATEXENGINEID" val="0"/>
  <p:tag name="LATEXFORMHEIGHT" val="312"/>
  <p:tag name="LATEXFORMWIDTH" val="384"/>
  <p:tag name="LATEXFORMWRAP" val="Verdadero"/>
  <p:tag name="ORIGINALHEIGHT" val="134.2332"/>
  <p:tag name="ORIGINALWIDTH" val="2735.658"/>
  <p:tag name="OUTPUTDPI" val="1200"/>
  <p:tag name="TEMPFOLDER" val="c:\temp\"/>
  <p:tag name="TRANSPARENCY" val="Verdadero"/>
</p:tagLst>
</file>

<file path=ppt/tags/tag19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y=\begin{bmatrix}1 &amp; 0 \end{bmatrix}\vec{x}$&#10;&#10;\end{document}"/>
  <p:tag name="LATEXENGINEID" val="0"/>
  <p:tag name="LATEXFORMHEIGHT" val="312"/>
  <p:tag name="LATEXFORMWIDTH" val="384"/>
  <p:tag name="LATEXFORMWRAP" val="Verdadero"/>
  <p:tag name="ORIGINALHEIGHT" val="149.2313"/>
  <p:tag name="ORIGINALWIDTH" val="678.6652"/>
  <p:tag name="OUTPUTDPI" val="1200"/>
  <p:tag name="TEMPFOLDER" val="c:\temp\"/>
  <p:tag name="TRANSPARENCY" val="Verdadero"/>
</p:tagLst>
</file>

<file path=ppt/tags/tag19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40"/>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C}=\begin{bmatrix}&#10;\vec{b} &amp;  \mathbf{A}\vec{b}\end{bmatrix}$&#10;&#10;\end{document}"/>
  <p:tag name="LATEXENGINEID" val="0"/>
  <p:tag name="LATEXFORMHEIGHT" val="312"/>
  <p:tag name="LATEXFORMWIDTH" val="384"/>
  <p:tag name="LATEXFORMWRAP" val="Verdadero"/>
  <p:tag name="ORIGINALHEIGHT" val="224.222"/>
  <p:tag name="ORIGINALWIDTH" val="680.9149"/>
  <p:tag name="OUTPUTDPI" val="1200"/>
  <p:tag name="TEMPFOLDER" val="c:\temp\"/>
  <p:tag name="TRANSPARENCY" val="Verdadero"/>
</p:tagLst>
</file>

<file path=ppt/tags/tag19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3"/>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rho(\mathbb{C})=2$&#10;&#10;\end{document}"/>
  <p:tag name="LATEXENGINEID" val="0"/>
  <p:tag name="LATEXFORMHEIGHT" val="312"/>
  <p:tag name="LATEXFORMWIDTH" val="384"/>
  <p:tag name="LATEXFORMWRAP" val="Verdadero"/>
  <p:tag name="ORIGINALHEIGHT" val="125.2343"/>
  <p:tag name="ORIGINALWIDTH" val="470.1913"/>
  <p:tag name="OUTPUTDPI" val="1200"/>
  <p:tag name="TEMPFOLDER" val="c:\temp\"/>
  <p:tag name="TRANSPARENCY" val="Verdadero"/>
</p:tagLst>
</file>

<file path=ppt/tags/tag19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5"/>
  <p:tag name="IGUANATEXSIZE" val="24"/>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b{C}=\begin{bmatrix}&#10;1&amp; 0 \\&#10;0 &amp; 1&#10;\end{bmatrix}$&#10;&#10;\end{document}"/>
  <p:tag name="LATEXENGINEID" val="0"/>
  <p:tag name="LATEXFORMHEIGHT" val="312"/>
  <p:tag name="LATEXFORMWIDTH" val="384"/>
  <p:tag name="LATEXFORMWRAP" val="Verdadero"/>
  <p:tag name="ORIGINALHEIGHT" val="299.2126"/>
  <p:tag name="ORIGINALWIDTH" val="600.6749"/>
  <p:tag name="OUTPUTDPI" val="1200"/>
  <p:tag name="TEMPFOLDER" val="c:\temp\"/>
  <p:tag name="TRANSPARENCY" val="Verdadero"/>
</p:tagLst>
</file>

<file path=ppt/tags/tag19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9"/>
  <p:tag name="IGUANATEXSIZE" val="20"/>
  <p:tag name="LATEXADDIN" val="\documentclass{article}&#10;\usepackage{ae} %incluido&#10;\usepackage{multirow}&#10;\usepackage{mathrsfs} %Transformada de laplace e Fourier&#10;\usepackage{amsmath}&#10;\pagestyle{empty}&#10;&#10;\begin{document}&#10;$\dot{\vec{x}}=\begin{bmatrix}&#10;0 &amp; 1\\&#10;1 &amp; 0&#10;\end{bmatrix}\vec{x}+\begin{bmatrix}&#10;1\\&#10;0&#10;\end{bmatrix}u$&#10;&#10;\end{document}"/>
  <p:tag name="LATEXENGINEID" val="0"/>
  <p:tag name="LATEXFORMHEIGHT" val="312"/>
  <p:tag name="LATEXFORMWIDTH" val="384"/>
  <p:tag name="LATEXFORMWRAP" val="Verdadero"/>
  <p:tag name="ORIGINALHEIGHT" val="299.2126"/>
  <p:tag name="ORIGINALWIDTH" val="1141.357"/>
  <p:tag name="OUTPUTDPI" val="1200"/>
  <p:tag name="TEMPFOLDER" val="c:\temp\"/>
  <p:tag name="TRANSPARENCY" val="Verdadero"/>
</p:tagLst>
</file>

<file path=ppt/tags/tag19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44"/>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k}=\begin{bmatrix}&#10;0&amp; 0 &amp; ... &amp; 1&#10;\end{bmatrix}\ \ \mathbb{C}^{-1}\ \ \mathbf{\phi(A)}$&#10;&#10;\end{document}"/>
  <p:tag name="LATEXENGINEID" val="0"/>
  <p:tag name="LATEXFORMHEIGHT" val="312"/>
  <p:tag name="LATEXFORMWIDTH" val="384"/>
  <p:tag name="LATEXFORMWRAP" val="Verdadero"/>
  <p:tag name="ORIGINALHEIGHT" val="149.2313"/>
  <p:tag name="ORIGINALWIDTH" val="1682.04"/>
  <p:tag name="OUTPUTDPI" val="1200"/>
  <p:tag name="TEMPFOLDER" val="c:\temp\"/>
  <p:tag name="TRANSPARENCY" val="Verdadero"/>
</p:tagLst>
</file>

<file path=ppt/tags/tag19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5"/>
  <p:tag name="IGUANATEXSIZE" val="20"/>
  <p:tag name="LATEXADDIN" val="\documentclass{article}&#10;\usepackage{ae} %incluido&#10;\usepackage{multirow}&#10;\usepackage{mathrsfs} %Transformada de laplace e Fourier&#10;\usepackage{amsmath}&#10;\pagestyle{empty}&#10;&#10;\begin{document}&#10;$\Delta_f(\lambda)=\lambda^2+7\lambda+3$&#10;&#10;\end{document}"/>
  <p:tag name="LATEXENGINEID" val="0"/>
  <p:tag name="LATEXFORMHEIGHT" val="312"/>
  <p:tag name="LATEXFORMWIDTH" val="384"/>
  <p:tag name="LATEXFORMWRAP" val="Verdadero"/>
  <p:tag name="ORIGINALHEIGHT" val="139.4826"/>
  <p:tag name="ORIGINALWIDTH" val="1123.36"/>
  <p:tag name="OUTPUTDPI" val="1200"/>
  <p:tag name="TEMPFOLDER" val="c:\temp\"/>
  <p:tag name="TRANSPARENCY" val="Verdadero"/>
</p:tagLst>
</file>

<file path=ppt/tags/tag19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65"/>
  <p:tag name="IGUANATEXSIZE" val="20"/>
  <p:tag name="LATEXADDIN" val="\documentclass{article}&#10;\usepackage{ae} %incluido&#10;\usepackage{multirow}&#10;\usepackage{mathrsfs} %Transformada de laplace e Fourier&#10;\usepackage{amsmath}&#10;\pagestyle{empty}&#10;&#10;\begin{document}&#10;$\mathbf{\phi(A)}=\begin{bmatrix}&#10;0 &amp; 1\\&#10;1 &amp; 0&#10;\end{bmatrix}^2+7\begin{bmatrix}&#10;0 &amp; 1\\&#10;1 &amp; 0&#10;\end{bmatrix}+3\begin{bmatrix}&#10;1 &amp; 0\\&#10;0 &amp; 1&#10;\end{bmatrix}=\begin{bmatrix}&#10;4 &amp; 7\\&#10;7 &amp; 4&#10;\end{bmatrix}$&#10;&#10;\end{document}"/>
  <p:tag name="LATEXENGINEID" val="0"/>
  <p:tag name="LATEXFORMHEIGHT" val="312"/>
  <p:tag name="LATEXFORMWIDTH" val="384"/>
  <p:tag name="LATEXFORMWRAP" val="Verdadero"/>
  <p:tag name="ORIGINALHEIGHT" val="324.7094"/>
  <p:tag name="ORIGINALWIDTH" val="2621.672"/>
  <p:tag name="OUTPUTDPI" val="1200"/>
  <p:tag name="TEMPFOLDER" val="c:\temp\"/>
  <p:tag name="TRANSPARENCY" val="Verdadero"/>
</p:tagLst>
</file>

<file path=ppt/tags/tag19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85"/>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k}=\begin{bmatrix}&#10;0&amp; 1 &#10;\end{bmatrix}\ \ \begin{bmatrix}&#10;1 &amp; 0\\&#10;0 &amp; 1&#10;\end{bmatrix}^{-1}\ \begin{bmatrix}&#10;4 &amp; 7\\&#10;7 &amp; 4&#10;\end{bmatrix}$&#10;&#10;\end{document}"/>
  <p:tag name="LATEXENGINEID" val="0"/>
  <p:tag name="LATEXFORMHEIGHT" val="312"/>
  <p:tag name="LATEXFORMWIDTH" val="384"/>
  <p:tag name="LATEXFORMWRAP" val="Verdadero"/>
  <p:tag name="ORIGINALHEIGHT" val="324.7094"/>
  <p:tag name="ORIGINALWIDTH" val="1619.048"/>
  <p:tag name="OUTPUTDPI" val="1200"/>
  <p:tag name="TEMPFOLDER" val="c:\temp\"/>
  <p:tag name="TRANSPARENCY" val="Verdadero"/>
</p:tagLst>
</file>

<file path=ppt/tags/tag20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16"/>
  <p:tag name="IGUANATEXSIZE" val="20"/>
  <p:tag name="LATEXADDIN" val="\documentclass{article}&#10;\usepackage{ae} %incluido&#10;\usepackage{multirow}&#10;\usepackage{mathrsfs} %Transformada de laplace e Fourier&#10;\usepackage{amsmath}&#10;\pagestyle{empty}&#10;\usepackage[brazil]{babel}&#10;\usepackage[latin1]{inputenc}&#10;\usepackage{url}&#10;\usepackage{lscape}&#10;\usepackage{tabularx}&#10;\usepackage{longtable}&#10;\usepackage{setspace}&#10;\usepackage[pdftex]{graphicx}&#10;\usepackage[pdftex]{graphicx}&#10;\graphicspath{{./imagens/}}&#10;\usepackage{color}&#10;\usepackage{amsmath,amssymb}&#10;&#10;\begin{document}&#10;&#10;$\mathbf{k}=\begin{bmatrix}&#10;7&amp; 4 &#10;\end{bmatrix}$&#10;&#10;\end{document}"/>
  <p:tag name="LATEXENGINEID" val="0"/>
  <p:tag name="LATEXFORMHEIGHT" val="312"/>
  <p:tag name="LATEXFORMWIDTH" val="384"/>
  <p:tag name="LATEXFORMWRAP" val="Verdadero"/>
  <p:tag name="ORIGINALHEIGHT" val="149.2313"/>
  <p:tag name="ORIGINALWIDTH" val="564.6794"/>
  <p:tag name="OUTPUTDPI" val="1200"/>
  <p:tag name="TEMPFOLDER" val="c:\temp\"/>
  <p:tag name="TRANSPARENCY" val="Verdadero"/>
</p:tagLst>
</file>

<file path=ppt/tags/tag20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10;$y(t=\infty)=r(t=\infty)$&#10;\end{document}"/>
  <p:tag name="LATEXENGINEID" val="0"/>
  <p:tag name="LATEXFORMHEIGHT" val="312"/>
  <p:tag name="LATEXFORMWIDTH" val="384"/>
  <p:tag name="LATEXFORMWRAP" val="Verdadero"/>
  <p:tag name="ORIGINALHEIGHT" val="125.2343"/>
  <p:tag name="ORIGINALWIDTH" val="1140.607"/>
  <p:tag name="OUTPUTDPI" val="1200"/>
  <p:tag name="TEMPFOLDER" val="c:\temp\"/>
  <p:tag name="TRANSPARENCY" val="Verdadero"/>
</p:tagLst>
</file>

<file path=ppt/tags/tag20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0"/>
  <p:tag name="LATEXADDIN" val="\documentclass{article}&#10;\usepackage{ae} %incluido&#10;\usepackage{multirow}&#10;\usepackage{mathrsfs} %Transformada de laplace e Fourier&#10;\usepackage{amsmath}&#10;\pagestyle{empty}&#10;&#10;\begin{document}&#10;&#10;$w(t=\infty)$&#10;\end{document}"/>
  <p:tag name="LATEXENGINEID" val="0"/>
  <p:tag name="LATEXFORMHEIGHT" val="312"/>
  <p:tag name="LATEXFORMWIDTH" val="384"/>
  <p:tag name="LATEXFORMWRAP" val="Verdadero"/>
  <p:tag name="ORIGINALHEIGHT" val="125.2343"/>
  <p:tag name="ORIGINALWIDTH" val="509.1864"/>
  <p:tag name="OUTPUTDPI" val="1200"/>
  <p:tag name="TEMPFOLDER" val="c:\temp\"/>
  <p:tag name="TRANSPARENCY" val="Verdadero"/>
</p:tagLst>
</file>

<file path=ppt/tags/tag20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1"/>
  <p:tag name="IGUANATEXSIZE" val="20"/>
  <p:tag name="LATEXADDIN" val="\documentclass{article}&#10;\usepackage{ae} %incluido&#10;\usepackage{multirow}&#10;\usepackage{mathrsfs} %Transformada de laplace e Fourier&#10;\usepackage{amsmath}&#10;\pagestyle{empty}&#10;&#10;\begin{document}&#10;&#10;$e(t=\infty)=0$&#10;\end{document}"/>
  <p:tag name="LATEXENGINEID" val="0"/>
  <p:tag name="LATEXFORMHEIGHT" val="312"/>
  <p:tag name="LATEXFORMWIDTH" val="384"/>
  <p:tag name="LATEXFORMWRAP" val="Verdadero"/>
  <p:tag name="ORIGINALHEIGHT" val="125.2343"/>
  <p:tag name="ORIGINALWIDTH" val="708.6614"/>
  <p:tag name="OUTPUTDPI" val="1200"/>
  <p:tag name="TEMPFOLDER" val="c:\temp\"/>
  <p:tag name="TRANSPARENCY" val="Verdadero"/>
</p:tagLst>
</file>

<file path=ppt/tags/tag20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10;$\dot{\mathbf{x}}(t)=\mathbf{Ax}(t)+\mathbf{Bu}(t)$&#10;\end{document}"/>
  <p:tag name="LATEXENGINEID" val="0"/>
  <p:tag name="LATEXFORMHEIGHT" val="312"/>
  <p:tag name="LATEXFORMWIDTH" val="384"/>
  <p:tag name="LATEXFORMWRAP" val="Verdadero"/>
  <p:tag name="ORIGINALHEIGHT" val="125.2343"/>
  <p:tag name="ORIGINALWIDTH" val="1169.854"/>
  <p:tag name="OUTPUTDPI" val="1200"/>
  <p:tag name="TEMPFOLDER" val="c:\temp\"/>
  <p:tag name="TRANSPARENCY" val="Verdadero"/>
</p:tagLst>
</file>

<file path=ppt/tags/tag20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10;$\mathbf{y}(t)=\mathbf{Cx}(t)$&#10;\end{document}"/>
  <p:tag name="LATEXENGINEID" val="0"/>
  <p:tag name="LATEXFORMHEIGHT" val="312"/>
  <p:tag name="LATEXFORMWIDTH" val="384"/>
  <p:tag name="LATEXFORMWRAP" val="Verdadero"/>
  <p:tag name="ORIGINALHEIGHT" val="125.2343"/>
  <p:tag name="ORIGINALWIDTH" val="692.1635"/>
  <p:tag name="OUTPUTDPI" val="1200"/>
  <p:tag name="TEMPFOLDER" val="c:\temp\"/>
  <p:tag name="TRANSPARENCY" val="Verdadero"/>
</p:tagLst>
</file>

<file path=ppt/tags/tag20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10;$\mathbf{u}(t)=-\mathbf{Kx}(t)+\mathbf{Hr}(t)$&#10;\end{document}"/>
  <p:tag name="LATEXENGINEID" val="0"/>
  <p:tag name="LATEXFORMHEIGHT" val="312"/>
  <p:tag name="LATEXFORMWIDTH" val="384"/>
  <p:tag name="LATEXFORMWRAP" val="Verdadero"/>
  <p:tag name="ORIGINALHEIGHT" val="125.2343"/>
  <p:tag name="ORIGINALWIDTH" val="1261.342"/>
  <p:tag name="OUTPUTDPI" val="1200"/>
  <p:tag name="TEMPFOLDER" val="c:\temp\"/>
  <p:tag name="TRANSPARENCY" val="Verdadero"/>
</p:tagLst>
</file>

<file path=ppt/tags/tag20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4"/>
  <p:tag name="IGUANATEXSIZE" val="20"/>
  <p:tag name="LATEXADDIN" val="\documentclass{article}&#10;\usepackage{ae} %incluido&#10;\usepackage{multirow}&#10;\usepackage{mathrsfs} %Transformada de laplace e Fourier&#10;\usepackage{amsmath}&#10;\pagestyle{empty}&#10;&#10;\begin{document}&#10;&#10;$\dot{\mathbf{x}}(t)=\mathbf{(A-BK)x}(t)+\mathbf{BHr}(t)$&#10;\end{document}"/>
  <p:tag name="LATEXENGINEID" val="0"/>
  <p:tag name="LATEXFORMHEIGHT" val="312"/>
  <p:tag name="LATEXFORMWIDTH" val="384"/>
  <p:tag name="LATEXFORMWRAP" val="Verdadero"/>
  <p:tag name="ORIGINALHEIGHT" val="125.2343"/>
  <p:tag name="ORIGINALWIDTH" val="1724.784"/>
  <p:tag name="OUTPUTDPI" val="1200"/>
  <p:tag name="TEMPFOLDER" val="c:\temp\"/>
  <p:tag name="TRANSPARENCY" val="Verdadero"/>
</p:tagLst>
</file>

<file path=ppt/tags/tag20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2"/>
  <p:tag name="IGUANATEXSIZE" val="20"/>
  <p:tag name="LATEXADDIN" val="\documentclass{article}&#10;\usepackage{ae} %incluido&#10;\usepackage{multirow}&#10;\usepackage{mathrsfs} %Transformada de laplace e Fourier&#10;\usepackage{amsmath}&#10;\pagestyle{empty}&#10;&#10;\begin{document}&#10;&#10;$\mathbf{G_f}=\dfrac{\mathbf{y}(s)}{\mathbf{r}(s)}=\mathbf{C(sI-\bar{A})}^{-1}\mathbf{BH}=\mathbf{G}(s)\mathbf{H}$&#10;&#10;\end{document}"/>
  <p:tag name="LATEXENGINEID" val="0"/>
  <p:tag name="LATEXFORMHEIGHT" val="312"/>
  <p:tag name="LATEXFORMWIDTH" val="384"/>
  <p:tag name="LATEXFORMWRAP" val="Verdadero"/>
  <p:tag name="ORIGINALHEIGHT" val="294.7131"/>
  <p:tag name="ORIGINALWIDTH" val="2211.474"/>
  <p:tag name="OUTPUTDPI" val="1200"/>
  <p:tag name="TEMPFOLDER" val="c:\temp\"/>
  <p:tag name="TRANSPARENCY" val="Verdadero"/>
</p:tagLst>
</file>

<file path=ppt/tags/tag20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5"/>
  <p:tag name="IGUANATEXSIZE" val="20"/>
  <p:tag name="LATEXADDIN" val="\documentclass{article}&#10;\usepackage{ae} %incluido&#10;\usepackage{multirow}&#10;\usepackage{mathrsfs} %Transformada de laplace e Fourier&#10;\usepackage{amsmath}&#10;\pagestyle{empty}&#10;&#10;\begin{document}&#10;&#10;$\mathbf{G_f}(0)=\mathbf{I}$&#10;&#10;\end{document}"/>
  <p:tag name="LATEXENGINEID" val="0"/>
  <p:tag name="LATEXFORMHEIGHT" val="312"/>
  <p:tag name="LATEXFORMWIDTH" val="384"/>
  <p:tag name="LATEXFORMWRAP" val="Verdadero"/>
  <p:tag name="ORIGINALHEIGHT" val="125.2343"/>
  <p:tag name="ORIGINALWIDTH" val="531.6835"/>
  <p:tag name="OUTPUTDPI" val="1200"/>
  <p:tag name="TEMPFOLDER" val="c:\temp\"/>
  <p:tag name="TRANSPARENCY" val="Verdadero"/>
</p:tagLst>
</file>

<file path=ppt/tags/tag21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2"/>
  <p:tag name="IGUANATEXSIZE" val="20"/>
  <p:tag name="LATEXADDIN" val="\documentclass{article}&#10;\usepackage{ae} %incluido&#10;\usepackage{multirow}&#10;\usepackage{mathrsfs} %Transformada de laplace e Fourier&#10;\usepackage{amsmath}&#10;\pagestyle{empty}&#10;&#10;\begin{document}&#10;&#10;$\mathbf{G_f}=\dfrac{\mathbf{y}(s)}{\mathbf{r}(s)}=\mathbf{C(sI-\bar{A})}^{-1}\mathbf{BH}=\mathbf{G}(s)\mathbf{H}$&#10;&#10;\end{document}"/>
  <p:tag name="LATEXENGINEID" val="0"/>
  <p:tag name="LATEXFORMHEIGHT" val="312"/>
  <p:tag name="LATEXFORMWIDTH" val="384"/>
  <p:tag name="LATEXFORMWRAP" val="Verdadero"/>
  <p:tag name="ORIGINALHEIGHT" val="294.7131"/>
  <p:tag name="ORIGINALWIDTH" val="2211.474"/>
  <p:tag name="OUTPUTDPI" val="1200"/>
  <p:tag name="TEMPFOLDER" val="c:\temp\"/>
  <p:tag name="TRANSPARENCY" val="Verdadero"/>
</p:tagLst>
</file>

<file path=ppt/tags/tag21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4"/>
  <p:tag name="IGUANATEXSIZE" val="20"/>
  <p:tag name="LATEXADDIN" val="\documentclass{article}&#10;\usepackage{ae} %incluido&#10;\usepackage{multirow}&#10;\usepackage{mathrsfs} %Transformada de laplace e Fourier&#10;\usepackage{amsmath}&#10;\pagestyle{empty}&#10;&#10;\begin{document}&#10;&#10;$\mathbf{G}(s)=\mathbf{C(sI-\bar{A})}^{-1}\mathbf{BH} = \mathbf{I}$&#10;&#10;\end{document}"/>
  <p:tag name="LATEXENGINEID" val="0"/>
  <p:tag name="LATEXFORMHEIGHT" val="312"/>
  <p:tag name="LATEXFORMWIDTH" val="384"/>
  <p:tag name="LATEXFORMWRAP" val="Verdadero"/>
  <p:tag name="ORIGINALHEIGHT" val="162.7297"/>
  <p:tag name="ORIGINALWIDTH" val="1561.305"/>
  <p:tag name="OUTPUTDPI" val="1200"/>
  <p:tag name="TEMPFOLDER" val="c:\temp\"/>
  <p:tag name="TRANSPARENCY" val="Verdadero"/>
</p:tagLst>
</file>

<file path=ppt/tags/tag21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0"/>
  <p:tag name="IGUANATEXSIZE" val="20"/>
  <p:tag name="LATEXADDIN" val="\documentclass{article}&#10;\usepackage{ae} %incluido&#10;\usepackage{multirow}&#10;\usepackage{mathrsfs} %Transformada de laplace e Fourier&#10;\usepackage{amsmath}&#10;\pagestyle{empty}&#10;&#10;\begin{document}&#10;&#10;$\mathbf{H}=\mathbf{G}(0)^{-1}=-\mathbf{(C\bar{A}^{-1}B)^{-1}}$&#10;&#10;\end{document}"/>
  <p:tag name="LATEXENGINEID" val="0"/>
  <p:tag name="LATEXFORMHEIGHT" val="312"/>
  <p:tag name="LATEXFORMWIDTH" val="384"/>
  <p:tag name="LATEXFORMWRAP" val="Verdadero"/>
  <p:tag name="ORIGINALHEIGHT" val="137.2328"/>
  <p:tag name="ORIGINALWIDTH" val="1619.797"/>
  <p:tag name="OUTPUTDPI" val="1200"/>
  <p:tag name="TEMPFOLDER" val="c:\temp\"/>
  <p:tag name="TRANSPARENCY" val="Verdadero"/>
</p:tagLst>
</file>

<file path=ppt/tags/tag21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0"/>
  <p:tag name="IGUANATEXSIZE" val="20"/>
  <p:tag name="LATEXADDIN" val="\documentclass{article}&#10;\usepackage{ae} %incluido&#10;\usepackage{multirow}&#10;\usepackage{mathrsfs} %Transformada de laplace e Fourier&#10;\usepackage{amsmath}&#10;\pagestyle{empty}&#10;&#10;\begin{document}&#10;&#10;$\mathbf{\bar{A}=A-BK}$&#10;&#10;\end{document}"/>
  <p:tag name="LATEXENGINEID" val="0"/>
  <p:tag name="LATEXFORMHEIGHT" val="312"/>
  <p:tag name="LATEXFORMWIDTH" val="384"/>
  <p:tag name="LATEXFORMWRAP" val="Verdadero"/>
  <p:tag name="ORIGINALHEIGHT" val="105.7368"/>
  <p:tag name="ORIGINALWIDTH" val="738.6577"/>
  <p:tag name="OUTPUTDPI" val="1200"/>
  <p:tag name="TEMPFOLDER" val="c:\temp\"/>
  <p:tag name="TRANSPARENCY" val="Verdadero"/>
</p:tagLst>
</file>

<file path=ppt/tags/tag21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9"/>
  <p:tag name="IGUANATEXSIZE" val="20"/>
  <p:tag name="LATEXADDIN" val="\documentclass{article}&#10;\usepackage{ae} %incluido&#10;\usepackage{multirow}&#10;\usepackage{mathrsfs} %Transformada de laplace e Fourier&#10;\usepackage{amsmath}&#10;\pagestyle{empty}&#10;&#10;\begin{document}&#10;&#10;$\mathbf{u}(t)=-\mathbf{K_1x}(t)+\mathbf{K_2\xi}(t)$&#10;&#10;\end{document}"/>
  <p:tag name="LATEXENGINEID" val="0"/>
  <p:tag name="LATEXFORMHEIGHT" val="312"/>
  <p:tag name="LATEXFORMWIDTH" val="384"/>
  <p:tag name="LATEXFORMWRAP" val="Verdadero"/>
  <p:tag name="ORIGINALHEIGHT" val="125.2343"/>
  <p:tag name="ORIGINALWIDTH" val="1388.077"/>
  <p:tag name="OUTPUTDPI" val="1200"/>
  <p:tag name="TEMPFOLDER" val="c:\temp\"/>
  <p:tag name="TRANSPARENCY" val="Verdadero"/>
</p:tagLst>
</file>

<file path=ppt/tags/tag21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5"/>
  <p:tag name="IGUANATEXSIZE" val="20"/>
  <p:tag name="LATEXADDIN" val="\documentclass{article}&#10;\usepackage{ae} %incluido&#10;\usepackage{multirow}&#10;\usepackage{mathrsfs} %Transformada de laplace e Fourier&#10;\usepackage{amsmath}&#10;\pagestyle{empty}&#10;&#10;\begin{document}&#10;&#10;$\mathbf{e}(t)=\mathbf{\dot{\xi}}(t)=\mathbf{r-y}=\mathbf{r-Cx}$&#10;&#10;\end{document}"/>
  <p:tag name="LATEXENGINEID" val="0"/>
  <p:tag name="LATEXFORMHEIGHT" val="312"/>
  <p:tag name="LATEXFORMWIDTH" val="384"/>
  <p:tag name="LATEXFORMWRAP" val="Verdadero"/>
  <p:tag name="ORIGINALHEIGHT" val="149.2313"/>
  <p:tag name="ORIGINALWIDTH" val="1580.052"/>
  <p:tag name="OUTPUTDPI" val="1200"/>
  <p:tag name="TEMPFOLDER" val="c:\temp\"/>
  <p:tag name="TRANSPARENCY" val="Verdadero"/>
</p:tagLst>
</file>

<file path=ppt/tags/tag21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5"/>
  <p:tag name="IGUANATEXSIZE" val="20"/>
  <p:tag name="LATEXADDIN" val="\documentclass{article}&#10;\usepackage{ae} %incluido&#10;\usepackage{multirow}&#10;\usepackage{mathrsfs} %Transformada de laplace e Fourier&#10;\usepackage{amsmath}&#10;\pagestyle{empty}&#10;&#10;\begin{document}&#10;&#10;$\begin{bmatrix}\dot{\mathbf{x}}(t)\\\dot{\mathbf{\xi}}(t)\end{bmatrix}=\begin{bmatrix}&#10;\mathbf{A}&amp; 0 \\&#10;\mathbf{-C} &amp; \mathbf{0}&#10;\end{bmatrix}&#10;\begin{bmatrix}{\mathbf{x}}(t)\\{\mathbf{\xi}}(t)\end{bmatrix}&#10;+\begin{bmatrix}\mathbf{B}\\\mathbf{0}\end{bmatrix}\mathbf{u}(t)+&#10;\begin{bmatrix}\mathbf{0}\\\mathbf{I} \end{bmatrix}\mathbf{r}(t)$&#10;&#10;\end{document}"/>
  <p:tag name="LATEXENGINEID" val="0"/>
  <p:tag name="LATEXFORMHEIGHT" val="312"/>
  <p:tag name="LATEXFORMWIDTH" val="384"/>
  <p:tag name="LATEXFORMWRAP" val="Verdadero"/>
  <p:tag name="ORIGINALHEIGHT" val="299.2126"/>
  <p:tag name="ORIGINALWIDTH" val="2573.678"/>
  <p:tag name="OUTPUTDPI" val="1200"/>
  <p:tag name="TEMPFOLDER" val="c:\temp\"/>
  <p:tag name="TRANSPARENCY" val="Verdadero"/>
</p:tagLst>
</file>

<file path=ppt/tags/tag21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10;$\dot{\mathbf{x}}(t)=\mathbf{Ax}(t)+\mathbf{Bu}(t)$&#10;\end{document}"/>
  <p:tag name="LATEXENGINEID" val="0"/>
  <p:tag name="LATEXFORMHEIGHT" val="312"/>
  <p:tag name="LATEXFORMWIDTH" val="384"/>
  <p:tag name="LATEXFORMWRAP" val="Verdadero"/>
  <p:tag name="ORIGINALHEIGHT" val="125.2343"/>
  <p:tag name="ORIGINALWIDTH" val="1169.854"/>
  <p:tag name="OUTPUTDPI" val="1200"/>
  <p:tag name="TEMPFOLDER" val="c:\temp\"/>
  <p:tag name="TRANSPARENCY" val="Verdadero"/>
</p:tagLst>
</file>

<file path=ppt/tags/tag21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25"/>
  <p:tag name="IGUANATEXSIZE" val="20"/>
  <p:tag name="LATEXADDIN" val="\documentclass{article}&#10;\usepackage{ae} %incluido&#10;\usepackage{multirow}&#10;\usepackage{mathrsfs} %Transformada de laplace e Fourier&#10;\usepackage{amsmath}&#10;\pagestyle{empty}&#10;&#10;\begin{document}&#10;&#10;$\begin{bmatrix}\dot{\mathbf{x}}(t)\\\dot{\mathbf{\xi}}(t)\end{bmatrix}=\begin{bmatrix}&#10;\mathbf{A}&amp; 0 \\&#10;\mathbf{-C} &amp; \mathbf{0}&#10;\end{bmatrix}&#10;\begin{bmatrix}{\mathbf{x}}(t)\\{\mathbf{\xi}}(t)\end{bmatrix}&#10;+\begin{bmatrix}\mathbf{B}\\\mathbf{0}\end{bmatrix}\mathbf{u}(t)+&#10;\begin{bmatrix}\mathbf{0}\\\mathbf{I} \end{bmatrix}\mathbf{r}(t)$&#10;&#10;\end{document}"/>
  <p:tag name="LATEXENGINEID" val="0"/>
  <p:tag name="LATEXFORMHEIGHT" val="312"/>
  <p:tag name="LATEXFORMWIDTH" val="384"/>
  <p:tag name="LATEXFORMWRAP" val="Verdadero"/>
  <p:tag name="ORIGINALHEIGHT" val="299.2126"/>
  <p:tag name="ORIGINALWIDTH" val="2573.678"/>
  <p:tag name="OUTPUTDPI" val="1200"/>
  <p:tag name="TEMPFOLDER" val="c:\temp\"/>
  <p:tag name="TRANSPARENCY" val="Verdadero"/>
</p:tagLst>
</file>

<file path=ppt/tags/tag21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4"/>
  <p:tag name="IGUANATEXSIZE" val="20"/>
  <p:tag name="LATEXADDIN" val="\documentclass{article}&#10;\usepackage{ae} %incluido&#10;\usepackage{multirow}&#10;\usepackage{mathrsfs} %Transformada de laplace e Fourier&#10;\usepackage{amsmath}&#10;\pagestyle{empty}&#10;&#10;\begin{document}&#10;&#10;$\dot{\mathbf{x_a}}(t)=\mathbf{A_ax_a}(t)+\mathbf{B_au}(t)+\mathbf{E_ar}(t)$&#10;&#10;\end{document}"/>
  <p:tag name="LATEXENGINEID" val="0"/>
  <p:tag name="LATEXFORMHEIGHT" val="312"/>
  <p:tag name="LATEXFORMWIDTH" val="384"/>
  <p:tag name="LATEXFORMWRAP" val="Verdadero"/>
  <p:tag name="ORIGINALHEIGHT" val="125.2343"/>
  <p:tag name="ORIGINALWIDTH" val="1922.01"/>
  <p:tag name="OUTPUTDPI" val="1200"/>
  <p:tag name="TEMPFOLDER" val="c:\temp\"/>
  <p:tag name="TRANSPARENCY" val="Verdadero"/>
</p:tagLst>
</file>

<file path=ppt/tags/tag22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10;$\mathbf{u}(t)=-\mathbf{K_ax_a}(t)$&#10;&#10;\end{document}"/>
  <p:tag name="LATEXENGINEID" val="0"/>
  <p:tag name="LATEXFORMHEIGHT" val="312"/>
  <p:tag name="LATEXFORMWIDTH" val="384"/>
  <p:tag name="LATEXFORMWRAP" val="Verdadero"/>
  <p:tag name="ORIGINALHEIGHT" val="125.2343"/>
  <p:tag name="ORIGINALWIDTH" val="918.6352"/>
  <p:tag name="OUTPUTDPI" val="1200"/>
  <p:tag name="TEMPFOLDER" val="c:\temp\"/>
  <p:tag name="TRANSPARENCY" val="Verdadero"/>
</p:tagLst>
</file>

<file path=ppt/tags/tag22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1"/>
  <p:tag name="IGUANATEXSIZE" val="20"/>
  <p:tag name="LATEXADDIN" val="\documentclass{article}&#10;\usepackage{ae} %incluido&#10;\usepackage{multirow}&#10;\usepackage{mathrsfs} %Transformada de laplace e Fourier&#10;\usepackage{amsmath}&#10;\pagestyle{empty}&#10;&#10;\begin{document}&#10;&#10;$\dot{\mathbf{x_a}}=\begin{bmatrix}{\mathbf{x}}(t)\\{\mathbf{\xi}}(t)\end{bmatrix}$&#10;&#10;&#10;\end{document}"/>
  <p:tag name="LATEXENGINEID" val="0"/>
  <p:tag name="LATEXFORMHEIGHT" val="312"/>
  <p:tag name="LATEXFORMWIDTH" val="384"/>
  <p:tag name="LATEXFORMWRAP" val="Verdadero"/>
  <p:tag name="ORIGINALHEIGHT" val="299.2126"/>
  <p:tag name="ORIGINALWIDTH" val="617.9227"/>
  <p:tag name="OUTPUTDPI" val="1200"/>
  <p:tag name="TEMPFOLDER" val="c:\temp\"/>
  <p:tag name="TRANSPARENCY" val="Verdadero"/>
</p:tagLst>
</file>

<file path=ppt/tags/tag22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3"/>
  <p:tag name="IGUANATEXSIZE" val="20"/>
  <p:tag name="LATEXADDIN" val="\documentclass{article}&#10;\usepackage{ae} %incluido&#10;\usepackage{multirow}&#10;\usepackage{mathrsfs} %Transformada de laplace e Fourier&#10;\usepackage{amsmath}&#10;\pagestyle{empty}&#10;&#10;\begin{document}&#10;&#10;$\mathbf{A_a}=\begin{bmatrix}&#10;\mathbf{A}&amp; 0 \\&#10;\mathbf{-C} &amp; \mathbf{0}&#10;\end{bmatrix}$&#10;&#10;\end{document}"/>
  <p:tag name="LATEXENGINEID" val="0"/>
  <p:tag name="LATEXFORMHEIGHT" val="312"/>
  <p:tag name="LATEXFORMWIDTH" val="384"/>
  <p:tag name="LATEXFORMWRAP" val="Verdadero"/>
  <p:tag name="ORIGINALHEIGHT" val="299.2126"/>
  <p:tag name="ORIGINALWIDTH" val="827.1466"/>
  <p:tag name="OUTPUTDPI" val="1200"/>
  <p:tag name="TEMPFOLDER" val="c:\temp\"/>
  <p:tag name="TRANSPARENCY" val="Verdadero"/>
</p:tagLst>
</file>

<file path=ppt/tags/tag22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3"/>
  <p:tag name="IGUANATEXSIZE" val="20"/>
  <p:tag name="LATEXADDIN" val="\documentclass{article}&#10;\usepackage{ae} %incluido&#10;\usepackage{multirow}&#10;\usepackage{mathrsfs} %Transformada de laplace e Fourier&#10;\usepackage{amsmath}&#10;\pagestyle{empty}&#10;&#10;\begin{document}&#10;&#10;$\mathbf{B_a}=\begin{bmatrix}\mathbf{B}\\\mathbf{0}\end{bmatrix}$&#10;&#10;&#10;\end{document}"/>
  <p:tag name="LATEXENGINEID" val="0"/>
  <p:tag name="LATEXFORMHEIGHT" val="312"/>
  <p:tag name="LATEXFORMWIDTH" val="384"/>
  <p:tag name="LATEXFORMWRAP" val="Verdadero"/>
  <p:tag name="ORIGINALHEIGHT" val="299.2126"/>
  <p:tag name="ORIGINALWIDTH" val="526.4341"/>
  <p:tag name="OUTPUTDPI" val="1200"/>
  <p:tag name="TEMPFOLDER" val="c:\temp\"/>
  <p:tag name="TRANSPARENCY" val="Verdadero"/>
</p:tagLst>
</file>

<file path=ppt/tags/tag22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0"/>
  <p:tag name="LATEXADDIN" val="\documentclass{article}&#10;\usepackage{ae} %incluido&#10;\usepackage{multirow}&#10;\usepackage{mathrsfs} %Transformada de laplace e Fourier&#10;\usepackage{amsmath}&#10;\pagestyle{empty}&#10;&#10;\begin{document}&#10;$\mathbf{E_a}=\begin{bmatrix}\mathbf{0}\\\mathbf{I} \end{bmatrix}$&#10;&#10;\end{document}"/>
  <p:tag name="LATEXENGINEID" val="0"/>
  <p:tag name="LATEXFORMHEIGHT" val="312"/>
  <p:tag name="LATEXFORMWIDTH" val="384"/>
  <p:tag name="LATEXFORMWRAP" val="Verdadero"/>
  <p:tag name="ORIGINALHEIGHT" val="299.2126"/>
  <p:tag name="ORIGINALWIDTH" val="488.189"/>
  <p:tag name="OUTPUTDPI" val="1200"/>
  <p:tag name="TEMPFOLDER" val="c:\temp\"/>
  <p:tag name="TRANSPARENCY" val="Verdadero"/>
</p:tagLst>
</file>

<file path=ppt/tags/tag22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6"/>
  <p:tag name="IGUANATEXSIZE" val="20"/>
  <p:tag name="LATEXADDIN" val="\documentclass{article}&#10;\usepackage{ae} %incluido&#10;\usepackage{multirow}&#10;\usepackage{mathrsfs} %Transformada de laplace e Fourier&#10;\usepackage{amsmath}&#10;\pagestyle{empty}&#10;&#10;\begin{document}&#10;$\mathbf{K_a}=\begin{bmatrix}\mathbf{K_1}&amp;-\mathbf{K_2} \end{bmatrix}$&#10;&#10;\end{document}"/>
  <p:tag name="LATEXENGINEID" val="0"/>
  <p:tag name="LATEXFORMHEIGHT" val="312"/>
  <p:tag name="LATEXFORMWIDTH" val="384"/>
  <p:tag name="LATEXFORMWRAP" val="Verdadero"/>
  <p:tag name="ORIGINALHEIGHT" val="149.2313"/>
  <p:tag name="ORIGINALWIDTH" val="984.627"/>
  <p:tag name="OUTPUTDPI" val="1200"/>
  <p:tag name="TEMPFOLDER" val="c:\temp\"/>
  <p:tag name="TRANSPARENCY" val="Verdadero"/>
</p:tagLst>
</file>

<file path=ppt/tags/tag22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8"/>
  <p:tag name="IGUANATEXSIZE" val="20"/>
  <p:tag name="LATEXADDIN" val="\documentclass{article}&#10;\usepackage{ae} %incluido&#10;\usepackage{multirow}&#10;\usepackage{mathrsfs} %Transformada de laplace e Fourier&#10;\usepackage{amsmath}&#10;\pagestyle{empty}&#10;&#10;\begin{document}&#10;$\dot{y}-\alpha y = u$&#10;&#10;\end{document}"/>
  <p:tag name="LATEXENGINEID" val="0"/>
  <p:tag name="LATEXFORMHEIGHT" val="312"/>
  <p:tag name="LATEXFORMWIDTH" val="384"/>
  <p:tag name="LATEXFORMWRAP" val="Verdadero"/>
  <p:tag name="ORIGINALHEIGHT" val="108.7364"/>
  <p:tag name="ORIGINALWIDTH" val="594.6757"/>
  <p:tag name="OUTPUTDPI" val="1200"/>
  <p:tag name="TEMPFOLDER" val="c:\temp\"/>
  <p:tag name="TRANSPARENCY" val="Verdadero"/>
</p:tagLst>
</file>

<file path=ppt/tags/tag22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5"/>
  <p:tag name="IGUANATEXSIZE" val="20"/>
  <p:tag name="LATEXADDIN" val="\documentclass{article}&#10;\usepackage{ae} %incluido&#10;\usepackage{multirow}&#10;\usepackage{mathrsfs} %Transformada de laplace e Fourier&#10;\usepackage{amsmath}&#10;\pagestyle{empty}&#10;&#10;\begin{document}&#10;$\Delta_f=s^2+3s+2$&#10;&#10;\end{document}"/>
  <p:tag name="LATEXENGINEID" val="0"/>
  <p:tag name="LATEXFORMHEIGHT" val="312"/>
  <p:tag name="LATEXFORMWIDTH" val="384"/>
  <p:tag name="LATEXFORMWRAP" val="Verdadero"/>
  <p:tag name="ORIGINALHEIGHT" val="139.4826"/>
  <p:tag name="ORIGINALWIDTH" val="924.6344"/>
  <p:tag name="OUTPUTDPI" val="1200"/>
  <p:tag name="TEMPFOLDER" val="c:\temp\"/>
  <p:tag name="TRANSPARENCY" val="Verdadero"/>
</p:tagLst>
</file>

<file path=ppt/tags/tag22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68"/>
  <p:tag name="IGUANATEXSIZE" val="20"/>
  <p:tag name="LATEXADDIN" val="\documentclass{article}&#10;\usepackage{ae} %incluido&#10;\usepackage{multirow}&#10;\usepackage{mathrsfs} %Transformada de laplace e Fourier&#10;\usepackage{amsmath}&#10;\pagestyle{empty}&#10;&#10;\begin{document}&#10;$\dot{\mathbf{x_a}}(t)=\begin{bmatrix}&#10;\alpha&amp; 0 \\&#10;-1 &amp; 0&#10;\end{bmatrix}\mathbf{x_a}(t)+&#10;\begin{bmatrix}1\\0\end{bmatrix}\mathbf{u}(t)+&#10;\begin{bmatrix}0\\1\end{bmatrix}\mathbf{r}(t)$&#10;&#10;\end{document}"/>
  <p:tag name="LATEXENGINEID" val="0"/>
  <p:tag name="LATEXFORMHEIGHT" val="312"/>
  <p:tag name="LATEXFORMWIDTH" val="384"/>
  <p:tag name="LATEXFORMWRAP" val="Verdadero"/>
  <p:tag name="ORIGINALHEIGHT" val="299.2126"/>
  <p:tag name="ORIGINALWIDTH" val="2362.205"/>
  <p:tag name="OUTPUTDPI" val="1200"/>
  <p:tag name="TEMPFOLDER" val="c:\temp\"/>
  <p:tag name="TRANSPARENCY" val="Verdadero"/>
</p:tagLst>
</file>

<file path=ppt/tags/tag22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dot{\xi}=e$&#10;&#10;$e = r - y$&#10;&#10;\end{document}"/>
  <p:tag name="LATEXENGINEID" val="0"/>
  <p:tag name="LATEXFORMHEIGHT" val="312"/>
  <p:tag name="LATEXFORMWIDTH" val="384"/>
  <p:tag name="LATEXFORMWRAP" val="Verdadero"/>
  <p:tag name="ORIGINALHEIGHT" val="290.9636"/>
  <p:tag name="ORIGINALWIDTH" val="494.9381"/>
  <p:tag name="OUTPUTDPI" val="1200"/>
  <p:tag name="TEMPFOLDER" val="c:\temp\"/>
  <p:tag name="TRANSPARENCY" val="Verdadero"/>
</p:tagLst>
</file>

<file path=ppt/tags/tag23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dot{x}(t)=\alpha x(t)+u(t)$&#10;&#10;$y(t)=x(t)$&#10;&#10;\end{document}"/>
  <p:tag name="LATEXENGINEID" val="0"/>
  <p:tag name="LATEXFORMHEIGHT" val="312"/>
  <p:tag name="LATEXFORMWIDTH" val="384"/>
  <p:tag name="LATEXFORMWRAP" val="Verdadero"/>
  <p:tag name="ORIGINALHEIGHT" val="274.4657"/>
  <p:tag name="ORIGINALWIDTH" val="1022.122"/>
  <p:tag name="OUTPUTDPI" val="1200"/>
  <p:tag name="TEMPFOLDER" val="c:\temp\"/>
  <p:tag name="TRANSPARENCY" val="Verdadero"/>
</p:tagLst>
</file>

<file path=ppt/tags/tag23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y(t)=\begin{bmatrix}&#10;1&amp; 0 &#10;\end{bmatrix}$&#10;&#10;\end{document}"/>
  <p:tag name="LATEXENGINEID" val="0"/>
  <p:tag name="LATEXFORMHEIGHT" val="312"/>
  <p:tag name="LATEXFORMWIDTH" val="384"/>
  <p:tag name="LATEXFORMWRAP" val="Verdadero"/>
  <p:tag name="ORIGINALHEIGHT" val="149.2313"/>
  <p:tag name="ORIGINALWIDTH" val="698.1628"/>
  <p:tag name="OUTPUTDPI" val="1200"/>
  <p:tag name="TEMPFOLDER" val="c:\temp\"/>
  <p:tag name="TRANSPARENCY" val="Verdadero"/>
</p:tagLst>
</file>

<file path=ppt/tags/tag23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7"/>
  <p:tag name="IGUANATEXSIZE" val="20"/>
  <p:tag name="LATEXADDIN" val="\documentclass{article}&#10;\usepackage{ae} %incluido&#10;\usepackage{multirow}&#10;\usepackage{mathrsfs} %Transformada de laplace e Fourier&#10;\usepackage{amsmath}&#10;\pagestyle{empty}&#10;&#10;\begin{document}&#10;$u=\mathbf{K_a}\begin{bmatrix}{x}(t)\\{\xi}(t)\end{bmatrix}\rightarrow \Delta_f=\lambda^2+3\lambda+2$&#10;&#10;\end{document}"/>
  <p:tag name="LATEXENGINEID" val="0"/>
  <p:tag name="LATEXFORMHEIGHT" val="312"/>
  <p:tag name="LATEXFORMWIDTH" val="384"/>
  <p:tag name="LATEXFORMWRAP" val="Verdadero"/>
  <p:tag name="ORIGINALHEIGHT" val="299.2126"/>
  <p:tag name="ORIGINALWIDTH" val="1924.26"/>
  <p:tag name="OUTPUTDPI" val="1200"/>
  <p:tag name="TEMPFOLDER" val="c:\temp\"/>
  <p:tag name="TRANSPARENCY" val="Verdadero"/>
</p:tagLst>
</file>

<file path=ppt/tags/tag23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Delta(\lambda)=\lambda(\lambda-1)$&#10;&#10;\end{document}"/>
  <p:tag name="LATEXENGINEID" val="0"/>
  <p:tag name="LATEXFORMHEIGHT" val="312"/>
  <p:tag name="LATEXFORMWIDTH" val="384"/>
  <p:tag name="LATEXFORMWRAP" val="Verdadero"/>
  <p:tag name="ORIGINALHEIGHT" val="125.2343"/>
  <p:tag name="ORIGINALWIDTH" val="878.1403"/>
  <p:tag name="OUTPUTDPI" val="1200"/>
  <p:tag name="TEMPFOLDER" val="c:\temp\"/>
  <p:tag name="TRANSPARENCY" val="Verdadero"/>
</p:tagLst>
</file>

<file path=ppt/tags/tag23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1"/>
  <p:tag name="IGUANATEXSIZE" val="18"/>
  <p:tag name="LATEXADDIN" val="\documentclass{article}&#10;\usepackage{ae} %incluido&#10;\usepackage{multirow}&#10;\usepackage{mathrsfs} %Transformada de laplace e Fourier&#10;\usepackage{amsmath}&#10;\pagestyle{empty}&#10;&#10;\begin{document}&#10;$\underline{\begin{matrix}&#10; \lambda^2&amp; +3\lambda &amp;+2 \\&#10; -(\lambda^2&amp; -1\lambda &amp;0)&#10;\end{matrix}}\\&#10;\begin{matrix}&#10;0\lambda^2&amp;  +4\lambda&amp; +2&#10;\end{matrix}$&#10;\end{document}"/>
  <p:tag name="LATEXENGINEID" val="0"/>
  <p:tag name="LATEXFORMHEIGHT" val="312"/>
  <p:tag name="LATEXFORMWIDTH" val="384"/>
  <p:tag name="LATEXFORMWRAP" val="Verdadero"/>
  <p:tag name="ORIGINALHEIGHT" val="449.1938"/>
  <p:tag name="ORIGINALWIDTH" val="1034.121"/>
  <p:tag name="OUTPUTDPI" val="1200"/>
  <p:tag name="TEMPFOLDER" val="c:\temp\"/>
  <p:tag name="TRANSPARENCY" val="Verdadero"/>
</p:tagLst>
</file>

<file path=ppt/tags/tag23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1"/>
  <p:tag name="IGUANATEXSIZE" val="20"/>
  <p:tag name="LATEXADDIN" val="\documentclass{article}&#10;\usepackage{ae} %incluido&#10;\usepackage{multirow}&#10;\usepackage{mathrsfs} %Transformada de laplace e Fourier&#10;\usepackage{amsmath}&#10;\pagestyle{empty}&#10;&#10;\begin{document}&#10;$\mathbf{K_a}=\begin{bmatrix}&#10;4 &amp; -2&#10;\end{bmatrix}$&#10;&#10;\end{document}"/>
  <p:tag name="LATEXENGINEID" val="0"/>
  <p:tag name="LATEXFORMHEIGHT" val="312"/>
  <p:tag name="LATEXFORMWIDTH" val="384"/>
  <p:tag name="LATEXFORMWRAP" val="Verdadero"/>
  <p:tag name="ORIGINALHEIGHT" val="149.2313"/>
  <p:tag name="ORIGINALWIDTH" val="759.655"/>
  <p:tag name="OUTPUTDPI" val="1200"/>
  <p:tag name="TEMPFOLDER" val="c:\temp\"/>
  <p:tag name="TRANSPARENCY" val="Verdadero"/>
</p:tagLst>
</file>

<file path=ppt/tags/tag23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4"/>
  <p:tag name="IGUANATEXSIZE" val="20"/>
  <p:tag name="LATEXADDIN" val="\documentclass{article}&#10;\usepackage{ae} %incluido&#10;\usepackage{multirow}&#10;\usepackage{mathrsfs} %Transformada de laplace e Fourier&#10;\usepackage{amsmath}&#10;\pagestyle{empty}&#10;&#10;\begin{document}&#10;&#10;$\dot{\mathbf{x_a}}(t)=\mathbf{A_ax_a}(t)+\mathbf{B_au}(t)+\mathbf{E_ar}(t)$&#10;&#10;\end{document}"/>
  <p:tag name="LATEXENGINEID" val="0"/>
  <p:tag name="LATEXFORMHEIGHT" val="312"/>
  <p:tag name="LATEXFORMWIDTH" val="384"/>
  <p:tag name="LATEXFORMWRAP" val="Verdadero"/>
  <p:tag name="ORIGINALHEIGHT" val="125.2343"/>
  <p:tag name="ORIGINALWIDTH" val="1922.01"/>
  <p:tag name="OUTPUTDPI" val="1200"/>
  <p:tag name="TEMPFOLDER" val="c:\temp\"/>
  <p:tag name="TRANSPARENCY" val="Verdadero"/>
</p:tagLst>
</file>

<file path=ppt/tags/tag23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1"/>
  <p:tag name="IGUANATEXSIZE" val="20"/>
  <p:tag name="LATEXADDIN" val="\documentclass{article}&#10;\usepackage{ae} %incluido&#10;\usepackage{multirow}&#10;\usepackage{mathrsfs} %Transformada de laplace e Fourier&#10;\usepackage{amsmath}&#10;\pagestyle{empty}&#10;&#10;\begin{document}&#10;&#10;$\mathbf{u}(t)=-\mathbf{K_ax_a}(t)$&#10;&#10;\end{document}"/>
  <p:tag name="LATEXENGINEID" val="0"/>
  <p:tag name="LATEXFORMHEIGHT" val="312"/>
  <p:tag name="LATEXFORMWIDTH" val="384"/>
  <p:tag name="LATEXFORMWRAP" val="Verdadero"/>
  <p:tag name="ORIGINALHEIGHT" val="125.2343"/>
  <p:tag name="ORIGINALWIDTH" val="918.6352"/>
  <p:tag name="OUTPUTDPI" val="1200"/>
  <p:tag name="TEMPFOLDER" val="c:\temp\"/>
  <p:tag name="TRANSPARENCY" val="Verdadero"/>
</p:tagLst>
</file>

<file path=ppt/tags/tag23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9"/>
  <p:tag name="IGUANATEXSIZE" val="20"/>
  <p:tag name="LATEXADDIN" val="\documentclass{article}&#10;\usepackage{ae} %incluido&#10;\usepackage{multirow}&#10;\usepackage{mathrsfs} %Transformada de laplace e Fourier&#10;\usepackage{amsmath}&#10;\pagestyle{empty}&#10;&#10;\begin{document}&#10;&#10;$\dot{\mathbf{x_a}}(t)=(\mathbf{A_a}(t)-\mathbf{B_aK_a})\mathbf{x_a}(t)+\mathbf{E_a}\mathbf{r}(t)$&#10;&#10;\end{document}"/>
  <p:tag name="LATEXENGINEID" val="0"/>
  <p:tag name="LATEXFORMHEIGHT" val="312"/>
  <p:tag name="LATEXFORMWIDTH" val="384"/>
  <p:tag name="LATEXFORMWRAP" val="Verdadero"/>
  <p:tag name="ORIGINALHEIGHT" val="125.2343"/>
  <p:tag name="ORIGINALWIDTH" val="2113.236"/>
  <p:tag name="OUTPUTDPI" val="1200"/>
  <p:tag name="TEMPFOLDER" val="c:\temp\"/>
  <p:tag name="TRANSPARENCY" val="Verdadero"/>
</p:tagLst>
</file>

<file path=ppt/tags/tag23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0"/>
  <p:tag name="LATEXADDIN" val="\documentclass{article}&#10;\usepackage{ae} %incluido&#10;\usepackage{multirow}&#10;\usepackage{mathrsfs} %Transformada de laplace e Fourier&#10;\usepackage{amsmath}&#10;\pagestyle{empty}&#10;&#10;\begin{document}&#10;$k=\bar{k}\mathbf{P}$&#10;&#10;\end{document}"/>
  <p:tag name="LATEXENGINEID" val="0"/>
  <p:tag name="LATEXFORMHEIGHT" val="312"/>
  <p:tag name="LATEXFORMWIDTH" val="384"/>
  <p:tag name="LATEXFORMWRAP" val="Verdadero"/>
  <p:tag name="ORIGINALHEIGHT" val="107.9865"/>
  <p:tag name="ORIGINALWIDTH" val="386.9517"/>
  <p:tag name="OUTPUTDPI" val="1200"/>
  <p:tag name="TEMPFOLDER" val="c:\temp\"/>
  <p:tag name="TRANSPARENCY" val="Verdadero"/>
</p:tagLst>
</file>

<file path=ppt/tags/tag24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4"/>
  <p:tag name="IGUANATEXSIZE" val="25"/>
  <p:tag name="LATEXADDIN" val="\documentclass{article}&#10;\usepackage{ae} %incluido&#10;\usepackage{multirow}&#10;\usepackage{mathrsfs} %Transformada de laplace e Fourier&#10;\usepackage{amsmath}&#10;\pagestyle{empty}&#10;&#10;\begin{document}&#10;&#10;$P=\begin{bmatrix}&#10;1&amp; 0 \\&#10;0 &amp; -1&#10;\end{bmatrix}$&#10;&#10;&#10;&#10;\end{document}"/>
  <p:tag name="LATEXENGINEID" val="0"/>
  <p:tag name="LATEXFORMHEIGHT" val="312"/>
  <p:tag name="LATEXFORMWIDTH" val="384"/>
  <p:tag name="LATEXFORMWRAP" val="Verdadero"/>
  <p:tag name="ORIGINALHEIGHT" val="299.2126"/>
  <p:tag name="ORIGINALWIDTH" val="704.9119"/>
  <p:tag name="OUTPUTDPI" val="1200"/>
  <p:tag name="TEMPFOLDER" val="c:\temp\"/>
  <p:tag name="TRANSPARENCY" val="Verdadero"/>
</p:tagLst>
</file>

<file path=ppt/tags/tag24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4"/>
  <p:tag name="IGUANATEXSIZE" val="25"/>
  <p:tag name="LATEXADDIN" val="\documentclass{article}&#10;\usepackage{ae} %incluido&#10;\usepackage{multirow}&#10;\usepackage{mathrsfs} %Transformada de laplace e Fourier&#10;\usepackage{amsmath}&#10;\pagestyle{empty}&#10;&#10;\begin{document}&#10;&#10;$\dot{x}_a(t)=\left(\begin{bmatrix}&#10;1&amp; 0 \\&#10;-1 &amp; 0&#10;\end{bmatrix}-\begin{bmatrix}1\\0\end{bmatrix}\begin{bmatrix}4 &amp; -2\end{bmatrix}\right)\vec{x}_a(t)+\begin{bmatrix}0\\1\end{bmatrix}\mathbf{r}(t)$&#10;&#10;&#10;\end{document}"/>
  <p:tag name="LATEXENGINEID" val="0"/>
  <p:tag name="LATEXFORMHEIGHT" val="312"/>
  <p:tag name="LATEXFORMWIDTH" val="384"/>
  <p:tag name="LATEXFORMWRAP" val="Verdadero"/>
  <p:tag name="ORIGINALHEIGHT" val="299.9625"/>
  <p:tag name="ORIGINALWIDTH" val="2761.905"/>
  <p:tag name="OUTPUTDPI" val="1200"/>
  <p:tag name="TEMPFOLDER" val="c:\temp\"/>
  <p:tag name="TRANSPARENCY" val="Verdadero"/>
</p:tagLst>
</file>

<file path=ppt/tags/tag24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8"/>
  <p:tag name="IGUANATEXSIZE" val="25"/>
  <p:tag name="LATEXADDIN" val="\documentclass{article}&#10;\usepackage{ae} %incluido&#10;\usepackage{multirow}&#10;\usepackage{mathrsfs} %Transformada de laplace e Fourier&#10;\usepackage{amsmath}&#10;\pagestyle{empty}&#10;&#10;\begin{document}&#10;&#10;$\dot{x}_a(t)=\begin{bmatrix}&#10;-3&amp; 2 \\&#10;-1 &amp; 0&#10;\end{bmatrix}\vec{x}_a(t)+\begin{bmatrix}0\\1\end{bmatrix}\mathbf{r}(t)$&#10;&#10;&#10;&#10;\end{document}"/>
  <p:tag name="LATEXENGINEID" val="0"/>
  <p:tag name="LATEXFORMHEIGHT" val="312"/>
  <p:tag name="LATEXFORMWIDTH" val="384"/>
  <p:tag name="LATEXFORMWRAP" val="Verdadero"/>
  <p:tag name="ORIGINALHEIGHT" val="299.2126"/>
  <p:tag name="ORIGINALWIDTH" val="1763.03"/>
  <p:tag name="OUTPUTDPI" val="1200"/>
  <p:tag name="TEMPFOLDER" val="c:\temp\"/>
  <p:tag name="TRANSPARENCY" val="Verdadero"/>
</p:tagLst>
</file>

<file path=ppt/tags/tag24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5"/>
  <p:tag name="LATEXADDIN" val="\documentclass{article}&#10;\usepackage{ae} %incluido&#10;\usepackage{multirow}&#10;\usepackage{mathrsfs} %Transformada de laplace e Fourier&#10;\usepackage{amsmath}&#10;\pagestyle{empty}&#10;&#10;\begin{document}&#10;&#10;$y(t)=\begin{bmatrix}&#10;1&amp; 0&#10;\end{bmatrix}$&#10;&#10;&#10;&#10;\end{document}"/>
  <p:tag name="LATEXENGINEID" val="0"/>
  <p:tag name="LATEXFORMHEIGHT" val="312"/>
  <p:tag name="LATEXFORMWIDTH" val="384"/>
  <p:tag name="LATEXFORMWRAP" val="Verdadero"/>
  <p:tag name="ORIGINALHEIGHT" val="149.2313"/>
  <p:tag name="ORIGINALWIDTH" val="698.1628"/>
  <p:tag name="OUTPUTDPI" val="1200"/>
  <p:tag name="TEMPFOLDER" val="c:\temp\"/>
  <p:tag name="TRANSPARENCY" val="Verdadero"/>
</p:tagLst>
</file>

<file path=ppt/tags/tag24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9"/>
  <p:tag name="IGUANATEXSIZE" val="20"/>
  <p:tag name="LATEXADDIN" val="\documentclass{article}&#10;\usepackage{ae} %incluido&#10;\usepackage{multirow}&#10;\usepackage{mathrsfs} %Transformada de laplace e Fourier&#10;\usepackage{amsmath}&#10;\pagestyle{empty}&#10;&#10;\begin{document}&#10;&#10;$\dot{\mathbf{x_a}}(t)=(\mathbf{A_a}(t)-\mathbf{B_aK_a})\mathbf{x_a}(t)+\mathbf{E_a}\mathbf{r}(t)$&#10;&#10;\end{document}"/>
  <p:tag name="LATEXENGINEID" val="0"/>
  <p:tag name="LATEXFORMHEIGHT" val="312"/>
  <p:tag name="LATEXFORMWIDTH" val="384"/>
  <p:tag name="LATEXFORMWRAP" val="Verdadero"/>
  <p:tag name="ORIGINALHEIGHT" val="125.2343"/>
  <p:tag name="ORIGINALWIDTH" val="2113.236"/>
  <p:tag name="OUTPUTDPI" val="1200"/>
  <p:tag name="TEMPFOLDER" val="c:\temp\"/>
  <p:tag name="TRANSPARENCY" val="Verdadero"/>
</p:tagLst>
</file>

<file path=ppt/tags/tag24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56"/>
  <p:tag name="IGUANATEXSIZE" val="25"/>
  <p:tag name="LATEXADDIN" val="\documentclass{article}&#10;\usepackage{ae} %incluido&#10;\usepackage{multirow}&#10;\usepackage{mathrsfs} %Transformada de laplace e Fourier&#10;\usepackage{amsmath}&#10;\pagestyle{empty}&#10;&#10;\begin{document}&#10;&#10;$\dot{x}_a(t)=\left(\begin{bmatrix}&#10;1&amp; 0 \\&#10;-1 &amp; 0&#10;\end{bmatrix}-\begin{bmatrix}1\\0\end{bmatrix}\begin{bmatrix}4 &amp; 2\end{bmatrix}\right)\vec{x}_a(t)+\begin{bmatrix}0\\1\end{bmatrix}\mathbf{r}(t)$&#10;&#10;&#10;\end{document}"/>
  <p:tag name="LATEXENGINEID" val="0"/>
  <p:tag name="LATEXFORMHEIGHT" val="312"/>
  <p:tag name="LATEXFORMWIDTH" val="384"/>
  <p:tag name="LATEXFORMWRAP" val="Verdadero"/>
  <p:tag name="ORIGINALHEIGHT" val="299.9625"/>
  <p:tag name="ORIGINALWIDTH" val="2665.167"/>
  <p:tag name="OUTPUTDPI" val="1200"/>
  <p:tag name="TEMPFOLDER" val="c:\temp\"/>
  <p:tag name="TRANSPARENCY" val="Verdadero"/>
</p:tagLst>
</file>

<file path=ppt/tags/tag24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4"/>
  <p:tag name="IGUANATEXSIZE" val="24"/>
  <p:tag name="LATEXADDIN" val="\documentclass{article}&#10;\usepackage{ae} %incluido&#10;\usepackage{multirow}&#10;\usepackage{mathrsfs} %Transformada de laplace e Fourier&#10;\usepackage{amsmath}&#10;\pagestyle{empty}&#10;&#10;\begin{document}&#10;$\dot{\mathbf{x_a}}(t)=\mathbf{A_ax_a}(t)+\mathbf{B_a}\left( u(t) + w(t) \right)+\mathbf{E_a}r(t)$&#10;&#10;\end{document}"/>
  <p:tag name="LATEXENGINEID" val="0"/>
  <p:tag name="LATEXFORMHEIGHT" val="312"/>
  <p:tag name="LATEXFORMWIDTH" val="384"/>
  <p:tag name="LATEXFORMWRAP" val="Verdadero"/>
  <p:tag name="ORIGINALHEIGHT" val="125.2343"/>
  <p:tag name="ORIGINALWIDTH" val="2418.448"/>
  <p:tag name="OUTPUTDPI" val="1200"/>
  <p:tag name="TEMPFOLDER" val="c:\temp\"/>
  <p:tag name="TRANSPARENCY" val="Verdadero"/>
</p:tagLst>
</file>

<file path=ppt/tags/tag24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4"/>
  <p:tag name="LATEXADDIN" val="\documentclass{article}&#10;\usepackage{ae} %incluido&#10;\usepackage{multirow}&#10;\usepackage{mathrsfs} %Transformada de laplace e Fourier&#10;\usepackage{amsmath}&#10;\pagestyle{empty}&#10;&#10;\begin{document}&#10;$y(t)=\mathbf{C_ax_a}(t)$&#10;\end{document}"/>
  <p:tag name="LATEXENGINEID" val="0"/>
  <p:tag name="LATEXFORMHEIGHT" val="312"/>
  <p:tag name="LATEXFORMWIDTH" val="384"/>
  <p:tag name="LATEXFORMWRAP" val="Verdadero"/>
  <p:tag name="ORIGINALHEIGHT" val="125.2343"/>
  <p:tag name="ORIGINALWIDTH" val="800.8998"/>
  <p:tag name="OUTPUTDPI" val="1200"/>
  <p:tag name="TEMPFOLDER" val="c:\temp\"/>
  <p:tag name="TRANSPARENCY" val="Verdadero"/>
</p:tagLst>
</file>

<file path=ppt/tags/tag24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4"/>
  <p:tag name="LATEXADDIN" val="\documentclass{article}&#10;\usepackage{ae} %incluido&#10;\usepackage{multirow}&#10;\usepackage{mathrsfs} %Transformada de laplace e Fourier&#10;\usepackage{amsmath}&#10;\pagestyle{empty}&#10;&#10;\begin{document}&#10;$u(t)=-\mathbf{K_ax_a}(t)$&#10;\end{document}"/>
  <p:tag name="LATEXENGINEID" val="0"/>
  <p:tag name="LATEXFORMHEIGHT" val="312"/>
  <p:tag name="LATEXFORMWIDTH" val="384"/>
  <p:tag name="LATEXFORMWRAP" val="Verdadero"/>
  <p:tag name="ORIGINALHEIGHT" val="125.2343"/>
  <p:tag name="ORIGINALWIDTH" val="912.6359"/>
  <p:tag name="OUTPUTDPI" val="1200"/>
  <p:tag name="TEMPFOLDER" val="c:\temp\"/>
  <p:tag name="TRANSPARENCY" val="Verdadero"/>
</p:tagLst>
</file>

<file path=ppt/tags/tag24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0"/>
  <p:tag name="IGUANATEXSIZE" val="24"/>
  <p:tag name="LATEXADDIN" val="\documentclass{article}&#10;\usepackage{ae} %incluido&#10;\usepackage{multirow}&#10;\usepackage{mathrsfs} %Transformada de laplace e Fourier&#10;\usepackage{amsmath}&#10;\pagestyle{empty}&#10;&#10;\begin{document}&#10;$\dot{\mathbf{x_a}}(t)=\mathbf{(A_a-B_aK_a)x_a}(t)+\mathbf{E_a}r(t)+\mathbf{B_a}w(t)$&#10;&#10;\end{document}"/>
  <p:tag name="LATEXENGINEID" val="0"/>
  <p:tag name="LATEXFORMHEIGHT" val="312"/>
  <p:tag name="LATEXFORMWIDTH" val="384"/>
  <p:tag name="LATEXFORMWRAP" val="Verdadero"/>
  <p:tag name="ORIGINALHEIGHT" val="125.2343"/>
  <p:tag name="ORIGINALWIDTH" val="2521.185"/>
  <p:tag name="OUTPUTDPI" val="1200"/>
  <p:tag name="TEMPFOLDER" val="c:\temp\"/>
  <p:tag name="TRANSPARENCY" val="Verdadero"/>
</p:tagLst>
</file>

<file path=ppt/tags/tag25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4"/>
  <p:tag name="LATEXADDIN" val="\documentclass{article}&#10;\usepackage{ae} %incluido&#10;\usepackage{multirow}&#10;\usepackage{mathrsfs} %Transformada de laplace e Fourier&#10;\usepackage{amsmath}&#10;\pagestyle{empty}&#10;&#10;\begin{document}&#10;$y(t)=\mathbf{C_ax_a}(t)$&#10;\end{document}"/>
  <p:tag name="LATEXENGINEID" val="0"/>
  <p:tag name="LATEXFORMHEIGHT" val="312"/>
  <p:tag name="LATEXFORMWIDTH" val="384"/>
  <p:tag name="LATEXFORMWRAP" val="Verdadero"/>
  <p:tag name="ORIGINALHEIGHT" val="125.2343"/>
  <p:tag name="ORIGINALWIDTH" val="800.8998"/>
  <p:tag name="OUTPUTDPI" val="1200"/>
  <p:tag name="TEMPFOLDER" val="c:\temp\"/>
  <p:tag name="TRANSPARENCY" val="Verdadero"/>
</p:tagLst>
</file>

<file path=ppt/tags/tag25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0"/>
  <p:tag name="IGUANATEXSIZE" val="24"/>
  <p:tag name="LATEXADDIN" val="\documentclass{article}&#10;\usepackage{ae} %incluido&#10;\usepackage{multirow}&#10;\usepackage{mathrsfs} %Transformada de laplace e Fourier&#10;\usepackage{amsmath}&#10;\pagestyle{empty}&#10;&#10;\begin{document}&#10;$\dot{\mathbf{x_a}}(t)=\mathbf{(A_a-B_aK_a)x_a}(t)+\mathbf{E_a}r(t)+\mathbf{B_a}w(t)$&#10;&#10;\end{document}"/>
  <p:tag name="LATEXENGINEID" val="0"/>
  <p:tag name="LATEXFORMHEIGHT" val="312"/>
  <p:tag name="LATEXFORMWIDTH" val="384"/>
  <p:tag name="LATEXFORMWRAP" val="Verdadero"/>
  <p:tag name="ORIGINALHEIGHT" val="125.2343"/>
  <p:tag name="ORIGINALWIDTH" val="2521.185"/>
  <p:tag name="OUTPUTDPI" val="1200"/>
  <p:tag name="TEMPFOLDER" val="c:\temp\"/>
  <p:tag name="TRANSPARENCY" val="Verdadero"/>
</p:tagLst>
</file>

<file path=ppt/tags/tag25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4"/>
  <p:tag name="LATEXADDIN" val="\documentclass{article}&#10;\usepackage{ae} %incluido&#10;\usepackage{multirow}&#10;\usepackage{mathrsfs} %Transformada de laplace e Fourier&#10;\usepackage{amsmath}&#10;\pagestyle{empty}&#10;&#10;\begin{document}&#10;$y(t)=\mathbf{C_ax_a}(t)$&#10;\end{document}"/>
  <p:tag name="LATEXENGINEID" val="0"/>
  <p:tag name="LATEXFORMHEIGHT" val="312"/>
  <p:tag name="LATEXFORMWIDTH" val="384"/>
  <p:tag name="LATEXFORMWRAP" val="Verdadero"/>
  <p:tag name="ORIGINALHEIGHT" val="125.2343"/>
  <p:tag name="ORIGINALWIDTH" val="800.8998"/>
  <p:tag name="OUTPUTDPI" val="1200"/>
  <p:tag name="TEMPFOLDER" val="c:\temp\"/>
  <p:tag name="TRANSPARENCY" val="Verdadero"/>
</p:tagLst>
</file>

<file path=ppt/tags/tag25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9"/>
  <p:tag name="IGUANATEXSIZE" val="20"/>
  <p:tag name="LATEXADDIN" val="\documentclass{article}&#10;\usepackage{ae} %incluido&#10;\usepackage{multirow}&#10;\usepackage{mathrsfs} %Transformada de laplace e Fourier&#10;\usepackage{amsmath}&#10;\pagestyle{empty}&#10;&#10;\begin{document}&#10;$G(s)=\dfrac{N(s)}{D(s)}=\mathbf{C(sI-\bar{A})}^{-1}\mathbf{B}$&#10;&#10;\end{document}"/>
  <p:tag name="LATEXENGINEID" val="0"/>
  <p:tag name="LATEXFORMHEIGHT" val="312"/>
  <p:tag name="LATEXFORMWIDTH" val="384"/>
  <p:tag name="LATEXFORMWRAP" val="Verdadero"/>
  <p:tag name="ORIGINALHEIGHT" val="294.7131"/>
  <p:tag name="ORIGINALWIDTH" val="1676.79"/>
  <p:tag name="OUTPUTDPI" val="1200"/>
  <p:tag name="TEMPFOLDER" val="c:\temp\"/>
  <p:tag name="TRANSPARENCY" val="Verdadero"/>
</p:tagLst>
</file>

<file path=ppt/tags/tag25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mathbf{\bar{A}}=\mathbf{A-BK_1}$&#10;\end{document}"/>
  <p:tag name="LATEXENGINEID" val="0"/>
  <p:tag name="LATEXFORMHEIGHT" val="312"/>
  <p:tag name="LATEXFORMWIDTH" val="384"/>
  <p:tag name="LATEXFORMWRAP" val="Verdadero"/>
  <p:tag name="ORIGINALHEIGHT" val="124.4844"/>
  <p:tag name="ORIGINALWIDTH" val="793.4008"/>
  <p:tag name="OUTPUTDPI" val="1200"/>
  <p:tag name="TEMPFOLDER" val="c:\temp\"/>
  <p:tag name="TRANSPARENCY" val="Verdadero"/>
</p:tagLst>
</file>

<file path=ppt/tags/tag25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5"/>
  <p:tag name="IGUANATEXSIZE" val="20"/>
  <p:tag name="LATEXADDIN" val="\documentclass{article}&#10;\usepackage{ae} %incluido&#10;\usepackage{multirow}&#10;\usepackage{mathrsfs} %Transformada de laplace e Fourier&#10;\usepackage{amsmath}&#10;\pagestyle{empty}&#10;&#10;\begin{document}&#10;$G_{wy}(s)=\dfrac{y(s)}{w(s)}=\dfrac{N(s)s}{N(s)K_2+D(s)s}$&#10;\end{document}"/>
  <p:tag name="LATEXENGINEID" val="0"/>
  <p:tag name="LATEXFORMHEIGHT" val="312"/>
  <p:tag name="LATEXFORMWIDTH" val="384"/>
  <p:tag name="LATEXFORMWRAP" val="Verdadero"/>
  <p:tag name="ORIGINALHEIGHT" val="294.7131"/>
  <p:tag name="ORIGINALWIDTH" val="1908.511"/>
  <p:tag name="OUTPUTDPI" val="1200"/>
  <p:tag name="TEMPFOLDER" val="c:\temp\"/>
  <p:tag name="TRANSPARENCY" val="Verdadero"/>
</p:tagLst>
</file>

<file path=ppt/tags/tag25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5"/>
  <p:tag name="IGUANATEXSIZE" val="20"/>
  <p:tag name="LATEXADDIN" val="\documentclass{article}&#10;\usepackage{ae} %incluido&#10;\usepackage{multirow}&#10;\usepackage{mathrsfs} %Transformada de laplace e Fourier&#10;\usepackage{amsmath}&#10;\pagestyle{empty}&#10;&#10;\begin{document}&#10;$G_{wy}(s)=\dfrac{y(s)}{w(s)}=\dfrac{N(s)s}{N(s)K_2+D(s)s}$&#10;\end{document}"/>
  <p:tag name="LATEXENGINEID" val="0"/>
  <p:tag name="LATEXFORMHEIGHT" val="312"/>
  <p:tag name="LATEXFORMWIDTH" val="384"/>
  <p:tag name="LATEXFORMWRAP" val="Verdadero"/>
  <p:tag name="ORIGINALHEIGHT" val="294.7131"/>
  <p:tag name="ORIGINALWIDTH" val="1908.511"/>
  <p:tag name="OUTPUTDPI" val="1200"/>
  <p:tag name="TEMPFOLDER" val="c:\temp\"/>
  <p:tag name="TRANSPARENCY" val="Verdadero"/>
</p:tagLst>
</file>

<file path=ppt/tags/tag25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4"/>
  <p:tag name="IGUANATEXSIZE" val="20"/>
  <p:tag name="LATEXADDIN" val="\documentclass{article}&#10;\usepackage{ae} %incluido&#10;\usepackage{multirow}&#10;\usepackage{mathrsfs} %Transformada de laplace e Fourier&#10;\usepackage{amsmath}&#10;\pagestyle{empty}&#10;&#10;\begin{document}&#10;$s=0$ entonces $G_{wy}(s)=0$&#10;\end{document}"/>
  <p:tag name="LATEXENGINEID" val="0"/>
  <p:tag name="LATEXFORMHEIGHT" val="312"/>
  <p:tag name="LATEXFORMWIDTH" val="384"/>
  <p:tag name="LATEXFORMWRAP" val="Verdadero"/>
  <p:tag name="ORIGINALHEIGHT" val="130.4837"/>
  <p:tag name="ORIGINALWIDTH" val="1434.571"/>
  <p:tag name="OUTPUTDPI" val="1200"/>
  <p:tag name="TEMPFOLDER" val="c:\temp\"/>
  <p:tag name="TRANSPARENCY" val="Verdadero"/>
</p:tagLst>
</file>

<file path=ppt/tags/tag25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9"/>
  <p:tag name="IGUANATEXSIZE" val="24"/>
  <p:tag name="LATEXADDIN" val="\documentclass{article}&#10;\usepackage{ae} %incluido&#10;\usepackage{multirow}&#10;\usepackage{mathrsfs} %Transformada de laplace e Fourier&#10;\usepackage{amsmath}&#10;\pagestyle{empty}&#10;&#10;\begin{document}&#10;$\dot{\vec{x}}=\begin{bmatrix}&#10;0&amp; 1 &amp; 0 &amp; 0\\&#10;0 &amp; 0 &amp; -1 &amp;0 \\&#10;0 &amp; 0 &amp; 0 &amp;1 \\&#10;0 &amp; 0 &amp; 5 &amp;0&#10;\end{bmatrix}\vec{x}+\begin{bmatrix}0\\1\\0\\-2\end{bmatrix}(u(t)+w(t))$&#10;&#10;\end{document}"/>
  <p:tag name="LATEXENGINEID" val="0"/>
  <p:tag name="LATEXFORMHEIGHT" val="312"/>
  <p:tag name="LATEXFORMWIDTH" val="384"/>
  <p:tag name="LATEXFORMWRAP" val="Verdadero"/>
  <p:tag name="ORIGINALHEIGHT" val="597.6753"/>
  <p:tag name="ORIGINALWIDTH" val="2393.701"/>
  <p:tag name="OUTPUTDPI" val="1200"/>
  <p:tag name="TEMPFOLDER" val="c:\temp\"/>
  <p:tag name="TRANSPARENCY" val="Verdadero"/>
</p:tagLst>
</file>

<file path=ppt/tags/tag25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0"/>
  <p:tag name="IGUANATEXSIZE" val="20"/>
  <p:tag name="LATEXADDIN" val="\documentclass{article}&#10;\usepackage{ae} %incluido&#10;\usepackage{multirow}&#10;\usepackage{mathrsfs} %Transformada de laplace e Fourier&#10;\usepackage{amsmath}&#10;\pagestyle{empty}&#10;&#10;\begin{document}&#10;$y(s)=\begin{bmatrix}1 &amp; 0 &amp; 0&amp;0 \end{bmatrix}\vec{x}$&#10;&#10;\end{document}"/>
  <p:tag name="LATEXENGINEID" val="0"/>
  <p:tag name="LATEXFORMHEIGHT" val="312"/>
  <p:tag name="LATEXFORMWIDTH" val="384"/>
  <p:tag name="LATEXFORMWRAP" val="Verdadero"/>
  <p:tag name="ORIGINALHEIGHT" val="149.2313"/>
  <p:tag name="ORIGINALWIDTH" val="1207.349"/>
  <p:tag name="OUTPUTDPI" val="1200"/>
  <p:tag name="TEMPFOLDER" val="c:\temp\"/>
  <p:tag name="TRANSPARENCY" val="Verdadero"/>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Dracula">
      <a:dk1>
        <a:srgbClr val="282A36"/>
      </a:dk1>
      <a:lt1>
        <a:srgbClr val="F8F8F2"/>
      </a:lt1>
      <a:dk2>
        <a:srgbClr val="44475A"/>
      </a:dk2>
      <a:lt2>
        <a:srgbClr val="BD93F9"/>
      </a:lt2>
      <a:accent1>
        <a:srgbClr val="50FA7B"/>
      </a:accent1>
      <a:accent2>
        <a:srgbClr val="8BE9FD"/>
      </a:accent2>
      <a:accent3>
        <a:srgbClr val="6272A4"/>
      </a:accent3>
      <a:accent4>
        <a:srgbClr val="FF79C6"/>
      </a:accent4>
      <a:accent5>
        <a:srgbClr val="FFB86C"/>
      </a:accent5>
      <a:accent6>
        <a:srgbClr val="F1FA8C"/>
      </a:accent6>
      <a:hlink>
        <a:srgbClr val="BD93F9"/>
      </a:hlink>
      <a:folHlink>
        <a:srgbClr val="FF555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0920896-A505-4C6F-A429-DF7F67BB02FB}" vid="{9A50490F-329A-4F12-B91A-1BDAD4251B2C}"/>
    </a:ext>
  </a:extLst>
</a:theme>
</file>

<file path=ppt/theme/theme2.xml><?xml version="1.0" encoding="utf-8"?>
<a:theme xmlns:a="http://schemas.openxmlformats.org/drawingml/2006/main" name="Pizarra 16 x 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Office_9529500_TF02804846_TF02804846" id="{65FD6923-A55A-4D8A-AB6E-792F5126A260}" vid="{862C69AA-365A-4DD1-97BC-168A1699736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53A00F274449E4D98379C6BF4F2EA6B" ma:contentTypeVersion="11" ma:contentTypeDescription="Crear nuevo documento." ma:contentTypeScope="" ma:versionID="eb3f5a400347c3417aab130743b3d1b7">
  <xsd:schema xmlns:xsd="http://www.w3.org/2001/XMLSchema" xmlns:xs="http://www.w3.org/2001/XMLSchema" xmlns:p="http://schemas.microsoft.com/office/2006/metadata/properties" xmlns:ns2="fac3ca94-d71a-4caa-9690-eb28d591cc11" xmlns:ns3="81d90fb7-c10b-429b-a2b8-56a49218fdfe" targetNamespace="http://schemas.microsoft.com/office/2006/metadata/properties" ma:root="true" ma:fieldsID="76a9e87a822cd72ed856b4afed0ee74c" ns2:_="" ns3:_="">
    <xsd:import namespace="fac3ca94-d71a-4caa-9690-eb28d591cc11"/>
    <xsd:import namespace="81d90fb7-c10b-429b-a2b8-56a49218fd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c3ca94-d71a-4caa-9690-eb28d591c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2093fb0a-f3be-4120-808e-fc0c80b8c9c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d90fb7-c10b-429b-a2b8-56a49218fdf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2809115-c1bd-42a4-a936-87346198339a}" ma:internalName="TaxCatchAll" ma:showField="CatchAllData" ma:web="81d90fb7-c10b-429b-a2b8-56a49218fd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1d90fb7-c10b-429b-a2b8-56a49218fdfe" xsi:nil="true"/>
    <lcf76f155ced4ddcb4097134ff3c332f xmlns="fac3ca94-d71a-4caa-9690-eb28d591cc1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2A2E740-AA4D-4FC7-9F3C-20708093CEDB}">
  <ds:schemaRefs>
    <ds:schemaRef ds:uri="81d90fb7-c10b-429b-a2b8-56a49218fdfe"/>
    <ds:schemaRef ds:uri="fac3ca94-d71a-4caa-9690-eb28d591cc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E569156-6415-498C-9FB0-365A6E11AE79}">
  <ds:schemaRefs>
    <ds:schemaRef ds:uri="http://schemas.microsoft.com/sharepoint/v3/contenttype/forms"/>
  </ds:schemaRefs>
</ds:datastoreItem>
</file>

<file path=customXml/itemProps3.xml><?xml version="1.0" encoding="utf-8"?>
<ds:datastoreItem xmlns:ds="http://schemas.openxmlformats.org/officeDocument/2006/customXml" ds:itemID="{BF93923F-647D-4505-A6D2-B987CFB6BA1D}">
  <ds:schemaRefs>
    <ds:schemaRef ds:uri="81d90fb7-c10b-429b-a2b8-56a49218fdfe"/>
    <ds:schemaRef ds:uri="fac3ca94-d71a-4caa-9690-eb28d591cc1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Dracula Template</Template>
  <Application>Microsoft Office PowerPoint</Application>
  <PresentationFormat>Widescreen</PresentationFormat>
  <Slides>103</Slides>
  <Notes>32</Notes>
  <HiddenSlides>0</HiddenSlides>
  <ScaleCrop>false</ScaleCrop>
  <HeadingPairs>
    <vt:vector size="4" baseType="variant">
      <vt:variant>
        <vt:lpstr>Theme</vt:lpstr>
      </vt:variant>
      <vt:variant>
        <vt:i4>2</vt:i4>
      </vt:variant>
      <vt:variant>
        <vt:lpstr>Slide Titles</vt:lpstr>
      </vt:variant>
      <vt:variant>
        <vt:i4>103</vt:i4>
      </vt:variant>
    </vt:vector>
  </HeadingPairs>
  <TitlesOfParts>
    <vt:vector size="105" baseType="lpstr">
      <vt:lpstr>Tema de Office</vt:lpstr>
      <vt:lpstr>Pizarra 16 x 9</vt:lpstr>
      <vt:lpstr>Espacio de Estados</vt:lpstr>
      <vt:lpstr>Sistemas LTI: Lineales e Invariantes en el Tiempo</vt:lpstr>
      <vt:lpstr>El Rol de la Energía: ¿Quién la Guarda y Quién la Gasta?</vt:lpstr>
      <vt:lpstr>Los 3 Componentes Pasivos Fundamentales</vt:lpstr>
      <vt:lpstr>Ecuaciones del Sistema Traslacional</vt:lpstr>
      <vt:lpstr>Más Allá de la Caja Negra: El Espacio de Estados</vt:lpstr>
      <vt:lpstr>Más Allá de la Caja Negra: El Espacio de Estados</vt:lpstr>
      <vt:lpstr>El ADN del Sistema: ¿Qué es un "Estado"?</vt:lpstr>
      <vt:lpstr>Espacio de Estados</vt:lpstr>
      <vt:lpstr>Espacio de Estados</vt:lpstr>
      <vt:lpstr>Espacio de Estados</vt:lpstr>
      <vt:lpstr>Espacio de Estados</vt:lpstr>
      <vt:lpstr>Espacio de Estados</vt:lpstr>
      <vt:lpstr>Espacio de Estados</vt:lpstr>
      <vt:lpstr>Espacio de Estados</vt:lpstr>
      <vt:lpstr>Espacio de Estados</vt:lpstr>
      <vt:lpstr>Solución de la Ecuación de Estados</vt:lpstr>
      <vt:lpstr>Solución de la Ecuación de Estados</vt:lpstr>
      <vt:lpstr>Solución de la Ecuación de Estados</vt:lpstr>
      <vt:lpstr>Autovalor (Eigenvalue)</vt:lpstr>
      <vt:lpstr>Autovalor (Eigenvalue)</vt:lpstr>
      <vt:lpstr>Autovalor (Eigenvalue)</vt:lpstr>
      <vt:lpstr>¿Cómo se calculan?</vt:lpstr>
      <vt:lpstr>De Autovalores (λ) a Polos (s)</vt:lpstr>
      <vt:lpstr>Ejemplo</vt:lpstr>
      <vt:lpstr>Realización de Funciones de Transferencia</vt:lpstr>
      <vt:lpstr>Realización de Funciones de Transferencia</vt:lpstr>
      <vt:lpstr>PowerPoint Presentation</vt:lpstr>
      <vt:lpstr>PowerPoint Presentation</vt:lpstr>
      <vt:lpstr>Controlabilidad y Observabilidad</vt:lpstr>
      <vt:lpstr>Recordemos qué es el rango de una matriz</vt:lpstr>
      <vt:lpstr>Rango de una Matriz (Ejemplo 1)</vt:lpstr>
      <vt:lpstr>Controlabilidad</vt:lpstr>
      <vt:lpstr>Controlabilidad del Estado</vt:lpstr>
      <vt:lpstr>Controlabilidad del Estado</vt:lpstr>
      <vt:lpstr>Controlabilidad del Estado</vt:lpstr>
      <vt:lpstr>Ejemplo – Motor DC</vt:lpstr>
      <vt:lpstr>Ejemplo – Motor DC</vt:lpstr>
      <vt:lpstr>Observabilidad</vt:lpstr>
      <vt:lpstr>Observabilidad</vt:lpstr>
      <vt:lpstr>Observabilidad</vt:lpstr>
      <vt:lpstr>Observabilidad</vt:lpstr>
      <vt:lpstr>Ejemplo – Motor DC</vt:lpstr>
      <vt:lpstr>Ejemplo – Motor DC</vt:lpstr>
      <vt:lpstr>Control por Realimentación de Estados</vt:lpstr>
      <vt:lpstr>Qué es la Realimentación de Estados?</vt:lpstr>
      <vt:lpstr>Qué es la Realimentación de Estados?</vt:lpstr>
      <vt:lpstr>Qué es la Realimentación de Estados?</vt:lpstr>
      <vt:lpstr>Qué es la Realimentación de Estados?</vt:lpstr>
      <vt:lpstr>Qué es la Realimentación de Estados?</vt:lpstr>
      <vt:lpstr>Qué es la Realimentación de Estados?</vt:lpstr>
      <vt:lpstr>Realimentación de Estados</vt:lpstr>
      <vt:lpstr>Realimentación de Estados</vt:lpstr>
      <vt:lpstr>Realimentación de Estados con Referencia</vt:lpstr>
      <vt:lpstr>Realimentación de Estados</vt:lpstr>
      <vt:lpstr>Regulación - Realimentación de Estados</vt:lpstr>
      <vt:lpstr>Observabilidad</vt:lpstr>
      <vt:lpstr>Observabilidad</vt:lpstr>
      <vt:lpstr>Ubicación de Polos – Realimentación Estados</vt:lpstr>
      <vt:lpstr>Ubicación de Polos – Realimentación Estados</vt:lpstr>
      <vt:lpstr>Ubicación de Polos – Realimentación Estados</vt:lpstr>
      <vt:lpstr>Ubicación de Polos – Realimentación Estados</vt:lpstr>
      <vt:lpstr>Ubicación de Polos – Realimentación Estados</vt:lpstr>
      <vt:lpstr>Ubicación de Polos – Realimentación Estados</vt:lpstr>
      <vt:lpstr>Ubicación de Polos – Realimentación Estados</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Ubicación de Polos – Realimentación Estados – Ejemplo 2 – Sin forma FCC</vt:lpstr>
      <vt:lpstr>Control en Variables de Estado</vt:lpstr>
      <vt:lpstr>Formula de Ackerman</vt:lpstr>
      <vt:lpstr>Ejemplo de la Formula de Ackerman</vt:lpstr>
      <vt:lpstr>Ejemplo de la Formula de Ackerman</vt:lpstr>
      <vt:lpstr>Control en Variables de Estado</vt:lpstr>
      <vt:lpstr>Problema de seguimiento de referencia</vt:lpstr>
      <vt:lpstr>Problema de seguimiento de referencia</vt:lpstr>
      <vt:lpstr>Pré-compensador estático</vt:lpstr>
      <vt:lpstr>Pré-compensador estático</vt:lpstr>
      <vt:lpstr>Pré-compensador estático</vt:lpstr>
      <vt:lpstr>Pré-compensador estático</vt:lpstr>
      <vt:lpstr>Control en Variables de Estado</vt:lpstr>
      <vt:lpstr>Acción integral en Variables de Estado</vt:lpstr>
      <vt:lpstr>Acción integral</vt:lpstr>
      <vt:lpstr>Acción integral</vt:lpstr>
      <vt:lpstr>Acción integral</vt:lpstr>
      <vt:lpstr>Ejemplo 1</vt:lpstr>
      <vt:lpstr>Ejemplo 2</vt:lpstr>
      <vt:lpstr>Ejemplo 2</vt:lpstr>
      <vt:lpstr>Ejemplo 2</vt:lpstr>
      <vt:lpstr>Ejemplo 2</vt:lpstr>
      <vt:lpstr>Ejemplo 2</vt:lpstr>
      <vt:lpstr>Control en Variables de Estado</vt:lpstr>
      <vt:lpstr>Rechazo de Perturbaciones</vt:lpstr>
      <vt:lpstr>Rechazo de Perturbaciones</vt:lpstr>
      <vt:lpstr>Rechazo de Perturbaciones</vt:lpstr>
      <vt:lpstr>Rechazo de Perturbaciones</vt:lpstr>
      <vt:lpstr>Rechazo de Perturbaciones</vt:lpstr>
      <vt:lpstr>Rechazo de Perturbaciones - EJEMPLO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 Andres Castaño Giraldo</dc:creator>
  <cp:revision>1</cp:revision>
  <dcterms:created xsi:type="dcterms:W3CDTF">2025-06-03T01:40:26Z</dcterms:created>
  <dcterms:modified xsi:type="dcterms:W3CDTF">2026-05-15T01:38:05Z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0x010100753A00F274449E4D98379C6BF4F2EA6B</vt:lpwstr>
  </property>
  <property fmtid="{D5CDD505-2E9C-101B-9397-08002B2CF9AE}" pid="3" name="MediaServiceImageTags">
    <vt:lpwstr/>
  </property>
</Properties>
</file>