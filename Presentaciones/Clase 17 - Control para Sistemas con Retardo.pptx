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Layouts/slideLayout2.xml" ContentType="application/vnd.openxmlformats-officedocument.presentationml.slideLayout+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44.xml" ContentType="application/vnd.openxmlformats-officedocument.presentationml.tags+xml"/>
  <Override PartName="/ppt/tags/tag43.xml" ContentType="application/vnd.openxmlformats-officedocument.presentationml.tags+xml"/>
  <Override PartName="/ppt/tags/tag42.xml" ContentType="application/vnd.openxmlformats-officedocument.presentationml.tags+xml"/>
  <Override PartName="/ppt/tags/tag41.xml" ContentType="application/vnd.openxmlformats-officedocument.presentationml.tags+xml"/>
  <Override PartName="/ppt/tags/tag40.xml" ContentType="application/vnd.openxmlformats-officedocument.presentationml.tags+xml"/>
  <Override PartName="/ppt/tags/tag39.xml" ContentType="application/vnd.openxmlformats-officedocument.presentationml.tags+xml"/>
  <Override PartName="/ppt/tags/tag38.xml" ContentType="application/vnd.openxmlformats-officedocument.presentationml.tags+xml"/>
  <Override PartName="/ppt/tags/tag37.xml" ContentType="application/vnd.openxmlformats-officedocument.presentationml.tags+xml"/>
  <Override PartName="/docProps/app.xml" ContentType="application/vnd.openxmlformats-officedocument.extended-properties+xml"/>
  <Override PartName="/ppt/tags/tag36.xml" ContentType="application/vnd.openxmlformats-officedocument.presentationml.tags+xml"/>
  <Override PartName="/ppt/tags/tag35.xml" ContentType="application/vnd.openxmlformats-officedocument.presentationml.tags+xml"/>
  <Override PartName="/ppt/tags/tag34.xml" ContentType="application/vnd.openxmlformats-officedocument.presentationml.tags+xml"/>
  <Override PartName="/ppt/tags/tag33.xml" ContentType="application/vnd.openxmlformats-officedocument.presentationml.tags+xml"/>
  <Override PartName="/ppt/tags/tag32.xml" ContentType="application/vnd.openxmlformats-officedocument.presentationml.tags+xml"/>
  <Override PartName="/ppt/tags/tag31.xml" ContentType="application/vnd.openxmlformats-officedocument.presentationml.tags+xml"/>
  <Override PartName="/ppt/tags/tag30.xml" ContentType="application/vnd.openxmlformats-officedocument.presentationml.tags+xml"/>
  <Override PartName="/ppt/tags/tag29.xml" ContentType="application/vnd.openxmlformats-officedocument.presentationml.tags+xml"/>
  <Override PartName="/docProps/core.xml" ContentType="application/vnd.openxmlformats-package.core-properties+xml"/>
  <Override PartName="/docProps/custom.xml" ContentType="application/vnd.openxmlformats-officedocument.custom-properties+xml"/>
  <Override PartName="/ppt/tags/tag45.xml" ContentType="application/vnd.openxmlformats-officedocument.presentationml.tag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50" r:id="rId2"/>
  </p:sldMasterIdLst>
  <p:notesMasterIdLst>
    <p:notesMasterId r:id="rId34"/>
  </p:notesMasterIdLst>
  <p:sldIdLst>
    <p:sldId id="257" r:id="rId3"/>
    <p:sldId id="258" r:id="rId4"/>
    <p:sldId id="259" r:id="rId5"/>
    <p:sldId id="275" r:id="rId6"/>
    <p:sldId id="264" r:id="rId7"/>
    <p:sldId id="261" r:id="rId8"/>
    <p:sldId id="272" r:id="rId9"/>
    <p:sldId id="265" r:id="rId10"/>
    <p:sldId id="271" r:id="rId11"/>
    <p:sldId id="273" r:id="rId12"/>
    <p:sldId id="329" r:id="rId13"/>
    <p:sldId id="330" r:id="rId14"/>
    <p:sldId id="331" r:id="rId15"/>
    <p:sldId id="332" r:id="rId16"/>
    <p:sldId id="263" r:id="rId17"/>
    <p:sldId id="266" r:id="rId18"/>
    <p:sldId id="333" r:id="rId19"/>
    <p:sldId id="323" r:id="rId20"/>
    <p:sldId id="324" r:id="rId21"/>
    <p:sldId id="334" r:id="rId22"/>
    <p:sldId id="325" r:id="rId23"/>
    <p:sldId id="335" r:id="rId24"/>
    <p:sldId id="326" r:id="rId25"/>
    <p:sldId id="336" r:id="rId26"/>
    <p:sldId id="327" r:id="rId27"/>
    <p:sldId id="337" r:id="rId28"/>
    <p:sldId id="328" r:id="rId29"/>
    <p:sldId id="338" r:id="rId30"/>
    <p:sldId id="339" r:id="rId31"/>
    <p:sldId id="340" r:id="rId32"/>
    <p:sldId id="274"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1" autoAdjust="0"/>
    <p:restoredTop sz="88819" autoAdjust="0"/>
  </p:normalViewPr>
  <p:slideViewPr>
    <p:cSldViewPr showGuides="1">
      <p:cViewPr varScale="1">
        <p:scale>
          <a:sx n="95" d="100"/>
          <a:sy n="95" d="100"/>
        </p:scale>
        <p:origin x="582" y="72"/>
      </p:cViewPr>
      <p:guideLst>
        <p:guide orient="horz" pos="2160"/>
        <p:guide pos="38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ustomXml" Target="../customXml/item2.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40" Type="http://schemas.openxmlformats.org/officeDocument/2006/relationships/customXml" Target="../customXml/item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5D72536-C91D-4D81-869C-0013A7359684}" type="datetimeFigureOut">
              <a:rPr lang="en-US" smtClean="0"/>
              <a:t>3/11/2026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BC9451-71FC-4470-AA85-CBE7E5F92F83}" type="slidenum">
              <a:rPr lang="en-US" smtClean="0"/>
              <a:t>‹Nº›</a:t>
            </a:fld>
            <a:endParaRPr lang="en-US"/>
          </a:p>
        </p:txBody>
      </p:sp>
    </p:spTree>
    <p:extLst>
      <p:ext uri="{BB962C8B-B14F-4D97-AF65-F5344CB8AC3E}">
        <p14:creationId xmlns:p14="http://schemas.microsoft.com/office/powerpoint/2010/main" val="2525539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1</a:t>
            </a:fld>
            <a:endParaRPr lang="en-US"/>
          </a:p>
        </p:txBody>
      </p:sp>
    </p:spTree>
    <p:extLst>
      <p:ext uri="{BB962C8B-B14F-4D97-AF65-F5344CB8AC3E}">
        <p14:creationId xmlns:p14="http://schemas.microsoft.com/office/powerpoint/2010/main" val="4019427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r>
              <a:rPr lang="pt-BR" dirty="0"/>
              <a:t>A maioria dos processos industriais apresenta atraso na sua dinâmica. Exemplos típicos da indústria de processos são as colunas de destilação, evaporadores e trocadores de calor. O atraso é um fenômeno decorrente do deslocamento temporal que pode aparecer entre duas ou mais variáveis do sistema de controle. Ele pode ser causado, por exemplo, pelo tempo necessário para transportar massa, energia ou informação.</a:t>
            </a:r>
          </a:p>
          <a:p>
            <a:r>
              <a:rPr lang="pt-BR" dirty="0"/>
              <a:t>- Na gráfica pode-se evidenciar como acontece o atraso de transporte de energia, no exemplo</a:t>
            </a:r>
            <a:r>
              <a:rPr lang="pt-BR" baseline="0" dirty="0"/>
              <a:t> se tem o aquecimento de um fluido, note-se que como o transdutor que está no final do tubo, demora a começar a perceber a mudança de temperatura enquanto o transdutor no tanque o perceve mais rápido. O tempo que transcorre entre a excitação do sistema e a mudança da variável  é conhecido como atraso de transporte ou tempo morto.</a:t>
            </a:r>
            <a:endParaRPr lang="pt-BR" dirty="0"/>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2</a:t>
            </a:fld>
            <a:endParaRPr lang="en-US"/>
          </a:p>
        </p:txBody>
      </p:sp>
    </p:spTree>
    <p:extLst>
      <p:ext uri="{BB962C8B-B14F-4D97-AF65-F5344CB8AC3E}">
        <p14:creationId xmlns:p14="http://schemas.microsoft.com/office/powerpoint/2010/main" val="3638540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r>
              <a:rPr lang="pt-BR" dirty="0"/>
              <a:t>Se adiciona um laço de controle em malha fechada</a:t>
            </a:r>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11</a:t>
            </a:fld>
            <a:endParaRPr lang="en-US"/>
          </a:p>
        </p:txBody>
      </p:sp>
    </p:spTree>
    <p:extLst>
      <p:ext uri="{BB962C8B-B14F-4D97-AF65-F5344CB8AC3E}">
        <p14:creationId xmlns:p14="http://schemas.microsoft.com/office/powerpoint/2010/main" val="3256080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r>
              <a:rPr lang="pt-BR" dirty="0"/>
              <a:t>-</a:t>
            </a:r>
            <a:r>
              <a:rPr lang="pt-BR" baseline="0" dirty="0"/>
              <a:t> </a:t>
            </a:r>
            <a:r>
              <a:rPr lang="pt-BR" dirty="0"/>
              <a:t>Otto Smith sugeriu um compensador que remove efetivamente o efeito do atraso da equação característica do sistema de controle para um processo estável no caso nominal, ou seja, sem erros de modelagem. Esse compensador, conhecido como </a:t>
            </a:r>
            <a:r>
              <a:rPr lang="pt-BR" dirty="0" err="1"/>
              <a:t>preditor</a:t>
            </a:r>
            <a:r>
              <a:rPr lang="pt-BR" dirty="0"/>
              <a:t> de Smith. </a:t>
            </a:r>
          </a:p>
          <a:p>
            <a:pPr marL="171450" indent="-171450">
              <a:buFontTx/>
              <a:buChar char="-"/>
            </a:pPr>
            <a:r>
              <a:rPr lang="pt-BR" dirty="0"/>
              <a:t>Se propuseram</a:t>
            </a:r>
            <a:r>
              <a:rPr lang="pt-BR" baseline="0" dirty="0"/>
              <a:t> extensões dessa estrutura básica de predição e assim essa linha de trabalho foi conhecida como DTC</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pt-BR" dirty="0" err="1"/>
              <a:t>preditor</a:t>
            </a:r>
            <a:r>
              <a:rPr lang="pt-BR" dirty="0"/>
              <a:t> de Smith foi a base de diversos estudos que atualmente vêm se desenvolvendo para lidar com o problema do atraso de transporte.</a:t>
            </a:r>
          </a:p>
          <a:p>
            <a:pPr marL="171450" indent="-171450">
              <a:buFontTx/>
              <a:buChar char="-"/>
            </a:pPr>
            <a:endParaRPr lang="pt-BR" baseline="0" dirty="0"/>
          </a:p>
          <a:p>
            <a:pPr marL="171450" indent="-171450">
              <a:buFontTx/>
              <a:buChar char="-"/>
            </a:pPr>
            <a:endParaRPr lang="pt-BR" dirty="0"/>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12</a:t>
            </a:fld>
            <a:endParaRPr lang="en-US"/>
          </a:p>
        </p:txBody>
      </p:sp>
    </p:spTree>
    <p:extLst>
      <p:ext uri="{BB962C8B-B14F-4D97-AF65-F5344CB8AC3E}">
        <p14:creationId xmlns:p14="http://schemas.microsoft.com/office/powerpoint/2010/main" val="3415872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r>
              <a:rPr lang="pt-BR" dirty="0"/>
              <a:t>Se se tem um processo com atraso que se quer controlar</a:t>
            </a:r>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13</a:t>
            </a:fld>
            <a:endParaRPr lang="en-US"/>
          </a:p>
        </p:txBody>
      </p:sp>
    </p:spTree>
    <p:extLst>
      <p:ext uri="{BB962C8B-B14F-4D97-AF65-F5344CB8AC3E}">
        <p14:creationId xmlns:p14="http://schemas.microsoft.com/office/powerpoint/2010/main" val="2261628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r>
              <a:rPr lang="pt-BR" dirty="0"/>
              <a:t>Se adiciona um laço de controle em malha fechada</a:t>
            </a:r>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14</a:t>
            </a:fld>
            <a:endParaRPr lang="en-US"/>
          </a:p>
        </p:txBody>
      </p:sp>
    </p:spTree>
    <p:extLst>
      <p:ext uri="{BB962C8B-B14F-4D97-AF65-F5344CB8AC3E}">
        <p14:creationId xmlns:p14="http://schemas.microsoft.com/office/powerpoint/2010/main" val="3112213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Smith propus adicionar o modelo interno que representa</a:t>
            </a:r>
            <a:r>
              <a:rPr lang="pt-BR" baseline="0" dirty="0"/>
              <a:t> a dinâmica do processo, o qual pode ser divido em duas parcelas. </a:t>
            </a:r>
            <a:r>
              <a:rPr lang="pt-BR" dirty="0"/>
              <a:t>Nosso processo, para efeitos de analise poderia</a:t>
            </a:r>
            <a:r>
              <a:rPr lang="pt-BR" baseline="0" dirty="0"/>
              <a:t> ser representado por um modelo linear (mas não é </a:t>
            </a:r>
            <a:r>
              <a:rPr lang="pt-BR" baseline="0" dirty="0" err="1"/>
              <a:t>necessario</a:t>
            </a:r>
            <a:r>
              <a:rPr lang="pt-BR" baseline="0" dirty="0"/>
              <a:t>)</a:t>
            </a:r>
            <a:endParaRPr lang="pt-BR" dirty="0"/>
          </a:p>
          <a:p>
            <a:endParaRPr lang="pt-BR" dirty="0"/>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15</a:t>
            </a:fld>
            <a:endParaRPr lang="en-US"/>
          </a:p>
        </p:txBody>
      </p:sp>
    </p:spTree>
    <p:extLst>
      <p:ext uri="{BB962C8B-B14F-4D97-AF65-F5344CB8AC3E}">
        <p14:creationId xmlns:p14="http://schemas.microsoft.com/office/powerpoint/2010/main" val="1268079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baseline="0" dirty="0"/>
              <a:t>Essa estrutura prediz a saída do processo real, $y(t)$, baseando-se no modelo sem atraso, $</a:t>
            </a:r>
            <a:r>
              <a:rPr lang="pt-BR" baseline="0" dirty="0" err="1"/>
              <a:t>G_n</a:t>
            </a:r>
            <a:r>
              <a:rPr lang="pt-BR" baseline="0" dirty="0"/>
              <a:t>(s)$, prevendo o comportamento do sistema caso não tivesse atraso de transporte, $e^{-</a:t>
            </a:r>
            <a:r>
              <a:rPr lang="pt-BR" baseline="0" dirty="0" err="1"/>
              <a:t>L_ns</a:t>
            </a:r>
            <a:r>
              <a:rPr lang="pt-BR" baseline="0" dirty="0"/>
              <a:t>}$. Assim, o controle consegue se antecipar para um provável comportamento que o sistema, $P(s)$, apresentará em um tempo igual ao atraso de transporte. Com base nessa estrutura pode-se projetar o controlador primário, $C(s)$, levando em consideração o processo sem atraso.</a:t>
            </a:r>
            <a:endParaRPr lang="pt-BR" dirty="0"/>
          </a:p>
          <a:p>
            <a:endParaRPr lang="pt-BR" dirty="0"/>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16</a:t>
            </a:fld>
            <a:endParaRPr lang="en-US"/>
          </a:p>
        </p:txBody>
      </p:sp>
    </p:spTree>
    <p:extLst>
      <p:ext uri="{BB962C8B-B14F-4D97-AF65-F5344CB8AC3E}">
        <p14:creationId xmlns:p14="http://schemas.microsoft.com/office/powerpoint/2010/main" val="24709903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17</a:t>
            </a:fld>
            <a:endParaRPr lang="en-US"/>
          </a:p>
        </p:txBody>
      </p:sp>
    </p:spTree>
    <p:extLst>
      <p:ext uri="{BB962C8B-B14F-4D97-AF65-F5344CB8AC3E}">
        <p14:creationId xmlns:p14="http://schemas.microsoft.com/office/powerpoint/2010/main" val="1111010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baseline="0" dirty="0"/>
              <a:t>Essa estrutura prediz a saída do processo real, $y(t)$, baseando-se no modelo sem atraso, $</a:t>
            </a:r>
            <a:r>
              <a:rPr lang="pt-BR" baseline="0" dirty="0" err="1"/>
              <a:t>G_n</a:t>
            </a:r>
            <a:r>
              <a:rPr lang="pt-BR" baseline="0" dirty="0"/>
              <a:t>(s)$, prevendo o comportamento do sistema caso não tivesse atraso de transporte, $e^{-</a:t>
            </a:r>
            <a:r>
              <a:rPr lang="pt-BR" baseline="0" dirty="0" err="1"/>
              <a:t>L_ns</a:t>
            </a:r>
            <a:r>
              <a:rPr lang="pt-BR" baseline="0" dirty="0"/>
              <a:t>}$. Assim, o controle consegue se antecipar para um provável comportamento que o sistema, $P(s)$, apresentará em um tempo igual ao atraso de transporte. Com base nessa estrutura pode-se projetar o controlador primário, $C(s)$, levando em consideração o processo sem atraso.</a:t>
            </a:r>
            <a:endParaRPr lang="pt-BR" dirty="0"/>
          </a:p>
          <a:p>
            <a:endParaRPr lang="pt-BR" dirty="0"/>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18</a:t>
            </a:fld>
            <a:endParaRPr lang="en-US"/>
          </a:p>
        </p:txBody>
      </p:sp>
    </p:spTree>
    <p:extLst>
      <p:ext uri="{BB962C8B-B14F-4D97-AF65-F5344CB8AC3E}">
        <p14:creationId xmlns:p14="http://schemas.microsoft.com/office/powerpoint/2010/main" val="15373297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s-CO"/>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27</a:t>
            </a:fld>
            <a:endParaRPr lang="en-US"/>
          </a:p>
        </p:txBody>
      </p:sp>
    </p:spTree>
    <p:extLst>
      <p:ext uri="{BB962C8B-B14F-4D97-AF65-F5344CB8AC3E}">
        <p14:creationId xmlns:p14="http://schemas.microsoft.com/office/powerpoint/2010/main" val="964512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s-CO"/>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28</a:t>
            </a:fld>
            <a:endParaRPr lang="en-US"/>
          </a:p>
        </p:txBody>
      </p:sp>
    </p:spTree>
    <p:extLst>
      <p:ext uri="{BB962C8B-B14F-4D97-AF65-F5344CB8AC3E}">
        <p14:creationId xmlns:p14="http://schemas.microsoft.com/office/powerpoint/2010/main" val="3910328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s-CO"/>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29</a:t>
            </a:fld>
            <a:endParaRPr lang="en-US"/>
          </a:p>
        </p:txBody>
      </p:sp>
    </p:spTree>
    <p:extLst>
      <p:ext uri="{BB962C8B-B14F-4D97-AF65-F5344CB8AC3E}">
        <p14:creationId xmlns:p14="http://schemas.microsoft.com/office/powerpoint/2010/main" val="29669598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es-CO"/>
          </a:p>
        </p:txBody>
      </p:sp>
      <p:sp>
        <p:nvSpPr>
          <p:cNvPr id="4" name="Espaço Reservado para Número de Slide 3"/>
          <p:cNvSpPr>
            <a:spLocks noGrp="1"/>
          </p:cNvSpPr>
          <p:nvPr>
            <p:ph type="sldNum" sz="quarter" idx="10"/>
          </p:nvPr>
        </p:nvSpPr>
        <p:spPr/>
        <p:txBody>
          <a:bodyPr/>
          <a:lstStyle/>
          <a:p>
            <a:fld id="{FBBC9451-71FC-4470-AA85-CBE7E5F92F83}" type="slidenum">
              <a:rPr lang="en-US" smtClean="0"/>
              <a:t>30</a:t>
            </a:fld>
            <a:endParaRPr lang="en-US"/>
          </a:p>
        </p:txBody>
      </p:sp>
    </p:spTree>
    <p:extLst>
      <p:ext uri="{BB962C8B-B14F-4D97-AF65-F5344CB8AC3E}">
        <p14:creationId xmlns:p14="http://schemas.microsoft.com/office/powerpoint/2010/main" val="2592726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pt-BR"/>
              <a:t>Clique para editar o título mestre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a:p>
        </p:txBody>
      </p:sp>
      <p:sp>
        <p:nvSpPr>
          <p:cNvPr id="4" name="Date Placeholder 3"/>
          <p:cNvSpPr>
            <a:spLocks noGrp="1"/>
          </p:cNvSpPr>
          <p:nvPr>
            <p:ph type="dt" sz="half" idx="10"/>
          </p:nvPr>
        </p:nvSpPr>
        <p:spPr/>
        <p:txBody>
          <a:bodyPr/>
          <a:lstStyle/>
          <a:p>
            <a:fld id="{E0E1D5F7-86B0-4EEB-AE9D-4EBBDAB88A20}" type="datetime1">
              <a:rPr lang="en-US" smtClean="0"/>
              <a:t>3/11/2026</a:t>
            </a:fld>
            <a:endParaRPr lang="en-US"/>
          </a:p>
        </p:txBody>
      </p:sp>
      <p:sp>
        <p:nvSpPr>
          <p:cNvPr id="5" name="Footer Placeholder 4"/>
          <p:cNvSpPr>
            <a:spLocks noGrp="1"/>
          </p:cNvSpPr>
          <p:nvPr>
            <p:ph type="ftr" sz="quarter" idx="11"/>
          </p:nvPr>
        </p:nvSpPr>
        <p:spPr/>
        <p:txBody>
          <a:bodyPr/>
          <a:lstStyle/>
          <a:p>
            <a:r>
              <a:rPr lang="en-US"/>
              <a:t>http://controlautomaticoeducacion.com/</a:t>
            </a:r>
          </a:p>
        </p:txBody>
      </p:sp>
      <p:sp>
        <p:nvSpPr>
          <p:cNvPr id="6" name="Slide Number Placeholder 5"/>
          <p:cNvSpPr>
            <a:spLocks noGrp="1"/>
          </p:cNvSpPr>
          <p:nvPr>
            <p:ph type="sldNum" sz="quarter" idx="12"/>
          </p:nvPr>
        </p:nvSpPr>
        <p:spPr/>
        <p:txBody>
          <a:bodyPr/>
          <a:lstStyle/>
          <a:p>
            <a:fld id="{FA1C692C-4F2D-45F6-A9A8-8A3A8FE27806}" type="slidenum">
              <a:rPr lang="en-US" smtClean="0"/>
              <a:pPr/>
              <a:t>‹Nº›</a:t>
            </a:fld>
            <a:endParaRPr lang="en-US"/>
          </a:p>
        </p:txBody>
      </p:sp>
    </p:spTree>
    <p:extLst>
      <p:ext uri="{BB962C8B-B14F-4D97-AF65-F5344CB8AC3E}">
        <p14:creationId xmlns:p14="http://schemas.microsoft.com/office/powerpoint/2010/main" val="4001311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94B7E322-502B-4A75-B26B-E5DC8E8354C9}" type="datetime1">
              <a:rPr lang="en-US" smtClean="0"/>
              <a:t>3/11/2026</a:t>
            </a:fld>
            <a:endParaRPr lang="en-US"/>
          </a:p>
        </p:txBody>
      </p:sp>
      <p:sp>
        <p:nvSpPr>
          <p:cNvPr id="5" name="Footer Placeholder 4"/>
          <p:cNvSpPr>
            <a:spLocks noGrp="1"/>
          </p:cNvSpPr>
          <p:nvPr>
            <p:ph type="ftr" sz="quarter" idx="11"/>
          </p:nvPr>
        </p:nvSpPr>
        <p:spPr/>
        <p:txBody>
          <a:bodyPr/>
          <a:lstStyle/>
          <a:p>
            <a:r>
              <a:rPr lang="en-US"/>
              <a:t>http://controlautomaticoeducacion.com/</a:t>
            </a:r>
          </a:p>
        </p:txBody>
      </p:sp>
      <p:sp>
        <p:nvSpPr>
          <p:cNvPr id="6" name="Slide Number Placeholder 5"/>
          <p:cNvSpPr>
            <a:spLocks noGrp="1"/>
          </p:cNvSpPr>
          <p:nvPr>
            <p:ph type="sldNum" sz="quarter" idx="12"/>
          </p:nvPr>
        </p:nvSpPr>
        <p:spPr/>
        <p:txBody>
          <a:bodyPr/>
          <a:lstStyle/>
          <a:p>
            <a:fld id="{FA1C692C-4F2D-45F6-A9A8-8A3A8FE27806}" type="slidenum">
              <a:rPr lang="en-US" smtClean="0"/>
              <a:pPr/>
              <a:t>‹Nº›</a:t>
            </a:fld>
            <a:endParaRPr lang="en-US"/>
          </a:p>
        </p:txBody>
      </p:sp>
    </p:spTree>
    <p:extLst>
      <p:ext uri="{BB962C8B-B14F-4D97-AF65-F5344CB8AC3E}">
        <p14:creationId xmlns:p14="http://schemas.microsoft.com/office/powerpoint/2010/main" val="2638928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pt-BR"/>
              <a:t>Clique para editar o título mestre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p>
        </p:txBody>
      </p:sp>
      <p:sp>
        <p:nvSpPr>
          <p:cNvPr id="4" name="Date Placeholder 3"/>
          <p:cNvSpPr>
            <a:spLocks noGrp="1"/>
          </p:cNvSpPr>
          <p:nvPr>
            <p:ph type="dt" sz="half" idx="10"/>
          </p:nvPr>
        </p:nvSpPr>
        <p:spPr/>
        <p:txBody>
          <a:bodyPr/>
          <a:lstStyle/>
          <a:p>
            <a:fld id="{9397411B-B986-4B61-82D4-4443CF408F53}" type="datetime1">
              <a:rPr lang="en-US" smtClean="0"/>
              <a:t>3/11/2026</a:t>
            </a:fld>
            <a:endParaRPr lang="en-US"/>
          </a:p>
        </p:txBody>
      </p:sp>
      <p:sp>
        <p:nvSpPr>
          <p:cNvPr id="5" name="Footer Placeholder 4"/>
          <p:cNvSpPr>
            <a:spLocks noGrp="1"/>
          </p:cNvSpPr>
          <p:nvPr>
            <p:ph type="ftr" sz="quarter" idx="11"/>
          </p:nvPr>
        </p:nvSpPr>
        <p:spPr/>
        <p:txBody>
          <a:bodyPr/>
          <a:lstStyle/>
          <a:p>
            <a:r>
              <a:rPr lang="en-US"/>
              <a:t>http://controlautomaticoeducacion.com/</a:t>
            </a:r>
          </a:p>
        </p:txBody>
      </p:sp>
      <p:sp>
        <p:nvSpPr>
          <p:cNvPr id="6" name="Slide Number Placeholder 5"/>
          <p:cNvSpPr>
            <a:spLocks noGrp="1"/>
          </p:cNvSpPr>
          <p:nvPr>
            <p:ph type="sldNum" sz="quarter" idx="12"/>
          </p:nvPr>
        </p:nvSpPr>
        <p:spPr/>
        <p:txBody>
          <a:bodyPr/>
          <a:lstStyle/>
          <a:p>
            <a:fld id="{FA1C692C-4F2D-45F6-A9A8-8A3A8FE27806}" type="slidenum">
              <a:rPr lang="en-US" smtClean="0"/>
              <a:pPr/>
              <a:t>‹Nº›</a:t>
            </a:fld>
            <a:endParaRPr lang="en-US"/>
          </a:p>
        </p:txBody>
      </p:sp>
    </p:spTree>
    <p:extLst>
      <p:ext uri="{BB962C8B-B14F-4D97-AF65-F5344CB8AC3E}">
        <p14:creationId xmlns:p14="http://schemas.microsoft.com/office/powerpoint/2010/main" val="2369330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Date Placeholder 4"/>
          <p:cNvSpPr>
            <a:spLocks noGrp="1"/>
          </p:cNvSpPr>
          <p:nvPr>
            <p:ph type="dt" sz="half" idx="10"/>
          </p:nvPr>
        </p:nvSpPr>
        <p:spPr/>
        <p:txBody>
          <a:bodyPr/>
          <a:lstStyle/>
          <a:p>
            <a:fld id="{BF110FD5-022A-4CB1-B749-099B9804C473}" type="datetime1">
              <a:rPr lang="en-US" smtClean="0"/>
              <a:t>3/11/2026</a:t>
            </a:fld>
            <a:endParaRPr lang="en-US"/>
          </a:p>
        </p:txBody>
      </p:sp>
      <p:sp>
        <p:nvSpPr>
          <p:cNvPr id="6" name="Footer Placeholder 5"/>
          <p:cNvSpPr>
            <a:spLocks noGrp="1"/>
          </p:cNvSpPr>
          <p:nvPr>
            <p:ph type="ftr" sz="quarter" idx="11"/>
          </p:nvPr>
        </p:nvSpPr>
        <p:spPr/>
        <p:txBody>
          <a:bodyPr/>
          <a:lstStyle/>
          <a:p>
            <a:r>
              <a:rPr lang="en-US"/>
              <a:t>http://controlautomaticoeducacion.com/</a:t>
            </a:r>
          </a:p>
        </p:txBody>
      </p:sp>
      <p:sp>
        <p:nvSpPr>
          <p:cNvPr id="7" name="Slide Number Placeholder 6"/>
          <p:cNvSpPr>
            <a:spLocks noGrp="1"/>
          </p:cNvSpPr>
          <p:nvPr>
            <p:ph type="sldNum" sz="quarter" idx="12"/>
          </p:nvPr>
        </p:nvSpPr>
        <p:spPr/>
        <p:txBody>
          <a:bodyPr/>
          <a:lstStyle/>
          <a:p>
            <a:fld id="{FA1C692C-4F2D-45F6-A9A8-8A3A8FE27806}" type="slidenum">
              <a:rPr lang="en-US" smtClean="0"/>
              <a:pPr/>
              <a:t>‹Nº›</a:t>
            </a:fld>
            <a:endParaRPr lang="en-US"/>
          </a:p>
        </p:txBody>
      </p:sp>
    </p:spTree>
    <p:extLst>
      <p:ext uri="{BB962C8B-B14F-4D97-AF65-F5344CB8AC3E}">
        <p14:creationId xmlns:p14="http://schemas.microsoft.com/office/powerpoint/2010/main" val="1942114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7" name="Date Placeholder 6"/>
          <p:cNvSpPr>
            <a:spLocks noGrp="1"/>
          </p:cNvSpPr>
          <p:nvPr>
            <p:ph type="dt" sz="half" idx="10"/>
          </p:nvPr>
        </p:nvSpPr>
        <p:spPr/>
        <p:txBody>
          <a:bodyPr/>
          <a:lstStyle/>
          <a:p>
            <a:fld id="{DF04AA7F-8634-40C7-B1A4-C53864562279}" type="datetime1">
              <a:rPr lang="en-US" smtClean="0"/>
              <a:t>3/11/2026</a:t>
            </a:fld>
            <a:endParaRPr lang="en-US"/>
          </a:p>
        </p:txBody>
      </p:sp>
      <p:sp>
        <p:nvSpPr>
          <p:cNvPr id="8" name="Footer Placeholder 7"/>
          <p:cNvSpPr>
            <a:spLocks noGrp="1"/>
          </p:cNvSpPr>
          <p:nvPr>
            <p:ph type="ftr" sz="quarter" idx="11"/>
          </p:nvPr>
        </p:nvSpPr>
        <p:spPr/>
        <p:txBody>
          <a:bodyPr/>
          <a:lstStyle/>
          <a:p>
            <a:r>
              <a:rPr lang="en-US"/>
              <a:t>http://controlautomaticoeducacion.com/</a:t>
            </a:r>
          </a:p>
        </p:txBody>
      </p:sp>
      <p:sp>
        <p:nvSpPr>
          <p:cNvPr id="9" name="Slide Number Placeholder 8"/>
          <p:cNvSpPr>
            <a:spLocks noGrp="1"/>
          </p:cNvSpPr>
          <p:nvPr>
            <p:ph type="sldNum" sz="quarter" idx="12"/>
          </p:nvPr>
        </p:nvSpPr>
        <p:spPr/>
        <p:txBody>
          <a:bodyPr/>
          <a:lstStyle/>
          <a:p>
            <a:fld id="{FA1C692C-4F2D-45F6-A9A8-8A3A8FE27806}" type="slidenum">
              <a:rPr lang="en-US" smtClean="0"/>
              <a:pPr/>
              <a:t>‹Nº›</a:t>
            </a:fld>
            <a:endParaRPr lang="en-US"/>
          </a:p>
        </p:txBody>
      </p:sp>
    </p:spTree>
    <p:extLst>
      <p:ext uri="{BB962C8B-B14F-4D97-AF65-F5344CB8AC3E}">
        <p14:creationId xmlns:p14="http://schemas.microsoft.com/office/powerpoint/2010/main" val="3906630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Date Placeholder 2"/>
          <p:cNvSpPr>
            <a:spLocks noGrp="1"/>
          </p:cNvSpPr>
          <p:nvPr>
            <p:ph type="dt" sz="half" idx="10"/>
          </p:nvPr>
        </p:nvSpPr>
        <p:spPr/>
        <p:txBody>
          <a:bodyPr/>
          <a:lstStyle/>
          <a:p>
            <a:fld id="{B5CBB360-9E46-4AED-8CF0-1E8B38209B70}" type="datetime1">
              <a:rPr lang="en-US" smtClean="0"/>
              <a:t>3/11/2026</a:t>
            </a:fld>
            <a:endParaRPr lang="en-US"/>
          </a:p>
        </p:txBody>
      </p:sp>
      <p:sp>
        <p:nvSpPr>
          <p:cNvPr id="4" name="Footer Placeholder 3"/>
          <p:cNvSpPr>
            <a:spLocks noGrp="1"/>
          </p:cNvSpPr>
          <p:nvPr>
            <p:ph type="ftr" sz="quarter" idx="11"/>
          </p:nvPr>
        </p:nvSpPr>
        <p:spPr/>
        <p:txBody>
          <a:bodyPr/>
          <a:lstStyle/>
          <a:p>
            <a:r>
              <a:rPr lang="en-US"/>
              <a:t>http://controlautomaticoeducacion.com/</a:t>
            </a:r>
          </a:p>
        </p:txBody>
      </p:sp>
      <p:sp>
        <p:nvSpPr>
          <p:cNvPr id="5" name="Slide Number Placeholder 4"/>
          <p:cNvSpPr>
            <a:spLocks noGrp="1"/>
          </p:cNvSpPr>
          <p:nvPr>
            <p:ph type="sldNum" sz="quarter" idx="12"/>
          </p:nvPr>
        </p:nvSpPr>
        <p:spPr/>
        <p:txBody>
          <a:bodyPr/>
          <a:lstStyle/>
          <a:p>
            <a:fld id="{FA1C692C-4F2D-45F6-A9A8-8A3A8FE27806}" type="slidenum">
              <a:rPr lang="en-US" smtClean="0"/>
              <a:pPr/>
              <a:t>‹Nº›</a:t>
            </a:fld>
            <a:endParaRPr lang="en-US"/>
          </a:p>
        </p:txBody>
      </p:sp>
    </p:spTree>
    <p:extLst>
      <p:ext uri="{BB962C8B-B14F-4D97-AF65-F5344CB8AC3E}">
        <p14:creationId xmlns:p14="http://schemas.microsoft.com/office/powerpoint/2010/main" val="2912789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ED1114-7698-4E0C-AE81-2D325BC85DFE}" type="datetime1">
              <a:rPr lang="en-US" smtClean="0"/>
              <a:t>3/11/2026</a:t>
            </a:fld>
            <a:endParaRPr lang="en-US"/>
          </a:p>
        </p:txBody>
      </p:sp>
      <p:sp>
        <p:nvSpPr>
          <p:cNvPr id="3" name="Footer Placeholder 2"/>
          <p:cNvSpPr>
            <a:spLocks noGrp="1"/>
          </p:cNvSpPr>
          <p:nvPr>
            <p:ph type="ftr" sz="quarter" idx="11"/>
          </p:nvPr>
        </p:nvSpPr>
        <p:spPr/>
        <p:txBody>
          <a:bodyPr/>
          <a:lstStyle/>
          <a:p>
            <a:r>
              <a:rPr lang="en-US"/>
              <a:t>http://controlautomaticoeducacion.com/</a:t>
            </a:r>
          </a:p>
        </p:txBody>
      </p:sp>
      <p:sp>
        <p:nvSpPr>
          <p:cNvPr id="4" name="Slide Number Placeholder 3"/>
          <p:cNvSpPr>
            <a:spLocks noGrp="1"/>
          </p:cNvSpPr>
          <p:nvPr>
            <p:ph type="sldNum" sz="quarter" idx="12"/>
          </p:nvPr>
        </p:nvSpPr>
        <p:spPr/>
        <p:txBody>
          <a:bodyPr/>
          <a:lstStyle/>
          <a:p>
            <a:fld id="{FA1C692C-4F2D-45F6-A9A8-8A3A8FE27806}" type="slidenum">
              <a:rPr lang="en-US" smtClean="0"/>
              <a:pPr/>
              <a:t>‹Nº›</a:t>
            </a:fld>
            <a:endParaRPr lang="en-US"/>
          </a:p>
        </p:txBody>
      </p:sp>
    </p:spTree>
    <p:extLst>
      <p:ext uri="{BB962C8B-B14F-4D97-AF65-F5344CB8AC3E}">
        <p14:creationId xmlns:p14="http://schemas.microsoft.com/office/powerpoint/2010/main" val="676417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pt-BR"/>
              <a:t>Clique para editar o título mestre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Date Placeholder 4"/>
          <p:cNvSpPr>
            <a:spLocks noGrp="1"/>
          </p:cNvSpPr>
          <p:nvPr>
            <p:ph type="dt" sz="half" idx="10"/>
          </p:nvPr>
        </p:nvSpPr>
        <p:spPr/>
        <p:txBody>
          <a:bodyPr/>
          <a:lstStyle/>
          <a:p>
            <a:fld id="{6042B781-B990-48C3-A01B-B9F8B148133A}" type="datetime1">
              <a:rPr lang="en-US" smtClean="0"/>
              <a:t>3/11/2026</a:t>
            </a:fld>
            <a:endParaRPr lang="en-US"/>
          </a:p>
        </p:txBody>
      </p:sp>
      <p:sp>
        <p:nvSpPr>
          <p:cNvPr id="6" name="Footer Placeholder 5"/>
          <p:cNvSpPr>
            <a:spLocks noGrp="1"/>
          </p:cNvSpPr>
          <p:nvPr>
            <p:ph type="ftr" sz="quarter" idx="11"/>
          </p:nvPr>
        </p:nvSpPr>
        <p:spPr/>
        <p:txBody>
          <a:bodyPr/>
          <a:lstStyle/>
          <a:p>
            <a:r>
              <a:rPr lang="en-US"/>
              <a:t>http://controlautomaticoeducacion.com/</a:t>
            </a:r>
          </a:p>
        </p:txBody>
      </p:sp>
      <p:sp>
        <p:nvSpPr>
          <p:cNvPr id="7" name="Slide Number Placeholder 6"/>
          <p:cNvSpPr>
            <a:spLocks noGrp="1"/>
          </p:cNvSpPr>
          <p:nvPr>
            <p:ph type="sldNum" sz="quarter" idx="12"/>
          </p:nvPr>
        </p:nvSpPr>
        <p:spPr/>
        <p:txBody>
          <a:bodyPr/>
          <a:lstStyle/>
          <a:p>
            <a:fld id="{FA1C692C-4F2D-45F6-A9A8-8A3A8FE27806}" type="slidenum">
              <a:rPr lang="en-US" smtClean="0"/>
              <a:pPr/>
              <a:t>‹Nº›</a:t>
            </a:fld>
            <a:endParaRPr lang="en-US"/>
          </a:p>
        </p:txBody>
      </p:sp>
    </p:spTree>
    <p:extLst>
      <p:ext uri="{BB962C8B-B14F-4D97-AF65-F5344CB8AC3E}">
        <p14:creationId xmlns:p14="http://schemas.microsoft.com/office/powerpoint/2010/main" val="8888196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pt-BR"/>
              <a:t>Clique para editar o título mestre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p>
        </p:txBody>
      </p:sp>
      <p:sp>
        <p:nvSpPr>
          <p:cNvPr id="5" name="Date Placeholder 4"/>
          <p:cNvSpPr>
            <a:spLocks noGrp="1"/>
          </p:cNvSpPr>
          <p:nvPr>
            <p:ph type="dt" sz="half" idx="10"/>
          </p:nvPr>
        </p:nvSpPr>
        <p:spPr/>
        <p:txBody>
          <a:bodyPr/>
          <a:lstStyle/>
          <a:p>
            <a:fld id="{7C2A6481-4257-43F4-BC28-4987C6D89E78}" type="datetime1">
              <a:rPr lang="en-US" smtClean="0"/>
              <a:t>3/11/2026</a:t>
            </a:fld>
            <a:endParaRPr lang="en-US"/>
          </a:p>
        </p:txBody>
      </p:sp>
      <p:sp>
        <p:nvSpPr>
          <p:cNvPr id="6" name="Footer Placeholder 5"/>
          <p:cNvSpPr>
            <a:spLocks noGrp="1"/>
          </p:cNvSpPr>
          <p:nvPr>
            <p:ph type="ftr" sz="quarter" idx="11"/>
          </p:nvPr>
        </p:nvSpPr>
        <p:spPr/>
        <p:txBody>
          <a:bodyPr/>
          <a:lstStyle/>
          <a:p>
            <a:r>
              <a:rPr lang="en-US"/>
              <a:t>http://controlautomaticoeducacion.com/</a:t>
            </a:r>
          </a:p>
        </p:txBody>
      </p:sp>
      <p:sp>
        <p:nvSpPr>
          <p:cNvPr id="7" name="Slide Number Placeholder 6"/>
          <p:cNvSpPr>
            <a:spLocks noGrp="1"/>
          </p:cNvSpPr>
          <p:nvPr>
            <p:ph type="sldNum" sz="quarter" idx="12"/>
          </p:nvPr>
        </p:nvSpPr>
        <p:spPr/>
        <p:txBody>
          <a:bodyPr/>
          <a:lstStyle/>
          <a:p>
            <a:fld id="{FA1C692C-4F2D-45F6-A9A8-8A3A8FE27806}" type="slidenum">
              <a:rPr lang="en-US" smtClean="0"/>
              <a:pPr/>
              <a:t>‹Nº›</a:t>
            </a:fld>
            <a:endParaRPr lang="en-US"/>
          </a:p>
        </p:txBody>
      </p:sp>
    </p:spTree>
    <p:extLst>
      <p:ext uri="{BB962C8B-B14F-4D97-AF65-F5344CB8AC3E}">
        <p14:creationId xmlns:p14="http://schemas.microsoft.com/office/powerpoint/2010/main" val="3691732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a:p>
        </p:txBody>
      </p:sp>
      <p:sp>
        <p:nvSpPr>
          <p:cNvPr id="3" name="Vertical Text Placeholder 2"/>
          <p:cNvSpPr>
            <a:spLocks noGrp="1"/>
          </p:cNvSpPr>
          <p:nvPr>
            <p:ph type="body" orient="vert" idx="1"/>
          </p:nvPr>
        </p:nvSpPr>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D7B6B494-F335-4B71-ADC1-003DAFB872A3}" type="datetime1">
              <a:rPr lang="en-US" smtClean="0"/>
              <a:t>3/11/2026</a:t>
            </a:fld>
            <a:endParaRPr lang="en-US"/>
          </a:p>
        </p:txBody>
      </p:sp>
      <p:sp>
        <p:nvSpPr>
          <p:cNvPr id="5" name="Footer Placeholder 4"/>
          <p:cNvSpPr>
            <a:spLocks noGrp="1"/>
          </p:cNvSpPr>
          <p:nvPr>
            <p:ph type="ftr" sz="quarter" idx="11"/>
          </p:nvPr>
        </p:nvSpPr>
        <p:spPr/>
        <p:txBody>
          <a:bodyPr/>
          <a:lstStyle/>
          <a:p>
            <a:r>
              <a:rPr lang="en-US"/>
              <a:t>http://controlautomaticoeducacion.com/</a:t>
            </a:r>
          </a:p>
        </p:txBody>
      </p:sp>
      <p:sp>
        <p:nvSpPr>
          <p:cNvPr id="6" name="Slide Number Placeholder 5"/>
          <p:cNvSpPr>
            <a:spLocks noGrp="1"/>
          </p:cNvSpPr>
          <p:nvPr>
            <p:ph type="sldNum" sz="quarter" idx="12"/>
          </p:nvPr>
        </p:nvSpPr>
        <p:spPr/>
        <p:txBody>
          <a:bodyPr/>
          <a:lstStyle/>
          <a:p>
            <a:fld id="{FA1C692C-4F2D-45F6-A9A8-8A3A8FE27806}" type="slidenum">
              <a:rPr lang="en-US" smtClean="0"/>
              <a:pPr/>
              <a:t>‹Nº›</a:t>
            </a:fld>
            <a:endParaRPr lang="en-US"/>
          </a:p>
        </p:txBody>
      </p:sp>
    </p:spTree>
    <p:extLst>
      <p:ext uri="{BB962C8B-B14F-4D97-AF65-F5344CB8AC3E}">
        <p14:creationId xmlns:p14="http://schemas.microsoft.com/office/powerpoint/2010/main" val="4015152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pt-BR"/>
              <a:t>Clique para editar o título mestre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10"/>
          </p:nvPr>
        </p:nvSpPr>
        <p:spPr/>
        <p:txBody>
          <a:bodyPr/>
          <a:lstStyle/>
          <a:p>
            <a:fld id="{FF89B2AE-9705-4AC6-A362-CD6DF62207D6}" type="datetime1">
              <a:rPr lang="en-US" smtClean="0"/>
              <a:t>3/11/2026</a:t>
            </a:fld>
            <a:endParaRPr lang="en-US"/>
          </a:p>
        </p:txBody>
      </p:sp>
      <p:sp>
        <p:nvSpPr>
          <p:cNvPr id="5" name="Footer Placeholder 4"/>
          <p:cNvSpPr>
            <a:spLocks noGrp="1"/>
          </p:cNvSpPr>
          <p:nvPr>
            <p:ph type="ftr" sz="quarter" idx="11"/>
          </p:nvPr>
        </p:nvSpPr>
        <p:spPr/>
        <p:txBody>
          <a:bodyPr/>
          <a:lstStyle/>
          <a:p>
            <a:r>
              <a:rPr lang="en-US"/>
              <a:t>http://controlautomaticoeducacion.com/</a:t>
            </a:r>
          </a:p>
        </p:txBody>
      </p:sp>
      <p:sp>
        <p:nvSpPr>
          <p:cNvPr id="6" name="Slide Number Placeholder 5"/>
          <p:cNvSpPr>
            <a:spLocks noGrp="1"/>
          </p:cNvSpPr>
          <p:nvPr>
            <p:ph type="sldNum" sz="quarter" idx="12"/>
          </p:nvPr>
        </p:nvSpPr>
        <p:spPr/>
        <p:txBody>
          <a:bodyPr/>
          <a:lstStyle/>
          <a:p>
            <a:fld id="{FA1C692C-4F2D-45F6-A9A8-8A3A8FE27806}" type="slidenum">
              <a:rPr lang="en-US" smtClean="0"/>
              <a:pPr/>
              <a:t>‹Nº›</a:t>
            </a:fld>
            <a:endParaRPr lang="en-US"/>
          </a:p>
        </p:txBody>
      </p:sp>
    </p:spTree>
    <p:extLst>
      <p:ext uri="{BB962C8B-B14F-4D97-AF65-F5344CB8AC3E}">
        <p14:creationId xmlns:p14="http://schemas.microsoft.com/office/powerpoint/2010/main" val="3178367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69568E-FCEB-435D-A3E4-13AD828FF17E}" type="datetime1">
              <a:rPr lang="en-US" smtClean="0"/>
              <a:t>3/11/2026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http://controlautomaticoeducacion.com/</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C692C-4F2D-45F6-A9A8-8A3A8FE27806}" type="slidenum">
              <a:rPr lang="en-US" smtClean="0"/>
              <a:pPr/>
              <a:t>‹Nº›</a:t>
            </a:fld>
            <a:endParaRPr lang="en-US"/>
          </a:p>
        </p:txBody>
      </p:sp>
    </p:spTree>
    <p:extLst>
      <p:ext uri="{BB962C8B-B14F-4D97-AF65-F5344CB8AC3E}">
        <p14:creationId xmlns:p14="http://schemas.microsoft.com/office/powerpoint/2010/main" val="285094624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slideLayout" Target="../slideLayouts/slideLayout2.xml"/><Relationship Id="rId7" Type="http://schemas.openxmlformats.org/officeDocument/2006/relationships/image" Target="../media/image3.jpe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4.xml"/><Relationship Id="rId7" Type="http://schemas.openxmlformats.org/officeDocument/2006/relationships/image" Target="../media/image14.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3.emf"/><Relationship Id="rId11" Type="http://schemas.openxmlformats.org/officeDocument/2006/relationships/image" Target="../media/image18.png"/><Relationship Id="rId5" Type="http://schemas.openxmlformats.org/officeDocument/2006/relationships/slideLayout" Target="../slideLayouts/slideLayout7.xml"/><Relationship Id="rId10" Type="http://schemas.openxmlformats.org/officeDocument/2006/relationships/image" Target="../media/image17.png"/><Relationship Id="rId4" Type="http://schemas.openxmlformats.org/officeDocument/2006/relationships/tags" Target="../tags/tag5.xml"/><Relationship Id="rId9" Type="http://schemas.openxmlformats.org/officeDocument/2006/relationships/image" Target="../media/image16.emf"/></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0.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10.xml"/><Relationship Id="rId7" Type="http://schemas.openxmlformats.org/officeDocument/2006/relationships/image" Target="../media/image28.emf"/><Relationship Id="rId12" Type="http://schemas.openxmlformats.org/officeDocument/2006/relationships/image" Target="../media/image33.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Layout" Target="../slideLayouts/slideLayout2.xml"/><Relationship Id="rId11" Type="http://schemas.openxmlformats.org/officeDocument/2006/relationships/image" Target="../media/image32.png"/><Relationship Id="rId5" Type="http://schemas.openxmlformats.org/officeDocument/2006/relationships/tags" Target="../tags/tag12.xml"/><Relationship Id="rId10" Type="http://schemas.openxmlformats.org/officeDocument/2006/relationships/image" Target="../media/image31.png"/><Relationship Id="rId4" Type="http://schemas.openxmlformats.org/officeDocument/2006/relationships/tags" Target="../tags/tag11.xml"/><Relationship Id="rId9" Type="http://schemas.openxmlformats.org/officeDocument/2006/relationships/image" Target="../media/image30.png"/></Relationships>
</file>

<file path=ppt/slides/_rels/slide11.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610.png"/><Relationship Id="rId7" Type="http://schemas.openxmlformats.org/officeDocument/2006/relationships/image" Target="../media/image10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10.png"/><Relationship Id="rId11" Type="http://schemas.openxmlformats.org/officeDocument/2006/relationships/image" Target="../media/image35.emf"/><Relationship Id="rId5" Type="http://schemas.openxmlformats.org/officeDocument/2006/relationships/image" Target="../media/image810.png"/><Relationship Id="rId10" Type="http://schemas.openxmlformats.org/officeDocument/2006/relationships/image" Target="../media/image34.emf"/><Relationship Id="rId4" Type="http://schemas.openxmlformats.org/officeDocument/2006/relationships/image" Target="../media/image710.png"/><Relationship Id="rId9"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240.png"/><Relationship Id="rId7" Type="http://schemas.openxmlformats.org/officeDocument/2006/relationships/image" Target="../media/image29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80.png"/><Relationship Id="rId5" Type="http://schemas.openxmlformats.org/officeDocument/2006/relationships/image" Target="../media/image270.png"/><Relationship Id="rId4" Type="http://schemas.openxmlformats.org/officeDocument/2006/relationships/image" Target="../media/image250.png"/><Relationship Id="rId9" Type="http://schemas.openxmlformats.org/officeDocument/2006/relationships/image" Target="../media/image1.png"/></Relationships>
</file>

<file path=ppt/slides/_rels/slide15.xml.rels><?xml version="1.0" encoding="UTF-8" standalone="yes"?>
<Relationships xmlns="http://schemas.openxmlformats.org/package/2006/relationships"><Relationship Id="rId8" Type="http://schemas.openxmlformats.org/officeDocument/2006/relationships/image" Target="../media/image300.png"/><Relationship Id="rId13" Type="http://schemas.openxmlformats.org/officeDocument/2006/relationships/image" Target="../media/image35.png"/><Relationship Id="rId3" Type="http://schemas.openxmlformats.org/officeDocument/2006/relationships/image" Target="../media/image240.png"/><Relationship Id="rId7" Type="http://schemas.openxmlformats.org/officeDocument/2006/relationships/image" Target="../media/image290.png"/><Relationship Id="rId12" Type="http://schemas.openxmlformats.org/officeDocument/2006/relationships/image" Target="../media/image34.png"/><Relationship Id="rId17" Type="http://schemas.openxmlformats.org/officeDocument/2006/relationships/image" Target="../media/image1.png"/><Relationship Id="rId2" Type="http://schemas.openxmlformats.org/officeDocument/2006/relationships/notesSlide" Target="../notesSlides/notesSlide7.xml"/><Relationship Id="rId16" Type="http://schemas.openxmlformats.org/officeDocument/2006/relationships/image" Target="../media/image38.png"/><Relationship Id="rId1" Type="http://schemas.openxmlformats.org/officeDocument/2006/relationships/slideLayout" Target="../slideLayouts/slideLayout7.xml"/><Relationship Id="rId6" Type="http://schemas.openxmlformats.org/officeDocument/2006/relationships/image" Target="../media/image280.png"/><Relationship Id="rId11" Type="http://schemas.openxmlformats.org/officeDocument/2006/relationships/image" Target="../media/image330.png"/><Relationship Id="rId5" Type="http://schemas.openxmlformats.org/officeDocument/2006/relationships/image" Target="../media/image270.png"/><Relationship Id="rId15" Type="http://schemas.openxmlformats.org/officeDocument/2006/relationships/image" Target="../media/image37.png"/><Relationship Id="rId4" Type="http://schemas.openxmlformats.org/officeDocument/2006/relationships/image" Target="../media/image301.png"/><Relationship Id="rId9" Type="http://schemas.openxmlformats.org/officeDocument/2006/relationships/image" Target="../media/image310.png"/><Relationship Id="rId14" Type="http://schemas.openxmlformats.org/officeDocument/2006/relationships/image" Target="../media/image36.png"/></Relationships>
</file>

<file path=ppt/slides/_rels/slide16.xml.rels><?xml version="1.0" encoding="UTF-8" standalone="yes"?>
<Relationships xmlns="http://schemas.openxmlformats.org/package/2006/relationships"><Relationship Id="rId8" Type="http://schemas.openxmlformats.org/officeDocument/2006/relationships/image" Target="../media/image290.png"/><Relationship Id="rId13" Type="http://schemas.openxmlformats.org/officeDocument/2006/relationships/image" Target="../media/image34.png"/><Relationship Id="rId18" Type="http://schemas.openxmlformats.org/officeDocument/2006/relationships/image" Target="../media/image1.png"/><Relationship Id="rId3" Type="http://schemas.openxmlformats.org/officeDocument/2006/relationships/image" Target="../media/image240.png"/><Relationship Id="rId7" Type="http://schemas.openxmlformats.org/officeDocument/2006/relationships/image" Target="../media/image280.png"/><Relationship Id="rId12" Type="http://schemas.openxmlformats.org/officeDocument/2006/relationships/image" Target="../media/image330.png"/><Relationship Id="rId17" Type="http://schemas.openxmlformats.org/officeDocument/2006/relationships/image" Target="../media/image38.png"/><Relationship Id="rId2" Type="http://schemas.openxmlformats.org/officeDocument/2006/relationships/notesSlide" Target="../notesSlides/notesSlide8.xml"/><Relationship Id="rId16"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270.png"/><Relationship Id="rId5" Type="http://schemas.openxmlformats.org/officeDocument/2006/relationships/image" Target="../media/image301.png"/><Relationship Id="rId15" Type="http://schemas.openxmlformats.org/officeDocument/2006/relationships/image" Target="../media/image36.png"/><Relationship Id="rId10" Type="http://schemas.openxmlformats.org/officeDocument/2006/relationships/image" Target="../media/image310.png"/><Relationship Id="rId4" Type="http://schemas.openxmlformats.org/officeDocument/2006/relationships/image" Target="../media/image250.png"/><Relationship Id="rId9" Type="http://schemas.openxmlformats.org/officeDocument/2006/relationships/image" Target="../media/image300.png"/><Relationship Id="rId14" Type="http://schemas.openxmlformats.org/officeDocument/2006/relationships/image" Target="../media/image35.png"/></Relationships>
</file>

<file path=ppt/slides/_rels/slide17.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20.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1.png"/><Relationship Id="rId2" Type="http://schemas.openxmlformats.org/officeDocument/2006/relationships/notesSlide" Target="../notesSlides/notesSlide9.xml"/><Relationship Id="rId16"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18.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220.png"/><Relationship Id="rId3" Type="http://schemas.openxmlformats.org/officeDocument/2006/relationships/image" Target="../media/image120.png"/><Relationship Id="rId7" Type="http://schemas.openxmlformats.org/officeDocument/2006/relationships/image" Target="../media/image16.png"/><Relationship Id="rId12" Type="http://schemas.openxmlformats.org/officeDocument/2006/relationships/image" Target="../media/image210.png"/><Relationship Id="rId17" Type="http://schemas.openxmlformats.org/officeDocument/2006/relationships/image" Target="../media/image1.png"/><Relationship Id="rId2" Type="http://schemas.openxmlformats.org/officeDocument/2006/relationships/notesSlide" Target="../notesSlides/notesSlide10.xml"/><Relationship Id="rId16" Type="http://schemas.openxmlformats.org/officeDocument/2006/relationships/image" Target="../media/image251.png"/><Relationship Id="rId1" Type="http://schemas.openxmlformats.org/officeDocument/2006/relationships/slideLayout" Target="../slideLayouts/slideLayout7.xml"/><Relationship Id="rId6" Type="http://schemas.openxmlformats.org/officeDocument/2006/relationships/image" Target="../media/image150.png"/><Relationship Id="rId11" Type="http://schemas.openxmlformats.org/officeDocument/2006/relationships/image" Target="../media/image200.png"/><Relationship Id="rId5" Type="http://schemas.openxmlformats.org/officeDocument/2006/relationships/image" Target="../media/image140.png"/><Relationship Id="rId15" Type="http://schemas.openxmlformats.org/officeDocument/2006/relationships/image" Target="../media/image241.png"/><Relationship Id="rId10" Type="http://schemas.openxmlformats.org/officeDocument/2006/relationships/image" Target="../media/image190.png"/><Relationship Id="rId4" Type="http://schemas.openxmlformats.org/officeDocument/2006/relationships/image" Target="../media/image13.png"/><Relationship Id="rId9" Type="http://schemas.openxmlformats.org/officeDocument/2006/relationships/image" Target="../media/image181.png"/><Relationship Id="rId14" Type="http://schemas.openxmlformats.org/officeDocument/2006/relationships/image" Target="../media/image230.png"/></Relationships>
</file>

<file path=ppt/slides/_rels/slide19.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8.png"/><Relationship Id="rId3" Type="http://schemas.openxmlformats.org/officeDocument/2006/relationships/image" Target="../media/image1.png"/><Relationship Id="rId7" Type="http://schemas.openxmlformats.org/officeDocument/2006/relationships/image" Target="../media/image52.png"/><Relationship Id="rId12" Type="http://schemas.openxmlformats.org/officeDocument/2006/relationships/image" Target="../media/image57.png"/><Relationship Id="rId17" Type="http://schemas.openxmlformats.org/officeDocument/2006/relationships/image" Target="../media/image62.png"/><Relationship Id="rId2" Type="http://schemas.openxmlformats.org/officeDocument/2006/relationships/slideLayout" Target="../slideLayouts/slideLayout7.xml"/><Relationship Id="rId16" Type="http://schemas.openxmlformats.org/officeDocument/2006/relationships/image" Target="../media/image61.png"/><Relationship Id="rId1" Type="http://schemas.openxmlformats.org/officeDocument/2006/relationships/tags" Target="../tags/tag13.xml"/><Relationship Id="rId6" Type="http://schemas.openxmlformats.org/officeDocument/2006/relationships/image" Target="../media/image28.png"/><Relationship Id="rId11" Type="http://schemas.openxmlformats.org/officeDocument/2006/relationships/image" Target="../media/image56.png"/><Relationship Id="rId5" Type="http://schemas.openxmlformats.org/officeDocument/2006/relationships/image" Target="../media/image271.png"/><Relationship Id="rId15" Type="http://schemas.openxmlformats.org/officeDocument/2006/relationships/image" Target="../media/image60.png"/><Relationship Id="rId10" Type="http://schemas.openxmlformats.org/officeDocument/2006/relationships/image" Target="../media/image55.png"/><Relationship Id="rId4" Type="http://schemas.openxmlformats.org/officeDocument/2006/relationships/image" Target="../media/image260.png"/><Relationship Id="rId9" Type="http://schemas.openxmlformats.org/officeDocument/2006/relationships/image" Target="../media/image54.png"/><Relationship Id="rId14" Type="http://schemas.openxmlformats.org/officeDocument/2006/relationships/image" Target="../media/image59.png"/></Relationships>
</file>

<file path=ppt/slides/_rels/slide20.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60.png"/><Relationship Id="rId3" Type="http://schemas.openxmlformats.org/officeDocument/2006/relationships/image" Target="../media/image1.png"/><Relationship Id="rId7" Type="http://schemas.openxmlformats.org/officeDocument/2006/relationships/image" Target="../media/image52.png"/><Relationship Id="rId12" Type="http://schemas.openxmlformats.org/officeDocument/2006/relationships/image" Target="../media/image58.png"/><Relationship Id="rId2" Type="http://schemas.openxmlformats.org/officeDocument/2006/relationships/slideLayout" Target="../slideLayouts/slideLayout7.xml"/><Relationship Id="rId1" Type="http://schemas.openxmlformats.org/officeDocument/2006/relationships/tags" Target="../tags/tag14.xml"/><Relationship Id="rId6" Type="http://schemas.openxmlformats.org/officeDocument/2006/relationships/image" Target="../media/image28.png"/><Relationship Id="rId11" Type="http://schemas.openxmlformats.org/officeDocument/2006/relationships/image" Target="../media/image56.png"/><Relationship Id="rId5" Type="http://schemas.openxmlformats.org/officeDocument/2006/relationships/image" Target="../media/image271.png"/><Relationship Id="rId10" Type="http://schemas.openxmlformats.org/officeDocument/2006/relationships/image" Target="../media/image55.png"/><Relationship Id="rId4" Type="http://schemas.openxmlformats.org/officeDocument/2006/relationships/image" Target="../media/image63.png"/><Relationship Id="rId9" Type="http://schemas.openxmlformats.org/officeDocument/2006/relationships/image" Target="../media/image54.png"/><Relationship Id="rId14" Type="http://schemas.openxmlformats.org/officeDocument/2006/relationships/image" Target="../media/image62.png"/></Relationships>
</file>

<file path=ppt/slides/_rels/slide21.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1.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slideLayout" Target="../slideLayouts/slideLayout7.xml"/><Relationship Id="rId1" Type="http://schemas.openxmlformats.org/officeDocument/2006/relationships/tags" Target="../tags/tag15.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22.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3" Type="http://schemas.openxmlformats.org/officeDocument/2006/relationships/slideLayout" Target="../slideLayouts/slideLayout7.xml"/><Relationship Id="rId7" Type="http://schemas.openxmlformats.org/officeDocument/2006/relationships/image" Target="../media/image78.png"/><Relationship Id="rId12" Type="http://schemas.openxmlformats.org/officeDocument/2006/relationships/image" Target="../media/image83.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1.png"/><Relationship Id="rId9" Type="http://schemas.openxmlformats.org/officeDocument/2006/relationships/image" Target="../media/image80.png"/><Relationship Id="rId14" Type="http://schemas.openxmlformats.org/officeDocument/2006/relationships/image" Target="../media/image85.png"/></Relationships>
</file>

<file path=ppt/slides/_rels/slide23.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tags" Target="../tags/tag20.xml"/><Relationship Id="rId7" Type="http://schemas.openxmlformats.org/officeDocument/2006/relationships/image" Target="../media/image85.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1.png"/><Relationship Id="rId5" Type="http://schemas.openxmlformats.org/officeDocument/2006/relationships/slideLayout" Target="../slideLayouts/slideLayout7.xml"/><Relationship Id="rId10" Type="http://schemas.openxmlformats.org/officeDocument/2006/relationships/image" Target="../media/image87.png"/><Relationship Id="rId4" Type="http://schemas.openxmlformats.org/officeDocument/2006/relationships/tags" Target="../tags/tag21.xml"/><Relationship Id="rId9" Type="http://schemas.openxmlformats.org/officeDocument/2006/relationships/image" Target="../media/image86.png"/></Relationships>
</file>

<file path=ppt/slides/_rels/slide24.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tags" Target="../tags/tag24.xml"/><Relationship Id="rId7" Type="http://schemas.openxmlformats.org/officeDocument/2006/relationships/image" Target="../media/image88.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87.png"/><Relationship Id="rId5" Type="http://schemas.openxmlformats.org/officeDocument/2006/relationships/image" Target="../media/image1.png"/><Relationship Id="rId4"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92.png"/><Relationship Id="rId18" Type="http://schemas.openxmlformats.org/officeDocument/2006/relationships/image" Target="../media/image88.png"/><Relationship Id="rId3" Type="http://schemas.openxmlformats.org/officeDocument/2006/relationships/tags" Target="../tags/tag27.xml"/><Relationship Id="rId21" Type="http://schemas.openxmlformats.org/officeDocument/2006/relationships/image" Target="../media/image98.png"/><Relationship Id="rId7" Type="http://schemas.openxmlformats.org/officeDocument/2006/relationships/slideLayout" Target="../slideLayouts/slideLayout7.xml"/><Relationship Id="rId12" Type="http://schemas.openxmlformats.org/officeDocument/2006/relationships/image" Target="../media/image79.png"/><Relationship Id="rId17" Type="http://schemas.openxmlformats.org/officeDocument/2006/relationships/image" Target="../media/image95.png"/><Relationship Id="rId2" Type="http://schemas.openxmlformats.org/officeDocument/2006/relationships/tags" Target="../tags/tag26.xml"/><Relationship Id="rId16" Type="http://schemas.openxmlformats.org/officeDocument/2006/relationships/image" Target="../media/image84.png"/><Relationship Id="rId20" Type="http://schemas.openxmlformats.org/officeDocument/2006/relationships/image" Target="../media/image97.png"/><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78.png"/><Relationship Id="rId5" Type="http://schemas.openxmlformats.org/officeDocument/2006/relationships/tags" Target="../tags/tag29.xml"/><Relationship Id="rId15" Type="http://schemas.openxmlformats.org/officeDocument/2006/relationships/image" Target="../media/image94.png"/><Relationship Id="rId10" Type="http://schemas.openxmlformats.org/officeDocument/2006/relationships/image" Target="../media/image91.png"/><Relationship Id="rId19" Type="http://schemas.openxmlformats.org/officeDocument/2006/relationships/image" Target="../media/image96.png"/><Relationship Id="rId4" Type="http://schemas.openxmlformats.org/officeDocument/2006/relationships/tags" Target="../tags/tag28.xml"/><Relationship Id="rId9" Type="http://schemas.openxmlformats.org/officeDocument/2006/relationships/image" Target="../media/image90.png"/><Relationship Id="rId14" Type="http://schemas.openxmlformats.org/officeDocument/2006/relationships/image" Target="../media/image93.png"/></Relationships>
</file>

<file path=ppt/slides/_rels/slide26.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3.png"/><Relationship Id="rId18" Type="http://schemas.openxmlformats.org/officeDocument/2006/relationships/image" Target="../media/image99.png"/><Relationship Id="rId3" Type="http://schemas.openxmlformats.org/officeDocument/2006/relationships/tags" Target="../tags/tag33.xml"/><Relationship Id="rId7" Type="http://schemas.openxmlformats.org/officeDocument/2006/relationships/image" Target="../media/image1.png"/><Relationship Id="rId12" Type="http://schemas.openxmlformats.org/officeDocument/2006/relationships/image" Target="../media/image92.png"/><Relationship Id="rId17" Type="http://schemas.openxmlformats.org/officeDocument/2006/relationships/image" Target="../media/image98.png"/><Relationship Id="rId2" Type="http://schemas.openxmlformats.org/officeDocument/2006/relationships/tags" Target="../tags/tag32.xml"/><Relationship Id="rId16" Type="http://schemas.openxmlformats.org/officeDocument/2006/relationships/image" Target="../media/image88.png"/><Relationship Id="rId1" Type="http://schemas.openxmlformats.org/officeDocument/2006/relationships/tags" Target="../tags/tag31.xml"/><Relationship Id="rId6" Type="http://schemas.openxmlformats.org/officeDocument/2006/relationships/slideLayout" Target="../slideLayouts/slideLayout7.xml"/><Relationship Id="rId11" Type="http://schemas.openxmlformats.org/officeDocument/2006/relationships/image" Target="../media/image79.png"/><Relationship Id="rId5" Type="http://schemas.openxmlformats.org/officeDocument/2006/relationships/tags" Target="../tags/tag35.xml"/><Relationship Id="rId15" Type="http://schemas.openxmlformats.org/officeDocument/2006/relationships/image" Target="../media/image84.png"/><Relationship Id="rId10" Type="http://schemas.openxmlformats.org/officeDocument/2006/relationships/image" Target="../media/image78.png"/><Relationship Id="rId19" Type="http://schemas.openxmlformats.org/officeDocument/2006/relationships/image" Target="../media/image100.png"/><Relationship Id="rId4" Type="http://schemas.openxmlformats.org/officeDocument/2006/relationships/tags" Target="../tags/tag34.xml"/><Relationship Id="rId9" Type="http://schemas.openxmlformats.org/officeDocument/2006/relationships/image" Target="../media/image91.png"/><Relationship Id="rId14" Type="http://schemas.openxmlformats.org/officeDocument/2006/relationships/image" Target="../media/image94.png"/></Relationships>
</file>

<file path=ppt/slides/_rels/slide27.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notesSlide" Target="../notesSlides/notesSlide11.xml"/><Relationship Id="rId7" Type="http://schemas.openxmlformats.org/officeDocument/2006/relationships/image" Target="../media/image102.png"/><Relationship Id="rId12" Type="http://schemas.openxmlformats.org/officeDocument/2006/relationships/image" Target="../media/image107.png"/><Relationship Id="rId2" Type="http://schemas.openxmlformats.org/officeDocument/2006/relationships/slideLayout" Target="../slideLayouts/slideLayout7.xml"/><Relationship Id="rId1" Type="http://schemas.openxmlformats.org/officeDocument/2006/relationships/tags" Target="../tags/tag36.xml"/><Relationship Id="rId6" Type="http://schemas.openxmlformats.org/officeDocument/2006/relationships/image" Target="../media/image100.png"/><Relationship Id="rId11" Type="http://schemas.openxmlformats.org/officeDocument/2006/relationships/image" Target="../media/image106.png"/><Relationship Id="rId5" Type="http://schemas.openxmlformats.org/officeDocument/2006/relationships/image" Target="../media/image101.png"/><Relationship Id="rId10" Type="http://schemas.openxmlformats.org/officeDocument/2006/relationships/image" Target="../media/image105.png"/><Relationship Id="rId4" Type="http://schemas.openxmlformats.org/officeDocument/2006/relationships/image" Target="../media/image1.png"/><Relationship Id="rId9" Type="http://schemas.openxmlformats.org/officeDocument/2006/relationships/image" Target="../media/image104.png"/></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110.png"/><Relationship Id="rId18" Type="http://schemas.openxmlformats.org/officeDocument/2006/relationships/image" Target="../media/image114.png"/><Relationship Id="rId3" Type="http://schemas.openxmlformats.org/officeDocument/2006/relationships/tags" Target="../tags/tag39.xml"/><Relationship Id="rId7" Type="http://schemas.openxmlformats.org/officeDocument/2006/relationships/tags" Target="../tags/tag43.xml"/><Relationship Id="rId12" Type="http://schemas.openxmlformats.org/officeDocument/2006/relationships/image" Target="../media/image109.png"/><Relationship Id="rId17" Type="http://schemas.openxmlformats.org/officeDocument/2006/relationships/image" Target="../media/image113.png"/><Relationship Id="rId2" Type="http://schemas.openxmlformats.org/officeDocument/2006/relationships/tags" Target="../tags/tag38.xml"/><Relationship Id="rId16" Type="http://schemas.openxmlformats.org/officeDocument/2006/relationships/image" Target="../media/image112.png"/><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image" Target="../media/image108.png"/><Relationship Id="rId5" Type="http://schemas.openxmlformats.org/officeDocument/2006/relationships/tags" Target="../tags/tag41.xml"/><Relationship Id="rId15" Type="http://schemas.openxmlformats.org/officeDocument/2006/relationships/image" Target="../media/image111.png"/><Relationship Id="rId10" Type="http://schemas.openxmlformats.org/officeDocument/2006/relationships/image" Target="../media/image1.png"/><Relationship Id="rId4" Type="http://schemas.openxmlformats.org/officeDocument/2006/relationships/tags" Target="../tags/tag40.xml"/><Relationship Id="rId9" Type="http://schemas.openxmlformats.org/officeDocument/2006/relationships/notesSlide" Target="../notesSlides/notesSlide12.xml"/><Relationship Id="rId14" Type="http://schemas.openxmlformats.org/officeDocument/2006/relationships/image" Target="../media/image85.png"/></Relationships>
</file>

<file path=ppt/slides/_rels/slide29.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slideLayout" Target="../slideLayouts/slideLayout7.xml"/><Relationship Id="rId7" Type="http://schemas.openxmlformats.org/officeDocument/2006/relationships/image" Target="../media/image110.png"/><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115.png"/><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ctrTitle"/>
          </p:nvPr>
        </p:nvSpPr>
        <p:spPr/>
        <p:txBody>
          <a:bodyPr>
            <a:normAutofit/>
          </a:bodyPr>
          <a:lstStyle/>
          <a:p>
            <a:r>
              <a:rPr lang="pt-BR" sz="4000" dirty="0"/>
              <a:t>SERGIO</a:t>
            </a:r>
            <a:r>
              <a:rPr lang="es-CO" sz="4000" dirty="0"/>
              <a:t> ANDRES CASTAÑO GIRALDO</a:t>
            </a:r>
          </a:p>
        </p:txBody>
      </p:sp>
      <p:sp>
        <p:nvSpPr>
          <p:cNvPr id="5" name="Subtítulo 4"/>
          <p:cNvSpPr>
            <a:spLocks noGrp="1"/>
          </p:cNvSpPr>
          <p:nvPr>
            <p:ph type="subTitle" idx="1"/>
          </p:nvPr>
        </p:nvSpPr>
        <p:spPr>
          <a:xfrm>
            <a:off x="2767608" y="3861048"/>
            <a:ext cx="6656784" cy="1752600"/>
          </a:xfrm>
        </p:spPr>
        <p:txBody>
          <a:bodyPr>
            <a:normAutofit/>
          </a:bodyPr>
          <a:lstStyle/>
          <a:p>
            <a:r>
              <a:rPr lang="pt-BR" sz="2400" dirty="0">
                <a:solidFill>
                  <a:schemeClr val="tx1"/>
                </a:solidFill>
              </a:rPr>
              <a:t>http://controlautomaticoeducacion.com/</a:t>
            </a:r>
          </a:p>
        </p:txBody>
      </p:sp>
      <p:sp>
        <p:nvSpPr>
          <p:cNvPr id="8" name="CaixaDeTexto 7"/>
          <p:cNvSpPr txBox="1"/>
          <p:nvPr/>
        </p:nvSpPr>
        <p:spPr>
          <a:xfrm>
            <a:off x="0" y="5723964"/>
            <a:ext cx="12192000" cy="369332"/>
          </a:xfrm>
          <a:prstGeom prst="rect">
            <a:avLst/>
          </a:prstGeom>
          <a:noFill/>
        </p:spPr>
        <p:txBody>
          <a:bodyPr wrap="square" rtlCol="0">
            <a:spAutoFit/>
          </a:bodyPr>
          <a:lstStyle/>
          <a:p>
            <a:r>
              <a:rPr lang="pt-BR" dirty="0"/>
              <a:t>_________________________________________________________________________________________________________</a:t>
            </a:r>
          </a:p>
        </p:txBody>
      </p:sp>
      <p:pic>
        <p:nvPicPr>
          <p:cNvPr id="10" name="Picture 4"/>
          <p:cNvPicPr>
            <a:picLocks noChangeAspect="1" noChangeArrowheads="1"/>
          </p:cNvPicPr>
          <p:nvPr/>
        </p:nvPicPr>
        <p:blipFill>
          <a:blip r:embed="rId3" cstate="print"/>
          <a:srcRect/>
          <a:stretch>
            <a:fillRect/>
          </a:stretch>
        </p:blipFill>
        <p:spPr bwMode="auto">
          <a:xfrm>
            <a:off x="0" y="6913"/>
            <a:ext cx="12192000" cy="138499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1" name="CaixaDeTexto 10"/>
          <p:cNvSpPr txBox="1"/>
          <p:nvPr/>
        </p:nvSpPr>
        <p:spPr>
          <a:xfrm>
            <a:off x="5879977" y="764704"/>
            <a:ext cx="184731" cy="369332"/>
          </a:xfrm>
          <a:prstGeom prst="rect">
            <a:avLst/>
          </a:prstGeom>
          <a:noFill/>
        </p:spPr>
        <p:txBody>
          <a:bodyPr wrap="none" rtlCol="0">
            <a:spAutoFit/>
          </a:bodyPr>
          <a:lstStyle/>
          <a:p>
            <a:endParaRPr lang="pt-BR" dirty="0"/>
          </a:p>
        </p:txBody>
      </p:sp>
      <p:sp>
        <p:nvSpPr>
          <p:cNvPr id="12" name="CaixaDeTexto 11"/>
          <p:cNvSpPr txBox="1"/>
          <p:nvPr/>
        </p:nvSpPr>
        <p:spPr>
          <a:xfrm>
            <a:off x="1759874" y="201143"/>
            <a:ext cx="8424936" cy="707886"/>
          </a:xfrm>
          <a:prstGeom prst="rect">
            <a:avLst/>
          </a:prstGeom>
          <a:noFill/>
        </p:spPr>
        <p:txBody>
          <a:bodyPr wrap="square" rtlCol="0">
            <a:spAutoFit/>
          </a:bodyPr>
          <a:lstStyle/>
          <a:p>
            <a:pPr algn="ctr"/>
            <a:r>
              <a:rPr lang="pt-BR" sz="4000" b="1" dirty="0">
                <a:solidFill>
                  <a:schemeClr val="bg1"/>
                </a:solidFill>
              </a:rPr>
              <a:t>RETARDO</a:t>
            </a:r>
            <a:endParaRPr lang="pt-BR" sz="5400" b="1" i="1" dirty="0">
              <a:solidFill>
                <a:schemeClr val="bg1"/>
              </a:solidFill>
            </a:endParaRPr>
          </a:p>
        </p:txBody>
      </p:sp>
    </p:spTree>
    <p:extLst>
      <p:ext uri="{BB962C8B-B14F-4D97-AF65-F5344CB8AC3E}">
        <p14:creationId xmlns:p14="http://schemas.microsoft.com/office/powerpoint/2010/main" val="11137844"/>
      </p:ext>
    </p:extLst>
  </p:cSld>
  <p:clrMapOvr>
    <a:masterClrMapping/>
  </p:clrMapOvr>
  <p:transition spd="med">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noChangeArrowheads="1"/>
          </p:cNvPicPr>
          <p:nvPr/>
        </p:nvPicPr>
        <p:blipFill>
          <a:blip r:embed="rId5" cstate="print"/>
          <a:srcRect/>
          <a:stretch>
            <a:fillRect/>
          </a:stretch>
        </p:blipFill>
        <p:spPr bwMode="auto">
          <a:xfrm>
            <a:off x="0" y="-28249"/>
            <a:ext cx="12192000" cy="1071546"/>
          </a:xfrm>
          <a:prstGeom prst="rect">
            <a:avLst/>
          </a:prstGeom>
          <a:noFill/>
          <a:ln w="9525">
            <a:noFill/>
            <a:miter lim="800000"/>
            <a:headEnd/>
            <a:tailEnd/>
          </a:ln>
          <a:effectLst/>
        </p:spPr>
      </p:pic>
      <p:sp>
        <p:nvSpPr>
          <p:cNvPr id="6" name="CaixaDeTexto 5"/>
          <p:cNvSpPr txBox="1"/>
          <p:nvPr/>
        </p:nvSpPr>
        <p:spPr>
          <a:xfrm>
            <a:off x="1631504" y="165120"/>
            <a:ext cx="8928992" cy="1985159"/>
          </a:xfrm>
          <a:prstGeom prst="rect">
            <a:avLst/>
          </a:prstGeom>
          <a:noFill/>
        </p:spPr>
        <p:txBody>
          <a:bodyPr wrap="square" rtlCol="0">
            <a:spAutoFit/>
          </a:bodyPr>
          <a:lstStyle/>
          <a:p>
            <a:pPr algn="ctr"/>
            <a:r>
              <a:rPr lang="pt-BR" sz="3600" b="1" dirty="0">
                <a:solidFill>
                  <a:schemeClr val="bg1"/>
                </a:solidFill>
              </a:rPr>
              <a:t>RETARDOS</a:t>
            </a:r>
            <a:endParaRPr lang="pt-BR" sz="4800" b="1" i="1" dirty="0">
              <a:solidFill>
                <a:schemeClr val="bg1"/>
              </a:solidFill>
            </a:endParaRPr>
          </a:p>
          <a:p>
            <a:pPr algn="ctr"/>
            <a:endParaRPr lang="pt-BR" sz="36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p:sp>
        <p:nvSpPr>
          <p:cNvPr id="8" name="Espaço Reservado para Conteúdo 7"/>
          <p:cNvSpPr>
            <a:spLocks noGrp="1"/>
          </p:cNvSpPr>
          <p:nvPr>
            <p:ph idx="1"/>
          </p:nvPr>
        </p:nvSpPr>
        <p:spPr>
          <a:xfrm>
            <a:off x="1981200" y="1174098"/>
            <a:ext cx="8229600" cy="4952066"/>
          </a:xfrm>
        </p:spPr>
        <p:txBody>
          <a:bodyPr/>
          <a:lstStyle/>
          <a:p>
            <a:r>
              <a:rPr lang="pt-BR" dirty="0"/>
              <a:t>La </a:t>
            </a:r>
            <a:r>
              <a:rPr lang="pt-BR" dirty="0" err="1"/>
              <a:t>mayoria</a:t>
            </a:r>
            <a:r>
              <a:rPr lang="pt-BR" dirty="0"/>
              <a:t> de </a:t>
            </a:r>
            <a:r>
              <a:rPr lang="pt-BR" dirty="0" err="1"/>
              <a:t>los</a:t>
            </a:r>
            <a:r>
              <a:rPr lang="pt-BR" dirty="0"/>
              <a:t> </a:t>
            </a:r>
            <a:r>
              <a:rPr lang="pt-BR" dirty="0" err="1"/>
              <a:t>proceso</a:t>
            </a:r>
            <a:r>
              <a:rPr lang="es-CO" dirty="0"/>
              <a:t>s industriales presentan atrasos en sus dinámicas.</a:t>
            </a:r>
          </a:p>
          <a:p>
            <a:r>
              <a:rPr lang="es-CO" b="1" dirty="0"/>
              <a:t>Retardos de TRANSPORTE</a:t>
            </a:r>
            <a:endParaRPr lang="pt-BR" b="1" dirty="0"/>
          </a:p>
        </p:txBody>
      </p:sp>
      <p:pic>
        <p:nvPicPr>
          <p:cNvPr id="3" name="AtrasoChuva">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927649" y="2872589"/>
            <a:ext cx="6016667" cy="3384376"/>
          </a:xfrm>
          <a:prstGeom prst="rect">
            <a:avLst/>
          </a:prstGeom>
          <a:ln w="107950" cap="rnd">
            <a:solidFill>
              <a:srgbClr val="C8C6BD"/>
            </a:solidFill>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171450" prst="hardEdge"/>
            <a:extrusionClr>
              <a:srgbClr val="FFFFFF"/>
            </a:extrusionClr>
          </a:sp3d>
        </p:spPr>
      </p:pic>
      <p:sp>
        <p:nvSpPr>
          <p:cNvPr id="2" name="Espaço Reservado para Rodapé 1"/>
          <p:cNvSpPr>
            <a:spLocks noGrp="1"/>
          </p:cNvSpPr>
          <p:nvPr>
            <p:ph type="ftr" sz="quarter" idx="11"/>
          </p:nvPr>
        </p:nvSpPr>
        <p:spPr/>
        <p:txBody>
          <a:bodyPr/>
          <a:lstStyle/>
          <a:p>
            <a:r>
              <a:rPr lang="en-US"/>
              <a:t>http://controlautomaticoeducacion.com/</a:t>
            </a:r>
          </a:p>
        </p:txBody>
      </p:sp>
      <p:sp>
        <p:nvSpPr>
          <p:cNvPr id="4" name="Espaço Reservado para Número de Slide 3"/>
          <p:cNvSpPr>
            <a:spLocks noGrp="1"/>
          </p:cNvSpPr>
          <p:nvPr>
            <p:ph type="sldNum" sz="quarter" idx="12"/>
          </p:nvPr>
        </p:nvSpPr>
        <p:spPr/>
        <p:txBody>
          <a:bodyPr/>
          <a:lstStyle/>
          <a:p>
            <a:fld id="{FA1C692C-4F2D-45F6-A9A8-8A3A8FE27806}" type="slidenum">
              <a:rPr lang="en-US" sz="2000" smtClean="0"/>
              <a:pPr/>
              <a:t>2</a:t>
            </a:fld>
            <a:endParaRPr lang="en-US" sz="2000" dirty="0"/>
          </a:p>
        </p:txBody>
      </p:sp>
      <p:pic>
        <p:nvPicPr>
          <p:cNvPr id="9" name="Picture 2" descr="http://www.vlc.com.br/imagens/equipamentos/planta-destilacao-g.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2967" y="1515110"/>
            <a:ext cx="4870480" cy="352839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https://fenomenosdetransporte2unisul.files.wordpress.com/2013/06/heat_exchanger_3.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9348" y="2735181"/>
            <a:ext cx="4593201" cy="3456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49368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580">
                                          <p:stCondLst>
                                            <p:cond delay="0"/>
                                          </p:stCondLst>
                                        </p:cTn>
                                        <p:tgtEl>
                                          <p:spTgt spid="10"/>
                                        </p:tgtEl>
                                      </p:cBhvr>
                                    </p:animEffect>
                                    <p:anim calcmode="lin" valueType="num">
                                      <p:cBhvr>
                                        <p:cTn id="16"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21" dur="26">
                                          <p:stCondLst>
                                            <p:cond delay="650"/>
                                          </p:stCondLst>
                                        </p:cTn>
                                        <p:tgtEl>
                                          <p:spTgt spid="10"/>
                                        </p:tgtEl>
                                      </p:cBhvr>
                                      <p:to x="100000" y="60000"/>
                                    </p:animScale>
                                    <p:animScale>
                                      <p:cBhvr>
                                        <p:cTn id="22" dur="166" decel="50000">
                                          <p:stCondLst>
                                            <p:cond delay="676"/>
                                          </p:stCondLst>
                                        </p:cTn>
                                        <p:tgtEl>
                                          <p:spTgt spid="10"/>
                                        </p:tgtEl>
                                      </p:cBhvr>
                                      <p:to x="100000" y="100000"/>
                                    </p:animScale>
                                    <p:animScale>
                                      <p:cBhvr>
                                        <p:cTn id="23" dur="26">
                                          <p:stCondLst>
                                            <p:cond delay="1312"/>
                                          </p:stCondLst>
                                        </p:cTn>
                                        <p:tgtEl>
                                          <p:spTgt spid="10"/>
                                        </p:tgtEl>
                                      </p:cBhvr>
                                      <p:to x="100000" y="80000"/>
                                    </p:animScale>
                                    <p:animScale>
                                      <p:cBhvr>
                                        <p:cTn id="24" dur="166" decel="50000">
                                          <p:stCondLst>
                                            <p:cond delay="1338"/>
                                          </p:stCondLst>
                                        </p:cTn>
                                        <p:tgtEl>
                                          <p:spTgt spid="10"/>
                                        </p:tgtEl>
                                      </p:cBhvr>
                                      <p:to x="100000" y="100000"/>
                                    </p:animScale>
                                    <p:animScale>
                                      <p:cBhvr>
                                        <p:cTn id="25" dur="26">
                                          <p:stCondLst>
                                            <p:cond delay="1642"/>
                                          </p:stCondLst>
                                        </p:cTn>
                                        <p:tgtEl>
                                          <p:spTgt spid="10"/>
                                        </p:tgtEl>
                                      </p:cBhvr>
                                      <p:to x="100000" y="90000"/>
                                    </p:animScale>
                                    <p:animScale>
                                      <p:cBhvr>
                                        <p:cTn id="26" dur="166" decel="50000">
                                          <p:stCondLst>
                                            <p:cond delay="1668"/>
                                          </p:stCondLst>
                                        </p:cTn>
                                        <p:tgtEl>
                                          <p:spTgt spid="10"/>
                                        </p:tgtEl>
                                      </p:cBhvr>
                                      <p:to x="100000" y="100000"/>
                                    </p:animScale>
                                    <p:animScale>
                                      <p:cBhvr>
                                        <p:cTn id="27" dur="26">
                                          <p:stCondLst>
                                            <p:cond delay="1808"/>
                                          </p:stCondLst>
                                        </p:cTn>
                                        <p:tgtEl>
                                          <p:spTgt spid="10"/>
                                        </p:tgtEl>
                                      </p:cBhvr>
                                      <p:to x="100000" y="95000"/>
                                    </p:animScale>
                                    <p:animScale>
                                      <p:cBhvr>
                                        <p:cTn id="28" dur="166" decel="50000">
                                          <p:stCondLst>
                                            <p:cond delay="1834"/>
                                          </p:stCondLst>
                                        </p:cTn>
                                        <p:tgtEl>
                                          <p:spTgt spid="10"/>
                                        </p:tgtEl>
                                      </p:cBhvr>
                                      <p:to x="100000" y="100000"/>
                                    </p:animScale>
                                  </p:childTnLst>
                                </p:cTn>
                              </p:par>
                            </p:childTnLst>
                          </p:cTn>
                        </p:par>
                      </p:childTnLst>
                    </p:cTn>
                  </p:par>
                  <p:par>
                    <p:cTn id="29" fill="hold">
                      <p:stCondLst>
                        <p:cond delay="indefinite"/>
                      </p:stCondLst>
                      <p:childTnLst>
                        <p:par>
                          <p:cTn id="30" fill="hold">
                            <p:stCondLst>
                              <p:cond delay="0"/>
                            </p:stCondLst>
                            <p:childTnLst>
                              <p:par>
                                <p:cTn id="31" presetID="22" presetClass="exit" presetSubtype="4" fill="hold" nodeType="clickEffect">
                                  <p:stCondLst>
                                    <p:cond delay="0"/>
                                  </p:stCondLst>
                                  <p:childTnLst>
                                    <p:animEffect transition="out" filter="wipe(down)">
                                      <p:cBhvr>
                                        <p:cTn id="32" dur="500"/>
                                        <p:tgtEl>
                                          <p:spTgt spid="9"/>
                                        </p:tgtEl>
                                      </p:cBhvr>
                                    </p:animEffect>
                                    <p:set>
                                      <p:cBhvr>
                                        <p:cTn id="33" dur="1" fill="hold">
                                          <p:stCondLst>
                                            <p:cond delay="499"/>
                                          </p:stCondLst>
                                        </p:cTn>
                                        <p:tgtEl>
                                          <p:spTgt spid="9"/>
                                        </p:tgtEl>
                                        <p:attrNameLst>
                                          <p:attrName>style.visibility</p:attrName>
                                        </p:attrNameLst>
                                      </p:cBhvr>
                                      <p:to>
                                        <p:strVal val="hidden"/>
                                      </p:to>
                                    </p:set>
                                  </p:childTnLst>
                                </p:cTn>
                              </p:par>
                              <p:par>
                                <p:cTn id="34" presetID="22" presetClass="exit" presetSubtype="4" fill="hold" nodeType="withEffect">
                                  <p:stCondLst>
                                    <p:cond delay="0"/>
                                  </p:stCondLst>
                                  <p:childTnLst>
                                    <p:animEffect transition="out" filter="wipe(down)">
                                      <p:cBhvr>
                                        <p:cTn id="35" dur="500"/>
                                        <p:tgtEl>
                                          <p:spTgt spid="10"/>
                                        </p:tgtEl>
                                      </p:cBhvr>
                                    </p:animEffect>
                                    <p:set>
                                      <p:cBhvr>
                                        <p:cTn id="36" dur="1" fill="hold">
                                          <p:stCondLst>
                                            <p:cond delay="499"/>
                                          </p:stCondLst>
                                        </p:cTn>
                                        <p:tgtEl>
                                          <p:spTgt spid="10"/>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mediacall" presetSubtype="0" fill="hold" nodeType="clickEffect">
                                  <p:stCondLst>
                                    <p:cond delay="0"/>
                                  </p:stCondLst>
                                  <p:childTnLst>
                                    <p:cmd type="call" cmd="playFrom(0.0)">
                                      <p:cBhvr>
                                        <p:cTn id="40" dur="101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41" repeatCount="indefinite" fill="hold" display="0">
                  <p:stCondLst>
                    <p:cond delay="indefinite"/>
                  </p:stCondLst>
                </p:cTn>
                <p:tgtEl>
                  <p:spTgt spid="3"/>
                </p:tgtEl>
              </p:cMediaNode>
            </p:video>
            <p:seq concurrent="1" nextAc="seek">
              <p:cTn id="42" restart="whenNotActive" fill="hold" evtFilter="cancelBubble" nodeType="interactiveSeq">
                <p:stCondLst>
                  <p:cond evt="onClick" delay="0">
                    <p:tgtEl>
                      <p:spTgt spid="3"/>
                    </p:tgtEl>
                  </p:cond>
                </p:stCondLst>
                <p:endSync evt="end" delay="0">
                  <p:rtn val="all"/>
                </p:endSync>
                <p:childTnLst>
                  <p:par>
                    <p:cTn id="43" fill="hold">
                      <p:stCondLst>
                        <p:cond delay="0"/>
                      </p:stCondLst>
                      <p:childTnLst>
                        <p:par>
                          <p:cTn id="44" fill="hold">
                            <p:stCondLst>
                              <p:cond delay="0"/>
                            </p:stCondLst>
                            <p:childTnLst>
                              <p:par>
                                <p:cTn id="45" presetID="2" presetClass="mediacall" presetSubtype="0" fill="hold" nodeType="clickEffect">
                                  <p:stCondLst>
                                    <p:cond delay="0"/>
                                  </p:stCondLst>
                                  <p:childTnLst>
                                    <p:cmd type="call" cmd="togglePause">
                                      <p:cBhvr>
                                        <p:cTn id="46"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6EAF1E11-EA36-4C31-BDED-1DE515A4B424}"/>
              </a:ext>
            </a:extLst>
          </p:cNvPr>
          <p:cNvSpPr>
            <a:spLocks noGrp="1"/>
          </p:cNvSpPr>
          <p:nvPr>
            <p:ph type="ftr" sz="quarter" idx="11"/>
          </p:nvPr>
        </p:nvSpPr>
        <p:spPr/>
        <p:txBody>
          <a:bodyPr/>
          <a:lstStyle/>
          <a:p>
            <a:r>
              <a:rPr lang="en-US"/>
              <a:t>http://controlautomaticoeducacion.com/</a:t>
            </a:r>
          </a:p>
        </p:txBody>
      </p:sp>
      <p:sp>
        <p:nvSpPr>
          <p:cNvPr id="5" name="Marcador de número de diapositiva 4">
            <a:extLst>
              <a:ext uri="{FF2B5EF4-FFF2-40B4-BE49-F238E27FC236}">
                <a16:creationId xmlns:a16="http://schemas.microsoft.com/office/drawing/2014/main" id="{8DE30178-013A-48C2-A059-A9ED84167B49}"/>
              </a:ext>
            </a:extLst>
          </p:cNvPr>
          <p:cNvSpPr>
            <a:spLocks noGrp="1"/>
          </p:cNvSpPr>
          <p:nvPr>
            <p:ph type="sldNum" sz="quarter" idx="12"/>
          </p:nvPr>
        </p:nvSpPr>
        <p:spPr/>
        <p:txBody>
          <a:bodyPr/>
          <a:lstStyle/>
          <a:p>
            <a:fld id="{FA1C692C-4F2D-45F6-A9A8-8A3A8FE27806}" type="slidenum">
              <a:rPr lang="en-US" smtClean="0"/>
              <a:pPr/>
              <a:t>3</a:t>
            </a:fld>
            <a:endParaRPr lang="en-US"/>
          </a:p>
        </p:txBody>
      </p:sp>
      <p:sp>
        <p:nvSpPr>
          <p:cNvPr id="7" name="Espaço Reservado para Rodapé 1">
            <a:extLst>
              <a:ext uri="{FF2B5EF4-FFF2-40B4-BE49-F238E27FC236}">
                <a16:creationId xmlns:a16="http://schemas.microsoft.com/office/drawing/2014/main" id="{454B5FED-8717-4BC2-AE9D-266F7076B8AA}"/>
              </a:ext>
            </a:extLst>
          </p:cNvPr>
          <p:cNvSpPr txBox="1">
            <a:spLocks/>
          </p:cNvSpPr>
          <p:nvPr/>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UFRJ</a:t>
            </a:r>
            <a:endParaRPr lang="en-US" dirty="0"/>
          </a:p>
        </p:txBody>
      </p:sp>
      <p:sp>
        <p:nvSpPr>
          <p:cNvPr id="8" name="Espaço Reservado para Número de Slide 3">
            <a:extLst>
              <a:ext uri="{FF2B5EF4-FFF2-40B4-BE49-F238E27FC236}">
                <a16:creationId xmlns:a16="http://schemas.microsoft.com/office/drawing/2014/main" id="{2B39E7CA-DD69-4759-8239-4A9E53AD466F}"/>
              </a:ext>
            </a:extLst>
          </p:cNvPr>
          <p:cNvSpPr txBox="1">
            <a:spLocks/>
          </p:cNvSpPr>
          <p:nvPr/>
        </p:nvSpPr>
        <p:spPr>
          <a:xfrm>
            <a:off x="8737600" y="6356351"/>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1C692C-4F2D-45F6-A9A8-8A3A8FE27806}" type="slidenum">
              <a:rPr lang="en-US" sz="2000" smtClean="0"/>
              <a:pPr/>
              <a:t>3</a:t>
            </a:fld>
            <a:endParaRPr lang="en-US" sz="2000" dirty="0"/>
          </a:p>
        </p:txBody>
      </p:sp>
      <p:pic>
        <p:nvPicPr>
          <p:cNvPr id="9" name="Imagem 2">
            <a:extLst>
              <a:ext uri="{FF2B5EF4-FFF2-40B4-BE49-F238E27FC236}">
                <a16:creationId xmlns:a16="http://schemas.microsoft.com/office/drawing/2014/main" id="{7205D3D7-DB84-4A25-98D7-4EABF1520D9A}"/>
              </a:ext>
            </a:extLst>
          </p:cNvPr>
          <p:cNvPicPr>
            <a:picLocks noChangeAspect="1"/>
          </p:cNvPicPr>
          <p:nvPr/>
        </p:nvPicPr>
        <p:blipFill>
          <a:blip r:embed="rId2"/>
          <a:stretch>
            <a:fillRect/>
          </a:stretch>
        </p:blipFill>
        <p:spPr>
          <a:xfrm>
            <a:off x="5934075" y="1641366"/>
            <a:ext cx="6257925" cy="5076825"/>
          </a:xfrm>
          <a:prstGeom prst="rect">
            <a:avLst/>
          </a:prstGeom>
        </p:spPr>
      </p:pic>
      <p:pic>
        <p:nvPicPr>
          <p:cNvPr id="10" name="Imagem 8">
            <a:extLst>
              <a:ext uri="{FF2B5EF4-FFF2-40B4-BE49-F238E27FC236}">
                <a16:creationId xmlns:a16="http://schemas.microsoft.com/office/drawing/2014/main" id="{8081D79D-5EAF-4246-8D3D-FD593E425284}"/>
              </a:ext>
            </a:extLst>
          </p:cNvPr>
          <p:cNvPicPr>
            <a:picLocks noChangeAspect="1"/>
          </p:cNvPicPr>
          <p:nvPr/>
        </p:nvPicPr>
        <p:blipFill>
          <a:blip r:embed="rId3"/>
          <a:stretch>
            <a:fillRect/>
          </a:stretch>
        </p:blipFill>
        <p:spPr>
          <a:xfrm>
            <a:off x="335360" y="1967584"/>
            <a:ext cx="4352925" cy="4714875"/>
          </a:xfrm>
          <a:prstGeom prst="rect">
            <a:avLst/>
          </a:prstGeom>
        </p:spPr>
      </p:pic>
      <mc:AlternateContent xmlns:mc="http://schemas.openxmlformats.org/markup-compatibility/2006" xmlns:a14="http://schemas.microsoft.com/office/drawing/2010/main">
        <mc:Choice Requires="a14">
          <p:sp>
            <p:nvSpPr>
              <p:cNvPr id="11" name="CaixaDeTexto 9">
                <a:extLst>
                  <a:ext uri="{FF2B5EF4-FFF2-40B4-BE49-F238E27FC236}">
                    <a16:creationId xmlns:a16="http://schemas.microsoft.com/office/drawing/2014/main" id="{E65D8EBD-A5C1-4DB3-AE46-7553D7557E3E}"/>
                  </a:ext>
                </a:extLst>
              </p:cNvPr>
              <p:cNvSpPr txBox="1"/>
              <p:nvPr/>
            </p:nvSpPr>
            <p:spPr>
              <a:xfrm>
                <a:off x="173141" y="1817078"/>
                <a:ext cx="1808059" cy="6754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O" i="1" smtClean="0">
                              <a:latin typeface="Cambria Math" panose="02040503050406030204" pitchFamily="18" charset="0"/>
                            </a:rPr>
                          </m:ctrlPr>
                        </m:sSupPr>
                        <m:e>
                          <m:r>
                            <a:rPr lang="pt-BR" b="0" i="1" smtClean="0">
                              <a:latin typeface="Cambria Math" panose="02040503050406030204" pitchFamily="18" charset="0"/>
                            </a:rPr>
                            <m:t>𝐺</m:t>
                          </m:r>
                          <m:d>
                            <m:dPr>
                              <m:ctrlPr>
                                <a:rPr lang="pt-BR" b="0" i="1" smtClean="0">
                                  <a:latin typeface="Cambria Math" panose="02040503050406030204" pitchFamily="18" charset="0"/>
                                </a:rPr>
                              </m:ctrlPr>
                            </m:dPr>
                            <m:e>
                              <m:r>
                                <a:rPr lang="pt-BR" b="0" i="1" smtClean="0">
                                  <a:latin typeface="Cambria Math" panose="02040503050406030204" pitchFamily="18" charset="0"/>
                                </a:rPr>
                                <m:t>𝑠</m:t>
                              </m:r>
                            </m:e>
                          </m:d>
                          <m:r>
                            <a:rPr lang="pt-BR" b="0" i="1" smtClean="0">
                              <a:latin typeface="Cambria Math" panose="02040503050406030204" pitchFamily="18" charset="0"/>
                            </a:rPr>
                            <m:t>=</m:t>
                          </m:r>
                          <m:d>
                            <m:dPr>
                              <m:ctrlPr>
                                <a:rPr lang="es-CO" i="1" smtClean="0">
                                  <a:latin typeface="Cambria Math" panose="02040503050406030204" pitchFamily="18" charset="0"/>
                                </a:rPr>
                              </m:ctrlPr>
                            </m:dPr>
                            <m:e>
                              <m:f>
                                <m:fPr>
                                  <m:ctrlPr>
                                    <a:rPr lang="es-CO" i="1" smtClean="0">
                                      <a:latin typeface="Cambria Math" panose="02040503050406030204" pitchFamily="18" charset="0"/>
                                    </a:rPr>
                                  </m:ctrlPr>
                                </m:fPr>
                                <m:num>
                                  <m:r>
                                    <a:rPr lang="pt-BR" b="0" i="1" smtClean="0">
                                      <a:latin typeface="Cambria Math" panose="02040503050406030204" pitchFamily="18" charset="0"/>
                                    </a:rPr>
                                    <m:t>1</m:t>
                                  </m:r>
                                </m:num>
                                <m:den>
                                  <m:r>
                                    <a:rPr lang="es-CO" i="1" smtClean="0">
                                      <a:latin typeface="Cambria Math" panose="02040503050406030204" pitchFamily="18" charset="0"/>
                                      <a:ea typeface="Cambria Math" panose="02040503050406030204" pitchFamily="18" charset="0"/>
                                    </a:rPr>
                                    <m:t>𝜏</m:t>
                                  </m:r>
                                  <m:r>
                                    <a:rPr lang="pt-BR" b="0" i="1" smtClean="0">
                                      <a:latin typeface="Cambria Math" panose="02040503050406030204" pitchFamily="18" charset="0"/>
                                      <a:ea typeface="Cambria Math" panose="02040503050406030204" pitchFamily="18" charset="0"/>
                                    </a:rPr>
                                    <m:t>𝑠</m:t>
                                  </m:r>
                                  <m:r>
                                    <a:rPr lang="pt-BR" b="0" i="1" smtClean="0">
                                      <a:latin typeface="Cambria Math" panose="02040503050406030204" pitchFamily="18" charset="0"/>
                                      <a:ea typeface="Cambria Math" panose="02040503050406030204" pitchFamily="18" charset="0"/>
                                    </a:rPr>
                                    <m:t>+1</m:t>
                                  </m:r>
                                </m:den>
                              </m:f>
                            </m:e>
                          </m:d>
                        </m:e>
                        <m:sup>
                          <m:r>
                            <a:rPr lang="pt-BR" b="0" i="1" smtClean="0">
                              <a:latin typeface="Cambria Math" panose="02040503050406030204" pitchFamily="18" charset="0"/>
                            </a:rPr>
                            <m:t>𝑛</m:t>
                          </m:r>
                        </m:sup>
                      </m:sSup>
                    </m:oMath>
                  </m:oMathPara>
                </a14:m>
                <a:endParaRPr lang="es-CO" dirty="0"/>
              </a:p>
            </p:txBody>
          </p:sp>
        </mc:Choice>
        <mc:Fallback xmlns="">
          <p:sp>
            <p:nvSpPr>
              <p:cNvPr id="11" name="CaixaDeTexto 9">
                <a:extLst>
                  <a:ext uri="{FF2B5EF4-FFF2-40B4-BE49-F238E27FC236}">
                    <a16:creationId xmlns:a16="http://schemas.microsoft.com/office/drawing/2014/main" id="{E65D8EBD-A5C1-4DB3-AE46-7553D7557E3E}"/>
                  </a:ext>
                </a:extLst>
              </p:cNvPr>
              <p:cNvSpPr txBox="1">
                <a:spLocks noRot="1" noChangeAspect="1" noMove="1" noResize="1" noEditPoints="1" noAdjustHandles="1" noChangeArrowheads="1" noChangeShapeType="1" noTextEdit="1"/>
              </p:cNvSpPr>
              <p:nvPr/>
            </p:nvSpPr>
            <p:spPr>
              <a:xfrm>
                <a:off x="173141" y="1817078"/>
                <a:ext cx="1808059" cy="675441"/>
              </a:xfrm>
              <a:prstGeom prst="rect">
                <a:avLst/>
              </a:prstGeom>
              <a:blipFill>
                <a:blip r:embed="rId4"/>
                <a:stretch>
                  <a:fillRect/>
                </a:stretch>
              </a:blipFill>
            </p:spPr>
            <p:txBody>
              <a:bodyPr/>
              <a:lstStyle/>
              <a:p>
                <a:r>
                  <a:rPr lang="es-419">
                    <a:noFill/>
                  </a:rPr>
                  <a:t> </a:t>
                </a:r>
              </a:p>
            </p:txBody>
          </p:sp>
        </mc:Fallback>
      </mc:AlternateContent>
      <p:sp>
        <p:nvSpPr>
          <p:cNvPr id="12" name="Chave esquerda 10">
            <a:extLst>
              <a:ext uri="{FF2B5EF4-FFF2-40B4-BE49-F238E27FC236}">
                <a16:creationId xmlns:a16="http://schemas.microsoft.com/office/drawing/2014/main" id="{6B828CE1-2C80-411A-85DF-1F6636DFF03E}"/>
              </a:ext>
            </a:extLst>
          </p:cNvPr>
          <p:cNvSpPr/>
          <p:nvPr/>
        </p:nvSpPr>
        <p:spPr>
          <a:xfrm rot="16200000">
            <a:off x="7687093" y="5559195"/>
            <a:ext cx="396424" cy="1743642"/>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13" name="Chave esquerda 12">
            <a:extLst>
              <a:ext uri="{FF2B5EF4-FFF2-40B4-BE49-F238E27FC236}">
                <a16:creationId xmlns:a16="http://schemas.microsoft.com/office/drawing/2014/main" id="{24BED1E0-CE0C-4916-908A-F8E2A0C4AC49}"/>
              </a:ext>
            </a:extLst>
          </p:cNvPr>
          <p:cNvSpPr/>
          <p:nvPr/>
        </p:nvSpPr>
        <p:spPr>
          <a:xfrm rot="16200000">
            <a:off x="7222368" y="3586480"/>
            <a:ext cx="396424" cy="807224"/>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pic>
        <p:nvPicPr>
          <p:cNvPr id="14" name="Picture 4">
            <a:extLst>
              <a:ext uri="{FF2B5EF4-FFF2-40B4-BE49-F238E27FC236}">
                <a16:creationId xmlns:a16="http://schemas.microsoft.com/office/drawing/2014/main" id="{48845F41-3117-40DA-B95C-BFC28E9D7D2D}"/>
              </a:ext>
            </a:extLst>
          </p:cNvPr>
          <p:cNvPicPr>
            <a:picLocks noChangeAspect="1" noChangeArrowheads="1"/>
          </p:cNvPicPr>
          <p:nvPr/>
        </p:nvPicPr>
        <p:blipFill>
          <a:blip r:embed="rId5" cstate="print"/>
          <a:srcRect/>
          <a:stretch>
            <a:fillRect/>
          </a:stretch>
        </p:blipFill>
        <p:spPr bwMode="auto">
          <a:xfrm>
            <a:off x="0" y="-28249"/>
            <a:ext cx="12192000" cy="1071546"/>
          </a:xfrm>
          <a:prstGeom prst="rect">
            <a:avLst/>
          </a:prstGeom>
          <a:noFill/>
          <a:ln w="9525">
            <a:noFill/>
            <a:miter lim="800000"/>
            <a:headEnd/>
            <a:tailEnd/>
          </a:ln>
          <a:effectLst/>
        </p:spPr>
      </p:pic>
      <p:sp>
        <p:nvSpPr>
          <p:cNvPr id="15" name="CaixaDeTexto 5">
            <a:extLst>
              <a:ext uri="{FF2B5EF4-FFF2-40B4-BE49-F238E27FC236}">
                <a16:creationId xmlns:a16="http://schemas.microsoft.com/office/drawing/2014/main" id="{1C75649F-CB5F-4456-94B4-8532DB04B38C}"/>
              </a:ext>
            </a:extLst>
          </p:cNvPr>
          <p:cNvSpPr txBox="1"/>
          <p:nvPr/>
        </p:nvSpPr>
        <p:spPr>
          <a:xfrm>
            <a:off x="1631504" y="165120"/>
            <a:ext cx="8928992" cy="815608"/>
          </a:xfrm>
          <a:prstGeom prst="rect">
            <a:avLst/>
          </a:prstGeom>
          <a:noFill/>
        </p:spPr>
        <p:txBody>
          <a:bodyPr wrap="square" rtlCol="0">
            <a:spAutoFit/>
          </a:bodyPr>
          <a:lstStyle/>
          <a:p>
            <a:pPr algn="ctr"/>
            <a:r>
              <a:rPr lang="pt-BR" sz="3600" b="1" dirty="0">
                <a:solidFill>
                  <a:schemeClr val="bg1"/>
                </a:solidFill>
              </a:rPr>
              <a:t>RETARDOS APARENTES</a:t>
            </a:r>
            <a:endParaRPr lang="pt-BR" sz="3600" b="1" i="1" dirty="0">
              <a:solidFill>
                <a:schemeClr val="bg1"/>
              </a:solidFill>
            </a:endParaRPr>
          </a:p>
          <a:p>
            <a:pPr algn="r"/>
            <a:endParaRPr lang="pt-BR" sz="1100" b="1" i="1" dirty="0">
              <a:solidFill>
                <a:schemeClr val="bg1"/>
              </a:solidFill>
            </a:endParaRPr>
          </a:p>
        </p:txBody>
      </p:sp>
    </p:spTree>
    <p:extLst>
      <p:ext uri="{BB962C8B-B14F-4D97-AF65-F5344CB8AC3E}">
        <p14:creationId xmlns:p14="http://schemas.microsoft.com/office/powerpoint/2010/main" val="2708603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7E5D6B32-1CF4-43D5-8A22-3931A85E2AB7}"/>
              </a:ext>
            </a:extLst>
          </p:cNvPr>
          <p:cNvSpPr>
            <a:spLocks noGrp="1"/>
          </p:cNvSpPr>
          <p:nvPr>
            <p:ph type="sldNum" sz="quarter" idx="12"/>
          </p:nvPr>
        </p:nvSpPr>
        <p:spPr/>
        <p:txBody>
          <a:bodyPr/>
          <a:lstStyle/>
          <a:p>
            <a:fld id="{FA1C692C-4F2D-45F6-A9A8-8A3A8FE27806}" type="slidenum">
              <a:rPr lang="en-US" smtClean="0"/>
              <a:pPr/>
              <a:t>4</a:t>
            </a:fld>
            <a:endParaRPr lang="en-US"/>
          </a:p>
        </p:txBody>
      </p:sp>
      <p:pic>
        <p:nvPicPr>
          <p:cNvPr id="4" name="Imagem 6">
            <a:extLst>
              <a:ext uri="{FF2B5EF4-FFF2-40B4-BE49-F238E27FC236}">
                <a16:creationId xmlns:a16="http://schemas.microsoft.com/office/drawing/2014/main" id="{97ADDF2D-0352-4509-BE39-CBDC8C3FA0BD}"/>
              </a:ext>
            </a:extLst>
          </p:cNvPr>
          <p:cNvPicPr>
            <a:picLocks noChangeAspect="1"/>
          </p:cNvPicPr>
          <p:nvPr/>
        </p:nvPicPr>
        <p:blipFill>
          <a:blip r:embed="rId2"/>
          <a:stretch>
            <a:fillRect/>
          </a:stretch>
        </p:blipFill>
        <p:spPr>
          <a:xfrm>
            <a:off x="1121991" y="411691"/>
            <a:ext cx="5256584" cy="1730629"/>
          </a:xfrm>
          <a:prstGeom prst="rect">
            <a:avLst/>
          </a:prstGeom>
        </p:spPr>
      </p:pic>
      <p:pic>
        <p:nvPicPr>
          <p:cNvPr id="5" name="Imagem 2">
            <a:extLst>
              <a:ext uri="{FF2B5EF4-FFF2-40B4-BE49-F238E27FC236}">
                <a16:creationId xmlns:a16="http://schemas.microsoft.com/office/drawing/2014/main" id="{EF493A2C-FC33-4B4D-8C52-8E4BD3BA0963}"/>
              </a:ext>
            </a:extLst>
          </p:cNvPr>
          <p:cNvPicPr>
            <a:picLocks noChangeAspect="1"/>
          </p:cNvPicPr>
          <p:nvPr/>
        </p:nvPicPr>
        <p:blipFill>
          <a:blip r:embed="rId3"/>
          <a:stretch>
            <a:fillRect/>
          </a:stretch>
        </p:blipFill>
        <p:spPr>
          <a:xfrm>
            <a:off x="6269796" y="3403711"/>
            <a:ext cx="4032448" cy="3271377"/>
          </a:xfrm>
          <a:prstGeom prst="rect">
            <a:avLst/>
          </a:prstGeom>
        </p:spPr>
      </p:pic>
      <p:pic>
        <p:nvPicPr>
          <p:cNvPr id="7" name="Imagem 5">
            <a:extLst>
              <a:ext uri="{FF2B5EF4-FFF2-40B4-BE49-F238E27FC236}">
                <a16:creationId xmlns:a16="http://schemas.microsoft.com/office/drawing/2014/main" id="{52E5AEDE-F498-4205-97DB-D658EA312349}"/>
              </a:ext>
            </a:extLst>
          </p:cNvPr>
          <p:cNvPicPr>
            <a:picLocks noChangeAspect="1"/>
          </p:cNvPicPr>
          <p:nvPr/>
        </p:nvPicPr>
        <p:blipFill>
          <a:blip r:embed="rId4"/>
          <a:stretch>
            <a:fillRect/>
          </a:stretch>
        </p:blipFill>
        <p:spPr>
          <a:xfrm>
            <a:off x="1927191" y="3789040"/>
            <a:ext cx="4162086" cy="2567311"/>
          </a:xfrm>
          <a:prstGeom prst="rect">
            <a:avLst/>
          </a:prstGeom>
        </p:spPr>
      </p:pic>
      <p:pic>
        <p:nvPicPr>
          <p:cNvPr id="9" name="Imagen 8">
            <a:extLst>
              <a:ext uri="{FF2B5EF4-FFF2-40B4-BE49-F238E27FC236}">
                <a16:creationId xmlns:a16="http://schemas.microsoft.com/office/drawing/2014/main" id="{4C7AC64C-B6F0-4967-9D6C-981CB1EF61F0}"/>
              </a:ext>
            </a:extLst>
          </p:cNvPr>
          <p:cNvPicPr>
            <a:picLocks noChangeAspect="1"/>
          </p:cNvPicPr>
          <p:nvPr/>
        </p:nvPicPr>
        <p:blipFill>
          <a:blip r:embed="rId5"/>
          <a:stretch>
            <a:fillRect/>
          </a:stretch>
        </p:blipFill>
        <p:spPr>
          <a:xfrm>
            <a:off x="6269796" y="13923"/>
            <a:ext cx="3781425" cy="2857500"/>
          </a:xfrm>
          <a:prstGeom prst="rect">
            <a:avLst/>
          </a:prstGeom>
        </p:spPr>
      </p:pic>
      <p:sp>
        <p:nvSpPr>
          <p:cNvPr id="2" name="Marcador de pie de página 1">
            <a:extLst>
              <a:ext uri="{FF2B5EF4-FFF2-40B4-BE49-F238E27FC236}">
                <a16:creationId xmlns:a16="http://schemas.microsoft.com/office/drawing/2014/main" id="{3E587A79-D8CD-4C95-B3E0-3B085F861D99}"/>
              </a:ext>
            </a:extLst>
          </p:cNvPr>
          <p:cNvSpPr>
            <a:spLocks noGrp="1"/>
          </p:cNvSpPr>
          <p:nvPr>
            <p:ph type="ftr" sz="quarter" idx="11"/>
          </p:nvPr>
        </p:nvSpPr>
        <p:spPr>
          <a:xfrm rot="21202735">
            <a:off x="45390" y="360300"/>
            <a:ext cx="11753628" cy="1833410"/>
          </a:xfrm>
        </p:spPr>
        <p:txBody>
          <a:bodyPr/>
          <a:lstStyle/>
          <a:p>
            <a:r>
              <a:rPr lang="en-US" sz="3200" dirty="0">
                <a:solidFill>
                  <a:schemeClr val="bg1">
                    <a:lumMod val="85000"/>
                  </a:schemeClr>
                </a:solidFill>
              </a:rPr>
              <a:t>http://controlautomaticoeducacion.com/</a:t>
            </a:r>
          </a:p>
        </p:txBody>
      </p:sp>
      <p:sp>
        <p:nvSpPr>
          <p:cNvPr id="11" name="Marcador de pie de página 1">
            <a:extLst>
              <a:ext uri="{FF2B5EF4-FFF2-40B4-BE49-F238E27FC236}">
                <a16:creationId xmlns:a16="http://schemas.microsoft.com/office/drawing/2014/main" id="{23A5A7D4-4E6C-4F57-9F20-3664177B5AF6}"/>
              </a:ext>
            </a:extLst>
          </p:cNvPr>
          <p:cNvSpPr txBox="1">
            <a:spLocks/>
          </p:cNvSpPr>
          <p:nvPr/>
        </p:nvSpPr>
        <p:spPr>
          <a:xfrm rot="691741">
            <a:off x="36509" y="4264738"/>
            <a:ext cx="11753628" cy="183341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dirty="0">
                <a:solidFill>
                  <a:schemeClr val="bg1">
                    <a:lumMod val="85000"/>
                  </a:schemeClr>
                </a:solidFill>
              </a:rPr>
              <a:t>http://controlautomaticoeducacion.com/</a:t>
            </a:r>
          </a:p>
        </p:txBody>
      </p:sp>
      <p:sp>
        <p:nvSpPr>
          <p:cNvPr id="12" name="CuadroTexto 11">
            <a:extLst>
              <a:ext uri="{FF2B5EF4-FFF2-40B4-BE49-F238E27FC236}">
                <a16:creationId xmlns:a16="http://schemas.microsoft.com/office/drawing/2014/main" id="{00064E8D-F233-4EB0-AE2F-788744785011}"/>
              </a:ext>
            </a:extLst>
          </p:cNvPr>
          <p:cNvSpPr txBox="1"/>
          <p:nvPr/>
        </p:nvSpPr>
        <p:spPr>
          <a:xfrm>
            <a:off x="1415480" y="28118"/>
            <a:ext cx="3983719" cy="584775"/>
          </a:xfrm>
          <a:prstGeom prst="rect">
            <a:avLst/>
          </a:prstGeom>
          <a:noFill/>
        </p:spPr>
        <p:txBody>
          <a:bodyPr wrap="none" rtlCol="0">
            <a:spAutoFit/>
          </a:bodyPr>
          <a:lstStyle/>
          <a:p>
            <a:r>
              <a:rPr lang="es-419" sz="3200" b="1" dirty="0">
                <a:solidFill>
                  <a:srgbClr val="FF0000"/>
                </a:solidFill>
              </a:rPr>
              <a:t>Retardo de Transporte</a:t>
            </a:r>
          </a:p>
        </p:txBody>
      </p:sp>
      <p:sp>
        <p:nvSpPr>
          <p:cNvPr id="13" name="CuadroTexto 12">
            <a:extLst>
              <a:ext uri="{FF2B5EF4-FFF2-40B4-BE49-F238E27FC236}">
                <a16:creationId xmlns:a16="http://schemas.microsoft.com/office/drawing/2014/main" id="{ED4FD5EF-3319-41B2-B261-E7BD34CC5B29}"/>
              </a:ext>
            </a:extLst>
          </p:cNvPr>
          <p:cNvSpPr txBox="1"/>
          <p:nvPr/>
        </p:nvSpPr>
        <p:spPr>
          <a:xfrm>
            <a:off x="1415479" y="3068960"/>
            <a:ext cx="3207096" cy="584775"/>
          </a:xfrm>
          <a:prstGeom prst="rect">
            <a:avLst/>
          </a:prstGeom>
          <a:noFill/>
        </p:spPr>
        <p:txBody>
          <a:bodyPr wrap="none" rtlCol="0">
            <a:spAutoFit/>
          </a:bodyPr>
          <a:lstStyle/>
          <a:p>
            <a:r>
              <a:rPr lang="es-419" sz="3200" b="1" dirty="0">
                <a:solidFill>
                  <a:srgbClr val="FF0000"/>
                </a:solidFill>
              </a:rPr>
              <a:t>Retardo Aparente</a:t>
            </a:r>
          </a:p>
        </p:txBody>
      </p:sp>
    </p:spTree>
    <p:extLst>
      <p:ext uri="{BB962C8B-B14F-4D97-AF65-F5344CB8AC3E}">
        <p14:creationId xmlns:p14="http://schemas.microsoft.com/office/powerpoint/2010/main" val="3744488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b="1" dirty="0">
                <a:solidFill>
                  <a:srgbClr val="FF0000"/>
                </a:solidFill>
              </a:rPr>
              <a:t>Transformada de Laplace</a:t>
            </a:r>
            <a:endParaRPr lang="es-CO" dirty="0"/>
          </a:p>
        </p:txBody>
      </p:sp>
      <p:sp>
        <p:nvSpPr>
          <p:cNvPr id="11" name="Retângulo 10"/>
          <p:cNvSpPr/>
          <p:nvPr/>
        </p:nvSpPr>
        <p:spPr>
          <a:xfrm>
            <a:off x="1631504" y="2140163"/>
            <a:ext cx="7551313" cy="369332"/>
          </a:xfrm>
          <a:prstGeom prst="rect">
            <a:avLst/>
          </a:prstGeom>
        </p:spPr>
        <p:txBody>
          <a:bodyPr wrap="square">
            <a:spAutoFit/>
          </a:bodyPr>
          <a:lstStyle/>
          <a:p>
            <a:r>
              <a:rPr lang="es-CO" dirty="0">
                <a:solidFill>
                  <a:srgbClr val="FF0000"/>
                </a:solidFill>
              </a:rPr>
              <a:t>Propiedad de traslación en el tiempo (</a:t>
            </a:r>
            <a:r>
              <a:rPr lang="es-CO" dirty="0" err="1">
                <a:solidFill>
                  <a:srgbClr val="FF0000"/>
                </a:solidFill>
              </a:rPr>
              <a:t>shift</a:t>
            </a:r>
            <a:r>
              <a:rPr lang="es-CO" dirty="0">
                <a:solidFill>
                  <a:srgbClr val="FF0000"/>
                </a:solidFill>
              </a:rPr>
              <a:t>) de la transformada de Laplace</a:t>
            </a:r>
          </a:p>
        </p:txBody>
      </p:sp>
      <p:pic>
        <p:nvPicPr>
          <p:cNvPr id="12" name="Imagem 11"/>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815143" y="3645024"/>
            <a:ext cx="4386667" cy="314286"/>
          </a:xfrm>
          <a:prstGeom prst="rect">
            <a:avLst/>
          </a:prstGeom>
        </p:spPr>
      </p:pic>
      <p:pic>
        <p:nvPicPr>
          <p:cNvPr id="13" name="Imagem 12"/>
          <p:cNvPicPr>
            <a:picLocks noChangeAspect="1"/>
          </p:cNvPicPr>
          <p:nvPr/>
        </p:nvPicPr>
        <p:blipFill>
          <a:blip r:embed="rId4"/>
          <a:stretch>
            <a:fillRect/>
          </a:stretch>
        </p:blipFill>
        <p:spPr>
          <a:xfrm>
            <a:off x="6816079" y="2924944"/>
            <a:ext cx="5009123" cy="3339415"/>
          </a:xfrm>
          <a:prstGeom prst="rect">
            <a:avLst/>
          </a:prstGeom>
        </p:spPr>
      </p:pic>
      <p:sp>
        <p:nvSpPr>
          <p:cNvPr id="14" name="CaixaDeTexto 13"/>
          <p:cNvSpPr txBox="1"/>
          <p:nvPr/>
        </p:nvSpPr>
        <p:spPr>
          <a:xfrm>
            <a:off x="3359696" y="3959310"/>
            <a:ext cx="1088118" cy="369332"/>
          </a:xfrm>
          <a:prstGeom prst="rect">
            <a:avLst/>
          </a:prstGeom>
          <a:noFill/>
        </p:spPr>
        <p:txBody>
          <a:bodyPr wrap="none" rtlCol="0">
            <a:spAutoFit/>
          </a:bodyPr>
          <a:lstStyle/>
          <a:p>
            <a:r>
              <a:rPr lang="es-CO" dirty="0"/>
              <a:t>Heaviside</a:t>
            </a:r>
          </a:p>
        </p:txBody>
      </p:sp>
    </p:spTree>
    <p:extLst>
      <p:ext uri="{BB962C8B-B14F-4D97-AF65-F5344CB8AC3E}">
        <p14:creationId xmlns:p14="http://schemas.microsoft.com/office/powerpoint/2010/main" val="396632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57147F52-93A5-458C-81E5-9CF1A506C914}"/>
              </a:ext>
            </a:extLst>
          </p:cNvPr>
          <p:cNvSpPr>
            <a:spLocks noGrp="1"/>
          </p:cNvSpPr>
          <p:nvPr>
            <p:ph type="ftr" sz="quarter" idx="11"/>
          </p:nvPr>
        </p:nvSpPr>
        <p:spPr/>
        <p:txBody>
          <a:bodyPr/>
          <a:lstStyle/>
          <a:p>
            <a:r>
              <a:rPr lang="en-US"/>
              <a:t>http://controlautomaticoeducacion.com/</a:t>
            </a:r>
          </a:p>
        </p:txBody>
      </p:sp>
      <p:sp>
        <p:nvSpPr>
          <p:cNvPr id="3" name="Marcador de número de diapositiva 2">
            <a:extLst>
              <a:ext uri="{FF2B5EF4-FFF2-40B4-BE49-F238E27FC236}">
                <a16:creationId xmlns:a16="http://schemas.microsoft.com/office/drawing/2014/main" id="{C7FA231B-E224-4208-8BE6-32F00ADC1D57}"/>
              </a:ext>
            </a:extLst>
          </p:cNvPr>
          <p:cNvSpPr>
            <a:spLocks noGrp="1"/>
          </p:cNvSpPr>
          <p:nvPr>
            <p:ph type="sldNum" sz="quarter" idx="12"/>
          </p:nvPr>
        </p:nvSpPr>
        <p:spPr/>
        <p:txBody>
          <a:bodyPr/>
          <a:lstStyle/>
          <a:p>
            <a:fld id="{FA1C692C-4F2D-45F6-A9A8-8A3A8FE27806}" type="slidenum">
              <a:rPr lang="en-US" smtClean="0"/>
              <a:pPr/>
              <a:t>6</a:t>
            </a:fld>
            <a:endParaRPr lang="en-US"/>
          </a:p>
        </p:txBody>
      </p:sp>
      <p:pic>
        <p:nvPicPr>
          <p:cNvPr id="5" name="Imagen 4">
            <a:extLst>
              <a:ext uri="{FF2B5EF4-FFF2-40B4-BE49-F238E27FC236}">
                <a16:creationId xmlns:a16="http://schemas.microsoft.com/office/drawing/2014/main" id="{33286309-0904-49F7-8DC4-B2C7F1479453}"/>
              </a:ext>
            </a:extLst>
          </p:cNvPr>
          <p:cNvPicPr>
            <a:picLocks noChangeAspect="1"/>
          </p:cNvPicPr>
          <p:nvPr/>
        </p:nvPicPr>
        <p:blipFill>
          <a:blip r:embed="rId6"/>
          <a:stretch>
            <a:fillRect/>
          </a:stretch>
        </p:blipFill>
        <p:spPr>
          <a:xfrm>
            <a:off x="263352" y="2852936"/>
            <a:ext cx="4565915" cy="3424436"/>
          </a:xfrm>
          <a:prstGeom prst="rect">
            <a:avLst/>
          </a:prstGeom>
        </p:spPr>
      </p:pic>
      <p:pic>
        <p:nvPicPr>
          <p:cNvPr id="6" name="Imagen 5">
            <a:extLst>
              <a:ext uri="{FF2B5EF4-FFF2-40B4-BE49-F238E27FC236}">
                <a16:creationId xmlns:a16="http://schemas.microsoft.com/office/drawing/2014/main" id="{0BBDF991-0FFB-412F-96F8-674A552221A1}"/>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1063818" y="1353975"/>
            <a:ext cx="1639619" cy="598857"/>
          </a:xfrm>
          <a:prstGeom prst="rect">
            <a:avLst/>
          </a:prstGeom>
        </p:spPr>
      </p:pic>
      <p:pic>
        <p:nvPicPr>
          <p:cNvPr id="7" name="Imagen 6">
            <a:extLst>
              <a:ext uri="{FF2B5EF4-FFF2-40B4-BE49-F238E27FC236}">
                <a16:creationId xmlns:a16="http://schemas.microsoft.com/office/drawing/2014/main" id="{0352CA11-30AB-4725-8FDA-CFBD63850C8A}"/>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1055440" y="2348423"/>
            <a:ext cx="2433524" cy="310857"/>
          </a:xfrm>
          <a:prstGeom prst="rect">
            <a:avLst/>
          </a:prstGeom>
        </p:spPr>
      </p:pic>
      <p:pic>
        <p:nvPicPr>
          <p:cNvPr id="8" name="Imagen 7">
            <a:extLst>
              <a:ext uri="{FF2B5EF4-FFF2-40B4-BE49-F238E27FC236}">
                <a16:creationId xmlns:a16="http://schemas.microsoft.com/office/drawing/2014/main" id="{FF421003-D430-49C0-9B7B-08F82645C041}"/>
              </a:ext>
            </a:extLst>
          </p:cNvPr>
          <p:cNvPicPr>
            <a:picLocks noChangeAspect="1"/>
          </p:cNvPicPr>
          <p:nvPr/>
        </p:nvPicPr>
        <p:blipFill>
          <a:blip r:embed="rId9"/>
          <a:stretch>
            <a:fillRect/>
          </a:stretch>
        </p:blipFill>
        <p:spPr>
          <a:xfrm>
            <a:off x="6383655" y="2841583"/>
            <a:ext cx="4565915" cy="3424437"/>
          </a:xfrm>
          <a:prstGeom prst="rect">
            <a:avLst/>
          </a:prstGeom>
        </p:spPr>
      </p:pic>
      <p:pic>
        <p:nvPicPr>
          <p:cNvPr id="9" name="Imagen 8">
            <a:extLst>
              <a:ext uri="{FF2B5EF4-FFF2-40B4-BE49-F238E27FC236}">
                <a16:creationId xmlns:a16="http://schemas.microsoft.com/office/drawing/2014/main" id="{9900E5D3-0278-4CB7-90B8-1826B4A9244F}"/>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6924147" y="1353975"/>
            <a:ext cx="2128762" cy="598857"/>
          </a:xfrm>
          <a:prstGeom prst="rect">
            <a:avLst/>
          </a:prstGeom>
        </p:spPr>
      </p:pic>
      <p:pic>
        <p:nvPicPr>
          <p:cNvPr id="10" name="Imagen 9">
            <a:extLst>
              <a:ext uri="{FF2B5EF4-FFF2-40B4-BE49-F238E27FC236}">
                <a16:creationId xmlns:a16="http://schemas.microsoft.com/office/drawing/2014/main" id="{DAAC31CE-C65E-4175-9BD3-312EF6827376}"/>
              </a:ext>
            </a:extLst>
          </p:cNvPr>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6938576" y="2218741"/>
            <a:ext cx="3861333" cy="310857"/>
          </a:xfrm>
          <a:prstGeom prst="rect">
            <a:avLst/>
          </a:prstGeom>
        </p:spPr>
      </p:pic>
      <p:sp>
        <p:nvSpPr>
          <p:cNvPr id="11" name="CuadroTexto 10">
            <a:extLst>
              <a:ext uri="{FF2B5EF4-FFF2-40B4-BE49-F238E27FC236}">
                <a16:creationId xmlns:a16="http://schemas.microsoft.com/office/drawing/2014/main" id="{2E8C20F6-6BC9-4EFB-8B1E-AF8C87FAB3FE}"/>
              </a:ext>
            </a:extLst>
          </p:cNvPr>
          <p:cNvSpPr txBox="1"/>
          <p:nvPr/>
        </p:nvSpPr>
        <p:spPr>
          <a:xfrm>
            <a:off x="1311360" y="438015"/>
            <a:ext cx="2170402" cy="523220"/>
          </a:xfrm>
          <a:prstGeom prst="rect">
            <a:avLst/>
          </a:prstGeom>
          <a:noFill/>
        </p:spPr>
        <p:txBody>
          <a:bodyPr wrap="none" rtlCol="0">
            <a:spAutoFit/>
          </a:bodyPr>
          <a:lstStyle/>
          <a:p>
            <a:r>
              <a:rPr lang="es-419" sz="2800" b="1" dirty="0">
                <a:solidFill>
                  <a:srgbClr val="FF0000"/>
                </a:solidFill>
              </a:rPr>
              <a:t>Sistema Ideal</a:t>
            </a:r>
          </a:p>
        </p:txBody>
      </p:sp>
      <p:sp>
        <p:nvSpPr>
          <p:cNvPr id="12" name="CuadroTexto 11">
            <a:extLst>
              <a:ext uri="{FF2B5EF4-FFF2-40B4-BE49-F238E27FC236}">
                <a16:creationId xmlns:a16="http://schemas.microsoft.com/office/drawing/2014/main" id="{1D3C4FA8-FD14-4A44-B4DA-3F91972F41D5}"/>
              </a:ext>
            </a:extLst>
          </p:cNvPr>
          <p:cNvSpPr txBox="1"/>
          <p:nvPr/>
        </p:nvSpPr>
        <p:spPr>
          <a:xfrm>
            <a:off x="7252485" y="438015"/>
            <a:ext cx="3233514" cy="523220"/>
          </a:xfrm>
          <a:prstGeom prst="rect">
            <a:avLst/>
          </a:prstGeom>
          <a:noFill/>
        </p:spPr>
        <p:txBody>
          <a:bodyPr wrap="none" rtlCol="0">
            <a:spAutoFit/>
          </a:bodyPr>
          <a:lstStyle/>
          <a:p>
            <a:r>
              <a:rPr lang="es-419" sz="2800" b="1" dirty="0">
                <a:solidFill>
                  <a:srgbClr val="FF0000"/>
                </a:solidFill>
              </a:rPr>
              <a:t>Sistema con Retardo</a:t>
            </a:r>
          </a:p>
        </p:txBody>
      </p:sp>
      <p:cxnSp>
        <p:nvCxnSpPr>
          <p:cNvPr id="14" name="Conector recto 13">
            <a:extLst>
              <a:ext uri="{FF2B5EF4-FFF2-40B4-BE49-F238E27FC236}">
                <a16:creationId xmlns:a16="http://schemas.microsoft.com/office/drawing/2014/main" id="{13BEC430-6F94-4B4A-9421-484125BB94B3}"/>
              </a:ext>
            </a:extLst>
          </p:cNvPr>
          <p:cNvCxnSpPr/>
          <p:nvPr/>
        </p:nvCxnSpPr>
        <p:spPr>
          <a:xfrm flipV="1">
            <a:off x="1487488" y="3185649"/>
            <a:ext cx="0" cy="2736304"/>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A7A01417-5A1C-4AE8-B1B7-4A0F870D0C3E}"/>
              </a:ext>
            </a:extLst>
          </p:cNvPr>
          <p:cNvCxnSpPr/>
          <p:nvPr/>
        </p:nvCxnSpPr>
        <p:spPr>
          <a:xfrm flipV="1">
            <a:off x="7536160" y="3185649"/>
            <a:ext cx="0" cy="2736304"/>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6" name="Marcador de pie de página 1">
            <a:extLst>
              <a:ext uri="{FF2B5EF4-FFF2-40B4-BE49-F238E27FC236}">
                <a16:creationId xmlns:a16="http://schemas.microsoft.com/office/drawing/2014/main" id="{3FB25CD5-FC6B-4CC6-9405-A456EC0ACA53}"/>
              </a:ext>
            </a:extLst>
          </p:cNvPr>
          <p:cNvSpPr txBox="1">
            <a:spLocks/>
          </p:cNvSpPr>
          <p:nvPr/>
        </p:nvSpPr>
        <p:spPr>
          <a:xfrm rot="21202735">
            <a:off x="-534242" y="3330779"/>
            <a:ext cx="11753628" cy="183341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dirty="0">
                <a:solidFill>
                  <a:schemeClr val="bg1">
                    <a:lumMod val="85000"/>
                  </a:schemeClr>
                </a:solidFill>
              </a:rPr>
              <a:t>http://controlautomaticoeducacion.com/</a:t>
            </a:r>
          </a:p>
        </p:txBody>
      </p:sp>
    </p:spTree>
    <p:extLst>
      <p:ext uri="{BB962C8B-B14F-4D97-AF65-F5344CB8AC3E}">
        <p14:creationId xmlns:p14="http://schemas.microsoft.com/office/powerpoint/2010/main" val="48477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ítulo 53">
            <a:extLst>
              <a:ext uri="{FF2B5EF4-FFF2-40B4-BE49-F238E27FC236}">
                <a16:creationId xmlns:a16="http://schemas.microsoft.com/office/drawing/2014/main" id="{F144D43F-1BCD-43E6-85C1-6BFC8B980829}"/>
              </a:ext>
            </a:extLst>
          </p:cNvPr>
          <p:cNvSpPr>
            <a:spLocks noGrp="1"/>
          </p:cNvSpPr>
          <p:nvPr>
            <p:ph type="title"/>
          </p:nvPr>
        </p:nvSpPr>
        <p:spPr>
          <a:xfrm>
            <a:off x="609600" y="253618"/>
            <a:ext cx="10972800" cy="1143000"/>
          </a:xfrm>
        </p:spPr>
        <p:txBody>
          <a:bodyPr/>
          <a:lstStyle/>
          <a:p>
            <a:r>
              <a:rPr lang="es-419" b="1" dirty="0">
                <a:solidFill>
                  <a:srgbClr val="FF0000"/>
                </a:solidFill>
              </a:rPr>
              <a:t>Especificar el Retardo en Matlab</a:t>
            </a:r>
          </a:p>
        </p:txBody>
      </p:sp>
      <p:sp>
        <p:nvSpPr>
          <p:cNvPr id="2" name="Marcador de pie de página 1">
            <a:extLst>
              <a:ext uri="{FF2B5EF4-FFF2-40B4-BE49-F238E27FC236}">
                <a16:creationId xmlns:a16="http://schemas.microsoft.com/office/drawing/2014/main" id="{A948FAA2-FEE0-42F8-88F3-F6BBA22296EF}"/>
              </a:ext>
            </a:extLst>
          </p:cNvPr>
          <p:cNvSpPr>
            <a:spLocks noGrp="1"/>
          </p:cNvSpPr>
          <p:nvPr>
            <p:ph type="ftr" sz="quarter" idx="11"/>
          </p:nvPr>
        </p:nvSpPr>
        <p:spPr/>
        <p:txBody>
          <a:bodyPr/>
          <a:lstStyle/>
          <a:p>
            <a:r>
              <a:rPr lang="en-US"/>
              <a:t>http://controlautomaticoeducacion.com/</a:t>
            </a:r>
          </a:p>
        </p:txBody>
      </p:sp>
      <p:sp>
        <p:nvSpPr>
          <p:cNvPr id="3" name="Marcador de número de diapositiva 2">
            <a:extLst>
              <a:ext uri="{FF2B5EF4-FFF2-40B4-BE49-F238E27FC236}">
                <a16:creationId xmlns:a16="http://schemas.microsoft.com/office/drawing/2014/main" id="{4A6B055C-A772-4863-88C2-605CFD9C3048}"/>
              </a:ext>
            </a:extLst>
          </p:cNvPr>
          <p:cNvSpPr>
            <a:spLocks noGrp="1"/>
          </p:cNvSpPr>
          <p:nvPr>
            <p:ph type="sldNum" sz="quarter" idx="12"/>
          </p:nvPr>
        </p:nvSpPr>
        <p:spPr/>
        <p:txBody>
          <a:bodyPr/>
          <a:lstStyle/>
          <a:p>
            <a:fld id="{FA1C692C-4F2D-45F6-A9A8-8A3A8FE27806}" type="slidenum">
              <a:rPr lang="en-US" smtClean="0"/>
              <a:pPr/>
              <a:t>7</a:t>
            </a:fld>
            <a:endParaRPr lang="en-US"/>
          </a:p>
        </p:txBody>
      </p:sp>
      <mc:AlternateContent xmlns:mc="http://schemas.openxmlformats.org/markup-compatibility/2006" xmlns:a14="http://schemas.microsoft.com/office/drawing/2010/main">
        <mc:Choice Requires="a14">
          <p:sp>
            <p:nvSpPr>
              <p:cNvPr id="56" name="Rectángulo 55">
                <a:extLst>
                  <a:ext uri="{FF2B5EF4-FFF2-40B4-BE49-F238E27FC236}">
                    <a16:creationId xmlns:a16="http://schemas.microsoft.com/office/drawing/2014/main" id="{817BB38B-64E8-447D-BDC8-AEF1C465FFA2}"/>
                  </a:ext>
                </a:extLst>
              </p:cNvPr>
              <p:cNvSpPr/>
              <p:nvPr/>
            </p:nvSpPr>
            <p:spPr>
              <a:xfrm>
                <a:off x="1991544" y="1844824"/>
                <a:ext cx="915379" cy="7214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s-419"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5</m:t>
                          </m:r>
                        </m:num>
                        <m:den>
                          <m:r>
                            <a:rPr lang="en-US" b="0" i="1" smtClean="0">
                              <a:solidFill>
                                <a:schemeClr val="tx1"/>
                              </a:solidFill>
                              <a:latin typeface="Cambria Math" panose="02040503050406030204" pitchFamily="18" charset="0"/>
                              <a:ea typeface="Cambria Math" panose="02040503050406030204" pitchFamily="18" charset="0"/>
                            </a:rPr>
                            <m:t>𝑠</m:t>
                          </m:r>
                          <m:r>
                            <a:rPr lang="en-US" b="0" i="1" smtClean="0">
                              <a:solidFill>
                                <a:schemeClr val="tx1"/>
                              </a:solidFill>
                              <a:latin typeface="Cambria Math" panose="02040503050406030204" pitchFamily="18" charset="0"/>
                              <a:ea typeface="Cambria Math" panose="02040503050406030204" pitchFamily="18" charset="0"/>
                            </a:rPr>
                            <m:t>+1</m:t>
                          </m:r>
                        </m:den>
                      </m:f>
                    </m:oMath>
                  </m:oMathPara>
                </a14:m>
                <a:endParaRPr lang="es-419" dirty="0">
                  <a:solidFill>
                    <a:schemeClr val="tx1"/>
                  </a:solidFill>
                </a:endParaRPr>
              </a:p>
            </p:txBody>
          </p:sp>
        </mc:Choice>
        <mc:Fallback xmlns="">
          <p:sp>
            <p:nvSpPr>
              <p:cNvPr id="56" name="Rectángulo 55">
                <a:extLst>
                  <a:ext uri="{FF2B5EF4-FFF2-40B4-BE49-F238E27FC236}">
                    <a16:creationId xmlns:a16="http://schemas.microsoft.com/office/drawing/2014/main" id="{817BB38B-64E8-447D-BDC8-AEF1C465FFA2}"/>
                  </a:ext>
                </a:extLst>
              </p:cNvPr>
              <p:cNvSpPr>
                <a:spLocks noRot="1" noChangeAspect="1" noMove="1" noResize="1" noEditPoints="1" noAdjustHandles="1" noChangeArrowheads="1" noChangeShapeType="1" noTextEdit="1"/>
              </p:cNvSpPr>
              <p:nvPr/>
            </p:nvSpPr>
            <p:spPr>
              <a:xfrm>
                <a:off x="1991544" y="1844824"/>
                <a:ext cx="915379" cy="721474"/>
              </a:xfrm>
              <a:prstGeom prst="rect">
                <a:avLst/>
              </a:prstGeom>
              <a:blipFill>
                <a:blip r:embed="rId2"/>
                <a:stretch>
                  <a:fillRect/>
                </a:stretch>
              </a:blipFill>
            </p:spPr>
            <p:txBody>
              <a:bodyPr/>
              <a:lstStyle/>
              <a:p>
                <a:r>
                  <a:rPr lang="es-419">
                    <a:noFill/>
                  </a:rPr>
                  <a:t> </a:t>
                </a:r>
              </a:p>
            </p:txBody>
          </p:sp>
        </mc:Fallback>
      </mc:AlternateContent>
      <p:cxnSp>
        <p:nvCxnSpPr>
          <p:cNvPr id="57" name="Conector recto de flecha 56">
            <a:extLst>
              <a:ext uri="{FF2B5EF4-FFF2-40B4-BE49-F238E27FC236}">
                <a16:creationId xmlns:a16="http://schemas.microsoft.com/office/drawing/2014/main" id="{B6E9ADFD-808C-413D-8EA3-616747925290}"/>
              </a:ext>
            </a:extLst>
          </p:cNvPr>
          <p:cNvCxnSpPr>
            <a:cxnSpLocks/>
            <a:endCxn id="56" idx="1"/>
          </p:cNvCxnSpPr>
          <p:nvPr/>
        </p:nvCxnSpPr>
        <p:spPr>
          <a:xfrm>
            <a:off x="1159707" y="2205561"/>
            <a:ext cx="83183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Conector recto de flecha 57">
            <a:extLst>
              <a:ext uri="{FF2B5EF4-FFF2-40B4-BE49-F238E27FC236}">
                <a16:creationId xmlns:a16="http://schemas.microsoft.com/office/drawing/2014/main" id="{6482358B-5680-45D5-80E0-8B5ACF80EE6A}"/>
              </a:ext>
            </a:extLst>
          </p:cNvPr>
          <p:cNvCxnSpPr>
            <a:cxnSpLocks/>
            <a:stCxn id="56" idx="3"/>
            <a:endCxn id="62" idx="1"/>
          </p:cNvCxnSpPr>
          <p:nvPr/>
        </p:nvCxnSpPr>
        <p:spPr>
          <a:xfrm>
            <a:off x="2906923" y="2205561"/>
            <a:ext cx="60816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CuadroTexto 58">
                <a:extLst>
                  <a:ext uri="{FF2B5EF4-FFF2-40B4-BE49-F238E27FC236}">
                    <a16:creationId xmlns:a16="http://schemas.microsoft.com/office/drawing/2014/main" id="{E72861A3-826D-4E87-B1EA-FB64A3C2A17A}"/>
                  </a:ext>
                </a:extLst>
              </p:cNvPr>
              <p:cNvSpPr txBox="1"/>
              <p:nvPr/>
            </p:nvSpPr>
            <p:spPr>
              <a:xfrm>
                <a:off x="4515638" y="2395254"/>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dirty="0"/>
              </a:p>
            </p:txBody>
          </p:sp>
        </mc:Choice>
        <mc:Fallback xmlns="">
          <p:sp>
            <p:nvSpPr>
              <p:cNvPr id="59" name="CuadroTexto 58">
                <a:extLst>
                  <a:ext uri="{FF2B5EF4-FFF2-40B4-BE49-F238E27FC236}">
                    <a16:creationId xmlns:a16="http://schemas.microsoft.com/office/drawing/2014/main" id="{E72861A3-826D-4E87-B1EA-FB64A3C2A17A}"/>
                  </a:ext>
                </a:extLst>
              </p:cNvPr>
              <p:cNvSpPr txBox="1">
                <a:spLocks noRot="1" noChangeAspect="1" noMove="1" noResize="1" noEditPoints="1" noAdjustHandles="1" noChangeArrowheads="1" noChangeShapeType="1" noTextEdit="1"/>
              </p:cNvSpPr>
              <p:nvPr/>
            </p:nvSpPr>
            <p:spPr>
              <a:xfrm>
                <a:off x="4515638" y="2395254"/>
                <a:ext cx="191784" cy="276999"/>
              </a:xfrm>
              <a:prstGeom prst="rect">
                <a:avLst/>
              </a:prstGeom>
              <a:blipFill>
                <a:blip r:embed="rId3"/>
                <a:stretch>
                  <a:fillRect l="-29032" r="-29032" b="-26667"/>
                </a:stretch>
              </a:blipFill>
            </p:spPr>
            <p:txBody>
              <a:bodyPr/>
              <a:lstStyle/>
              <a:p>
                <a:r>
                  <a:rPr lang="es-419">
                    <a:noFill/>
                  </a:rPr>
                  <a:t> </a:t>
                </a:r>
              </a:p>
            </p:txBody>
          </p:sp>
        </mc:Fallback>
      </mc:AlternateContent>
      <p:sp>
        <p:nvSpPr>
          <p:cNvPr id="60" name="CuadroTexto 59">
            <a:extLst>
              <a:ext uri="{FF2B5EF4-FFF2-40B4-BE49-F238E27FC236}">
                <a16:creationId xmlns:a16="http://schemas.microsoft.com/office/drawing/2014/main" id="{5234B62F-E91F-4D9F-A7E5-560A8C4F7DD8}"/>
              </a:ext>
            </a:extLst>
          </p:cNvPr>
          <p:cNvSpPr txBox="1"/>
          <p:nvPr/>
        </p:nvSpPr>
        <p:spPr>
          <a:xfrm>
            <a:off x="1991543" y="1508037"/>
            <a:ext cx="915379" cy="369332"/>
          </a:xfrm>
          <a:prstGeom prst="rect">
            <a:avLst/>
          </a:prstGeom>
          <a:noFill/>
        </p:spPr>
        <p:txBody>
          <a:bodyPr wrap="none" rtlCol="0">
            <a:spAutoFit/>
          </a:bodyPr>
          <a:lstStyle/>
          <a:p>
            <a:r>
              <a:rPr lang="es-419" dirty="0"/>
              <a:t>Sistema</a:t>
            </a:r>
          </a:p>
        </p:txBody>
      </p:sp>
      <mc:AlternateContent xmlns:mc="http://schemas.openxmlformats.org/markup-compatibility/2006" xmlns:a14="http://schemas.microsoft.com/office/drawing/2010/main">
        <mc:Choice Requires="a14">
          <p:sp>
            <p:nvSpPr>
              <p:cNvPr id="61" name="CuadroTexto 60">
                <a:extLst>
                  <a:ext uri="{FF2B5EF4-FFF2-40B4-BE49-F238E27FC236}">
                    <a16:creationId xmlns:a16="http://schemas.microsoft.com/office/drawing/2014/main" id="{4C390C52-124C-4F19-BCB3-2A1B3B73398B}"/>
                  </a:ext>
                </a:extLst>
              </p:cNvPr>
              <p:cNvSpPr txBox="1"/>
              <p:nvPr/>
            </p:nvSpPr>
            <p:spPr>
              <a:xfrm>
                <a:off x="1151397" y="2362408"/>
                <a:ext cx="19774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dirty="0"/>
              </a:p>
            </p:txBody>
          </p:sp>
        </mc:Choice>
        <mc:Fallback xmlns="">
          <p:sp>
            <p:nvSpPr>
              <p:cNvPr id="61" name="CuadroTexto 60">
                <a:extLst>
                  <a:ext uri="{FF2B5EF4-FFF2-40B4-BE49-F238E27FC236}">
                    <a16:creationId xmlns:a16="http://schemas.microsoft.com/office/drawing/2014/main" id="{4C390C52-124C-4F19-BCB3-2A1B3B73398B}"/>
                  </a:ext>
                </a:extLst>
              </p:cNvPr>
              <p:cNvSpPr txBox="1">
                <a:spLocks noRot="1" noChangeAspect="1" noMove="1" noResize="1" noEditPoints="1" noAdjustHandles="1" noChangeArrowheads="1" noChangeShapeType="1" noTextEdit="1"/>
              </p:cNvSpPr>
              <p:nvPr/>
            </p:nvSpPr>
            <p:spPr>
              <a:xfrm>
                <a:off x="1151397" y="2362408"/>
                <a:ext cx="197746" cy="276999"/>
              </a:xfrm>
              <a:prstGeom prst="rect">
                <a:avLst/>
              </a:prstGeom>
              <a:blipFill>
                <a:blip r:embed="rId4"/>
                <a:stretch>
                  <a:fillRect l="-15625" r="-15625"/>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62" name="Rectángulo 61">
                <a:extLst>
                  <a:ext uri="{FF2B5EF4-FFF2-40B4-BE49-F238E27FC236}">
                    <a16:creationId xmlns:a16="http://schemas.microsoft.com/office/drawing/2014/main" id="{80D2A54F-4492-452E-9D7B-431FBF11A790}"/>
                  </a:ext>
                </a:extLst>
              </p:cNvPr>
              <p:cNvSpPr/>
              <p:nvPr/>
            </p:nvSpPr>
            <p:spPr>
              <a:xfrm>
                <a:off x="3515090" y="1844824"/>
                <a:ext cx="794902" cy="7214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i="1" smtClean="0">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𝑒</m:t>
                          </m:r>
                        </m:e>
                        <m:sup>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3.4</m:t>
                          </m:r>
                          <m:r>
                            <a:rPr lang="en-US" i="1">
                              <a:solidFill>
                                <a:schemeClr val="tx1"/>
                              </a:solidFill>
                              <a:latin typeface="Cambria Math" panose="02040503050406030204" pitchFamily="18" charset="0"/>
                              <a:ea typeface="Cambria Math" panose="02040503050406030204" pitchFamily="18" charset="0"/>
                            </a:rPr>
                            <m:t>𝑠</m:t>
                          </m:r>
                        </m:sup>
                      </m:sSup>
                    </m:oMath>
                  </m:oMathPara>
                </a14:m>
                <a:endParaRPr lang="es-419" dirty="0">
                  <a:solidFill>
                    <a:schemeClr val="tx1"/>
                  </a:solidFill>
                </a:endParaRPr>
              </a:p>
            </p:txBody>
          </p:sp>
        </mc:Choice>
        <mc:Fallback xmlns="">
          <p:sp>
            <p:nvSpPr>
              <p:cNvPr id="62" name="Rectángulo 61">
                <a:extLst>
                  <a:ext uri="{FF2B5EF4-FFF2-40B4-BE49-F238E27FC236}">
                    <a16:creationId xmlns:a16="http://schemas.microsoft.com/office/drawing/2014/main" id="{80D2A54F-4492-452E-9D7B-431FBF11A790}"/>
                  </a:ext>
                </a:extLst>
              </p:cNvPr>
              <p:cNvSpPr>
                <a:spLocks noRot="1" noChangeAspect="1" noMove="1" noResize="1" noEditPoints="1" noAdjustHandles="1" noChangeArrowheads="1" noChangeShapeType="1" noTextEdit="1"/>
              </p:cNvSpPr>
              <p:nvPr/>
            </p:nvSpPr>
            <p:spPr>
              <a:xfrm>
                <a:off x="3515090" y="1844824"/>
                <a:ext cx="794902" cy="721474"/>
              </a:xfrm>
              <a:prstGeom prst="rect">
                <a:avLst/>
              </a:prstGeom>
              <a:blipFill>
                <a:blip r:embed="rId5"/>
                <a:stretch>
                  <a:fillRect/>
                </a:stretch>
              </a:blipFill>
            </p:spPr>
            <p:txBody>
              <a:bodyPr/>
              <a:lstStyle/>
              <a:p>
                <a:r>
                  <a:rPr lang="es-419">
                    <a:noFill/>
                  </a:rPr>
                  <a:t> </a:t>
                </a:r>
              </a:p>
            </p:txBody>
          </p:sp>
        </mc:Fallback>
      </mc:AlternateContent>
      <p:sp>
        <p:nvSpPr>
          <p:cNvPr id="63" name="CuadroTexto 62">
            <a:extLst>
              <a:ext uri="{FF2B5EF4-FFF2-40B4-BE49-F238E27FC236}">
                <a16:creationId xmlns:a16="http://schemas.microsoft.com/office/drawing/2014/main" id="{E733A253-1C97-41FE-9094-07C1C3C67FF0}"/>
              </a:ext>
            </a:extLst>
          </p:cNvPr>
          <p:cNvSpPr txBox="1"/>
          <p:nvPr/>
        </p:nvSpPr>
        <p:spPr>
          <a:xfrm>
            <a:off x="3384739" y="1508037"/>
            <a:ext cx="925253" cy="369332"/>
          </a:xfrm>
          <a:prstGeom prst="rect">
            <a:avLst/>
          </a:prstGeom>
          <a:noFill/>
        </p:spPr>
        <p:txBody>
          <a:bodyPr wrap="none" rtlCol="0">
            <a:spAutoFit/>
          </a:bodyPr>
          <a:lstStyle/>
          <a:p>
            <a:r>
              <a:rPr lang="es-419" dirty="0"/>
              <a:t>Retardo</a:t>
            </a:r>
          </a:p>
        </p:txBody>
      </p:sp>
      <p:cxnSp>
        <p:nvCxnSpPr>
          <p:cNvPr id="69" name="Conector recto de flecha 68">
            <a:extLst>
              <a:ext uri="{FF2B5EF4-FFF2-40B4-BE49-F238E27FC236}">
                <a16:creationId xmlns:a16="http://schemas.microsoft.com/office/drawing/2014/main" id="{2A406661-5F21-4099-82D8-A9CFE4599EB2}"/>
              </a:ext>
            </a:extLst>
          </p:cNvPr>
          <p:cNvCxnSpPr>
            <a:cxnSpLocks/>
            <a:stCxn id="62" idx="3"/>
          </p:cNvCxnSpPr>
          <p:nvPr/>
        </p:nvCxnSpPr>
        <p:spPr>
          <a:xfrm>
            <a:off x="4309992" y="2205561"/>
            <a:ext cx="56187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Rectángulo 71">
                <a:extLst>
                  <a:ext uri="{FF2B5EF4-FFF2-40B4-BE49-F238E27FC236}">
                    <a16:creationId xmlns:a16="http://schemas.microsoft.com/office/drawing/2014/main" id="{34D4B78A-00BB-4607-A18F-DAD406EC48B7}"/>
                  </a:ext>
                </a:extLst>
              </p:cNvPr>
              <p:cNvSpPr/>
              <p:nvPr/>
            </p:nvSpPr>
            <p:spPr>
              <a:xfrm>
                <a:off x="8012359" y="1950779"/>
                <a:ext cx="915379" cy="7214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i="1" smtClean="0">
                              <a:solidFill>
                                <a:schemeClr val="tx1"/>
                              </a:solidFill>
                              <a:latin typeface="Cambria Math" panose="02040503050406030204" pitchFamily="18" charset="0"/>
                            </a:rPr>
                          </m:ctrlPr>
                        </m:sSupPr>
                        <m:e>
                          <m:r>
                            <a:rPr lang="en-US" i="1">
                              <a:solidFill>
                                <a:schemeClr val="tx1"/>
                              </a:solidFill>
                              <a:latin typeface="Cambria Math" panose="02040503050406030204" pitchFamily="18" charset="0"/>
                            </a:rPr>
                            <m:t>𝑒</m:t>
                          </m:r>
                        </m:e>
                        <m:sup>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3.4</m:t>
                          </m:r>
                          <m:r>
                            <a:rPr lang="en-US" i="1">
                              <a:solidFill>
                                <a:schemeClr val="tx1"/>
                              </a:solidFill>
                              <a:latin typeface="Cambria Math" panose="02040503050406030204" pitchFamily="18" charset="0"/>
                              <a:ea typeface="Cambria Math" panose="02040503050406030204" pitchFamily="18" charset="0"/>
                            </a:rPr>
                            <m:t>𝑠</m:t>
                          </m:r>
                        </m:sup>
                      </m:sSup>
                    </m:oMath>
                  </m:oMathPara>
                </a14:m>
                <a:endParaRPr lang="es-419" dirty="0">
                  <a:solidFill>
                    <a:schemeClr val="tx1"/>
                  </a:solidFill>
                </a:endParaRPr>
              </a:p>
            </p:txBody>
          </p:sp>
        </mc:Choice>
        <mc:Fallback xmlns="">
          <p:sp>
            <p:nvSpPr>
              <p:cNvPr id="72" name="Rectángulo 71">
                <a:extLst>
                  <a:ext uri="{FF2B5EF4-FFF2-40B4-BE49-F238E27FC236}">
                    <a16:creationId xmlns:a16="http://schemas.microsoft.com/office/drawing/2014/main" id="{34D4B78A-00BB-4607-A18F-DAD406EC48B7}"/>
                  </a:ext>
                </a:extLst>
              </p:cNvPr>
              <p:cNvSpPr>
                <a:spLocks noRot="1" noChangeAspect="1" noMove="1" noResize="1" noEditPoints="1" noAdjustHandles="1" noChangeArrowheads="1" noChangeShapeType="1" noTextEdit="1"/>
              </p:cNvSpPr>
              <p:nvPr/>
            </p:nvSpPr>
            <p:spPr>
              <a:xfrm>
                <a:off x="8012359" y="1950779"/>
                <a:ext cx="915379" cy="721474"/>
              </a:xfrm>
              <a:prstGeom prst="rect">
                <a:avLst/>
              </a:prstGeom>
              <a:blipFill>
                <a:blip r:embed="rId6"/>
                <a:stretch>
                  <a:fillRect/>
                </a:stretch>
              </a:blipFill>
            </p:spPr>
            <p:txBody>
              <a:bodyPr/>
              <a:lstStyle/>
              <a:p>
                <a:r>
                  <a:rPr lang="es-419">
                    <a:noFill/>
                  </a:rPr>
                  <a:t> </a:t>
                </a:r>
              </a:p>
            </p:txBody>
          </p:sp>
        </mc:Fallback>
      </mc:AlternateContent>
      <p:cxnSp>
        <p:nvCxnSpPr>
          <p:cNvPr id="73" name="Conector recto de flecha 72">
            <a:extLst>
              <a:ext uri="{FF2B5EF4-FFF2-40B4-BE49-F238E27FC236}">
                <a16:creationId xmlns:a16="http://schemas.microsoft.com/office/drawing/2014/main" id="{4B3CF20D-735C-47BF-9A97-5A1278B3E07D}"/>
              </a:ext>
            </a:extLst>
          </p:cNvPr>
          <p:cNvCxnSpPr>
            <a:cxnSpLocks/>
            <a:endCxn id="72" idx="1"/>
          </p:cNvCxnSpPr>
          <p:nvPr/>
        </p:nvCxnSpPr>
        <p:spPr>
          <a:xfrm>
            <a:off x="7180522" y="2311516"/>
            <a:ext cx="83183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ector recto de flecha 73">
            <a:extLst>
              <a:ext uri="{FF2B5EF4-FFF2-40B4-BE49-F238E27FC236}">
                <a16:creationId xmlns:a16="http://schemas.microsoft.com/office/drawing/2014/main" id="{69F8B0B9-7A6A-4B86-AB75-242F8D98EC67}"/>
              </a:ext>
            </a:extLst>
          </p:cNvPr>
          <p:cNvCxnSpPr>
            <a:cxnSpLocks/>
            <a:stCxn id="72" idx="3"/>
            <a:endCxn id="78" idx="1"/>
          </p:cNvCxnSpPr>
          <p:nvPr/>
        </p:nvCxnSpPr>
        <p:spPr>
          <a:xfrm>
            <a:off x="8927738" y="2311516"/>
            <a:ext cx="60816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CuadroTexto 74">
                <a:extLst>
                  <a:ext uri="{FF2B5EF4-FFF2-40B4-BE49-F238E27FC236}">
                    <a16:creationId xmlns:a16="http://schemas.microsoft.com/office/drawing/2014/main" id="{BE8B31CD-919A-4864-ADA1-22D6EA155D5F}"/>
                  </a:ext>
                </a:extLst>
              </p:cNvPr>
              <p:cNvSpPr txBox="1"/>
              <p:nvPr/>
            </p:nvSpPr>
            <p:spPr>
              <a:xfrm>
                <a:off x="10941161" y="2427798"/>
                <a:ext cx="1917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oMath>
                  </m:oMathPara>
                </a14:m>
                <a:endParaRPr lang="es-419" dirty="0"/>
              </a:p>
            </p:txBody>
          </p:sp>
        </mc:Choice>
        <mc:Fallback xmlns="">
          <p:sp>
            <p:nvSpPr>
              <p:cNvPr id="75" name="CuadroTexto 74">
                <a:extLst>
                  <a:ext uri="{FF2B5EF4-FFF2-40B4-BE49-F238E27FC236}">
                    <a16:creationId xmlns:a16="http://schemas.microsoft.com/office/drawing/2014/main" id="{BE8B31CD-919A-4864-ADA1-22D6EA155D5F}"/>
                  </a:ext>
                </a:extLst>
              </p:cNvPr>
              <p:cNvSpPr txBox="1">
                <a:spLocks noRot="1" noChangeAspect="1" noMove="1" noResize="1" noEditPoints="1" noAdjustHandles="1" noChangeArrowheads="1" noChangeShapeType="1" noTextEdit="1"/>
              </p:cNvSpPr>
              <p:nvPr/>
            </p:nvSpPr>
            <p:spPr>
              <a:xfrm>
                <a:off x="10941161" y="2427798"/>
                <a:ext cx="191784" cy="276999"/>
              </a:xfrm>
              <a:prstGeom prst="rect">
                <a:avLst/>
              </a:prstGeom>
              <a:blipFill>
                <a:blip r:embed="rId7"/>
                <a:stretch>
                  <a:fillRect l="-29032" r="-29032" b="-23913"/>
                </a:stretch>
              </a:blipFill>
            </p:spPr>
            <p:txBody>
              <a:bodyPr/>
              <a:lstStyle/>
              <a:p>
                <a:r>
                  <a:rPr lang="es-419">
                    <a:noFill/>
                  </a:rPr>
                  <a:t> </a:t>
                </a:r>
              </a:p>
            </p:txBody>
          </p:sp>
        </mc:Fallback>
      </mc:AlternateContent>
      <p:sp>
        <p:nvSpPr>
          <p:cNvPr id="76" name="CuadroTexto 75">
            <a:extLst>
              <a:ext uri="{FF2B5EF4-FFF2-40B4-BE49-F238E27FC236}">
                <a16:creationId xmlns:a16="http://schemas.microsoft.com/office/drawing/2014/main" id="{5062BC2F-2E90-4BF1-B6A1-AE533F3DCE28}"/>
              </a:ext>
            </a:extLst>
          </p:cNvPr>
          <p:cNvSpPr txBox="1"/>
          <p:nvPr/>
        </p:nvSpPr>
        <p:spPr>
          <a:xfrm>
            <a:off x="9506931" y="1585745"/>
            <a:ext cx="915379" cy="369332"/>
          </a:xfrm>
          <a:prstGeom prst="rect">
            <a:avLst/>
          </a:prstGeom>
          <a:noFill/>
        </p:spPr>
        <p:txBody>
          <a:bodyPr wrap="none" rtlCol="0">
            <a:spAutoFit/>
          </a:bodyPr>
          <a:lstStyle/>
          <a:p>
            <a:r>
              <a:rPr lang="es-419" dirty="0"/>
              <a:t>Sistema</a:t>
            </a:r>
          </a:p>
        </p:txBody>
      </p:sp>
      <mc:AlternateContent xmlns:mc="http://schemas.openxmlformats.org/markup-compatibility/2006" xmlns:a14="http://schemas.microsoft.com/office/drawing/2010/main">
        <mc:Choice Requires="a14">
          <p:sp>
            <p:nvSpPr>
              <p:cNvPr id="77" name="CuadroTexto 76">
                <a:extLst>
                  <a:ext uri="{FF2B5EF4-FFF2-40B4-BE49-F238E27FC236}">
                    <a16:creationId xmlns:a16="http://schemas.microsoft.com/office/drawing/2014/main" id="{2C0985F2-219E-4E13-A711-DEB694B52A3B}"/>
                  </a:ext>
                </a:extLst>
              </p:cNvPr>
              <p:cNvSpPr txBox="1"/>
              <p:nvPr/>
            </p:nvSpPr>
            <p:spPr>
              <a:xfrm>
                <a:off x="7172212" y="2468363"/>
                <a:ext cx="19774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𝑢</m:t>
                      </m:r>
                    </m:oMath>
                  </m:oMathPara>
                </a14:m>
                <a:endParaRPr lang="es-419" dirty="0"/>
              </a:p>
            </p:txBody>
          </p:sp>
        </mc:Choice>
        <mc:Fallback xmlns="">
          <p:sp>
            <p:nvSpPr>
              <p:cNvPr id="77" name="CuadroTexto 76">
                <a:extLst>
                  <a:ext uri="{FF2B5EF4-FFF2-40B4-BE49-F238E27FC236}">
                    <a16:creationId xmlns:a16="http://schemas.microsoft.com/office/drawing/2014/main" id="{2C0985F2-219E-4E13-A711-DEB694B52A3B}"/>
                  </a:ext>
                </a:extLst>
              </p:cNvPr>
              <p:cNvSpPr txBox="1">
                <a:spLocks noRot="1" noChangeAspect="1" noMove="1" noResize="1" noEditPoints="1" noAdjustHandles="1" noChangeArrowheads="1" noChangeShapeType="1" noTextEdit="1"/>
              </p:cNvSpPr>
              <p:nvPr/>
            </p:nvSpPr>
            <p:spPr>
              <a:xfrm>
                <a:off x="7172212" y="2468363"/>
                <a:ext cx="197746" cy="276999"/>
              </a:xfrm>
              <a:prstGeom prst="rect">
                <a:avLst/>
              </a:prstGeom>
              <a:blipFill>
                <a:blip r:embed="rId8"/>
                <a:stretch>
                  <a:fillRect l="-15625" r="-15625"/>
                </a:stretch>
              </a:blipFill>
            </p:spPr>
            <p:txBody>
              <a:bodyPr/>
              <a:lstStyle/>
              <a:p>
                <a:r>
                  <a:rPr lang="es-419">
                    <a:noFill/>
                  </a:rPr>
                  <a:t> </a:t>
                </a:r>
              </a:p>
            </p:txBody>
          </p:sp>
        </mc:Fallback>
      </mc:AlternateContent>
      <mc:AlternateContent xmlns:mc="http://schemas.openxmlformats.org/markup-compatibility/2006" xmlns:a14="http://schemas.microsoft.com/office/drawing/2010/main">
        <mc:Choice Requires="a14">
          <p:sp>
            <p:nvSpPr>
              <p:cNvPr id="78" name="Rectángulo 77">
                <a:extLst>
                  <a:ext uri="{FF2B5EF4-FFF2-40B4-BE49-F238E27FC236}">
                    <a16:creationId xmlns:a16="http://schemas.microsoft.com/office/drawing/2014/main" id="{E99513AC-DA76-4F7D-AA09-A0AB03DD4BB0}"/>
                  </a:ext>
                </a:extLst>
              </p:cNvPr>
              <p:cNvSpPr/>
              <p:nvPr/>
            </p:nvSpPr>
            <p:spPr>
              <a:xfrm>
                <a:off x="9535905" y="1950779"/>
                <a:ext cx="925253" cy="72147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s-419"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5</m:t>
                          </m:r>
                        </m:num>
                        <m:den>
                          <m:r>
                            <a:rPr lang="en-US" b="0" i="1" smtClean="0">
                              <a:solidFill>
                                <a:schemeClr val="tx1"/>
                              </a:solidFill>
                              <a:latin typeface="Cambria Math" panose="02040503050406030204" pitchFamily="18" charset="0"/>
                              <a:ea typeface="Cambria Math" panose="02040503050406030204" pitchFamily="18" charset="0"/>
                            </a:rPr>
                            <m:t>𝑠</m:t>
                          </m:r>
                          <m:r>
                            <a:rPr lang="en-US" b="0" i="1" smtClean="0">
                              <a:solidFill>
                                <a:schemeClr val="tx1"/>
                              </a:solidFill>
                              <a:latin typeface="Cambria Math" panose="02040503050406030204" pitchFamily="18" charset="0"/>
                              <a:ea typeface="Cambria Math" panose="02040503050406030204" pitchFamily="18" charset="0"/>
                            </a:rPr>
                            <m:t>+1</m:t>
                          </m:r>
                        </m:den>
                      </m:f>
                    </m:oMath>
                  </m:oMathPara>
                </a14:m>
                <a:endParaRPr lang="es-419" dirty="0">
                  <a:solidFill>
                    <a:schemeClr val="tx1"/>
                  </a:solidFill>
                </a:endParaRPr>
              </a:p>
            </p:txBody>
          </p:sp>
        </mc:Choice>
        <mc:Fallback xmlns="">
          <p:sp>
            <p:nvSpPr>
              <p:cNvPr id="78" name="Rectángulo 77">
                <a:extLst>
                  <a:ext uri="{FF2B5EF4-FFF2-40B4-BE49-F238E27FC236}">
                    <a16:creationId xmlns:a16="http://schemas.microsoft.com/office/drawing/2014/main" id="{E99513AC-DA76-4F7D-AA09-A0AB03DD4BB0}"/>
                  </a:ext>
                </a:extLst>
              </p:cNvPr>
              <p:cNvSpPr>
                <a:spLocks noRot="1" noChangeAspect="1" noMove="1" noResize="1" noEditPoints="1" noAdjustHandles="1" noChangeArrowheads="1" noChangeShapeType="1" noTextEdit="1"/>
              </p:cNvSpPr>
              <p:nvPr/>
            </p:nvSpPr>
            <p:spPr>
              <a:xfrm>
                <a:off x="9535905" y="1950779"/>
                <a:ext cx="925253" cy="721474"/>
              </a:xfrm>
              <a:prstGeom prst="rect">
                <a:avLst/>
              </a:prstGeom>
              <a:blipFill>
                <a:blip r:embed="rId9"/>
                <a:stretch>
                  <a:fillRect/>
                </a:stretch>
              </a:blipFill>
            </p:spPr>
            <p:txBody>
              <a:bodyPr/>
              <a:lstStyle/>
              <a:p>
                <a:r>
                  <a:rPr lang="es-419">
                    <a:noFill/>
                  </a:rPr>
                  <a:t> </a:t>
                </a:r>
              </a:p>
            </p:txBody>
          </p:sp>
        </mc:Fallback>
      </mc:AlternateContent>
      <p:sp>
        <p:nvSpPr>
          <p:cNvPr id="79" name="CuadroTexto 78">
            <a:extLst>
              <a:ext uri="{FF2B5EF4-FFF2-40B4-BE49-F238E27FC236}">
                <a16:creationId xmlns:a16="http://schemas.microsoft.com/office/drawing/2014/main" id="{76112902-882B-4B67-8E11-090703A8C77D}"/>
              </a:ext>
            </a:extLst>
          </p:cNvPr>
          <p:cNvSpPr txBox="1"/>
          <p:nvPr/>
        </p:nvSpPr>
        <p:spPr>
          <a:xfrm>
            <a:off x="7984298" y="1593709"/>
            <a:ext cx="925253" cy="369332"/>
          </a:xfrm>
          <a:prstGeom prst="rect">
            <a:avLst/>
          </a:prstGeom>
          <a:noFill/>
        </p:spPr>
        <p:txBody>
          <a:bodyPr wrap="none" rtlCol="0">
            <a:spAutoFit/>
          </a:bodyPr>
          <a:lstStyle/>
          <a:p>
            <a:r>
              <a:rPr lang="es-419" dirty="0"/>
              <a:t>Retardo</a:t>
            </a:r>
          </a:p>
        </p:txBody>
      </p:sp>
      <p:cxnSp>
        <p:nvCxnSpPr>
          <p:cNvPr id="80" name="Conector recto de flecha 79">
            <a:extLst>
              <a:ext uri="{FF2B5EF4-FFF2-40B4-BE49-F238E27FC236}">
                <a16:creationId xmlns:a16="http://schemas.microsoft.com/office/drawing/2014/main" id="{60BE454A-A50C-4D8B-A638-B4C9CB32E8C2}"/>
              </a:ext>
            </a:extLst>
          </p:cNvPr>
          <p:cNvCxnSpPr>
            <a:cxnSpLocks/>
            <a:stCxn id="78" idx="3"/>
          </p:cNvCxnSpPr>
          <p:nvPr/>
        </p:nvCxnSpPr>
        <p:spPr>
          <a:xfrm>
            <a:off x="10461158" y="2311516"/>
            <a:ext cx="67540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Rectangle 1">
            <a:extLst>
              <a:ext uri="{FF2B5EF4-FFF2-40B4-BE49-F238E27FC236}">
                <a16:creationId xmlns:a16="http://schemas.microsoft.com/office/drawing/2014/main" id="{968F8337-DF44-47DD-AB69-E18BDD68572A}"/>
              </a:ext>
            </a:extLst>
          </p:cNvPr>
          <p:cNvSpPr>
            <a:spLocks noChangeArrowheads="1"/>
          </p:cNvSpPr>
          <p:nvPr/>
        </p:nvSpPr>
        <p:spPr bwMode="auto">
          <a:xfrm>
            <a:off x="1151397" y="2948939"/>
            <a:ext cx="4065794" cy="923330"/>
          </a:xfrm>
          <a:prstGeom prst="rect">
            <a:avLst/>
          </a:prstGeom>
          <a:solidFill>
            <a:schemeClr val="accent2">
              <a:lumMod val="20000"/>
              <a:lumOff val="80000"/>
            </a:schemeClr>
          </a:solidFill>
          <a:ln/>
        </p:spPr>
        <p:style>
          <a:lnRef idx="2">
            <a:schemeClr val="dk1"/>
          </a:lnRef>
          <a:fillRef idx="1">
            <a:schemeClr val="lt1"/>
          </a:fillRef>
          <a:effectRef idx="0">
            <a:schemeClr val="dk1"/>
          </a:effectRef>
          <a:fontRef idx="minor">
            <a:schemeClr val="dk1"/>
          </a:fontRef>
        </p:style>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404040"/>
                </a:solidFill>
                <a:effectLst/>
                <a:latin typeface="Menlo"/>
              </a:rPr>
              <a:t>num = 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404040"/>
                </a:solidFill>
                <a:effectLst/>
                <a:latin typeface="Menlo"/>
              </a:rPr>
              <a:t>den = [1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404040"/>
                </a:solidFill>
                <a:effectLst/>
                <a:latin typeface="Menlo"/>
              </a:rPr>
              <a:t> P = </a:t>
            </a:r>
            <a:r>
              <a:rPr kumimoji="0" lang="en-US" altLang="en-US" sz="2000" b="1" i="0" u="none" strike="noStrike" cap="none" normalizeH="0" baseline="0" dirty="0" err="1">
                <a:ln>
                  <a:noFill/>
                </a:ln>
                <a:solidFill>
                  <a:srgbClr val="404040"/>
                </a:solidFill>
                <a:effectLst/>
                <a:latin typeface="Menlo"/>
              </a:rPr>
              <a:t>tf</a:t>
            </a:r>
            <a:r>
              <a:rPr kumimoji="0" lang="en-US" altLang="en-US" sz="2000" b="1" i="0" u="none" strike="noStrike" cap="none" normalizeH="0" baseline="0" dirty="0">
                <a:ln>
                  <a:noFill/>
                </a:ln>
                <a:solidFill>
                  <a:srgbClr val="404040"/>
                </a:solidFill>
                <a:effectLst/>
                <a:latin typeface="Menlo"/>
              </a:rPr>
              <a:t> (num, den, </a:t>
            </a:r>
            <a:r>
              <a:rPr kumimoji="0" lang="en-US" altLang="en-US" sz="2000" b="1" i="0" u="none" strike="noStrike" cap="none" normalizeH="0" baseline="0" dirty="0">
                <a:ln>
                  <a:noFill/>
                </a:ln>
                <a:solidFill>
                  <a:srgbClr val="A020F0"/>
                </a:solidFill>
                <a:effectLst/>
                <a:latin typeface="Menlo"/>
              </a:rPr>
              <a:t>‘</a:t>
            </a:r>
            <a:r>
              <a:rPr kumimoji="0" lang="en-US" altLang="en-US" sz="2000" b="1" i="0" u="none" strike="noStrike" cap="none" normalizeH="0" baseline="0" dirty="0" err="1">
                <a:ln>
                  <a:noFill/>
                </a:ln>
                <a:solidFill>
                  <a:srgbClr val="A020F0"/>
                </a:solidFill>
                <a:effectLst/>
                <a:latin typeface="Menlo"/>
              </a:rPr>
              <a:t>OutputDelay</a:t>
            </a:r>
            <a:r>
              <a:rPr kumimoji="0" lang="en-US" altLang="en-US" sz="2000" b="1" i="0" u="none" strike="noStrike" cap="none" normalizeH="0" baseline="0" dirty="0">
                <a:ln>
                  <a:noFill/>
                </a:ln>
                <a:solidFill>
                  <a:srgbClr val="A020F0"/>
                </a:solidFill>
                <a:effectLst/>
                <a:latin typeface="Menlo"/>
              </a:rPr>
              <a:t>'</a:t>
            </a:r>
            <a:r>
              <a:rPr kumimoji="0" lang="en-US" altLang="en-US" sz="2000" b="1" i="0" u="none" strike="noStrike" cap="none" normalizeH="0" baseline="0" dirty="0">
                <a:ln>
                  <a:noFill/>
                </a:ln>
                <a:solidFill>
                  <a:srgbClr val="404040"/>
                </a:solidFill>
                <a:effectLst/>
                <a:latin typeface="Menlo"/>
              </a:rPr>
              <a:t> , 3.4)</a:t>
            </a:r>
            <a:r>
              <a:rPr kumimoji="0" lang="en-US" altLang="en-US" sz="2000" b="1" i="0" u="none" strike="noStrike" cap="none" normalizeH="0" baseline="0" dirty="0">
                <a:ln>
                  <a:noFill/>
                </a:ln>
                <a:solidFill>
                  <a:schemeClr val="tx1"/>
                </a:solidFill>
                <a:effectLst/>
              </a:rPr>
              <a:t> </a:t>
            </a:r>
            <a:endParaRPr kumimoji="0" lang="en-US" altLang="en-US" sz="2000" b="1" i="0" u="none" strike="noStrike" cap="none" normalizeH="0" baseline="0" dirty="0">
              <a:ln>
                <a:noFill/>
              </a:ln>
              <a:solidFill>
                <a:schemeClr val="tx1"/>
              </a:solidFill>
              <a:effectLst/>
              <a:latin typeface="Arial" panose="020B0604020202020204" pitchFamily="34" charset="0"/>
            </a:endParaRPr>
          </a:p>
        </p:txBody>
      </p:sp>
      <p:sp>
        <p:nvSpPr>
          <p:cNvPr id="87" name="Rectangle 1">
            <a:extLst>
              <a:ext uri="{FF2B5EF4-FFF2-40B4-BE49-F238E27FC236}">
                <a16:creationId xmlns:a16="http://schemas.microsoft.com/office/drawing/2014/main" id="{208D34FE-0AD2-4694-A97A-F7FBBA900B89}"/>
              </a:ext>
            </a:extLst>
          </p:cNvPr>
          <p:cNvSpPr>
            <a:spLocks noChangeArrowheads="1"/>
          </p:cNvSpPr>
          <p:nvPr/>
        </p:nvSpPr>
        <p:spPr bwMode="auto">
          <a:xfrm>
            <a:off x="7367225" y="3013766"/>
            <a:ext cx="4065794" cy="923330"/>
          </a:xfrm>
          <a:prstGeom prst="rect">
            <a:avLst/>
          </a:prstGeom>
          <a:solidFill>
            <a:schemeClr val="accent2">
              <a:lumMod val="20000"/>
              <a:lumOff val="80000"/>
            </a:schemeClr>
          </a:solidFill>
          <a:ln/>
        </p:spPr>
        <p:style>
          <a:lnRef idx="2">
            <a:schemeClr val="dk1"/>
          </a:lnRef>
          <a:fillRef idx="1">
            <a:schemeClr val="lt1"/>
          </a:fillRef>
          <a:effectRef idx="0">
            <a:schemeClr val="dk1"/>
          </a:effectRef>
          <a:fontRef idx="minor">
            <a:schemeClr val="dk1"/>
          </a:fontRef>
        </p:style>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404040"/>
                </a:solidFill>
                <a:effectLst/>
                <a:latin typeface="Menlo"/>
              </a:rPr>
              <a:t>num = 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404040"/>
                </a:solidFill>
                <a:effectLst/>
                <a:latin typeface="Menlo"/>
              </a:rPr>
              <a:t>den = [1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404040"/>
                </a:solidFill>
                <a:effectLst/>
                <a:latin typeface="Menlo"/>
              </a:rPr>
              <a:t> P = </a:t>
            </a:r>
            <a:r>
              <a:rPr kumimoji="0" lang="en-US" altLang="en-US" sz="2000" b="1" i="0" u="none" strike="noStrike" cap="none" normalizeH="0" baseline="0" dirty="0" err="1">
                <a:ln>
                  <a:noFill/>
                </a:ln>
                <a:solidFill>
                  <a:srgbClr val="404040"/>
                </a:solidFill>
                <a:effectLst/>
                <a:latin typeface="Menlo"/>
              </a:rPr>
              <a:t>tf</a:t>
            </a:r>
            <a:r>
              <a:rPr kumimoji="0" lang="en-US" altLang="en-US" sz="2000" b="1" i="0" u="none" strike="noStrike" cap="none" normalizeH="0" baseline="0" dirty="0">
                <a:ln>
                  <a:noFill/>
                </a:ln>
                <a:solidFill>
                  <a:srgbClr val="404040"/>
                </a:solidFill>
                <a:effectLst/>
                <a:latin typeface="Menlo"/>
              </a:rPr>
              <a:t> (num, den, </a:t>
            </a:r>
            <a:r>
              <a:rPr kumimoji="0" lang="en-US" altLang="en-US" sz="2000" b="1" i="0" u="none" strike="noStrike" cap="none" normalizeH="0" baseline="0" dirty="0">
                <a:ln>
                  <a:noFill/>
                </a:ln>
                <a:solidFill>
                  <a:srgbClr val="A020F0"/>
                </a:solidFill>
                <a:effectLst/>
                <a:latin typeface="Menlo"/>
              </a:rPr>
              <a:t>'</a:t>
            </a:r>
            <a:r>
              <a:rPr kumimoji="0" lang="en-US" altLang="en-US" sz="2000" b="1" i="0" u="none" strike="noStrike" cap="none" normalizeH="0" baseline="0" dirty="0" err="1">
                <a:ln>
                  <a:noFill/>
                </a:ln>
                <a:solidFill>
                  <a:srgbClr val="A020F0"/>
                </a:solidFill>
                <a:effectLst/>
                <a:latin typeface="Menlo"/>
              </a:rPr>
              <a:t>InputDelay</a:t>
            </a:r>
            <a:r>
              <a:rPr kumimoji="0" lang="en-US" altLang="en-US" sz="2000" b="1" i="0" u="none" strike="noStrike" cap="none" normalizeH="0" baseline="0" dirty="0">
                <a:ln>
                  <a:noFill/>
                </a:ln>
                <a:solidFill>
                  <a:srgbClr val="A020F0"/>
                </a:solidFill>
                <a:effectLst/>
                <a:latin typeface="Menlo"/>
              </a:rPr>
              <a:t>'</a:t>
            </a:r>
            <a:r>
              <a:rPr kumimoji="0" lang="en-US" altLang="en-US" sz="2000" b="1" i="0" u="none" strike="noStrike" cap="none" normalizeH="0" baseline="0" dirty="0">
                <a:ln>
                  <a:noFill/>
                </a:ln>
                <a:solidFill>
                  <a:srgbClr val="404040"/>
                </a:solidFill>
                <a:effectLst/>
                <a:latin typeface="Menlo"/>
              </a:rPr>
              <a:t> , 3.4)</a:t>
            </a:r>
            <a:r>
              <a:rPr kumimoji="0" lang="en-US" altLang="en-US" sz="2000" b="1" i="0" u="none" strike="noStrike" cap="none" normalizeH="0" baseline="0" dirty="0">
                <a:ln>
                  <a:noFill/>
                </a:ln>
                <a:solidFill>
                  <a:schemeClr val="tx1"/>
                </a:solidFill>
                <a:effectLst/>
              </a:rPr>
              <a:t> </a:t>
            </a:r>
            <a:endParaRPr kumimoji="0" lang="en-US" altLang="en-US" sz="2000" b="1" i="0" u="none" strike="noStrike" cap="none" normalizeH="0" baseline="0" dirty="0">
              <a:ln>
                <a:noFill/>
              </a:ln>
              <a:solidFill>
                <a:schemeClr val="tx1"/>
              </a:solidFill>
              <a:effectLst/>
              <a:latin typeface="Arial" panose="020B0604020202020204" pitchFamily="34" charset="0"/>
            </a:endParaRPr>
          </a:p>
        </p:txBody>
      </p:sp>
      <p:sp>
        <p:nvSpPr>
          <p:cNvPr id="88" name="Rectangle 1">
            <a:extLst>
              <a:ext uri="{FF2B5EF4-FFF2-40B4-BE49-F238E27FC236}">
                <a16:creationId xmlns:a16="http://schemas.microsoft.com/office/drawing/2014/main" id="{D86F39D6-EF45-4734-8A8C-6D2AA12041A0}"/>
              </a:ext>
            </a:extLst>
          </p:cNvPr>
          <p:cNvSpPr>
            <a:spLocks noChangeArrowheads="1"/>
          </p:cNvSpPr>
          <p:nvPr/>
        </p:nvSpPr>
        <p:spPr bwMode="auto">
          <a:xfrm>
            <a:off x="4063103" y="5156335"/>
            <a:ext cx="4065794" cy="923330"/>
          </a:xfrm>
          <a:prstGeom prst="rect">
            <a:avLst/>
          </a:prstGeom>
          <a:solidFill>
            <a:schemeClr val="accent2">
              <a:lumMod val="20000"/>
              <a:lumOff val="80000"/>
            </a:schemeClr>
          </a:solidFill>
          <a:ln/>
        </p:spPr>
        <p:style>
          <a:lnRef idx="2">
            <a:schemeClr val="dk1"/>
          </a:lnRef>
          <a:fillRef idx="1">
            <a:schemeClr val="lt1"/>
          </a:fillRef>
          <a:effectRef idx="0">
            <a:schemeClr val="dk1"/>
          </a:effectRef>
          <a:fontRef idx="minor">
            <a:schemeClr val="dk1"/>
          </a:fontRef>
        </p:style>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404040"/>
                </a:solidFill>
                <a:effectLst/>
                <a:latin typeface="Menlo"/>
              </a:rPr>
              <a:t>num = 5;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404040"/>
                </a:solidFill>
                <a:effectLst/>
                <a:latin typeface="Menlo"/>
              </a:rPr>
              <a:t>den = [1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404040"/>
                </a:solidFill>
                <a:effectLst/>
                <a:latin typeface="Menlo"/>
              </a:rPr>
              <a:t> P = </a:t>
            </a:r>
            <a:r>
              <a:rPr kumimoji="0" lang="en-US" altLang="en-US" sz="2000" b="1" i="0" u="none" strike="noStrike" cap="none" normalizeH="0" baseline="0" dirty="0" err="1">
                <a:ln>
                  <a:noFill/>
                </a:ln>
                <a:solidFill>
                  <a:srgbClr val="404040"/>
                </a:solidFill>
                <a:effectLst/>
                <a:latin typeface="Menlo"/>
              </a:rPr>
              <a:t>tf</a:t>
            </a:r>
            <a:r>
              <a:rPr kumimoji="0" lang="en-US" altLang="en-US" sz="2000" b="1" i="0" u="none" strike="noStrike" cap="none" normalizeH="0" baseline="0" dirty="0">
                <a:ln>
                  <a:noFill/>
                </a:ln>
                <a:solidFill>
                  <a:srgbClr val="404040"/>
                </a:solidFill>
                <a:effectLst/>
                <a:latin typeface="Menlo"/>
              </a:rPr>
              <a:t> (num, den, </a:t>
            </a:r>
            <a:r>
              <a:rPr kumimoji="0" lang="en-US" altLang="en-US" sz="2000" b="1" i="0" u="none" strike="noStrike" cap="none" normalizeH="0" baseline="0" dirty="0">
                <a:ln>
                  <a:noFill/>
                </a:ln>
                <a:solidFill>
                  <a:srgbClr val="A020F0"/>
                </a:solidFill>
                <a:effectLst/>
                <a:latin typeface="Menlo"/>
              </a:rPr>
              <a:t>‘</a:t>
            </a:r>
            <a:r>
              <a:rPr kumimoji="0" lang="en-US" altLang="en-US" sz="2000" b="1" i="0" u="none" strike="noStrike" cap="none" normalizeH="0" baseline="0" dirty="0" err="1">
                <a:ln>
                  <a:noFill/>
                </a:ln>
                <a:solidFill>
                  <a:srgbClr val="A020F0"/>
                </a:solidFill>
                <a:effectLst/>
                <a:latin typeface="Menlo"/>
              </a:rPr>
              <a:t>IODelay</a:t>
            </a:r>
            <a:r>
              <a:rPr kumimoji="0" lang="en-US" altLang="en-US" sz="2000" b="1" i="0" u="none" strike="noStrike" cap="none" normalizeH="0" baseline="0" dirty="0">
                <a:ln>
                  <a:noFill/>
                </a:ln>
                <a:solidFill>
                  <a:srgbClr val="A020F0"/>
                </a:solidFill>
                <a:effectLst/>
                <a:latin typeface="Menlo"/>
              </a:rPr>
              <a:t>'</a:t>
            </a:r>
            <a:r>
              <a:rPr kumimoji="0" lang="en-US" altLang="en-US" sz="2000" b="1" i="0" u="none" strike="noStrike" cap="none" normalizeH="0" baseline="0" dirty="0">
                <a:ln>
                  <a:noFill/>
                </a:ln>
                <a:solidFill>
                  <a:srgbClr val="404040"/>
                </a:solidFill>
                <a:effectLst/>
                <a:latin typeface="Menlo"/>
              </a:rPr>
              <a:t> , 3.4)</a:t>
            </a:r>
            <a:r>
              <a:rPr kumimoji="0" lang="en-US" altLang="en-US" sz="2000" b="1" i="0" u="none" strike="noStrike" cap="none" normalizeH="0" baseline="0" dirty="0">
                <a:ln>
                  <a:noFill/>
                </a:ln>
                <a:solidFill>
                  <a:schemeClr val="tx1"/>
                </a:solidFill>
                <a:effectLst/>
              </a:rPr>
              <a:t> </a:t>
            </a:r>
            <a:endParaRPr kumimoji="0" lang="en-US" altLang="en-US" sz="2000" b="1" i="0" u="none" strike="noStrike" cap="none" normalizeH="0" baseline="0" dirty="0">
              <a:ln>
                <a:noFill/>
              </a:ln>
              <a:solidFill>
                <a:schemeClr val="tx1"/>
              </a:solidFill>
              <a:effectLst/>
              <a:latin typeface="Arial" panose="020B0604020202020204" pitchFamily="34" charset="0"/>
            </a:endParaRPr>
          </a:p>
        </p:txBody>
      </p:sp>
      <p:sp>
        <p:nvSpPr>
          <p:cNvPr id="89" name="CuadroTexto 88">
            <a:extLst>
              <a:ext uri="{FF2B5EF4-FFF2-40B4-BE49-F238E27FC236}">
                <a16:creationId xmlns:a16="http://schemas.microsoft.com/office/drawing/2014/main" id="{6BE98282-488F-4062-A8CD-3645EF237E6F}"/>
              </a:ext>
            </a:extLst>
          </p:cNvPr>
          <p:cNvSpPr txBox="1"/>
          <p:nvPr/>
        </p:nvSpPr>
        <p:spPr>
          <a:xfrm>
            <a:off x="4309992" y="4580784"/>
            <a:ext cx="3182090" cy="461665"/>
          </a:xfrm>
          <a:prstGeom prst="rect">
            <a:avLst/>
          </a:prstGeom>
          <a:noFill/>
        </p:spPr>
        <p:txBody>
          <a:bodyPr wrap="none" rtlCol="0">
            <a:spAutoFit/>
          </a:bodyPr>
          <a:lstStyle/>
          <a:p>
            <a:r>
              <a:rPr lang="es-419" sz="2400" b="1" dirty="0">
                <a:solidFill>
                  <a:srgbClr val="FF0000"/>
                </a:solidFill>
              </a:rPr>
              <a:t>De forma General Usar:</a:t>
            </a:r>
          </a:p>
        </p:txBody>
      </p:sp>
    </p:spTree>
    <p:extLst>
      <p:ext uri="{BB962C8B-B14F-4D97-AF65-F5344CB8AC3E}">
        <p14:creationId xmlns:p14="http://schemas.microsoft.com/office/powerpoint/2010/main" val="953177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8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9" grpId="0"/>
      <p:bldP spid="60" grpId="0"/>
      <p:bldP spid="61" grpId="0"/>
      <p:bldP spid="62" grpId="0" animBg="1"/>
      <p:bldP spid="63" grpId="0"/>
      <p:bldP spid="72" grpId="0" animBg="1"/>
      <p:bldP spid="75" grpId="0"/>
      <p:bldP spid="76" grpId="0"/>
      <p:bldP spid="77" grpId="0"/>
      <p:bldP spid="78" grpId="0" animBg="1"/>
      <p:bldP spid="79" grpId="0"/>
      <p:bldP spid="84" grpId="0" animBg="1"/>
      <p:bldP spid="87" grpId="0" animBg="1"/>
      <p:bldP spid="88" grpId="0" animBg="1"/>
      <p:bldP spid="8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8F356B33-E125-43B4-BE4C-51C1038DA6CA}"/>
              </a:ext>
            </a:extLst>
          </p:cNvPr>
          <p:cNvSpPr>
            <a:spLocks noGrp="1"/>
          </p:cNvSpPr>
          <p:nvPr>
            <p:ph type="title"/>
          </p:nvPr>
        </p:nvSpPr>
        <p:spPr/>
        <p:txBody>
          <a:bodyPr>
            <a:normAutofit fontScale="90000"/>
          </a:bodyPr>
          <a:lstStyle/>
          <a:p>
            <a:r>
              <a:rPr lang="es-ES" b="1" dirty="0">
                <a:solidFill>
                  <a:srgbClr val="FF0000"/>
                </a:solidFill>
              </a:rPr>
              <a:t>Aproximaciones polinomiales del tiempo muerto</a:t>
            </a:r>
            <a:endParaRPr lang="es-419" b="1" dirty="0">
              <a:solidFill>
                <a:srgbClr val="FF0000"/>
              </a:solidFill>
            </a:endParaRPr>
          </a:p>
        </p:txBody>
      </p:sp>
      <p:sp>
        <p:nvSpPr>
          <p:cNvPr id="5" name="Marcador de contenido 4">
            <a:extLst>
              <a:ext uri="{FF2B5EF4-FFF2-40B4-BE49-F238E27FC236}">
                <a16:creationId xmlns:a16="http://schemas.microsoft.com/office/drawing/2014/main" id="{A2BD5E6B-DD72-432D-BC50-43F77A42A3BC}"/>
              </a:ext>
            </a:extLst>
          </p:cNvPr>
          <p:cNvSpPr>
            <a:spLocks noGrp="1"/>
          </p:cNvSpPr>
          <p:nvPr>
            <p:ph idx="1"/>
          </p:nvPr>
        </p:nvSpPr>
        <p:spPr/>
        <p:txBody>
          <a:bodyPr>
            <a:normAutofit lnSpcReduction="10000"/>
          </a:bodyPr>
          <a:lstStyle/>
          <a:p>
            <a:r>
              <a:rPr lang="es-ES" dirty="0"/>
              <a:t>En el dominio de la frecuencia, el tiempo muerto se puede representar </a:t>
            </a:r>
            <a:r>
              <a:rPr lang="es-ES" b="1" dirty="0"/>
              <a:t>directamente</a:t>
            </a:r>
            <a:r>
              <a:rPr lang="es-ES" dirty="0"/>
              <a:t>, por lo que los métodos de análisis y diseño de frecuencia se pueden utilizar sin aproximaciones en los procesos de tiempo muerto. </a:t>
            </a:r>
          </a:p>
          <a:p>
            <a:r>
              <a:rPr lang="es-ES" dirty="0"/>
              <a:t>Sin embargo, debido a que la </a:t>
            </a:r>
            <a:r>
              <a:rPr lang="es-ES" b="1" dirty="0"/>
              <a:t>función de transferencia </a:t>
            </a:r>
            <a:r>
              <a:rPr lang="es-ES" dirty="0"/>
              <a:t>de un tiempo muerto </a:t>
            </a:r>
            <a:r>
              <a:rPr lang="es-ES" b="1" dirty="0"/>
              <a:t>no es racional</a:t>
            </a:r>
            <a:r>
              <a:rPr lang="es-ES" dirty="0"/>
              <a:t>, cuando se necesitan representaciones de polos cero, como en los métodos del lugar de raíces o de ubicación de polos, se utilizan aproximaciones polinómicas del tiempo muerto.</a:t>
            </a:r>
            <a:endParaRPr lang="es-419" dirty="0"/>
          </a:p>
        </p:txBody>
      </p:sp>
      <p:sp>
        <p:nvSpPr>
          <p:cNvPr id="2" name="Marcador de pie de página 1">
            <a:extLst>
              <a:ext uri="{FF2B5EF4-FFF2-40B4-BE49-F238E27FC236}">
                <a16:creationId xmlns:a16="http://schemas.microsoft.com/office/drawing/2014/main" id="{FBC070DE-08DF-4FAE-BC63-C4AA57324C8B}"/>
              </a:ext>
            </a:extLst>
          </p:cNvPr>
          <p:cNvSpPr>
            <a:spLocks noGrp="1"/>
          </p:cNvSpPr>
          <p:nvPr>
            <p:ph type="ftr" sz="quarter" idx="11"/>
          </p:nvPr>
        </p:nvSpPr>
        <p:spPr/>
        <p:txBody>
          <a:bodyPr/>
          <a:lstStyle/>
          <a:p>
            <a:r>
              <a:rPr lang="en-US"/>
              <a:t>http://controlautomaticoeducacion.com/</a:t>
            </a:r>
          </a:p>
        </p:txBody>
      </p:sp>
      <p:sp>
        <p:nvSpPr>
          <p:cNvPr id="3" name="Marcador de número de diapositiva 2">
            <a:extLst>
              <a:ext uri="{FF2B5EF4-FFF2-40B4-BE49-F238E27FC236}">
                <a16:creationId xmlns:a16="http://schemas.microsoft.com/office/drawing/2014/main" id="{6B06511B-90CF-4D6D-95D5-BA8DD694F5C4}"/>
              </a:ext>
            </a:extLst>
          </p:cNvPr>
          <p:cNvSpPr>
            <a:spLocks noGrp="1"/>
          </p:cNvSpPr>
          <p:nvPr>
            <p:ph type="sldNum" sz="quarter" idx="12"/>
          </p:nvPr>
        </p:nvSpPr>
        <p:spPr/>
        <p:txBody>
          <a:bodyPr/>
          <a:lstStyle/>
          <a:p>
            <a:fld id="{FA1C692C-4F2D-45F6-A9A8-8A3A8FE27806}" type="slidenum">
              <a:rPr lang="en-US" smtClean="0"/>
              <a:pPr/>
              <a:t>8</a:t>
            </a:fld>
            <a:endParaRPr lang="en-US"/>
          </a:p>
        </p:txBody>
      </p:sp>
    </p:spTree>
    <p:extLst>
      <p:ext uri="{BB962C8B-B14F-4D97-AF65-F5344CB8AC3E}">
        <p14:creationId xmlns:p14="http://schemas.microsoft.com/office/powerpoint/2010/main" val="4186097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27DAE3-CF26-433B-A406-2EAF21989384}"/>
              </a:ext>
            </a:extLst>
          </p:cNvPr>
          <p:cNvSpPr>
            <a:spLocks noGrp="1"/>
          </p:cNvSpPr>
          <p:nvPr>
            <p:ph type="title"/>
          </p:nvPr>
        </p:nvSpPr>
        <p:spPr/>
        <p:txBody>
          <a:bodyPr>
            <a:normAutofit fontScale="90000"/>
          </a:bodyPr>
          <a:lstStyle/>
          <a:p>
            <a:r>
              <a:rPr lang="es-ES" b="1" dirty="0">
                <a:solidFill>
                  <a:srgbClr val="FF0000"/>
                </a:solidFill>
              </a:rPr>
              <a:t>Aproximaciones polinomiales del tiempo muerto</a:t>
            </a:r>
            <a:endParaRPr lang="es-419" dirty="0"/>
          </a:p>
        </p:txBody>
      </p:sp>
      <p:sp>
        <p:nvSpPr>
          <p:cNvPr id="3" name="Marcador de contenido 2">
            <a:extLst>
              <a:ext uri="{FF2B5EF4-FFF2-40B4-BE49-F238E27FC236}">
                <a16:creationId xmlns:a16="http://schemas.microsoft.com/office/drawing/2014/main" id="{A51970C4-FAED-42DA-8A3C-E3754AC57C29}"/>
              </a:ext>
            </a:extLst>
          </p:cNvPr>
          <p:cNvSpPr>
            <a:spLocks noGrp="1"/>
          </p:cNvSpPr>
          <p:nvPr>
            <p:ph idx="1"/>
          </p:nvPr>
        </p:nvSpPr>
        <p:spPr>
          <a:xfrm>
            <a:off x="609600" y="1600201"/>
            <a:ext cx="10972800" cy="1324743"/>
          </a:xfrm>
        </p:spPr>
        <p:txBody>
          <a:bodyPr/>
          <a:lstStyle/>
          <a:p>
            <a:r>
              <a:rPr lang="es-419" dirty="0"/>
              <a:t>En la práctica las aproximaciones de Padé para el retardo más comunes son de primer y segundo orden:</a:t>
            </a:r>
          </a:p>
        </p:txBody>
      </p:sp>
      <p:sp>
        <p:nvSpPr>
          <p:cNvPr id="4" name="Marcador de pie de página 3">
            <a:extLst>
              <a:ext uri="{FF2B5EF4-FFF2-40B4-BE49-F238E27FC236}">
                <a16:creationId xmlns:a16="http://schemas.microsoft.com/office/drawing/2014/main" id="{A9B701C6-144D-4E3C-A435-8CF1FE916EBF}"/>
              </a:ext>
            </a:extLst>
          </p:cNvPr>
          <p:cNvSpPr>
            <a:spLocks noGrp="1"/>
          </p:cNvSpPr>
          <p:nvPr>
            <p:ph type="ftr" sz="quarter" idx="11"/>
          </p:nvPr>
        </p:nvSpPr>
        <p:spPr/>
        <p:txBody>
          <a:bodyPr/>
          <a:lstStyle/>
          <a:p>
            <a:r>
              <a:rPr lang="en-US"/>
              <a:t>http://controlautomaticoeducacion.com/</a:t>
            </a:r>
          </a:p>
        </p:txBody>
      </p:sp>
      <p:sp>
        <p:nvSpPr>
          <p:cNvPr id="5" name="Marcador de número de diapositiva 4">
            <a:extLst>
              <a:ext uri="{FF2B5EF4-FFF2-40B4-BE49-F238E27FC236}">
                <a16:creationId xmlns:a16="http://schemas.microsoft.com/office/drawing/2014/main" id="{8521AEB7-97C8-4C2D-B066-3A2991EBBF4D}"/>
              </a:ext>
            </a:extLst>
          </p:cNvPr>
          <p:cNvSpPr>
            <a:spLocks noGrp="1"/>
          </p:cNvSpPr>
          <p:nvPr>
            <p:ph type="sldNum" sz="quarter" idx="12"/>
          </p:nvPr>
        </p:nvSpPr>
        <p:spPr/>
        <p:txBody>
          <a:bodyPr/>
          <a:lstStyle/>
          <a:p>
            <a:fld id="{FA1C692C-4F2D-45F6-A9A8-8A3A8FE27806}" type="slidenum">
              <a:rPr lang="en-US" smtClean="0"/>
              <a:pPr/>
              <a:t>9</a:t>
            </a:fld>
            <a:endParaRPr lang="en-US"/>
          </a:p>
        </p:txBody>
      </p:sp>
      <p:pic>
        <p:nvPicPr>
          <p:cNvPr id="8" name="Imagen 7">
            <a:extLst>
              <a:ext uri="{FF2B5EF4-FFF2-40B4-BE49-F238E27FC236}">
                <a16:creationId xmlns:a16="http://schemas.microsoft.com/office/drawing/2014/main" id="{D0E96159-3EEA-43F7-8D21-E09963D46147}"/>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487488" y="3432729"/>
            <a:ext cx="1980950" cy="1392379"/>
          </a:xfrm>
          <a:prstGeom prst="rect">
            <a:avLst/>
          </a:prstGeom>
        </p:spPr>
      </p:pic>
      <p:pic>
        <p:nvPicPr>
          <p:cNvPr id="11" name="Imagen 10">
            <a:extLst>
              <a:ext uri="{FF2B5EF4-FFF2-40B4-BE49-F238E27FC236}">
                <a16:creationId xmlns:a16="http://schemas.microsoft.com/office/drawing/2014/main" id="{CA41115E-A5D4-4B36-A45D-C616DBFBF4FC}"/>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5807968" y="3421609"/>
            <a:ext cx="3049520" cy="1468569"/>
          </a:xfrm>
          <a:prstGeom prst="rect">
            <a:avLst/>
          </a:prstGeom>
        </p:spPr>
      </p:pic>
    </p:spTree>
    <p:extLst>
      <p:ext uri="{BB962C8B-B14F-4D97-AF65-F5344CB8AC3E}">
        <p14:creationId xmlns:p14="http://schemas.microsoft.com/office/powerpoint/2010/main" val="3493845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Marcador de pie de página 1">
            <a:extLst>
              <a:ext uri="{FF2B5EF4-FFF2-40B4-BE49-F238E27FC236}">
                <a16:creationId xmlns:a16="http://schemas.microsoft.com/office/drawing/2014/main" id="{1009B748-2C27-49CE-9C18-70962B82275D}"/>
              </a:ext>
            </a:extLst>
          </p:cNvPr>
          <p:cNvSpPr txBox="1">
            <a:spLocks/>
          </p:cNvSpPr>
          <p:nvPr/>
        </p:nvSpPr>
        <p:spPr>
          <a:xfrm rot="21340467">
            <a:off x="50976" y="2628209"/>
            <a:ext cx="11753628" cy="183341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800" dirty="0">
                <a:solidFill>
                  <a:schemeClr val="bg1">
                    <a:lumMod val="85000"/>
                  </a:schemeClr>
                </a:solidFill>
              </a:rPr>
              <a:t>http://controlautomaticoeducacion.com/</a:t>
            </a:r>
          </a:p>
        </p:txBody>
      </p:sp>
      <p:sp>
        <p:nvSpPr>
          <p:cNvPr id="2" name="Título 1">
            <a:extLst>
              <a:ext uri="{FF2B5EF4-FFF2-40B4-BE49-F238E27FC236}">
                <a16:creationId xmlns:a16="http://schemas.microsoft.com/office/drawing/2014/main" id="{41F4440B-A3C1-4CD9-AFFF-43BFDABF1CF2}"/>
              </a:ext>
            </a:extLst>
          </p:cNvPr>
          <p:cNvSpPr>
            <a:spLocks noGrp="1"/>
          </p:cNvSpPr>
          <p:nvPr>
            <p:ph type="title"/>
          </p:nvPr>
        </p:nvSpPr>
        <p:spPr>
          <a:xfrm>
            <a:off x="609600" y="-243408"/>
            <a:ext cx="10972800" cy="1143000"/>
          </a:xfrm>
        </p:spPr>
        <p:txBody>
          <a:bodyPr/>
          <a:lstStyle/>
          <a:p>
            <a:r>
              <a:rPr lang="es-419" b="1" dirty="0">
                <a:solidFill>
                  <a:srgbClr val="FF0000"/>
                </a:solidFill>
              </a:rPr>
              <a:t>Retardo del Sistema</a:t>
            </a:r>
          </a:p>
        </p:txBody>
      </p:sp>
      <p:pic>
        <p:nvPicPr>
          <p:cNvPr id="7" name="Marcador de contenido 6">
            <a:extLst>
              <a:ext uri="{FF2B5EF4-FFF2-40B4-BE49-F238E27FC236}">
                <a16:creationId xmlns:a16="http://schemas.microsoft.com/office/drawing/2014/main" id="{C4359EE8-FF11-4CCE-A8FD-5BBFBCBDA14E}"/>
              </a:ext>
            </a:extLst>
          </p:cNvPr>
          <p:cNvPicPr>
            <a:picLocks noGrp="1" noChangeAspect="1"/>
          </p:cNvPicPr>
          <p:nvPr>
            <p:ph idx="1"/>
          </p:nvPr>
        </p:nvPicPr>
        <p:blipFill>
          <a:blip r:embed="rId7"/>
          <a:stretch>
            <a:fillRect/>
          </a:stretch>
        </p:blipFill>
        <p:spPr>
          <a:xfrm>
            <a:off x="5927790" y="931062"/>
            <a:ext cx="5688632" cy="5504361"/>
          </a:xfrm>
        </p:spPr>
      </p:pic>
      <p:sp>
        <p:nvSpPr>
          <p:cNvPr id="4" name="Marcador de pie de página 3">
            <a:extLst>
              <a:ext uri="{FF2B5EF4-FFF2-40B4-BE49-F238E27FC236}">
                <a16:creationId xmlns:a16="http://schemas.microsoft.com/office/drawing/2014/main" id="{93E62B0B-19A1-4368-8F7B-2DF0AF7D9325}"/>
              </a:ext>
            </a:extLst>
          </p:cNvPr>
          <p:cNvSpPr>
            <a:spLocks noGrp="1"/>
          </p:cNvSpPr>
          <p:nvPr>
            <p:ph type="ftr" sz="quarter" idx="11"/>
          </p:nvPr>
        </p:nvSpPr>
        <p:spPr/>
        <p:txBody>
          <a:bodyPr/>
          <a:lstStyle/>
          <a:p>
            <a:r>
              <a:rPr lang="en-US"/>
              <a:t>http://controlautomaticoeducacion.com/</a:t>
            </a:r>
          </a:p>
        </p:txBody>
      </p:sp>
      <p:sp>
        <p:nvSpPr>
          <p:cNvPr id="5" name="Marcador de número de diapositiva 4">
            <a:extLst>
              <a:ext uri="{FF2B5EF4-FFF2-40B4-BE49-F238E27FC236}">
                <a16:creationId xmlns:a16="http://schemas.microsoft.com/office/drawing/2014/main" id="{29F66183-4E02-425C-B4C7-A4A4DB619B31}"/>
              </a:ext>
            </a:extLst>
          </p:cNvPr>
          <p:cNvSpPr>
            <a:spLocks noGrp="1"/>
          </p:cNvSpPr>
          <p:nvPr>
            <p:ph type="sldNum" sz="quarter" idx="12"/>
          </p:nvPr>
        </p:nvSpPr>
        <p:spPr/>
        <p:txBody>
          <a:bodyPr/>
          <a:lstStyle/>
          <a:p>
            <a:fld id="{FA1C692C-4F2D-45F6-A9A8-8A3A8FE27806}" type="slidenum">
              <a:rPr lang="en-US" smtClean="0"/>
              <a:pPr/>
              <a:t>10</a:t>
            </a:fld>
            <a:endParaRPr lang="en-US"/>
          </a:p>
        </p:txBody>
      </p:sp>
      <p:pic>
        <p:nvPicPr>
          <p:cNvPr id="6" name="Imagen 5">
            <a:extLst>
              <a:ext uri="{FF2B5EF4-FFF2-40B4-BE49-F238E27FC236}">
                <a16:creationId xmlns:a16="http://schemas.microsoft.com/office/drawing/2014/main" id="{AF1ECE35-AFB8-4171-B606-EFE27D63893F}"/>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2032634" y="1112268"/>
            <a:ext cx="1813333" cy="533333"/>
          </a:xfrm>
          <a:prstGeom prst="rect">
            <a:avLst/>
          </a:prstGeom>
        </p:spPr>
      </p:pic>
      <p:sp>
        <p:nvSpPr>
          <p:cNvPr id="8" name="CuadroTexto 7">
            <a:extLst>
              <a:ext uri="{FF2B5EF4-FFF2-40B4-BE49-F238E27FC236}">
                <a16:creationId xmlns:a16="http://schemas.microsoft.com/office/drawing/2014/main" id="{D747BBCA-D2F8-4CC1-B545-346E9E378A13}"/>
              </a:ext>
            </a:extLst>
          </p:cNvPr>
          <p:cNvSpPr txBox="1"/>
          <p:nvPr/>
        </p:nvSpPr>
        <p:spPr>
          <a:xfrm>
            <a:off x="786250" y="1166258"/>
            <a:ext cx="977896" cy="369332"/>
          </a:xfrm>
          <a:prstGeom prst="rect">
            <a:avLst/>
          </a:prstGeom>
          <a:noFill/>
        </p:spPr>
        <p:txBody>
          <a:bodyPr wrap="none" rtlCol="0">
            <a:spAutoFit/>
          </a:bodyPr>
          <a:lstStyle/>
          <a:p>
            <a:r>
              <a:rPr lang="es-419" dirty="0"/>
              <a:t>Sistema:</a:t>
            </a:r>
          </a:p>
        </p:txBody>
      </p:sp>
      <p:sp>
        <p:nvSpPr>
          <p:cNvPr id="9" name="CuadroTexto 8">
            <a:extLst>
              <a:ext uri="{FF2B5EF4-FFF2-40B4-BE49-F238E27FC236}">
                <a16:creationId xmlns:a16="http://schemas.microsoft.com/office/drawing/2014/main" id="{0725197F-B492-4A16-BA1E-06818312207F}"/>
              </a:ext>
            </a:extLst>
          </p:cNvPr>
          <p:cNvSpPr txBox="1"/>
          <p:nvPr/>
        </p:nvSpPr>
        <p:spPr>
          <a:xfrm>
            <a:off x="786250" y="1988840"/>
            <a:ext cx="1074205" cy="369332"/>
          </a:xfrm>
          <a:prstGeom prst="rect">
            <a:avLst/>
          </a:prstGeom>
          <a:noFill/>
        </p:spPr>
        <p:txBody>
          <a:bodyPr wrap="none" rtlCol="0">
            <a:spAutoFit/>
          </a:bodyPr>
          <a:lstStyle/>
          <a:p>
            <a:r>
              <a:rPr lang="es-419" dirty="0"/>
              <a:t>Padé 1er:</a:t>
            </a:r>
          </a:p>
        </p:txBody>
      </p:sp>
      <p:sp>
        <p:nvSpPr>
          <p:cNvPr id="10" name="CuadroTexto 9">
            <a:extLst>
              <a:ext uri="{FF2B5EF4-FFF2-40B4-BE49-F238E27FC236}">
                <a16:creationId xmlns:a16="http://schemas.microsoft.com/office/drawing/2014/main" id="{90DCEC00-8156-4341-9FD0-3D1A030967B3}"/>
              </a:ext>
            </a:extLst>
          </p:cNvPr>
          <p:cNvSpPr txBox="1"/>
          <p:nvPr/>
        </p:nvSpPr>
        <p:spPr>
          <a:xfrm>
            <a:off x="786249" y="2924944"/>
            <a:ext cx="1122295" cy="369332"/>
          </a:xfrm>
          <a:prstGeom prst="rect">
            <a:avLst/>
          </a:prstGeom>
          <a:noFill/>
        </p:spPr>
        <p:txBody>
          <a:bodyPr wrap="none" rtlCol="0">
            <a:spAutoFit/>
          </a:bodyPr>
          <a:lstStyle/>
          <a:p>
            <a:r>
              <a:rPr lang="es-419" dirty="0"/>
              <a:t>Padé 2do:</a:t>
            </a:r>
          </a:p>
        </p:txBody>
      </p:sp>
      <p:sp>
        <p:nvSpPr>
          <p:cNvPr id="11" name="CuadroTexto 10">
            <a:extLst>
              <a:ext uri="{FF2B5EF4-FFF2-40B4-BE49-F238E27FC236}">
                <a16:creationId xmlns:a16="http://schemas.microsoft.com/office/drawing/2014/main" id="{2A9A671A-1696-408D-A5A9-9F085E180B2D}"/>
              </a:ext>
            </a:extLst>
          </p:cNvPr>
          <p:cNvSpPr txBox="1"/>
          <p:nvPr/>
        </p:nvSpPr>
        <p:spPr>
          <a:xfrm>
            <a:off x="786249" y="4018730"/>
            <a:ext cx="1172244" cy="369332"/>
          </a:xfrm>
          <a:prstGeom prst="rect">
            <a:avLst/>
          </a:prstGeom>
          <a:noFill/>
        </p:spPr>
        <p:txBody>
          <a:bodyPr wrap="none" rtlCol="0">
            <a:spAutoFit/>
          </a:bodyPr>
          <a:lstStyle/>
          <a:p>
            <a:r>
              <a:rPr lang="es-419" dirty="0"/>
              <a:t>Taylor 1er:</a:t>
            </a:r>
          </a:p>
        </p:txBody>
      </p:sp>
      <p:sp>
        <p:nvSpPr>
          <p:cNvPr id="12" name="CuadroTexto 11">
            <a:extLst>
              <a:ext uri="{FF2B5EF4-FFF2-40B4-BE49-F238E27FC236}">
                <a16:creationId xmlns:a16="http://schemas.microsoft.com/office/drawing/2014/main" id="{3F65F0A7-CF1D-4A69-96F6-9D6F49C73E4A}"/>
              </a:ext>
            </a:extLst>
          </p:cNvPr>
          <p:cNvSpPr txBox="1"/>
          <p:nvPr/>
        </p:nvSpPr>
        <p:spPr>
          <a:xfrm>
            <a:off x="789292" y="4973256"/>
            <a:ext cx="978153" cy="369332"/>
          </a:xfrm>
          <a:prstGeom prst="rect">
            <a:avLst/>
          </a:prstGeom>
          <a:noFill/>
        </p:spPr>
        <p:txBody>
          <a:bodyPr wrap="none" rtlCol="0">
            <a:spAutoFit/>
          </a:bodyPr>
          <a:lstStyle/>
          <a:p>
            <a:r>
              <a:rPr lang="es-419" dirty="0" err="1"/>
              <a:t>Lag</a:t>
            </a:r>
            <a:r>
              <a:rPr lang="es-419" dirty="0"/>
              <a:t> 2do:</a:t>
            </a:r>
          </a:p>
        </p:txBody>
      </p:sp>
      <p:pic>
        <p:nvPicPr>
          <p:cNvPr id="18" name="Imagen 17">
            <a:extLst>
              <a:ext uri="{FF2B5EF4-FFF2-40B4-BE49-F238E27FC236}">
                <a16:creationId xmlns:a16="http://schemas.microsoft.com/office/drawing/2014/main" id="{041D7B66-539C-4476-AD87-2D0BB0303899}"/>
              </a:ext>
            </a:extLst>
          </p:cNvPr>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2032634" y="1906839"/>
            <a:ext cx="2558476" cy="534857"/>
          </a:xfrm>
          <a:prstGeom prst="rect">
            <a:avLst/>
          </a:prstGeom>
        </p:spPr>
      </p:pic>
      <p:pic>
        <p:nvPicPr>
          <p:cNvPr id="21" name="Imagen 20">
            <a:extLst>
              <a:ext uri="{FF2B5EF4-FFF2-40B4-BE49-F238E27FC236}">
                <a16:creationId xmlns:a16="http://schemas.microsoft.com/office/drawing/2014/main" id="{BCDE16E3-206C-4D08-A74A-ABBBB579CF16}"/>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2042738" y="2841420"/>
            <a:ext cx="3733332" cy="574476"/>
          </a:xfrm>
          <a:prstGeom prst="rect">
            <a:avLst/>
          </a:prstGeom>
        </p:spPr>
      </p:pic>
      <p:pic>
        <p:nvPicPr>
          <p:cNvPr id="24" name="Imagen 23">
            <a:extLst>
              <a:ext uri="{FF2B5EF4-FFF2-40B4-BE49-F238E27FC236}">
                <a16:creationId xmlns:a16="http://schemas.microsoft.com/office/drawing/2014/main" id="{632B9EA1-ACC1-4CCE-B97C-286CDE210B09}"/>
              </a:ext>
            </a:extLst>
          </p:cNvPr>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2110213" y="3916158"/>
            <a:ext cx="2038857" cy="533333"/>
          </a:xfrm>
          <a:prstGeom prst="rect">
            <a:avLst/>
          </a:prstGeom>
        </p:spPr>
      </p:pic>
      <p:pic>
        <p:nvPicPr>
          <p:cNvPr id="27" name="Imagen 26">
            <a:extLst>
              <a:ext uri="{FF2B5EF4-FFF2-40B4-BE49-F238E27FC236}">
                <a16:creationId xmlns:a16="http://schemas.microsoft.com/office/drawing/2014/main" id="{631B3570-74F4-4FCF-82D1-97F034307D78}"/>
              </a:ext>
            </a:extLst>
          </p:cNvPr>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2139950" y="4848818"/>
            <a:ext cx="3029332" cy="533333"/>
          </a:xfrm>
          <a:prstGeom prst="rect">
            <a:avLst/>
          </a:prstGeom>
        </p:spPr>
      </p:pic>
    </p:spTree>
    <p:extLst>
      <p:ext uri="{BB962C8B-B14F-4D97-AF65-F5344CB8AC3E}">
        <p14:creationId xmlns:p14="http://schemas.microsoft.com/office/powerpoint/2010/main" val="160450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Elipse"/>
          <p:cNvSpPr/>
          <p:nvPr/>
        </p:nvSpPr>
        <p:spPr>
          <a:xfrm>
            <a:off x="1155121" y="2299360"/>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mc:AlternateContent xmlns:mc="http://schemas.openxmlformats.org/markup-compatibility/2006" xmlns:a14="http://schemas.microsoft.com/office/drawing/2010/main">
        <mc:Choice Requires="a14">
          <p:sp>
            <p:nvSpPr>
              <p:cNvPr id="6" name="2 Rectángulo"/>
              <p:cNvSpPr/>
              <p:nvPr/>
            </p:nvSpPr>
            <p:spPr>
              <a:xfrm>
                <a:off x="2070200" y="2263361"/>
                <a:ext cx="64807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sz="2000">
                          <a:latin typeface="Cambria Math"/>
                        </a:rPr>
                        <m:t>C</m:t>
                      </m:r>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6" name="2 Rectángulo"/>
              <p:cNvSpPr>
                <a:spLocks noRot="1" noChangeAspect="1" noMove="1" noResize="1" noEditPoints="1" noAdjustHandles="1" noChangeArrowheads="1" noChangeShapeType="1" noTextEdit="1"/>
              </p:cNvSpPr>
              <p:nvPr/>
            </p:nvSpPr>
            <p:spPr>
              <a:xfrm>
                <a:off x="2070200" y="2263361"/>
                <a:ext cx="648072" cy="504055"/>
              </a:xfrm>
              <a:prstGeom prst="rect">
                <a:avLst/>
              </a:prstGeom>
              <a:blipFill rotWithShape="0">
                <a:blip r:embed="rId3"/>
                <a:stretch>
                  <a:fillRect l="-2727"/>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8" name="4 Rectángulo"/>
              <p:cNvSpPr/>
              <p:nvPr/>
            </p:nvSpPr>
            <p:spPr>
              <a:xfrm>
                <a:off x="4348751" y="2263361"/>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sz="2000">
                          <a:latin typeface="Cambria Math"/>
                        </a:rPr>
                        <m:t>P</m:t>
                      </m:r>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8" name="4 Rectángulo"/>
              <p:cNvSpPr>
                <a:spLocks noRot="1" noChangeAspect="1" noMove="1" noResize="1" noEditPoints="1" noAdjustHandles="1" noChangeArrowheads="1" noChangeShapeType="1" noTextEdit="1"/>
              </p:cNvSpPr>
              <p:nvPr/>
            </p:nvSpPr>
            <p:spPr>
              <a:xfrm>
                <a:off x="4348751" y="2263361"/>
                <a:ext cx="792088" cy="504055"/>
              </a:xfrm>
              <a:prstGeom prst="rect">
                <a:avLst/>
              </a:prstGeom>
              <a:blipFill rotWithShape="0">
                <a:blip r:embed="rId4"/>
                <a:stretch>
                  <a:fillRect/>
                </a:stretch>
              </a:blipFill>
            </p:spPr>
            <p:txBody>
              <a:bodyPr/>
              <a:lstStyle/>
              <a:p>
                <a:r>
                  <a:rPr lang="es-CO">
                    <a:noFill/>
                  </a:rPr>
                  <a:t> </a:t>
                </a:r>
              </a:p>
            </p:txBody>
          </p:sp>
        </mc:Fallback>
      </mc:AlternateContent>
      <p:cxnSp>
        <p:nvCxnSpPr>
          <p:cNvPr id="12" name="8 Conector recto de flecha"/>
          <p:cNvCxnSpPr>
            <a:endCxn id="5" idx="2"/>
          </p:cNvCxnSpPr>
          <p:nvPr/>
        </p:nvCxnSpPr>
        <p:spPr>
          <a:xfrm>
            <a:off x="353835" y="2515224"/>
            <a:ext cx="801286"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3" name="9 Conector recto de flecha"/>
          <p:cNvCxnSpPr>
            <a:stCxn id="5" idx="6"/>
            <a:endCxn id="6" idx="1"/>
          </p:cNvCxnSpPr>
          <p:nvPr/>
        </p:nvCxnSpPr>
        <p:spPr>
          <a:xfrm>
            <a:off x="1587170" y="2515384"/>
            <a:ext cx="483031"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4" name="10 Conector recto de flecha"/>
          <p:cNvCxnSpPr>
            <a:stCxn id="6" idx="3"/>
          </p:cNvCxnSpPr>
          <p:nvPr/>
        </p:nvCxnSpPr>
        <p:spPr>
          <a:xfrm flipV="1">
            <a:off x="2718273" y="2515224"/>
            <a:ext cx="1205811" cy="165"/>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8" name="14 Conector recto de flecha"/>
          <p:cNvCxnSpPr/>
          <p:nvPr/>
        </p:nvCxnSpPr>
        <p:spPr>
          <a:xfrm>
            <a:off x="5665325" y="2515223"/>
            <a:ext cx="2046357" cy="16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5" name="21 Conector recto de flecha"/>
          <p:cNvCxnSpPr/>
          <p:nvPr/>
        </p:nvCxnSpPr>
        <p:spPr>
          <a:xfrm>
            <a:off x="6853456" y="2515224"/>
            <a:ext cx="0" cy="1669523"/>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8" name="24 Conector recto de flecha"/>
          <p:cNvCxnSpPr/>
          <p:nvPr/>
        </p:nvCxnSpPr>
        <p:spPr>
          <a:xfrm>
            <a:off x="1371146" y="4184585"/>
            <a:ext cx="5482311" cy="0"/>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9" name="25 Conector recto de flecha"/>
          <p:cNvCxnSpPr>
            <a:endCxn id="5" idx="4"/>
          </p:cNvCxnSpPr>
          <p:nvPr/>
        </p:nvCxnSpPr>
        <p:spPr>
          <a:xfrm flipV="1">
            <a:off x="1371145" y="2731409"/>
            <a:ext cx="0" cy="145317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31" name="27 Conector recto de flecha"/>
          <p:cNvCxnSpPr/>
          <p:nvPr/>
        </p:nvCxnSpPr>
        <p:spPr>
          <a:xfrm>
            <a:off x="1515161" y="2839424"/>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3" name="29 Rectángulo"/>
              <p:cNvSpPr/>
              <p:nvPr/>
            </p:nvSpPr>
            <p:spPr>
              <a:xfrm>
                <a:off x="407704" y="2068738"/>
                <a:ext cx="688715"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𝑟</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3" name="29 Rectángulo"/>
              <p:cNvSpPr>
                <a:spLocks noRot="1" noChangeAspect="1" noMove="1" noResize="1" noEditPoints="1" noAdjustHandles="1" noChangeArrowheads="1" noChangeShapeType="1" noTextEdit="1"/>
              </p:cNvSpPr>
              <p:nvPr/>
            </p:nvSpPr>
            <p:spPr>
              <a:xfrm>
                <a:off x="407704" y="2068738"/>
                <a:ext cx="688715" cy="400110"/>
              </a:xfrm>
              <a:prstGeom prst="rect">
                <a:avLst/>
              </a:prstGeom>
              <a:blipFill rotWithShape="0">
                <a:blip r:embed="rId5"/>
                <a:stretch>
                  <a:fillRect b="-1515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4" name="30 Rectángulo"/>
              <p:cNvSpPr/>
              <p:nvPr/>
            </p:nvSpPr>
            <p:spPr>
              <a:xfrm>
                <a:off x="1450752" y="2062063"/>
                <a:ext cx="693523"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𝑒</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4" name="30 Rectángulo"/>
              <p:cNvSpPr>
                <a:spLocks noRot="1" noChangeAspect="1" noMove="1" noResize="1" noEditPoints="1" noAdjustHandles="1" noChangeArrowheads="1" noChangeShapeType="1" noTextEdit="1"/>
              </p:cNvSpPr>
              <p:nvPr/>
            </p:nvSpPr>
            <p:spPr>
              <a:xfrm>
                <a:off x="1450752" y="2062063"/>
                <a:ext cx="693523" cy="400110"/>
              </a:xfrm>
              <a:prstGeom prst="rect">
                <a:avLst/>
              </a:prstGeom>
              <a:blipFill rotWithShape="0">
                <a:blip r:embed="rId6"/>
                <a:stretch>
                  <a:fillRect b="-1515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5" name="31 Rectángulo"/>
              <p:cNvSpPr/>
              <p:nvPr/>
            </p:nvSpPr>
            <p:spPr>
              <a:xfrm>
                <a:off x="2667252" y="2080677"/>
                <a:ext cx="71526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𝑢</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5" name="31 Rectángulo"/>
              <p:cNvSpPr>
                <a:spLocks noRot="1" noChangeAspect="1" noMove="1" noResize="1" noEditPoints="1" noAdjustHandles="1" noChangeArrowheads="1" noChangeShapeType="1" noTextEdit="1"/>
              </p:cNvSpPr>
              <p:nvPr/>
            </p:nvSpPr>
            <p:spPr>
              <a:xfrm>
                <a:off x="2667252" y="2080677"/>
                <a:ext cx="715260" cy="400110"/>
              </a:xfrm>
              <a:prstGeom prst="rect">
                <a:avLst/>
              </a:prstGeom>
              <a:blipFill rotWithShape="0">
                <a:blip r:embed="rId7"/>
                <a:stretch>
                  <a:fillRect b="-1515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9" name="35 Rectángulo"/>
              <p:cNvSpPr/>
              <p:nvPr/>
            </p:nvSpPr>
            <p:spPr>
              <a:xfrm>
                <a:off x="6301487" y="2094080"/>
                <a:ext cx="70987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𝑦</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9" name="35 Rectángulo"/>
              <p:cNvSpPr>
                <a:spLocks noRot="1" noChangeAspect="1" noMove="1" noResize="1" noEditPoints="1" noAdjustHandles="1" noChangeArrowheads="1" noChangeShapeType="1" noTextEdit="1"/>
              </p:cNvSpPr>
              <p:nvPr/>
            </p:nvSpPr>
            <p:spPr>
              <a:xfrm>
                <a:off x="6301487" y="2094080"/>
                <a:ext cx="709874" cy="400110"/>
              </a:xfrm>
              <a:prstGeom prst="rect">
                <a:avLst/>
              </a:prstGeom>
              <a:blipFill rotWithShape="0">
                <a:blip r:embed="rId8"/>
                <a:stretch>
                  <a:fillRect b="-15385"/>
                </a:stretch>
              </a:blipFill>
            </p:spPr>
            <p:txBody>
              <a:bodyPr/>
              <a:lstStyle/>
              <a:p>
                <a:r>
                  <a:rPr lang="es-CO">
                    <a:noFill/>
                  </a:rPr>
                  <a:t> </a:t>
                </a:r>
              </a:p>
            </p:txBody>
          </p:sp>
        </mc:Fallback>
      </mc:AlternateContent>
      <p:pic>
        <p:nvPicPr>
          <p:cNvPr id="46" name="Picture 4"/>
          <p:cNvPicPr>
            <a:picLocks noChangeAspect="1" noChangeArrowheads="1"/>
          </p:cNvPicPr>
          <p:nvPr/>
        </p:nvPicPr>
        <p:blipFill>
          <a:blip r:embed="rId9" cstate="print"/>
          <a:srcRect/>
          <a:stretch>
            <a:fillRect/>
          </a:stretch>
        </p:blipFill>
        <p:spPr bwMode="auto">
          <a:xfrm>
            <a:off x="0" y="-28249"/>
            <a:ext cx="12192000" cy="1071546"/>
          </a:xfrm>
          <a:prstGeom prst="rect">
            <a:avLst/>
          </a:prstGeom>
          <a:noFill/>
          <a:ln w="9525">
            <a:noFill/>
            <a:miter lim="800000"/>
            <a:headEnd/>
            <a:tailEnd/>
          </a:ln>
          <a:effectLst/>
        </p:spPr>
      </p:pic>
      <p:sp>
        <p:nvSpPr>
          <p:cNvPr id="47" name="CaixaDeTexto 46"/>
          <p:cNvSpPr txBox="1"/>
          <p:nvPr/>
        </p:nvSpPr>
        <p:spPr>
          <a:xfrm>
            <a:off x="1631504" y="165120"/>
            <a:ext cx="8928992" cy="646331"/>
          </a:xfrm>
          <a:prstGeom prst="rect">
            <a:avLst/>
          </a:prstGeom>
          <a:noFill/>
        </p:spPr>
        <p:txBody>
          <a:bodyPr wrap="square" rtlCol="0">
            <a:spAutoFit/>
          </a:bodyPr>
          <a:lstStyle/>
          <a:p>
            <a:pPr algn="ctr"/>
            <a:r>
              <a:rPr lang="pt-BR" sz="3600" b="1" dirty="0">
                <a:solidFill>
                  <a:schemeClr val="bg1"/>
                </a:solidFill>
              </a:rPr>
              <a:t>PREDICTOR DE SMITH</a:t>
            </a:r>
            <a:endParaRPr lang="pt-BR" sz="1100" b="1" i="1" dirty="0">
              <a:solidFill>
                <a:schemeClr val="bg1"/>
              </a:solidFill>
            </a:endParaRPr>
          </a:p>
        </p:txBody>
      </p:sp>
      <p:sp>
        <p:nvSpPr>
          <p:cNvPr id="58" name="Nuvem 57"/>
          <p:cNvSpPr/>
          <p:nvPr/>
        </p:nvSpPr>
        <p:spPr>
          <a:xfrm>
            <a:off x="3924084" y="1882219"/>
            <a:ext cx="1741241" cy="1100961"/>
          </a:xfrm>
          <a:prstGeom prst="cloud">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dirty="0" err="1">
                <a:solidFill>
                  <a:schemeClr val="tx1"/>
                </a:solidFill>
              </a:rPr>
              <a:t>Proceso</a:t>
            </a:r>
            <a:r>
              <a:rPr lang="pt-BR" sz="2000" dirty="0">
                <a:solidFill>
                  <a:schemeClr val="tx1"/>
                </a:solidFill>
              </a:rPr>
              <a:t> + retardo</a:t>
            </a:r>
          </a:p>
        </p:txBody>
      </p:sp>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z="2000" smtClean="0"/>
              <a:pPr/>
              <a:t>11</a:t>
            </a:fld>
            <a:endParaRPr lang="en-US" sz="2000" dirty="0"/>
          </a:p>
        </p:txBody>
      </p:sp>
      <p:pic>
        <p:nvPicPr>
          <p:cNvPr id="4" name="Imagem 3"/>
          <p:cNvPicPr>
            <a:picLocks noChangeAspect="1"/>
          </p:cNvPicPr>
          <p:nvPr/>
        </p:nvPicPr>
        <p:blipFill>
          <a:blip r:embed="rId10"/>
          <a:stretch>
            <a:fillRect/>
          </a:stretch>
        </p:blipFill>
        <p:spPr>
          <a:xfrm>
            <a:off x="7376119" y="3125932"/>
            <a:ext cx="4967527" cy="3122109"/>
          </a:xfrm>
          <a:prstGeom prst="rect">
            <a:avLst/>
          </a:prstGeom>
        </p:spPr>
      </p:pic>
      <p:sp>
        <p:nvSpPr>
          <p:cNvPr id="7" name="Forma livre 6"/>
          <p:cNvSpPr/>
          <p:nvPr/>
        </p:nvSpPr>
        <p:spPr>
          <a:xfrm>
            <a:off x="2532185" y="1839041"/>
            <a:ext cx="1670538" cy="359036"/>
          </a:xfrm>
          <a:custGeom>
            <a:avLst/>
            <a:gdLst>
              <a:gd name="connsiteX0" fmla="*/ 0 w 1670538"/>
              <a:gd name="connsiteY0" fmla="*/ 359036 h 359036"/>
              <a:gd name="connsiteX1" fmla="*/ 386861 w 1670538"/>
              <a:gd name="connsiteY1" fmla="*/ 77682 h 359036"/>
              <a:gd name="connsiteX2" fmla="*/ 1055077 w 1670538"/>
              <a:gd name="connsiteY2" fmla="*/ 7344 h 359036"/>
              <a:gd name="connsiteX3" fmla="*/ 1670538 w 1670538"/>
              <a:gd name="connsiteY3" fmla="*/ 218359 h 359036"/>
            </a:gdLst>
            <a:ahLst/>
            <a:cxnLst>
              <a:cxn ang="0">
                <a:pos x="connsiteX0" y="connsiteY0"/>
              </a:cxn>
              <a:cxn ang="0">
                <a:pos x="connsiteX1" y="connsiteY1"/>
              </a:cxn>
              <a:cxn ang="0">
                <a:pos x="connsiteX2" y="connsiteY2"/>
              </a:cxn>
              <a:cxn ang="0">
                <a:pos x="connsiteX3" y="connsiteY3"/>
              </a:cxn>
            </a:cxnLst>
            <a:rect l="l" t="t" r="r" b="b"/>
            <a:pathLst>
              <a:path w="1670538" h="359036">
                <a:moveTo>
                  <a:pt x="0" y="359036"/>
                </a:moveTo>
                <a:cubicBezTo>
                  <a:pt x="105507" y="247666"/>
                  <a:pt x="211015" y="136297"/>
                  <a:pt x="386861" y="77682"/>
                </a:cubicBezTo>
                <a:cubicBezTo>
                  <a:pt x="562707" y="19067"/>
                  <a:pt x="841131" y="-16102"/>
                  <a:pt x="1055077" y="7344"/>
                </a:cubicBezTo>
                <a:cubicBezTo>
                  <a:pt x="1269023" y="30790"/>
                  <a:pt x="1469780" y="124574"/>
                  <a:pt x="1670538" y="218359"/>
                </a:cubicBezTo>
              </a:path>
            </a:pathLst>
          </a:custGeom>
          <a:noFill/>
          <a:ln w="57150">
            <a:solidFill>
              <a:srgbClr val="FFFF00"/>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Elipse 8"/>
          <p:cNvSpPr/>
          <p:nvPr/>
        </p:nvSpPr>
        <p:spPr>
          <a:xfrm>
            <a:off x="8616280" y="5589240"/>
            <a:ext cx="189439" cy="192534"/>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Forma livre 9"/>
          <p:cNvSpPr/>
          <p:nvPr/>
        </p:nvSpPr>
        <p:spPr>
          <a:xfrm>
            <a:off x="1635265" y="2627086"/>
            <a:ext cx="5106818" cy="1479943"/>
          </a:xfrm>
          <a:custGeom>
            <a:avLst/>
            <a:gdLst>
              <a:gd name="connsiteX0" fmla="*/ 5055821 w 5106818"/>
              <a:gd name="connsiteY0" fmla="*/ 0 h 1479943"/>
              <a:gd name="connsiteX1" fmla="*/ 5026792 w 5106818"/>
              <a:gd name="connsiteY1" fmla="*/ 1262743 h 1479943"/>
              <a:gd name="connsiteX2" fmla="*/ 4301078 w 5106818"/>
              <a:gd name="connsiteY2" fmla="*/ 1393371 h 1479943"/>
              <a:gd name="connsiteX3" fmla="*/ 512849 w 5106818"/>
              <a:gd name="connsiteY3" fmla="*/ 1436914 h 1479943"/>
              <a:gd name="connsiteX4" fmla="*/ 19364 w 5106818"/>
              <a:gd name="connsiteY4" fmla="*/ 754743 h 1479943"/>
              <a:gd name="connsiteX5" fmla="*/ 338678 w 5106818"/>
              <a:gd name="connsiteY5" fmla="*/ 145143 h 1479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06818" h="1479943">
                <a:moveTo>
                  <a:pt x="5055821" y="0"/>
                </a:moveTo>
                <a:cubicBezTo>
                  <a:pt x="5104201" y="515257"/>
                  <a:pt x="5152582" y="1030515"/>
                  <a:pt x="5026792" y="1262743"/>
                </a:cubicBezTo>
                <a:cubicBezTo>
                  <a:pt x="4901002" y="1494971"/>
                  <a:pt x="5053402" y="1364343"/>
                  <a:pt x="4301078" y="1393371"/>
                </a:cubicBezTo>
                <a:cubicBezTo>
                  <a:pt x="3548754" y="1422399"/>
                  <a:pt x="1226468" y="1543352"/>
                  <a:pt x="512849" y="1436914"/>
                </a:cubicBezTo>
                <a:cubicBezTo>
                  <a:pt x="-200770" y="1330476"/>
                  <a:pt x="48393" y="970038"/>
                  <a:pt x="19364" y="754743"/>
                </a:cubicBezTo>
                <a:cubicBezTo>
                  <a:pt x="-9665" y="539448"/>
                  <a:pt x="164506" y="342295"/>
                  <a:pt x="338678" y="145143"/>
                </a:cubicBezTo>
              </a:path>
            </a:pathLst>
          </a:custGeom>
          <a:noFill/>
          <a:ln w="38100">
            <a:solidFill>
              <a:srgbClr val="FF0000"/>
            </a:solidFill>
            <a:prstDash val="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6" name="Elipse 25"/>
          <p:cNvSpPr/>
          <p:nvPr/>
        </p:nvSpPr>
        <p:spPr>
          <a:xfrm>
            <a:off x="8026400" y="5798713"/>
            <a:ext cx="189439" cy="19253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CaixaDeTexto 10"/>
          <p:cNvSpPr txBox="1"/>
          <p:nvPr/>
        </p:nvSpPr>
        <p:spPr>
          <a:xfrm>
            <a:off x="2024062" y="1549886"/>
            <a:ext cx="756938" cy="584775"/>
          </a:xfrm>
          <a:prstGeom prst="rect">
            <a:avLst/>
          </a:prstGeom>
          <a:noFill/>
        </p:spPr>
        <p:txBody>
          <a:bodyPr wrap="none" rtlCol="0">
            <a:spAutoFit/>
          </a:bodyPr>
          <a:lstStyle/>
          <a:p>
            <a:r>
              <a:rPr lang="es-CO" sz="3200" b="1" dirty="0"/>
              <a:t>???</a:t>
            </a:r>
          </a:p>
        </p:txBody>
      </p:sp>
      <p:sp>
        <p:nvSpPr>
          <p:cNvPr id="36" name="Elipse 35"/>
          <p:cNvSpPr/>
          <p:nvPr/>
        </p:nvSpPr>
        <p:spPr>
          <a:xfrm>
            <a:off x="8976320" y="4590719"/>
            <a:ext cx="189439" cy="192534"/>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7" name="Elipse 36"/>
          <p:cNvSpPr/>
          <p:nvPr/>
        </p:nvSpPr>
        <p:spPr>
          <a:xfrm>
            <a:off x="8360326" y="5791213"/>
            <a:ext cx="189439" cy="19253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8" name="Elipse 37"/>
          <p:cNvSpPr/>
          <p:nvPr/>
        </p:nvSpPr>
        <p:spPr>
          <a:xfrm>
            <a:off x="9480376" y="3826810"/>
            <a:ext cx="189439" cy="192534"/>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0" name="Elipse 39"/>
          <p:cNvSpPr/>
          <p:nvPr/>
        </p:nvSpPr>
        <p:spPr>
          <a:xfrm>
            <a:off x="8616280" y="5547128"/>
            <a:ext cx="189439" cy="192534"/>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5" name="Imagem 14"/>
          <p:cNvPicPr>
            <a:picLocks noChangeAspect="1"/>
          </p:cNvPicPr>
          <p:nvPr/>
        </p:nvPicPr>
        <p:blipFill>
          <a:blip r:embed="rId11"/>
          <a:stretch>
            <a:fillRect/>
          </a:stretch>
        </p:blipFill>
        <p:spPr>
          <a:xfrm>
            <a:off x="7368240" y="3125931"/>
            <a:ext cx="4967527" cy="3122109"/>
          </a:xfrm>
          <a:prstGeom prst="rect">
            <a:avLst/>
          </a:prstGeom>
        </p:spPr>
      </p:pic>
    </p:spTree>
    <p:extLst>
      <p:ext uri="{BB962C8B-B14F-4D97-AF65-F5344CB8AC3E}">
        <p14:creationId xmlns:p14="http://schemas.microsoft.com/office/powerpoint/2010/main" val="2341264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xit" presetSubtype="0" fill="hold" grpId="1" nodeType="withEffect">
                                  <p:stCondLst>
                                    <p:cond delay="0"/>
                                  </p:stCondLst>
                                  <p:childTnLst>
                                    <p:animEffect transition="out" filter="fade">
                                      <p:cBhvr>
                                        <p:cTn id="17" dur="500"/>
                                        <p:tgtEl>
                                          <p:spTgt spid="7"/>
                                        </p:tgtEl>
                                      </p:cBhvr>
                                    </p:animEffect>
                                    <p:set>
                                      <p:cBhvr>
                                        <p:cTn id="18" dur="1" fill="hold">
                                          <p:stCondLst>
                                            <p:cond delay="499"/>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0"/>
                                        </p:tgtEl>
                                      </p:cBhvr>
                                    </p:animEffect>
                                    <p:set>
                                      <p:cBhvr>
                                        <p:cTn id="32" dur="1" fill="hold">
                                          <p:stCondLst>
                                            <p:cond delay="499"/>
                                          </p:stCondLst>
                                        </p:cTn>
                                        <p:tgtEl>
                                          <p:spTgt spid="10"/>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2"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2"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childTnLst>
                                </p:cTn>
                              </p:par>
                              <p:par>
                                <p:cTn id="49" presetID="1" presetClass="exit" presetSubtype="0" fill="hold" grpId="3" nodeType="withEffect">
                                  <p:stCondLst>
                                    <p:cond delay="0"/>
                                  </p:stCondLst>
                                  <p:childTnLst>
                                    <p:set>
                                      <p:cBhvr>
                                        <p:cTn id="50" dur="1" fill="hold">
                                          <p:stCondLst>
                                            <p:cond delay="0"/>
                                          </p:stCondLst>
                                        </p:cTn>
                                        <p:tgtEl>
                                          <p:spTgt spid="7"/>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fade">
                                      <p:cBhvr>
                                        <p:cTn id="55" dur="500"/>
                                        <p:tgtEl>
                                          <p:spTgt spid="3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2" nodeType="click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500"/>
                                        <p:tgtEl>
                                          <p:spTgt spid="11"/>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3" nodeType="clickEffect">
                                  <p:stCondLst>
                                    <p:cond delay="0"/>
                                  </p:stCondLst>
                                  <p:childTnLst>
                                    <p:set>
                                      <p:cBhvr>
                                        <p:cTn id="64" dur="1" fill="hold">
                                          <p:stCondLst>
                                            <p:cond delay="0"/>
                                          </p:stCondLst>
                                        </p:cTn>
                                        <p:tgtEl>
                                          <p:spTgt spid="11"/>
                                        </p:tgtEl>
                                        <p:attrNameLst>
                                          <p:attrName>style.visibility</p:attrName>
                                        </p:attrNameLst>
                                      </p:cBhvr>
                                      <p:to>
                                        <p:strVal val="hidden"/>
                                      </p:to>
                                    </p:set>
                                  </p:childTnLst>
                                </p:cTn>
                              </p:par>
                              <p:par>
                                <p:cTn id="65" presetID="1" presetClass="exit" presetSubtype="0" fill="hold" grpId="3" nodeType="withEffect">
                                  <p:stCondLst>
                                    <p:cond delay="0"/>
                                  </p:stCondLst>
                                  <p:childTnLst>
                                    <p:set>
                                      <p:cBhvr>
                                        <p:cTn id="66" dur="1" fill="hold">
                                          <p:stCondLst>
                                            <p:cond delay="0"/>
                                          </p:stCondLst>
                                        </p:cTn>
                                        <p:tgtEl>
                                          <p:spTgt spid="10"/>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4" nodeType="clickEffect">
                                  <p:stCondLst>
                                    <p:cond delay="0"/>
                                  </p:stCondLst>
                                  <p:childTnLst>
                                    <p:set>
                                      <p:cBhvr>
                                        <p:cTn id="74" dur="1" fill="hold">
                                          <p:stCondLst>
                                            <p:cond delay="0"/>
                                          </p:stCondLst>
                                        </p:cTn>
                                        <p:tgtEl>
                                          <p:spTgt spid="7"/>
                                        </p:tgtEl>
                                        <p:attrNameLst>
                                          <p:attrName>style.visibility</p:attrName>
                                        </p:attrNameLst>
                                      </p:cBhvr>
                                      <p:to>
                                        <p:strVal val="visible"/>
                                      </p:to>
                                    </p:set>
                                    <p:animEffect transition="in" filter="fade">
                                      <p:cBhvr>
                                        <p:cTn id="75" dur="500"/>
                                        <p:tgtEl>
                                          <p:spTgt spid="7"/>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4" nodeType="click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fade">
                                      <p:cBhvr>
                                        <p:cTn id="80" dur="500"/>
                                        <p:tgtEl>
                                          <p:spTgt spid="10"/>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grpId="5" nodeType="clickEffect">
                                  <p:stCondLst>
                                    <p:cond delay="0"/>
                                  </p:stCondLst>
                                  <p:childTnLst>
                                    <p:set>
                                      <p:cBhvr>
                                        <p:cTn id="84" dur="1" fill="hold">
                                          <p:stCondLst>
                                            <p:cond delay="0"/>
                                          </p:stCondLst>
                                        </p:cTn>
                                        <p:tgtEl>
                                          <p:spTgt spid="7"/>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fade">
                                      <p:cBhvr>
                                        <p:cTn id="89" dur="500"/>
                                        <p:tgtEl>
                                          <p:spTgt spid="40"/>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4" nodeType="clickEffect">
                                  <p:stCondLst>
                                    <p:cond delay="0"/>
                                  </p:stCondLst>
                                  <p:childTnLst>
                                    <p:set>
                                      <p:cBhvr>
                                        <p:cTn id="93" dur="1" fill="hold">
                                          <p:stCondLst>
                                            <p:cond delay="0"/>
                                          </p:stCondLst>
                                        </p:cTn>
                                        <p:tgtEl>
                                          <p:spTgt spid="11"/>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xit" presetSubtype="0" fill="hold" grpId="1" nodeType="clickEffect">
                                  <p:stCondLst>
                                    <p:cond delay="0"/>
                                  </p:stCondLst>
                                  <p:childTnLst>
                                    <p:set>
                                      <p:cBhvr>
                                        <p:cTn id="97" dur="1" fill="hold">
                                          <p:stCondLst>
                                            <p:cond delay="0"/>
                                          </p:stCondLst>
                                        </p:cTn>
                                        <p:tgtEl>
                                          <p:spTgt spid="9"/>
                                        </p:tgtEl>
                                        <p:attrNameLst>
                                          <p:attrName>style.visibility</p:attrName>
                                        </p:attrNameLst>
                                      </p:cBhvr>
                                      <p:to>
                                        <p:strVal val="hidden"/>
                                      </p:to>
                                    </p:set>
                                  </p:childTnLst>
                                </p:cTn>
                              </p:par>
                              <p:par>
                                <p:cTn id="98" presetID="1" presetClass="exit" presetSubtype="0" fill="hold" grpId="1" nodeType="withEffect">
                                  <p:stCondLst>
                                    <p:cond delay="0"/>
                                  </p:stCondLst>
                                  <p:childTnLst>
                                    <p:set>
                                      <p:cBhvr>
                                        <p:cTn id="99" dur="1" fill="hold">
                                          <p:stCondLst>
                                            <p:cond delay="0"/>
                                          </p:stCondLst>
                                        </p:cTn>
                                        <p:tgtEl>
                                          <p:spTgt spid="26"/>
                                        </p:tgtEl>
                                        <p:attrNameLst>
                                          <p:attrName>style.visibility</p:attrName>
                                        </p:attrNameLst>
                                      </p:cBhvr>
                                      <p:to>
                                        <p:strVal val="hidden"/>
                                      </p:to>
                                    </p:set>
                                  </p:childTnLst>
                                </p:cTn>
                              </p:par>
                              <p:par>
                                <p:cTn id="100" presetID="1" presetClass="exit" presetSubtype="0" fill="hold" grpId="1" nodeType="withEffect">
                                  <p:stCondLst>
                                    <p:cond delay="0"/>
                                  </p:stCondLst>
                                  <p:childTnLst>
                                    <p:set>
                                      <p:cBhvr>
                                        <p:cTn id="101" dur="1" fill="hold">
                                          <p:stCondLst>
                                            <p:cond delay="0"/>
                                          </p:stCondLst>
                                        </p:cTn>
                                        <p:tgtEl>
                                          <p:spTgt spid="36"/>
                                        </p:tgtEl>
                                        <p:attrNameLst>
                                          <p:attrName>style.visibility</p:attrName>
                                        </p:attrNameLst>
                                      </p:cBhvr>
                                      <p:to>
                                        <p:strVal val="hidden"/>
                                      </p:to>
                                    </p:set>
                                  </p:childTnLst>
                                </p:cTn>
                              </p:par>
                              <p:par>
                                <p:cTn id="102" presetID="1" presetClass="exit" presetSubtype="0" fill="hold" grpId="1" nodeType="withEffect">
                                  <p:stCondLst>
                                    <p:cond delay="0"/>
                                  </p:stCondLst>
                                  <p:childTnLst>
                                    <p:set>
                                      <p:cBhvr>
                                        <p:cTn id="103" dur="1" fill="hold">
                                          <p:stCondLst>
                                            <p:cond delay="0"/>
                                          </p:stCondLst>
                                        </p:cTn>
                                        <p:tgtEl>
                                          <p:spTgt spid="37"/>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38"/>
                                        </p:tgtEl>
                                        <p:attrNameLst>
                                          <p:attrName>style.visibility</p:attrName>
                                        </p:attrNameLst>
                                      </p:cBhvr>
                                      <p:to>
                                        <p:strVal val="hidden"/>
                                      </p:to>
                                    </p:set>
                                  </p:childTnLst>
                                </p:cTn>
                              </p:par>
                              <p:par>
                                <p:cTn id="106" presetID="1" presetClass="exit" presetSubtype="0" fill="hold" grpId="1" nodeType="withEffect">
                                  <p:stCondLst>
                                    <p:cond delay="0"/>
                                  </p:stCondLst>
                                  <p:childTnLst>
                                    <p:set>
                                      <p:cBhvr>
                                        <p:cTn id="107" dur="1" fill="hold">
                                          <p:stCondLst>
                                            <p:cond delay="0"/>
                                          </p:stCondLst>
                                        </p:cTn>
                                        <p:tgtEl>
                                          <p:spTgt spid="40"/>
                                        </p:tgtEl>
                                        <p:attrNameLst>
                                          <p:attrName>style.visibility</p:attrName>
                                        </p:attrNameLst>
                                      </p:cBhvr>
                                      <p:to>
                                        <p:strVal val="hidden"/>
                                      </p:to>
                                    </p:set>
                                  </p:childTnLst>
                                </p:cTn>
                              </p:par>
                              <p:par>
                                <p:cTn id="108" presetID="1" presetClass="exit" presetSubtype="0" fill="hold" nodeType="withEffect">
                                  <p:stCondLst>
                                    <p:cond delay="0"/>
                                  </p:stCondLst>
                                  <p:childTnLst>
                                    <p:set>
                                      <p:cBhvr>
                                        <p:cTn id="109" dur="1" fill="hold">
                                          <p:stCondLst>
                                            <p:cond delay="0"/>
                                          </p:stCondLst>
                                        </p:cTn>
                                        <p:tgtEl>
                                          <p:spTgt spid="4"/>
                                        </p:tgtEl>
                                        <p:attrNameLst>
                                          <p:attrName>style.visibility</p:attrName>
                                        </p:attrNameLst>
                                      </p:cBhvr>
                                      <p:to>
                                        <p:strVal val="hidden"/>
                                      </p:to>
                                    </p:set>
                                  </p:childTnLst>
                                </p:cTn>
                              </p:par>
                            </p:childTnLst>
                          </p:cTn>
                        </p:par>
                        <p:par>
                          <p:cTn id="110" fill="hold">
                            <p:stCondLst>
                              <p:cond delay="0"/>
                            </p:stCondLst>
                            <p:childTnLst>
                              <p:par>
                                <p:cTn id="111" presetID="1" presetClass="entr" presetSubtype="0" fill="hold" nodeType="afterEffect">
                                  <p:stCondLst>
                                    <p:cond delay="0"/>
                                  </p:stCondLst>
                                  <p:childTnLst>
                                    <p:set>
                                      <p:cBhvr>
                                        <p:cTn id="1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7" grpId="2" animBg="1"/>
      <p:bldP spid="7" grpId="3" animBg="1"/>
      <p:bldP spid="7" grpId="4" animBg="1"/>
      <p:bldP spid="7" grpId="5" animBg="1"/>
      <p:bldP spid="9" grpId="0" animBg="1"/>
      <p:bldP spid="9" grpId="1" animBg="1"/>
      <p:bldP spid="10" grpId="0" animBg="1"/>
      <p:bldP spid="10" grpId="1" animBg="1"/>
      <p:bldP spid="10" grpId="2" animBg="1"/>
      <p:bldP spid="10" grpId="3" animBg="1"/>
      <p:bldP spid="10" grpId="4" animBg="1"/>
      <p:bldP spid="26" grpId="0" animBg="1"/>
      <p:bldP spid="26" grpId="1" animBg="1"/>
      <p:bldP spid="11" grpId="0"/>
      <p:bldP spid="11" grpId="1"/>
      <p:bldP spid="11" grpId="2"/>
      <p:bldP spid="11" grpId="3"/>
      <p:bldP spid="11" grpId="4"/>
      <p:bldP spid="36" grpId="0" animBg="1"/>
      <p:bldP spid="36" grpId="1" animBg="1"/>
      <p:bldP spid="37" grpId="0" animBg="1"/>
      <p:bldP spid="37" grpId="1" animBg="1"/>
      <p:bldP spid="38" grpId="0" animBg="1"/>
      <p:bldP spid="38" grpId="1" animBg="1"/>
      <p:bldP spid="40" grpId="0" animBg="1"/>
      <p:bldP spid="40"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ço Reservado para Conteúdo 8"/>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127448" y="1700808"/>
            <a:ext cx="2664296" cy="3159094"/>
          </a:xfrm>
        </p:spPr>
      </p:pic>
      <p:sp>
        <p:nvSpPr>
          <p:cNvPr id="8" name="Espaço Reservado para Conteúdo 7"/>
          <p:cNvSpPr>
            <a:spLocks noGrp="1"/>
          </p:cNvSpPr>
          <p:nvPr>
            <p:ph sz="half" idx="2"/>
          </p:nvPr>
        </p:nvSpPr>
        <p:spPr>
          <a:xfrm>
            <a:off x="4655840" y="1533706"/>
            <a:ext cx="6926560" cy="4525963"/>
          </a:xfrm>
        </p:spPr>
        <p:txBody>
          <a:bodyPr/>
          <a:lstStyle/>
          <a:p>
            <a:r>
              <a:rPr lang="pt-BR" dirty="0"/>
              <a:t>Otto Smith</a:t>
            </a:r>
          </a:p>
          <a:p>
            <a:r>
              <a:rPr lang="pt-BR" dirty="0"/>
              <a:t>1957</a:t>
            </a:r>
          </a:p>
          <a:p>
            <a:r>
              <a:rPr lang="pt-BR" dirty="0" err="1"/>
              <a:t>Predictor</a:t>
            </a:r>
            <a:r>
              <a:rPr lang="pt-BR" dirty="0"/>
              <a:t> de Smith</a:t>
            </a:r>
          </a:p>
          <a:p>
            <a:r>
              <a:rPr lang="pt-BR" dirty="0"/>
              <a:t>Compensadores de </a:t>
            </a:r>
            <a:r>
              <a:rPr lang="pt-BR" dirty="0" err="1"/>
              <a:t>tiempo</a:t>
            </a:r>
            <a:r>
              <a:rPr lang="pt-BR" dirty="0"/>
              <a:t> </a:t>
            </a:r>
            <a:r>
              <a:rPr lang="pt-BR" dirty="0" err="1"/>
              <a:t>muerto</a:t>
            </a:r>
            <a:r>
              <a:rPr lang="pt-BR" dirty="0"/>
              <a:t> DTC</a:t>
            </a:r>
          </a:p>
        </p:txBody>
      </p:sp>
      <p:pic>
        <p:nvPicPr>
          <p:cNvPr id="4" name="Picture 4"/>
          <p:cNvPicPr>
            <a:picLocks noChangeAspect="1" noChangeArrowheads="1"/>
          </p:cNvPicPr>
          <p:nvPr/>
        </p:nvPicPr>
        <p:blipFill>
          <a:blip r:embed="rId4"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1369606"/>
          </a:xfrm>
          <a:prstGeom prst="rect">
            <a:avLst/>
          </a:prstGeom>
          <a:noFill/>
        </p:spPr>
        <p:txBody>
          <a:bodyPr wrap="square" rtlCol="0">
            <a:spAutoFit/>
          </a:bodyPr>
          <a:lstStyle/>
          <a:p>
            <a:pPr algn="ctr"/>
            <a:r>
              <a:rPr lang="pt-BR" sz="3600" b="1" dirty="0">
                <a:solidFill>
                  <a:schemeClr val="bg1"/>
                </a:solidFill>
              </a:rPr>
              <a:t>PREDICTOR DE SMITH</a:t>
            </a:r>
            <a:endParaRPr lang="pt-BR" sz="48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z="2000" smtClean="0"/>
              <a:pPr/>
              <a:t>12</a:t>
            </a:fld>
            <a:endParaRPr lang="en-US" sz="2000" dirty="0"/>
          </a:p>
        </p:txBody>
      </p:sp>
    </p:spTree>
    <p:extLst>
      <p:ext uri="{BB962C8B-B14F-4D97-AF65-F5344CB8AC3E}">
        <p14:creationId xmlns:p14="http://schemas.microsoft.com/office/powerpoint/2010/main" val="220518263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Nuvem 57"/>
          <p:cNvSpPr/>
          <p:nvPr/>
        </p:nvSpPr>
        <p:spPr>
          <a:xfrm>
            <a:off x="5599325" y="2543803"/>
            <a:ext cx="1741241" cy="1100961"/>
          </a:xfrm>
          <a:prstGeom prst="cloud">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dirty="0">
                <a:solidFill>
                  <a:schemeClr val="tx1"/>
                </a:solidFill>
              </a:rPr>
              <a:t>Processo</a:t>
            </a:r>
          </a:p>
        </p:txBody>
      </p:sp>
      <p:pic>
        <p:nvPicPr>
          <p:cNvPr id="46" name="Picture 4"/>
          <p:cNvPicPr>
            <a:picLocks noChangeAspect="1" noChangeArrowheads="1"/>
          </p:cNvPicPr>
          <p:nvPr/>
        </p:nvPicPr>
        <p:blipFill>
          <a:blip r:embed="rId3" cstate="print"/>
          <a:srcRect/>
          <a:stretch>
            <a:fillRect/>
          </a:stretch>
        </p:blipFill>
        <p:spPr bwMode="auto">
          <a:xfrm>
            <a:off x="0" y="-28249"/>
            <a:ext cx="12192000" cy="1071546"/>
          </a:xfrm>
          <a:prstGeom prst="rect">
            <a:avLst/>
          </a:prstGeom>
          <a:noFill/>
          <a:ln w="9525">
            <a:noFill/>
            <a:miter lim="800000"/>
            <a:headEnd/>
            <a:tailEnd/>
          </a:ln>
          <a:effectLst/>
        </p:spPr>
      </p:pic>
      <p:sp>
        <p:nvSpPr>
          <p:cNvPr id="47" name="CaixaDeTexto 46"/>
          <p:cNvSpPr txBox="1"/>
          <p:nvPr/>
        </p:nvSpPr>
        <p:spPr>
          <a:xfrm>
            <a:off x="1631504" y="165120"/>
            <a:ext cx="8928992" cy="1985159"/>
          </a:xfrm>
          <a:prstGeom prst="rect">
            <a:avLst/>
          </a:prstGeom>
          <a:noFill/>
        </p:spPr>
        <p:txBody>
          <a:bodyPr wrap="square" rtlCol="0">
            <a:spAutoFit/>
          </a:bodyPr>
          <a:lstStyle/>
          <a:p>
            <a:pPr algn="ctr"/>
            <a:r>
              <a:rPr lang="pt-BR" sz="3600" b="1" dirty="0">
                <a:solidFill>
                  <a:schemeClr val="bg1"/>
                </a:solidFill>
              </a:rPr>
              <a:t>PREDICTOR DE SMITH</a:t>
            </a:r>
            <a:endParaRPr lang="pt-BR" sz="4800" b="1" i="1" dirty="0">
              <a:solidFill>
                <a:schemeClr val="bg1"/>
              </a:solidFill>
            </a:endParaRPr>
          </a:p>
          <a:p>
            <a:pPr algn="ctr"/>
            <a:endParaRPr lang="pt-BR" sz="36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z="2000" smtClean="0"/>
              <a:pPr/>
              <a:t>13</a:t>
            </a:fld>
            <a:endParaRPr lang="en-US" sz="2000" dirty="0"/>
          </a:p>
        </p:txBody>
      </p:sp>
    </p:spTree>
    <p:extLst>
      <p:ext uri="{BB962C8B-B14F-4D97-AF65-F5344CB8AC3E}">
        <p14:creationId xmlns:p14="http://schemas.microsoft.com/office/powerpoint/2010/main" val="3549100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Elipse"/>
          <p:cNvSpPr/>
          <p:nvPr/>
        </p:nvSpPr>
        <p:spPr>
          <a:xfrm>
            <a:off x="2830362" y="2960944"/>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mc:AlternateContent xmlns:mc="http://schemas.openxmlformats.org/markup-compatibility/2006" xmlns:a14="http://schemas.microsoft.com/office/drawing/2010/main">
        <mc:Choice Requires="a14">
          <p:sp>
            <p:nvSpPr>
              <p:cNvPr id="6" name="2 Rectángulo"/>
              <p:cNvSpPr/>
              <p:nvPr/>
            </p:nvSpPr>
            <p:spPr>
              <a:xfrm>
                <a:off x="3745441" y="2924945"/>
                <a:ext cx="64807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sz="2000">
                          <a:latin typeface="Cambria Math"/>
                        </a:rPr>
                        <m:t>C</m:t>
                      </m:r>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6" name="2 Rectángulo"/>
              <p:cNvSpPr>
                <a:spLocks noRot="1" noChangeAspect="1" noMove="1" noResize="1" noEditPoints="1" noAdjustHandles="1" noChangeArrowheads="1" noChangeShapeType="1" noTextEdit="1"/>
              </p:cNvSpPr>
              <p:nvPr/>
            </p:nvSpPr>
            <p:spPr>
              <a:xfrm>
                <a:off x="2221441" y="2924944"/>
                <a:ext cx="648072" cy="504055"/>
              </a:xfrm>
              <a:prstGeom prst="rect">
                <a:avLst/>
              </a:prstGeom>
              <a:blipFill rotWithShape="0">
                <a:blip r:embed="rId3"/>
                <a:stretch>
                  <a:fillRect l="-180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4 Rectángulo"/>
              <p:cNvSpPr/>
              <p:nvPr/>
            </p:nvSpPr>
            <p:spPr>
              <a:xfrm>
                <a:off x="6023992" y="2924945"/>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sz="2000">
                          <a:latin typeface="Cambria Math"/>
                        </a:rPr>
                        <m:t>P</m:t>
                      </m:r>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8" name="4 Rectángulo"/>
              <p:cNvSpPr>
                <a:spLocks noRot="1" noChangeAspect="1" noMove="1" noResize="1" noEditPoints="1" noAdjustHandles="1" noChangeArrowheads="1" noChangeShapeType="1" noTextEdit="1"/>
              </p:cNvSpPr>
              <p:nvPr/>
            </p:nvSpPr>
            <p:spPr>
              <a:xfrm>
                <a:off x="4499992" y="2924944"/>
                <a:ext cx="792088" cy="504055"/>
              </a:xfrm>
              <a:prstGeom prst="rect">
                <a:avLst/>
              </a:prstGeom>
              <a:blipFill rotWithShape="0">
                <a:blip r:embed="rId4"/>
                <a:stretch>
                  <a:fillRect/>
                </a:stretch>
              </a:blipFill>
            </p:spPr>
            <p:txBody>
              <a:bodyPr/>
              <a:lstStyle/>
              <a:p>
                <a:r>
                  <a:rPr lang="pt-BR">
                    <a:noFill/>
                  </a:rPr>
                  <a:t> </a:t>
                </a:r>
              </a:p>
            </p:txBody>
          </p:sp>
        </mc:Fallback>
      </mc:AlternateContent>
      <p:cxnSp>
        <p:nvCxnSpPr>
          <p:cNvPr id="12" name="8 Conector recto de flecha"/>
          <p:cNvCxnSpPr>
            <a:endCxn id="5" idx="2"/>
          </p:cNvCxnSpPr>
          <p:nvPr/>
        </p:nvCxnSpPr>
        <p:spPr>
          <a:xfrm>
            <a:off x="2029076" y="3176808"/>
            <a:ext cx="801286"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3" name="9 Conector recto de flecha"/>
          <p:cNvCxnSpPr>
            <a:stCxn id="5" idx="6"/>
            <a:endCxn id="6" idx="1"/>
          </p:cNvCxnSpPr>
          <p:nvPr/>
        </p:nvCxnSpPr>
        <p:spPr>
          <a:xfrm>
            <a:off x="3262411" y="3176968"/>
            <a:ext cx="483031"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4" name="10 Conector recto de flecha"/>
          <p:cNvCxnSpPr>
            <a:stCxn id="6" idx="3"/>
          </p:cNvCxnSpPr>
          <p:nvPr/>
        </p:nvCxnSpPr>
        <p:spPr>
          <a:xfrm flipV="1">
            <a:off x="4393514" y="3176808"/>
            <a:ext cx="1205811" cy="165"/>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8" name="14 Conector recto de flecha"/>
          <p:cNvCxnSpPr/>
          <p:nvPr/>
        </p:nvCxnSpPr>
        <p:spPr>
          <a:xfrm>
            <a:off x="7340566" y="3176807"/>
            <a:ext cx="2046357" cy="16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5" name="21 Conector recto de flecha"/>
          <p:cNvCxnSpPr/>
          <p:nvPr/>
        </p:nvCxnSpPr>
        <p:spPr>
          <a:xfrm>
            <a:off x="8528697" y="3176808"/>
            <a:ext cx="0" cy="1669523"/>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8" name="24 Conector recto de flecha"/>
          <p:cNvCxnSpPr/>
          <p:nvPr/>
        </p:nvCxnSpPr>
        <p:spPr>
          <a:xfrm>
            <a:off x="3046387" y="4846169"/>
            <a:ext cx="5482311" cy="0"/>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9" name="25 Conector recto de flecha"/>
          <p:cNvCxnSpPr>
            <a:endCxn id="5" idx="4"/>
          </p:cNvCxnSpPr>
          <p:nvPr/>
        </p:nvCxnSpPr>
        <p:spPr>
          <a:xfrm flipV="1">
            <a:off x="3046386" y="3392993"/>
            <a:ext cx="0" cy="145317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31" name="27 Conector recto de flecha"/>
          <p:cNvCxnSpPr/>
          <p:nvPr/>
        </p:nvCxnSpPr>
        <p:spPr>
          <a:xfrm>
            <a:off x="3190402" y="3501008"/>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3" name="29 Rectángulo"/>
              <p:cNvSpPr/>
              <p:nvPr/>
            </p:nvSpPr>
            <p:spPr>
              <a:xfrm>
                <a:off x="2082945" y="2730322"/>
                <a:ext cx="688715"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𝑟</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3" name="29 Rectángulo"/>
              <p:cNvSpPr>
                <a:spLocks noRot="1" noChangeAspect="1" noMove="1" noResize="1" noEditPoints="1" noAdjustHandles="1" noChangeArrowheads="1" noChangeShapeType="1" noTextEdit="1"/>
              </p:cNvSpPr>
              <p:nvPr/>
            </p:nvSpPr>
            <p:spPr>
              <a:xfrm>
                <a:off x="558944" y="2730322"/>
                <a:ext cx="688715" cy="400110"/>
              </a:xfrm>
              <a:prstGeom prst="rect">
                <a:avLst/>
              </a:prstGeom>
              <a:blipFill rotWithShape="0">
                <a:blip r:embed="rId5"/>
                <a:stretch>
                  <a:fillRect b="-1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30 Rectángulo"/>
              <p:cNvSpPr/>
              <p:nvPr/>
            </p:nvSpPr>
            <p:spPr>
              <a:xfrm>
                <a:off x="3125993" y="2723647"/>
                <a:ext cx="693523"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𝑒</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4" name="30 Rectángulo"/>
              <p:cNvSpPr>
                <a:spLocks noRot="1" noChangeAspect="1" noMove="1" noResize="1" noEditPoints="1" noAdjustHandles="1" noChangeArrowheads="1" noChangeShapeType="1" noTextEdit="1"/>
              </p:cNvSpPr>
              <p:nvPr/>
            </p:nvSpPr>
            <p:spPr>
              <a:xfrm>
                <a:off x="1601992" y="2723647"/>
                <a:ext cx="693523" cy="400110"/>
              </a:xfrm>
              <a:prstGeom prst="rect">
                <a:avLst/>
              </a:prstGeom>
              <a:blipFill rotWithShape="0">
                <a:blip r:embed="rId6"/>
                <a:stretch>
                  <a:fillRect b="-1538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5" name="31 Rectángulo"/>
              <p:cNvSpPr/>
              <p:nvPr/>
            </p:nvSpPr>
            <p:spPr>
              <a:xfrm>
                <a:off x="4342493" y="2742261"/>
                <a:ext cx="71526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𝑢</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5" name="31 Rectángulo"/>
              <p:cNvSpPr>
                <a:spLocks noRot="1" noChangeAspect="1" noMove="1" noResize="1" noEditPoints="1" noAdjustHandles="1" noChangeArrowheads="1" noChangeShapeType="1" noTextEdit="1"/>
              </p:cNvSpPr>
              <p:nvPr/>
            </p:nvSpPr>
            <p:spPr>
              <a:xfrm>
                <a:off x="2818493" y="2742261"/>
                <a:ext cx="715260" cy="400110"/>
              </a:xfrm>
              <a:prstGeom prst="rect">
                <a:avLst/>
              </a:prstGeom>
              <a:blipFill rotWithShape="0">
                <a:blip r:embed="rId7"/>
                <a:stretch>
                  <a:fillRect b="-1538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9" name="35 Rectángulo"/>
              <p:cNvSpPr/>
              <p:nvPr/>
            </p:nvSpPr>
            <p:spPr>
              <a:xfrm>
                <a:off x="7976728" y="2755664"/>
                <a:ext cx="70987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𝑦</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9" name="35 Rectángulo"/>
              <p:cNvSpPr>
                <a:spLocks noRot="1" noChangeAspect="1" noMove="1" noResize="1" noEditPoints="1" noAdjustHandles="1" noChangeArrowheads="1" noChangeShapeType="1" noTextEdit="1"/>
              </p:cNvSpPr>
              <p:nvPr/>
            </p:nvSpPr>
            <p:spPr>
              <a:xfrm>
                <a:off x="6452728" y="2755664"/>
                <a:ext cx="709874" cy="400110"/>
              </a:xfrm>
              <a:prstGeom prst="rect">
                <a:avLst/>
              </a:prstGeom>
              <a:blipFill rotWithShape="0">
                <a:blip r:embed="rId8"/>
                <a:stretch>
                  <a:fillRect b="-15152"/>
                </a:stretch>
              </a:blipFill>
            </p:spPr>
            <p:txBody>
              <a:bodyPr/>
              <a:lstStyle/>
              <a:p>
                <a:r>
                  <a:rPr lang="pt-BR">
                    <a:noFill/>
                  </a:rPr>
                  <a:t> </a:t>
                </a:r>
              </a:p>
            </p:txBody>
          </p:sp>
        </mc:Fallback>
      </mc:AlternateContent>
      <p:pic>
        <p:nvPicPr>
          <p:cNvPr id="46" name="Picture 4"/>
          <p:cNvPicPr>
            <a:picLocks noChangeAspect="1" noChangeArrowheads="1"/>
          </p:cNvPicPr>
          <p:nvPr/>
        </p:nvPicPr>
        <p:blipFill>
          <a:blip r:embed="rId9" cstate="print"/>
          <a:srcRect/>
          <a:stretch>
            <a:fillRect/>
          </a:stretch>
        </p:blipFill>
        <p:spPr bwMode="auto">
          <a:xfrm>
            <a:off x="0" y="-28249"/>
            <a:ext cx="12192000" cy="1071546"/>
          </a:xfrm>
          <a:prstGeom prst="rect">
            <a:avLst/>
          </a:prstGeom>
          <a:noFill/>
          <a:ln w="9525">
            <a:noFill/>
            <a:miter lim="800000"/>
            <a:headEnd/>
            <a:tailEnd/>
          </a:ln>
          <a:effectLst/>
        </p:spPr>
      </p:pic>
      <p:sp>
        <p:nvSpPr>
          <p:cNvPr id="47" name="CaixaDeTexto 46"/>
          <p:cNvSpPr txBox="1"/>
          <p:nvPr/>
        </p:nvSpPr>
        <p:spPr>
          <a:xfrm>
            <a:off x="1631504" y="165120"/>
            <a:ext cx="8928992" cy="1985159"/>
          </a:xfrm>
          <a:prstGeom prst="rect">
            <a:avLst/>
          </a:prstGeom>
          <a:noFill/>
        </p:spPr>
        <p:txBody>
          <a:bodyPr wrap="square" rtlCol="0">
            <a:spAutoFit/>
          </a:bodyPr>
          <a:lstStyle/>
          <a:p>
            <a:pPr algn="ctr"/>
            <a:r>
              <a:rPr lang="pt-BR" sz="3600" b="1" dirty="0">
                <a:solidFill>
                  <a:schemeClr val="bg1"/>
                </a:solidFill>
              </a:rPr>
              <a:t>PREDICTOR DE SMITH</a:t>
            </a:r>
            <a:endParaRPr lang="pt-BR" sz="4800" b="1" i="1" dirty="0">
              <a:solidFill>
                <a:schemeClr val="bg1"/>
              </a:solidFill>
            </a:endParaRPr>
          </a:p>
          <a:p>
            <a:pPr algn="ctr"/>
            <a:endParaRPr lang="pt-BR" sz="36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p:sp>
        <p:nvSpPr>
          <p:cNvPr id="58" name="Nuvem 57"/>
          <p:cNvSpPr/>
          <p:nvPr/>
        </p:nvSpPr>
        <p:spPr>
          <a:xfrm>
            <a:off x="5599325" y="2543803"/>
            <a:ext cx="1741241" cy="1100961"/>
          </a:xfrm>
          <a:prstGeom prst="cloud">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dirty="0">
                <a:solidFill>
                  <a:schemeClr val="tx1"/>
                </a:solidFill>
              </a:rPr>
              <a:t>Processo</a:t>
            </a:r>
          </a:p>
        </p:txBody>
      </p:sp>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z="2000" smtClean="0"/>
              <a:pPr/>
              <a:t>14</a:t>
            </a:fld>
            <a:endParaRPr lang="en-US" sz="2000" dirty="0"/>
          </a:p>
        </p:txBody>
      </p:sp>
    </p:spTree>
    <p:extLst>
      <p:ext uri="{BB962C8B-B14F-4D97-AF65-F5344CB8AC3E}">
        <p14:creationId xmlns:p14="http://schemas.microsoft.com/office/powerpoint/2010/main" val="239016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par>
                                <p:cTn id="20" presetID="10" presetClass="entr" presetSubtype="0"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33" grpId="0"/>
      <p:bldP spid="34" grpId="0"/>
      <p:bldP spid="35" grpId="0"/>
      <p:bldP spid="3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Nuvem 57"/>
          <p:cNvSpPr/>
          <p:nvPr/>
        </p:nvSpPr>
        <p:spPr>
          <a:xfrm>
            <a:off x="5599325" y="2543803"/>
            <a:ext cx="1741241" cy="1100961"/>
          </a:xfrm>
          <a:prstGeom prst="cloud">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2000" dirty="0">
                <a:solidFill>
                  <a:schemeClr val="tx1"/>
                </a:solidFill>
              </a:rPr>
              <a:t>Processo</a:t>
            </a:r>
          </a:p>
        </p:txBody>
      </p:sp>
      <p:sp>
        <p:nvSpPr>
          <p:cNvPr id="5" name="1 Elipse"/>
          <p:cNvSpPr/>
          <p:nvPr/>
        </p:nvSpPr>
        <p:spPr>
          <a:xfrm>
            <a:off x="2830362" y="2960944"/>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mc:AlternateContent xmlns:mc="http://schemas.openxmlformats.org/markup-compatibility/2006" xmlns:a14="http://schemas.microsoft.com/office/drawing/2010/main">
        <mc:Choice Requires="a14">
          <p:sp>
            <p:nvSpPr>
              <p:cNvPr id="6" name="2 Rectángulo"/>
              <p:cNvSpPr/>
              <p:nvPr/>
            </p:nvSpPr>
            <p:spPr>
              <a:xfrm>
                <a:off x="3745441" y="2924945"/>
                <a:ext cx="64807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sz="2000">
                          <a:latin typeface="Cambria Math"/>
                        </a:rPr>
                        <m:t>C</m:t>
                      </m:r>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6" name="2 Rectángulo"/>
              <p:cNvSpPr>
                <a:spLocks noRot="1" noChangeAspect="1" noMove="1" noResize="1" noEditPoints="1" noAdjustHandles="1" noChangeArrowheads="1" noChangeShapeType="1" noTextEdit="1"/>
              </p:cNvSpPr>
              <p:nvPr/>
            </p:nvSpPr>
            <p:spPr>
              <a:xfrm>
                <a:off x="2221441" y="2924944"/>
                <a:ext cx="648072" cy="504055"/>
              </a:xfrm>
              <a:prstGeom prst="rect">
                <a:avLst/>
              </a:prstGeom>
              <a:blipFill rotWithShape="0">
                <a:blip r:embed="rId3"/>
                <a:stretch>
                  <a:fillRect l="-1802"/>
                </a:stretch>
              </a:blipFill>
            </p:spPr>
            <p:txBody>
              <a:bodyPr/>
              <a:lstStyle/>
              <a:p>
                <a:r>
                  <a:rPr lang="pt-BR">
                    <a:noFill/>
                  </a:rPr>
                  <a:t> </a:t>
                </a:r>
              </a:p>
            </p:txBody>
          </p:sp>
        </mc:Fallback>
      </mc:AlternateContent>
      <p:sp>
        <p:nvSpPr>
          <p:cNvPr id="7" name="3 Elipse"/>
          <p:cNvSpPr/>
          <p:nvPr/>
        </p:nvSpPr>
        <p:spPr>
          <a:xfrm>
            <a:off x="4911922" y="2960944"/>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mc:AlternateContent xmlns:mc="http://schemas.openxmlformats.org/markup-compatibility/2006" xmlns:a14="http://schemas.microsoft.com/office/drawing/2010/main">
        <mc:Choice Requires="a14">
          <p:sp>
            <p:nvSpPr>
              <p:cNvPr id="9" name="5 Rectángulo"/>
              <p:cNvSpPr/>
              <p:nvPr/>
            </p:nvSpPr>
            <p:spPr>
              <a:xfrm>
                <a:off x="6944521" y="3811844"/>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CO" sz="2000" b="1" i="1" smtClean="0">
                              <a:latin typeface="Cambria Math" panose="02040503050406030204" pitchFamily="18" charset="0"/>
                            </a:rPr>
                          </m:ctrlPr>
                        </m:sSupPr>
                        <m:e>
                          <m:r>
                            <a:rPr lang="es-CO" sz="2000" i="1">
                              <a:latin typeface="Cambria Math"/>
                            </a:rPr>
                            <m:t>𝑒</m:t>
                          </m:r>
                        </m:e>
                        <m:sup>
                          <m:sSub>
                            <m:sSubPr>
                              <m:ctrlPr>
                                <a:rPr lang="es-CO" sz="2000" i="1">
                                  <a:latin typeface="Cambria Math" panose="02040503050406030204" pitchFamily="18" charset="0"/>
                                </a:rPr>
                              </m:ctrlPr>
                            </m:sSubPr>
                            <m:e>
                              <m:r>
                                <a:rPr lang="pt-BR" sz="2000" b="0" i="1" smtClean="0">
                                  <a:latin typeface="Cambria Math" panose="02040503050406030204" pitchFamily="18" charset="0"/>
                                </a:rPr>
                                <m:t>−</m:t>
                              </m:r>
                              <m:r>
                                <a:rPr lang="es-CO" sz="2000" i="1">
                                  <a:latin typeface="Cambria Math"/>
                                </a:rPr>
                                <m:t>𝐿</m:t>
                              </m:r>
                            </m:e>
                            <m:sub>
                              <m:r>
                                <a:rPr lang="es-CO" sz="2000" i="1">
                                  <a:latin typeface="Cambria Math"/>
                                </a:rPr>
                                <m:t>𝑛</m:t>
                              </m:r>
                            </m:sub>
                          </m:sSub>
                          <m:r>
                            <a:rPr lang="es-CO" sz="2000" i="1">
                              <a:latin typeface="Cambria Math"/>
                            </a:rPr>
                            <m:t>𝑠</m:t>
                          </m:r>
                        </m:sup>
                      </m:sSup>
                    </m:oMath>
                  </m:oMathPara>
                </a14:m>
                <a:endParaRPr lang="es-CO" sz="2000" b="1" dirty="0"/>
              </a:p>
            </p:txBody>
          </p:sp>
        </mc:Choice>
        <mc:Fallback xmlns="">
          <p:sp>
            <p:nvSpPr>
              <p:cNvPr id="9" name="5 Rectángulo"/>
              <p:cNvSpPr>
                <a:spLocks noRot="1" noChangeAspect="1" noMove="1" noResize="1" noEditPoints="1" noAdjustHandles="1" noChangeArrowheads="1" noChangeShapeType="1" noTextEdit="1"/>
              </p:cNvSpPr>
              <p:nvPr/>
            </p:nvSpPr>
            <p:spPr>
              <a:xfrm>
                <a:off x="6944521" y="3811844"/>
                <a:ext cx="792088" cy="504055"/>
              </a:xfrm>
              <a:prstGeom prst="rect">
                <a:avLst/>
              </a:prstGeom>
              <a:blipFill rotWithShape="0">
                <a:blip r:embed="rId4"/>
                <a:stretch>
                  <a:fillRect/>
                </a:stretch>
              </a:blipFill>
            </p:spPr>
            <p:txBody>
              <a:bodyPr/>
              <a:lstStyle/>
              <a:p>
                <a:r>
                  <a:rPr lang="pt-BR">
                    <a:noFill/>
                  </a:rPr>
                  <a:t> </a:t>
                </a:r>
              </a:p>
            </p:txBody>
          </p:sp>
        </mc:Fallback>
      </mc:AlternateContent>
      <p:sp>
        <p:nvSpPr>
          <p:cNvPr id="10" name="6 Elipse"/>
          <p:cNvSpPr/>
          <p:nvPr/>
        </p:nvSpPr>
        <p:spPr>
          <a:xfrm>
            <a:off x="7589191" y="2960944"/>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p:sp>
        <p:nvSpPr>
          <p:cNvPr id="11" name="7 Elipse"/>
          <p:cNvSpPr/>
          <p:nvPr/>
        </p:nvSpPr>
        <p:spPr>
          <a:xfrm>
            <a:off x="8312673" y="3847847"/>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p:cxnSp>
        <p:nvCxnSpPr>
          <p:cNvPr id="12" name="8 Conector recto de flecha"/>
          <p:cNvCxnSpPr>
            <a:endCxn id="5" idx="2"/>
          </p:cNvCxnSpPr>
          <p:nvPr/>
        </p:nvCxnSpPr>
        <p:spPr>
          <a:xfrm>
            <a:off x="2029076" y="3176808"/>
            <a:ext cx="801286"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3" name="9 Conector recto de flecha"/>
          <p:cNvCxnSpPr>
            <a:stCxn id="5" idx="6"/>
            <a:endCxn id="6" idx="1"/>
          </p:cNvCxnSpPr>
          <p:nvPr/>
        </p:nvCxnSpPr>
        <p:spPr>
          <a:xfrm>
            <a:off x="3262411" y="3176968"/>
            <a:ext cx="483031"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4" name="10 Conector recto de flecha"/>
          <p:cNvCxnSpPr>
            <a:stCxn id="6" idx="3"/>
            <a:endCxn id="7" idx="2"/>
          </p:cNvCxnSpPr>
          <p:nvPr/>
        </p:nvCxnSpPr>
        <p:spPr>
          <a:xfrm flipV="1">
            <a:off x="4393514" y="3176968"/>
            <a:ext cx="518409"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5" name="11 Conector recto de flecha"/>
          <p:cNvCxnSpPr>
            <a:endCxn id="7" idx="0"/>
          </p:cNvCxnSpPr>
          <p:nvPr/>
        </p:nvCxnSpPr>
        <p:spPr>
          <a:xfrm>
            <a:off x="5127946" y="2352266"/>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6" name="12 Conector recto de flecha"/>
          <p:cNvCxnSpPr>
            <a:stCxn id="7" idx="6"/>
          </p:cNvCxnSpPr>
          <p:nvPr/>
        </p:nvCxnSpPr>
        <p:spPr>
          <a:xfrm flipV="1">
            <a:off x="5343970" y="3176808"/>
            <a:ext cx="319982"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7" name="13 Conector recto de flecha"/>
          <p:cNvCxnSpPr>
            <a:endCxn id="10" idx="2"/>
          </p:cNvCxnSpPr>
          <p:nvPr/>
        </p:nvCxnSpPr>
        <p:spPr>
          <a:xfrm>
            <a:off x="7340565" y="3176808"/>
            <a:ext cx="248626"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8" name="14 Conector recto de flecha"/>
          <p:cNvCxnSpPr>
            <a:stCxn id="10" idx="6"/>
          </p:cNvCxnSpPr>
          <p:nvPr/>
        </p:nvCxnSpPr>
        <p:spPr>
          <a:xfrm>
            <a:off x="8021240" y="3176967"/>
            <a:ext cx="1365683"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9" name="15 Conector recto de flecha"/>
          <p:cNvCxnSpPr>
            <a:endCxn id="11" idx="0"/>
          </p:cNvCxnSpPr>
          <p:nvPr/>
        </p:nvCxnSpPr>
        <p:spPr>
          <a:xfrm>
            <a:off x="8528697" y="3177130"/>
            <a:ext cx="0" cy="670716"/>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0" name="16 Conector recto de flecha"/>
          <p:cNvCxnSpPr/>
          <p:nvPr/>
        </p:nvCxnSpPr>
        <p:spPr>
          <a:xfrm>
            <a:off x="4624043" y="3167501"/>
            <a:ext cx="0" cy="886743"/>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1" name="17 Conector recto de flecha"/>
          <p:cNvCxnSpPr>
            <a:stCxn id="40" idx="3"/>
            <a:endCxn id="9" idx="1"/>
          </p:cNvCxnSpPr>
          <p:nvPr/>
        </p:nvCxnSpPr>
        <p:spPr>
          <a:xfrm>
            <a:off x="5840391" y="4063869"/>
            <a:ext cx="1104130" cy="3"/>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sp>
        <p:nvSpPr>
          <p:cNvPr id="22" name="18 Elipse"/>
          <p:cNvSpPr/>
          <p:nvPr/>
        </p:nvSpPr>
        <p:spPr>
          <a:xfrm>
            <a:off x="6298044" y="4630308"/>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p:cxnSp>
        <p:nvCxnSpPr>
          <p:cNvPr id="23" name="19 Conector recto de flecha"/>
          <p:cNvCxnSpPr>
            <a:endCxn id="22" idx="0"/>
          </p:cNvCxnSpPr>
          <p:nvPr/>
        </p:nvCxnSpPr>
        <p:spPr>
          <a:xfrm>
            <a:off x="6514068" y="4054244"/>
            <a:ext cx="0" cy="576063"/>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4" name="20 Conector recto de flecha"/>
          <p:cNvCxnSpPr>
            <a:endCxn id="22" idx="6"/>
          </p:cNvCxnSpPr>
          <p:nvPr/>
        </p:nvCxnSpPr>
        <p:spPr>
          <a:xfrm flipH="1">
            <a:off x="6730093" y="4846330"/>
            <a:ext cx="1798605" cy="2"/>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5" name="21 Conector recto de flecha"/>
          <p:cNvCxnSpPr>
            <a:stCxn id="11" idx="4"/>
          </p:cNvCxnSpPr>
          <p:nvPr/>
        </p:nvCxnSpPr>
        <p:spPr>
          <a:xfrm>
            <a:off x="8528697" y="4279896"/>
            <a:ext cx="0" cy="566435"/>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6" name="22 Conector recto de flecha"/>
          <p:cNvCxnSpPr>
            <a:endCxn id="10" idx="0"/>
          </p:cNvCxnSpPr>
          <p:nvPr/>
        </p:nvCxnSpPr>
        <p:spPr>
          <a:xfrm>
            <a:off x="7805215" y="2352266"/>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7" name="23 Conector recto de flecha"/>
          <p:cNvCxnSpPr>
            <a:stCxn id="9" idx="3"/>
            <a:endCxn id="11" idx="2"/>
          </p:cNvCxnSpPr>
          <p:nvPr/>
        </p:nvCxnSpPr>
        <p:spPr>
          <a:xfrm>
            <a:off x="7736609" y="4063871"/>
            <a:ext cx="576064"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8" name="24 Conector recto de flecha"/>
          <p:cNvCxnSpPr>
            <a:endCxn id="22" idx="2"/>
          </p:cNvCxnSpPr>
          <p:nvPr/>
        </p:nvCxnSpPr>
        <p:spPr>
          <a:xfrm>
            <a:off x="3046386" y="4846170"/>
            <a:ext cx="3251658" cy="163"/>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9" name="25 Conector recto de flecha"/>
          <p:cNvCxnSpPr>
            <a:endCxn id="5" idx="4"/>
          </p:cNvCxnSpPr>
          <p:nvPr/>
        </p:nvCxnSpPr>
        <p:spPr>
          <a:xfrm flipV="1">
            <a:off x="3046386" y="3392993"/>
            <a:ext cx="0" cy="145317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31" name="27 Conector recto de flecha"/>
          <p:cNvCxnSpPr/>
          <p:nvPr/>
        </p:nvCxnSpPr>
        <p:spPr>
          <a:xfrm>
            <a:off x="3190402" y="3620499"/>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p:cxnSp>
        <p:nvCxnSpPr>
          <p:cNvPr id="32" name="28 Conector recto de flecha"/>
          <p:cNvCxnSpPr/>
          <p:nvPr/>
        </p:nvCxnSpPr>
        <p:spPr>
          <a:xfrm>
            <a:off x="8168657" y="4273175"/>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3" name="29 Rectángulo"/>
              <p:cNvSpPr/>
              <p:nvPr/>
            </p:nvSpPr>
            <p:spPr>
              <a:xfrm>
                <a:off x="2082945" y="2730322"/>
                <a:ext cx="688715"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𝑟</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3" name="29 Rectángulo"/>
              <p:cNvSpPr>
                <a:spLocks noRot="1" noChangeAspect="1" noMove="1" noResize="1" noEditPoints="1" noAdjustHandles="1" noChangeArrowheads="1" noChangeShapeType="1" noTextEdit="1"/>
              </p:cNvSpPr>
              <p:nvPr/>
            </p:nvSpPr>
            <p:spPr>
              <a:xfrm>
                <a:off x="558944" y="2730322"/>
                <a:ext cx="688715" cy="400110"/>
              </a:xfrm>
              <a:prstGeom prst="rect">
                <a:avLst/>
              </a:prstGeom>
              <a:blipFill rotWithShape="0">
                <a:blip r:embed="rId5"/>
                <a:stretch>
                  <a:fillRect b="-1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30 Rectángulo"/>
              <p:cNvSpPr/>
              <p:nvPr/>
            </p:nvSpPr>
            <p:spPr>
              <a:xfrm>
                <a:off x="3125993" y="2723647"/>
                <a:ext cx="693523"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𝑒</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4" name="30 Rectángulo"/>
              <p:cNvSpPr>
                <a:spLocks noRot="1" noChangeAspect="1" noMove="1" noResize="1" noEditPoints="1" noAdjustHandles="1" noChangeArrowheads="1" noChangeShapeType="1" noTextEdit="1"/>
              </p:cNvSpPr>
              <p:nvPr/>
            </p:nvSpPr>
            <p:spPr>
              <a:xfrm>
                <a:off x="1601992" y="2723647"/>
                <a:ext cx="693523" cy="400110"/>
              </a:xfrm>
              <a:prstGeom prst="rect">
                <a:avLst/>
              </a:prstGeom>
              <a:blipFill rotWithShape="0">
                <a:blip r:embed="rId6"/>
                <a:stretch>
                  <a:fillRect b="-1538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5" name="31 Rectángulo"/>
              <p:cNvSpPr/>
              <p:nvPr/>
            </p:nvSpPr>
            <p:spPr>
              <a:xfrm>
                <a:off x="4342493" y="2742261"/>
                <a:ext cx="71526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𝑢</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5" name="31 Rectángulo"/>
              <p:cNvSpPr>
                <a:spLocks noRot="1" noChangeAspect="1" noMove="1" noResize="1" noEditPoints="1" noAdjustHandles="1" noChangeArrowheads="1" noChangeShapeType="1" noTextEdit="1"/>
              </p:cNvSpPr>
              <p:nvPr/>
            </p:nvSpPr>
            <p:spPr>
              <a:xfrm>
                <a:off x="2818493" y="2742261"/>
                <a:ext cx="715260" cy="400110"/>
              </a:xfrm>
              <a:prstGeom prst="rect">
                <a:avLst/>
              </a:prstGeom>
              <a:blipFill rotWithShape="0">
                <a:blip r:embed="rId7"/>
                <a:stretch>
                  <a:fillRect b="-1538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6" name="32 Rectángulo"/>
              <p:cNvSpPr/>
              <p:nvPr/>
            </p:nvSpPr>
            <p:spPr>
              <a:xfrm>
                <a:off x="5146515" y="2177717"/>
                <a:ext cx="70686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𝑞</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6" name="32 Rectángulo"/>
              <p:cNvSpPr>
                <a:spLocks noRot="1" noChangeAspect="1" noMove="1" noResize="1" noEditPoints="1" noAdjustHandles="1" noChangeArrowheads="1" noChangeShapeType="1" noTextEdit="1"/>
              </p:cNvSpPr>
              <p:nvPr/>
            </p:nvSpPr>
            <p:spPr>
              <a:xfrm>
                <a:off x="3622515" y="2177717"/>
                <a:ext cx="706860" cy="400110"/>
              </a:xfrm>
              <a:prstGeom prst="rect">
                <a:avLst/>
              </a:prstGeom>
              <a:blipFill rotWithShape="0">
                <a:blip r:embed="rId8"/>
                <a:stretch>
                  <a:fillRect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33 Rectángulo"/>
              <p:cNvSpPr/>
              <p:nvPr/>
            </p:nvSpPr>
            <p:spPr>
              <a:xfrm>
                <a:off x="7812117" y="2143692"/>
                <a:ext cx="71308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b="0" i="1" smtClean="0">
                          <a:latin typeface="Cambria Math" panose="02040503050406030204" pitchFamily="18" charset="0"/>
                        </a:rPr>
                        <m:t>𝑛</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7" name="33 Rectángulo"/>
              <p:cNvSpPr>
                <a:spLocks noRot="1" noChangeAspect="1" noMove="1" noResize="1" noEditPoints="1" noAdjustHandles="1" noChangeArrowheads="1" noChangeShapeType="1" noTextEdit="1"/>
              </p:cNvSpPr>
              <p:nvPr/>
            </p:nvSpPr>
            <p:spPr>
              <a:xfrm>
                <a:off x="7812117" y="2143692"/>
                <a:ext cx="713080" cy="400110"/>
              </a:xfrm>
              <a:prstGeom prst="rect">
                <a:avLst/>
              </a:prstGeom>
              <a:blipFill rotWithShape="0">
                <a:blip r:embed="rId9"/>
                <a:stretch>
                  <a:fillRect b="-1538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9" name="35 Rectángulo"/>
              <p:cNvSpPr/>
              <p:nvPr/>
            </p:nvSpPr>
            <p:spPr>
              <a:xfrm>
                <a:off x="7976728" y="2755664"/>
                <a:ext cx="70987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𝑦</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9" name="35 Rectángulo"/>
              <p:cNvSpPr>
                <a:spLocks noRot="1" noChangeAspect="1" noMove="1" noResize="1" noEditPoints="1" noAdjustHandles="1" noChangeArrowheads="1" noChangeShapeType="1" noTextEdit="1"/>
              </p:cNvSpPr>
              <p:nvPr/>
            </p:nvSpPr>
            <p:spPr>
              <a:xfrm>
                <a:off x="6452728" y="2755664"/>
                <a:ext cx="709874" cy="400110"/>
              </a:xfrm>
              <a:prstGeom prst="rect">
                <a:avLst/>
              </a:prstGeom>
              <a:blipFill rotWithShape="0">
                <a:blip r:embed="rId11"/>
                <a:stretch>
                  <a:fillRect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36 Rectángulo"/>
              <p:cNvSpPr/>
              <p:nvPr/>
            </p:nvSpPr>
            <p:spPr>
              <a:xfrm>
                <a:off x="5048303" y="3811841"/>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pt-BR" sz="2000" i="1">
                              <a:latin typeface="Cambria Math" panose="02040503050406030204" pitchFamily="18" charset="0"/>
                            </a:rPr>
                          </m:ctrlPr>
                        </m:sSubPr>
                        <m:e>
                          <m:r>
                            <a:rPr lang="es-CO" sz="2000" i="1">
                              <a:latin typeface="Cambria Math"/>
                            </a:rPr>
                            <m:t>𝐺</m:t>
                          </m:r>
                        </m:e>
                        <m:sub>
                          <m:r>
                            <m:rPr>
                              <m:sty m:val="p"/>
                            </m:rPr>
                            <a:rPr lang="pt-BR" sz="2000">
                              <a:latin typeface="Cambria Math"/>
                            </a:rPr>
                            <m:t>n</m:t>
                          </m:r>
                        </m:sub>
                      </m:sSub>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40" name="36 Rectángulo"/>
              <p:cNvSpPr>
                <a:spLocks noRot="1" noChangeAspect="1" noMove="1" noResize="1" noEditPoints="1" noAdjustHandles="1" noChangeArrowheads="1" noChangeShapeType="1" noTextEdit="1"/>
              </p:cNvSpPr>
              <p:nvPr/>
            </p:nvSpPr>
            <p:spPr>
              <a:xfrm>
                <a:off x="3524303" y="3811840"/>
                <a:ext cx="792088" cy="504055"/>
              </a:xfrm>
              <a:prstGeom prst="rect">
                <a:avLst/>
              </a:prstGeom>
              <a:blipFill rotWithShape="0">
                <a:blip r:embed="rId12"/>
                <a:stretch>
                  <a:fillRect l="-746"/>
                </a:stretch>
              </a:blipFill>
            </p:spPr>
            <p:txBody>
              <a:bodyPr/>
              <a:lstStyle/>
              <a:p>
                <a:r>
                  <a:rPr lang="pt-BR">
                    <a:noFill/>
                  </a:rPr>
                  <a:t> </a:t>
                </a:r>
              </a:p>
            </p:txBody>
          </p:sp>
        </mc:Fallback>
      </mc:AlternateContent>
      <p:cxnSp>
        <p:nvCxnSpPr>
          <p:cNvPr id="41" name="37 Conector recto de flecha"/>
          <p:cNvCxnSpPr>
            <a:endCxn id="40" idx="1"/>
          </p:cNvCxnSpPr>
          <p:nvPr/>
        </p:nvCxnSpPr>
        <p:spPr>
          <a:xfrm>
            <a:off x="4624043" y="4063712"/>
            <a:ext cx="424261" cy="15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2" name="38 Rectángulo"/>
              <p:cNvSpPr/>
              <p:nvPr/>
            </p:nvSpPr>
            <p:spPr>
              <a:xfrm>
                <a:off x="4269139" y="4883589"/>
                <a:ext cx="70981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s-CO" sz="2000" i="1">
                          <a:latin typeface="Cambria Math"/>
                        </a:rPr>
                        <m:t>𝑓</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42" name="38 Rectángulo"/>
              <p:cNvSpPr>
                <a:spLocks noRot="1" noChangeAspect="1" noMove="1" noResize="1" noEditPoints="1" noAdjustHandles="1" noChangeArrowheads="1" noChangeShapeType="1" noTextEdit="1"/>
              </p:cNvSpPr>
              <p:nvPr/>
            </p:nvSpPr>
            <p:spPr>
              <a:xfrm>
                <a:off x="2745139" y="4883589"/>
                <a:ext cx="709810" cy="400110"/>
              </a:xfrm>
              <a:prstGeom prst="rect">
                <a:avLst/>
              </a:prstGeom>
              <a:blipFill rotWithShape="0">
                <a:blip r:embed="rId13"/>
                <a:stretch>
                  <a:fillRect l="-3419"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3" name="39 Rectángulo"/>
              <p:cNvSpPr/>
              <p:nvPr/>
            </p:nvSpPr>
            <p:spPr>
              <a:xfrm>
                <a:off x="5778864" y="3644763"/>
                <a:ext cx="1288173"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es-CO" sz="2000" i="1">
                              <a:latin typeface="Cambria Math" panose="02040503050406030204" pitchFamily="18" charset="0"/>
                            </a:rPr>
                          </m:ctrlPr>
                        </m:accPr>
                        <m:e>
                          <m:r>
                            <a:rPr lang="es-CO" sz="2000" i="1">
                              <a:latin typeface="Cambria Math"/>
                            </a:rPr>
                            <m:t>𝑦</m:t>
                          </m:r>
                        </m:e>
                      </m:acc>
                      <m:r>
                        <a:rPr lang="pt-BR" sz="2000" i="1">
                          <a:latin typeface="Cambria Math"/>
                        </a:rPr>
                        <m:t>(</m:t>
                      </m:r>
                      <m:r>
                        <a:rPr lang="es-CO" sz="2000" i="1">
                          <a:latin typeface="Cambria Math"/>
                        </a:rPr>
                        <m:t>𝑡</m:t>
                      </m:r>
                      <m:r>
                        <a:rPr lang="es-CO" sz="2000" i="1">
                          <a:latin typeface="Cambria Math"/>
                        </a:rPr>
                        <m:t>+</m:t>
                      </m:r>
                      <m:sSub>
                        <m:sSubPr>
                          <m:ctrlPr>
                            <a:rPr lang="es-CO" sz="2000" i="1">
                              <a:latin typeface="Cambria Math" panose="02040503050406030204" pitchFamily="18" charset="0"/>
                            </a:rPr>
                          </m:ctrlPr>
                        </m:sSubPr>
                        <m:e>
                          <m:r>
                            <a:rPr lang="es-CO" sz="2000" i="1">
                              <a:latin typeface="Cambria Math"/>
                            </a:rPr>
                            <m:t>𝐿</m:t>
                          </m:r>
                        </m:e>
                        <m:sub>
                          <m:r>
                            <a:rPr lang="es-CO" sz="2000" i="1">
                              <a:latin typeface="Cambria Math"/>
                            </a:rPr>
                            <m:t>𝑛</m:t>
                          </m:r>
                        </m:sub>
                      </m:sSub>
                      <m:r>
                        <a:rPr lang="pt-BR" sz="2000" i="1">
                          <a:latin typeface="Cambria Math"/>
                        </a:rPr>
                        <m:t>)</m:t>
                      </m:r>
                    </m:oMath>
                  </m:oMathPara>
                </a14:m>
                <a:endParaRPr lang="es-CO" sz="2000" b="1" i="1" dirty="0"/>
              </a:p>
            </p:txBody>
          </p:sp>
        </mc:Choice>
        <mc:Fallback xmlns="">
          <p:sp>
            <p:nvSpPr>
              <p:cNvPr id="43" name="39 Rectángulo"/>
              <p:cNvSpPr>
                <a:spLocks noRot="1" noChangeAspect="1" noMove="1" noResize="1" noEditPoints="1" noAdjustHandles="1" noChangeArrowheads="1" noChangeShapeType="1" noTextEdit="1"/>
              </p:cNvSpPr>
              <p:nvPr/>
            </p:nvSpPr>
            <p:spPr>
              <a:xfrm>
                <a:off x="4254863" y="3644763"/>
                <a:ext cx="1288173" cy="400110"/>
              </a:xfrm>
              <a:prstGeom prst="rect">
                <a:avLst/>
              </a:prstGeom>
              <a:blipFill rotWithShape="0">
                <a:blip r:embed="rId14"/>
                <a:stretch>
                  <a:fillRect t="-6061" b="-1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4" name="40 Rectángulo"/>
              <p:cNvSpPr/>
              <p:nvPr/>
            </p:nvSpPr>
            <p:spPr>
              <a:xfrm>
                <a:off x="7720020" y="3620499"/>
                <a:ext cx="70987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es-CO" sz="2000" i="1">
                              <a:latin typeface="Cambria Math" panose="02040503050406030204" pitchFamily="18" charset="0"/>
                            </a:rPr>
                          </m:ctrlPr>
                        </m:accPr>
                        <m:e>
                          <m:r>
                            <a:rPr lang="es-CO" sz="2000" i="1">
                              <a:latin typeface="Cambria Math"/>
                            </a:rPr>
                            <m:t>𝑦</m:t>
                          </m:r>
                        </m:e>
                      </m:acc>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44" name="40 Rectángulo"/>
              <p:cNvSpPr>
                <a:spLocks noRot="1" noChangeAspect="1" noMove="1" noResize="1" noEditPoints="1" noAdjustHandles="1" noChangeArrowheads="1" noChangeShapeType="1" noTextEdit="1"/>
              </p:cNvSpPr>
              <p:nvPr/>
            </p:nvSpPr>
            <p:spPr>
              <a:xfrm>
                <a:off x="6196020" y="3620499"/>
                <a:ext cx="709874" cy="400110"/>
              </a:xfrm>
              <a:prstGeom prst="rect">
                <a:avLst/>
              </a:prstGeom>
              <a:blipFill rotWithShape="0">
                <a:blip r:embed="rId15"/>
                <a:stretch>
                  <a:fillRect t="-6061" b="-1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5" name="45 Rectángulo"/>
              <p:cNvSpPr/>
              <p:nvPr/>
            </p:nvSpPr>
            <p:spPr>
              <a:xfrm>
                <a:off x="7223418" y="4896727"/>
                <a:ext cx="811954" cy="42377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pt-BR" sz="2000" i="1">
                              <a:latin typeface="Cambria Math" panose="02040503050406030204" pitchFamily="18" charset="0"/>
                            </a:rPr>
                          </m:ctrlPr>
                        </m:sSubPr>
                        <m:e>
                          <m:r>
                            <a:rPr lang="es-CO" sz="2000" i="1">
                              <a:latin typeface="Cambria Math"/>
                            </a:rPr>
                            <m:t>𝑒</m:t>
                          </m:r>
                        </m:e>
                        <m:sub>
                          <m:r>
                            <a:rPr lang="es-CO" sz="2000" i="1">
                              <a:latin typeface="Cambria Math"/>
                            </a:rPr>
                            <m:t>𝑝</m:t>
                          </m:r>
                        </m:sub>
                      </m:sSub>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45" name="45 Rectángulo"/>
              <p:cNvSpPr>
                <a:spLocks noRot="1" noChangeAspect="1" noMove="1" noResize="1" noEditPoints="1" noAdjustHandles="1" noChangeArrowheads="1" noChangeShapeType="1" noTextEdit="1"/>
              </p:cNvSpPr>
              <p:nvPr/>
            </p:nvSpPr>
            <p:spPr>
              <a:xfrm>
                <a:off x="5699418" y="4896727"/>
                <a:ext cx="811954" cy="423770"/>
              </a:xfrm>
              <a:prstGeom prst="rect">
                <a:avLst/>
              </a:prstGeom>
              <a:blipFill rotWithShape="0">
                <a:blip r:embed="rId16"/>
                <a:stretch>
                  <a:fillRect b="-10000"/>
                </a:stretch>
              </a:blipFill>
            </p:spPr>
            <p:txBody>
              <a:bodyPr/>
              <a:lstStyle/>
              <a:p>
                <a:r>
                  <a:rPr lang="pt-BR">
                    <a:noFill/>
                  </a:rPr>
                  <a:t> </a:t>
                </a:r>
              </a:p>
            </p:txBody>
          </p:sp>
        </mc:Fallback>
      </mc:AlternateContent>
      <p:pic>
        <p:nvPicPr>
          <p:cNvPr id="46" name="Picture 4"/>
          <p:cNvPicPr>
            <a:picLocks noChangeAspect="1" noChangeArrowheads="1"/>
          </p:cNvPicPr>
          <p:nvPr/>
        </p:nvPicPr>
        <p:blipFill>
          <a:blip r:embed="rId17" cstate="print"/>
          <a:srcRect/>
          <a:stretch>
            <a:fillRect/>
          </a:stretch>
        </p:blipFill>
        <p:spPr bwMode="auto">
          <a:xfrm>
            <a:off x="0" y="-28249"/>
            <a:ext cx="12192000" cy="1071546"/>
          </a:xfrm>
          <a:prstGeom prst="rect">
            <a:avLst/>
          </a:prstGeom>
          <a:noFill/>
          <a:ln w="9525">
            <a:noFill/>
            <a:miter lim="800000"/>
            <a:headEnd/>
            <a:tailEnd/>
          </a:ln>
          <a:effectLst/>
        </p:spPr>
      </p:pic>
      <p:sp>
        <p:nvSpPr>
          <p:cNvPr id="47" name="CaixaDeTexto 46"/>
          <p:cNvSpPr txBox="1"/>
          <p:nvPr/>
        </p:nvSpPr>
        <p:spPr>
          <a:xfrm>
            <a:off x="1631504" y="165120"/>
            <a:ext cx="8928992" cy="1985159"/>
          </a:xfrm>
          <a:prstGeom prst="rect">
            <a:avLst/>
          </a:prstGeom>
          <a:noFill/>
        </p:spPr>
        <p:txBody>
          <a:bodyPr wrap="square" rtlCol="0">
            <a:spAutoFit/>
          </a:bodyPr>
          <a:lstStyle/>
          <a:p>
            <a:pPr algn="ctr"/>
            <a:r>
              <a:rPr lang="pt-BR" sz="3600" b="1">
                <a:solidFill>
                  <a:schemeClr val="bg1"/>
                </a:solidFill>
              </a:rPr>
              <a:t>PREDICTOR DE SMITH</a:t>
            </a:r>
            <a:endParaRPr lang="pt-BR" sz="4800" b="1" i="1">
              <a:solidFill>
                <a:schemeClr val="bg1"/>
              </a:solidFill>
            </a:endParaRPr>
          </a:p>
          <a:p>
            <a:pPr algn="ctr"/>
            <a:endParaRPr lang="pt-BR" sz="36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p:sp>
        <p:nvSpPr>
          <p:cNvPr id="4" name="Espaço Reservado para Rodapé 3"/>
          <p:cNvSpPr>
            <a:spLocks noGrp="1"/>
          </p:cNvSpPr>
          <p:nvPr>
            <p:ph type="ftr" sz="quarter" idx="11"/>
          </p:nvPr>
        </p:nvSpPr>
        <p:spPr/>
        <p:txBody>
          <a:bodyPr/>
          <a:lstStyle/>
          <a:p>
            <a:r>
              <a:rPr lang="en-US"/>
              <a:t>http://controlautomaticoeducacion.com/</a:t>
            </a:r>
          </a:p>
        </p:txBody>
      </p:sp>
      <p:sp>
        <p:nvSpPr>
          <p:cNvPr id="48" name="Espaço Reservado para Número de Slide 47"/>
          <p:cNvSpPr>
            <a:spLocks noGrp="1"/>
          </p:cNvSpPr>
          <p:nvPr>
            <p:ph type="sldNum" sz="quarter" idx="12"/>
          </p:nvPr>
        </p:nvSpPr>
        <p:spPr/>
        <p:txBody>
          <a:bodyPr/>
          <a:lstStyle/>
          <a:p>
            <a:fld id="{FA1C692C-4F2D-45F6-A9A8-8A3A8FE27806}" type="slidenum">
              <a:rPr lang="en-US" sz="2000" smtClean="0"/>
              <a:pPr/>
              <a:t>15</a:t>
            </a:fld>
            <a:endParaRPr lang="en-US" sz="2000" dirty="0"/>
          </a:p>
        </p:txBody>
      </p:sp>
    </p:spTree>
    <p:extLst>
      <p:ext uri="{BB962C8B-B14F-4D97-AF65-F5344CB8AC3E}">
        <p14:creationId xmlns:p14="http://schemas.microsoft.com/office/powerpoint/2010/main" val="2376692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500"/>
                                        <p:tgtEl>
                                          <p:spTgt spid="3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500"/>
                                        <p:tgtEl>
                                          <p:spTgt spid="4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500"/>
                                        <p:tgtEl>
                                          <p:spTgt spid="4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par>
                                <p:cTn id="47" presetID="10"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500"/>
                                        <p:tgtEl>
                                          <p:spTgt spid="25"/>
                                        </p:tgtEl>
                                      </p:cBhvr>
                                    </p:animEffect>
                                  </p:childTnLst>
                                </p:cTn>
                              </p:par>
                              <p:par>
                                <p:cTn id="53" presetID="10" presetClass="entr" presetSubtype="0" fill="hold" nodeType="with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22" grpId="0" animBg="1"/>
      <p:bldP spid="36" grpId="0"/>
      <p:bldP spid="37" grpId="0"/>
      <p:bldP spid="40" grpId="0" animBg="1"/>
      <p:bldP spid="43" grpId="0"/>
      <p:bldP spid="4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Elipse"/>
          <p:cNvSpPr/>
          <p:nvPr/>
        </p:nvSpPr>
        <p:spPr>
          <a:xfrm>
            <a:off x="2830362" y="2960944"/>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mc:AlternateContent xmlns:mc="http://schemas.openxmlformats.org/markup-compatibility/2006" xmlns:a14="http://schemas.microsoft.com/office/drawing/2010/main">
        <mc:Choice Requires="a14">
          <p:sp>
            <p:nvSpPr>
              <p:cNvPr id="6" name="2 Rectángulo"/>
              <p:cNvSpPr/>
              <p:nvPr/>
            </p:nvSpPr>
            <p:spPr>
              <a:xfrm>
                <a:off x="3745441" y="2924945"/>
                <a:ext cx="64807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sz="2000">
                          <a:latin typeface="Cambria Math"/>
                        </a:rPr>
                        <m:t>C</m:t>
                      </m:r>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6" name="2 Rectángulo"/>
              <p:cNvSpPr>
                <a:spLocks noRot="1" noChangeAspect="1" noMove="1" noResize="1" noEditPoints="1" noAdjustHandles="1" noChangeArrowheads="1" noChangeShapeType="1" noTextEdit="1"/>
              </p:cNvSpPr>
              <p:nvPr/>
            </p:nvSpPr>
            <p:spPr>
              <a:xfrm>
                <a:off x="2221441" y="2924944"/>
                <a:ext cx="648072" cy="504055"/>
              </a:xfrm>
              <a:prstGeom prst="rect">
                <a:avLst/>
              </a:prstGeom>
              <a:blipFill rotWithShape="0">
                <a:blip r:embed="rId3"/>
                <a:stretch>
                  <a:fillRect l="-1802"/>
                </a:stretch>
              </a:blipFill>
            </p:spPr>
            <p:txBody>
              <a:bodyPr/>
              <a:lstStyle/>
              <a:p>
                <a:r>
                  <a:rPr lang="pt-BR">
                    <a:noFill/>
                  </a:rPr>
                  <a:t> </a:t>
                </a:r>
              </a:p>
            </p:txBody>
          </p:sp>
        </mc:Fallback>
      </mc:AlternateContent>
      <p:sp>
        <p:nvSpPr>
          <p:cNvPr id="7" name="3 Elipse"/>
          <p:cNvSpPr/>
          <p:nvPr/>
        </p:nvSpPr>
        <p:spPr>
          <a:xfrm>
            <a:off x="4911922" y="2960944"/>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mc:AlternateContent xmlns:mc="http://schemas.openxmlformats.org/markup-compatibility/2006" xmlns:a14="http://schemas.microsoft.com/office/drawing/2010/main">
        <mc:Choice Requires="a14">
          <p:sp>
            <p:nvSpPr>
              <p:cNvPr id="8" name="4 Rectángulo"/>
              <p:cNvSpPr/>
              <p:nvPr/>
            </p:nvSpPr>
            <p:spPr>
              <a:xfrm>
                <a:off x="6023992" y="2924945"/>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sz="2000">
                          <a:latin typeface="Cambria Math"/>
                        </a:rPr>
                        <m:t>P</m:t>
                      </m:r>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8" name="4 Rectángulo"/>
              <p:cNvSpPr>
                <a:spLocks noRot="1" noChangeAspect="1" noMove="1" noResize="1" noEditPoints="1" noAdjustHandles="1" noChangeArrowheads="1" noChangeShapeType="1" noTextEdit="1"/>
              </p:cNvSpPr>
              <p:nvPr/>
            </p:nvSpPr>
            <p:spPr>
              <a:xfrm>
                <a:off x="4499992" y="2924944"/>
                <a:ext cx="792088" cy="504055"/>
              </a:xfrm>
              <a:prstGeom prst="rect">
                <a:avLst/>
              </a:prstGeom>
              <a:blipFill rotWithShape="0">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 name="5 Rectángulo"/>
              <p:cNvSpPr/>
              <p:nvPr/>
            </p:nvSpPr>
            <p:spPr>
              <a:xfrm>
                <a:off x="6944521" y="3811844"/>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CO" sz="2000" b="1" i="1" smtClean="0">
                              <a:latin typeface="Cambria Math" panose="02040503050406030204" pitchFamily="18" charset="0"/>
                            </a:rPr>
                          </m:ctrlPr>
                        </m:sSupPr>
                        <m:e>
                          <m:r>
                            <a:rPr lang="es-CO" sz="2000" i="1">
                              <a:latin typeface="Cambria Math"/>
                            </a:rPr>
                            <m:t>𝑒</m:t>
                          </m:r>
                        </m:e>
                        <m:sup>
                          <m:sSub>
                            <m:sSubPr>
                              <m:ctrlPr>
                                <a:rPr lang="es-CO" sz="2000" i="1">
                                  <a:latin typeface="Cambria Math" panose="02040503050406030204" pitchFamily="18" charset="0"/>
                                </a:rPr>
                              </m:ctrlPr>
                            </m:sSubPr>
                            <m:e>
                              <m:r>
                                <a:rPr lang="pt-BR" sz="2000" b="0" i="1" smtClean="0">
                                  <a:latin typeface="Cambria Math" panose="02040503050406030204" pitchFamily="18" charset="0"/>
                                </a:rPr>
                                <m:t>−</m:t>
                              </m:r>
                              <m:r>
                                <a:rPr lang="es-CO" sz="2000" i="1">
                                  <a:latin typeface="Cambria Math"/>
                                </a:rPr>
                                <m:t>𝐿</m:t>
                              </m:r>
                            </m:e>
                            <m:sub>
                              <m:r>
                                <a:rPr lang="es-CO" sz="2000" i="1">
                                  <a:latin typeface="Cambria Math"/>
                                </a:rPr>
                                <m:t>𝑛</m:t>
                              </m:r>
                            </m:sub>
                          </m:sSub>
                          <m:r>
                            <a:rPr lang="es-CO" sz="2000" i="1">
                              <a:latin typeface="Cambria Math"/>
                            </a:rPr>
                            <m:t>𝑠</m:t>
                          </m:r>
                        </m:sup>
                      </m:sSup>
                    </m:oMath>
                  </m:oMathPara>
                </a14:m>
                <a:endParaRPr lang="es-CO" sz="2000" b="1" dirty="0"/>
              </a:p>
            </p:txBody>
          </p:sp>
        </mc:Choice>
        <mc:Fallback xmlns="">
          <p:sp>
            <p:nvSpPr>
              <p:cNvPr id="9" name="5 Rectángulo"/>
              <p:cNvSpPr>
                <a:spLocks noRot="1" noChangeAspect="1" noMove="1" noResize="1" noEditPoints="1" noAdjustHandles="1" noChangeArrowheads="1" noChangeShapeType="1" noTextEdit="1"/>
              </p:cNvSpPr>
              <p:nvPr/>
            </p:nvSpPr>
            <p:spPr>
              <a:xfrm>
                <a:off x="6944521" y="3811844"/>
                <a:ext cx="792088" cy="504055"/>
              </a:xfrm>
              <a:prstGeom prst="rect">
                <a:avLst/>
              </a:prstGeom>
              <a:blipFill rotWithShape="0">
                <a:blip r:embed="rId5"/>
                <a:stretch>
                  <a:fillRect/>
                </a:stretch>
              </a:blipFill>
            </p:spPr>
            <p:txBody>
              <a:bodyPr/>
              <a:lstStyle/>
              <a:p>
                <a:r>
                  <a:rPr lang="pt-BR">
                    <a:noFill/>
                  </a:rPr>
                  <a:t> </a:t>
                </a:r>
              </a:p>
            </p:txBody>
          </p:sp>
        </mc:Fallback>
      </mc:AlternateContent>
      <p:sp>
        <p:nvSpPr>
          <p:cNvPr id="10" name="6 Elipse"/>
          <p:cNvSpPr/>
          <p:nvPr/>
        </p:nvSpPr>
        <p:spPr>
          <a:xfrm>
            <a:off x="7589191" y="2960944"/>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p:sp>
        <p:nvSpPr>
          <p:cNvPr id="11" name="7 Elipse"/>
          <p:cNvSpPr/>
          <p:nvPr/>
        </p:nvSpPr>
        <p:spPr>
          <a:xfrm>
            <a:off x="8312673" y="3847847"/>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p:cxnSp>
        <p:nvCxnSpPr>
          <p:cNvPr id="12" name="8 Conector recto de flecha"/>
          <p:cNvCxnSpPr>
            <a:endCxn id="5" idx="2"/>
          </p:cNvCxnSpPr>
          <p:nvPr/>
        </p:nvCxnSpPr>
        <p:spPr>
          <a:xfrm>
            <a:off x="2029076" y="3176808"/>
            <a:ext cx="801286"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3" name="9 Conector recto de flecha"/>
          <p:cNvCxnSpPr>
            <a:stCxn id="5" idx="6"/>
            <a:endCxn id="6" idx="1"/>
          </p:cNvCxnSpPr>
          <p:nvPr/>
        </p:nvCxnSpPr>
        <p:spPr>
          <a:xfrm>
            <a:off x="3262411" y="3176968"/>
            <a:ext cx="483031"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4" name="10 Conector recto de flecha"/>
          <p:cNvCxnSpPr>
            <a:stCxn id="6" idx="3"/>
            <a:endCxn id="7" idx="2"/>
          </p:cNvCxnSpPr>
          <p:nvPr/>
        </p:nvCxnSpPr>
        <p:spPr>
          <a:xfrm flipV="1">
            <a:off x="4393514" y="3176968"/>
            <a:ext cx="518409"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5" name="11 Conector recto de flecha"/>
          <p:cNvCxnSpPr>
            <a:endCxn id="7" idx="0"/>
          </p:cNvCxnSpPr>
          <p:nvPr/>
        </p:nvCxnSpPr>
        <p:spPr>
          <a:xfrm>
            <a:off x="5127946" y="2352266"/>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6" name="12 Conector recto de flecha"/>
          <p:cNvCxnSpPr>
            <a:stCxn id="7" idx="6"/>
            <a:endCxn id="8" idx="1"/>
          </p:cNvCxnSpPr>
          <p:nvPr/>
        </p:nvCxnSpPr>
        <p:spPr>
          <a:xfrm>
            <a:off x="5343970" y="3176968"/>
            <a:ext cx="680022"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7" name="13 Conector recto de flecha"/>
          <p:cNvCxnSpPr>
            <a:stCxn id="8" idx="3"/>
            <a:endCxn id="10" idx="2"/>
          </p:cNvCxnSpPr>
          <p:nvPr/>
        </p:nvCxnSpPr>
        <p:spPr>
          <a:xfrm flipV="1">
            <a:off x="6816081" y="3176968"/>
            <a:ext cx="773111"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8" name="14 Conector recto de flecha"/>
          <p:cNvCxnSpPr>
            <a:stCxn id="10" idx="6"/>
          </p:cNvCxnSpPr>
          <p:nvPr/>
        </p:nvCxnSpPr>
        <p:spPr>
          <a:xfrm>
            <a:off x="8021240" y="3176967"/>
            <a:ext cx="1365683"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9" name="15 Conector recto de flecha"/>
          <p:cNvCxnSpPr>
            <a:endCxn id="11" idx="0"/>
          </p:cNvCxnSpPr>
          <p:nvPr/>
        </p:nvCxnSpPr>
        <p:spPr>
          <a:xfrm>
            <a:off x="8528697" y="3177130"/>
            <a:ext cx="0" cy="670716"/>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0" name="16 Conector recto de flecha"/>
          <p:cNvCxnSpPr/>
          <p:nvPr/>
        </p:nvCxnSpPr>
        <p:spPr>
          <a:xfrm>
            <a:off x="4624043" y="3167501"/>
            <a:ext cx="0" cy="886743"/>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1" name="17 Conector recto de flecha"/>
          <p:cNvCxnSpPr>
            <a:stCxn id="40" idx="3"/>
            <a:endCxn id="9" idx="1"/>
          </p:cNvCxnSpPr>
          <p:nvPr/>
        </p:nvCxnSpPr>
        <p:spPr>
          <a:xfrm>
            <a:off x="5840391" y="4063869"/>
            <a:ext cx="1104130" cy="3"/>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sp>
        <p:nvSpPr>
          <p:cNvPr id="22" name="18 Elipse"/>
          <p:cNvSpPr/>
          <p:nvPr/>
        </p:nvSpPr>
        <p:spPr>
          <a:xfrm>
            <a:off x="6298044" y="4630308"/>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p:cxnSp>
        <p:nvCxnSpPr>
          <p:cNvPr id="23" name="19 Conector recto de flecha"/>
          <p:cNvCxnSpPr>
            <a:endCxn id="22" idx="0"/>
          </p:cNvCxnSpPr>
          <p:nvPr/>
        </p:nvCxnSpPr>
        <p:spPr>
          <a:xfrm>
            <a:off x="6514068" y="4054244"/>
            <a:ext cx="0" cy="576063"/>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4" name="20 Conector recto de flecha"/>
          <p:cNvCxnSpPr>
            <a:endCxn id="22" idx="6"/>
          </p:cNvCxnSpPr>
          <p:nvPr/>
        </p:nvCxnSpPr>
        <p:spPr>
          <a:xfrm flipH="1">
            <a:off x="6730093" y="4846330"/>
            <a:ext cx="1798605" cy="2"/>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5" name="21 Conector recto de flecha"/>
          <p:cNvCxnSpPr>
            <a:stCxn id="11" idx="4"/>
          </p:cNvCxnSpPr>
          <p:nvPr/>
        </p:nvCxnSpPr>
        <p:spPr>
          <a:xfrm>
            <a:off x="8528697" y="4279896"/>
            <a:ext cx="0" cy="566435"/>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6" name="22 Conector recto de flecha"/>
          <p:cNvCxnSpPr>
            <a:endCxn id="10" idx="0"/>
          </p:cNvCxnSpPr>
          <p:nvPr/>
        </p:nvCxnSpPr>
        <p:spPr>
          <a:xfrm>
            <a:off x="7805215" y="2352266"/>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7" name="23 Conector recto de flecha"/>
          <p:cNvCxnSpPr>
            <a:stCxn id="9" idx="3"/>
            <a:endCxn id="11" idx="2"/>
          </p:cNvCxnSpPr>
          <p:nvPr/>
        </p:nvCxnSpPr>
        <p:spPr>
          <a:xfrm>
            <a:off x="7736609" y="4063871"/>
            <a:ext cx="576064"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8" name="24 Conector recto de flecha"/>
          <p:cNvCxnSpPr>
            <a:endCxn id="22" idx="2"/>
          </p:cNvCxnSpPr>
          <p:nvPr/>
        </p:nvCxnSpPr>
        <p:spPr>
          <a:xfrm>
            <a:off x="3046386" y="4846170"/>
            <a:ext cx="3251658" cy="163"/>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9" name="25 Conector recto de flecha"/>
          <p:cNvCxnSpPr>
            <a:endCxn id="5" idx="4"/>
          </p:cNvCxnSpPr>
          <p:nvPr/>
        </p:nvCxnSpPr>
        <p:spPr>
          <a:xfrm flipV="1">
            <a:off x="3046386" y="3392993"/>
            <a:ext cx="0" cy="145317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31" name="27 Conector recto de flecha"/>
          <p:cNvCxnSpPr/>
          <p:nvPr/>
        </p:nvCxnSpPr>
        <p:spPr>
          <a:xfrm>
            <a:off x="3190402" y="3428999"/>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p:cxnSp>
        <p:nvCxnSpPr>
          <p:cNvPr id="32" name="28 Conector recto de flecha"/>
          <p:cNvCxnSpPr/>
          <p:nvPr/>
        </p:nvCxnSpPr>
        <p:spPr>
          <a:xfrm>
            <a:off x="8168657" y="4273175"/>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3" name="29 Rectángulo"/>
              <p:cNvSpPr/>
              <p:nvPr/>
            </p:nvSpPr>
            <p:spPr>
              <a:xfrm>
                <a:off x="2082945" y="2730322"/>
                <a:ext cx="688715"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𝑟</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3" name="29 Rectángulo"/>
              <p:cNvSpPr>
                <a:spLocks noRot="1" noChangeAspect="1" noMove="1" noResize="1" noEditPoints="1" noAdjustHandles="1" noChangeArrowheads="1" noChangeShapeType="1" noTextEdit="1"/>
              </p:cNvSpPr>
              <p:nvPr/>
            </p:nvSpPr>
            <p:spPr>
              <a:xfrm>
                <a:off x="558944" y="2730322"/>
                <a:ext cx="688715" cy="400110"/>
              </a:xfrm>
              <a:prstGeom prst="rect">
                <a:avLst/>
              </a:prstGeom>
              <a:blipFill rotWithShape="0">
                <a:blip r:embed="rId6"/>
                <a:stretch>
                  <a:fillRect b="-1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30 Rectángulo"/>
              <p:cNvSpPr/>
              <p:nvPr/>
            </p:nvSpPr>
            <p:spPr>
              <a:xfrm>
                <a:off x="3125993" y="2723647"/>
                <a:ext cx="693523"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𝑒</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4" name="30 Rectángulo"/>
              <p:cNvSpPr>
                <a:spLocks noRot="1" noChangeAspect="1" noMove="1" noResize="1" noEditPoints="1" noAdjustHandles="1" noChangeArrowheads="1" noChangeShapeType="1" noTextEdit="1"/>
              </p:cNvSpPr>
              <p:nvPr/>
            </p:nvSpPr>
            <p:spPr>
              <a:xfrm>
                <a:off x="1601992" y="2723647"/>
                <a:ext cx="693523" cy="400110"/>
              </a:xfrm>
              <a:prstGeom prst="rect">
                <a:avLst/>
              </a:prstGeom>
              <a:blipFill rotWithShape="0">
                <a:blip r:embed="rId7"/>
                <a:stretch>
                  <a:fillRect b="-1538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5" name="31 Rectángulo"/>
              <p:cNvSpPr/>
              <p:nvPr/>
            </p:nvSpPr>
            <p:spPr>
              <a:xfrm>
                <a:off x="4342493" y="2742261"/>
                <a:ext cx="71526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𝑢</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5" name="31 Rectángulo"/>
              <p:cNvSpPr>
                <a:spLocks noRot="1" noChangeAspect="1" noMove="1" noResize="1" noEditPoints="1" noAdjustHandles="1" noChangeArrowheads="1" noChangeShapeType="1" noTextEdit="1"/>
              </p:cNvSpPr>
              <p:nvPr/>
            </p:nvSpPr>
            <p:spPr>
              <a:xfrm>
                <a:off x="2818493" y="2742261"/>
                <a:ext cx="715260" cy="400110"/>
              </a:xfrm>
              <a:prstGeom prst="rect">
                <a:avLst/>
              </a:prstGeom>
              <a:blipFill rotWithShape="0">
                <a:blip r:embed="rId8"/>
                <a:stretch>
                  <a:fillRect b="-1538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6" name="32 Rectángulo"/>
              <p:cNvSpPr/>
              <p:nvPr/>
            </p:nvSpPr>
            <p:spPr>
              <a:xfrm>
                <a:off x="5146515" y="2177717"/>
                <a:ext cx="70686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𝑞</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6" name="32 Rectángulo"/>
              <p:cNvSpPr>
                <a:spLocks noRot="1" noChangeAspect="1" noMove="1" noResize="1" noEditPoints="1" noAdjustHandles="1" noChangeArrowheads="1" noChangeShapeType="1" noTextEdit="1"/>
              </p:cNvSpPr>
              <p:nvPr/>
            </p:nvSpPr>
            <p:spPr>
              <a:xfrm>
                <a:off x="3622515" y="2177717"/>
                <a:ext cx="706860" cy="400110"/>
              </a:xfrm>
              <a:prstGeom prst="rect">
                <a:avLst/>
              </a:prstGeom>
              <a:blipFill rotWithShape="0">
                <a:blip r:embed="rId9"/>
                <a:stretch>
                  <a:fillRect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33 Rectángulo"/>
              <p:cNvSpPr/>
              <p:nvPr/>
            </p:nvSpPr>
            <p:spPr>
              <a:xfrm>
                <a:off x="7812117" y="2143692"/>
                <a:ext cx="71308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b="0" i="1" smtClean="0">
                          <a:latin typeface="Cambria Math" panose="02040503050406030204" pitchFamily="18" charset="0"/>
                        </a:rPr>
                        <m:t>𝑛</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7" name="33 Rectángulo"/>
              <p:cNvSpPr>
                <a:spLocks noRot="1" noChangeAspect="1" noMove="1" noResize="1" noEditPoints="1" noAdjustHandles="1" noChangeArrowheads="1" noChangeShapeType="1" noTextEdit="1"/>
              </p:cNvSpPr>
              <p:nvPr/>
            </p:nvSpPr>
            <p:spPr>
              <a:xfrm>
                <a:off x="7812117" y="2143692"/>
                <a:ext cx="713080" cy="400110"/>
              </a:xfrm>
              <a:prstGeom prst="rect">
                <a:avLst/>
              </a:prstGeom>
              <a:blipFill rotWithShape="0">
                <a:blip r:embed="rId10"/>
                <a:stretch>
                  <a:fillRect b="-1538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9" name="35 Rectángulo"/>
              <p:cNvSpPr/>
              <p:nvPr/>
            </p:nvSpPr>
            <p:spPr>
              <a:xfrm>
                <a:off x="7976728" y="2755664"/>
                <a:ext cx="70987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𝑦</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9" name="35 Rectángulo"/>
              <p:cNvSpPr>
                <a:spLocks noRot="1" noChangeAspect="1" noMove="1" noResize="1" noEditPoints="1" noAdjustHandles="1" noChangeArrowheads="1" noChangeShapeType="1" noTextEdit="1"/>
              </p:cNvSpPr>
              <p:nvPr/>
            </p:nvSpPr>
            <p:spPr>
              <a:xfrm>
                <a:off x="6452728" y="2755664"/>
                <a:ext cx="709874" cy="400110"/>
              </a:xfrm>
              <a:prstGeom prst="rect">
                <a:avLst/>
              </a:prstGeom>
              <a:blipFill rotWithShape="0">
                <a:blip r:embed="rId12"/>
                <a:stretch>
                  <a:fillRect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36 Rectángulo"/>
              <p:cNvSpPr/>
              <p:nvPr/>
            </p:nvSpPr>
            <p:spPr>
              <a:xfrm>
                <a:off x="5048303" y="3811841"/>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pt-BR" sz="2000" i="1">
                              <a:latin typeface="Cambria Math" panose="02040503050406030204" pitchFamily="18" charset="0"/>
                            </a:rPr>
                          </m:ctrlPr>
                        </m:sSubPr>
                        <m:e>
                          <m:r>
                            <a:rPr lang="es-CO" sz="2000" i="1">
                              <a:latin typeface="Cambria Math"/>
                            </a:rPr>
                            <m:t>𝐺</m:t>
                          </m:r>
                        </m:e>
                        <m:sub>
                          <m:r>
                            <m:rPr>
                              <m:sty m:val="p"/>
                            </m:rPr>
                            <a:rPr lang="pt-BR" sz="2000">
                              <a:latin typeface="Cambria Math"/>
                            </a:rPr>
                            <m:t>n</m:t>
                          </m:r>
                        </m:sub>
                      </m:sSub>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40" name="36 Rectángulo"/>
              <p:cNvSpPr>
                <a:spLocks noRot="1" noChangeAspect="1" noMove="1" noResize="1" noEditPoints="1" noAdjustHandles="1" noChangeArrowheads="1" noChangeShapeType="1" noTextEdit="1"/>
              </p:cNvSpPr>
              <p:nvPr/>
            </p:nvSpPr>
            <p:spPr>
              <a:xfrm>
                <a:off x="3524303" y="3811840"/>
                <a:ext cx="792088" cy="504055"/>
              </a:xfrm>
              <a:prstGeom prst="rect">
                <a:avLst/>
              </a:prstGeom>
              <a:blipFill rotWithShape="0">
                <a:blip r:embed="rId13"/>
                <a:stretch>
                  <a:fillRect l="-746"/>
                </a:stretch>
              </a:blipFill>
            </p:spPr>
            <p:txBody>
              <a:bodyPr/>
              <a:lstStyle/>
              <a:p>
                <a:r>
                  <a:rPr lang="pt-BR">
                    <a:noFill/>
                  </a:rPr>
                  <a:t> </a:t>
                </a:r>
              </a:p>
            </p:txBody>
          </p:sp>
        </mc:Fallback>
      </mc:AlternateContent>
      <p:cxnSp>
        <p:nvCxnSpPr>
          <p:cNvPr id="41" name="37 Conector recto de flecha"/>
          <p:cNvCxnSpPr>
            <a:endCxn id="40" idx="1"/>
          </p:cNvCxnSpPr>
          <p:nvPr/>
        </p:nvCxnSpPr>
        <p:spPr>
          <a:xfrm>
            <a:off x="4624043" y="4063712"/>
            <a:ext cx="424261" cy="15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2" name="38 Rectángulo"/>
              <p:cNvSpPr/>
              <p:nvPr/>
            </p:nvSpPr>
            <p:spPr>
              <a:xfrm>
                <a:off x="4269139" y="4883589"/>
                <a:ext cx="70981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s-CO" sz="2000" i="1">
                          <a:latin typeface="Cambria Math"/>
                        </a:rPr>
                        <m:t>𝑓</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42" name="38 Rectángulo"/>
              <p:cNvSpPr>
                <a:spLocks noRot="1" noChangeAspect="1" noMove="1" noResize="1" noEditPoints="1" noAdjustHandles="1" noChangeArrowheads="1" noChangeShapeType="1" noTextEdit="1"/>
              </p:cNvSpPr>
              <p:nvPr/>
            </p:nvSpPr>
            <p:spPr>
              <a:xfrm>
                <a:off x="2745139" y="4883589"/>
                <a:ext cx="709810" cy="400110"/>
              </a:xfrm>
              <a:prstGeom prst="rect">
                <a:avLst/>
              </a:prstGeom>
              <a:blipFill rotWithShape="0">
                <a:blip r:embed="rId14"/>
                <a:stretch>
                  <a:fillRect l="-3419"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3" name="39 Rectángulo"/>
              <p:cNvSpPr/>
              <p:nvPr/>
            </p:nvSpPr>
            <p:spPr>
              <a:xfrm>
                <a:off x="5778864" y="3644763"/>
                <a:ext cx="1288173"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es-CO" sz="2000" i="1">
                              <a:latin typeface="Cambria Math" panose="02040503050406030204" pitchFamily="18" charset="0"/>
                            </a:rPr>
                          </m:ctrlPr>
                        </m:accPr>
                        <m:e>
                          <m:r>
                            <a:rPr lang="es-CO" sz="2000" i="1">
                              <a:latin typeface="Cambria Math"/>
                            </a:rPr>
                            <m:t>𝑦</m:t>
                          </m:r>
                        </m:e>
                      </m:acc>
                      <m:r>
                        <a:rPr lang="pt-BR" sz="2000" i="1">
                          <a:latin typeface="Cambria Math"/>
                        </a:rPr>
                        <m:t>(</m:t>
                      </m:r>
                      <m:r>
                        <a:rPr lang="es-CO" sz="2000" i="1">
                          <a:latin typeface="Cambria Math"/>
                        </a:rPr>
                        <m:t>𝑡</m:t>
                      </m:r>
                      <m:r>
                        <a:rPr lang="es-CO" sz="2000" i="1">
                          <a:latin typeface="Cambria Math"/>
                        </a:rPr>
                        <m:t>+</m:t>
                      </m:r>
                      <m:sSub>
                        <m:sSubPr>
                          <m:ctrlPr>
                            <a:rPr lang="es-CO" sz="2000" i="1">
                              <a:latin typeface="Cambria Math" panose="02040503050406030204" pitchFamily="18" charset="0"/>
                            </a:rPr>
                          </m:ctrlPr>
                        </m:sSubPr>
                        <m:e>
                          <m:r>
                            <a:rPr lang="es-CO" sz="2000" i="1">
                              <a:latin typeface="Cambria Math"/>
                            </a:rPr>
                            <m:t>𝐿</m:t>
                          </m:r>
                        </m:e>
                        <m:sub>
                          <m:r>
                            <a:rPr lang="es-CO" sz="2000" i="1">
                              <a:latin typeface="Cambria Math"/>
                            </a:rPr>
                            <m:t>𝑛</m:t>
                          </m:r>
                        </m:sub>
                      </m:sSub>
                      <m:r>
                        <a:rPr lang="pt-BR" sz="2000" i="1">
                          <a:latin typeface="Cambria Math"/>
                        </a:rPr>
                        <m:t>)</m:t>
                      </m:r>
                    </m:oMath>
                  </m:oMathPara>
                </a14:m>
                <a:endParaRPr lang="es-CO" sz="2000" b="1" i="1" dirty="0"/>
              </a:p>
            </p:txBody>
          </p:sp>
        </mc:Choice>
        <mc:Fallback xmlns="">
          <p:sp>
            <p:nvSpPr>
              <p:cNvPr id="43" name="39 Rectángulo"/>
              <p:cNvSpPr>
                <a:spLocks noRot="1" noChangeAspect="1" noMove="1" noResize="1" noEditPoints="1" noAdjustHandles="1" noChangeArrowheads="1" noChangeShapeType="1" noTextEdit="1"/>
              </p:cNvSpPr>
              <p:nvPr/>
            </p:nvSpPr>
            <p:spPr>
              <a:xfrm>
                <a:off x="4254863" y="3644763"/>
                <a:ext cx="1288173" cy="400110"/>
              </a:xfrm>
              <a:prstGeom prst="rect">
                <a:avLst/>
              </a:prstGeom>
              <a:blipFill rotWithShape="0">
                <a:blip r:embed="rId15"/>
                <a:stretch>
                  <a:fillRect t="-6061" b="-1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4" name="40 Rectángulo"/>
              <p:cNvSpPr/>
              <p:nvPr/>
            </p:nvSpPr>
            <p:spPr>
              <a:xfrm>
                <a:off x="7720020" y="3620499"/>
                <a:ext cx="70987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es-CO" sz="2000" i="1">
                              <a:latin typeface="Cambria Math" panose="02040503050406030204" pitchFamily="18" charset="0"/>
                            </a:rPr>
                          </m:ctrlPr>
                        </m:accPr>
                        <m:e>
                          <m:r>
                            <a:rPr lang="es-CO" sz="2000" i="1">
                              <a:latin typeface="Cambria Math"/>
                            </a:rPr>
                            <m:t>𝑦</m:t>
                          </m:r>
                        </m:e>
                      </m:acc>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44" name="40 Rectángulo"/>
              <p:cNvSpPr>
                <a:spLocks noRot="1" noChangeAspect="1" noMove="1" noResize="1" noEditPoints="1" noAdjustHandles="1" noChangeArrowheads="1" noChangeShapeType="1" noTextEdit="1"/>
              </p:cNvSpPr>
              <p:nvPr/>
            </p:nvSpPr>
            <p:spPr>
              <a:xfrm>
                <a:off x="6196020" y="3620499"/>
                <a:ext cx="709874" cy="400110"/>
              </a:xfrm>
              <a:prstGeom prst="rect">
                <a:avLst/>
              </a:prstGeom>
              <a:blipFill rotWithShape="0">
                <a:blip r:embed="rId16"/>
                <a:stretch>
                  <a:fillRect t="-6061" b="-13636"/>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5" name="45 Rectángulo"/>
              <p:cNvSpPr/>
              <p:nvPr/>
            </p:nvSpPr>
            <p:spPr>
              <a:xfrm>
                <a:off x="7223418" y="4896727"/>
                <a:ext cx="811954" cy="42377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pt-BR" sz="2000" i="1">
                              <a:latin typeface="Cambria Math" panose="02040503050406030204" pitchFamily="18" charset="0"/>
                            </a:rPr>
                          </m:ctrlPr>
                        </m:sSubPr>
                        <m:e>
                          <m:r>
                            <a:rPr lang="es-CO" sz="2000" i="1">
                              <a:latin typeface="Cambria Math"/>
                            </a:rPr>
                            <m:t>𝑒</m:t>
                          </m:r>
                        </m:e>
                        <m:sub>
                          <m:r>
                            <a:rPr lang="es-CO" sz="2000" i="1">
                              <a:latin typeface="Cambria Math"/>
                            </a:rPr>
                            <m:t>𝑝</m:t>
                          </m:r>
                        </m:sub>
                      </m:sSub>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45" name="45 Rectángulo"/>
              <p:cNvSpPr>
                <a:spLocks noRot="1" noChangeAspect="1" noMove="1" noResize="1" noEditPoints="1" noAdjustHandles="1" noChangeArrowheads="1" noChangeShapeType="1" noTextEdit="1"/>
              </p:cNvSpPr>
              <p:nvPr/>
            </p:nvSpPr>
            <p:spPr>
              <a:xfrm>
                <a:off x="5699418" y="4896727"/>
                <a:ext cx="811954" cy="423770"/>
              </a:xfrm>
              <a:prstGeom prst="rect">
                <a:avLst/>
              </a:prstGeom>
              <a:blipFill rotWithShape="0">
                <a:blip r:embed="rId17"/>
                <a:stretch>
                  <a:fillRect b="-10000"/>
                </a:stretch>
              </a:blipFill>
            </p:spPr>
            <p:txBody>
              <a:bodyPr/>
              <a:lstStyle/>
              <a:p>
                <a:r>
                  <a:rPr lang="pt-BR">
                    <a:noFill/>
                  </a:rPr>
                  <a:t> </a:t>
                </a:r>
              </a:p>
            </p:txBody>
          </p:sp>
        </mc:Fallback>
      </mc:AlternateContent>
      <p:pic>
        <p:nvPicPr>
          <p:cNvPr id="46" name="Picture 4"/>
          <p:cNvPicPr>
            <a:picLocks noChangeAspect="1" noChangeArrowheads="1"/>
          </p:cNvPicPr>
          <p:nvPr/>
        </p:nvPicPr>
        <p:blipFill>
          <a:blip r:embed="rId18" cstate="print"/>
          <a:srcRect/>
          <a:stretch>
            <a:fillRect/>
          </a:stretch>
        </p:blipFill>
        <p:spPr bwMode="auto">
          <a:xfrm>
            <a:off x="0" y="-28249"/>
            <a:ext cx="12192000" cy="1071546"/>
          </a:xfrm>
          <a:prstGeom prst="rect">
            <a:avLst/>
          </a:prstGeom>
          <a:noFill/>
          <a:ln w="9525">
            <a:noFill/>
            <a:miter lim="800000"/>
            <a:headEnd/>
            <a:tailEnd/>
          </a:ln>
          <a:effectLst/>
        </p:spPr>
      </p:pic>
      <p:sp>
        <p:nvSpPr>
          <p:cNvPr id="47" name="CaixaDeTexto 46"/>
          <p:cNvSpPr txBox="1"/>
          <p:nvPr/>
        </p:nvSpPr>
        <p:spPr>
          <a:xfrm>
            <a:off x="1631504" y="165120"/>
            <a:ext cx="8928992" cy="1985159"/>
          </a:xfrm>
          <a:prstGeom prst="rect">
            <a:avLst/>
          </a:prstGeom>
          <a:noFill/>
        </p:spPr>
        <p:txBody>
          <a:bodyPr wrap="square" rtlCol="0">
            <a:spAutoFit/>
          </a:bodyPr>
          <a:lstStyle/>
          <a:p>
            <a:pPr algn="ctr"/>
            <a:r>
              <a:rPr lang="pt-BR" sz="3600" b="1">
                <a:solidFill>
                  <a:schemeClr val="bg1"/>
                </a:solidFill>
              </a:rPr>
              <a:t>PREDICTOR DE SMITH</a:t>
            </a:r>
            <a:endParaRPr lang="pt-BR" sz="4800" b="1" i="1">
              <a:solidFill>
                <a:schemeClr val="bg1"/>
              </a:solidFill>
            </a:endParaRPr>
          </a:p>
          <a:p>
            <a:pPr algn="ctr"/>
            <a:endParaRPr lang="pt-BR" sz="36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z="2000" smtClean="0"/>
              <a:pPr/>
              <a:t>16</a:t>
            </a:fld>
            <a:endParaRPr lang="en-US" sz="2000" dirty="0"/>
          </a:p>
        </p:txBody>
      </p:sp>
    </p:spTree>
    <p:extLst>
      <p:ext uri="{BB962C8B-B14F-4D97-AF65-F5344CB8AC3E}">
        <p14:creationId xmlns:p14="http://schemas.microsoft.com/office/powerpoint/2010/main" val="1443209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randombar(horizontal)">
                                      <p:cBhvr>
                                        <p:cTn id="7" dur="500"/>
                                        <p:tgtEl>
                                          <p:spTgt spid="16"/>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randombar(horizontal)">
                                      <p:cBhvr>
                                        <p:cTn id="10" dur="500"/>
                                        <p:tgtEl>
                                          <p:spTgt spid="8"/>
                                        </p:tgtEl>
                                      </p:cBhvr>
                                    </p:animEffect>
                                  </p:childTnLst>
                                </p:cTn>
                              </p:par>
                              <p:par>
                                <p:cTn id="11" presetID="14" presetClass="entr" presetSubtype="1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randombar(horizontal)">
                                      <p:cBhvr>
                                        <p:cTn id="1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Elipse"/>
          <p:cNvSpPr/>
          <p:nvPr/>
        </p:nvSpPr>
        <p:spPr>
          <a:xfrm>
            <a:off x="2864838" y="3969056"/>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mc:AlternateContent xmlns:mc="http://schemas.openxmlformats.org/markup-compatibility/2006" xmlns:a14="http://schemas.microsoft.com/office/drawing/2010/main">
        <mc:Choice Requires="a14">
          <p:sp>
            <p:nvSpPr>
              <p:cNvPr id="6" name="2 Rectángulo"/>
              <p:cNvSpPr/>
              <p:nvPr/>
            </p:nvSpPr>
            <p:spPr>
              <a:xfrm>
                <a:off x="3779917" y="3933057"/>
                <a:ext cx="64807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sz="2000">
                          <a:latin typeface="Cambria Math"/>
                        </a:rPr>
                        <m:t>C</m:t>
                      </m:r>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6" name="2 Rectángulo"/>
              <p:cNvSpPr>
                <a:spLocks noRot="1" noChangeAspect="1" noMove="1" noResize="1" noEditPoints="1" noAdjustHandles="1" noChangeArrowheads="1" noChangeShapeType="1" noTextEdit="1"/>
              </p:cNvSpPr>
              <p:nvPr/>
            </p:nvSpPr>
            <p:spPr>
              <a:xfrm>
                <a:off x="3779917" y="3933057"/>
                <a:ext cx="648072" cy="504055"/>
              </a:xfrm>
              <a:prstGeom prst="rect">
                <a:avLst/>
              </a:prstGeom>
              <a:blipFill rotWithShape="0">
                <a:blip r:embed="rId3"/>
                <a:stretch>
                  <a:fillRect l="-1818"/>
                </a:stretch>
              </a:blipFill>
            </p:spPr>
            <p:txBody>
              <a:bodyPr/>
              <a:lstStyle/>
              <a:p>
                <a:r>
                  <a:rPr lang="pt-BR">
                    <a:noFill/>
                  </a:rPr>
                  <a:t> </a:t>
                </a:r>
              </a:p>
            </p:txBody>
          </p:sp>
        </mc:Fallback>
      </mc:AlternateContent>
      <p:sp>
        <p:nvSpPr>
          <p:cNvPr id="7" name="3 Elipse"/>
          <p:cNvSpPr/>
          <p:nvPr/>
        </p:nvSpPr>
        <p:spPr>
          <a:xfrm>
            <a:off x="4946398" y="3969056"/>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mc:AlternateContent xmlns:mc="http://schemas.openxmlformats.org/markup-compatibility/2006" xmlns:a14="http://schemas.microsoft.com/office/drawing/2010/main">
        <mc:Choice Requires="a14">
          <p:sp>
            <p:nvSpPr>
              <p:cNvPr id="8" name="4 Rectángulo"/>
              <p:cNvSpPr/>
              <p:nvPr/>
            </p:nvSpPr>
            <p:spPr>
              <a:xfrm>
                <a:off x="6058468" y="3933057"/>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sz="2000">
                          <a:latin typeface="Cambria Math"/>
                        </a:rPr>
                        <m:t>P</m:t>
                      </m:r>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8" name="4 Rectángulo"/>
              <p:cNvSpPr>
                <a:spLocks noRot="1" noChangeAspect="1" noMove="1" noResize="1" noEditPoints="1" noAdjustHandles="1" noChangeArrowheads="1" noChangeShapeType="1" noTextEdit="1"/>
              </p:cNvSpPr>
              <p:nvPr/>
            </p:nvSpPr>
            <p:spPr>
              <a:xfrm>
                <a:off x="6058468" y="3933057"/>
                <a:ext cx="792088" cy="504055"/>
              </a:xfrm>
              <a:prstGeom prst="rect">
                <a:avLst/>
              </a:prstGeom>
              <a:blipFill rotWithShape="0">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9" name="5 Rectángulo"/>
              <p:cNvSpPr/>
              <p:nvPr/>
            </p:nvSpPr>
            <p:spPr>
              <a:xfrm>
                <a:off x="6978997" y="4819956"/>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CO" sz="2000" b="1" i="1" smtClean="0">
                              <a:latin typeface="Cambria Math" panose="02040503050406030204" pitchFamily="18" charset="0"/>
                            </a:rPr>
                          </m:ctrlPr>
                        </m:sSupPr>
                        <m:e>
                          <m:r>
                            <a:rPr lang="es-CO" sz="2000" i="1">
                              <a:latin typeface="Cambria Math"/>
                            </a:rPr>
                            <m:t>𝑒</m:t>
                          </m:r>
                        </m:e>
                        <m:sup>
                          <m:r>
                            <a:rPr lang="pt-BR" sz="2000" b="0" i="1" smtClean="0">
                              <a:latin typeface="Cambria Math" panose="02040503050406030204" pitchFamily="18" charset="0"/>
                            </a:rPr>
                            <m:t>−</m:t>
                          </m:r>
                          <m:sSub>
                            <m:sSubPr>
                              <m:ctrlPr>
                                <a:rPr lang="es-CO" sz="2000" i="1">
                                  <a:latin typeface="Cambria Math" panose="02040503050406030204" pitchFamily="18" charset="0"/>
                                </a:rPr>
                              </m:ctrlPr>
                            </m:sSubPr>
                            <m:e>
                              <m:r>
                                <a:rPr lang="es-CO" sz="2000" i="1">
                                  <a:latin typeface="Cambria Math"/>
                                </a:rPr>
                                <m:t>𝐿</m:t>
                              </m:r>
                            </m:e>
                            <m:sub>
                              <m:r>
                                <a:rPr lang="es-CO" sz="2000" i="1">
                                  <a:latin typeface="Cambria Math"/>
                                </a:rPr>
                                <m:t>𝑛</m:t>
                              </m:r>
                            </m:sub>
                          </m:sSub>
                          <m:r>
                            <a:rPr lang="es-CO" sz="2000" i="1">
                              <a:latin typeface="Cambria Math"/>
                            </a:rPr>
                            <m:t>𝑠</m:t>
                          </m:r>
                        </m:sup>
                      </m:sSup>
                    </m:oMath>
                  </m:oMathPara>
                </a14:m>
                <a:endParaRPr lang="es-CO" sz="2000" b="1" dirty="0"/>
              </a:p>
            </p:txBody>
          </p:sp>
        </mc:Choice>
        <mc:Fallback xmlns="">
          <p:sp>
            <p:nvSpPr>
              <p:cNvPr id="9" name="5 Rectángulo"/>
              <p:cNvSpPr>
                <a:spLocks noRot="1" noChangeAspect="1" noMove="1" noResize="1" noEditPoints="1" noAdjustHandles="1" noChangeArrowheads="1" noChangeShapeType="1" noTextEdit="1"/>
              </p:cNvSpPr>
              <p:nvPr/>
            </p:nvSpPr>
            <p:spPr>
              <a:xfrm>
                <a:off x="6978997" y="4819956"/>
                <a:ext cx="792088" cy="504055"/>
              </a:xfrm>
              <a:prstGeom prst="rect">
                <a:avLst/>
              </a:prstGeom>
              <a:blipFill rotWithShape="0">
                <a:blip r:embed="rId5"/>
                <a:stretch>
                  <a:fillRect/>
                </a:stretch>
              </a:blipFill>
            </p:spPr>
            <p:txBody>
              <a:bodyPr/>
              <a:lstStyle/>
              <a:p>
                <a:r>
                  <a:rPr lang="pt-BR">
                    <a:noFill/>
                  </a:rPr>
                  <a:t> </a:t>
                </a:r>
              </a:p>
            </p:txBody>
          </p:sp>
        </mc:Fallback>
      </mc:AlternateContent>
      <p:sp>
        <p:nvSpPr>
          <p:cNvPr id="10" name="6 Elipse"/>
          <p:cNvSpPr/>
          <p:nvPr/>
        </p:nvSpPr>
        <p:spPr>
          <a:xfrm>
            <a:off x="7623667" y="3969056"/>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p:sp>
        <p:nvSpPr>
          <p:cNvPr id="11" name="7 Elipse"/>
          <p:cNvSpPr/>
          <p:nvPr/>
        </p:nvSpPr>
        <p:spPr>
          <a:xfrm>
            <a:off x="8347149" y="4855959"/>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p:cxnSp>
        <p:nvCxnSpPr>
          <p:cNvPr id="12" name="8 Conector recto de flecha"/>
          <p:cNvCxnSpPr>
            <a:endCxn id="5" idx="2"/>
          </p:cNvCxnSpPr>
          <p:nvPr/>
        </p:nvCxnSpPr>
        <p:spPr>
          <a:xfrm>
            <a:off x="2063552" y="4184920"/>
            <a:ext cx="801286"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3" name="9 Conector recto de flecha"/>
          <p:cNvCxnSpPr>
            <a:stCxn id="5" idx="6"/>
            <a:endCxn id="6" idx="1"/>
          </p:cNvCxnSpPr>
          <p:nvPr/>
        </p:nvCxnSpPr>
        <p:spPr>
          <a:xfrm>
            <a:off x="3296887" y="4185080"/>
            <a:ext cx="483031"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4" name="10 Conector recto de flecha"/>
          <p:cNvCxnSpPr>
            <a:stCxn id="6" idx="3"/>
            <a:endCxn id="7" idx="2"/>
          </p:cNvCxnSpPr>
          <p:nvPr/>
        </p:nvCxnSpPr>
        <p:spPr>
          <a:xfrm flipV="1">
            <a:off x="4427990" y="4185080"/>
            <a:ext cx="518409"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5" name="11 Conector recto de flecha"/>
          <p:cNvCxnSpPr>
            <a:endCxn id="7" idx="0"/>
          </p:cNvCxnSpPr>
          <p:nvPr/>
        </p:nvCxnSpPr>
        <p:spPr>
          <a:xfrm>
            <a:off x="5162422" y="3360378"/>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6" name="12 Conector recto de flecha"/>
          <p:cNvCxnSpPr>
            <a:stCxn id="7" idx="6"/>
            <a:endCxn id="8" idx="1"/>
          </p:cNvCxnSpPr>
          <p:nvPr/>
        </p:nvCxnSpPr>
        <p:spPr>
          <a:xfrm>
            <a:off x="5378446" y="4185080"/>
            <a:ext cx="680022"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7" name="13 Conector recto de flecha"/>
          <p:cNvCxnSpPr>
            <a:stCxn id="8" idx="3"/>
            <a:endCxn id="10" idx="2"/>
          </p:cNvCxnSpPr>
          <p:nvPr/>
        </p:nvCxnSpPr>
        <p:spPr>
          <a:xfrm flipV="1">
            <a:off x="6850557" y="4185080"/>
            <a:ext cx="773111"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8" name="14 Conector recto de flecha"/>
          <p:cNvCxnSpPr>
            <a:stCxn id="10" idx="6"/>
          </p:cNvCxnSpPr>
          <p:nvPr/>
        </p:nvCxnSpPr>
        <p:spPr>
          <a:xfrm>
            <a:off x="8055716" y="4185079"/>
            <a:ext cx="1365683"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9" name="15 Conector recto de flecha"/>
          <p:cNvCxnSpPr>
            <a:endCxn id="11" idx="0"/>
          </p:cNvCxnSpPr>
          <p:nvPr/>
        </p:nvCxnSpPr>
        <p:spPr>
          <a:xfrm>
            <a:off x="8563173" y="4185242"/>
            <a:ext cx="0" cy="670716"/>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0" name="16 Conector recto de flecha"/>
          <p:cNvCxnSpPr/>
          <p:nvPr/>
        </p:nvCxnSpPr>
        <p:spPr>
          <a:xfrm>
            <a:off x="4658519" y="4175613"/>
            <a:ext cx="0" cy="886743"/>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1" name="17 Conector recto de flecha"/>
          <p:cNvCxnSpPr>
            <a:stCxn id="40" idx="3"/>
            <a:endCxn id="9" idx="1"/>
          </p:cNvCxnSpPr>
          <p:nvPr/>
        </p:nvCxnSpPr>
        <p:spPr>
          <a:xfrm>
            <a:off x="5874867" y="5071981"/>
            <a:ext cx="1104130" cy="3"/>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sp>
        <p:nvSpPr>
          <p:cNvPr id="22" name="18 Elipse"/>
          <p:cNvSpPr/>
          <p:nvPr/>
        </p:nvSpPr>
        <p:spPr>
          <a:xfrm>
            <a:off x="6332520" y="5638420"/>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p:cxnSp>
        <p:nvCxnSpPr>
          <p:cNvPr id="23" name="19 Conector recto de flecha"/>
          <p:cNvCxnSpPr>
            <a:endCxn id="22" idx="0"/>
          </p:cNvCxnSpPr>
          <p:nvPr/>
        </p:nvCxnSpPr>
        <p:spPr>
          <a:xfrm>
            <a:off x="6548544" y="5062356"/>
            <a:ext cx="0" cy="576063"/>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4" name="20 Conector recto de flecha"/>
          <p:cNvCxnSpPr>
            <a:endCxn id="22" idx="6"/>
          </p:cNvCxnSpPr>
          <p:nvPr/>
        </p:nvCxnSpPr>
        <p:spPr>
          <a:xfrm flipH="1">
            <a:off x="6764569" y="5854442"/>
            <a:ext cx="1798605" cy="2"/>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5" name="21 Conector recto de flecha"/>
          <p:cNvCxnSpPr>
            <a:stCxn id="11" idx="4"/>
          </p:cNvCxnSpPr>
          <p:nvPr/>
        </p:nvCxnSpPr>
        <p:spPr>
          <a:xfrm>
            <a:off x="8563173" y="5288008"/>
            <a:ext cx="0" cy="566435"/>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6" name="22 Conector recto de flecha"/>
          <p:cNvCxnSpPr>
            <a:endCxn id="10" idx="0"/>
          </p:cNvCxnSpPr>
          <p:nvPr/>
        </p:nvCxnSpPr>
        <p:spPr>
          <a:xfrm>
            <a:off x="7839691" y="3360378"/>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7" name="23 Conector recto de flecha"/>
          <p:cNvCxnSpPr>
            <a:stCxn id="9" idx="3"/>
            <a:endCxn id="11" idx="2"/>
          </p:cNvCxnSpPr>
          <p:nvPr/>
        </p:nvCxnSpPr>
        <p:spPr>
          <a:xfrm>
            <a:off x="7771085" y="5071983"/>
            <a:ext cx="576064"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8" name="24 Conector recto de flecha"/>
          <p:cNvCxnSpPr>
            <a:endCxn id="22" idx="2"/>
          </p:cNvCxnSpPr>
          <p:nvPr/>
        </p:nvCxnSpPr>
        <p:spPr>
          <a:xfrm>
            <a:off x="3080862" y="5854282"/>
            <a:ext cx="3251658" cy="163"/>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9" name="25 Conector recto de flecha"/>
          <p:cNvCxnSpPr>
            <a:endCxn id="5" idx="4"/>
          </p:cNvCxnSpPr>
          <p:nvPr/>
        </p:nvCxnSpPr>
        <p:spPr>
          <a:xfrm flipV="1">
            <a:off x="3080862" y="4401105"/>
            <a:ext cx="0" cy="145317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31" name="27 Conector recto de flecha"/>
          <p:cNvCxnSpPr/>
          <p:nvPr/>
        </p:nvCxnSpPr>
        <p:spPr>
          <a:xfrm>
            <a:off x="3224878" y="4437111"/>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p:cxnSp>
        <p:nvCxnSpPr>
          <p:cNvPr id="32" name="28 Conector recto de flecha"/>
          <p:cNvCxnSpPr/>
          <p:nvPr/>
        </p:nvCxnSpPr>
        <p:spPr>
          <a:xfrm>
            <a:off x="8203133" y="5281287"/>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3" name="29 Rectángulo"/>
              <p:cNvSpPr/>
              <p:nvPr/>
            </p:nvSpPr>
            <p:spPr>
              <a:xfrm>
                <a:off x="2117421" y="3738434"/>
                <a:ext cx="688715"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𝑟</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3" name="29 Rectángulo"/>
              <p:cNvSpPr>
                <a:spLocks noRot="1" noChangeAspect="1" noMove="1" noResize="1" noEditPoints="1" noAdjustHandles="1" noChangeArrowheads="1" noChangeShapeType="1" noTextEdit="1"/>
              </p:cNvSpPr>
              <p:nvPr/>
            </p:nvSpPr>
            <p:spPr>
              <a:xfrm>
                <a:off x="2117421" y="3738434"/>
                <a:ext cx="688715" cy="400110"/>
              </a:xfrm>
              <a:prstGeom prst="rect">
                <a:avLst/>
              </a:prstGeom>
              <a:blipFill rotWithShape="0">
                <a:blip r:embed="rId6"/>
                <a:stretch>
                  <a:fillRect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30 Rectángulo"/>
              <p:cNvSpPr/>
              <p:nvPr/>
            </p:nvSpPr>
            <p:spPr>
              <a:xfrm>
                <a:off x="3160469" y="3731759"/>
                <a:ext cx="693523"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𝑒</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4" name="30 Rectángulo"/>
              <p:cNvSpPr>
                <a:spLocks noRot="1" noChangeAspect="1" noMove="1" noResize="1" noEditPoints="1" noAdjustHandles="1" noChangeArrowheads="1" noChangeShapeType="1" noTextEdit="1"/>
              </p:cNvSpPr>
              <p:nvPr/>
            </p:nvSpPr>
            <p:spPr>
              <a:xfrm>
                <a:off x="3160469" y="3731759"/>
                <a:ext cx="693523" cy="400110"/>
              </a:xfrm>
              <a:prstGeom prst="rect">
                <a:avLst/>
              </a:prstGeom>
              <a:blipFill rotWithShape="0">
                <a:blip r:embed="rId7"/>
                <a:stretch>
                  <a:fillRect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5" name="31 Rectángulo"/>
              <p:cNvSpPr/>
              <p:nvPr/>
            </p:nvSpPr>
            <p:spPr>
              <a:xfrm>
                <a:off x="4376969" y="3750373"/>
                <a:ext cx="71526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𝑢</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5" name="31 Rectángulo"/>
              <p:cNvSpPr>
                <a:spLocks noRot="1" noChangeAspect="1" noMove="1" noResize="1" noEditPoints="1" noAdjustHandles="1" noChangeArrowheads="1" noChangeShapeType="1" noTextEdit="1"/>
              </p:cNvSpPr>
              <p:nvPr/>
            </p:nvSpPr>
            <p:spPr>
              <a:xfrm>
                <a:off x="4376969" y="3750373"/>
                <a:ext cx="715260" cy="400110"/>
              </a:xfrm>
              <a:prstGeom prst="rect">
                <a:avLst/>
              </a:prstGeom>
              <a:blipFill rotWithShape="0">
                <a:blip r:embed="rId8"/>
                <a:stretch>
                  <a:fillRect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6" name="32 Rectángulo"/>
              <p:cNvSpPr/>
              <p:nvPr/>
            </p:nvSpPr>
            <p:spPr>
              <a:xfrm>
                <a:off x="5180991" y="3185829"/>
                <a:ext cx="70686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𝑞</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6" name="32 Rectángulo"/>
              <p:cNvSpPr>
                <a:spLocks noRot="1" noChangeAspect="1" noMove="1" noResize="1" noEditPoints="1" noAdjustHandles="1" noChangeArrowheads="1" noChangeShapeType="1" noTextEdit="1"/>
              </p:cNvSpPr>
              <p:nvPr/>
            </p:nvSpPr>
            <p:spPr>
              <a:xfrm>
                <a:off x="5180991" y="3185829"/>
                <a:ext cx="706860" cy="400110"/>
              </a:xfrm>
              <a:prstGeom prst="rect">
                <a:avLst/>
              </a:prstGeom>
              <a:blipFill rotWithShape="0">
                <a:blip r:embed="rId9"/>
                <a:stretch>
                  <a:fillRect b="-1538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7" name="33 Rectángulo"/>
              <p:cNvSpPr/>
              <p:nvPr/>
            </p:nvSpPr>
            <p:spPr>
              <a:xfrm>
                <a:off x="7846593" y="3151804"/>
                <a:ext cx="71308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b="0" i="1" smtClean="0">
                          <a:latin typeface="Cambria Math" panose="02040503050406030204" pitchFamily="18" charset="0"/>
                        </a:rPr>
                        <m:t>𝑛</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7" name="33 Rectángulo"/>
              <p:cNvSpPr>
                <a:spLocks noRot="1" noChangeAspect="1" noMove="1" noResize="1" noEditPoints="1" noAdjustHandles="1" noChangeArrowheads="1" noChangeShapeType="1" noTextEdit="1"/>
              </p:cNvSpPr>
              <p:nvPr/>
            </p:nvSpPr>
            <p:spPr>
              <a:xfrm>
                <a:off x="7846593" y="3151804"/>
                <a:ext cx="713080" cy="400110"/>
              </a:xfrm>
              <a:prstGeom prst="rect">
                <a:avLst/>
              </a:prstGeom>
              <a:blipFill rotWithShape="0">
                <a:blip r:embed="rId10"/>
                <a:stretch>
                  <a:fillRect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9" name="35 Rectángulo"/>
              <p:cNvSpPr/>
              <p:nvPr/>
            </p:nvSpPr>
            <p:spPr>
              <a:xfrm>
                <a:off x="8011204" y="3763776"/>
                <a:ext cx="70987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𝑦</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9" name="35 Rectángulo"/>
              <p:cNvSpPr>
                <a:spLocks noRot="1" noChangeAspect="1" noMove="1" noResize="1" noEditPoints="1" noAdjustHandles="1" noChangeArrowheads="1" noChangeShapeType="1" noTextEdit="1"/>
              </p:cNvSpPr>
              <p:nvPr/>
            </p:nvSpPr>
            <p:spPr>
              <a:xfrm>
                <a:off x="8011204" y="3763776"/>
                <a:ext cx="709874" cy="400110"/>
              </a:xfrm>
              <a:prstGeom prst="rect">
                <a:avLst/>
              </a:prstGeom>
              <a:blipFill rotWithShape="0">
                <a:blip r:embed="rId11"/>
                <a:stretch>
                  <a:fillRect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0" name="36 Rectángulo"/>
              <p:cNvSpPr/>
              <p:nvPr/>
            </p:nvSpPr>
            <p:spPr>
              <a:xfrm>
                <a:off x="5082779" y="4819953"/>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pt-BR" sz="2000" i="1">
                              <a:latin typeface="Cambria Math" panose="02040503050406030204" pitchFamily="18" charset="0"/>
                            </a:rPr>
                          </m:ctrlPr>
                        </m:sSubPr>
                        <m:e>
                          <m:r>
                            <a:rPr lang="es-CO" sz="2000" i="1">
                              <a:latin typeface="Cambria Math"/>
                            </a:rPr>
                            <m:t>𝐺</m:t>
                          </m:r>
                        </m:e>
                        <m:sub>
                          <m:r>
                            <m:rPr>
                              <m:sty m:val="p"/>
                            </m:rPr>
                            <a:rPr lang="pt-BR" sz="2000">
                              <a:latin typeface="Cambria Math"/>
                            </a:rPr>
                            <m:t>n</m:t>
                          </m:r>
                        </m:sub>
                      </m:sSub>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40" name="36 Rectángulo"/>
              <p:cNvSpPr>
                <a:spLocks noRot="1" noChangeAspect="1" noMove="1" noResize="1" noEditPoints="1" noAdjustHandles="1" noChangeArrowheads="1" noChangeShapeType="1" noTextEdit="1"/>
              </p:cNvSpPr>
              <p:nvPr/>
            </p:nvSpPr>
            <p:spPr>
              <a:xfrm>
                <a:off x="5082779" y="4819953"/>
                <a:ext cx="792088" cy="504055"/>
              </a:xfrm>
              <a:prstGeom prst="rect">
                <a:avLst/>
              </a:prstGeom>
              <a:blipFill rotWithShape="0">
                <a:blip r:embed="rId12"/>
                <a:stretch>
                  <a:fillRect l="-746"/>
                </a:stretch>
              </a:blipFill>
            </p:spPr>
            <p:txBody>
              <a:bodyPr/>
              <a:lstStyle/>
              <a:p>
                <a:r>
                  <a:rPr lang="pt-BR">
                    <a:noFill/>
                  </a:rPr>
                  <a:t> </a:t>
                </a:r>
              </a:p>
            </p:txBody>
          </p:sp>
        </mc:Fallback>
      </mc:AlternateContent>
      <p:cxnSp>
        <p:nvCxnSpPr>
          <p:cNvPr id="41" name="37 Conector recto de flecha"/>
          <p:cNvCxnSpPr>
            <a:endCxn id="40" idx="1"/>
          </p:cNvCxnSpPr>
          <p:nvPr/>
        </p:nvCxnSpPr>
        <p:spPr>
          <a:xfrm>
            <a:off x="4658519" y="5071824"/>
            <a:ext cx="424261" cy="15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2" name="38 Rectángulo"/>
              <p:cNvSpPr/>
              <p:nvPr/>
            </p:nvSpPr>
            <p:spPr>
              <a:xfrm>
                <a:off x="4303615" y="5891701"/>
                <a:ext cx="70981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s-CO" sz="2000" i="1">
                          <a:latin typeface="Cambria Math"/>
                        </a:rPr>
                        <m:t>𝑓</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42" name="38 Rectángulo"/>
              <p:cNvSpPr>
                <a:spLocks noRot="1" noChangeAspect="1" noMove="1" noResize="1" noEditPoints="1" noAdjustHandles="1" noChangeArrowheads="1" noChangeShapeType="1" noTextEdit="1"/>
              </p:cNvSpPr>
              <p:nvPr/>
            </p:nvSpPr>
            <p:spPr>
              <a:xfrm>
                <a:off x="4303615" y="5891701"/>
                <a:ext cx="709810" cy="400110"/>
              </a:xfrm>
              <a:prstGeom prst="rect">
                <a:avLst/>
              </a:prstGeom>
              <a:blipFill rotWithShape="0">
                <a:blip r:embed="rId13"/>
                <a:stretch>
                  <a:fillRect l="-3448"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3" name="39 Rectángulo"/>
              <p:cNvSpPr/>
              <p:nvPr/>
            </p:nvSpPr>
            <p:spPr>
              <a:xfrm>
                <a:off x="5813340" y="4652875"/>
                <a:ext cx="1288173"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es-CO" sz="2000" i="1">
                              <a:latin typeface="Cambria Math" panose="02040503050406030204" pitchFamily="18" charset="0"/>
                            </a:rPr>
                          </m:ctrlPr>
                        </m:accPr>
                        <m:e>
                          <m:r>
                            <a:rPr lang="es-CO" sz="2000" i="1">
                              <a:latin typeface="Cambria Math"/>
                            </a:rPr>
                            <m:t>𝑦</m:t>
                          </m:r>
                        </m:e>
                      </m:acc>
                      <m:r>
                        <a:rPr lang="pt-BR" sz="2000" i="1">
                          <a:latin typeface="Cambria Math"/>
                        </a:rPr>
                        <m:t>(</m:t>
                      </m:r>
                      <m:r>
                        <a:rPr lang="es-CO" sz="2000" i="1">
                          <a:latin typeface="Cambria Math"/>
                        </a:rPr>
                        <m:t>𝑡</m:t>
                      </m:r>
                      <m:r>
                        <a:rPr lang="es-CO" sz="2000" i="1">
                          <a:latin typeface="Cambria Math"/>
                        </a:rPr>
                        <m:t>+</m:t>
                      </m:r>
                      <m:sSub>
                        <m:sSubPr>
                          <m:ctrlPr>
                            <a:rPr lang="es-CO" sz="2000" i="1">
                              <a:latin typeface="Cambria Math" panose="02040503050406030204" pitchFamily="18" charset="0"/>
                            </a:rPr>
                          </m:ctrlPr>
                        </m:sSubPr>
                        <m:e>
                          <m:r>
                            <a:rPr lang="es-CO" sz="2000" i="1">
                              <a:latin typeface="Cambria Math"/>
                            </a:rPr>
                            <m:t>𝐿</m:t>
                          </m:r>
                        </m:e>
                        <m:sub>
                          <m:r>
                            <a:rPr lang="es-CO" sz="2000" i="1">
                              <a:latin typeface="Cambria Math"/>
                            </a:rPr>
                            <m:t>𝑛</m:t>
                          </m:r>
                        </m:sub>
                      </m:sSub>
                      <m:r>
                        <a:rPr lang="pt-BR" sz="2000" i="1">
                          <a:latin typeface="Cambria Math"/>
                        </a:rPr>
                        <m:t>)</m:t>
                      </m:r>
                    </m:oMath>
                  </m:oMathPara>
                </a14:m>
                <a:endParaRPr lang="es-CO" sz="2000" b="1" i="1" dirty="0"/>
              </a:p>
            </p:txBody>
          </p:sp>
        </mc:Choice>
        <mc:Fallback xmlns="">
          <p:sp>
            <p:nvSpPr>
              <p:cNvPr id="43" name="39 Rectángulo"/>
              <p:cNvSpPr>
                <a:spLocks noRot="1" noChangeAspect="1" noMove="1" noResize="1" noEditPoints="1" noAdjustHandles="1" noChangeArrowheads="1" noChangeShapeType="1" noTextEdit="1"/>
              </p:cNvSpPr>
              <p:nvPr/>
            </p:nvSpPr>
            <p:spPr>
              <a:xfrm>
                <a:off x="5813340" y="4652875"/>
                <a:ext cx="1288173" cy="400110"/>
              </a:xfrm>
              <a:prstGeom prst="rect">
                <a:avLst/>
              </a:prstGeom>
              <a:blipFill rotWithShape="0">
                <a:blip r:embed="rId14"/>
                <a:stretch>
                  <a:fillRect t="-6061"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4" name="40 Rectángulo"/>
              <p:cNvSpPr/>
              <p:nvPr/>
            </p:nvSpPr>
            <p:spPr>
              <a:xfrm>
                <a:off x="7754496" y="4628611"/>
                <a:ext cx="70987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es-CO" sz="2000" i="1">
                              <a:latin typeface="Cambria Math" panose="02040503050406030204" pitchFamily="18" charset="0"/>
                            </a:rPr>
                          </m:ctrlPr>
                        </m:accPr>
                        <m:e>
                          <m:r>
                            <a:rPr lang="es-CO" sz="2000" i="1">
                              <a:latin typeface="Cambria Math"/>
                            </a:rPr>
                            <m:t>𝑦</m:t>
                          </m:r>
                        </m:e>
                      </m:acc>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44" name="40 Rectángulo"/>
              <p:cNvSpPr>
                <a:spLocks noRot="1" noChangeAspect="1" noMove="1" noResize="1" noEditPoints="1" noAdjustHandles="1" noChangeArrowheads="1" noChangeShapeType="1" noTextEdit="1"/>
              </p:cNvSpPr>
              <p:nvPr/>
            </p:nvSpPr>
            <p:spPr>
              <a:xfrm>
                <a:off x="7754496" y="4628611"/>
                <a:ext cx="709874" cy="400110"/>
              </a:xfrm>
              <a:prstGeom prst="rect">
                <a:avLst/>
              </a:prstGeom>
              <a:blipFill rotWithShape="0">
                <a:blip r:embed="rId15"/>
                <a:stretch>
                  <a:fillRect t="-6061"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5" name="45 Rectángulo"/>
              <p:cNvSpPr/>
              <p:nvPr/>
            </p:nvSpPr>
            <p:spPr>
              <a:xfrm>
                <a:off x="7257894" y="5904839"/>
                <a:ext cx="811954" cy="42377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pt-BR" sz="2000" i="1">
                              <a:latin typeface="Cambria Math" panose="02040503050406030204" pitchFamily="18" charset="0"/>
                            </a:rPr>
                          </m:ctrlPr>
                        </m:sSubPr>
                        <m:e>
                          <m:r>
                            <a:rPr lang="es-CO" sz="2000" i="1">
                              <a:latin typeface="Cambria Math"/>
                            </a:rPr>
                            <m:t>𝑒</m:t>
                          </m:r>
                        </m:e>
                        <m:sub>
                          <m:r>
                            <a:rPr lang="es-CO" sz="2000" i="1">
                              <a:latin typeface="Cambria Math"/>
                            </a:rPr>
                            <m:t>𝑝</m:t>
                          </m:r>
                        </m:sub>
                      </m:sSub>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45" name="45 Rectángulo"/>
              <p:cNvSpPr>
                <a:spLocks noRot="1" noChangeAspect="1" noMove="1" noResize="1" noEditPoints="1" noAdjustHandles="1" noChangeArrowheads="1" noChangeShapeType="1" noTextEdit="1"/>
              </p:cNvSpPr>
              <p:nvPr/>
            </p:nvSpPr>
            <p:spPr>
              <a:xfrm>
                <a:off x="7257894" y="5904839"/>
                <a:ext cx="811954" cy="423770"/>
              </a:xfrm>
              <a:prstGeom prst="rect">
                <a:avLst/>
              </a:prstGeom>
              <a:blipFill rotWithShape="0">
                <a:blip r:embed="rId16"/>
                <a:stretch>
                  <a:fillRect b="-10145"/>
                </a:stretch>
              </a:blipFill>
            </p:spPr>
            <p:txBody>
              <a:bodyPr/>
              <a:lstStyle/>
              <a:p>
                <a:r>
                  <a:rPr lang="pt-BR">
                    <a:noFill/>
                  </a:rPr>
                  <a:t> </a:t>
                </a:r>
              </a:p>
            </p:txBody>
          </p:sp>
        </mc:Fallback>
      </mc:AlternateContent>
      <p:pic>
        <p:nvPicPr>
          <p:cNvPr id="46" name="Picture 4"/>
          <p:cNvPicPr>
            <a:picLocks noChangeAspect="1" noChangeArrowheads="1"/>
          </p:cNvPicPr>
          <p:nvPr/>
        </p:nvPicPr>
        <p:blipFill>
          <a:blip r:embed="rId17" cstate="print"/>
          <a:srcRect/>
          <a:stretch>
            <a:fillRect/>
          </a:stretch>
        </p:blipFill>
        <p:spPr bwMode="auto">
          <a:xfrm>
            <a:off x="0" y="-28249"/>
            <a:ext cx="12192000" cy="1071546"/>
          </a:xfrm>
          <a:prstGeom prst="rect">
            <a:avLst/>
          </a:prstGeom>
          <a:noFill/>
          <a:ln w="9525">
            <a:noFill/>
            <a:miter lim="800000"/>
            <a:headEnd/>
            <a:tailEnd/>
          </a:ln>
          <a:effectLst/>
        </p:spPr>
      </p:pic>
      <p:sp>
        <p:nvSpPr>
          <p:cNvPr id="47" name="CaixaDeTexto 46"/>
          <p:cNvSpPr txBox="1"/>
          <p:nvPr/>
        </p:nvSpPr>
        <p:spPr>
          <a:xfrm>
            <a:off x="1631504" y="165120"/>
            <a:ext cx="8928992" cy="1985159"/>
          </a:xfrm>
          <a:prstGeom prst="rect">
            <a:avLst/>
          </a:prstGeom>
          <a:noFill/>
        </p:spPr>
        <p:txBody>
          <a:bodyPr wrap="square" rtlCol="0">
            <a:spAutoFit/>
          </a:bodyPr>
          <a:lstStyle/>
          <a:p>
            <a:pPr algn="ctr"/>
            <a:r>
              <a:rPr lang="pt-BR" sz="3600" b="1">
                <a:solidFill>
                  <a:schemeClr val="bg1"/>
                </a:solidFill>
              </a:rPr>
              <a:t>PREDICTOR DE SMITH</a:t>
            </a:r>
            <a:endParaRPr lang="pt-BR" sz="4800" b="1" i="1">
              <a:solidFill>
                <a:schemeClr val="bg1"/>
              </a:solidFill>
            </a:endParaRPr>
          </a:p>
          <a:p>
            <a:pPr algn="ctr"/>
            <a:endParaRPr lang="pt-BR" sz="36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p:sp>
        <p:nvSpPr>
          <p:cNvPr id="48" name="Espaço Reservado para Conteúdo 47"/>
          <p:cNvSpPr>
            <a:spLocks noGrp="1"/>
          </p:cNvSpPr>
          <p:nvPr>
            <p:ph idx="1"/>
          </p:nvPr>
        </p:nvSpPr>
        <p:spPr>
          <a:xfrm>
            <a:off x="1255956" y="1228107"/>
            <a:ext cx="10153128" cy="1936498"/>
          </a:xfrm>
        </p:spPr>
        <p:txBody>
          <a:bodyPr>
            <a:normAutofit fontScale="92500" lnSpcReduction="10000"/>
          </a:bodyPr>
          <a:lstStyle/>
          <a:p>
            <a:pPr marL="514350" indent="-514350">
              <a:buFont typeface="+mj-lt"/>
              <a:buAutoNum type="arabicPeriod"/>
            </a:pPr>
            <a:r>
              <a:rPr lang="pt-BR" dirty="0"/>
              <a:t>Elimina </a:t>
            </a:r>
            <a:r>
              <a:rPr lang="pt-BR" dirty="0" err="1"/>
              <a:t>el</a:t>
            </a:r>
            <a:r>
              <a:rPr lang="pt-BR" dirty="0"/>
              <a:t> retardo de </a:t>
            </a:r>
            <a:r>
              <a:rPr lang="pt-BR" dirty="0" err="1"/>
              <a:t>la</a:t>
            </a:r>
            <a:r>
              <a:rPr lang="pt-BR" dirty="0"/>
              <a:t> eq. caraterística</a:t>
            </a:r>
          </a:p>
          <a:p>
            <a:pPr marL="514350" indent="-514350">
              <a:buFont typeface="+mj-lt"/>
              <a:buAutoNum type="arabicPeriod"/>
            </a:pPr>
            <a:r>
              <a:rPr lang="pt-BR" dirty="0" err="1"/>
              <a:t>Anticipa</a:t>
            </a:r>
            <a:r>
              <a:rPr lang="pt-BR" dirty="0"/>
              <a:t> </a:t>
            </a:r>
            <a:r>
              <a:rPr lang="pt-BR" dirty="0" err="1"/>
              <a:t>la</a:t>
            </a:r>
            <a:r>
              <a:rPr lang="pt-BR" dirty="0"/>
              <a:t> </a:t>
            </a:r>
            <a:r>
              <a:rPr lang="pt-BR" dirty="0" err="1"/>
              <a:t>salida</a:t>
            </a:r>
            <a:r>
              <a:rPr lang="pt-BR" dirty="0"/>
              <a:t> </a:t>
            </a:r>
            <a:r>
              <a:rPr lang="pt-BR" dirty="0" err="1"/>
              <a:t>del</a:t>
            </a:r>
            <a:r>
              <a:rPr lang="pt-BR" dirty="0"/>
              <a:t> </a:t>
            </a:r>
            <a:r>
              <a:rPr lang="pt-BR" dirty="0" err="1"/>
              <a:t>proceso</a:t>
            </a:r>
            <a:r>
              <a:rPr lang="pt-BR" dirty="0"/>
              <a:t> para </a:t>
            </a:r>
            <a:r>
              <a:rPr lang="pt-BR" dirty="0" err="1"/>
              <a:t>el</a:t>
            </a:r>
            <a:r>
              <a:rPr lang="pt-BR" dirty="0"/>
              <a:t> controlador (</a:t>
            </a:r>
            <a:r>
              <a:rPr lang="pt-BR" dirty="0" err="1"/>
              <a:t>sin</a:t>
            </a:r>
            <a:r>
              <a:rPr lang="pt-BR" dirty="0"/>
              <a:t> retardo)</a:t>
            </a:r>
          </a:p>
          <a:p>
            <a:pPr marL="514350" indent="-514350">
              <a:buFont typeface="+mj-lt"/>
              <a:buAutoNum type="arabicPeriod"/>
            </a:pPr>
            <a:r>
              <a:rPr lang="pt-BR" dirty="0"/>
              <a:t>Divide </a:t>
            </a:r>
            <a:r>
              <a:rPr lang="pt-BR" dirty="0" err="1"/>
              <a:t>el</a:t>
            </a:r>
            <a:r>
              <a:rPr lang="pt-BR" dirty="0"/>
              <a:t> </a:t>
            </a:r>
            <a:r>
              <a:rPr lang="pt-BR" dirty="0" err="1"/>
              <a:t>proceso</a:t>
            </a:r>
            <a:r>
              <a:rPr lang="pt-BR" dirty="0"/>
              <a:t> </a:t>
            </a:r>
            <a:r>
              <a:rPr lang="pt-BR" dirty="0" err="1"/>
              <a:t>en</a:t>
            </a:r>
            <a:r>
              <a:rPr lang="pt-BR" dirty="0"/>
              <a:t> dos parcelas</a:t>
            </a:r>
          </a:p>
        </p:txBody>
      </p:sp>
      <p:sp>
        <p:nvSpPr>
          <p:cNvPr id="2" name="Espaço Reservado para Rodapé 1"/>
          <p:cNvSpPr>
            <a:spLocks noGrp="1"/>
          </p:cNvSpPr>
          <p:nvPr>
            <p:ph type="ftr" sz="quarter" idx="11"/>
          </p:nvPr>
        </p:nvSpPr>
        <p:spPr>
          <a:xfrm>
            <a:off x="4648200" y="6309320"/>
            <a:ext cx="2895600" cy="365125"/>
          </a:xfrm>
        </p:spPr>
        <p:txBody>
          <a:bodyPr/>
          <a:lstStyle/>
          <a:p>
            <a:r>
              <a:rPr lang="en-US"/>
              <a:t>http://controlautomaticoeducacion.com/</a:t>
            </a:r>
          </a:p>
        </p:txBody>
      </p:sp>
      <p:sp>
        <p:nvSpPr>
          <p:cNvPr id="3" name="Espaço Reservado para Número de Slide 2"/>
          <p:cNvSpPr>
            <a:spLocks noGrp="1"/>
          </p:cNvSpPr>
          <p:nvPr>
            <p:ph type="sldNum" sz="quarter" idx="12"/>
          </p:nvPr>
        </p:nvSpPr>
        <p:spPr>
          <a:xfrm>
            <a:off x="9408368" y="6381328"/>
            <a:ext cx="2133600" cy="365125"/>
          </a:xfrm>
        </p:spPr>
        <p:txBody>
          <a:bodyPr/>
          <a:lstStyle/>
          <a:p>
            <a:fld id="{FA1C692C-4F2D-45F6-A9A8-8A3A8FE27806}" type="slidenum">
              <a:rPr lang="en-US" sz="2000" smtClean="0"/>
              <a:pPr/>
              <a:t>17</a:t>
            </a:fld>
            <a:endParaRPr lang="en-US" sz="2000" dirty="0"/>
          </a:p>
        </p:txBody>
      </p:sp>
    </p:spTree>
    <p:extLst>
      <p:ext uri="{BB962C8B-B14F-4D97-AF65-F5344CB8AC3E}">
        <p14:creationId xmlns:p14="http://schemas.microsoft.com/office/powerpoint/2010/main" val="425135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1 Elipse"/>
          <p:cNvSpPr/>
          <p:nvPr/>
        </p:nvSpPr>
        <p:spPr>
          <a:xfrm>
            <a:off x="1333769" y="2182057"/>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mc:AlternateContent xmlns:mc="http://schemas.openxmlformats.org/markup-compatibility/2006" xmlns:a14="http://schemas.microsoft.com/office/drawing/2010/main">
        <mc:Choice Requires="a14">
          <p:sp>
            <p:nvSpPr>
              <p:cNvPr id="6" name="2 Rectángulo"/>
              <p:cNvSpPr/>
              <p:nvPr/>
            </p:nvSpPr>
            <p:spPr>
              <a:xfrm>
                <a:off x="2248848" y="2146058"/>
                <a:ext cx="64807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sz="2000">
                          <a:latin typeface="Cambria Math"/>
                        </a:rPr>
                        <m:t>C</m:t>
                      </m:r>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6" name="2 Rectángulo"/>
              <p:cNvSpPr>
                <a:spLocks noRot="1" noChangeAspect="1" noMove="1" noResize="1" noEditPoints="1" noAdjustHandles="1" noChangeArrowheads="1" noChangeShapeType="1" noTextEdit="1"/>
              </p:cNvSpPr>
              <p:nvPr/>
            </p:nvSpPr>
            <p:spPr>
              <a:xfrm>
                <a:off x="2248848" y="2146058"/>
                <a:ext cx="648072" cy="504055"/>
              </a:xfrm>
              <a:prstGeom prst="rect">
                <a:avLst/>
              </a:prstGeom>
              <a:blipFill rotWithShape="0">
                <a:blip r:embed="rId3"/>
                <a:stretch>
                  <a:fillRect l="-1818"/>
                </a:stretch>
              </a:blipFill>
            </p:spPr>
            <p:txBody>
              <a:bodyPr/>
              <a:lstStyle/>
              <a:p>
                <a:r>
                  <a:rPr lang="es-CO">
                    <a:noFill/>
                  </a:rPr>
                  <a:t> </a:t>
                </a:r>
              </a:p>
            </p:txBody>
          </p:sp>
        </mc:Fallback>
      </mc:AlternateContent>
      <p:sp>
        <p:nvSpPr>
          <p:cNvPr id="7" name="3 Elipse"/>
          <p:cNvSpPr/>
          <p:nvPr/>
        </p:nvSpPr>
        <p:spPr>
          <a:xfrm>
            <a:off x="3415329" y="2182057"/>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mc:AlternateContent xmlns:mc="http://schemas.openxmlformats.org/markup-compatibility/2006" xmlns:a14="http://schemas.microsoft.com/office/drawing/2010/main">
        <mc:Choice Requires="a14">
          <p:sp>
            <p:nvSpPr>
              <p:cNvPr id="8" name="4 Rectángulo"/>
              <p:cNvSpPr/>
              <p:nvPr/>
            </p:nvSpPr>
            <p:spPr>
              <a:xfrm>
                <a:off x="4527399" y="2146058"/>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sz="2000">
                          <a:latin typeface="Cambria Math"/>
                        </a:rPr>
                        <m:t>P</m:t>
                      </m:r>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8" name="4 Rectángulo"/>
              <p:cNvSpPr>
                <a:spLocks noRot="1" noChangeAspect="1" noMove="1" noResize="1" noEditPoints="1" noAdjustHandles="1" noChangeArrowheads="1" noChangeShapeType="1" noTextEdit="1"/>
              </p:cNvSpPr>
              <p:nvPr/>
            </p:nvSpPr>
            <p:spPr>
              <a:xfrm>
                <a:off x="4527399" y="2146058"/>
                <a:ext cx="792088" cy="504055"/>
              </a:xfrm>
              <a:prstGeom prst="rect">
                <a:avLst/>
              </a:prstGeom>
              <a:blipFill rotWithShape="0">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9" name="5 Rectángulo"/>
              <p:cNvSpPr/>
              <p:nvPr/>
            </p:nvSpPr>
            <p:spPr>
              <a:xfrm>
                <a:off x="5447928" y="3032957"/>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CO" sz="2000" b="1" i="1" smtClean="0">
                              <a:latin typeface="Cambria Math" panose="02040503050406030204" pitchFamily="18" charset="0"/>
                            </a:rPr>
                          </m:ctrlPr>
                        </m:sSupPr>
                        <m:e>
                          <m:r>
                            <a:rPr lang="es-CO" sz="2000" i="1">
                              <a:latin typeface="Cambria Math"/>
                            </a:rPr>
                            <m:t>𝑒</m:t>
                          </m:r>
                        </m:e>
                        <m:sup>
                          <m:sSub>
                            <m:sSubPr>
                              <m:ctrlPr>
                                <a:rPr lang="es-CO" sz="2000" i="1">
                                  <a:latin typeface="Cambria Math" panose="02040503050406030204" pitchFamily="18" charset="0"/>
                                </a:rPr>
                              </m:ctrlPr>
                            </m:sSubPr>
                            <m:e>
                              <m:r>
                                <a:rPr lang="pt-BR" sz="2000" b="0" i="1" smtClean="0">
                                  <a:latin typeface="Cambria Math" panose="02040503050406030204" pitchFamily="18" charset="0"/>
                                </a:rPr>
                                <m:t>−</m:t>
                              </m:r>
                              <m:r>
                                <a:rPr lang="es-CO" sz="2000" i="1">
                                  <a:latin typeface="Cambria Math"/>
                                </a:rPr>
                                <m:t>𝐿</m:t>
                              </m:r>
                            </m:e>
                            <m:sub>
                              <m:r>
                                <a:rPr lang="es-CO" sz="2000" i="1">
                                  <a:latin typeface="Cambria Math"/>
                                </a:rPr>
                                <m:t>𝑛</m:t>
                              </m:r>
                            </m:sub>
                          </m:sSub>
                          <m:r>
                            <a:rPr lang="es-CO" sz="2000" i="1">
                              <a:latin typeface="Cambria Math"/>
                            </a:rPr>
                            <m:t>𝑠</m:t>
                          </m:r>
                        </m:sup>
                      </m:sSup>
                    </m:oMath>
                  </m:oMathPara>
                </a14:m>
                <a:endParaRPr lang="es-CO" sz="2000" b="1" dirty="0"/>
              </a:p>
            </p:txBody>
          </p:sp>
        </mc:Choice>
        <mc:Fallback xmlns="">
          <p:sp>
            <p:nvSpPr>
              <p:cNvPr id="9" name="5 Rectángulo"/>
              <p:cNvSpPr>
                <a:spLocks noRot="1" noChangeAspect="1" noMove="1" noResize="1" noEditPoints="1" noAdjustHandles="1" noChangeArrowheads="1" noChangeShapeType="1" noTextEdit="1"/>
              </p:cNvSpPr>
              <p:nvPr/>
            </p:nvSpPr>
            <p:spPr>
              <a:xfrm>
                <a:off x="5447928" y="3032957"/>
                <a:ext cx="792088" cy="504055"/>
              </a:xfrm>
              <a:prstGeom prst="rect">
                <a:avLst/>
              </a:prstGeom>
              <a:blipFill rotWithShape="0">
                <a:blip r:embed="rId5"/>
                <a:stretch>
                  <a:fillRect/>
                </a:stretch>
              </a:blipFill>
            </p:spPr>
            <p:txBody>
              <a:bodyPr/>
              <a:lstStyle/>
              <a:p>
                <a:r>
                  <a:rPr lang="es-CO">
                    <a:noFill/>
                  </a:rPr>
                  <a:t> </a:t>
                </a:r>
              </a:p>
            </p:txBody>
          </p:sp>
        </mc:Fallback>
      </mc:AlternateContent>
      <p:sp>
        <p:nvSpPr>
          <p:cNvPr id="10" name="6 Elipse"/>
          <p:cNvSpPr/>
          <p:nvPr/>
        </p:nvSpPr>
        <p:spPr>
          <a:xfrm>
            <a:off x="6092598" y="2182057"/>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p:sp>
        <p:nvSpPr>
          <p:cNvPr id="11" name="7 Elipse"/>
          <p:cNvSpPr/>
          <p:nvPr/>
        </p:nvSpPr>
        <p:spPr>
          <a:xfrm>
            <a:off x="6816080" y="3068960"/>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p:cxnSp>
        <p:nvCxnSpPr>
          <p:cNvPr id="12" name="8 Conector recto de flecha"/>
          <p:cNvCxnSpPr>
            <a:endCxn id="5" idx="2"/>
          </p:cNvCxnSpPr>
          <p:nvPr/>
        </p:nvCxnSpPr>
        <p:spPr>
          <a:xfrm>
            <a:off x="532483" y="2397921"/>
            <a:ext cx="801286"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3" name="9 Conector recto de flecha"/>
          <p:cNvCxnSpPr>
            <a:stCxn id="5" idx="6"/>
            <a:endCxn id="6" idx="1"/>
          </p:cNvCxnSpPr>
          <p:nvPr/>
        </p:nvCxnSpPr>
        <p:spPr>
          <a:xfrm>
            <a:off x="1765818" y="2398081"/>
            <a:ext cx="483031"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4" name="10 Conector recto de flecha"/>
          <p:cNvCxnSpPr>
            <a:stCxn id="6" idx="3"/>
            <a:endCxn id="7" idx="2"/>
          </p:cNvCxnSpPr>
          <p:nvPr/>
        </p:nvCxnSpPr>
        <p:spPr>
          <a:xfrm flipV="1">
            <a:off x="2896921" y="2398081"/>
            <a:ext cx="518409"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5" name="11 Conector recto de flecha"/>
          <p:cNvCxnSpPr>
            <a:endCxn id="7" idx="0"/>
          </p:cNvCxnSpPr>
          <p:nvPr/>
        </p:nvCxnSpPr>
        <p:spPr>
          <a:xfrm>
            <a:off x="3631353" y="1573379"/>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6" name="12 Conector recto de flecha"/>
          <p:cNvCxnSpPr>
            <a:stCxn id="7" idx="6"/>
            <a:endCxn id="8" idx="1"/>
          </p:cNvCxnSpPr>
          <p:nvPr/>
        </p:nvCxnSpPr>
        <p:spPr>
          <a:xfrm>
            <a:off x="3847377" y="2398081"/>
            <a:ext cx="680022"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7" name="13 Conector recto de flecha"/>
          <p:cNvCxnSpPr>
            <a:stCxn id="8" idx="3"/>
            <a:endCxn id="10" idx="2"/>
          </p:cNvCxnSpPr>
          <p:nvPr/>
        </p:nvCxnSpPr>
        <p:spPr>
          <a:xfrm flipV="1">
            <a:off x="5319488" y="2398081"/>
            <a:ext cx="773111"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8" name="14 Conector recto de flecha"/>
          <p:cNvCxnSpPr>
            <a:stCxn id="10" idx="6"/>
          </p:cNvCxnSpPr>
          <p:nvPr/>
        </p:nvCxnSpPr>
        <p:spPr>
          <a:xfrm>
            <a:off x="6524647" y="2398080"/>
            <a:ext cx="1365683"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9" name="15 Conector recto de flecha"/>
          <p:cNvCxnSpPr>
            <a:endCxn id="11" idx="0"/>
          </p:cNvCxnSpPr>
          <p:nvPr/>
        </p:nvCxnSpPr>
        <p:spPr>
          <a:xfrm>
            <a:off x="7032104" y="2398243"/>
            <a:ext cx="0" cy="670716"/>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0" name="16 Conector recto de flecha"/>
          <p:cNvCxnSpPr/>
          <p:nvPr/>
        </p:nvCxnSpPr>
        <p:spPr>
          <a:xfrm>
            <a:off x="3127450" y="2388614"/>
            <a:ext cx="0" cy="886743"/>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1" name="17 Conector recto de flecha"/>
          <p:cNvCxnSpPr>
            <a:stCxn id="40" idx="3"/>
            <a:endCxn id="9" idx="1"/>
          </p:cNvCxnSpPr>
          <p:nvPr/>
        </p:nvCxnSpPr>
        <p:spPr>
          <a:xfrm>
            <a:off x="4343798" y="3284982"/>
            <a:ext cx="1104130" cy="3"/>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sp>
        <p:nvSpPr>
          <p:cNvPr id="22" name="18 Elipse"/>
          <p:cNvSpPr/>
          <p:nvPr/>
        </p:nvSpPr>
        <p:spPr>
          <a:xfrm>
            <a:off x="4801451" y="3851421"/>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000" dirty="0"/>
              <a:t>+</a:t>
            </a:r>
            <a:endParaRPr lang="es-CO" sz="2000" dirty="0"/>
          </a:p>
        </p:txBody>
      </p:sp>
      <p:cxnSp>
        <p:nvCxnSpPr>
          <p:cNvPr id="23" name="19 Conector recto de flecha"/>
          <p:cNvCxnSpPr>
            <a:endCxn id="22" idx="0"/>
          </p:cNvCxnSpPr>
          <p:nvPr/>
        </p:nvCxnSpPr>
        <p:spPr>
          <a:xfrm>
            <a:off x="5017475" y="3275357"/>
            <a:ext cx="0" cy="576063"/>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4" name="20 Conector recto de flecha"/>
          <p:cNvCxnSpPr>
            <a:endCxn id="22" idx="6"/>
          </p:cNvCxnSpPr>
          <p:nvPr/>
        </p:nvCxnSpPr>
        <p:spPr>
          <a:xfrm flipH="1">
            <a:off x="5233500" y="4067443"/>
            <a:ext cx="1798605" cy="2"/>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5" name="21 Conector recto de flecha"/>
          <p:cNvCxnSpPr>
            <a:stCxn id="11" idx="4"/>
          </p:cNvCxnSpPr>
          <p:nvPr/>
        </p:nvCxnSpPr>
        <p:spPr>
          <a:xfrm>
            <a:off x="7032104" y="3501009"/>
            <a:ext cx="0" cy="566435"/>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6" name="22 Conector recto de flecha"/>
          <p:cNvCxnSpPr>
            <a:endCxn id="10" idx="0"/>
          </p:cNvCxnSpPr>
          <p:nvPr/>
        </p:nvCxnSpPr>
        <p:spPr>
          <a:xfrm>
            <a:off x="6308622" y="1573379"/>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7" name="23 Conector recto de flecha"/>
          <p:cNvCxnSpPr>
            <a:stCxn id="9" idx="3"/>
            <a:endCxn id="11" idx="2"/>
          </p:cNvCxnSpPr>
          <p:nvPr/>
        </p:nvCxnSpPr>
        <p:spPr>
          <a:xfrm>
            <a:off x="6240016" y="3284984"/>
            <a:ext cx="576064"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8" name="24 Conector recto de flecha"/>
          <p:cNvCxnSpPr>
            <a:endCxn id="22" idx="2"/>
          </p:cNvCxnSpPr>
          <p:nvPr/>
        </p:nvCxnSpPr>
        <p:spPr>
          <a:xfrm>
            <a:off x="1549793" y="4067283"/>
            <a:ext cx="3251658" cy="163"/>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9" name="25 Conector recto de flecha"/>
          <p:cNvCxnSpPr>
            <a:endCxn id="5" idx="4"/>
          </p:cNvCxnSpPr>
          <p:nvPr/>
        </p:nvCxnSpPr>
        <p:spPr>
          <a:xfrm flipV="1">
            <a:off x="1549793" y="2614106"/>
            <a:ext cx="0" cy="145317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31" name="27 Conector recto de flecha"/>
          <p:cNvCxnSpPr/>
          <p:nvPr/>
        </p:nvCxnSpPr>
        <p:spPr>
          <a:xfrm>
            <a:off x="1693809" y="2650112"/>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p:cxnSp>
        <p:nvCxnSpPr>
          <p:cNvPr id="32" name="28 Conector recto de flecha"/>
          <p:cNvCxnSpPr/>
          <p:nvPr/>
        </p:nvCxnSpPr>
        <p:spPr>
          <a:xfrm>
            <a:off x="6672064" y="3494288"/>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3" name="29 Rectángulo"/>
              <p:cNvSpPr/>
              <p:nvPr/>
            </p:nvSpPr>
            <p:spPr>
              <a:xfrm>
                <a:off x="586352" y="1951435"/>
                <a:ext cx="688715"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𝑟</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3" name="29 Rectángulo"/>
              <p:cNvSpPr>
                <a:spLocks noRot="1" noChangeAspect="1" noMove="1" noResize="1" noEditPoints="1" noAdjustHandles="1" noChangeArrowheads="1" noChangeShapeType="1" noTextEdit="1"/>
              </p:cNvSpPr>
              <p:nvPr/>
            </p:nvSpPr>
            <p:spPr>
              <a:xfrm>
                <a:off x="586352" y="1951435"/>
                <a:ext cx="688715" cy="400110"/>
              </a:xfrm>
              <a:prstGeom prst="rect">
                <a:avLst/>
              </a:prstGeom>
              <a:blipFill rotWithShape="0">
                <a:blip r:embed="rId6"/>
                <a:stretch>
                  <a:fillRect b="-1515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4" name="30 Rectángulo"/>
              <p:cNvSpPr/>
              <p:nvPr/>
            </p:nvSpPr>
            <p:spPr>
              <a:xfrm>
                <a:off x="1629400" y="1944760"/>
                <a:ext cx="693523"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𝑒</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4" name="30 Rectángulo"/>
              <p:cNvSpPr>
                <a:spLocks noRot="1" noChangeAspect="1" noMove="1" noResize="1" noEditPoints="1" noAdjustHandles="1" noChangeArrowheads="1" noChangeShapeType="1" noTextEdit="1"/>
              </p:cNvSpPr>
              <p:nvPr/>
            </p:nvSpPr>
            <p:spPr>
              <a:xfrm>
                <a:off x="1629400" y="1944760"/>
                <a:ext cx="693523" cy="400110"/>
              </a:xfrm>
              <a:prstGeom prst="rect">
                <a:avLst/>
              </a:prstGeom>
              <a:blipFill rotWithShape="0">
                <a:blip r:embed="rId7"/>
                <a:stretch>
                  <a:fillRect b="-1515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5" name="31 Rectángulo"/>
              <p:cNvSpPr/>
              <p:nvPr/>
            </p:nvSpPr>
            <p:spPr>
              <a:xfrm>
                <a:off x="2845900" y="1963374"/>
                <a:ext cx="71526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𝑢</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5" name="31 Rectángulo"/>
              <p:cNvSpPr>
                <a:spLocks noRot="1" noChangeAspect="1" noMove="1" noResize="1" noEditPoints="1" noAdjustHandles="1" noChangeArrowheads="1" noChangeShapeType="1" noTextEdit="1"/>
              </p:cNvSpPr>
              <p:nvPr/>
            </p:nvSpPr>
            <p:spPr>
              <a:xfrm>
                <a:off x="2845900" y="1963374"/>
                <a:ext cx="715260" cy="400110"/>
              </a:xfrm>
              <a:prstGeom prst="rect">
                <a:avLst/>
              </a:prstGeom>
              <a:blipFill rotWithShape="0">
                <a:blip r:embed="rId8"/>
                <a:stretch>
                  <a:fillRect b="-1515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6" name="32 Rectángulo"/>
              <p:cNvSpPr/>
              <p:nvPr/>
            </p:nvSpPr>
            <p:spPr>
              <a:xfrm>
                <a:off x="3649922" y="1398830"/>
                <a:ext cx="70686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𝑞</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6" name="32 Rectángulo"/>
              <p:cNvSpPr>
                <a:spLocks noRot="1" noChangeAspect="1" noMove="1" noResize="1" noEditPoints="1" noAdjustHandles="1" noChangeArrowheads="1" noChangeShapeType="1" noTextEdit="1"/>
              </p:cNvSpPr>
              <p:nvPr/>
            </p:nvSpPr>
            <p:spPr>
              <a:xfrm>
                <a:off x="3649922" y="1398830"/>
                <a:ext cx="706860" cy="400110"/>
              </a:xfrm>
              <a:prstGeom prst="rect">
                <a:avLst/>
              </a:prstGeom>
              <a:blipFill rotWithShape="0">
                <a:blip r:embed="rId9"/>
                <a:stretch>
                  <a:fillRect b="-1515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7" name="33 Rectángulo"/>
              <p:cNvSpPr/>
              <p:nvPr/>
            </p:nvSpPr>
            <p:spPr>
              <a:xfrm>
                <a:off x="6315524" y="1364805"/>
                <a:ext cx="71308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b="0" i="1" smtClean="0">
                          <a:latin typeface="Cambria Math" panose="02040503050406030204" pitchFamily="18" charset="0"/>
                        </a:rPr>
                        <m:t>𝑛</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7" name="33 Rectángulo"/>
              <p:cNvSpPr>
                <a:spLocks noRot="1" noChangeAspect="1" noMove="1" noResize="1" noEditPoints="1" noAdjustHandles="1" noChangeArrowheads="1" noChangeShapeType="1" noTextEdit="1"/>
              </p:cNvSpPr>
              <p:nvPr/>
            </p:nvSpPr>
            <p:spPr>
              <a:xfrm>
                <a:off x="6315524" y="1364805"/>
                <a:ext cx="713080" cy="400110"/>
              </a:xfrm>
              <a:prstGeom prst="rect">
                <a:avLst/>
              </a:prstGeom>
              <a:blipFill rotWithShape="0">
                <a:blip r:embed="rId10"/>
                <a:stretch>
                  <a:fillRect b="-1363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9" name="35 Rectángulo"/>
              <p:cNvSpPr/>
              <p:nvPr/>
            </p:nvSpPr>
            <p:spPr>
              <a:xfrm>
                <a:off x="6480135" y="1976777"/>
                <a:ext cx="70987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2000" i="1">
                          <a:latin typeface="Cambria Math"/>
                        </a:rPr>
                        <m:t>𝑦</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39" name="35 Rectángulo"/>
              <p:cNvSpPr>
                <a:spLocks noRot="1" noChangeAspect="1" noMove="1" noResize="1" noEditPoints="1" noAdjustHandles="1" noChangeArrowheads="1" noChangeShapeType="1" noTextEdit="1"/>
              </p:cNvSpPr>
              <p:nvPr/>
            </p:nvSpPr>
            <p:spPr>
              <a:xfrm>
                <a:off x="6480135" y="1976777"/>
                <a:ext cx="709874" cy="400110"/>
              </a:xfrm>
              <a:prstGeom prst="rect">
                <a:avLst/>
              </a:prstGeom>
              <a:blipFill rotWithShape="0">
                <a:blip r:embed="rId11"/>
                <a:stretch>
                  <a:fillRect b="-1515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0" name="36 Rectángulo"/>
              <p:cNvSpPr/>
              <p:nvPr/>
            </p:nvSpPr>
            <p:spPr>
              <a:xfrm>
                <a:off x="3551710" y="3032954"/>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pt-BR" sz="2000" i="1">
                              <a:latin typeface="Cambria Math" panose="02040503050406030204" pitchFamily="18" charset="0"/>
                            </a:rPr>
                          </m:ctrlPr>
                        </m:sSubPr>
                        <m:e>
                          <m:r>
                            <a:rPr lang="es-CO" sz="2000" i="1">
                              <a:latin typeface="Cambria Math"/>
                            </a:rPr>
                            <m:t>𝐺</m:t>
                          </m:r>
                        </m:e>
                        <m:sub>
                          <m:r>
                            <m:rPr>
                              <m:sty m:val="p"/>
                            </m:rPr>
                            <a:rPr lang="pt-BR" sz="2000">
                              <a:latin typeface="Cambria Math"/>
                            </a:rPr>
                            <m:t>n</m:t>
                          </m:r>
                        </m:sub>
                      </m:sSub>
                      <m:r>
                        <a:rPr lang="pt-BR" sz="2000">
                          <a:latin typeface="Cambria Math"/>
                        </a:rPr>
                        <m:t>(</m:t>
                      </m:r>
                      <m:r>
                        <m:rPr>
                          <m:sty m:val="p"/>
                        </m:rPr>
                        <a:rPr lang="es-CO" sz="2000">
                          <a:latin typeface="Cambria Math"/>
                        </a:rPr>
                        <m:t>s</m:t>
                      </m:r>
                      <m:r>
                        <a:rPr lang="pt-BR" sz="2000">
                          <a:latin typeface="Cambria Math"/>
                        </a:rPr>
                        <m:t>)</m:t>
                      </m:r>
                    </m:oMath>
                  </m:oMathPara>
                </a14:m>
                <a:endParaRPr lang="es-CO" sz="2000" b="1" dirty="0"/>
              </a:p>
            </p:txBody>
          </p:sp>
        </mc:Choice>
        <mc:Fallback xmlns="">
          <p:sp>
            <p:nvSpPr>
              <p:cNvPr id="40" name="36 Rectángulo"/>
              <p:cNvSpPr>
                <a:spLocks noRot="1" noChangeAspect="1" noMove="1" noResize="1" noEditPoints="1" noAdjustHandles="1" noChangeArrowheads="1" noChangeShapeType="1" noTextEdit="1"/>
              </p:cNvSpPr>
              <p:nvPr/>
            </p:nvSpPr>
            <p:spPr>
              <a:xfrm>
                <a:off x="3551710" y="3032954"/>
                <a:ext cx="792088" cy="504055"/>
              </a:xfrm>
              <a:prstGeom prst="rect">
                <a:avLst/>
              </a:prstGeom>
              <a:blipFill rotWithShape="0">
                <a:blip r:embed="rId12"/>
                <a:stretch>
                  <a:fillRect l="-746"/>
                </a:stretch>
              </a:blipFill>
            </p:spPr>
            <p:txBody>
              <a:bodyPr/>
              <a:lstStyle/>
              <a:p>
                <a:r>
                  <a:rPr lang="es-CO">
                    <a:noFill/>
                  </a:rPr>
                  <a:t> </a:t>
                </a:r>
              </a:p>
            </p:txBody>
          </p:sp>
        </mc:Fallback>
      </mc:AlternateContent>
      <p:cxnSp>
        <p:nvCxnSpPr>
          <p:cNvPr id="41" name="37 Conector recto de flecha"/>
          <p:cNvCxnSpPr>
            <a:endCxn id="40" idx="1"/>
          </p:cNvCxnSpPr>
          <p:nvPr/>
        </p:nvCxnSpPr>
        <p:spPr>
          <a:xfrm>
            <a:off x="3127450" y="3284825"/>
            <a:ext cx="424261" cy="15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2" name="38 Rectángulo"/>
              <p:cNvSpPr/>
              <p:nvPr/>
            </p:nvSpPr>
            <p:spPr>
              <a:xfrm>
                <a:off x="2772546" y="4104702"/>
                <a:ext cx="709810"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s-CO" sz="2000" i="1">
                          <a:latin typeface="Cambria Math"/>
                        </a:rPr>
                        <m:t>𝑓</m:t>
                      </m:r>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42" name="38 Rectángulo"/>
              <p:cNvSpPr>
                <a:spLocks noRot="1" noChangeAspect="1" noMove="1" noResize="1" noEditPoints="1" noAdjustHandles="1" noChangeArrowheads="1" noChangeShapeType="1" noTextEdit="1"/>
              </p:cNvSpPr>
              <p:nvPr/>
            </p:nvSpPr>
            <p:spPr>
              <a:xfrm>
                <a:off x="2772546" y="4104702"/>
                <a:ext cx="709810" cy="400110"/>
              </a:xfrm>
              <a:prstGeom prst="rect">
                <a:avLst/>
              </a:prstGeom>
              <a:blipFill rotWithShape="0">
                <a:blip r:embed="rId13"/>
                <a:stretch>
                  <a:fillRect l="-3448" b="-1515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3" name="39 Rectángulo"/>
              <p:cNvSpPr/>
              <p:nvPr/>
            </p:nvSpPr>
            <p:spPr>
              <a:xfrm>
                <a:off x="4282271" y="2865876"/>
                <a:ext cx="1288173"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es-CO" sz="2000" i="1">
                              <a:latin typeface="Cambria Math" panose="02040503050406030204" pitchFamily="18" charset="0"/>
                            </a:rPr>
                          </m:ctrlPr>
                        </m:accPr>
                        <m:e>
                          <m:r>
                            <a:rPr lang="es-CO" sz="2000" i="1">
                              <a:latin typeface="Cambria Math"/>
                            </a:rPr>
                            <m:t>𝑦</m:t>
                          </m:r>
                        </m:e>
                      </m:acc>
                      <m:r>
                        <a:rPr lang="pt-BR" sz="2000" i="1">
                          <a:latin typeface="Cambria Math"/>
                        </a:rPr>
                        <m:t>(</m:t>
                      </m:r>
                      <m:r>
                        <a:rPr lang="es-CO" sz="2000" i="1">
                          <a:latin typeface="Cambria Math"/>
                        </a:rPr>
                        <m:t>𝑡</m:t>
                      </m:r>
                      <m:r>
                        <a:rPr lang="es-CO" sz="2000" i="1">
                          <a:latin typeface="Cambria Math"/>
                        </a:rPr>
                        <m:t>+</m:t>
                      </m:r>
                      <m:sSub>
                        <m:sSubPr>
                          <m:ctrlPr>
                            <a:rPr lang="es-CO" sz="2000" i="1">
                              <a:latin typeface="Cambria Math" panose="02040503050406030204" pitchFamily="18" charset="0"/>
                            </a:rPr>
                          </m:ctrlPr>
                        </m:sSubPr>
                        <m:e>
                          <m:r>
                            <a:rPr lang="es-CO" sz="2000" i="1">
                              <a:latin typeface="Cambria Math"/>
                            </a:rPr>
                            <m:t>𝐿</m:t>
                          </m:r>
                        </m:e>
                        <m:sub>
                          <m:r>
                            <a:rPr lang="es-CO" sz="2000" i="1">
                              <a:latin typeface="Cambria Math"/>
                            </a:rPr>
                            <m:t>𝑛</m:t>
                          </m:r>
                        </m:sub>
                      </m:sSub>
                      <m:r>
                        <a:rPr lang="pt-BR" sz="2000" i="1">
                          <a:latin typeface="Cambria Math"/>
                        </a:rPr>
                        <m:t>)</m:t>
                      </m:r>
                    </m:oMath>
                  </m:oMathPara>
                </a14:m>
                <a:endParaRPr lang="es-CO" sz="2000" b="1" i="1" dirty="0"/>
              </a:p>
            </p:txBody>
          </p:sp>
        </mc:Choice>
        <mc:Fallback xmlns="">
          <p:sp>
            <p:nvSpPr>
              <p:cNvPr id="43" name="39 Rectángulo"/>
              <p:cNvSpPr>
                <a:spLocks noRot="1" noChangeAspect="1" noMove="1" noResize="1" noEditPoints="1" noAdjustHandles="1" noChangeArrowheads="1" noChangeShapeType="1" noTextEdit="1"/>
              </p:cNvSpPr>
              <p:nvPr/>
            </p:nvSpPr>
            <p:spPr>
              <a:xfrm>
                <a:off x="4282271" y="2865876"/>
                <a:ext cx="1288173" cy="400110"/>
              </a:xfrm>
              <a:prstGeom prst="rect">
                <a:avLst/>
              </a:prstGeom>
              <a:blipFill rotWithShape="0">
                <a:blip r:embed="rId14"/>
                <a:stretch>
                  <a:fillRect t="-6061" b="-1515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4" name="40 Rectángulo"/>
              <p:cNvSpPr/>
              <p:nvPr/>
            </p:nvSpPr>
            <p:spPr>
              <a:xfrm>
                <a:off x="6223427" y="2841612"/>
                <a:ext cx="709874" cy="40011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es-CO" sz="2000" i="1">
                              <a:latin typeface="Cambria Math" panose="02040503050406030204" pitchFamily="18" charset="0"/>
                            </a:rPr>
                          </m:ctrlPr>
                        </m:accPr>
                        <m:e>
                          <m:r>
                            <a:rPr lang="es-CO" sz="2000" i="1">
                              <a:latin typeface="Cambria Math"/>
                            </a:rPr>
                            <m:t>𝑦</m:t>
                          </m:r>
                        </m:e>
                      </m:acc>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44" name="40 Rectángulo"/>
              <p:cNvSpPr>
                <a:spLocks noRot="1" noChangeAspect="1" noMove="1" noResize="1" noEditPoints="1" noAdjustHandles="1" noChangeArrowheads="1" noChangeShapeType="1" noTextEdit="1"/>
              </p:cNvSpPr>
              <p:nvPr/>
            </p:nvSpPr>
            <p:spPr>
              <a:xfrm>
                <a:off x="6223427" y="2841612"/>
                <a:ext cx="709874" cy="400110"/>
              </a:xfrm>
              <a:prstGeom prst="rect">
                <a:avLst/>
              </a:prstGeom>
              <a:blipFill rotWithShape="0">
                <a:blip r:embed="rId15"/>
                <a:stretch>
                  <a:fillRect t="-6061" b="-15152"/>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5" name="45 Rectángulo"/>
              <p:cNvSpPr/>
              <p:nvPr/>
            </p:nvSpPr>
            <p:spPr>
              <a:xfrm>
                <a:off x="5726825" y="4117840"/>
                <a:ext cx="811954" cy="42377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pt-BR" sz="2000" i="1">
                              <a:latin typeface="Cambria Math" panose="02040503050406030204" pitchFamily="18" charset="0"/>
                            </a:rPr>
                          </m:ctrlPr>
                        </m:sSubPr>
                        <m:e>
                          <m:r>
                            <a:rPr lang="es-CO" sz="2000" i="1">
                              <a:latin typeface="Cambria Math"/>
                            </a:rPr>
                            <m:t>𝑒</m:t>
                          </m:r>
                        </m:e>
                        <m:sub>
                          <m:r>
                            <a:rPr lang="es-CO" sz="2000" i="1">
                              <a:latin typeface="Cambria Math"/>
                            </a:rPr>
                            <m:t>𝑝</m:t>
                          </m:r>
                        </m:sub>
                      </m:sSub>
                      <m:r>
                        <a:rPr lang="pt-BR" sz="2000" i="1">
                          <a:latin typeface="Cambria Math"/>
                        </a:rPr>
                        <m:t>(</m:t>
                      </m:r>
                      <m:r>
                        <a:rPr lang="es-CO" sz="2000" i="1">
                          <a:latin typeface="Cambria Math"/>
                        </a:rPr>
                        <m:t>𝑡</m:t>
                      </m:r>
                      <m:r>
                        <a:rPr lang="pt-BR" sz="2000" i="1">
                          <a:latin typeface="Cambria Math"/>
                        </a:rPr>
                        <m:t>)</m:t>
                      </m:r>
                    </m:oMath>
                  </m:oMathPara>
                </a14:m>
                <a:endParaRPr lang="es-CO" sz="2000" b="1" i="1" dirty="0"/>
              </a:p>
            </p:txBody>
          </p:sp>
        </mc:Choice>
        <mc:Fallback xmlns="">
          <p:sp>
            <p:nvSpPr>
              <p:cNvPr id="45" name="45 Rectángulo"/>
              <p:cNvSpPr>
                <a:spLocks noRot="1" noChangeAspect="1" noMove="1" noResize="1" noEditPoints="1" noAdjustHandles="1" noChangeArrowheads="1" noChangeShapeType="1" noTextEdit="1"/>
              </p:cNvSpPr>
              <p:nvPr/>
            </p:nvSpPr>
            <p:spPr>
              <a:xfrm>
                <a:off x="5726825" y="4117840"/>
                <a:ext cx="811954" cy="423770"/>
              </a:xfrm>
              <a:prstGeom prst="rect">
                <a:avLst/>
              </a:prstGeom>
              <a:blipFill rotWithShape="0">
                <a:blip r:embed="rId16"/>
                <a:stretch>
                  <a:fillRect b="-10000"/>
                </a:stretch>
              </a:blipFill>
            </p:spPr>
            <p:txBody>
              <a:bodyPr/>
              <a:lstStyle/>
              <a:p>
                <a:r>
                  <a:rPr lang="es-CO">
                    <a:noFill/>
                  </a:rPr>
                  <a:t> </a:t>
                </a:r>
              </a:p>
            </p:txBody>
          </p:sp>
        </mc:Fallback>
      </mc:AlternateContent>
      <p:pic>
        <p:nvPicPr>
          <p:cNvPr id="46" name="Picture 4"/>
          <p:cNvPicPr>
            <a:picLocks noChangeAspect="1" noChangeArrowheads="1"/>
          </p:cNvPicPr>
          <p:nvPr/>
        </p:nvPicPr>
        <p:blipFill>
          <a:blip r:embed="rId17" cstate="print"/>
          <a:srcRect/>
          <a:stretch>
            <a:fillRect/>
          </a:stretch>
        </p:blipFill>
        <p:spPr bwMode="auto">
          <a:xfrm>
            <a:off x="0" y="-28249"/>
            <a:ext cx="12192000" cy="1071546"/>
          </a:xfrm>
          <a:prstGeom prst="rect">
            <a:avLst/>
          </a:prstGeom>
          <a:noFill/>
          <a:ln w="9525">
            <a:noFill/>
            <a:miter lim="800000"/>
            <a:headEnd/>
            <a:tailEnd/>
          </a:ln>
          <a:effectLst/>
        </p:spPr>
      </p:pic>
      <p:sp>
        <p:nvSpPr>
          <p:cNvPr id="47" name="CaixaDeTexto 46"/>
          <p:cNvSpPr txBox="1"/>
          <p:nvPr/>
        </p:nvSpPr>
        <p:spPr>
          <a:xfrm>
            <a:off x="1631504" y="165120"/>
            <a:ext cx="8928992" cy="1985159"/>
          </a:xfrm>
          <a:prstGeom prst="rect">
            <a:avLst/>
          </a:prstGeom>
          <a:noFill/>
        </p:spPr>
        <p:txBody>
          <a:bodyPr wrap="square" rtlCol="0">
            <a:spAutoFit/>
          </a:bodyPr>
          <a:lstStyle/>
          <a:p>
            <a:pPr algn="ctr"/>
            <a:r>
              <a:rPr lang="es-CO" sz="3600" b="1" dirty="0">
                <a:solidFill>
                  <a:schemeClr val="bg1"/>
                </a:solidFill>
              </a:rPr>
              <a:t>PREDICTOR DE SMITH</a:t>
            </a:r>
            <a:endParaRPr lang="es-CO" sz="4800" b="1" i="1" dirty="0">
              <a:solidFill>
                <a:schemeClr val="bg1"/>
              </a:solidFill>
            </a:endParaRPr>
          </a:p>
          <a:p>
            <a:pPr algn="ctr"/>
            <a:endParaRPr lang="pt-BR" sz="36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z="2000" smtClean="0"/>
              <a:pPr/>
              <a:t>18</a:t>
            </a:fld>
            <a:endParaRPr lang="en-US" sz="2000" dirty="0"/>
          </a:p>
        </p:txBody>
      </p:sp>
      <p:sp>
        <p:nvSpPr>
          <p:cNvPr id="4" name="Forma livre 3"/>
          <p:cNvSpPr/>
          <p:nvPr/>
        </p:nvSpPr>
        <p:spPr>
          <a:xfrm>
            <a:off x="1692846" y="2412548"/>
            <a:ext cx="3181686" cy="1547888"/>
          </a:xfrm>
          <a:custGeom>
            <a:avLst/>
            <a:gdLst>
              <a:gd name="connsiteX0" fmla="*/ 1364632 w 3181686"/>
              <a:gd name="connsiteY0" fmla="*/ 0 h 1547888"/>
              <a:gd name="connsiteX1" fmla="*/ 1418420 w 3181686"/>
              <a:gd name="connsiteY1" fmla="*/ 860612 h 1547888"/>
              <a:gd name="connsiteX2" fmla="*/ 2727267 w 3181686"/>
              <a:gd name="connsiteY2" fmla="*/ 1004047 h 1547888"/>
              <a:gd name="connsiteX3" fmla="*/ 3014137 w 3181686"/>
              <a:gd name="connsiteY3" fmla="*/ 1470212 h 1547888"/>
              <a:gd name="connsiteX4" fmla="*/ 288867 w 3181686"/>
              <a:gd name="connsiteY4" fmla="*/ 1488141 h 1547888"/>
              <a:gd name="connsiteX5" fmla="*/ 73714 w 3181686"/>
              <a:gd name="connsiteY5" fmla="*/ 878541 h 1547888"/>
              <a:gd name="connsiteX6" fmla="*/ 235079 w 3181686"/>
              <a:gd name="connsiteY6" fmla="*/ 161365 h 154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81686" h="1547888">
                <a:moveTo>
                  <a:pt x="1364632" y="0"/>
                </a:moveTo>
                <a:cubicBezTo>
                  <a:pt x="1277973" y="346635"/>
                  <a:pt x="1191314" y="693271"/>
                  <a:pt x="1418420" y="860612"/>
                </a:cubicBezTo>
                <a:cubicBezTo>
                  <a:pt x="1645526" y="1027953"/>
                  <a:pt x="2461314" y="902447"/>
                  <a:pt x="2727267" y="1004047"/>
                </a:cubicBezTo>
                <a:cubicBezTo>
                  <a:pt x="2993220" y="1105647"/>
                  <a:pt x="3420537" y="1389530"/>
                  <a:pt x="3014137" y="1470212"/>
                </a:cubicBezTo>
                <a:cubicBezTo>
                  <a:pt x="2607737" y="1550894"/>
                  <a:pt x="778937" y="1586753"/>
                  <a:pt x="288867" y="1488141"/>
                </a:cubicBezTo>
                <a:cubicBezTo>
                  <a:pt x="-201203" y="1389529"/>
                  <a:pt x="82679" y="1099670"/>
                  <a:pt x="73714" y="878541"/>
                </a:cubicBezTo>
                <a:cubicBezTo>
                  <a:pt x="64749" y="657412"/>
                  <a:pt x="149914" y="409388"/>
                  <a:pt x="235079" y="161365"/>
                </a:cubicBezTo>
              </a:path>
            </a:pathLst>
          </a:custGeom>
          <a:noFill/>
          <a:ln w="28575">
            <a:solidFill>
              <a:srgbClr val="FF0000"/>
            </a:solidFill>
            <a:prstDash val="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817224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mtClean="0"/>
              <a:pPr/>
              <a:t>19</a:t>
            </a:fld>
            <a:endParaRPr lang="en-US"/>
          </a:p>
        </p:txBody>
      </p:sp>
      <p:pic>
        <p:nvPicPr>
          <p:cNvPr id="4" name="Picture 4"/>
          <p:cNvPicPr>
            <a:picLocks noChangeAspect="1" noChangeArrowheads="1"/>
          </p:cNvPicPr>
          <p:nvPr/>
        </p:nvPicPr>
        <p:blipFill>
          <a:blip r:embed="rId3"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1985159"/>
          </a:xfrm>
          <a:prstGeom prst="rect">
            <a:avLst/>
          </a:prstGeom>
          <a:noFill/>
        </p:spPr>
        <p:txBody>
          <a:bodyPr wrap="square" rtlCol="0">
            <a:spAutoFit/>
          </a:bodyPr>
          <a:lstStyle/>
          <a:p>
            <a:pPr algn="ctr"/>
            <a:r>
              <a:rPr lang="es-CO" sz="3600" b="1" dirty="0">
                <a:solidFill>
                  <a:schemeClr val="bg1"/>
                </a:solidFill>
              </a:rPr>
              <a:t>PREDICTOR DE SMITH</a:t>
            </a:r>
            <a:endParaRPr lang="es-CO" sz="4800" b="1" i="1" dirty="0">
              <a:solidFill>
                <a:schemeClr val="bg1"/>
              </a:solidFill>
            </a:endParaRPr>
          </a:p>
          <a:p>
            <a:pPr algn="ctr"/>
            <a:endParaRPr lang="pt-BR" sz="36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p:sp>
        <p:nvSpPr>
          <p:cNvPr id="7" name="89 Rectángulo"/>
          <p:cNvSpPr/>
          <p:nvPr/>
        </p:nvSpPr>
        <p:spPr>
          <a:xfrm>
            <a:off x="2070146" y="1571780"/>
            <a:ext cx="2265204" cy="237996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s-CO" dirty="0"/>
          </a:p>
        </p:txBody>
      </p:sp>
      <p:sp>
        <p:nvSpPr>
          <p:cNvPr id="8" name="1 Elipse"/>
          <p:cNvSpPr/>
          <p:nvPr/>
        </p:nvSpPr>
        <p:spPr>
          <a:xfrm>
            <a:off x="2253300" y="2349738"/>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dirty="0"/>
              <a:t>+</a:t>
            </a:r>
            <a:endParaRPr lang="es-CO" dirty="0"/>
          </a:p>
        </p:txBody>
      </p:sp>
      <mc:AlternateContent xmlns:mc="http://schemas.openxmlformats.org/markup-compatibility/2006" xmlns:a14="http://schemas.microsoft.com/office/drawing/2010/main">
        <mc:Choice Requires="a14">
          <p:sp>
            <p:nvSpPr>
              <p:cNvPr id="9" name="2 Rectángulo"/>
              <p:cNvSpPr/>
              <p:nvPr/>
            </p:nvSpPr>
            <p:spPr>
              <a:xfrm>
                <a:off x="3144466" y="2313733"/>
                <a:ext cx="64807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b="0" i="0" smtClean="0">
                          <a:latin typeface="Cambria Math"/>
                        </a:rPr>
                        <m:t>C</m:t>
                      </m:r>
                      <m:r>
                        <a:rPr lang="pt-BR" b="0" i="0" smtClean="0">
                          <a:latin typeface="Cambria Math"/>
                        </a:rPr>
                        <m:t>(</m:t>
                      </m:r>
                      <m:r>
                        <m:rPr>
                          <m:sty m:val="p"/>
                        </m:rPr>
                        <a:rPr lang="es-CO" b="0" i="0" smtClean="0">
                          <a:latin typeface="Cambria Math"/>
                        </a:rPr>
                        <m:t>s</m:t>
                      </m:r>
                      <m:r>
                        <a:rPr lang="pt-BR" b="0" i="0" smtClean="0">
                          <a:latin typeface="Cambria Math"/>
                        </a:rPr>
                        <m:t>)</m:t>
                      </m:r>
                    </m:oMath>
                  </m:oMathPara>
                </a14:m>
                <a:endParaRPr lang="es-CO" b="1" dirty="0"/>
              </a:p>
            </p:txBody>
          </p:sp>
        </mc:Choice>
        <mc:Fallback xmlns="">
          <p:sp>
            <p:nvSpPr>
              <p:cNvPr id="9" name="2 Rectángulo"/>
              <p:cNvSpPr>
                <a:spLocks noRot="1" noChangeAspect="1" noMove="1" noResize="1" noEditPoints="1" noAdjustHandles="1" noChangeArrowheads="1" noChangeShapeType="1" noTextEdit="1"/>
              </p:cNvSpPr>
              <p:nvPr/>
            </p:nvSpPr>
            <p:spPr>
              <a:xfrm>
                <a:off x="3144466" y="2313733"/>
                <a:ext cx="648072" cy="504055"/>
              </a:xfrm>
              <a:prstGeom prst="rect">
                <a:avLst/>
              </a:prstGeom>
              <a:blipFill rotWithShape="0">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 name="4 Rectángulo"/>
              <p:cNvSpPr/>
              <p:nvPr/>
            </p:nvSpPr>
            <p:spPr>
              <a:xfrm>
                <a:off x="5037030" y="2313576"/>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b="0" i="0" smtClean="0">
                          <a:latin typeface="Cambria Math"/>
                        </a:rPr>
                        <m:t>P</m:t>
                      </m:r>
                      <m:r>
                        <a:rPr lang="pt-BR" b="0" i="0" smtClean="0">
                          <a:latin typeface="Cambria Math"/>
                        </a:rPr>
                        <m:t>(</m:t>
                      </m:r>
                      <m:r>
                        <m:rPr>
                          <m:sty m:val="p"/>
                        </m:rPr>
                        <a:rPr lang="es-CO" b="0" i="0" smtClean="0">
                          <a:latin typeface="Cambria Math"/>
                        </a:rPr>
                        <m:t>s</m:t>
                      </m:r>
                      <m:r>
                        <a:rPr lang="pt-BR" b="0" i="0" smtClean="0">
                          <a:latin typeface="Cambria Math"/>
                        </a:rPr>
                        <m:t>)</m:t>
                      </m:r>
                    </m:oMath>
                  </m:oMathPara>
                </a14:m>
                <a:endParaRPr lang="es-CO" b="1" dirty="0"/>
              </a:p>
            </p:txBody>
          </p:sp>
        </mc:Choice>
        <mc:Fallback xmlns="">
          <p:sp>
            <p:nvSpPr>
              <p:cNvPr id="10" name="4 Rectángulo"/>
              <p:cNvSpPr>
                <a:spLocks noRot="1" noChangeAspect="1" noMove="1" noResize="1" noEditPoints="1" noAdjustHandles="1" noChangeArrowheads="1" noChangeShapeType="1" noTextEdit="1"/>
              </p:cNvSpPr>
              <p:nvPr/>
            </p:nvSpPr>
            <p:spPr>
              <a:xfrm>
                <a:off x="5037030" y="2313576"/>
                <a:ext cx="792088" cy="504055"/>
              </a:xfrm>
              <a:prstGeom prst="rect">
                <a:avLst/>
              </a:prstGeom>
              <a:blipFill rotWithShape="0">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1" name="5 Rectángulo"/>
              <p:cNvSpPr/>
              <p:nvPr/>
            </p:nvSpPr>
            <p:spPr>
              <a:xfrm>
                <a:off x="5037028" y="3200475"/>
                <a:ext cx="1597225"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CO" i="1" smtClean="0">
                              <a:latin typeface="Cambria Math" panose="02040503050406030204" pitchFamily="18" charset="0"/>
                            </a:rPr>
                          </m:ctrlPr>
                        </m:sSupPr>
                        <m:e>
                          <m:sSub>
                            <m:sSubPr>
                              <m:ctrlPr>
                                <a:rPr lang="es-CO" i="1" smtClean="0">
                                  <a:latin typeface="Cambria Math" panose="02040503050406030204" pitchFamily="18" charset="0"/>
                                </a:rPr>
                              </m:ctrlPr>
                            </m:sSubPr>
                            <m:e>
                              <m:r>
                                <a:rPr lang="es-CO" b="0" i="1" smtClean="0">
                                  <a:latin typeface="Cambria Math"/>
                                </a:rPr>
                                <m:t>𝑃</m:t>
                              </m:r>
                            </m:e>
                            <m:sub>
                              <m:r>
                                <a:rPr lang="es-CO" b="0" i="1" smtClean="0">
                                  <a:latin typeface="Cambria Math"/>
                                </a:rPr>
                                <m:t>𝑛</m:t>
                              </m:r>
                            </m:sub>
                          </m:sSub>
                          <m:r>
                            <a:rPr lang="es-CO" b="0" i="1" smtClean="0">
                              <a:latin typeface="Cambria Math"/>
                            </a:rPr>
                            <m:t>=</m:t>
                          </m:r>
                          <m:sSub>
                            <m:sSubPr>
                              <m:ctrlPr>
                                <a:rPr lang="es-CO" i="1">
                                  <a:latin typeface="Cambria Math" panose="02040503050406030204" pitchFamily="18" charset="0"/>
                                </a:rPr>
                              </m:ctrlPr>
                            </m:sSubPr>
                            <m:e>
                              <m:r>
                                <a:rPr lang="pt-BR" i="1">
                                  <a:latin typeface="Cambria Math" panose="02040503050406030204" pitchFamily="18" charset="0"/>
                                </a:rPr>
                                <m:t>𝐺</m:t>
                              </m:r>
                            </m:e>
                            <m:sub>
                              <m:r>
                                <a:rPr lang="pt-BR" i="1">
                                  <a:latin typeface="Cambria Math" panose="02040503050406030204" pitchFamily="18" charset="0"/>
                                </a:rPr>
                                <m:t>𝑛</m:t>
                              </m:r>
                            </m:sub>
                          </m:sSub>
                          <m:r>
                            <a:rPr lang="es-CO" b="0" i="1" smtClean="0">
                              <a:latin typeface="Cambria Math"/>
                            </a:rPr>
                            <m:t>𝑒</m:t>
                          </m:r>
                        </m:e>
                        <m:sup>
                          <m:r>
                            <a:rPr lang="pt-BR" b="0" i="1" smtClean="0">
                              <a:latin typeface="Cambria Math" panose="02040503050406030204" pitchFamily="18" charset="0"/>
                            </a:rPr>
                            <m:t>−</m:t>
                          </m:r>
                          <m:sSub>
                            <m:sSubPr>
                              <m:ctrlPr>
                                <a:rPr lang="es-CO" i="1" smtClean="0">
                                  <a:latin typeface="Cambria Math" panose="02040503050406030204" pitchFamily="18" charset="0"/>
                                </a:rPr>
                              </m:ctrlPr>
                            </m:sSubPr>
                            <m:e>
                              <m:r>
                                <a:rPr lang="es-CO" b="0" i="1" smtClean="0">
                                  <a:latin typeface="Cambria Math"/>
                                </a:rPr>
                                <m:t>𝐿</m:t>
                              </m:r>
                            </m:e>
                            <m:sub>
                              <m:r>
                                <a:rPr lang="es-CO" b="0" i="1" smtClean="0">
                                  <a:latin typeface="Cambria Math"/>
                                </a:rPr>
                                <m:t>𝑛</m:t>
                              </m:r>
                            </m:sub>
                          </m:sSub>
                          <m:r>
                            <a:rPr lang="es-CO" b="0" i="1" smtClean="0">
                              <a:latin typeface="Cambria Math"/>
                            </a:rPr>
                            <m:t>𝑠</m:t>
                          </m:r>
                        </m:sup>
                      </m:sSup>
                    </m:oMath>
                  </m:oMathPara>
                </a14:m>
                <a:endParaRPr lang="es-CO" b="1" dirty="0"/>
              </a:p>
            </p:txBody>
          </p:sp>
        </mc:Choice>
        <mc:Fallback xmlns="">
          <p:sp>
            <p:nvSpPr>
              <p:cNvPr id="11" name="5 Rectángulo"/>
              <p:cNvSpPr>
                <a:spLocks noRot="1" noChangeAspect="1" noMove="1" noResize="1" noEditPoints="1" noAdjustHandles="1" noChangeArrowheads="1" noChangeShapeType="1" noTextEdit="1"/>
              </p:cNvSpPr>
              <p:nvPr/>
            </p:nvSpPr>
            <p:spPr>
              <a:xfrm>
                <a:off x="5037028" y="3200475"/>
                <a:ext cx="1597225" cy="504055"/>
              </a:xfrm>
              <a:prstGeom prst="rect">
                <a:avLst/>
              </a:prstGeom>
              <a:blipFill rotWithShape="0">
                <a:blip r:embed="rId6"/>
                <a:stretch>
                  <a:fillRect/>
                </a:stretch>
              </a:blipFill>
            </p:spPr>
            <p:txBody>
              <a:bodyPr/>
              <a:lstStyle/>
              <a:p>
                <a:r>
                  <a:rPr lang="es-CO">
                    <a:noFill/>
                  </a:rPr>
                  <a:t> </a:t>
                </a:r>
              </a:p>
            </p:txBody>
          </p:sp>
        </mc:Fallback>
      </mc:AlternateContent>
      <p:sp>
        <p:nvSpPr>
          <p:cNvPr id="12" name="6 Elipse"/>
          <p:cNvSpPr/>
          <p:nvPr/>
        </p:nvSpPr>
        <p:spPr>
          <a:xfrm>
            <a:off x="6243278" y="2349737"/>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dirty="0"/>
              <a:t>+</a:t>
            </a:r>
            <a:endParaRPr lang="es-CO" dirty="0"/>
          </a:p>
        </p:txBody>
      </p:sp>
      <p:sp>
        <p:nvSpPr>
          <p:cNvPr id="13" name="7 Elipse"/>
          <p:cNvSpPr/>
          <p:nvPr/>
        </p:nvSpPr>
        <p:spPr>
          <a:xfrm>
            <a:off x="7325711" y="3236479"/>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dirty="0"/>
              <a:t>+</a:t>
            </a:r>
            <a:endParaRPr lang="es-CO" dirty="0"/>
          </a:p>
        </p:txBody>
      </p:sp>
      <p:cxnSp>
        <p:nvCxnSpPr>
          <p:cNvPr id="14" name="8 Conector recto de flecha"/>
          <p:cNvCxnSpPr>
            <a:endCxn id="41" idx="2"/>
          </p:cNvCxnSpPr>
          <p:nvPr/>
        </p:nvCxnSpPr>
        <p:spPr>
          <a:xfrm>
            <a:off x="502597" y="2565600"/>
            <a:ext cx="653474"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5" name="9 Conector recto de flecha"/>
          <p:cNvCxnSpPr>
            <a:stCxn id="8" idx="6"/>
            <a:endCxn id="9" idx="1"/>
          </p:cNvCxnSpPr>
          <p:nvPr/>
        </p:nvCxnSpPr>
        <p:spPr>
          <a:xfrm flipV="1">
            <a:off x="2685348" y="2565761"/>
            <a:ext cx="459118" cy="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6" name="10 Conector recto de flecha"/>
          <p:cNvCxnSpPr>
            <a:stCxn id="9" idx="3"/>
            <a:endCxn id="10" idx="1"/>
          </p:cNvCxnSpPr>
          <p:nvPr/>
        </p:nvCxnSpPr>
        <p:spPr>
          <a:xfrm flipV="1">
            <a:off x="3792538" y="2565604"/>
            <a:ext cx="1244492" cy="15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7" name="13 Conector recto de flecha"/>
          <p:cNvCxnSpPr>
            <a:stCxn id="10" idx="3"/>
            <a:endCxn id="12" idx="2"/>
          </p:cNvCxnSpPr>
          <p:nvPr/>
        </p:nvCxnSpPr>
        <p:spPr>
          <a:xfrm>
            <a:off x="5829117" y="2565600"/>
            <a:ext cx="414160"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8" name="14 Conector recto de flecha"/>
          <p:cNvCxnSpPr>
            <a:stCxn id="12" idx="6"/>
          </p:cNvCxnSpPr>
          <p:nvPr/>
        </p:nvCxnSpPr>
        <p:spPr>
          <a:xfrm>
            <a:off x="6675326" y="2565760"/>
            <a:ext cx="1365683"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9" name="15 Conector recto de flecha"/>
          <p:cNvCxnSpPr>
            <a:endCxn id="13" idx="0"/>
          </p:cNvCxnSpPr>
          <p:nvPr/>
        </p:nvCxnSpPr>
        <p:spPr>
          <a:xfrm>
            <a:off x="7541735" y="2565762"/>
            <a:ext cx="0" cy="670716"/>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0" name="16 Conector recto de flecha"/>
          <p:cNvCxnSpPr/>
          <p:nvPr/>
        </p:nvCxnSpPr>
        <p:spPr>
          <a:xfrm>
            <a:off x="4165540" y="2565762"/>
            <a:ext cx="0" cy="911954"/>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1" name="17 Conector recto de flecha"/>
          <p:cNvCxnSpPr>
            <a:endCxn id="11" idx="1"/>
          </p:cNvCxnSpPr>
          <p:nvPr/>
        </p:nvCxnSpPr>
        <p:spPr>
          <a:xfrm>
            <a:off x="4483716" y="3452502"/>
            <a:ext cx="553312" cy="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2" name="20 Conector recto de flecha"/>
          <p:cNvCxnSpPr>
            <a:endCxn id="41" idx="4"/>
          </p:cNvCxnSpPr>
          <p:nvPr/>
        </p:nvCxnSpPr>
        <p:spPr>
          <a:xfrm flipV="1">
            <a:off x="1372095" y="2781624"/>
            <a:ext cx="0" cy="145333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3" name="21 Conector recto de flecha"/>
          <p:cNvCxnSpPr>
            <a:stCxn id="13" idx="4"/>
          </p:cNvCxnSpPr>
          <p:nvPr/>
        </p:nvCxnSpPr>
        <p:spPr>
          <a:xfrm>
            <a:off x="7541735" y="3668527"/>
            <a:ext cx="0" cy="566435"/>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4" name="22 Conector recto de flecha"/>
          <p:cNvCxnSpPr>
            <a:endCxn id="12" idx="0"/>
          </p:cNvCxnSpPr>
          <p:nvPr/>
        </p:nvCxnSpPr>
        <p:spPr>
          <a:xfrm>
            <a:off x="6459302" y="1741059"/>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5" name="23 Conector recto de flecha"/>
          <p:cNvCxnSpPr>
            <a:stCxn id="11" idx="3"/>
            <a:endCxn id="13" idx="2"/>
          </p:cNvCxnSpPr>
          <p:nvPr/>
        </p:nvCxnSpPr>
        <p:spPr>
          <a:xfrm>
            <a:off x="6634253" y="3452503"/>
            <a:ext cx="691458"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6" name="24 Conector recto de flecha"/>
          <p:cNvCxnSpPr/>
          <p:nvPr/>
        </p:nvCxnSpPr>
        <p:spPr>
          <a:xfrm>
            <a:off x="1372095" y="4234962"/>
            <a:ext cx="6169640" cy="2"/>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7" name="25 Conector recto de flecha"/>
          <p:cNvCxnSpPr>
            <a:endCxn id="8" idx="4"/>
          </p:cNvCxnSpPr>
          <p:nvPr/>
        </p:nvCxnSpPr>
        <p:spPr>
          <a:xfrm flipV="1">
            <a:off x="2469324" y="2781786"/>
            <a:ext cx="0" cy="670716"/>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8" name="27 Conector recto de flecha"/>
          <p:cNvCxnSpPr/>
          <p:nvPr/>
        </p:nvCxnSpPr>
        <p:spPr>
          <a:xfrm>
            <a:off x="2625703" y="2901120"/>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p:cxnSp>
        <p:nvCxnSpPr>
          <p:cNvPr id="29" name="28 Conector recto de flecha"/>
          <p:cNvCxnSpPr/>
          <p:nvPr/>
        </p:nvCxnSpPr>
        <p:spPr>
          <a:xfrm>
            <a:off x="7181695" y="3661807"/>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0" name="29 Rectángulo"/>
              <p:cNvSpPr/>
              <p:nvPr/>
            </p:nvSpPr>
            <p:spPr>
              <a:xfrm>
                <a:off x="508829" y="2133780"/>
                <a:ext cx="641008"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b="0" i="1" smtClean="0">
                          <a:latin typeface="Cambria Math"/>
                        </a:rPr>
                        <m:t>𝑟</m:t>
                      </m:r>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0" name="29 Rectángulo"/>
              <p:cNvSpPr>
                <a:spLocks noRot="1" noChangeAspect="1" noMove="1" noResize="1" noEditPoints="1" noAdjustHandles="1" noChangeArrowheads="1" noChangeShapeType="1" noTextEdit="1"/>
              </p:cNvSpPr>
              <p:nvPr/>
            </p:nvSpPr>
            <p:spPr>
              <a:xfrm>
                <a:off x="508829" y="2133780"/>
                <a:ext cx="641008" cy="369332"/>
              </a:xfrm>
              <a:prstGeom prst="rect">
                <a:avLst/>
              </a:prstGeom>
              <a:blipFill rotWithShape="0">
                <a:blip r:embed="rId7"/>
                <a:stretch>
                  <a:fillRect b="-13115"/>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1" name="30 Rectángulo"/>
              <p:cNvSpPr/>
              <p:nvPr/>
            </p:nvSpPr>
            <p:spPr>
              <a:xfrm>
                <a:off x="1537456" y="2169330"/>
                <a:ext cx="645818"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b="0" i="1" smtClean="0">
                          <a:latin typeface="Cambria Math"/>
                        </a:rPr>
                        <m:t>𝑒</m:t>
                      </m:r>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1" name="30 Rectángulo"/>
              <p:cNvSpPr>
                <a:spLocks noRot="1" noChangeAspect="1" noMove="1" noResize="1" noEditPoints="1" noAdjustHandles="1" noChangeArrowheads="1" noChangeShapeType="1" noTextEdit="1"/>
              </p:cNvSpPr>
              <p:nvPr/>
            </p:nvSpPr>
            <p:spPr>
              <a:xfrm>
                <a:off x="1537456" y="2169330"/>
                <a:ext cx="645818" cy="369332"/>
              </a:xfrm>
              <a:prstGeom prst="rect">
                <a:avLst/>
              </a:prstGeom>
              <a:blipFill rotWithShape="0">
                <a:blip r:embed="rId8"/>
                <a:stretch>
                  <a:fillRect b="-1333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2" name="31 Rectángulo"/>
              <p:cNvSpPr/>
              <p:nvPr/>
            </p:nvSpPr>
            <p:spPr>
              <a:xfrm>
                <a:off x="4323867" y="2180461"/>
                <a:ext cx="665823"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b="0" i="1" smtClean="0">
                          <a:latin typeface="Cambria Math"/>
                        </a:rPr>
                        <m:t>𝑢</m:t>
                      </m:r>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2" name="31 Rectángulo"/>
              <p:cNvSpPr>
                <a:spLocks noRot="1" noChangeAspect="1" noMove="1" noResize="1" noEditPoints="1" noAdjustHandles="1" noChangeArrowheads="1" noChangeShapeType="1" noTextEdit="1"/>
              </p:cNvSpPr>
              <p:nvPr/>
            </p:nvSpPr>
            <p:spPr>
              <a:xfrm>
                <a:off x="4323867" y="2180461"/>
                <a:ext cx="665823" cy="369332"/>
              </a:xfrm>
              <a:prstGeom prst="rect">
                <a:avLst/>
              </a:prstGeom>
              <a:blipFill rotWithShape="0">
                <a:blip r:embed="rId9"/>
                <a:stretch>
                  <a:fillRect b="-1333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3" name="33 Rectángulo"/>
              <p:cNvSpPr/>
              <p:nvPr/>
            </p:nvSpPr>
            <p:spPr>
              <a:xfrm>
                <a:off x="6426074" y="1571780"/>
                <a:ext cx="762003"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a:rPr>
                            <m:t>𝑛</m:t>
                          </m:r>
                        </m:e>
                        <m:sub>
                          <m:r>
                            <a:rPr lang="pt-BR" b="0" i="1" smtClean="0">
                              <a:latin typeface="Cambria Math"/>
                            </a:rPr>
                            <m:t>1</m:t>
                          </m:r>
                        </m:sub>
                      </m:sSub>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3" name="33 Rectángulo"/>
              <p:cNvSpPr>
                <a:spLocks noRot="1" noChangeAspect="1" noMove="1" noResize="1" noEditPoints="1" noAdjustHandles="1" noChangeArrowheads="1" noChangeShapeType="1" noTextEdit="1"/>
              </p:cNvSpPr>
              <p:nvPr/>
            </p:nvSpPr>
            <p:spPr>
              <a:xfrm>
                <a:off x="6426074" y="1571780"/>
                <a:ext cx="762003" cy="369332"/>
              </a:xfrm>
              <a:prstGeom prst="rect">
                <a:avLst/>
              </a:prstGeom>
              <a:blipFill rotWithShape="0">
                <a:blip r:embed="rId10"/>
                <a:stretch>
                  <a:fillRect b="-1333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4" name="35 Rectángulo"/>
              <p:cNvSpPr/>
              <p:nvPr/>
            </p:nvSpPr>
            <p:spPr>
              <a:xfrm>
                <a:off x="7014324" y="2144296"/>
                <a:ext cx="660757"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b="0" i="1" smtClean="0">
                          <a:latin typeface="Cambria Math"/>
                        </a:rPr>
                        <m:t>𝑦</m:t>
                      </m:r>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4" name="35 Rectángulo"/>
              <p:cNvSpPr>
                <a:spLocks noRot="1" noChangeAspect="1" noMove="1" noResize="1" noEditPoints="1" noAdjustHandles="1" noChangeArrowheads="1" noChangeShapeType="1" noTextEdit="1"/>
              </p:cNvSpPr>
              <p:nvPr/>
            </p:nvSpPr>
            <p:spPr>
              <a:xfrm>
                <a:off x="7014324" y="2144296"/>
                <a:ext cx="660757" cy="369332"/>
              </a:xfrm>
              <a:prstGeom prst="rect">
                <a:avLst/>
              </a:prstGeom>
              <a:blipFill rotWithShape="0">
                <a:blip r:embed="rId11"/>
                <a:stretch>
                  <a:fillRect b="-1333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5" name="36 Rectángulo"/>
              <p:cNvSpPr/>
              <p:nvPr/>
            </p:nvSpPr>
            <p:spPr>
              <a:xfrm>
                <a:off x="3048443" y="3210198"/>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es-CO" b="0" i="1" smtClean="0">
                              <a:latin typeface="Cambria Math"/>
                            </a:rPr>
                            <m:t>𝐺</m:t>
                          </m:r>
                        </m:e>
                        <m:sub>
                          <m:r>
                            <m:rPr>
                              <m:sty m:val="p"/>
                            </m:rPr>
                            <a:rPr lang="pt-BR" b="0" i="0" smtClean="0">
                              <a:latin typeface="Cambria Math"/>
                            </a:rPr>
                            <m:t>n</m:t>
                          </m:r>
                        </m:sub>
                      </m:sSub>
                      <m:r>
                        <a:rPr lang="pt-BR" b="0" i="0" smtClean="0">
                          <a:latin typeface="Cambria Math"/>
                        </a:rPr>
                        <m:t>(</m:t>
                      </m:r>
                      <m:r>
                        <m:rPr>
                          <m:sty m:val="p"/>
                        </m:rPr>
                        <a:rPr lang="es-CO" b="0" i="0" smtClean="0">
                          <a:latin typeface="Cambria Math"/>
                        </a:rPr>
                        <m:t>s</m:t>
                      </m:r>
                      <m:r>
                        <a:rPr lang="pt-BR" b="0" i="0" smtClean="0">
                          <a:latin typeface="Cambria Math"/>
                        </a:rPr>
                        <m:t>)</m:t>
                      </m:r>
                    </m:oMath>
                  </m:oMathPara>
                </a14:m>
                <a:endParaRPr lang="es-CO" b="1" dirty="0"/>
              </a:p>
            </p:txBody>
          </p:sp>
        </mc:Choice>
        <mc:Fallback xmlns="">
          <p:sp>
            <p:nvSpPr>
              <p:cNvPr id="35" name="36 Rectángulo"/>
              <p:cNvSpPr>
                <a:spLocks noRot="1" noChangeAspect="1" noMove="1" noResize="1" noEditPoints="1" noAdjustHandles="1" noChangeArrowheads="1" noChangeShapeType="1" noTextEdit="1"/>
              </p:cNvSpPr>
              <p:nvPr/>
            </p:nvSpPr>
            <p:spPr>
              <a:xfrm>
                <a:off x="3048443" y="3210198"/>
                <a:ext cx="792088" cy="504055"/>
              </a:xfrm>
              <a:prstGeom prst="rect">
                <a:avLst/>
              </a:prstGeom>
              <a:blipFill rotWithShape="0">
                <a:blip r:embed="rId12"/>
                <a:stretch>
                  <a:fillRect/>
                </a:stretch>
              </a:blipFill>
            </p:spPr>
            <p:txBody>
              <a:bodyPr/>
              <a:lstStyle/>
              <a:p>
                <a:r>
                  <a:rPr lang="es-CO">
                    <a:noFill/>
                  </a:rPr>
                  <a:t> </a:t>
                </a:r>
              </a:p>
            </p:txBody>
          </p:sp>
        </mc:Fallback>
      </mc:AlternateContent>
      <p:cxnSp>
        <p:nvCxnSpPr>
          <p:cNvPr id="36" name="37 Conector recto de flecha"/>
          <p:cNvCxnSpPr>
            <a:endCxn id="35" idx="3"/>
          </p:cNvCxnSpPr>
          <p:nvPr/>
        </p:nvCxnSpPr>
        <p:spPr>
          <a:xfrm flipH="1">
            <a:off x="3840531" y="3462226"/>
            <a:ext cx="325009"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7" name="38 Rectángulo"/>
              <p:cNvSpPr/>
              <p:nvPr/>
            </p:nvSpPr>
            <p:spPr>
              <a:xfrm>
                <a:off x="1537948" y="4185554"/>
                <a:ext cx="66030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s-CO" b="0" i="1" smtClean="0">
                          <a:latin typeface="Cambria Math"/>
                        </a:rPr>
                        <m:t>𝑓</m:t>
                      </m:r>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7" name="38 Rectángulo"/>
              <p:cNvSpPr>
                <a:spLocks noRot="1" noChangeAspect="1" noMove="1" noResize="1" noEditPoints="1" noAdjustHandles="1" noChangeArrowheads="1" noChangeShapeType="1" noTextEdit="1"/>
              </p:cNvSpPr>
              <p:nvPr/>
            </p:nvSpPr>
            <p:spPr>
              <a:xfrm>
                <a:off x="1537948" y="4185554"/>
                <a:ext cx="660309" cy="369332"/>
              </a:xfrm>
              <a:prstGeom prst="rect">
                <a:avLst/>
              </a:prstGeom>
              <a:blipFill rotWithShape="0">
                <a:blip r:embed="rId13"/>
                <a:stretch>
                  <a:fillRect l="-1835" b="-1333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8" name="39 Rectángulo"/>
              <p:cNvSpPr/>
              <p:nvPr/>
            </p:nvSpPr>
            <p:spPr>
              <a:xfrm>
                <a:off x="1993840" y="3529586"/>
                <a:ext cx="118134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es-CO" b="0" i="1" smtClean="0">
                              <a:latin typeface="Cambria Math" panose="02040503050406030204" pitchFamily="18" charset="0"/>
                            </a:rPr>
                          </m:ctrlPr>
                        </m:accPr>
                        <m:e>
                          <m:r>
                            <a:rPr lang="es-CO" b="0" i="1" smtClean="0">
                              <a:latin typeface="Cambria Math"/>
                            </a:rPr>
                            <m:t>𝑦</m:t>
                          </m:r>
                        </m:e>
                      </m:acc>
                      <m:r>
                        <a:rPr lang="pt-BR" b="0" i="1" smtClean="0">
                          <a:latin typeface="Cambria Math"/>
                        </a:rPr>
                        <m:t>(</m:t>
                      </m:r>
                      <m:r>
                        <a:rPr lang="es-CO" b="0" i="1" smtClean="0">
                          <a:latin typeface="Cambria Math"/>
                        </a:rPr>
                        <m:t>𝑡</m:t>
                      </m:r>
                      <m:r>
                        <a:rPr lang="es-CO" b="0" i="1" smtClean="0">
                          <a:latin typeface="Cambria Math"/>
                        </a:rPr>
                        <m:t>+</m:t>
                      </m:r>
                      <m:sSub>
                        <m:sSubPr>
                          <m:ctrlPr>
                            <a:rPr lang="es-CO" b="0" i="1" smtClean="0">
                              <a:latin typeface="Cambria Math" panose="02040503050406030204" pitchFamily="18" charset="0"/>
                            </a:rPr>
                          </m:ctrlPr>
                        </m:sSubPr>
                        <m:e>
                          <m:r>
                            <a:rPr lang="es-CO" b="0" i="1" smtClean="0">
                              <a:latin typeface="Cambria Math"/>
                            </a:rPr>
                            <m:t>𝐿</m:t>
                          </m:r>
                        </m:e>
                        <m:sub>
                          <m:r>
                            <a:rPr lang="es-CO" b="0" i="1" smtClean="0">
                              <a:latin typeface="Cambria Math"/>
                            </a:rPr>
                            <m:t>𝑛</m:t>
                          </m:r>
                        </m:sub>
                      </m:sSub>
                      <m:r>
                        <a:rPr lang="pt-BR" b="0" i="1" smtClean="0">
                          <a:latin typeface="Cambria Math"/>
                        </a:rPr>
                        <m:t>)</m:t>
                      </m:r>
                    </m:oMath>
                  </m:oMathPara>
                </a14:m>
                <a:endParaRPr lang="es-CO" b="1" i="1" dirty="0"/>
              </a:p>
            </p:txBody>
          </p:sp>
        </mc:Choice>
        <mc:Fallback xmlns="">
          <p:sp>
            <p:nvSpPr>
              <p:cNvPr id="38" name="39 Rectángulo"/>
              <p:cNvSpPr>
                <a:spLocks noRot="1" noChangeAspect="1" noMove="1" noResize="1" noEditPoints="1" noAdjustHandles="1" noChangeArrowheads="1" noChangeShapeType="1" noTextEdit="1"/>
              </p:cNvSpPr>
              <p:nvPr/>
            </p:nvSpPr>
            <p:spPr>
              <a:xfrm>
                <a:off x="1993840" y="3529586"/>
                <a:ext cx="1181349" cy="369332"/>
              </a:xfrm>
              <a:prstGeom prst="rect">
                <a:avLst/>
              </a:prstGeom>
              <a:blipFill rotWithShape="0">
                <a:blip r:embed="rId14"/>
                <a:stretch>
                  <a:fillRect t="-6557" b="-11475"/>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9" name="40 Rectángulo"/>
              <p:cNvSpPr/>
              <p:nvPr/>
            </p:nvSpPr>
            <p:spPr>
              <a:xfrm>
                <a:off x="6757616" y="3009131"/>
                <a:ext cx="660757"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es-CO" b="0" i="1" smtClean="0">
                              <a:latin typeface="Cambria Math" panose="02040503050406030204" pitchFamily="18" charset="0"/>
                            </a:rPr>
                          </m:ctrlPr>
                        </m:accPr>
                        <m:e>
                          <m:r>
                            <a:rPr lang="es-CO" b="0" i="1" smtClean="0">
                              <a:latin typeface="Cambria Math"/>
                            </a:rPr>
                            <m:t>𝑦</m:t>
                          </m:r>
                        </m:e>
                      </m:acc>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9" name="40 Rectángulo"/>
              <p:cNvSpPr>
                <a:spLocks noRot="1" noChangeAspect="1" noMove="1" noResize="1" noEditPoints="1" noAdjustHandles="1" noChangeArrowheads="1" noChangeShapeType="1" noTextEdit="1"/>
              </p:cNvSpPr>
              <p:nvPr/>
            </p:nvSpPr>
            <p:spPr>
              <a:xfrm>
                <a:off x="6757616" y="3009131"/>
                <a:ext cx="660757" cy="369332"/>
              </a:xfrm>
              <a:prstGeom prst="rect">
                <a:avLst/>
              </a:prstGeom>
              <a:blipFill rotWithShape="0">
                <a:blip r:embed="rId15"/>
                <a:stretch>
                  <a:fillRect t="-6667" b="-13333"/>
                </a:stretch>
              </a:blipFill>
            </p:spPr>
            <p:txBody>
              <a:bodyPr/>
              <a:lstStyle/>
              <a:p>
                <a:r>
                  <a:rPr lang="es-CO">
                    <a:noFill/>
                  </a:rPr>
                  <a:t> </a:t>
                </a:r>
              </a:p>
            </p:txBody>
          </p:sp>
        </mc:Fallback>
      </mc:AlternateContent>
      <p:cxnSp>
        <p:nvCxnSpPr>
          <p:cNvPr id="40" name="56 Conector recto de flecha"/>
          <p:cNvCxnSpPr/>
          <p:nvPr/>
        </p:nvCxnSpPr>
        <p:spPr>
          <a:xfrm>
            <a:off x="4483716" y="2575486"/>
            <a:ext cx="0" cy="886739"/>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sp>
        <p:nvSpPr>
          <p:cNvPr id="41" name="63 Elipse"/>
          <p:cNvSpPr/>
          <p:nvPr/>
        </p:nvSpPr>
        <p:spPr>
          <a:xfrm>
            <a:off x="1156071" y="2349576"/>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dirty="0"/>
              <a:t>+</a:t>
            </a:r>
            <a:endParaRPr lang="es-CO" dirty="0"/>
          </a:p>
        </p:txBody>
      </p:sp>
      <p:cxnSp>
        <p:nvCxnSpPr>
          <p:cNvPr id="42" name="69 Conector recto de flecha"/>
          <p:cNvCxnSpPr/>
          <p:nvPr/>
        </p:nvCxnSpPr>
        <p:spPr>
          <a:xfrm>
            <a:off x="1493063" y="2854907"/>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p:cxnSp>
        <p:nvCxnSpPr>
          <p:cNvPr id="43" name="73 Conector recto de flecha"/>
          <p:cNvCxnSpPr>
            <a:stCxn id="41" idx="6"/>
            <a:endCxn id="8" idx="2"/>
          </p:cNvCxnSpPr>
          <p:nvPr/>
        </p:nvCxnSpPr>
        <p:spPr>
          <a:xfrm>
            <a:off x="1588119" y="2565600"/>
            <a:ext cx="665181" cy="162"/>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44" name="77 Conector recto de flecha"/>
          <p:cNvCxnSpPr>
            <a:endCxn id="35" idx="1"/>
          </p:cNvCxnSpPr>
          <p:nvPr/>
        </p:nvCxnSpPr>
        <p:spPr>
          <a:xfrm>
            <a:off x="2469324" y="3462226"/>
            <a:ext cx="579119" cy="0"/>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5" name="92 Rectángulo"/>
              <p:cNvSpPr/>
              <p:nvPr/>
            </p:nvSpPr>
            <p:spPr>
              <a:xfrm>
                <a:off x="2212285" y="1588311"/>
                <a:ext cx="690061" cy="375039"/>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pt-BR" b="0" i="1" smtClean="0">
                              <a:latin typeface="Cambria Math" panose="02040503050406030204" pitchFamily="18" charset="0"/>
                            </a:rPr>
                          </m:ctrlPr>
                        </m:accPr>
                        <m:e>
                          <m:r>
                            <a:rPr lang="es-CO" b="0" i="1" smtClean="0">
                              <a:latin typeface="Cambria Math"/>
                            </a:rPr>
                            <m:t>𝐶</m:t>
                          </m:r>
                        </m:e>
                      </m:acc>
                      <m:r>
                        <a:rPr lang="pt-BR" b="0" i="1" smtClean="0">
                          <a:latin typeface="Cambria Math"/>
                        </a:rPr>
                        <m:t>(</m:t>
                      </m:r>
                      <m:r>
                        <a:rPr lang="es-CO" b="0" i="1" smtClean="0">
                          <a:latin typeface="Cambria Math"/>
                        </a:rPr>
                        <m:t>𝑠</m:t>
                      </m:r>
                      <m:r>
                        <a:rPr lang="pt-BR" b="0" i="1" smtClean="0">
                          <a:latin typeface="Cambria Math"/>
                        </a:rPr>
                        <m:t>)</m:t>
                      </m:r>
                    </m:oMath>
                  </m:oMathPara>
                </a14:m>
                <a:endParaRPr lang="es-CO" b="1" i="1" dirty="0"/>
              </a:p>
            </p:txBody>
          </p:sp>
        </mc:Choice>
        <mc:Fallback xmlns="">
          <p:sp>
            <p:nvSpPr>
              <p:cNvPr id="45" name="92 Rectángulo"/>
              <p:cNvSpPr>
                <a:spLocks noRot="1" noChangeAspect="1" noMove="1" noResize="1" noEditPoints="1" noAdjustHandles="1" noChangeArrowheads="1" noChangeShapeType="1" noTextEdit="1"/>
              </p:cNvSpPr>
              <p:nvPr/>
            </p:nvSpPr>
            <p:spPr>
              <a:xfrm>
                <a:off x="2212285" y="1588311"/>
                <a:ext cx="690061" cy="375039"/>
              </a:xfrm>
              <a:prstGeom prst="rect">
                <a:avLst/>
              </a:prstGeom>
              <a:blipFill rotWithShape="0">
                <a:blip r:embed="rId16"/>
                <a:stretch>
                  <a:fillRect t="-4918" b="-13115"/>
                </a:stretch>
              </a:blipFill>
            </p:spPr>
            <p:txBody>
              <a:bodyPr/>
              <a:lstStyle/>
              <a:p>
                <a:r>
                  <a:rPr lang="es-CO">
                    <a:noFill/>
                  </a:rPr>
                  <a:t> </a:t>
                </a:r>
              </a:p>
            </p:txBody>
          </p:sp>
        </mc:Fallback>
      </mc:AlternateContent>
      <p:pic>
        <p:nvPicPr>
          <p:cNvPr id="46" name="Imagem 45"/>
          <p:cNvPicPr>
            <a:picLocks noChangeAspect="1"/>
          </p:cNvPicPr>
          <p:nvPr>
            <p:custDataLst>
              <p:tags r:id="rId1"/>
            </p:custDataLst>
          </p:nvPr>
        </p:nvPicPr>
        <p:blipFill>
          <a:blip r:embed="rId17" cstate="print">
            <a:extLst>
              <a:ext uri="{28A0092B-C50C-407E-A947-70E740481C1C}">
                <a14:useLocalDpi xmlns:a14="http://schemas.microsoft.com/office/drawing/2010/main" val="0"/>
              </a:ext>
            </a:extLst>
          </a:blip>
          <a:stretch>
            <a:fillRect/>
          </a:stretch>
        </p:blipFill>
        <p:spPr>
          <a:xfrm>
            <a:off x="8506566" y="3378463"/>
            <a:ext cx="3091815" cy="748665"/>
          </a:xfrm>
          <a:prstGeom prst="rect">
            <a:avLst/>
          </a:prstGeom>
        </p:spPr>
      </p:pic>
    </p:spTree>
    <p:extLst>
      <p:ext uri="{BB962C8B-B14F-4D97-AF65-F5344CB8AC3E}">
        <p14:creationId xmlns:p14="http://schemas.microsoft.com/office/powerpoint/2010/main" val="2299990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fade">
                                      <p:cBhvr>
                                        <p:cTn id="22" dur="500"/>
                                        <p:tgtEl>
                                          <p:spTgt spid="44"/>
                                        </p:tgtEl>
                                      </p:cBhvr>
                                    </p:animEffect>
                                  </p:childTnLst>
                                </p:cTn>
                              </p:par>
                              <p:par>
                                <p:cTn id="23" presetID="10"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3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mtClean="0"/>
              <a:pPr/>
              <a:t>20</a:t>
            </a:fld>
            <a:endParaRPr lang="en-US"/>
          </a:p>
        </p:txBody>
      </p:sp>
      <p:pic>
        <p:nvPicPr>
          <p:cNvPr id="4" name="Picture 4"/>
          <p:cNvPicPr>
            <a:picLocks noChangeAspect="1" noChangeArrowheads="1"/>
          </p:cNvPicPr>
          <p:nvPr/>
        </p:nvPicPr>
        <p:blipFill>
          <a:blip r:embed="rId3"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1985159"/>
          </a:xfrm>
          <a:prstGeom prst="rect">
            <a:avLst/>
          </a:prstGeom>
          <a:noFill/>
        </p:spPr>
        <p:txBody>
          <a:bodyPr wrap="square" rtlCol="0">
            <a:spAutoFit/>
          </a:bodyPr>
          <a:lstStyle/>
          <a:p>
            <a:pPr algn="ctr"/>
            <a:r>
              <a:rPr lang="es-CO" sz="3600" b="1" dirty="0">
                <a:solidFill>
                  <a:schemeClr val="bg1"/>
                </a:solidFill>
              </a:rPr>
              <a:t>PREDICTOR DE SMITH</a:t>
            </a:r>
            <a:endParaRPr lang="es-CO" sz="4800" b="1" i="1" dirty="0">
              <a:solidFill>
                <a:schemeClr val="bg1"/>
              </a:solidFill>
            </a:endParaRPr>
          </a:p>
          <a:p>
            <a:pPr algn="ctr"/>
            <a:endParaRPr lang="pt-BR" sz="36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mc:AlternateContent xmlns:mc="http://schemas.openxmlformats.org/markup-compatibility/2006" xmlns:a14="http://schemas.microsoft.com/office/drawing/2010/main">
        <mc:Choice Requires="a14">
          <p:sp>
            <p:nvSpPr>
              <p:cNvPr id="9" name="2 Rectángulo"/>
              <p:cNvSpPr/>
              <p:nvPr/>
            </p:nvSpPr>
            <p:spPr>
              <a:xfrm>
                <a:off x="3144466" y="2313733"/>
                <a:ext cx="64807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pt-BR" i="1">
                              <a:latin typeface="Cambria Math" panose="02040503050406030204" pitchFamily="18" charset="0"/>
                            </a:rPr>
                          </m:ctrlPr>
                        </m:accPr>
                        <m:e>
                          <m:r>
                            <a:rPr lang="es-CO" i="1">
                              <a:latin typeface="Cambria Math"/>
                            </a:rPr>
                            <m:t>𝐶</m:t>
                          </m:r>
                        </m:e>
                      </m:acc>
                      <m:r>
                        <a:rPr lang="pt-BR" i="1">
                          <a:latin typeface="Cambria Math"/>
                        </a:rPr>
                        <m:t>(</m:t>
                      </m:r>
                      <m:r>
                        <a:rPr lang="es-CO" i="1">
                          <a:latin typeface="Cambria Math"/>
                        </a:rPr>
                        <m:t>𝑠</m:t>
                      </m:r>
                      <m:r>
                        <a:rPr lang="pt-BR" i="1">
                          <a:latin typeface="Cambria Math"/>
                        </a:rPr>
                        <m:t>)</m:t>
                      </m:r>
                    </m:oMath>
                  </m:oMathPara>
                </a14:m>
                <a:endParaRPr lang="es-CO" b="1" i="1" dirty="0"/>
              </a:p>
            </p:txBody>
          </p:sp>
        </mc:Choice>
        <mc:Fallback xmlns="">
          <p:sp>
            <p:nvSpPr>
              <p:cNvPr id="9" name="2 Rectángulo"/>
              <p:cNvSpPr>
                <a:spLocks noRot="1" noChangeAspect="1" noMove="1" noResize="1" noEditPoints="1" noAdjustHandles="1" noChangeArrowheads="1" noChangeShapeType="1" noTextEdit="1"/>
              </p:cNvSpPr>
              <p:nvPr/>
            </p:nvSpPr>
            <p:spPr>
              <a:xfrm>
                <a:off x="3144466" y="2313733"/>
                <a:ext cx="648072" cy="504055"/>
              </a:xfrm>
              <a:prstGeom prst="rect">
                <a:avLst/>
              </a:prstGeom>
              <a:blipFill rotWithShape="0">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 name="4 Rectángulo"/>
              <p:cNvSpPr/>
              <p:nvPr/>
            </p:nvSpPr>
            <p:spPr>
              <a:xfrm>
                <a:off x="5037030" y="2313576"/>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b="0" i="0" smtClean="0">
                          <a:latin typeface="Cambria Math"/>
                        </a:rPr>
                        <m:t>P</m:t>
                      </m:r>
                      <m:r>
                        <a:rPr lang="pt-BR" b="0" i="0" smtClean="0">
                          <a:latin typeface="Cambria Math"/>
                        </a:rPr>
                        <m:t>(</m:t>
                      </m:r>
                      <m:r>
                        <m:rPr>
                          <m:sty m:val="p"/>
                        </m:rPr>
                        <a:rPr lang="es-CO" b="0" i="0" smtClean="0">
                          <a:latin typeface="Cambria Math"/>
                        </a:rPr>
                        <m:t>s</m:t>
                      </m:r>
                      <m:r>
                        <a:rPr lang="pt-BR" b="0" i="0" smtClean="0">
                          <a:latin typeface="Cambria Math"/>
                        </a:rPr>
                        <m:t>)</m:t>
                      </m:r>
                    </m:oMath>
                  </m:oMathPara>
                </a14:m>
                <a:endParaRPr lang="es-CO" b="1" dirty="0"/>
              </a:p>
            </p:txBody>
          </p:sp>
        </mc:Choice>
        <mc:Fallback xmlns="">
          <p:sp>
            <p:nvSpPr>
              <p:cNvPr id="10" name="4 Rectángulo"/>
              <p:cNvSpPr>
                <a:spLocks noRot="1" noChangeAspect="1" noMove="1" noResize="1" noEditPoints="1" noAdjustHandles="1" noChangeArrowheads="1" noChangeShapeType="1" noTextEdit="1"/>
              </p:cNvSpPr>
              <p:nvPr/>
            </p:nvSpPr>
            <p:spPr>
              <a:xfrm>
                <a:off x="5037030" y="2313576"/>
                <a:ext cx="792088" cy="504055"/>
              </a:xfrm>
              <a:prstGeom prst="rect">
                <a:avLst/>
              </a:prstGeom>
              <a:blipFill rotWithShape="0">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1" name="5 Rectángulo"/>
              <p:cNvSpPr/>
              <p:nvPr/>
            </p:nvSpPr>
            <p:spPr>
              <a:xfrm>
                <a:off x="5037028" y="3200475"/>
                <a:ext cx="1597225"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CO" i="1" smtClean="0">
                              <a:latin typeface="Cambria Math" panose="02040503050406030204" pitchFamily="18" charset="0"/>
                            </a:rPr>
                          </m:ctrlPr>
                        </m:sSupPr>
                        <m:e>
                          <m:sSub>
                            <m:sSubPr>
                              <m:ctrlPr>
                                <a:rPr lang="es-CO" i="1" smtClean="0">
                                  <a:latin typeface="Cambria Math" panose="02040503050406030204" pitchFamily="18" charset="0"/>
                                </a:rPr>
                              </m:ctrlPr>
                            </m:sSubPr>
                            <m:e>
                              <m:r>
                                <a:rPr lang="es-CO" b="0" i="1" smtClean="0">
                                  <a:latin typeface="Cambria Math"/>
                                </a:rPr>
                                <m:t>𝑃</m:t>
                              </m:r>
                            </m:e>
                            <m:sub>
                              <m:r>
                                <a:rPr lang="es-CO" b="0" i="1" smtClean="0">
                                  <a:latin typeface="Cambria Math"/>
                                </a:rPr>
                                <m:t>𝑛</m:t>
                              </m:r>
                            </m:sub>
                          </m:sSub>
                          <m:r>
                            <a:rPr lang="es-CO" b="0" i="1" smtClean="0">
                              <a:latin typeface="Cambria Math"/>
                            </a:rPr>
                            <m:t>=</m:t>
                          </m:r>
                          <m:sSub>
                            <m:sSubPr>
                              <m:ctrlPr>
                                <a:rPr lang="es-CO" i="1">
                                  <a:latin typeface="Cambria Math" panose="02040503050406030204" pitchFamily="18" charset="0"/>
                                </a:rPr>
                              </m:ctrlPr>
                            </m:sSubPr>
                            <m:e>
                              <m:r>
                                <a:rPr lang="pt-BR" i="1">
                                  <a:latin typeface="Cambria Math" panose="02040503050406030204" pitchFamily="18" charset="0"/>
                                </a:rPr>
                                <m:t>𝐺</m:t>
                              </m:r>
                            </m:e>
                            <m:sub>
                              <m:r>
                                <a:rPr lang="pt-BR" i="1">
                                  <a:latin typeface="Cambria Math" panose="02040503050406030204" pitchFamily="18" charset="0"/>
                                </a:rPr>
                                <m:t>𝑛</m:t>
                              </m:r>
                            </m:sub>
                          </m:sSub>
                          <m:r>
                            <a:rPr lang="es-CO" b="0" i="1" smtClean="0">
                              <a:latin typeface="Cambria Math"/>
                            </a:rPr>
                            <m:t>𝑒</m:t>
                          </m:r>
                        </m:e>
                        <m:sup>
                          <m:r>
                            <a:rPr lang="pt-BR" b="0" i="1" smtClean="0">
                              <a:latin typeface="Cambria Math" panose="02040503050406030204" pitchFamily="18" charset="0"/>
                            </a:rPr>
                            <m:t>−</m:t>
                          </m:r>
                          <m:sSub>
                            <m:sSubPr>
                              <m:ctrlPr>
                                <a:rPr lang="es-CO" i="1" smtClean="0">
                                  <a:latin typeface="Cambria Math" panose="02040503050406030204" pitchFamily="18" charset="0"/>
                                </a:rPr>
                              </m:ctrlPr>
                            </m:sSubPr>
                            <m:e>
                              <m:r>
                                <a:rPr lang="es-CO" b="0" i="1" smtClean="0">
                                  <a:latin typeface="Cambria Math"/>
                                </a:rPr>
                                <m:t>𝐿</m:t>
                              </m:r>
                            </m:e>
                            <m:sub>
                              <m:r>
                                <a:rPr lang="es-CO" b="0" i="1" smtClean="0">
                                  <a:latin typeface="Cambria Math"/>
                                </a:rPr>
                                <m:t>𝑛</m:t>
                              </m:r>
                            </m:sub>
                          </m:sSub>
                          <m:r>
                            <a:rPr lang="es-CO" b="0" i="1" smtClean="0">
                              <a:latin typeface="Cambria Math"/>
                            </a:rPr>
                            <m:t>𝑠</m:t>
                          </m:r>
                        </m:sup>
                      </m:sSup>
                    </m:oMath>
                  </m:oMathPara>
                </a14:m>
                <a:endParaRPr lang="es-CO" b="1" dirty="0"/>
              </a:p>
            </p:txBody>
          </p:sp>
        </mc:Choice>
        <mc:Fallback xmlns="">
          <p:sp>
            <p:nvSpPr>
              <p:cNvPr id="11" name="5 Rectángulo"/>
              <p:cNvSpPr>
                <a:spLocks noRot="1" noChangeAspect="1" noMove="1" noResize="1" noEditPoints="1" noAdjustHandles="1" noChangeArrowheads="1" noChangeShapeType="1" noTextEdit="1"/>
              </p:cNvSpPr>
              <p:nvPr/>
            </p:nvSpPr>
            <p:spPr>
              <a:xfrm>
                <a:off x="5037028" y="3200475"/>
                <a:ext cx="1597225" cy="504055"/>
              </a:xfrm>
              <a:prstGeom prst="rect">
                <a:avLst/>
              </a:prstGeom>
              <a:blipFill rotWithShape="0">
                <a:blip r:embed="rId6"/>
                <a:stretch>
                  <a:fillRect/>
                </a:stretch>
              </a:blipFill>
            </p:spPr>
            <p:txBody>
              <a:bodyPr/>
              <a:lstStyle/>
              <a:p>
                <a:r>
                  <a:rPr lang="es-CO">
                    <a:noFill/>
                  </a:rPr>
                  <a:t> </a:t>
                </a:r>
              </a:p>
            </p:txBody>
          </p:sp>
        </mc:Fallback>
      </mc:AlternateContent>
      <p:sp>
        <p:nvSpPr>
          <p:cNvPr id="12" name="6 Elipse"/>
          <p:cNvSpPr/>
          <p:nvPr/>
        </p:nvSpPr>
        <p:spPr>
          <a:xfrm>
            <a:off x="6243278" y="2349737"/>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dirty="0"/>
              <a:t>+</a:t>
            </a:r>
            <a:endParaRPr lang="es-CO" dirty="0"/>
          </a:p>
        </p:txBody>
      </p:sp>
      <p:sp>
        <p:nvSpPr>
          <p:cNvPr id="13" name="7 Elipse"/>
          <p:cNvSpPr/>
          <p:nvPr/>
        </p:nvSpPr>
        <p:spPr>
          <a:xfrm>
            <a:off x="7325711" y="3236479"/>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dirty="0"/>
              <a:t>+</a:t>
            </a:r>
            <a:endParaRPr lang="es-CO" dirty="0"/>
          </a:p>
        </p:txBody>
      </p:sp>
      <p:cxnSp>
        <p:nvCxnSpPr>
          <p:cNvPr id="14" name="8 Conector recto de flecha"/>
          <p:cNvCxnSpPr>
            <a:endCxn id="41" idx="2"/>
          </p:cNvCxnSpPr>
          <p:nvPr/>
        </p:nvCxnSpPr>
        <p:spPr>
          <a:xfrm>
            <a:off x="502597" y="2565600"/>
            <a:ext cx="653474"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6" name="10 Conector recto de flecha"/>
          <p:cNvCxnSpPr>
            <a:stCxn id="9" idx="3"/>
            <a:endCxn id="10" idx="1"/>
          </p:cNvCxnSpPr>
          <p:nvPr/>
        </p:nvCxnSpPr>
        <p:spPr>
          <a:xfrm flipV="1">
            <a:off x="3792538" y="2565604"/>
            <a:ext cx="1244492" cy="15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7" name="13 Conector recto de flecha"/>
          <p:cNvCxnSpPr>
            <a:stCxn id="10" idx="3"/>
            <a:endCxn id="12" idx="2"/>
          </p:cNvCxnSpPr>
          <p:nvPr/>
        </p:nvCxnSpPr>
        <p:spPr>
          <a:xfrm>
            <a:off x="5829117" y="2565600"/>
            <a:ext cx="414160"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8" name="14 Conector recto de flecha"/>
          <p:cNvCxnSpPr>
            <a:stCxn id="12" idx="6"/>
          </p:cNvCxnSpPr>
          <p:nvPr/>
        </p:nvCxnSpPr>
        <p:spPr>
          <a:xfrm>
            <a:off x="6675326" y="2565760"/>
            <a:ext cx="1365683"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9" name="15 Conector recto de flecha"/>
          <p:cNvCxnSpPr>
            <a:endCxn id="13" idx="0"/>
          </p:cNvCxnSpPr>
          <p:nvPr/>
        </p:nvCxnSpPr>
        <p:spPr>
          <a:xfrm>
            <a:off x="7541735" y="2565762"/>
            <a:ext cx="0" cy="670716"/>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1" name="17 Conector recto de flecha"/>
          <p:cNvCxnSpPr>
            <a:endCxn id="11" idx="1"/>
          </p:cNvCxnSpPr>
          <p:nvPr/>
        </p:nvCxnSpPr>
        <p:spPr>
          <a:xfrm>
            <a:off x="4483716" y="3452502"/>
            <a:ext cx="553312" cy="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2" name="20 Conector recto de flecha"/>
          <p:cNvCxnSpPr>
            <a:endCxn id="41" idx="4"/>
          </p:cNvCxnSpPr>
          <p:nvPr/>
        </p:nvCxnSpPr>
        <p:spPr>
          <a:xfrm flipV="1">
            <a:off x="1372095" y="2781624"/>
            <a:ext cx="0" cy="145333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3" name="21 Conector recto de flecha"/>
          <p:cNvCxnSpPr>
            <a:stCxn id="13" idx="4"/>
          </p:cNvCxnSpPr>
          <p:nvPr/>
        </p:nvCxnSpPr>
        <p:spPr>
          <a:xfrm>
            <a:off x="7541735" y="3668527"/>
            <a:ext cx="0" cy="566435"/>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4" name="22 Conector recto de flecha"/>
          <p:cNvCxnSpPr>
            <a:endCxn id="12" idx="0"/>
          </p:cNvCxnSpPr>
          <p:nvPr/>
        </p:nvCxnSpPr>
        <p:spPr>
          <a:xfrm>
            <a:off x="6459302" y="1741059"/>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5" name="23 Conector recto de flecha"/>
          <p:cNvCxnSpPr>
            <a:stCxn id="11" idx="3"/>
            <a:endCxn id="13" idx="2"/>
          </p:cNvCxnSpPr>
          <p:nvPr/>
        </p:nvCxnSpPr>
        <p:spPr>
          <a:xfrm>
            <a:off x="6634253" y="3452503"/>
            <a:ext cx="691458"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6" name="24 Conector recto de flecha"/>
          <p:cNvCxnSpPr/>
          <p:nvPr/>
        </p:nvCxnSpPr>
        <p:spPr>
          <a:xfrm>
            <a:off x="1372095" y="4234962"/>
            <a:ext cx="6169640" cy="2"/>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9" name="28 Conector recto de flecha"/>
          <p:cNvCxnSpPr/>
          <p:nvPr/>
        </p:nvCxnSpPr>
        <p:spPr>
          <a:xfrm>
            <a:off x="7181695" y="3661807"/>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0" name="29 Rectángulo"/>
              <p:cNvSpPr/>
              <p:nvPr/>
            </p:nvSpPr>
            <p:spPr>
              <a:xfrm>
                <a:off x="508829" y="2133780"/>
                <a:ext cx="641008"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b="0" i="1" smtClean="0">
                          <a:latin typeface="Cambria Math"/>
                        </a:rPr>
                        <m:t>𝑟</m:t>
                      </m:r>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0" name="29 Rectángulo"/>
              <p:cNvSpPr>
                <a:spLocks noRot="1" noChangeAspect="1" noMove="1" noResize="1" noEditPoints="1" noAdjustHandles="1" noChangeArrowheads="1" noChangeShapeType="1" noTextEdit="1"/>
              </p:cNvSpPr>
              <p:nvPr/>
            </p:nvSpPr>
            <p:spPr>
              <a:xfrm>
                <a:off x="508829" y="2133780"/>
                <a:ext cx="641008" cy="369332"/>
              </a:xfrm>
              <a:prstGeom prst="rect">
                <a:avLst/>
              </a:prstGeom>
              <a:blipFill rotWithShape="0">
                <a:blip r:embed="rId7"/>
                <a:stretch>
                  <a:fillRect b="-13115"/>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1" name="30 Rectángulo"/>
              <p:cNvSpPr/>
              <p:nvPr/>
            </p:nvSpPr>
            <p:spPr>
              <a:xfrm>
                <a:off x="1537456" y="2169330"/>
                <a:ext cx="645818"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b="0" i="1" smtClean="0">
                          <a:latin typeface="Cambria Math"/>
                        </a:rPr>
                        <m:t>𝑒</m:t>
                      </m:r>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1" name="30 Rectángulo"/>
              <p:cNvSpPr>
                <a:spLocks noRot="1" noChangeAspect="1" noMove="1" noResize="1" noEditPoints="1" noAdjustHandles="1" noChangeArrowheads="1" noChangeShapeType="1" noTextEdit="1"/>
              </p:cNvSpPr>
              <p:nvPr/>
            </p:nvSpPr>
            <p:spPr>
              <a:xfrm>
                <a:off x="1537456" y="2169330"/>
                <a:ext cx="645818" cy="369332"/>
              </a:xfrm>
              <a:prstGeom prst="rect">
                <a:avLst/>
              </a:prstGeom>
              <a:blipFill rotWithShape="0">
                <a:blip r:embed="rId8"/>
                <a:stretch>
                  <a:fillRect b="-1333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2" name="31 Rectángulo"/>
              <p:cNvSpPr/>
              <p:nvPr/>
            </p:nvSpPr>
            <p:spPr>
              <a:xfrm>
                <a:off x="4323867" y="2180461"/>
                <a:ext cx="665823"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b="0" i="1" smtClean="0">
                          <a:latin typeface="Cambria Math"/>
                        </a:rPr>
                        <m:t>𝑢</m:t>
                      </m:r>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2" name="31 Rectángulo"/>
              <p:cNvSpPr>
                <a:spLocks noRot="1" noChangeAspect="1" noMove="1" noResize="1" noEditPoints="1" noAdjustHandles="1" noChangeArrowheads="1" noChangeShapeType="1" noTextEdit="1"/>
              </p:cNvSpPr>
              <p:nvPr/>
            </p:nvSpPr>
            <p:spPr>
              <a:xfrm>
                <a:off x="4323867" y="2180461"/>
                <a:ext cx="665823" cy="369332"/>
              </a:xfrm>
              <a:prstGeom prst="rect">
                <a:avLst/>
              </a:prstGeom>
              <a:blipFill rotWithShape="0">
                <a:blip r:embed="rId9"/>
                <a:stretch>
                  <a:fillRect b="-1333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3" name="33 Rectángulo"/>
              <p:cNvSpPr/>
              <p:nvPr/>
            </p:nvSpPr>
            <p:spPr>
              <a:xfrm>
                <a:off x="6426074" y="1571780"/>
                <a:ext cx="762003"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r>
                            <a:rPr lang="pt-BR" b="0" i="1" smtClean="0">
                              <a:latin typeface="Cambria Math"/>
                            </a:rPr>
                            <m:t>𝑛</m:t>
                          </m:r>
                        </m:e>
                        <m:sub>
                          <m:r>
                            <a:rPr lang="pt-BR" b="0" i="1" smtClean="0">
                              <a:latin typeface="Cambria Math"/>
                            </a:rPr>
                            <m:t>1</m:t>
                          </m:r>
                        </m:sub>
                      </m:sSub>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3" name="33 Rectángulo"/>
              <p:cNvSpPr>
                <a:spLocks noRot="1" noChangeAspect="1" noMove="1" noResize="1" noEditPoints="1" noAdjustHandles="1" noChangeArrowheads="1" noChangeShapeType="1" noTextEdit="1"/>
              </p:cNvSpPr>
              <p:nvPr/>
            </p:nvSpPr>
            <p:spPr>
              <a:xfrm>
                <a:off x="6426074" y="1571780"/>
                <a:ext cx="762003" cy="369332"/>
              </a:xfrm>
              <a:prstGeom prst="rect">
                <a:avLst/>
              </a:prstGeom>
              <a:blipFill rotWithShape="0">
                <a:blip r:embed="rId10"/>
                <a:stretch>
                  <a:fillRect b="-1333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4" name="35 Rectángulo"/>
              <p:cNvSpPr/>
              <p:nvPr/>
            </p:nvSpPr>
            <p:spPr>
              <a:xfrm>
                <a:off x="7014324" y="2144296"/>
                <a:ext cx="660757"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b="0" i="1" smtClean="0">
                          <a:latin typeface="Cambria Math"/>
                        </a:rPr>
                        <m:t>𝑦</m:t>
                      </m:r>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4" name="35 Rectángulo"/>
              <p:cNvSpPr>
                <a:spLocks noRot="1" noChangeAspect="1" noMove="1" noResize="1" noEditPoints="1" noAdjustHandles="1" noChangeArrowheads="1" noChangeShapeType="1" noTextEdit="1"/>
              </p:cNvSpPr>
              <p:nvPr/>
            </p:nvSpPr>
            <p:spPr>
              <a:xfrm>
                <a:off x="7014324" y="2144296"/>
                <a:ext cx="660757" cy="369332"/>
              </a:xfrm>
              <a:prstGeom prst="rect">
                <a:avLst/>
              </a:prstGeom>
              <a:blipFill rotWithShape="0">
                <a:blip r:embed="rId11"/>
                <a:stretch>
                  <a:fillRect b="-1333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7" name="38 Rectángulo"/>
              <p:cNvSpPr/>
              <p:nvPr/>
            </p:nvSpPr>
            <p:spPr>
              <a:xfrm>
                <a:off x="1537948" y="4185554"/>
                <a:ext cx="660309"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s-CO" b="0" i="1" smtClean="0">
                          <a:latin typeface="Cambria Math"/>
                        </a:rPr>
                        <m:t>𝑓</m:t>
                      </m:r>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7" name="38 Rectángulo"/>
              <p:cNvSpPr>
                <a:spLocks noRot="1" noChangeAspect="1" noMove="1" noResize="1" noEditPoints="1" noAdjustHandles="1" noChangeArrowheads="1" noChangeShapeType="1" noTextEdit="1"/>
              </p:cNvSpPr>
              <p:nvPr/>
            </p:nvSpPr>
            <p:spPr>
              <a:xfrm>
                <a:off x="1537948" y="4185554"/>
                <a:ext cx="660309" cy="369332"/>
              </a:xfrm>
              <a:prstGeom prst="rect">
                <a:avLst/>
              </a:prstGeom>
              <a:blipFill rotWithShape="0">
                <a:blip r:embed="rId12"/>
                <a:stretch>
                  <a:fillRect l="-1835" b="-1333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9" name="40 Rectángulo"/>
              <p:cNvSpPr/>
              <p:nvPr/>
            </p:nvSpPr>
            <p:spPr>
              <a:xfrm>
                <a:off x="6757616" y="3009131"/>
                <a:ext cx="660757" cy="369332"/>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es-CO" b="0" i="1" smtClean="0">
                              <a:latin typeface="Cambria Math" panose="02040503050406030204" pitchFamily="18" charset="0"/>
                            </a:rPr>
                          </m:ctrlPr>
                        </m:accPr>
                        <m:e>
                          <m:r>
                            <a:rPr lang="es-CO" b="0" i="1" smtClean="0">
                              <a:latin typeface="Cambria Math"/>
                            </a:rPr>
                            <m:t>𝑦</m:t>
                          </m:r>
                        </m:e>
                      </m:acc>
                      <m:r>
                        <a:rPr lang="pt-BR" b="0" i="1" smtClean="0">
                          <a:latin typeface="Cambria Math"/>
                        </a:rPr>
                        <m:t>(</m:t>
                      </m:r>
                      <m:r>
                        <a:rPr lang="es-CO" b="0" i="1" smtClean="0">
                          <a:latin typeface="Cambria Math"/>
                        </a:rPr>
                        <m:t>𝑡</m:t>
                      </m:r>
                      <m:r>
                        <a:rPr lang="pt-BR" b="0" i="1" smtClean="0">
                          <a:latin typeface="Cambria Math"/>
                        </a:rPr>
                        <m:t>)</m:t>
                      </m:r>
                    </m:oMath>
                  </m:oMathPara>
                </a14:m>
                <a:endParaRPr lang="es-CO" b="1" i="1" dirty="0"/>
              </a:p>
            </p:txBody>
          </p:sp>
        </mc:Choice>
        <mc:Fallback xmlns="">
          <p:sp>
            <p:nvSpPr>
              <p:cNvPr id="39" name="40 Rectángulo"/>
              <p:cNvSpPr>
                <a:spLocks noRot="1" noChangeAspect="1" noMove="1" noResize="1" noEditPoints="1" noAdjustHandles="1" noChangeArrowheads="1" noChangeShapeType="1" noTextEdit="1"/>
              </p:cNvSpPr>
              <p:nvPr/>
            </p:nvSpPr>
            <p:spPr>
              <a:xfrm>
                <a:off x="6757616" y="3009131"/>
                <a:ext cx="660757" cy="369332"/>
              </a:xfrm>
              <a:prstGeom prst="rect">
                <a:avLst/>
              </a:prstGeom>
              <a:blipFill rotWithShape="0">
                <a:blip r:embed="rId13"/>
                <a:stretch>
                  <a:fillRect t="-6667" b="-13333"/>
                </a:stretch>
              </a:blipFill>
            </p:spPr>
            <p:txBody>
              <a:bodyPr/>
              <a:lstStyle/>
              <a:p>
                <a:r>
                  <a:rPr lang="es-CO">
                    <a:noFill/>
                  </a:rPr>
                  <a:t> </a:t>
                </a:r>
              </a:p>
            </p:txBody>
          </p:sp>
        </mc:Fallback>
      </mc:AlternateContent>
      <p:cxnSp>
        <p:nvCxnSpPr>
          <p:cNvPr id="40" name="56 Conector recto de flecha"/>
          <p:cNvCxnSpPr/>
          <p:nvPr/>
        </p:nvCxnSpPr>
        <p:spPr>
          <a:xfrm>
            <a:off x="4483716" y="2575486"/>
            <a:ext cx="0" cy="886739"/>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sp>
        <p:nvSpPr>
          <p:cNvPr id="41" name="63 Elipse"/>
          <p:cNvSpPr/>
          <p:nvPr/>
        </p:nvSpPr>
        <p:spPr>
          <a:xfrm>
            <a:off x="1156071" y="2349576"/>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dirty="0"/>
              <a:t>+</a:t>
            </a:r>
            <a:endParaRPr lang="es-CO" dirty="0"/>
          </a:p>
        </p:txBody>
      </p:sp>
      <p:cxnSp>
        <p:nvCxnSpPr>
          <p:cNvPr id="42" name="69 Conector recto de flecha"/>
          <p:cNvCxnSpPr/>
          <p:nvPr/>
        </p:nvCxnSpPr>
        <p:spPr>
          <a:xfrm>
            <a:off x="1493063" y="2854907"/>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p:cxnSp>
        <p:nvCxnSpPr>
          <p:cNvPr id="43" name="73 Conector recto de flecha"/>
          <p:cNvCxnSpPr>
            <a:stCxn id="41" idx="6"/>
            <a:endCxn id="9" idx="1"/>
          </p:cNvCxnSpPr>
          <p:nvPr/>
        </p:nvCxnSpPr>
        <p:spPr>
          <a:xfrm>
            <a:off x="1588119" y="2565600"/>
            <a:ext cx="1556347"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pic>
        <p:nvPicPr>
          <p:cNvPr id="46" name="Imagem 45"/>
          <p:cNvPicPr>
            <a:picLocks noChangeAspect="1"/>
          </p:cNvPicPr>
          <p:nvPr>
            <p:custDataLst>
              <p:tags r:id="rId1"/>
            </p:custDataLst>
          </p:nvPr>
        </p:nvPicPr>
        <p:blipFill>
          <a:blip r:embed="rId14" cstate="print">
            <a:extLst>
              <a:ext uri="{28A0092B-C50C-407E-A947-70E740481C1C}">
                <a14:useLocalDpi xmlns:a14="http://schemas.microsoft.com/office/drawing/2010/main" val="0"/>
              </a:ext>
            </a:extLst>
          </a:blip>
          <a:stretch>
            <a:fillRect/>
          </a:stretch>
        </p:blipFill>
        <p:spPr>
          <a:xfrm>
            <a:off x="8506566" y="3378463"/>
            <a:ext cx="3091815" cy="748665"/>
          </a:xfrm>
          <a:prstGeom prst="rect">
            <a:avLst/>
          </a:prstGeom>
        </p:spPr>
      </p:pic>
      <p:sp>
        <p:nvSpPr>
          <p:cNvPr id="47" name="Forma livre 46"/>
          <p:cNvSpPr/>
          <p:nvPr/>
        </p:nvSpPr>
        <p:spPr>
          <a:xfrm>
            <a:off x="1532727" y="2642581"/>
            <a:ext cx="5668221" cy="1481184"/>
          </a:xfrm>
          <a:custGeom>
            <a:avLst/>
            <a:gdLst>
              <a:gd name="connsiteX0" fmla="*/ 2842049 w 5668221"/>
              <a:gd name="connsiteY0" fmla="*/ 10972 h 1481184"/>
              <a:gd name="connsiteX1" fmla="*/ 2788261 w 5668221"/>
              <a:gd name="connsiteY1" fmla="*/ 799866 h 1481184"/>
              <a:gd name="connsiteX2" fmla="*/ 3505438 w 5668221"/>
              <a:gd name="connsiteY2" fmla="*/ 1104666 h 1481184"/>
              <a:gd name="connsiteX3" fmla="*/ 5262520 w 5668221"/>
              <a:gd name="connsiteY3" fmla="*/ 1068807 h 1481184"/>
              <a:gd name="connsiteX4" fmla="*/ 5656967 w 5668221"/>
              <a:gd name="connsiteY4" fmla="*/ 1301890 h 1481184"/>
              <a:gd name="connsiteX5" fmla="*/ 4993579 w 5668221"/>
              <a:gd name="connsiteY5" fmla="*/ 1481184 h 1481184"/>
              <a:gd name="connsiteX6" fmla="*/ 385720 w 5668221"/>
              <a:gd name="connsiteY6" fmla="*/ 1409466 h 1481184"/>
              <a:gd name="connsiteX7" fmla="*/ 278144 w 5668221"/>
              <a:gd name="connsiteY7" fmla="*/ 728148 h 1481184"/>
              <a:gd name="connsiteX8" fmla="*/ 529155 w 5668221"/>
              <a:gd name="connsiteY8" fmla="*/ 82690 h 1481184"/>
              <a:gd name="connsiteX9" fmla="*/ 1335979 w 5668221"/>
              <a:gd name="connsiteY9" fmla="*/ 28901 h 1481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68221" h="1481184">
                <a:moveTo>
                  <a:pt x="2842049" y="10972"/>
                </a:moveTo>
                <a:cubicBezTo>
                  <a:pt x="2759872" y="314278"/>
                  <a:pt x="2677696" y="617584"/>
                  <a:pt x="2788261" y="799866"/>
                </a:cubicBezTo>
                <a:cubicBezTo>
                  <a:pt x="2898826" y="982148"/>
                  <a:pt x="3093062" y="1059843"/>
                  <a:pt x="3505438" y="1104666"/>
                </a:cubicBezTo>
                <a:cubicBezTo>
                  <a:pt x="3917814" y="1149489"/>
                  <a:pt x="4903932" y="1035936"/>
                  <a:pt x="5262520" y="1068807"/>
                </a:cubicBezTo>
                <a:cubicBezTo>
                  <a:pt x="5621108" y="1101678"/>
                  <a:pt x="5701790" y="1233161"/>
                  <a:pt x="5656967" y="1301890"/>
                </a:cubicBezTo>
                <a:cubicBezTo>
                  <a:pt x="5612144" y="1370619"/>
                  <a:pt x="4993579" y="1481184"/>
                  <a:pt x="4993579" y="1481184"/>
                </a:cubicBezTo>
                <a:lnTo>
                  <a:pt x="385720" y="1409466"/>
                </a:lnTo>
                <a:cubicBezTo>
                  <a:pt x="-400186" y="1283960"/>
                  <a:pt x="254238" y="949277"/>
                  <a:pt x="278144" y="728148"/>
                </a:cubicBezTo>
                <a:cubicBezTo>
                  <a:pt x="302050" y="507019"/>
                  <a:pt x="352849" y="199231"/>
                  <a:pt x="529155" y="82690"/>
                </a:cubicBezTo>
                <a:cubicBezTo>
                  <a:pt x="705461" y="-33851"/>
                  <a:pt x="1020720" y="-2475"/>
                  <a:pt x="1335979" y="28901"/>
                </a:cubicBezTo>
              </a:path>
            </a:pathLst>
          </a:custGeom>
          <a:noFill/>
          <a:ln w="28575">
            <a:solidFill>
              <a:srgbClr val="FF0000"/>
            </a:solidFill>
            <a:prstDash val="dash"/>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42398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4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Rodapé 1"/>
          <p:cNvSpPr>
            <a:spLocks noGrp="1"/>
          </p:cNvSpPr>
          <p:nvPr>
            <p:ph type="ftr" sz="quarter" idx="11"/>
          </p:nvPr>
        </p:nvSpPr>
        <p:spPr>
          <a:xfrm>
            <a:off x="4165600" y="6492875"/>
            <a:ext cx="3860800" cy="365125"/>
          </a:xfrm>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mtClean="0"/>
              <a:pPr/>
              <a:t>21</a:t>
            </a:fld>
            <a:endParaRPr lang="en-US"/>
          </a:p>
        </p:txBody>
      </p:sp>
      <p:pic>
        <p:nvPicPr>
          <p:cNvPr id="4" name="Picture 4"/>
          <p:cNvPicPr>
            <a:picLocks noChangeAspect="1" noChangeArrowheads="1"/>
          </p:cNvPicPr>
          <p:nvPr/>
        </p:nvPicPr>
        <p:blipFill>
          <a:blip r:embed="rId3"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1985159"/>
          </a:xfrm>
          <a:prstGeom prst="rect">
            <a:avLst/>
          </a:prstGeom>
          <a:noFill/>
        </p:spPr>
        <p:txBody>
          <a:bodyPr wrap="square" rtlCol="0">
            <a:spAutoFit/>
          </a:bodyPr>
          <a:lstStyle/>
          <a:p>
            <a:pPr algn="ctr"/>
            <a:r>
              <a:rPr lang="es-CO" sz="3600" b="1" dirty="0">
                <a:solidFill>
                  <a:schemeClr val="bg1"/>
                </a:solidFill>
              </a:rPr>
              <a:t>PREDICTOR DE SMITH</a:t>
            </a:r>
            <a:endParaRPr lang="es-CO" sz="4800" b="1" i="1" dirty="0">
              <a:solidFill>
                <a:schemeClr val="bg1"/>
              </a:solidFill>
            </a:endParaRPr>
          </a:p>
          <a:p>
            <a:pPr algn="ctr"/>
            <a:endParaRPr lang="pt-BR" sz="36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p:sp>
        <p:nvSpPr>
          <p:cNvPr id="6" name="89 Rectángulo"/>
          <p:cNvSpPr/>
          <p:nvPr/>
        </p:nvSpPr>
        <p:spPr>
          <a:xfrm>
            <a:off x="2087117" y="1410711"/>
            <a:ext cx="2824939" cy="2379964"/>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s-CO" dirty="0"/>
          </a:p>
        </p:txBody>
      </p:sp>
      <p:sp>
        <p:nvSpPr>
          <p:cNvPr id="7" name="1 Elipse"/>
          <p:cNvSpPr/>
          <p:nvPr/>
        </p:nvSpPr>
        <p:spPr>
          <a:xfrm>
            <a:off x="2270272" y="2188669"/>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400" dirty="0"/>
              <a:t>+</a:t>
            </a:r>
            <a:endParaRPr lang="es-CO" sz="2400" dirty="0"/>
          </a:p>
        </p:txBody>
      </p:sp>
      <mc:AlternateContent xmlns:mc="http://schemas.openxmlformats.org/markup-compatibility/2006" xmlns:a14="http://schemas.microsoft.com/office/drawing/2010/main">
        <mc:Choice Requires="a14">
          <p:sp>
            <p:nvSpPr>
              <p:cNvPr id="8" name="2 Rectángulo"/>
              <p:cNvSpPr/>
              <p:nvPr/>
            </p:nvSpPr>
            <p:spPr>
              <a:xfrm>
                <a:off x="3161438" y="2152664"/>
                <a:ext cx="64807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pt-BR" b="0" i="1" smtClean="0">
                              <a:latin typeface="Cambria Math" panose="02040503050406030204" pitchFamily="18" charset="0"/>
                            </a:rPr>
                          </m:ctrlPr>
                        </m:accPr>
                        <m:e>
                          <m:r>
                            <a:rPr lang="es-CO" b="0" i="1" smtClean="0">
                              <a:latin typeface="Cambria Math"/>
                            </a:rPr>
                            <m:t>𝐶</m:t>
                          </m:r>
                        </m:e>
                      </m:acc>
                      <m:r>
                        <a:rPr lang="pt-BR" b="0" i="0" smtClean="0">
                          <a:latin typeface="Cambria Math"/>
                        </a:rPr>
                        <m:t>(</m:t>
                      </m:r>
                      <m:r>
                        <m:rPr>
                          <m:sty m:val="p"/>
                        </m:rPr>
                        <a:rPr lang="es-CO" b="0" i="0" smtClean="0">
                          <a:latin typeface="Cambria Math"/>
                        </a:rPr>
                        <m:t>s</m:t>
                      </m:r>
                      <m:r>
                        <a:rPr lang="pt-BR" b="0" i="0" smtClean="0">
                          <a:latin typeface="Cambria Math"/>
                        </a:rPr>
                        <m:t>)</m:t>
                      </m:r>
                    </m:oMath>
                  </m:oMathPara>
                </a14:m>
                <a:endParaRPr lang="es-CO" b="1" dirty="0"/>
              </a:p>
            </p:txBody>
          </p:sp>
        </mc:Choice>
        <mc:Fallback xmlns="">
          <p:sp>
            <p:nvSpPr>
              <p:cNvPr id="8" name="2 Rectángulo"/>
              <p:cNvSpPr>
                <a:spLocks noRot="1" noChangeAspect="1" noMove="1" noResize="1" noEditPoints="1" noAdjustHandles="1" noChangeArrowheads="1" noChangeShapeType="1" noTextEdit="1"/>
              </p:cNvSpPr>
              <p:nvPr/>
            </p:nvSpPr>
            <p:spPr>
              <a:xfrm>
                <a:off x="3161438" y="2152664"/>
                <a:ext cx="648072" cy="504055"/>
              </a:xfrm>
              <a:prstGeom prst="rect">
                <a:avLst/>
              </a:prstGeom>
              <a:blipFill rotWithShape="0">
                <a:blip r:embed="rId4"/>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9" name="4 Rectángulo"/>
              <p:cNvSpPr/>
              <p:nvPr/>
            </p:nvSpPr>
            <p:spPr>
              <a:xfrm>
                <a:off x="5519172" y="2152507"/>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b="0" i="0" smtClean="0">
                          <a:latin typeface="Cambria Math"/>
                        </a:rPr>
                        <m:t>P</m:t>
                      </m:r>
                      <m:r>
                        <a:rPr lang="pt-BR" b="0" i="0" smtClean="0">
                          <a:latin typeface="Cambria Math"/>
                        </a:rPr>
                        <m:t>(</m:t>
                      </m:r>
                      <m:r>
                        <m:rPr>
                          <m:sty m:val="p"/>
                        </m:rPr>
                        <a:rPr lang="es-CO" b="0" i="0" smtClean="0">
                          <a:latin typeface="Cambria Math"/>
                        </a:rPr>
                        <m:t>s</m:t>
                      </m:r>
                      <m:r>
                        <a:rPr lang="pt-BR" b="0" i="0" smtClean="0">
                          <a:latin typeface="Cambria Math"/>
                        </a:rPr>
                        <m:t>)</m:t>
                      </m:r>
                    </m:oMath>
                  </m:oMathPara>
                </a14:m>
                <a:endParaRPr lang="es-CO" b="1" dirty="0"/>
              </a:p>
            </p:txBody>
          </p:sp>
        </mc:Choice>
        <mc:Fallback xmlns="">
          <p:sp>
            <p:nvSpPr>
              <p:cNvPr id="9" name="4 Rectángulo"/>
              <p:cNvSpPr>
                <a:spLocks noRot="1" noChangeAspect="1" noMove="1" noResize="1" noEditPoints="1" noAdjustHandles="1" noChangeArrowheads="1" noChangeShapeType="1" noTextEdit="1"/>
              </p:cNvSpPr>
              <p:nvPr/>
            </p:nvSpPr>
            <p:spPr>
              <a:xfrm>
                <a:off x="5519172" y="2152507"/>
                <a:ext cx="792088" cy="504055"/>
              </a:xfrm>
              <a:prstGeom prst="rect">
                <a:avLst/>
              </a:prstGeom>
              <a:blipFill rotWithShape="0">
                <a:blip r:embed="rId5"/>
                <a:stretch>
                  <a:fillRect/>
                </a:stretch>
              </a:blipFill>
            </p:spPr>
            <p:txBody>
              <a:bodyPr/>
              <a:lstStyle/>
              <a:p>
                <a:r>
                  <a:rPr lang="es-CO">
                    <a:noFill/>
                  </a:rPr>
                  <a:t> </a:t>
                </a:r>
              </a:p>
            </p:txBody>
          </p:sp>
        </mc:Fallback>
      </mc:AlternateContent>
      <p:sp>
        <p:nvSpPr>
          <p:cNvPr id="10" name="6 Elipse"/>
          <p:cNvSpPr/>
          <p:nvPr/>
        </p:nvSpPr>
        <p:spPr>
          <a:xfrm>
            <a:off x="6776430" y="2188668"/>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400" dirty="0"/>
              <a:t>+</a:t>
            </a:r>
            <a:endParaRPr lang="es-CO" sz="2400" dirty="0"/>
          </a:p>
        </p:txBody>
      </p:sp>
      <p:cxnSp>
        <p:nvCxnSpPr>
          <p:cNvPr id="11" name="8 Conector recto de flecha"/>
          <p:cNvCxnSpPr>
            <a:endCxn id="31" idx="2"/>
          </p:cNvCxnSpPr>
          <p:nvPr/>
        </p:nvCxnSpPr>
        <p:spPr>
          <a:xfrm>
            <a:off x="519569" y="2404531"/>
            <a:ext cx="653474"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2" name="9 Conector recto de flecha"/>
          <p:cNvCxnSpPr>
            <a:stCxn id="7" idx="6"/>
            <a:endCxn id="8" idx="1"/>
          </p:cNvCxnSpPr>
          <p:nvPr/>
        </p:nvCxnSpPr>
        <p:spPr>
          <a:xfrm flipV="1">
            <a:off x="2702320" y="2404692"/>
            <a:ext cx="459118" cy="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3" name="10 Conector recto de flecha"/>
          <p:cNvCxnSpPr>
            <a:stCxn id="8" idx="3"/>
            <a:endCxn id="9" idx="1"/>
          </p:cNvCxnSpPr>
          <p:nvPr/>
        </p:nvCxnSpPr>
        <p:spPr>
          <a:xfrm flipV="1">
            <a:off x="3809510" y="2404535"/>
            <a:ext cx="1709662" cy="15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4" name="13 Conector recto de flecha"/>
          <p:cNvCxnSpPr>
            <a:stCxn id="9" idx="3"/>
            <a:endCxn id="10" idx="2"/>
          </p:cNvCxnSpPr>
          <p:nvPr/>
        </p:nvCxnSpPr>
        <p:spPr>
          <a:xfrm>
            <a:off x="6311260" y="2404535"/>
            <a:ext cx="465170" cy="15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5" name="14 Conector recto de flecha"/>
          <p:cNvCxnSpPr>
            <a:stCxn id="10" idx="6"/>
          </p:cNvCxnSpPr>
          <p:nvPr/>
        </p:nvCxnSpPr>
        <p:spPr>
          <a:xfrm flipV="1">
            <a:off x="7208478" y="2404531"/>
            <a:ext cx="849503"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6" name="16 Conector recto de flecha"/>
          <p:cNvCxnSpPr/>
          <p:nvPr/>
        </p:nvCxnSpPr>
        <p:spPr>
          <a:xfrm flipH="1">
            <a:off x="4664341" y="2406970"/>
            <a:ext cx="7303" cy="837184"/>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17" name="20 Conector recto de flecha"/>
          <p:cNvCxnSpPr>
            <a:endCxn id="31" idx="4"/>
          </p:cNvCxnSpPr>
          <p:nvPr/>
        </p:nvCxnSpPr>
        <p:spPr>
          <a:xfrm flipV="1">
            <a:off x="1389067" y="2620555"/>
            <a:ext cx="0" cy="145333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8" name="21 Conector recto de flecha"/>
          <p:cNvCxnSpPr/>
          <p:nvPr/>
        </p:nvCxnSpPr>
        <p:spPr>
          <a:xfrm>
            <a:off x="7558707" y="2414417"/>
            <a:ext cx="0" cy="1659476"/>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19" name="22 Conector recto de flecha"/>
          <p:cNvCxnSpPr>
            <a:endCxn id="10" idx="0"/>
          </p:cNvCxnSpPr>
          <p:nvPr/>
        </p:nvCxnSpPr>
        <p:spPr>
          <a:xfrm>
            <a:off x="6992454" y="1579990"/>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0" name="24 Conector recto de flecha"/>
          <p:cNvCxnSpPr/>
          <p:nvPr/>
        </p:nvCxnSpPr>
        <p:spPr>
          <a:xfrm>
            <a:off x="1389067" y="4073893"/>
            <a:ext cx="6169640" cy="2"/>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21" name="25 Conector recto de flecha"/>
          <p:cNvCxnSpPr>
            <a:endCxn id="7" idx="4"/>
          </p:cNvCxnSpPr>
          <p:nvPr/>
        </p:nvCxnSpPr>
        <p:spPr>
          <a:xfrm flipV="1">
            <a:off x="2486296" y="2620717"/>
            <a:ext cx="0" cy="62343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29 Rectángulo"/>
              <p:cNvSpPr/>
              <p:nvPr/>
            </p:nvSpPr>
            <p:spPr>
              <a:xfrm>
                <a:off x="422898" y="1983230"/>
                <a:ext cx="590097"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𝑟</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2" name="29 Rectángulo"/>
              <p:cNvSpPr>
                <a:spLocks noRot="1" noChangeAspect="1" noMove="1" noResize="1" noEditPoints="1" noAdjustHandles="1" noChangeArrowheads="1" noChangeShapeType="1" noTextEdit="1"/>
              </p:cNvSpPr>
              <p:nvPr/>
            </p:nvSpPr>
            <p:spPr>
              <a:xfrm>
                <a:off x="422898" y="1983230"/>
                <a:ext cx="590097" cy="338554"/>
              </a:xfrm>
              <a:prstGeom prst="rect">
                <a:avLst/>
              </a:prstGeom>
              <a:blipFill rotWithShape="0">
                <a:blip r:embed="rId6"/>
                <a:stretch>
                  <a:fillRect b="-892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3" name="30 Rectángulo"/>
              <p:cNvSpPr/>
              <p:nvPr/>
            </p:nvSpPr>
            <p:spPr>
              <a:xfrm>
                <a:off x="1579884" y="2008261"/>
                <a:ext cx="594906"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𝑒</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3" name="30 Rectángulo"/>
              <p:cNvSpPr>
                <a:spLocks noRot="1" noChangeAspect="1" noMove="1" noResize="1" noEditPoints="1" noAdjustHandles="1" noChangeArrowheads="1" noChangeShapeType="1" noTextEdit="1"/>
              </p:cNvSpPr>
              <p:nvPr/>
            </p:nvSpPr>
            <p:spPr>
              <a:xfrm>
                <a:off x="1579884" y="2008261"/>
                <a:ext cx="594906" cy="338554"/>
              </a:xfrm>
              <a:prstGeom prst="rect">
                <a:avLst/>
              </a:prstGeom>
              <a:blipFill rotWithShape="0">
                <a:blip r:embed="rId7"/>
                <a:stretch>
                  <a:fillRect b="-892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4" name="31 Rectángulo"/>
              <p:cNvSpPr/>
              <p:nvPr/>
            </p:nvSpPr>
            <p:spPr>
              <a:xfrm>
                <a:off x="4900032" y="2020147"/>
                <a:ext cx="610039"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𝑢</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4" name="31 Rectángulo"/>
              <p:cNvSpPr>
                <a:spLocks noRot="1" noChangeAspect="1" noMove="1" noResize="1" noEditPoints="1" noAdjustHandles="1" noChangeArrowheads="1" noChangeShapeType="1" noTextEdit="1"/>
              </p:cNvSpPr>
              <p:nvPr/>
            </p:nvSpPr>
            <p:spPr>
              <a:xfrm>
                <a:off x="4900032" y="2020147"/>
                <a:ext cx="610039" cy="338554"/>
              </a:xfrm>
              <a:prstGeom prst="rect">
                <a:avLst/>
              </a:prstGeom>
              <a:blipFill rotWithShape="0">
                <a:blip r:embed="rId8"/>
                <a:stretch>
                  <a:fillRect b="-892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5" name="33 Rectángulo"/>
              <p:cNvSpPr/>
              <p:nvPr/>
            </p:nvSpPr>
            <p:spPr>
              <a:xfrm>
                <a:off x="6311260" y="1410711"/>
                <a:ext cx="695190"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rPr>
                          </m:ctrlPr>
                        </m:sSubPr>
                        <m:e>
                          <m:r>
                            <a:rPr lang="pt-BR" sz="1600" b="0" i="1" smtClean="0">
                              <a:latin typeface="Cambria Math"/>
                            </a:rPr>
                            <m:t>𝑛</m:t>
                          </m:r>
                        </m:e>
                        <m:sub>
                          <m:r>
                            <a:rPr lang="pt-BR" sz="1600" b="0" i="1" smtClean="0">
                              <a:latin typeface="Cambria Math"/>
                            </a:rPr>
                            <m:t>1</m:t>
                          </m:r>
                        </m:sub>
                      </m:sSub>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5" name="33 Rectángulo"/>
              <p:cNvSpPr>
                <a:spLocks noRot="1" noChangeAspect="1" noMove="1" noResize="1" noEditPoints="1" noAdjustHandles="1" noChangeArrowheads="1" noChangeShapeType="1" noTextEdit="1"/>
              </p:cNvSpPr>
              <p:nvPr/>
            </p:nvSpPr>
            <p:spPr>
              <a:xfrm>
                <a:off x="6311260" y="1410711"/>
                <a:ext cx="695190" cy="338554"/>
              </a:xfrm>
              <a:prstGeom prst="rect">
                <a:avLst/>
              </a:prstGeom>
              <a:blipFill rotWithShape="0">
                <a:blip r:embed="rId9"/>
                <a:stretch>
                  <a:fillRect b="-892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6" name="35 Rectángulo"/>
              <p:cNvSpPr/>
              <p:nvPr/>
            </p:nvSpPr>
            <p:spPr>
              <a:xfrm>
                <a:off x="7451212" y="1954470"/>
                <a:ext cx="606769"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𝑦</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6" name="35 Rectángulo"/>
              <p:cNvSpPr>
                <a:spLocks noRot="1" noChangeAspect="1" noMove="1" noResize="1" noEditPoints="1" noAdjustHandles="1" noChangeArrowheads="1" noChangeShapeType="1" noTextEdit="1"/>
              </p:cNvSpPr>
              <p:nvPr/>
            </p:nvSpPr>
            <p:spPr>
              <a:xfrm>
                <a:off x="7451212" y="1954470"/>
                <a:ext cx="606769" cy="338554"/>
              </a:xfrm>
              <a:prstGeom prst="rect">
                <a:avLst/>
              </a:prstGeom>
              <a:blipFill rotWithShape="0">
                <a:blip r:embed="rId10"/>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7" name="36 Rectángulo"/>
              <p:cNvSpPr/>
              <p:nvPr/>
            </p:nvSpPr>
            <p:spPr>
              <a:xfrm>
                <a:off x="2778334" y="2992127"/>
                <a:ext cx="140847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s-CO" i="1" smtClean="0">
                              <a:latin typeface="Cambria Math" panose="02040503050406030204" pitchFamily="18" charset="0"/>
                            </a:rPr>
                          </m:ctrlPr>
                        </m:sSupPr>
                        <m:e>
                          <m:sSub>
                            <m:sSubPr>
                              <m:ctrlPr>
                                <a:rPr lang="es-CO" i="1">
                                  <a:latin typeface="Cambria Math" panose="02040503050406030204" pitchFamily="18" charset="0"/>
                                </a:rPr>
                              </m:ctrlPr>
                            </m:sSubPr>
                            <m:e>
                              <m:r>
                                <a:rPr lang="es-CO" i="1">
                                  <a:latin typeface="Cambria Math"/>
                                </a:rPr>
                                <m:t>𝑃</m:t>
                              </m:r>
                            </m:e>
                            <m:sub>
                              <m:r>
                                <a:rPr lang="es-CO" i="1">
                                  <a:latin typeface="Cambria Math"/>
                                </a:rPr>
                                <m:t>𝑛</m:t>
                              </m:r>
                            </m:sub>
                          </m:sSub>
                          <m:r>
                            <a:rPr lang="es-CO" i="1">
                              <a:latin typeface="Cambria Math"/>
                            </a:rPr>
                            <m:t>=</m:t>
                          </m:r>
                          <m:sSub>
                            <m:sSubPr>
                              <m:ctrlPr>
                                <a:rPr lang="pt-BR" i="1">
                                  <a:latin typeface="Cambria Math" panose="02040503050406030204" pitchFamily="18" charset="0"/>
                                </a:rPr>
                              </m:ctrlPr>
                            </m:sSubPr>
                            <m:e>
                              <m:r>
                                <a:rPr lang="es-CO" i="1">
                                  <a:latin typeface="Cambria Math"/>
                                </a:rPr>
                                <m:t>𝐺</m:t>
                              </m:r>
                            </m:e>
                            <m:sub>
                              <m:r>
                                <m:rPr>
                                  <m:sty m:val="p"/>
                                </m:rPr>
                                <a:rPr lang="pt-BR">
                                  <a:latin typeface="Cambria Math"/>
                                </a:rPr>
                                <m:t>n</m:t>
                              </m:r>
                            </m:sub>
                          </m:sSub>
                          <m:r>
                            <a:rPr lang="es-CO" i="1">
                              <a:latin typeface="Cambria Math"/>
                            </a:rPr>
                            <m:t>𝑒</m:t>
                          </m:r>
                        </m:e>
                        <m:sup>
                          <m:sSub>
                            <m:sSubPr>
                              <m:ctrlPr>
                                <a:rPr lang="es-CO" i="1">
                                  <a:latin typeface="Cambria Math" panose="02040503050406030204" pitchFamily="18" charset="0"/>
                                </a:rPr>
                              </m:ctrlPr>
                            </m:sSubPr>
                            <m:e>
                              <m:r>
                                <a:rPr lang="es-CO" i="1">
                                  <a:latin typeface="Cambria Math"/>
                                </a:rPr>
                                <m:t>𝐿</m:t>
                              </m:r>
                            </m:e>
                            <m:sub>
                              <m:r>
                                <a:rPr lang="es-CO" i="1">
                                  <a:latin typeface="Cambria Math"/>
                                </a:rPr>
                                <m:t>𝑛</m:t>
                              </m:r>
                            </m:sub>
                          </m:sSub>
                          <m:r>
                            <a:rPr lang="es-CO" i="1">
                              <a:latin typeface="Cambria Math"/>
                            </a:rPr>
                            <m:t>𝑠</m:t>
                          </m:r>
                        </m:sup>
                      </m:sSup>
                    </m:oMath>
                  </m:oMathPara>
                </a14:m>
                <a:endParaRPr lang="es-CO" b="1" dirty="0"/>
              </a:p>
            </p:txBody>
          </p:sp>
        </mc:Choice>
        <mc:Fallback xmlns="">
          <p:sp>
            <p:nvSpPr>
              <p:cNvPr id="27" name="36 Rectángulo"/>
              <p:cNvSpPr>
                <a:spLocks noRot="1" noChangeAspect="1" noMove="1" noResize="1" noEditPoints="1" noAdjustHandles="1" noChangeArrowheads="1" noChangeShapeType="1" noTextEdit="1"/>
              </p:cNvSpPr>
              <p:nvPr/>
            </p:nvSpPr>
            <p:spPr>
              <a:xfrm>
                <a:off x="2778334" y="2992127"/>
                <a:ext cx="1408472" cy="504055"/>
              </a:xfrm>
              <a:prstGeom prst="rect">
                <a:avLst/>
              </a:prstGeom>
              <a:blipFill rotWithShape="0">
                <a:blip r:embed="rId11"/>
                <a:stretch>
                  <a:fillRect/>
                </a:stretch>
              </a:blipFill>
            </p:spPr>
            <p:txBody>
              <a:bodyPr/>
              <a:lstStyle/>
              <a:p>
                <a:r>
                  <a:rPr lang="es-CO">
                    <a:noFill/>
                  </a:rPr>
                  <a:t> </a:t>
                </a:r>
              </a:p>
            </p:txBody>
          </p:sp>
        </mc:Fallback>
      </mc:AlternateContent>
      <p:cxnSp>
        <p:nvCxnSpPr>
          <p:cNvPr id="28" name="37 Conector recto de flecha"/>
          <p:cNvCxnSpPr>
            <a:endCxn id="27" idx="3"/>
          </p:cNvCxnSpPr>
          <p:nvPr/>
        </p:nvCxnSpPr>
        <p:spPr>
          <a:xfrm flipH="1">
            <a:off x="4186806" y="3244154"/>
            <a:ext cx="484838" cy="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38 Rectángulo"/>
              <p:cNvSpPr/>
              <p:nvPr/>
            </p:nvSpPr>
            <p:spPr>
              <a:xfrm>
                <a:off x="1582043" y="4024485"/>
                <a:ext cx="606063"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s-CO" sz="1600" b="0" i="1" smtClean="0">
                          <a:latin typeface="Cambria Math"/>
                        </a:rPr>
                        <m:t>𝑓</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9" name="38 Rectángulo"/>
              <p:cNvSpPr>
                <a:spLocks noRot="1" noChangeAspect="1" noMove="1" noResize="1" noEditPoints="1" noAdjustHandles="1" noChangeArrowheads="1" noChangeShapeType="1" noTextEdit="1"/>
              </p:cNvSpPr>
              <p:nvPr/>
            </p:nvSpPr>
            <p:spPr>
              <a:xfrm>
                <a:off x="1582043" y="4024485"/>
                <a:ext cx="606063" cy="338554"/>
              </a:xfrm>
              <a:prstGeom prst="rect">
                <a:avLst/>
              </a:prstGeom>
              <a:blipFill rotWithShape="0">
                <a:blip r:embed="rId12"/>
                <a:stretch>
                  <a:fillRect l="-1010" b="-892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0" name="40 Rectángulo"/>
              <p:cNvSpPr/>
              <p:nvPr/>
            </p:nvSpPr>
            <p:spPr>
              <a:xfrm>
                <a:off x="2261294" y="3196394"/>
                <a:ext cx="606769"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acc>
                        <m:accPr>
                          <m:chr m:val="̂"/>
                          <m:ctrlPr>
                            <a:rPr lang="es-CO" sz="1600" b="0" i="1" smtClean="0">
                              <a:latin typeface="Cambria Math" panose="02040503050406030204" pitchFamily="18" charset="0"/>
                            </a:rPr>
                          </m:ctrlPr>
                        </m:accPr>
                        <m:e>
                          <m:r>
                            <a:rPr lang="es-CO" sz="1600" b="0" i="1" smtClean="0">
                              <a:latin typeface="Cambria Math"/>
                            </a:rPr>
                            <m:t>𝑦</m:t>
                          </m:r>
                        </m:e>
                      </m:acc>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30" name="40 Rectángulo"/>
              <p:cNvSpPr>
                <a:spLocks noRot="1" noChangeAspect="1" noMove="1" noResize="1" noEditPoints="1" noAdjustHandles="1" noChangeArrowheads="1" noChangeShapeType="1" noTextEdit="1"/>
              </p:cNvSpPr>
              <p:nvPr/>
            </p:nvSpPr>
            <p:spPr>
              <a:xfrm>
                <a:off x="2261294" y="3196394"/>
                <a:ext cx="606769" cy="338554"/>
              </a:xfrm>
              <a:prstGeom prst="rect">
                <a:avLst/>
              </a:prstGeom>
              <a:blipFill rotWithShape="0">
                <a:blip r:embed="rId13"/>
                <a:stretch>
                  <a:fillRect b="-8929"/>
                </a:stretch>
              </a:blipFill>
            </p:spPr>
            <p:txBody>
              <a:bodyPr/>
              <a:lstStyle/>
              <a:p>
                <a:r>
                  <a:rPr lang="es-CO">
                    <a:noFill/>
                  </a:rPr>
                  <a:t> </a:t>
                </a:r>
              </a:p>
            </p:txBody>
          </p:sp>
        </mc:Fallback>
      </mc:AlternateContent>
      <p:sp>
        <p:nvSpPr>
          <p:cNvPr id="31" name="63 Elipse"/>
          <p:cNvSpPr/>
          <p:nvPr/>
        </p:nvSpPr>
        <p:spPr>
          <a:xfrm>
            <a:off x="1173043" y="2188507"/>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400" dirty="0"/>
              <a:t>+</a:t>
            </a:r>
            <a:endParaRPr lang="es-CO" sz="2400" dirty="0"/>
          </a:p>
        </p:txBody>
      </p:sp>
      <p:cxnSp>
        <p:nvCxnSpPr>
          <p:cNvPr id="32" name="69 Conector recto de flecha"/>
          <p:cNvCxnSpPr/>
          <p:nvPr/>
        </p:nvCxnSpPr>
        <p:spPr>
          <a:xfrm>
            <a:off x="1533083" y="2693838"/>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p:cxnSp>
        <p:nvCxnSpPr>
          <p:cNvPr id="33" name="73 Conector recto de flecha"/>
          <p:cNvCxnSpPr>
            <a:stCxn id="31" idx="6"/>
            <a:endCxn id="7" idx="2"/>
          </p:cNvCxnSpPr>
          <p:nvPr/>
        </p:nvCxnSpPr>
        <p:spPr>
          <a:xfrm>
            <a:off x="1605091" y="2404531"/>
            <a:ext cx="665181" cy="162"/>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34" name="77 Conector recto de flecha"/>
          <p:cNvCxnSpPr>
            <a:endCxn id="27" idx="1"/>
          </p:cNvCxnSpPr>
          <p:nvPr/>
        </p:nvCxnSpPr>
        <p:spPr>
          <a:xfrm>
            <a:off x="2486296" y="3244155"/>
            <a:ext cx="292038" cy="0"/>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5" name="92 Rectángulo"/>
              <p:cNvSpPr/>
              <p:nvPr/>
            </p:nvSpPr>
            <p:spPr>
              <a:xfrm>
                <a:off x="2023592" y="1427242"/>
                <a:ext cx="1101392" cy="490199"/>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pt-BR" sz="2400" b="0" i="1" smtClean="0">
                              <a:latin typeface="Cambria Math" panose="02040503050406030204" pitchFamily="18" charset="0"/>
                            </a:rPr>
                          </m:ctrlPr>
                        </m:sSubPr>
                        <m:e>
                          <m:r>
                            <a:rPr lang="es-CO" sz="2400" b="0" i="1" smtClean="0">
                              <a:latin typeface="Cambria Math"/>
                            </a:rPr>
                            <m:t>𝐶</m:t>
                          </m:r>
                        </m:e>
                        <m:sub>
                          <m:r>
                            <a:rPr lang="es-CO" sz="2400" b="0" i="1" smtClean="0">
                              <a:latin typeface="Cambria Math"/>
                            </a:rPr>
                            <m:t>𝑒𝑞</m:t>
                          </m:r>
                        </m:sub>
                      </m:sSub>
                      <m:r>
                        <a:rPr lang="pt-BR" sz="2400" b="0" i="1" smtClean="0">
                          <a:latin typeface="Cambria Math"/>
                        </a:rPr>
                        <m:t>(</m:t>
                      </m:r>
                      <m:r>
                        <a:rPr lang="es-CO" sz="2400" b="0" i="1" smtClean="0">
                          <a:latin typeface="Cambria Math"/>
                        </a:rPr>
                        <m:t>𝑠</m:t>
                      </m:r>
                      <m:r>
                        <a:rPr lang="pt-BR" sz="2400" b="0" i="1" smtClean="0">
                          <a:latin typeface="Cambria Math"/>
                        </a:rPr>
                        <m:t>)</m:t>
                      </m:r>
                    </m:oMath>
                  </m:oMathPara>
                </a14:m>
                <a:endParaRPr lang="es-CO" sz="2400" b="1" i="1" dirty="0"/>
              </a:p>
            </p:txBody>
          </p:sp>
        </mc:Choice>
        <mc:Fallback xmlns="">
          <p:sp>
            <p:nvSpPr>
              <p:cNvPr id="35" name="92 Rectángulo"/>
              <p:cNvSpPr>
                <a:spLocks noRot="1" noChangeAspect="1" noMove="1" noResize="1" noEditPoints="1" noAdjustHandles="1" noChangeArrowheads="1" noChangeShapeType="1" noTextEdit="1"/>
              </p:cNvSpPr>
              <p:nvPr/>
            </p:nvSpPr>
            <p:spPr>
              <a:xfrm>
                <a:off x="2023592" y="1427242"/>
                <a:ext cx="1101392" cy="490199"/>
              </a:xfrm>
              <a:prstGeom prst="rect">
                <a:avLst/>
              </a:prstGeom>
              <a:blipFill rotWithShape="0">
                <a:blip r:embed="rId14"/>
                <a:stretch>
                  <a:fillRect l="-1105" b="-11111"/>
                </a:stretch>
              </a:blipFill>
            </p:spPr>
            <p:txBody>
              <a:bodyPr/>
              <a:lstStyle/>
              <a:p>
                <a:r>
                  <a:rPr lang="es-CO">
                    <a:noFill/>
                  </a:rPr>
                  <a:t> </a:t>
                </a:r>
              </a:p>
            </p:txBody>
          </p:sp>
        </mc:Fallback>
      </mc:AlternateContent>
      <p:pic>
        <p:nvPicPr>
          <p:cNvPr id="36" name="Imagem 35"/>
          <p:cNvPicPr>
            <a:picLocks noChangeAspect="1"/>
          </p:cNvPicPr>
          <p:nvPr>
            <p:custDataLst>
              <p:tags r:id="rId1"/>
            </p:custDataLst>
          </p:nvPr>
        </p:nvPicPr>
        <p:blipFill>
          <a:blip r:embed="rId15" cstate="print">
            <a:extLst>
              <a:ext uri="{28A0092B-C50C-407E-A947-70E740481C1C}">
                <a14:useLocalDpi xmlns:a14="http://schemas.microsoft.com/office/drawing/2010/main" val="0"/>
              </a:ext>
            </a:extLst>
          </a:blip>
          <a:stretch>
            <a:fillRect/>
          </a:stretch>
        </p:blipFill>
        <p:spPr>
          <a:xfrm>
            <a:off x="4165600" y="3846817"/>
            <a:ext cx="7170420" cy="2457450"/>
          </a:xfrm>
          <a:prstGeom prst="rect">
            <a:avLst/>
          </a:prstGeom>
        </p:spPr>
      </p:pic>
    </p:spTree>
    <p:extLst>
      <p:ext uri="{BB962C8B-B14F-4D97-AF65-F5344CB8AC3E}">
        <p14:creationId xmlns:p14="http://schemas.microsoft.com/office/powerpoint/2010/main" val="1925050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2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Rodapé 1"/>
          <p:cNvSpPr>
            <a:spLocks noGrp="1"/>
          </p:cNvSpPr>
          <p:nvPr>
            <p:ph type="ftr" sz="quarter" idx="11"/>
          </p:nvPr>
        </p:nvSpPr>
        <p:spPr>
          <a:xfrm>
            <a:off x="4165600" y="6492875"/>
            <a:ext cx="3860800" cy="365125"/>
          </a:xfrm>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mtClean="0"/>
              <a:pPr/>
              <a:t>22</a:t>
            </a:fld>
            <a:endParaRPr lang="en-US"/>
          </a:p>
        </p:txBody>
      </p:sp>
      <p:pic>
        <p:nvPicPr>
          <p:cNvPr id="4" name="Picture 4"/>
          <p:cNvPicPr>
            <a:picLocks noChangeAspect="1" noChangeArrowheads="1"/>
          </p:cNvPicPr>
          <p:nvPr/>
        </p:nvPicPr>
        <p:blipFill>
          <a:blip r:embed="rId4"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646331"/>
          </a:xfrm>
          <a:prstGeom prst="rect">
            <a:avLst/>
          </a:prstGeom>
          <a:noFill/>
        </p:spPr>
        <p:txBody>
          <a:bodyPr wrap="square" rtlCol="0">
            <a:spAutoFit/>
          </a:bodyPr>
          <a:lstStyle/>
          <a:p>
            <a:pPr algn="ctr"/>
            <a:r>
              <a:rPr lang="es-CO" sz="3600" b="1" dirty="0">
                <a:solidFill>
                  <a:schemeClr val="bg1"/>
                </a:solidFill>
              </a:rPr>
              <a:t>PREDICTOR DE SMITH</a:t>
            </a:r>
            <a:endParaRPr lang="pt-BR" sz="1100" b="1" i="1" dirty="0">
              <a:solidFill>
                <a:schemeClr val="bg1"/>
              </a:solidFill>
            </a:endParaRPr>
          </a:p>
        </p:txBody>
      </p:sp>
      <mc:AlternateContent xmlns:mc="http://schemas.openxmlformats.org/markup-compatibility/2006" xmlns:a14="http://schemas.microsoft.com/office/drawing/2010/main">
        <mc:Choice Requires="a14">
          <p:sp>
            <p:nvSpPr>
              <p:cNvPr id="8" name="2 Rectángulo"/>
              <p:cNvSpPr/>
              <p:nvPr/>
            </p:nvSpPr>
            <p:spPr>
              <a:xfrm>
                <a:off x="2974358" y="1978619"/>
                <a:ext cx="91265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es-CO" i="1">
                              <a:latin typeface="Cambria Math"/>
                            </a:rPr>
                            <m:t>𝐶</m:t>
                          </m:r>
                        </m:e>
                        <m:sub>
                          <m:r>
                            <a:rPr lang="es-CO" i="1">
                              <a:latin typeface="Cambria Math"/>
                            </a:rPr>
                            <m:t>𝑒𝑞</m:t>
                          </m:r>
                        </m:sub>
                      </m:sSub>
                      <m:r>
                        <a:rPr lang="pt-BR" i="1">
                          <a:latin typeface="Cambria Math"/>
                        </a:rPr>
                        <m:t>(</m:t>
                      </m:r>
                      <m:r>
                        <a:rPr lang="es-CO" i="1">
                          <a:latin typeface="Cambria Math"/>
                        </a:rPr>
                        <m:t>𝑠</m:t>
                      </m:r>
                      <m:r>
                        <a:rPr lang="pt-BR" i="1">
                          <a:latin typeface="Cambria Math"/>
                        </a:rPr>
                        <m:t>)</m:t>
                      </m:r>
                    </m:oMath>
                  </m:oMathPara>
                </a14:m>
                <a:endParaRPr lang="es-CO" b="1" i="1" dirty="0"/>
              </a:p>
            </p:txBody>
          </p:sp>
        </mc:Choice>
        <mc:Fallback xmlns="">
          <p:sp>
            <p:nvSpPr>
              <p:cNvPr id="8" name="2 Rectángulo"/>
              <p:cNvSpPr>
                <a:spLocks noRot="1" noChangeAspect="1" noMove="1" noResize="1" noEditPoints="1" noAdjustHandles="1" noChangeArrowheads="1" noChangeShapeType="1" noTextEdit="1"/>
              </p:cNvSpPr>
              <p:nvPr/>
            </p:nvSpPr>
            <p:spPr>
              <a:xfrm>
                <a:off x="2974358" y="1978619"/>
                <a:ext cx="912652" cy="504055"/>
              </a:xfrm>
              <a:prstGeom prst="rect">
                <a:avLst/>
              </a:prstGeom>
              <a:blipFill rotWithShape="0">
                <a:blip r:embed="rId5"/>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9" name="4 Rectángulo"/>
              <p:cNvSpPr/>
              <p:nvPr/>
            </p:nvSpPr>
            <p:spPr>
              <a:xfrm>
                <a:off x="5518514" y="1978462"/>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b="0" i="0" smtClean="0">
                          <a:latin typeface="Cambria Math"/>
                        </a:rPr>
                        <m:t>P</m:t>
                      </m:r>
                      <m:r>
                        <a:rPr lang="pt-BR" b="0" i="0" smtClean="0">
                          <a:latin typeface="Cambria Math"/>
                        </a:rPr>
                        <m:t>(</m:t>
                      </m:r>
                      <m:r>
                        <m:rPr>
                          <m:sty m:val="p"/>
                        </m:rPr>
                        <a:rPr lang="es-CO" b="0" i="0" smtClean="0">
                          <a:latin typeface="Cambria Math"/>
                        </a:rPr>
                        <m:t>s</m:t>
                      </m:r>
                      <m:r>
                        <a:rPr lang="pt-BR" b="0" i="0" smtClean="0">
                          <a:latin typeface="Cambria Math"/>
                        </a:rPr>
                        <m:t>)</m:t>
                      </m:r>
                    </m:oMath>
                  </m:oMathPara>
                </a14:m>
                <a:endParaRPr lang="es-CO" b="1" dirty="0"/>
              </a:p>
            </p:txBody>
          </p:sp>
        </mc:Choice>
        <mc:Fallback xmlns="">
          <p:sp>
            <p:nvSpPr>
              <p:cNvPr id="9" name="4 Rectángulo"/>
              <p:cNvSpPr>
                <a:spLocks noRot="1" noChangeAspect="1" noMove="1" noResize="1" noEditPoints="1" noAdjustHandles="1" noChangeArrowheads="1" noChangeShapeType="1" noTextEdit="1"/>
              </p:cNvSpPr>
              <p:nvPr/>
            </p:nvSpPr>
            <p:spPr>
              <a:xfrm>
                <a:off x="5518514" y="1978462"/>
                <a:ext cx="792088" cy="504055"/>
              </a:xfrm>
              <a:prstGeom prst="rect">
                <a:avLst/>
              </a:prstGeom>
              <a:blipFill rotWithShape="0">
                <a:blip r:embed="rId6"/>
                <a:stretch>
                  <a:fillRect/>
                </a:stretch>
              </a:blipFill>
            </p:spPr>
            <p:txBody>
              <a:bodyPr/>
              <a:lstStyle/>
              <a:p>
                <a:r>
                  <a:rPr lang="es-CO">
                    <a:noFill/>
                  </a:rPr>
                  <a:t> </a:t>
                </a:r>
              </a:p>
            </p:txBody>
          </p:sp>
        </mc:Fallback>
      </mc:AlternateContent>
      <p:sp>
        <p:nvSpPr>
          <p:cNvPr id="10" name="6 Elipse"/>
          <p:cNvSpPr/>
          <p:nvPr/>
        </p:nvSpPr>
        <p:spPr>
          <a:xfrm>
            <a:off x="6775772" y="2014623"/>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400" dirty="0"/>
              <a:t>+</a:t>
            </a:r>
            <a:endParaRPr lang="es-CO" sz="2400" dirty="0"/>
          </a:p>
        </p:txBody>
      </p:sp>
      <p:cxnSp>
        <p:nvCxnSpPr>
          <p:cNvPr id="11" name="8 Conector recto de flecha"/>
          <p:cNvCxnSpPr>
            <a:endCxn id="31" idx="2"/>
          </p:cNvCxnSpPr>
          <p:nvPr/>
        </p:nvCxnSpPr>
        <p:spPr>
          <a:xfrm>
            <a:off x="518911" y="2230486"/>
            <a:ext cx="653474"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3" name="10 Conector recto de flecha"/>
          <p:cNvCxnSpPr>
            <a:stCxn id="8" idx="3"/>
            <a:endCxn id="9" idx="1"/>
          </p:cNvCxnSpPr>
          <p:nvPr/>
        </p:nvCxnSpPr>
        <p:spPr>
          <a:xfrm flipV="1">
            <a:off x="3887010" y="2230490"/>
            <a:ext cx="1631504" cy="15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4" name="13 Conector recto de flecha"/>
          <p:cNvCxnSpPr>
            <a:stCxn id="9" idx="3"/>
            <a:endCxn id="10" idx="2"/>
          </p:cNvCxnSpPr>
          <p:nvPr/>
        </p:nvCxnSpPr>
        <p:spPr>
          <a:xfrm>
            <a:off x="6310602" y="2230490"/>
            <a:ext cx="465170" cy="157"/>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5" name="14 Conector recto de flecha"/>
          <p:cNvCxnSpPr>
            <a:stCxn id="10" idx="6"/>
          </p:cNvCxnSpPr>
          <p:nvPr/>
        </p:nvCxnSpPr>
        <p:spPr>
          <a:xfrm flipV="1">
            <a:off x="7207820" y="2230486"/>
            <a:ext cx="849503" cy="161"/>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7" name="20 Conector recto de flecha"/>
          <p:cNvCxnSpPr>
            <a:endCxn id="31" idx="4"/>
          </p:cNvCxnSpPr>
          <p:nvPr/>
        </p:nvCxnSpPr>
        <p:spPr>
          <a:xfrm flipV="1">
            <a:off x="1388409" y="2446510"/>
            <a:ext cx="0" cy="145333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8" name="21 Conector recto de flecha"/>
          <p:cNvCxnSpPr/>
          <p:nvPr/>
        </p:nvCxnSpPr>
        <p:spPr>
          <a:xfrm>
            <a:off x="7558049" y="2240372"/>
            <a:ext cx="0" cy="1659476"/>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19" name="22 Conector recto de flecha"/>
          <p:cNvCxnSpPr>
            <a:endCxn id="10" idx="0"/>
          </p:cNvCxnSpPr>
          <p:nvPr/>
        </p:nvCxnSpPr>
        <p:spPr>
          <a:xfrm>
            <a:off x="6991796" y="1405945"/>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20" name="24 Conector recto de flecha"/>
          <p:cNvCxnSpPr/>
          <p:nvPr/>
        </p:nvCxnSpPr>
        <p:spPr>
          <a:xfrm>
            <a:off x="1388409" y="3899848"/>
            <a:ext cx="6169640" cy="2"/>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29 Rectángulo"/>
              <p:cNvSpPr/>
              <p:nvPr/>
            </p:nvSpPr>
            <p:spPr>
              <a:xfrm>
                <a:off x="422240" y="1809185"/>
                <a:ext cx="590097"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𝑟</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2" name="29 Rectángulo"/>
              <p:cNvSpPr>
                <a:spLocks noRot="1" noChangeAspect="1" noMove="1" noResize="1" noEditPoints="1" noAdjustHandles="1" noChangeArrowheads="1" noChangeShapeType="1" noTextEdit="1"/>
              </p:cNvSpPr>
              <p:nvPr/>
            </p:nvSpPr>
            <p:spPr>
              <a:xfrm>
                <a:off x="422240" y="1809185"/>
                <a:ext cx="590097" cy="338554"/>
              </a:xfrm>
              <a:prstGeom prst="rect">
                <a:avLst/>
              </a:prstGeom>
              <a:blipFill rotWithShape="0">
                <a:blip r:embed="rId7"/>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3" name="30 Rectángulo"/>
              <p:cNvSpPr/>
              <p:nvPr/>
            </p:nvSpPr>
            <p:spPr>
              <a:xfrm>
                <a:off x="1579226" y="1834216"/>
                <a:ext cx="594906"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𝑒</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3" name="30 Rectángulo"/>
              <p:cNvSpPr>
                <a:spLocks noRot="1" noChangeAspect="1" noMove="1" noResize="1" noEditPoints="1" noAdjustHandles="1" noChangeArrowheads="1" noChangeShapeType="1" noTextEdit="1"/>
              </p:cNvSpPr>
              <p:nvPr/>
            </p:nvSpPr>
            <p:spPr>
              <a:xfrm>
                <a:off x="1579226" y="1834216"/>
                <a:ext cx="594906" cy="338554"/>
              </a:xfrm>
              <a:prstGeom prst="rect">
                <a:avLst/>
              </a:prstGeom>
              <a:blipFill rotWithShape="0">
                <a:blip r:embed="rId8"/>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4" name="31 Rectángulo"/>
              <p:cNvSpPr/>
              <p:nvPr/>
            </p:nvSpPr>
            <p:spPr>
              <a:xfrm>
                <a:off x="4899374" y="1846102"/>
                <a:ext cx="610039"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𝑢</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4" name="31 Rectángulo"/>
              <p:cNvSpPr>
                <a:spLocks noRot="1" noChangeAspect="1" noMove="1" noResize="1" noEditPoints="1" noAdjustHandles="1" noChangeArrowheads="1" noChangeShapeType="1" noTextEdit="1"/>
              </p:cNvSpPr>
              <p:nvPr/>
            </p:nvSpPr>
            <p:spPr>
              <a:xfrm>
                <a:off x="4899374" y="1846102"/>
                <a:ext cx="610039" cy="338554"/>
              </a:xfrm>
              <a:prstGeom prst="rect">
                <a:avLst/>
              </a:prstGeom>
              <a:blipFill rotWithShape="0">
                <a:blip r:embed="rId9"/>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5" name="33 Rectángulo"/>
              <p:cNvSpPr/>
              <p:nvPr/>
            </p:nvSpPr>
            <p:spPr>
              <a:xfrm>
                <a:off x="6310602" y="1236666"/>
                <a:ext cx="695190"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sSub>
                        <m:sSubPr>
                          <m:ctrlPr>
                            <a:rPr lang="pt-BR" sz="1600" b="0" i="1" smtClean="0">
                              <a:latin typeface="Cambria Math" panose="02040503050406030204" pitchFamily="18" charset="0"/>
                            </a:rPr>
                          </m:ctrlPr>
                        </m:sSubPr>
                        <m:e>
                          <m:r>
                            <a:rPr lang="pt-BR" sz="1600" b="0" i="1" smtClean="0">
                              <a:latin typeface="Cambria Math"/>
                            </a:rPr>
                            <m:t>𝑛</m:t>
                          </m:r>
                        </m:e>
                        <m:sub>
                          <m:r>
                            <a:rPr lang="pt-BR" sz="1600" b="0" i="1" smtClean="0">
                              <a:latin typeface="Cambria Math"/>
                            </a:rPr>
                            <m:t>1</m:t>
                          </m:r>
                        </m:sub>
                      </m:sSub>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5" name="33 Rectángulo"/>
              <p:cNvSpPr>
                <a:spLocks noRot="1" noChangeAspect="1" noMove="1" noResize="1" noEditPoints="1" noAdjustHandles="1" noChangeArrowheads="1" noChangeShapeType="1" noTextEdit="1"/>
              </p:cNvSpPr>
              <p:nvPr/>
            </p:nvSpPr>
            <p:spPr>
              <a:xfrm>
                <a:off x="6310602" y="1236666"/>
                <a:ext cx="695190" cy="338554"/>
              </a:xfrm>
              <a:prstGeom prst="rect">
                <a:avLst/>
              </a:prstGeom>
              <a:blipFill rotWithShape="0">
                <a:blip r:embed="rId10"/>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6" name="35 Rectángulo"/>
              <p:cNvSpPr/>
              <p:nvPr/>
            </p:nvSpPr>
            <p:spPr>
              <a:xfrm>
                <a:off x="7450554" y="1780425"/>
                <a:ext cx="606769"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𝑦</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6" name="35 Rectángulo"/>
              <p:cNvSpPr>
                <a:spLocks noRot="1" noChangeAspect="1" noMove="1" noResize="1" noEditPoints="1" noAdjustHandles="1" noChangeArrowheads="1" noChangeShapeType="1" noTextEdit="1"/>
              </p:cNvSpPr>
              <p:nvPr/>
            </p:nvSpPr>
            <p:spPr>
              <a:xfrm>
                <a:off x="7450554" y="1780425"/>
                <a:ext cx="606769" cy="338554"/>
              </a:xfrm>
              <a:prstGeom prst="rect">
                <a:avLst/>
              </a:prstGeom>
              <a:blipFill rotWithShape="0">
                <a:blip r:embed="rId11"/>
                <a:stretch>
                  <a:fillRect b="-892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9" name="38 Rectángulo"/>
              <p:cNvSpPr/>
              <p:nvPr/>
            </p:nvSpPr>
            <p:spPr>
              <a:xfrm>
                <a:off x="1581385" y="3850440"/>
                <a:ext cx="606063"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es-CO" sz="1600" b="0" i="1" smtClean="0">
                          <a:latin typeface="Cambria Math"/>
                        </a:rPr>
                        <m:t>𝑓</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9" name="38 Rectángulo"/>
              <p:cNvSpPr>
                <a:spLocks noRot="1" noChangeAspect="1" noMove="1" noResize="1" noEditPoints="1" noAdjustHandles="1" noChangeArrowheads="1" noChangeShapeType="1" noTextEdit="1"/>
              </p:cNvSpPr>
              <p:nvPr/>
            </p:nvSpPr>
            <p:spPr>
              <a:xfrm>
                <a:off x="1581385" y="3850440"/>
                <a:ext cx="606063" cy="338554"/>
              </a:xfrm>
              <a:prstGeom prst="rect">
                <a:avLst/>
              </a:prstGeom>
              <a:blipFill rotWithShape="0">
                <a:blip r:embed="rId12"/>
                <a:stretch>
                  <a:fillRect b="-10909"/>
                </a:stretch>
              </a:blipFill>
            </p:spPr>
            <p:txBody>
              <a:bodyPr/>
              <a:lstStyle/>
              <a:p>
                <a:r>
                  <a:rPr lang="es-CO">
                    <a:noFill/>
                  </a:rPr>
                  <a:t> </a:t>
                </a:r>
              </a:p>
            </p:txBody>
          </p:sp>
        </mc:Fallback>
      </mc:AlternateContent>
      <p:sp>
        <p:nvSpPr>
          <p:cNvPr id="31" name="63 Elipse"/>
          <p:cNvSpPr/>
          <p:nvPr/>
        </p:nvSpPr>
        <p:spPr>
          <a:xfrm>
            <a:off x="1172385" y="2014462"/>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400" dirty="0"/>
              <a:t>+</a:t>
            </a:r>
            <a:endParaRPr lang="es-CO" sz="2400" dirty="0"/>
          </a:p>
        </p:txBody>
      </p:sp>
      <p:cxnSp>
        <p:nvCxnSpPr>
          <p:cNvPr id="32" name="69 Conector recto de flecha"/>
          <p:cNvCxnSpPr/>
          <p:nvPr/>
        </p:nvCxnSpPr>
        <p:spPr>
          <a:xfrm>
            <a:off x="1532425" y="2519793"/>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p:cxnSp>
        <p:nvCxnSpPr>
          <p:cNvPr id="33" name="73 Conector recto de flecha"/>
          <p:cNvCxnSpPr>
            <a:stCxn id="31" idx="6"/>
          </p:cNvCxnSpPr>
          <p:nvPr/>
        </p:nvCxnSpPr>
        <p:spPr>
          <a:xfrm>
            <a:off x="1604433" y="2230486"/>
            <a:ext cx="1353493" cy="9886"/>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pic>
        <p:nvPicPr>
          <p:cNvPr id="43" name="Imagem 42"/>
          <p:cNvPicPr>
            <a:picLocks noChangeAspect="1"/>
          </p:cNvPicPr>
          <p:nvPr>
            <p:custDataLst>
              <p:tags r:id="rId1"/>
            </p:custDataLst>
          </p:nvPr>
        </p:nvPicPr>
        <p:blipFill>
          <a:blip r:embed="rId13" cstate="print">
            <a:extLst>
              <a:ext uri="{28A0092B-C50C-407E-A947-70E740481C1C}">
                <a14:useLocalDpi xmlns:a14="http://schemas.microsoft.com/office/drawing/2010/main" val="0"/>
              </a:ext>
            </a:extLst>
          </a:blip>
          <a:stretch>
            <a:fillRect/>
          </a:stretch>
        </p:blipFill>
        <p:spPr>
          <a:xfrm>
            <a:off x="2232265" y="2734388"/>
            <a:ext cx="4732020" cy="748665"/>
          </a:xfrm>
          <a:prstGeom prst="rect">
            <a:avLst/>
          </a:prstGeom>
        </p:spPr>
      </p:pic>
      <p:pic>
        <p:nvPicPr>
          <p:cNvPr id="44" name="Imagem 43"/>
          <p:cNvPicPr>
            <a:picLocks noChangeAspect="1"/>
          </p:cNvPicPr>
          <p:nvPr>
            <p:custDataLst>
              <p:tags r:id="rId2"/>
            </p:custDataLst>
          </p:nvPr>
        </p:nvPicPr>
        <p:blipFill>
          <a:blip r:embed="rId14" cstate="print">
            <a:extLst>
              <a:ext uri="{28A0092B-C50C-407E-A947-70E740481C1C}">
                <a14:useLocalDpi xmlns:a14="http://schemas.microsoft.com/office/drawing/2010/main" val="0"/>
              </a:ext>
            </a:extLst>
          </a:blip>
          <a:stretch>
            <a:fillRect/>
          </a:stretch>
        </p:blipFill>
        <p:spPr>
          <a:xfrm>
            <a:off x="8851736" y="2014462"/>
            <a:ext cx="2409825" cy="742950"/>
          </a:xfrm>
          <a:prstGeom prst="rect">
            <a:avLst/>
          </a:prstGeom>
        </p:spPr>
      </p:pic>
    </p:spTree>
    <p:extLst>
      <p:ext uri="{BB962C8B-B14F-4D97-AF65-F5344CB8AC3E}">
        <p14:creationId xmlns:p14="http://schemas.microsoft.com/office/powerpoint/2010/main" val="771255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 presetClass="entr" presetSubtype="0" fill="hold" nodeType="withEffect">
                                  <p:stCondLst>
                                    <p:cond delay="0"/>
                                  </p:stCondLst>
                                  <p:childTnLst>
                                    <p:set>
                                      <p:cBhvr>
                                        <p:cTn id="9" dur="1" fill="hold">
                                          <p:stCondLst>
                                            <p:cond delay="0"/>
                                          </p:stCondLst>
                                        </p:cTn>
                                        <p:tgtEl>
                                          <p:spTgt spid="4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mtClean="0"/>
              <a:pPr/>
              <a:t>23</a:t>
            </a:fld>
            <a:endParaRPr lang="en-US"/>
          </a:p>
        </p:txBody>
      </p:sp>
      <p:pic>
        <p:nvPicPr>
          <p:cNvPr id="4" name="Picture 4"/>
          <p:cNvPicPr>
            <a:picLocks noChangeAspect="1" noChangeArrowheads="1"/>
          </p:cNvPicPr>
          <p:nvPr/>
        </p:nvPicPr>
        <p:blipFill>
          <a:blip r:embed="rId6"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1985159"/>
          </a:xfrm>
          <a:prstGeom prst="rect">
            <a:avLst/>
          </a:prstGeom>
          <a:noFill/>
        </p:spPr>
        <p:txBody>
          <a:bodyPr wrap="square" rtlCol="0">
            <a:spAutoFit/>
          </a:bodyPr>
          <a:lstStyle/>
          <a:p>
            <a:pPr algn="ctr"/>
            <a:r>
              <a:rPr lang="es-CO" sz="3600" b="1" dirty="0">
                <a:solidFill>
                  <a:schemeClr val="bg1"/>
                </a:solidFill>
              </a:rPr>
              <a:t>PREDICTOR DE SMITH</a:t>
            </a:r>
            <a:endParaRPr lang="es-CO" sz="4800" b="1" i="1" dirty="0">
              <a:solidFill>
                <a:schemeClr val="bg1"/>
              </a:solidFill>
            </a:endParaRPr>
          </a:p>
          <a:p>
            <a:pPr algn="ctr"/>
            <a:endParaRPr lang="pt-BR" sz="36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p:pic>
        <p:nvPicPr>
          <p:cNvPr id="6" name="Imagem 5"/>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695400" y="1407329"/>
            <a:ext cx="2409825" cy="742950"/>
          </a:xfrm>
          <a:prstGeom prst="rect">
            <a:avLst/>
          </a:prstGeom>
        </p:spPr>
      </p:pic>
      <p:pic>
        <p:nvPicPr>
          <p:cNvPr id="7" name="Imagem 6"/>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7032104" y="1098155"/>
            <a:ext cx="4732020" cy="748665"/>
          </a:xfrm>
          <a:prstGeom prst="rect">
            <a:avLst/>
          </a:prstGeom>
        </p:spPr>
      </p:pic>
      <p:pic>
        <p:nvPicPr>
          <p:cNvPr id="9" name="Imagem 8"/>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611729" y="2343648"/>
            <a:ext cx="5554980" cy="1584960"/>
          </a:xfrm>
          <a:prstGeom prst="rect">
            <a:avLst/>
          </a:prstGeom>
        </p:spPr>
      </p:pic>
      <p:pic>
        <p:nvPicPr>
          <p:cNvPr id="10" name="Imagem 9"/>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611729" y="4440992"/>
            <a:ext cx="6602730" cy="1623060"/>
          </a:xfrm>
          <a:prstGeom prst="rect">
            <a:avLst/>
          </a:prstGeom>
        </p:spPr>
      </p:pic>
    </p:spTree>
    <p:extLst>
      <p:ext uri="{BB962C8B-B14F-4D97-AF65-F5344CB8AC3E}">
        <p14:creationId xmlns:p14="http://schemas.microsoft.com/office/powerpoint/2010/main" val="3492833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mtClean="0"/>
              <a:pPr/>
              <a:t>24</a:t>
            </a:fld>
            <a:endParaRPr lang="en-US"/>
          </a:p>
        </p:txBody>
      </p:sp>
      <p:pic>
        <p:nvPicPr>
          <p:cNvPr id="4" name="Picture 4"/>
          <p:cNvPicPr>
            <a:picLocks noChangeAspect="1" noChangeArrowheads="1"/>
          </p:cNvPicPr>
          <p:nvPr/>
        </p:nvPicPr>
        <p:blipFill>
          <a:blip r:embed="rId5"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1985159"/>
          </a:xfrm>
          <a:prstGeom prst="rect">
            <a:avLst/>
          </a:prstGeom>
          <a:noFill/>
        </p:spPr>
        <p:txBody>
          <a:bodyPr wrap="square" rtlCol="0">
            <a:spAutoFit/>
          </a:bodyPr>
          <a:lstStyle/>
          <a:p>
            <a:pPr algn="ctr"/>
            <a:r>
              <a:rPr lang="es-CO" sz="3600" b="1" dirty="0">
                <a:solidFill>
                  <a:schemeClr val="bg1"/>
                </a:solidFill>
              </a:rPr>
              <a:t>PREDICTOR DE SMITH</a:t>
            </a:r>
            <a:endParaRPr lang="es-CO" sz="4800" b="1" i="1" dirty="0">
              <a:solidFill>
                <a:schemeClr val="bg1"/>
              </a:solidFill>
            </a:endParaRPr>
          </a:p>
          <a:p>
            <a:pPr algn="ctr"/>
            <a:endParaRPr lang="pt-BR" sz="3600" b="1" i="1" dirty="0">
              <a:solidFill>
                <a:schemeClr val="bg1"/>
              </a:solidFill>
            </a:endParaRPr>
          </a:p>
          <a:p>
            <a:pPr algn="ctr"/>
            <a:endParaRPr lang="pt-BR" sz="3600" b="1" i="1" dirty="0">
              <a:solidFill>
                <a:schemeClr val="bg1"/>
              </a:solidFill>
            </a:endParaRPr>
          </a:p>
          <a:p>
            <a:pPr algn="r"/>
            <a:endParaRPr lang="pt-BR" sz="1100" b="1" i="1" dirty="0">
              <a:solidFill>
                <a:schemeClr val="bg1"/>
              </a:solidFill>
            </a:endParaRPr>
          </a:p>
        </p:txBody>
      </p:sp>
      <p:pic>
        <p:nvPicPr>
          <p:cNvPr id="10" name="Imagem 9"/>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611729" y="4440992"/>
            <a:ext cx="6602730" cy="1623060"/>
          </a:xfrm>
          <a:prstGeom prst="rect">
            <a:avLst/>
          </a:prstGeom>
        </p:spPr>
      </p:pic>
      <p:pic>
        <p:nvPicPr>
          <p:cNvPr id="8" name="Imagem 7"/>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453715" y="3174942"/>
            <a:ext cx="1790700" cy="318135"/>
          </a:xfrm>
          <a:prstGeom prst="rect">
            <a:avLst/>
          </a:prstGeom>
        </p:spPr>
      </p:pic>
      <p:pic>
        <p:nvPicPr>
          <p:cNvPr id="11" name="Imagem 10"/>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597574" y="4143407"/>
            <a:ext cx="6294120" cy="748665"/>
          </a:xfrm>
          <a:prstGeom prst="rect">
            <a:avLst/>
          </a:prstGeom>
        </p:spPr>
      </p:pic>
    </p:spTree>
    <p:extLst>
      <p:ext uri="{BB962C8B-B14F-4D97-AF65-F5344CB8AC3E}">
        <p14:creationId xmlns:p14="http://schemas.microsoft.com/office/powerpoint/2010/main" val="523872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54167E-6 -7.40741E-7 L 0.00183 -0.48634 " pathEditMode="relative" rAng="0" ptsTypes="AA">
                                      <p:cBhvr>
                                        <p:cTn id="6" dur="2000" fill="hold"/>
                                        <p:tgtEl>
                                          <p:spTgt spid="10"/>
                                        </p:tgtEl>
                                        <p:attrNameLst>
                                          <p:attrName>ppt_x</p:attrName>
                                          <p:attrName>ppt_y</p:attrName>
                                        </p:attrNameLst>
                                      </p:cBhvr>
                                      <p:rCtr x="91" y="-24329"/>
                                    </p:animMotion>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mtClean="0"/>
              <a:pPr/>
              <a:t>25</a:t>
            </a:fld>
            <a:endParaRPr lang="en-US"/>
          </a:p>
        </p:txBody>
      </p:sp>
      <p:pic>
        <p:nvPicPr>
          <p:cNvPr id="4" name="Picture 4"/>
          <p:cNvPicPr>
            <a:picLocks noChangeAspect="1" noChangeArrowheads="1"/>
          </p:cNvPicPr>
          <p:nvPr/>
        </p:nvPicPr>
        <p:blipFill>
          <a:blip r:embed="rId8"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646331"/>
          </a:xfrm>
          <a:prstGeom prst="rect">
            <a:avLst/>
          </a:prstGeom>
          <a:noFill/>
        </p:spPr>
        <p:txBody>
          <a:bodyPr wrap="square" rtlCol="0">
            <a:spAutoFit/>
          </a:bodyPr>
          <a:lstStyle/>
          <a:p>
            <a:pPr algn="ctr"/>
            <a:r>
              <a:rPr lang="es-CO" sz="3600" b="1" dirty="0">
                <a:solidFill>
                  <a:schemeClr val="bg1"/>
                </a:solidFill>
              </a:rPr>
              <a:t>PREDICTOR DE SMITH</a:t>
            </a:r>
            <a:endParaRPr lang="pt-BR" sz="1100" b="1" i="1" dirty="0">
              <a:solidFill>
                <a:schemeClr val="bg1"/>
              </a:solidFill>
            </a:endParaRPr>
          </a:p>
        </p:txBody>
      </p:sp>
      <mc:AlternateContent xmlns:mc="http://schemas.openxmlformats.org/markup-compatibility/2006" xmlns:a14="http://schemas.microsoft.com/office/drawing/2010/main">
        <mc:Choice Requires="a14">
          <p:sp>
            <p:nvSpPr>
              <p:cNvPr id="6" name="2 Rectángulo"/>
              <p:cNvSpPr/>
              <p:nvPr/>
            </p:nvSpPr>
            <p:spPr>
              <a:xfrm>
                <a:off x="2105868" y="1978462"/>
                <a:ext cx="91265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es-CO" i="1">
                              <a:latin typeface="Cambria Math"/>
                            </a:rPr>
                            <m:t>𝐶</m:t>
                          </m:r>
                        </m:e>
                        <m:sub>
                          <m:r>
                            <a:rPr lang="es-CO" i="1">
                              <a:latin typeface="Cambria Math"/>
                            </a:rPr>
                            <m:t>𝑒𝑞</m:t>
                          </m:r>
                        </m:sub>
                      </m:sSub>
                      <m:r>
                        <a:rPr lang="pt-BR" i="1">
                          <a:latin typeface="Cambria Math"/>
                        </a:rPr>
                        <m:t>(</m:t>
                      </m:r>
                      <m:r>
                        <a:rPr lang="es-CO" i="1">
                          <a:latin typeface="Cambria Math"/>
                        </a:rPr>
                        <m:t>𝑠</m:t>
                      </m:r>
                      <m:r>
                        <a:rPr lang="pt-BR" i="1">
                          <a:latin typeface="Cambria Math"/>
                        </a:rPr>
                        <m:t>)</m:t>
                      </m:r>
                    </m:oMath>
                  </m:oMathPara>
                </a14:m>
                <a:endParaRPr lang="es-CO" b="1" i="1" dirty="0"/>
              </a:p>
            </p:txBody>
          </p:sp>
        </mc:Choice>
        <mc:Fallback xmlns="">
          <p:sp>
            <p:nvSpPr>
              <p:cNvPr id="6" name="2 Rectángulo"/>
              <p:cNvSpPr>
                <a:spLocks noRot="1" noChangeAspect="1" noMove="1" noResize="1" noEditPoints="1" noAdjustHandles="1" noChangeArrowheads="1" noChangeShapeType="1" noTextEdit="1"/>
              </p:cNvSpPr>
              <p:nvPr/>
            </p:nvSpPr>
            <p:spPr>
              <a:xfrm>
                <a:off x="2105868" y="1978462"/>
                <a:ext cx="912652" cy="504055"/>
              </a:xfrm>
              <a:prstGeom prst="rect">
                <a:avLst/>
              </a:prstGeom>
              <a:blipFill rotWithShape="0">
                <a:blip r:embed="rId9"/>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7" name="4 Rectángulo"/>
              <p:cNvSpPr/>
              <p:nvPr/>
            </p:nvSpPr>
            <p:spPr>
              <a:xfrm>
                <a:off x="4261332" y="1978462"/>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b="0" i="0" smtClean="0">
                          <a:latin typeface="Cambria Math"/>
                        </a:rPr>
                        <m:t>P</m:t>
                      </m:r>
                      <m:r>
                        <a:rPr lang="pt-BR" b="0" i="0" smtClean="0">
                          <a:latin typeface="Cambria Math"/>
                        </a:rPr>
                        <m:t>(</m:t>
                      </m:r>
                      <m:r>
                        <m:rPr>
                          <m:sty m:val="p"/>
                        </m:rPr>
                        <a:rPr lang="es-CO" b="0" i="0" smtClean="0">
                          <a:latin typeface="Cambria Math"/>
                        </a:rPr>
                        <m:t>s</m:t>
                      </m:r>
                      <m:r>
                        <a:rPr lang="pt-BR" b="0" i="0" smtClean="0">
                          <a:latin typeface="Cambria Math"/>
                        </a:rPr>
                        <m:t>)</m:t>
                      </m:r>
                    </m:oMath>
                  </m:oMathPara>
                </a14:m>
                <a:endParaRPr lang="es-CO" b="1" dirty="0"/>
              </a:p>
            </p:txBody>
          </p:sp>
        </mc:Choice>
        <mc:Fallback xmlns="">
          <p:sp>
            <p:nvSpPr>
              <p:cNvPr id="7" name="4 Rectángulo"/>
              <p:cNvSpPr>
                <a:spLocks noRot="1" noChangeAspect="1" noMove="1" noResize="1" noEditPoints="1" noAdjustHandles="1" noChangeArrowheads="1" noChangeShapeType="1" noTextEdit="1"/>
              </p:cNvSpPr>
              <p:nvPr/>
            </p:nvSpPr>
            <p:spPr>
              <a:xfrm>
                <a:off x="4261332" y="1978462"/>
                <a:ext cx="792088" cy="504055"/>
              </a:xfrm>
              <a:prstGeom prst="rect">
                <a:avLst/>
              </a:prstGeom>
              <a:blipFill rotWithShape="0">
                <a:blip r:embed="rId10"/>
                <a:stretch>
                  <a:fillRect/>
                </a:stretch>
              </a:blipFill>
            </p:spPr>
            <p:txBody>
              <a:bodyPr/>
              <a:lstStyle/>
              <a:p>
                <a:r>
                  <a:rPr lang="es-CO">
                    <a:noFill/>
                  </a:rPr>
                  <a:t> </a:t>
                </a:r>
              </a:p>
            </p:txBody>
          </p:sp>
        </mc:Fallback>
      </mc:AlternateContent>
      <p:sp>
        <p:nvSpPr>
          <p:cNvPr id="8" name="6 Elipse"/>
          <p:cNvSpPr/>
          <p:nvPr/>
        </p:nvSpPr>
        <p:spPr>
          <a:xfrm>
            <a:off x="3421663" y="2014462"/>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400" dirty="0"/>
              <a:t>+</a:t>
            </a:r>
            <a:endParaRPr lang="es-CO" sz="2400" dirty="0"/>
          </a:p>
        </p:txBody>
      </p:sp>
      <p:cxnSp>
        <p:nvCxnSpPr>
          <p:cNvPr id="9" name="8 Conector recto de flecha"/>
          <p:cNvCxnSpPr>
            <a:endCxn id="23" idx="2"/>
          </p:cNvCxnSpPr>
          <p:nvPr/>
        </p:nvCxnSpPr>
        <p:spPr>
          <a:xfrm>
            <a:off x="518911" y="2230486"/>
            <a:ext cx="653474"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0" name="10 Conector recto de flecha"/>
          <p:cNvCxnSpPr>
            <a:stCxn id="8" idx="6"/>
            <a:endCxn id="7" idx="1"/>
          </p:cNvCxnSpPr>
          <p:nvPr/>
        </p:nvCxnSpPr>
        <p:spPr>
          <a:xfrm>
            <a:off x="3853711" y="2230486"/>
            <a:ext cx="407621"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1" name="13 Conector recto de flecha"/>
          <p:cNvCxnSpPr>
            <a:stCxn id="6" idx="3"/>
            <a:endCxn id="8" idx="2"/>
          </p:cNvCxnSpPr>
          <p:nvPr/>
        </p:nvCxnSpPr>
        <p:spPr>
          <a:xfrm flipV="1">
            <a:off x="3018520" y="2230486"/>
            <a:ext cx="403143"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2" name="14 Conector recto de flecha"/>
          <p:cNvCxnSpPr>
            <a:stCxn id="7" idx="3"/>
          </p:cNvCxnSpPr>
          <p:nvPr/>
        </p:nvCxnSpPr>
        <p:spPr>
          <a:xfrm flipV="1">
            <a:off x="5053420" y="2228782"/>
            <a:ext cx="623644" cy="170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3" name="20 Conector recto de flecha"/>
          <p:cNvCxnSpPr>
            <a:endCxn id="23" idx="4"/>
          </p:cNvCxnSpPr>
          <p:nvPr/>
        </p:nvCxnSpPr>
        <p:spPr>
          <a:xfrm flipV="1">
            <a:off x="1388409" y="2446510"/>
            <a:ext cx="0" cy="44930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4" name="21 Conector recto de flecha"/>
          <p:cNvCxnSpPr/>
          <p:nvPr/>
        </p:nvCxnSpPr>
        <p:spPr>
          <a:xfrm>
            <a:off x="5375009" y="2214189"/>
            <a:ext cx="0" cy="681621"/>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15" name="22 Conector recto de flecha"/>
          <p:cNvCxnSpPr>
            <a:endCxn id="8" idx="0"/>
          </p:cNvCxnSpPr>
          <p:nvPr/>
        </p:nvCxnSpPr>
        <p:spPr>
          <a:xfrm>
            <a:off x="3637687" y="1405784"/>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6" name="24 Conector recto de flecha"/>
          <p:cNvCxnSpPr/>
          <p:nvPr/>
        </p:nvCxnSpPr>
        <p:spPr>
          <a:xfrm flipV="1">
            <a:off x="1388409" y="2884867"/>
            <a:ext cx="3986600" cy="10943"/>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29 Rectángulo"/>
              <p:cNvSpPr/>
              <p:nvPr/>
            </p:nvSpPr>
            <p:spPr>
              <a:xfrm>
                <a:off x="422240" y="1809185"/>
                <a:ext cx="590097"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𝑟</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17" name="29 Rectángulo"/>
              <p:cNvSpPr>
                <a:spLocks noRot="1" noChangeAspect="1" noMove="1" noResize="1" noEditPoints="1" noAdjustHandles="1" noChangeArrowheads="1" noChangeShapeType="1" noTextEdit="1"/>
              </p:cNvSpPr>
              <p:nvPr/>
            </p:nvSpPr>
            <p:spPr>
              <a:xfrm>
                <a:off x="422240" y="1809185"/>
                <a:ext cx="590097" cy="338554"/>
              </a:xfrm>
              <a:prstGeom prst="rect">
                <a:avLst/>
              </a:prstGeom>
              <a:blipFill rotWithShape="0">
                <a:blip r:embed="rId11"/>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8" name="30 Rectángulo"/>
              <p:cNvSpPr/>
              <p:nvPr/>
            </p:nvSpPr>
            <p:spPr>
              <a:xfrm>
                <a:off x="1579226" y="1834216"/>
                <a:ext cx="594906"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𝑒</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18" name="30 Rectángulo"/>
              <p:cNvSpPr>
                <a:spLocks noRot="1" noChangeAspect="1" noMove="1" noResize="1" noEditPoints="1" noAdjustHandles="1" noChangeArrowheads="1" noChangeShapeType="1" noTextEdit="1"/>
              </p:cNvSpPr>
              <p:nvPr/>
            </p:nvSpPr>
            <p:spPr>
              <a:xfrm>
                <a:off x="1579226" y="1834216"/>
                <a:ext cx="594906" cy="338554"/>
              </a:xfrm>
              <a:prstGeom prst="rect">
                <a:avLst/>
              </a:prstGeom>
              <a:blipFill rotWithShape="0">
                <a:blip r:embed="rId12"/>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9" name="31 Rectángulo"/>
              <p:cNvSpPr/>
              <p:nvPr/>
            </p:nvSpPr>
            <p:spPr>
              <a:xfrm>
                <a:off x="3014042" y="1809185"/>
                <a:ext cx="610039"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𝑢</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19" name="31 Rectángulo"/>
              <p:cNvSpPr>
                <a:spLocks noRot="1" noChangeAspect="1" noMove="1" noResize="1" noEditPoints="1" noAdjustHandles="1" noChangeArrowheads="1" noChangeShapeType="1" noTextEdit="1"/>
              </p:cNvSpPr>
              <p:nvPr/>
            </p:nvSpPr>
            <p:spPr>
              <a:xfrm>
                <a:off x="3014042" y="1809185"/>
                <a:ext cx="610039" cy="338554"/>
              </a:xfrm>
              <a:prstGeom prst="rect">
                <a:avLst/>
              </a:prstGeom>
              <a:blipFill rotWithShape="0">
                <a:blip r:embed="rId13"/>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0" name="33 Rectángulo"/>
              <p:cNvSpPr/>
              <p:nvPr/>
            </p:nvSpPr>
            <p:spPr>
              <a:xfrm>
                <a:off x="3696563" y="1236666"/>
                <a:ext cx="604653"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𝑞</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0" name="33 Rectángulo"/>
              <p:cNvSpPr>
                <a:spLocks noRot="1" noChangeAspect="1" noMove="1" noResize="1" noEditPoints="1" noAdjustHandles="1" noChangeArrowheads="1" noChangeShapeType="1" noTextEdit="1"/>
              </p:cNvSpPr>
              <p:nvPr/>
            </p:nvSpPr>
            <p:spPr>
              <a:xfrm>
                <a:off x="3696563" y="1236666"/>
                <a:ext cx="604653" cy="338554"/>
              </a:xfrm>
              <a:prstGeom prst="rect">
                <a:avLst/>
              </a:prstGeom>
              <a:blipFill rotWithShape="0">
                <a:blip r:embed="rId14"/>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1" name="35 Rectángulo"/>
              <p:cNvSpPr/>
              <p:nvPr/>
            </p:nvSpPr>
            <p:spPr>
              <a:xfrm>
                <a:off x="5157656" y="1819598"/>
                <a:ext cx="606769"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𝑦</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1" name="35 Rectángulo"/>
              <p:cNvSpPr>
                <a:spLocks noRot="1" noChangeAspect="1" noMove="1" noResize="1" noEditPoints="1" noAdjustHandles="1" noChangeArrowheads="1" noChangeShapeType="1" noTextEdit="1"/>
              </p:cNvSpPr>
              <p:nvPr/>
            </p:nvSpPr>
            <p:spPr>
              <a:xfrm>
                <a:off x="5157656" y="1819598"/>
                <a:ext cx="606769" cy="338554"/>
              </a:xfrm>
              <a:prstGeom prst="rect">
                <a:avLst/>
              </a:prstGeom>
              <a:blipFill rotWithShape="0">
                <a:blip r:embed="rId15"/>
                <a:stretch>
                  <a:fillRect b="-8929"/>
                </a:stretch>
              </a:blipFill>
            </p:spPr>
            <p:txBody>
              <a:bodyPr/>
              <a:lstStyle/>
              <a:p>
                <a:r>
                  <a:rPr lang="es-CO">
                    <a:noFill/>
                  </a:rPr>
                  <a:t> </a:t>
                </a:r>
              </a:p>
            </p:txBody>
          </p:sp>
        </mc:Fallback>
      </mc:AlternateContent>
      <p:sp>
        <p:nvSpPr>
          <p:cNvPr id="23" name="63 Elipse"/>
          <p:cNvSpPr/>
          <p:nvPr/>
        </p:nvSpPr>
        <p:spPr>
          <a:xfrm>
            <a:off x="1172385" y="2014462"/>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400" dirty="0"/>
              <a:t>+</a:t>
            </a:r>
            <a:endParaRPr lang="es-CO" sz="2400" dirty="0"/>
          </a:p>
        </p:txBody>
      </p:sp>
      <p:cxnSp>
        <p:nvCxnSpPr>
          <p:cNvPr id="24" name="69 Conector recto de flecha"/>
          <p:cNvCxnSpPr/>
          <p:nvPr/>
        </p:nvCxnSpPr>
        <p:spPr>
          <a:xfrm>
            <a:off x="1532425" y="2519793"/>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p:cxnSp>
        <p:nvCxnSpPr>
          <p:cNvPr id="25" name="73 Conector recto de flecha"/>
          <p:cNvCxnSpPr>
            <a:stCxn id="23" idx="6"/>
            <a:endCxn id="6" idx="1"/>
          </p:cNvCxnSpPr>
          <p:nvPr/>
        </p:nvCxnSpPr>
        <p:spPr>
          <a:xfrm>
            <a:off x="1604433" y="2230486"/>
            <a:ext cx="501435"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pic>
        <p:nvPicPr>
          <p:cNvPr id="44" name="Imagem 43"/>
          <p:cNvPicPr>
            <a:picLocks noChangeAspect="1"/>
          </p:cNvPicPr>
          <p:nvPr>
            <p:custDataLst>
              <p:tags r:id="rId1"/>
            </p:custDataLst>
          </p:nvPr>
        </p:nvPicPr>
        <p:blipFill>
          <a:blip r:embed="rId16" cstate="print">
            <a:extLst>
              <a:ext uri="{28A0092B-C50C-407E-A947-70E740481C1C}">
                <a14:useLocalDpi xmlns:a14="http://schemas.microsoft.com/office/drawing/2010/main" val="0"/>
              </a:ext>
            </a:extLst>
          </a:blip>
          <a:stretch>
            <a:fillRect/>
          </a:stretch>
        </p:blipFill>
        <p:spPr>
          <a:xfrm>
            <a:off x="6600056" y="1200887"/>
            <a:ext cx="4732020" cy="748665"/>
          </a:xfrm>
          <a:prstGeom prst="rect">
            <a:avLst/>
          </a:prstGeom>
        </p:spPr>
      </p:pic>
      <p:pic>
        <p:nvPicPr>
          <p:cNvPr id="46" name="Imagem 45"/>
          <p:cNvPicPr>
            <a:picLocks noChangeAspect="1"/>
          </p:cNvPicPr>
          <p:nvPr>
            <p:custDataLst>
              <p:tags r:id="rId2"/>
            </p:custDataLst>
          </p:nvPr>
        </p:nvPicPr>
        <p:blipFill>
          <a:blip r:embed="rId17" cstate="print">
            <a:extLst>
              <a:ext uri="{28A0092B-C50C-407E-A947-70E740481C1C}">
                <a14:useLocalDpi xmlns:a14="http://schemas.microsoft.com/office/drawing/2010/main" val="0"/>
              </a:ext>
            </a:extLst>
          </a:blip>
          <a:stretch>
            <a:fillRect/>
          </a:stretch>
        </p:blipFill>
        <p:spPr>
          <a:xfrm>
            <a:off x="665708" y="3270592"/>
            <a:ext cx="3030855" cy="739140"/>
          </a:xfrm>
          <a:prstGeom prst="rect">
            <a:avLst/>
          </a:prstGeom>
        </p:spPr>
      </p:pic>
      <p:pic>
        <p:nvPicPr>
          <p:cNvPr id="48" name="Imagem 47"/>
          <p:cNvPicPr>
            <a:picLocks noChangeAspect="1"/>
          </p:cNvPicPr>
          <p:nvPr>
            <p:custDataLst>
              <p:tags r:id="rId3"/>
            </p:custDataLst>
          </p:nvPr>
        </p:nvPicPr>
        <p:blipFill>
          <a:blip r:embed="rId18" cstate="print">
            <a:extLst>
              <a:ext uri="{28A0092B-C50C-407E-A947-70E740481C1C}">
                <a14:useLocalDpi xmlns:a14="http://schemas.microsoft.com/office/drawing/2010/main" val="0"/>
              </a:ext>
            </a:extLst>
          </a:blip>
          <a:stretch>
            <a:fillRect/>
          </a:stretch>
        </p:blipFill>
        <p:spPr>
          <a:xfrm>
            <a:off x="4469892" y="1282284"/>
            <a:ext cx="1790700" cy="318135"/>
          </a:xfrm>
          <a:prstGeom prst="rect">
            <a:avLst/>
          </a:prstGeom>
        </p:spPr>
      </p:pic>
      <p:pic>
        <p:nvPicPr>
          <p:cNvPr id="49" name="Imagem 48"/>
          <p:cNvPicPr>
            <a:picLocks noChangeAspect="1"/>
          </p:cNvPicPr>
          <p:nvPr>
            <p:custDataLst>
              <p:tags r:id="rId4"/>
            </p:custDataLst>
          </p:nvPr>
        </p:nvPicPr>
        <p:blipFill>
          <a:blip r:embed="rId19" cstate="print">
            <a:extLst>
              <a:ext uri="{28A0092B-C50C-407E-A947-70E740481C1C}">
                <a14:useLocalDpi xmlns:a14="http://schemas.microsoft.com/office/drawing/2010/main" val="0"/>
              </a:ext>
            </a:extLst>
          </a:blip>
          <a:stretch>
            <a:fillRect/>
          </a:stretch>
        </p:blipFill>
        <p:spPr>
          <a:xfrm>
            <a:off x="4801870" y="3199950"/>
            <a:ext cx="3935730" cy="1093470"/>
          </a:xfrm>
          <a:prstGeom prst="rect">
            <a:avLst/>
          </a:prstGeom>
        </p:spPr>
      </p:pic>
      <p:cxnSp>
        <p:nvCxnSpPr>
          <p:cNvPr id="51" name="Conector de seta reta 50"/>
          <p:cNvCxnSpPr/>
          <p:nvPr/>
        </p:nvCxnSpPr>
        <p:spPr>
          <a:xfrm>
            <a:off x="3998889" y="3640162"/>
            <a:ext cx="65848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53" name="Imagem 52"/>
          <p:cNvPicPr>
            <a:picLocks noChangeAspect="1"/>
          </p:cNvPicPr>
          <p:nvPr>
            <p:custDataLst>
              <p:tags r:id="rId5"/>
            </p:custDataLst>
          </p:nvPr>
        </p:nvPicPr>
        <p:blipFill>
          <a:blip r:embed="rId20" cstate="print">
            <a:extLst>
              <a:ext uri="{28A0092B-C50C-407E-A947-70E740481C1C}">
                <a14:useLocalDpi xmlns:a14="http://schemas.microsoft.com/office/drawing/2010/main" val="0"/>
              </a:ext>
            </a:extLst>
          </a:blip>
          <a:stretch>
            <a:fillRect/>
          </a:stretch>
        </p:blipFill>
        <p:spPr>
          <a:xfrm>
            <a:off x="518911" y="4701867"/>
            <a:ext cx="4196715" cy="718185"/>
          </a:xfrm>
          <a:prstGeom prst="rect">
            <a:avLst/>
          </a:prstGeom>
        </p:spPr>
      </p:pic>
      <p:cxnSp>
        <p:nvCxnSpPr>
          <p:cNvPr id="55" name="Conector reto 54"/>
          <p:cNvCxnSpPr/>
          <p:nvPr/>
        </p:nvCxnSpPr>
        <p:spPr>
          <a:xfrm flipV="1">
            <a:off x="3220091" y="5060959"/>
            <a:ext cx="633620" cy="35909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p:nvPr/>
        </p:nvCxnSpPr>
        <p:spPr>
          <a:xfrm flipV="1">
            <a:off x="4153082" y="5072700"/>
            <a:ext cx="633620" cy="35909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Conector de seta reta 56"/>
          <p:cNvCxnSpPr/>
          <p:nvPr/>
        </p:nvCxnSpPr>
        <p:spPr>
          <a:xfrm>
            <a:off x="5035998" y="5091121"/>
            <a:ext cx="65848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58" name="Imagem 57"/>
          <p:cNvPicPr>
            <a:picLocks noChangeAspect="1"/>
          </p:cNvPicPr>
          <p:nvPr>
            <p:custDataLst>
              <p:tags r:id="rId6"/>
            </p:custDataLst>
          </p:nvPr>
        </p:nvPicPr>
        <p:blipFill>
          <a:blip r:embed="rId21" cstate="print">
            <a:extLst>
              <a:ext uri="{28A0092B-C50C-407E-A947-70E740481C1C}">
                <a14:useLocalDpi xmlns:a14="http://schemas.microsoft.com/office/drawing/2010/main" val="0"/>
              </a:ext>
            </a:extLst>
          </a:blip>
          <a:stretch>
            <a:fillRect/>
          </a:stretch>
        </p:blipFill>
        <p:spPr>
          <a:xfrm>
            <a:off x="6096000" y="4731076"/>
            <a:ext cx="3808095" cy="718185"/>
          </a:xfrm>
          <a:prstGeom prst="rect">
            <a:avLst/>
          </a:prstGeom>
        </p:spPr>
      </p:pic>
    </p:spTree>
    <p:extLst>
      <p:ext uri="{BB962C8B-B14F-4D97-AF65-F5344CB8AC3E}">
        <p14:creationId xmlns:p14="http://schemas.microsoft.com/office/powerpoint/2010/main" val="2815219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fade">
                                      <p:cBhvr>
                                        <p:cTn id="12" dur="500"/>
                                        <p:tgtEl>
                                          <p:spTgt spid="51"/>
                                        </p:tgtEl>
                                      </p:cBhvr>
                                    </p:animEffect>
                                  </p:childTnLst>
                                </p:cTn>
                              </p:par>
                              <p:par>
                                <p:cTn id="13" presetID="10" presetClass="entr" presetSubtype="0"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500"/>
                                        <p:tgtEl>
                                          <p:spTgt spid="4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500"/>
                                        <p:tgtEl>
                                          <p:spTgt spid="5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500"/>
                                        <p:tgtEl>
                                          <p:spTgt spid="57"/>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58"/>
                                        </p:tgtEl>
                                        <p:attrNameLst>
                                          <p:attrName>style.visibility</p:attrName>
                                        </p:attrNameLst>
                                      </p:cBhvr>
                                      <p:to>
                                        <p:strVal val="visible"/>
                                      </p:to>
                                    </p:set>
                                    <p:animEffect transition="in" filter="fade">
                                      <p:cBhvr>
                                        <p:cTn id="3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mtClean="0"/>
              <a:pPr/>
              <a:t>26</a:t>
            </a:fld>
            <a:endParaRPr lang="en-US"/>
          </a:p>
        </p:txBody>
      </p:sp>
      <p:pic>
        <p:nvPicPr>
          <p:cNvPr id="4" name="Picture 4"/>
          <p:cNvPicPr>
            <a:picLocks noChangeAspect="1" noChangeArrowheads="1"/>
          </p:cNvPicPr>
          <p:nvPr/>
        </p:nvPicPr>
        <p:blipFill>
          <a:blip r:embed="rId7"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646331"/>
          </a:xfrm>
          <a:prstGeom prst="rect">
            <a:avLst/>
          </a:prstGeom>
          <a:noFill/>
        </p:spPr>
        <p:txBody>
          <a:bodyPr wrap="square" rtlCol="0">
            <a:spAutoFit/>
          </a:bodyPr>
          <a:lstStyle/>
          <a:p>
            <a:pPr algn="ctr"/>
            <a:r>
              <a:rPr lang="es-CO" sz="3600" b="1" dirty="0">
                <a:solidFill>
                  <a:schemeClr val="bg1"/>
                </a:solidFill>
              </a:rPr>
              <a:t>PREDICTOR DE SMITH</a:t>
            </a:r>
            <a:endParaRPr lang="pt-BR" sz="1100" b="1" i="1" dirty="0">
              <a:solidFill>
                <a:schemeClr val="bg1"/>
              </a:solidFill>
            </a:endParaRPr>
          </a:p>
        </p:txBody>
      </p:sp>
      <mc:AlternateContent xmlns:mc="http://schemas.openxmlformats.org/markup-compatibility/2006" xmlns:a14="http://schemas.microsoft.com/office/drawing/2010/main">
        <mc:Choice Requires="a14">
          <p:sp>
            <p:nvSpPr>
              <p:cNvPr id="6" name="2 Rectángulo"/>
              <p:cNvSpPr/>
              <p:nvPr/>
            </p:nvSpPr>
            <p:spPr>
              <a:xfrm>
                <a:off x="2105868" y="1978462"/>
                <a:ext cx="912652"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es-CO" i="1">
                              <a:latin typeface="Cambria Math"/>
                            </a:rPr>
                            <m:t>𝐶</m:t>
                          </m:r>
                        </m:e>
                        <m:sub>
                          <m:r>
                            <a:rPr lang="es-CO" i="1">
                              <a:latin typeface="Cambria Math"/>
                            </a:rPr>
                            <m:t>𝑒𝑞</m:t>
                          </m:r>
                        </m:sub>
                      </m:sSub>
                      <m:r>
                        <a:rPr lang="pt-BR" i="1">
                          <a:latin typeface="Cambria Math"/>
                        </a:rPr>
                        <m:t>(</m:t>
                      </m:r>
                      <m:r>
                        <a:rPr lang="es-CO" i="1">
                          <a:latin typeface="Cambria Math"/>
                        </a:rPr>
                        <m:t>𝑠</m:t>
                      </m:r>
                      <m:r>
                        <a:rPr lang="pt-BR" i="1">
                          <a:latin typeface="Cambria Math"/>
                        </a:rPr>
                        <m:t>)</m:t>
                      </m:r>
                    </m:oMath>
                  </m:oMathPara>
                </a14:m>
                <a:endParaRPr lang="es-CO" b="1" i="1" dirty="0"/>
              </a:p>
            </p:txBody>
          </p:sp>
        </mc:Choice>
        <mc:Fallback xmlns="">
          <p:sp>
            <p:nvSpPr>
              <p:cNvPr id="6" name="2 Rectángulo"/>
              <p:cNvSpPr>
                <a:spLocks noRot="1" noChangeAspect="1" noMove="1" noResize="1" noEditPoints="1" noAdjustHandles="1" noChangeArrowheads="1" noChangeShapeType="1" noTextEdit="1"/>
              </p:cNvSpPr>
              <p:nvPr/>
            </p:nvSpPr>
            <p:spPr>
              <a:xfrm>
                <a:off x="2105868" y="1978462"/>
                <a:ext cx="912652" cy="504055"/>
              </a:xfrm>
              <a:prstGeom prst="rect">
                <a:avLst/>
              </a:prstGeom>
              <a:blipFill rotWithShape="0">
                <a:blip r:embed="rId8"/>
                <a:stretch>
                  <a:fillRect/>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7" name="4 Rectángulo"/>
              <p:cNvSpPr/>
              <p:nvPr/>
            </p:nvSpPr>
            <p:spPr>
              <a:xfrm>
                <a:off x="4261332" y="1978462"/>
                <a:ext cx="792088" cy="504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pt-BR" b="0" i="0" smtClean="0">
                          <a:latin typeface="Cambria Math"/>
                        </a:rPr>
                        <m:t>P</m:t>
                      </m:r>
                      <m:r>
                        <a:rPr lang="pt-BR" b="0" i="0" smtClean="0">
                          <a:latin typeface="Cambria Math"/>
                        </a:rPr>
                        <m:t>(</m:t>
                      </m:r>
                      <m:r>
                        <m:rPr>
                          <m:sty m:val="p"/>
                        </m:rPr>
                        <a:rPr lang="es-CO" b="0" i="0" smtClean="0">
                          <a:latin typeface="Cambria Math"/>
                        </a:rPr>
                        <m:t>s</m:t>
                      </m:r>
                      <m:r>
                        <a:rPr lang="pt-BR" b="0" i="0" smtClean="0">
                          <a:latin typeface="Cambria Math"/>
                        </a:rPr>
                        <m:t>)</m:t>
                      </m:r>
                    </m:oMath>
                  </m:oMathPara>
                </a14:m>
                <a:endParaRPr lang="es-CO" b="1" dirty="0"/>
              </a:p>
            </p:txBody>
          </p:sp>
        </mc:Choice>
        <mc:Fallback xmlns="">
          <p:sp>
            <p:nvSpPr>
              <p:cNvPr id="7" name="4 Rectángulo"/>
              <p:cNvSpPr>
                <a:spLocks noRot="1" noChangeAspect="1" noMove="1" noResize="1" noEditPoints="1" noAdjustHandles="1" noChangeArrowheads="1" noChangeShapeType="1" noTextEdit="1"/>
              </p:cNvSpPr>
              <p:nvPr/>
            </p:nvSpPr>
            <p:spPr>
              <a:xfrm>
                <a:off x="4261332" y="1978462"/>
                <a:ext cx="792088" cy="504055"/>
              </a:xfrm>
              <a:prstGeom prst="rect">
                <a:avLst/>
              </a:prstGeom>
              <a:blipFill rotWithShape="0">
                <a:blip r:embed="rId9"/>
                <a:stretch>
                  <a:fillRect/>
                </a:stretch>
              </a:blipFill>
            </p:spPr>
            <p:txBody>
              <a:bodyPr/>
              <a:lstStyle/>
              <a:p>
                <a:r>
                  <a:rPr lang="es-CO">
                    <a:noFill/>
                  </a:rPr>
                  <a:t> </a:t>
                </a:r>
              </a:p>
            </p:txBody>
          </p:sp>
        </mc:Fallback>
      </mc:AlternateContent>
      <p:sp>
        <p:nvSpPr>
          <p:cNvPr id="8" name="6 Elipse"/>
          <p:cNvSpPr/>
          <p:nvPr/>
        </p:nvSpPr>
        <p:spPr>
          <a:xfrm>
            <a:off x="3421663" y="2014462"/>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400" dirty="0"/>
              <a:t>+</a:t>
            </a:r>
            <a:endParaRPr lang="es-CO" sz="2400" dirty="0"/>
          </a:p>
        </p:txBody>
      </p:sp>
      <p:cxnSp>
        <p:nvCxnSpPr>
          <p:cNvPr id="9" name="8 Conector recto de flecha"/>
          <p:cNvCxnSpPr>
            <a:endCxn id="23" idx="2"/>
          </p:cNvCxnSpPr>
          <p:nvPr/>
        </p:nvCxnSpPr>
        <p:spPr>
          <a:xfrm>
            <a:off x="518911" y="2230486"/>
            <a:ext cx="653474" cy="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0" name="10 Conector recto de flecha"/>
          <p:cNvCxnSpPr>
            <a:stCxn id="8" idx="6"/>
            <a:endCxn id="7" idx="1"/>
          </p:cNvCxnSpPr>
          <p:nvPr/>
        </p:nvCxnSpPr>
        <p:spPr>
          <a:xfrm>
            <a:off x="3853711" y="2230486"/>
            <a:ext cx="407621"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1" name="13 Conector recto de flecha"/>
          <p:cNvCxnSpPr>
            <a:stCxn id="6" idx="3"/>
            <a:endCxn id="8" idx="2"/>
          </p:cNvCxnSpPr>
          <p:nvPr/>
        </p:nvCxnSpPr>
        <p:spPr>
          <a:xfrm flipV="1">
            <a:off x="3018520" y="2230486"/>
            <a:ext cx="403143"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2" name="14 Conector recto de flecha"/>
          <p:cNvCxnSpPr>
            <a:stCxn id="7" idx="3"/>
          </p:cNvCxnSpPr>
          <p:nvPr/>
        </p:nvCxnSpPr>
        <p:spPr>
          <a:xfrm flipV="1">
            <a:off x="5053420" y="2228782"/>
            <a:ext cx="623644" cy="170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3" name="20 Conector recto de flecha"/>
          <p:cNvCxnSpPr>
            <a:endCxn id="23" idx="4"/>
          </p:cNvCxnSpPr>
          <p:nvPr/>
        </p:nvCxnSpPr>
        <p:spPr>
          <a:xfrm flipV="1">
            <a:off x="1388409" y="2446510"/>
            <a:ext cx="0" cy="449300"/>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4" name="21 Conector recto de flecha"/>
          <p:cNvCxnSpPr/>
          <p:nvPr/>
        </p:nvCxnSpPr>
        <p:spPr>
          <a:xfrm>
            <a:off x="5375009" y="2214189"/>
            <a:ext cx="0" cy="681621"/>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p:cxnSp>
        <p:nvCxnSpPr>
          <p:cNvPr id="15" name="22 Conector recto de flecha"/>
          <p:cNvCxnSpPr>
            <a:endCxn id="8" idx="0"/>
          </p:cNvCxnSpPr>
          <p:nvPr/>
        </p:nvCxnSpPr>
        <p:spPr>
          <a:xfrm>
            <a:off x="3637687" y="1405784"/>
            <a:ext cx="0" cy="608678"/>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cxnSp>
        <p:nvCxnSpPr>
          <p:cNvPr id="16" name="24 Conector recto de flecha"/>
          <p:cNvCxnSpPr/>
          <p:nvPr/>
        </p:nvCxnSpPr>
        <p:spPr>
          <a:xfrm flipV="1">
            <a:off x="1388409" y="2884867"/>
            <a:ext cx="3986600" cy="10943"/>
          </a:xfrm>
          <a:prstGeom prst="straightConnector1">
            <a:avLst/>
          </a:prstGeom>
          <a:ln w="25400">
            <a:tailEnd type="non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29 Rectángulo"/>
              <p:cNvSpPr/>
              <p:nvPr/>
            </p:nvSpPr>
            <p:spPr>
              <a:xfrm>
                <a:off x="422240" y="1809185"/>
                <a:ext cx="590097"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𝑟</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17" name="29 Rectángulo"/>
              <p:cNvSpPr>
                <a:spLocks noRot="1" noChangeAspect="1" noMove="1" noResize="1" noEditPoints="1" noAdjustHandles="1" noChangeArrowheads="1" noChangeShapeType="1" noTextEdit="1"/>
              </p:cNvSpPr>
              <p:nvPr/>
            </p:nvSpPr>
            <p:spPr>
              <a:xfrm>
                <a:off x="422240" y="1809185"/>
                <a:ext cx="590097" cy="338554"/>
              </a:xfrm>
              <a:prstGeom prst="rect">
                <a:avLst/>
              </a:prstGeom>
              <a:blipFill rotWithShape="0">
                <a:blip r:embed="rId10"/>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8" name="30 Rectángulo"/>
              <p:cNvSpPr/>
              <p:nvPr/>
            </p:nvSpPr>
            <p:spPr>
              <a:xfrm>
                <a:off x="1579226" y="1834216"/>
                <a:ext cx="594906"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𝑒</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18" name="30 Rectángulo"/>
              <p:cNvSpPr>
                <a:spLocks noRot="1" noChangeAspect="1" noMove="1" noResize="1" noEditPoints="1" noAdjustHandles="1" noChangeArrowheads="1" noChangeShapeType="1" noTextEdit="1"/>
              </p:cNvSpPr>
              <p:nvPr/>
            </p:nvSpPr>
            <p:spPr>
              <a:xfrm>
                <a:off x="1579226" y="1834216"/>
                <a:ext cx="594906" cy="338554"/>
              </a:xfrm>
              <a:prstGeom prst="rect">
                <a:avLst/>
              </a:prstGeom>
              <a:blipFill rotWithShape="0">
                <a:blip r:embed="rId11"/>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9" name="31 Rectángulo"/>
              <p:cNvSpPr/>
              <p:nvPr/>
            </p:nvSpPr>
            <p:spPr>
              <a:xfrm>
                <a:off x="3014042" y="1809185"/>
                <a:ext cx="610039"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𝑢</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19" name="31 Rectángulo"/>
              <p:cNvSpPr>
                <a:spLocks noRot="1" noChangeAspect="1" noMove="1" noResize="1" noEditPoints="1" noAdjustHandles="1" noChangeArrowheads="1" noChangeShapeType="1" noTextEdit="1"/>
              </p:cNvSpPr>
              <p:nvPr/>
            </p:nvSpPr>
            <p:spPr>
              <a:xfrm>
                <a:off x="3014042" y="1809185"/>
                <a:ext cx="610039" cy="338554"/>
              </a:xfrm>
              <a:prstGeom prst="rect">
                <a:avLst/>
              </a:prstGeom>
              <a:blipFill rotWithShape="0">
                <a:blip r:embed="rId12"/>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0" name="33 Rectángulo"/>
              <p:cNvSpPr/>
              <p:nvPr/>
            </p:nvSpPr>
            <p:spPr>
              <a:xfrm>
                <a:off x="3696563" y="1236666"/>
                <a:ext cx="604653"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𝑞</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0" name="33 Rectángulo"/>
              <p:cNvSpPr>
                <a:spLocks noRot="1" noChangeAspect="1" noMove="1" noResize="1" noEditPoints="1" noAdjustHandles="1" noChangeArrowheads="1" noChangeShapeType="1" noTextEdit="1"/>
              </p:cNvSpPr>
              <p:nvPr/>
            </p:nvSpPr>
            <p:spPr>
              <a:xfrm>
                <a:off x="3696563" y="1236666"/>
                <a:ext cx="604653" cy="338554"/>
              </a:xfrm>
              <a:prstGeom prst="rect">
                <a:avLst/>
              </a:prstGeom>
              <a:blipFill rotWithShape="0">
                <a:blip r:embed="rId13"/>
                <a:stretch>
                  <a:fillRect b="-1090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1" name="35 Rectángulo"/>
              <p:cNvSpPr/>
              <p:nvPr/>
            </p:nvSpPr>
            <p:spPr>
              <a:xfrm>
                <a:off x="5157656" y="1819598"/>
                <a:ext cx="606769" cy="338554"/>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pt-BR" sz="1600" b="0" i="1" smtClean="0">
                          <a:latin typeface="Cambria Math"/>
                        </a:rPr>
                        <m:t>𝑦</m:t>
                      </m:r>
                      <m:r>
                        <a:rPr lang="pt-BR" sz="1600" b="0" i="1" smtClean="0">
                          <a:latin typeface="Cambria Math"/>
                        </a:rPr>
                        <m:t>(</m:t>
                      </m:r>
                      <m:r>
                        <a:rPr lang="es-CO" sz="1600" b="0" i="1" smtClean="0">
                          <a:latin typeface="Cambria Math"/>
                        </a:rPr>
                        <m:t>𝑡</m:t>
                      </m:r>
                      <m:r>
                        <a:rPr lang="pt-BR" sz="1600" b="0" i="1" smtClean="0">
                          <a:latin typeface="Cambria Math"/>
                        </a:rPr>
                        <m:t>)</m:t>
                      </m:r>
                    </m:oMath>
                  </m:oMathPara>
                </a14:m>
                <a:endParaRPr lang="es-CO" sz="1600" b="1" i="1" dirty="0"/>
              </a:p>
            </p:txBody>
          </p:sp>
        </mc:Choice>
        <mc:Fallback xmlns="">
          <p:sp>
            <p:nvSpPr>
              <p:cNvPr id="21" name="35 Rectángulo"/>
              <p:cNvSpPr>
                <a:spLocks noRot="1" noChangeAspect="1" noMove="1" noResize="1" noEditPoints="1" noAdjustHandles="1" noChangeArrowheads="1" noChangeShapeType="1" noTextEdit="1"/>
              </p:cNvSpPr>
              <p:nvPr/>
            </p:nvSpPr>
            <p:spPr>
              <a:xfrm>
                <a:off x="5157656" y="1819598"/>
                <a:ext cx="606769" cy="338554"/>
              </a:xfrm>
              <a:prstGeom prst="rect">
                <a:avLst/>
              </a:prstGeom>
              <a:blipFill rotWithShape="0">
                <a:blip r:embed="rId14"/>
                <a:stretch>
                  <a:fillRect b="-8929"/>
                </a:stretch>
              </a:blipFill>
            </p:spPr>
            <p:txBody>
              <a:bodyPr/>
              <a:lstStyle/>
              <a:p>
                <a:r>
                  <a:rPr lang="es-CO">
                    <a:noFill/>
                  </a:rPr>
                  <a:t> </a:t>
                </a:r>
              </a:p>
            </p:txBody>
          </p:sp>
        </mc:Fallback>
      </mc:AlternateContent>
      <p:sp>
        <p:nvSpPr>
          <p:cNvPr id="23" name="63 Elipse"/>
          <p:cNvSpPr/>
          <p:nvPr/>
        </p:nvSpPr>
        <p:spPr>
          <a:xfrm>
            <a:off x="1172385" y="2014462"/>
            <a:ext cx="432048" cy="43204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pt-BR" sz="2400" dirty="0"/>
              <a:t>+</a:t>
            </a:r>
            <a:endParaRPr lang="es-CO" sz="2400" dirty="0"/>
          </a:p>
        </p:txBody>
      </p:sp>
      <p:cxnSp>
        <p:nvCxnSpPr>
          <p:cNvPr id="24" name="69 Conector recto de flecha"/>
          <p:cNvCxnSpPr/>
          <p:nvPr/>
        </p:nvCxnSpPr>
        <p:spPr>
          <a:xfrm>
            <a:off x="1532425" y="2519793"/>
            <a:ext cx="144016" cy="0"/>
          </a:xfrm>
          <a:prstGeom prst="straightConnector1">
            <a:avLst/>
          </a:prstGeom>
          <a:ln w="15875">
            <a:tailEnd type="none"/>
          </a:ln>
        </p:spPr>
        <p:style>
          <a:lnRef idx="1">
            <a:schemeClr val="dk1"/>
          </a:lnRef>
          <a:fillRef idx="0">
            <a:schemeClr val="dk1"/>
          </a:fillRef>
          <a:effectRef idx="0">
            <a:schemeClr val="dk1"/>
          </a:effectRef>
          <a:fontRef idx="minor">
            <a:schemeClr val="tx1"/>
          </a:fontRef>
        </p:style>
      </p:cxnSp>
      <p:cxnSp>
        <p:nvCxnSpPr>
          <p:cNvPr id="25" name="73 Conector recto de flecha"/>
          <p:cNvCxnSpPr>
            <a:stCxn id="23" idx="6"/>
            <a:endCxn id="6" idx="1"/>
          </p:cNvCxnSpPr>
          <p:nvPr/>
        </p:nvCxnSpPr>
        <p:spPr>
          <a:xfrm>
            <a:off x="1604433" y="2230486"/>
            <a:ext cx="501435" cy="4"/>
          </a:xfrm>
          <a:prstGeom prst="straightConnector1">
            <a:avLst/>
          </a:prstGeom>
          <a:ln w="25400">
            <a:tailEnd type="arrow"/>
          </a:ln>
        </p:spPr>
        <p:style>
          <a:lnRef idx="1">
            <a:schemeClr val="dk1"/>
          </a:lnRef>
          <a:fillRef idx="0">
            <a:schemeClr val="dk1"/>
          </a:fillRef>
          <a:effectRef idx="0">
            <a:schemeClr val="dk1"/>
          </a:effectRef>
          <a:fontRef idx="minor">
            <a:schemeClr val="tx1"/>
          </a:fontRef>
        </p:style>
      </p:cxnSp>
      <p:pic>
        <p:nvPicPr>
          <p:cNvPr id="44" name="Imagem 43"/>
          <p:cNvPicPr>
            <a:picLocks noChangeAspect="1"/>
          </p:cNvPicPr>
          <p:nvPr>
            <p:custDataLst>
              <p:tags r:id="rId1"/>
            </p:custDataLst>
          </p:nvPr>
        </p:nvPicPr>
        <p:blipFill>
          <a:blip r:embed="rId15" cstate="print">
            <a:extLst>
              <a:ext uri="{28A0092B-C50C-407E-A947-70E740481C1C}">
                <a14:useLocalDpi xmlns:a14="http://schemas.microsoft.com/office/drawing/2010/main" val="0"/>
              </a:ext>
            </a:extLst>
          </a:blip>
          <a:stretch>
            <a:fillRect/>
          </a:stretch>
        </p:blipFill>
        <p:spPr>
          <a:xfrm>
            <a:off x="6600056" y="1200887"/>
            <a:ext cx="4732020" cy="748665"/>
          </a:xfrm>
          <a:prstGeom prst="rect">
            <a:avLst/>
          </a:prstGeom>
        </p:spPr>
      </p:pic>
      <p:pic>
        <p:nvPicPr>
          <p:cNvPr id="48" name="Imagem 47"/>
          <p:cNvPicPr>
            <a:picLocks noChangeAspect="1"/>
          </p:cNvPicPr>
          <p:nvPr>
            <p:custDataLst>
              <p:tags r:id="rId2"/>
            </p:custDataLst>
          </p:nvPr>
        </p:nvPicPr>
        <p:blipFill>
          <a:blip r:embed="rId16" cstate="print">
            <a:extLst>
              <a:ext uri="{28A0092B-C50C-407E-A947-70E740481C1C}">
                <a14:useLocalDpi xmlns:a14="http://schemas.microsoft.com/office/drawing/2010/main" val="0"/>
              </a:ext>
            </a:extLst>
          </a:blip>
          <a:stretch>
            <a:fillRect/>
          </a:stretch>
        </p:blipFill>
        <p:spPr>
          <a:xfrm>
            <a:off x="4469892" y="1282284"/>
            <a:ext cx="1790700" cy="318135"/>
          </a:xfrm>
          <a:prstGeom prst="rect">
            <a:avLst/>
          </a:prstGeom>
        </p:spPr>
      </p:pic>
      <p:pic>
        <p:nvPicPr>
          <p:cNvPr id="58" name="Imagem 57"/>
          <p:cNvPicPr>
            <a:picLocks noChangeAspect="1"/>
          </p:cNvPicPr>
          <p:nvPr>
            <p:custDataLst>
              <p:tags r:id="rId3"/>
            </p:custDataLst>
          </p:nvPr>
        </p:nvPicPr>
        <p:blipFill>
          <a:blip r:embed="rId17" cstate="print">
            <a:extLst>
              <a:ext uri="{28A0092B-C50C-407E-A947-70E740481C1C}">
                <a14:useLocalDpi xmlns:a14="http://schemas.microsoft.com/office/drawing/2010/main" val="0"/>
              </a:ext>
            </a:extLst>
          </a:blip>
          <a:stretch>
            <a:fillRect/>
          </a:stretch>
        </p:blipFill>
        <p:spPr>
          <a:xfrm>
            <a:off x="6096000" y="4731076"/>
            <a:ext cx="3808095" cy="718185"/>
          </a:xfrm>
          <a:prstGeom prst="rect">
            <a:avLst/>
          </a:prstGeom>
        </p:spPr>
      </p:pic>
      <p:pic>
        <p:nvPicPr>
          <p:cNvPr id="22" name="Imagem 21"/>
          <p:cNvPicPr>
            <a:picLocks noChangeAspect="1"/>
          </p:cNvPicPr>
          <p:nvPr>
            <p:custDataLst>
              <p:tags r:id="rId4"/>
            </p:custDataLst>
          </p:nvPr>
        </p:nvPicPr>
        <p:blipFill>
          <a:blip r:embed="rId18" cstate="print">
            <a:extLst>
              <a:ext uri="{28A0092B-C50C-407E-A947-70E740481C1C}">
                <a14:useLocalDpi xmlns:a14="http://schemas.microsoft.com/office/drawing/2010/main" val="0"/>
              </a:ext>
            </a:extLst>
          </a:blip>
          <a:stretch>
            <a:fillRect/>
          </a:stretch>
        </p:blipFill>
        <p:spPr>
          <a:xfrm>
            <a:off x="764645" y="3389607"/>
            <a:ext cx="3585210" cy="760095"/>
          </a:xfrm>
          <a:prstGeom prst="rect">
            <a:avLst/>
          </a:prstGeom>
        </p:spPr>
      </p:pic>
      <p:pic>
        <p:nvPicPr>
          <p:cNvPr id="26" name="Imagem 25"/>
          <p:cNvPicPr>
            <a:picLocks noChangeAspect="1"/>
          </p:cNvPicPr>
          <p:nvPr>
            <p:custDataLst>
              <p:tags r:id="rId5"/>
            </p:custDataLst>
          </p:nvPr>
        </p:nvPicPr>
        <p:blipFill>
          <a:blip r:embed="rId19" cstate="print">
            <a:extLst>
              <a:ext uri="{28A0092B-C50C-407E-A947-70E740481C1C}">
                <a14:useLocalDpi xmlns:a14="http://schemas.microsoft.com/office/drawing/2010/main" val="0"/>
              </a:ext>
            </a:extLst>
          </a:blip>
          <a:stretch>
            <a:fillRect/>
          </a:stretch>
        </p:blipFill>
        <p:spPr>
          <a:xfrm>
            <a:off x="567095" y="4726443"/>
            <a:ext cx="4893945" cy="760095"/>
          </a:xfrm>
          <a:prstGeom prst="rect">
            <a:avLst/>
          </a:prstGeom>
        </p:spPr>
      </p:pic>
    </p:spTree>
    <p:extLst>
      <p:ext uri="{BB962C8B-B14F-4D97-AF65-F5344CB8AC3E}">
        <p14:creationId xmlns:p14="http://schemas.microsoft.com/office/powerpoint/2010/main" val="2592693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58"/>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mtClean="0"/>
              <a:pPr/>
              <a:t>27</a:t>
            </a:fld>
            <a:endParaRPr lang="en-US"/>
          </a:p>
        </p:txBody>
      </p:sp>
      <p:pic>
        <p:nvPicPr>
          <p:cNvPr id="4" name="Picture 4"/>
          <p:cNvPicPr>
            <a:picLocks noChangeAspect="1" noChangeArrowheads="1"/>
          </p:cNvPicPr>
          <p:nvPr/>
        </p:nvPicPr>
        <p:blipFill>
          <a:blip r:embed="rId4"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646331"/>
          </a:xfrm>
          <a:prstGeom prst="rect">
            <a:avLst/>
          </a:prstGeom>
          <a:noFill/>
        </p:spPr>
        <p:txBody>
          <a:bodyPr wrap="square" rtlCol="0">
            <a:spAutoFit/>
          </a:bodyPr>
          <a:lstStyle/>
          <a:p>
            <a:pPr algn="ctr"/>
            <a:r>
              <a:rPr lang="es-CO" sz="3600" b="1" dirty="0">
                <a:solidFill>
                  <a:schemeClr val="bg1"/>
                </a:solidFill>
              </a:rPr>
              <a:t>PREDICTOR DE SMITH</a:t>
            </a:r>
            <a:endParaRPr lang="pt-BR" sz="1100" b="1" i="1" dirty="0">
              <a:solidFill>
                <a:schemeClr val="bg1"/>
              </a:solidFill>
            </a:endParaRPr>
          </a:p>
        </p:txBody>
      </p:sp>
      <p:pic>
        <p:nvPicPr>
          <p:cNvPr id="6" name="Imagem 5"/>
          <p:cNvPicPr>
            <a:picLocks noChangeAspect="1"/>
          </p:cNvPicPr>
          <p:nvPr/>
        </p:nvPicPr>
        <p:blipFill>
          <a:blip r:embed="rId5"/>
          <a:stretch>
            <a:fillRect/>
          </a:stretch>
        </p:blipFill>
        <p:spPr>
          <a:xfrm>
            <a:off x="2147887" y="3429000"/>
            <a:ext cx="7896225" cy="2695575"/>
          </a:xfrm>
          <a:prstGeom prst="rect">
            <a:avLst/>
          </a:prstGeom>
        </p:spPr>
      </p:pic>
      <p:pic>
        <p:nvPicPr>
          <p:cNvPr id="7" name="Imagem 6"/>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147887" y="1054748"/>
            <a:ext cx="4893945" cy="760095"/>
          </a:xfrm>
          <a:prstGeom prst="rect">
            <a:avLst/>
          </a:prstGeom>
        </p:spPr>
      </p:pic>
      <p:sp>
        <p:nvSpPr>
          <p:cNvPr id="8" name="CaixaDeTexto 7"/>
          <p:cNvSpPr txBox="1"/>
          <p:nvPr/>
        </p:nvSpPr>
        <p:spPr>
          <a:xfrm>
            <a:off x="4594859" y="5013176"/>
            <a:ext cx="1399935" cy="369332"/>
          </a:xfrm>
          <a:prstGeom prst="rect">
            <a:avLst/>
          </a:prstGeom>
          <a:noFill/>
        </p:spPr>
        <p:txBody>
          <a:bodyPr wrap="none" rtlCol="0">
            <a:spAutoFit/>
          </a:bodyPr>
          <a:lstStyle/>
          <a:p>
            <a:r>
              <a:rPr lang="es-CO" dirty="0"/>
              <a:t>Perturbación</a:t>
            </a:r>
          </a:p>
        </p:txBody>
      </p:sp>
      <p:cxnSp>
        <p:nvCxnSpPr>
          <p:cNvPr id="10" name="Conector de seta reta 9"/>
          <p:cNvCxnSpPr/>
          <p:nvPr/>
        </p:nvCxnSpPr>
        <p:spPr>
          <a:xfrm>
            <a:off x="5879976" y="5197842"/>
            <a:ext cx="216023" cy="18466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Chave direita 10"/>
          <p:cNvSpPr/>
          <p:nvPr/>
        </p:nvSpPr>
        <p:spPr>
          <a:xfrm rot="5400000">
            <a:off x="3524683" y="1405702"/>
            <a:ext cx="547936" cy="733897"/>
          </a:xfrm>
          <a:prstGeom prst="rightBrace">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12" name="CaixaDeTexto 11"/>
              <p:cNvSpPr txBox="1"/>
              <p:nvPr/>
            </p:nvSpPr>
            <p:spPr>
              <a:xfrm>
                <a:off x="3567145" y="2046619"/>
                <a:ext cx="46301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CO" i="1" smtClean="0">
                              <a:latin typeface="Cambria Math" panose="02040503050406030204" pitchFamily="18" charset="0"/>
                            </a:rPr>
                          </m:ctrlPr>
                        </m:sSubPr>
                        <m:e>
                          <m:r>
                            <a:rPr lang="pt-BR" b="0" i="1" smtClean="0">
                              <a:latin typeface="Cambria Math" panose="02040503050406030204" pitchFamily="18" charset="0"/>
                            </a:rPr>
                            <m:t>𝐿</m:t>
                          </m:r>
                        </m:e>
                        <m:sub>
                          <m:r>
                            <a:rPr lang="pt-BR" b="0" i="1" smtClean="0">
                              <a:latin typeface="Cambria Math" panose="02040503050406030204" pitchFamily="18" charset="0"/>
                            </a:rPr>
                            <m:t>1</m:t>
                          </m:r>
                        </m:sub>
                      </m:sSub>
                    </m:oMath>
                  </m:oMathPara>
                </a14:m>
                <a:endParaRPr lang="es-CO" dirty="0"/>
              </a:p>
            </p:txBody>
          </p:sp>
        </mc:Choice>
        <mc:Fallback xmlns="">
          <p:sp>
            <p:nvSpPr>
              <p:cNvPr id="12" name="CaixaDeTexto 11"/>
              <p:cNvSpPr txBox="1">
                <a:spLocks noRot="1" noChangeAspect="1" noMove="1" noResize="1" noEditPoints="1" noAdjustHandles="1" noChangeArrowheads="1" noChangeShapeType="1" noTextEdit="1"/>
              </p:cNvSpPr>
              <p:nvPr/>
            </p:nvSpPr>
            <p:spPr>
              <a:xfrm>
                <a:off x="3567145" y="2046619"/>
                <a:ext cx="463012" cy="369332"/>
              </a:xfrm>
              <a:prstGeom prst="rect">
                <a:avLst/>
              </a:prstGeom>
              <a:blipFill rotWithShape="0">
                <a:blip r:embed="rId7"/>
                <a:stretch>
                  <a:fillRect/>
                </a:stretch>
              </a:blipFill>
            </p:spPr>
            <p:txBody>
              <a:bodyPr/>
              <a:lstStyle/>
              <a:p>
                <a:r>
                  <a:rPr lang="es-CO">
                    <a:noFill/>
                  </a:rPr>
                  <a:t> </a:t>
                </a:r>
              </a:p>
            </p:txBody>
          </p:sp>
        </mc:Fallback>
      </mc:AlternateContent>
      <p:sp>
        <p:nvSpPr>
          <p:cNvPr id="13" name="Chave direita 12"/>
          <p:cNvSpPr/>
          <p:nvPr/>
        </p:nvSpPr>
        <p:spPr>
          <a:xfrm rot="16200000">
            <a:off x="6099190" y="3640910"/>
            <a:ext cx="547936" cy="266279"/>
          </a:xfrm>
          <a:prstGeom prst="rightBrace">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14" name="CaixaDeTexto 13"/>
              <p:cNvSpPr txBox="1"/>
              <p:nvPr/>
            </p:nvSpPr>
            <p:spPr>
              <a:xfrm>
                <a:off x="6095999" y="3038416"/>
                <a:ext cx="46301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CO" i="1" smtClean="0">
                              <a:latin typeface="Cambria Math" panose="02040503050406030204" pitchFamily="18" charset="0"/>
                            </a:rPr>
                          </m:ctrlPr>
                        </m:sSubPr>
                        <m:e>
                          <m:r>
                            <a:rPr lang="pt-BR" b="0" i="1" smtClean="0">
                              <a:latin typeface="Cambria Math" panose="02040503050406030204" pitchFamily="18" charset="0"/>
                            </a:rPr>
                            <m:t>𝐿</m:t>
                          </m:r>
                        </m:e>
                        <m:sub>
                          <m:r>
                            <a:rPr lang="pt-BR" b="0" i="1" smtClean="0">
                              <a:latin typeface="Cambria Math" panose="02040503050406030204" pitchFamily="18" charset="0"/>
                            </a:rPr>
                            <m:t>1</m:t>
                          </m:r>
                        </m:sub>
                      </m:sSub>
                    </m:oMath>
                  </m:oMathPara>
                </a14:m>
                <a:endParaRPr lang="es-CO" dirty="0"/>
              </a:p>
            </p:txBody>
          </p:sp>
        </mc:Choice>
        <mc:Fallback xmlns="">
          <p:sp>
            <p:nvSpPr>
              <p:cNvPr id="14" name="CaixaDeTexto 13"/>
              <p:cNvSpPr txBox="1">
                <a:spLocks noRot="1" noChangeAspect="1" noMove="1" noResize="1" noEditPoints="1" noAdjustHandles="1" noChangeArrowheads="1" noChangeShapeType="1" noTextEdit="1"/>
              </p:cNvSpPr>
              <p:nvPr/>
            </p:nvSpPr>
            <p:spPr>
              <a:xfrm>
                <a:off x="6095999" y="3038416"/>
                <a:ext cx="463012" cy="369332"/>
              </a:xfrm>
              <a:prstGeom prst="rect">
                <a:avLst/>
              </a:prstGeom>
              <a:blipFill rotWithShape="0">
                <a:blip r:embed="rId8"/>
                <a:stretch>
                  <a:fillRect/>
                </a:stretch>
              </a:blipFill>
            </p:spPr>
            <p:txBody>
              <a:bodyPr/>
              <a:lstStyle/>
              <a:p>
                <a:r>
                  <a:rPr lang="es-CO">
                    <a:noFill/>
                  </a:rPr>
                  <a:t> </a:t>
                </a:r>
              </a:p>
            </p:txBody>
          </p:sp>
        </mc:Fallback>
      </mc:AlternateContent>
      <p:sp>
        <p:nvSpPr>
          <p:cNvPr id="19" name="Chave direita 18"/>
          <p:cNvSpPr/>
          <p:nvPr/>
        </p:nvSpPr>
        <p:spPr>
          <a:xfrm rot="5400000">
            <a:off x="6320668" y="1476783"/>
            <a:ext cx="547936" cy="733897"/>
          </a:xfrm>
          <a:prstGeom prst="rightBrace">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20" name="CaixaDeTexto 19"/>
              <p:cNvSpPr txBox="1"/>
              <p:nvPr/>
            </p:nvSpPr>
            <p:spPr>
              <a:xfrm>
                <a:off x="6363130" y="2117700"/>
                <a:ext cx="46833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s-CO" i="1" smtClean="0">
                              <a:latin typeface="Cambria Math" panose="02040503050406030204" pitchFamily="18" charset="0"/>
                            </a:rPr>
                          </m:ctrlPr>
                        </m:sSubPr>
                        <m:e>
                          <m:r>
                            <a:rPr lang="pt-BR" b="0" i="1" smtClean="0">
                              <a:latin typeface="Cambria Math" panose="02040503050406030204" pitchFamily="18" charset="0"/>
                            </a:rPr>
                            <m:t>𝐿</m:t>
                          </m:r>
                        </m:e>
                        <m:sub>
                          <m:r>
                            <a:rPr lang="pt-BR" b="0" i="1" smtClean="0">
                              <a:latin typeface="Cambria Math" panose="02040503050406030204" pitchFamily="18" charset="0"/>
                            </a:rPr>
                            <m:t>2</m:t>
                          </m:r>
                        </m:sub>
                      </m:sSub>
                    </m:oMath>
                  </m:oMathPara>
                </a14:m>
                <a:endParaRPr lang="es-CO" dirty="0"/>
              </a:p>
            </p:txBody>
          </p:sp>
        </mc:Choice>
        <mc:Fallback xmlns="">
          <p:sp>
            <p:nvSpPr>
              <p:cNvPr id="20" name="CaixaDeTexto 19"/>
              <p:cNvSpPr txBox="1">
                <a:spLocks noRot="1" noChangeAspect="1" noMove="1" noResize="1" noEditPoints="1" noAdjustHandles="1" noChangeArrowheads="1" noChangeShapeType="1" noTextEdit="1"/>
              </p:cNvSpPr>
              <p:nvPr/>
            </p:nvSpPr>
            <p:spPr>
              <a:xfrm>
                <a:off x="6363130" y="2117700"/>
                <a:ext cx="468333" cy="369332"/>
              </a:xfrm>
              <a:prstGeom prst="rect">
                <a:avLst/>
              </a:prstGeom>
              <a:blipFill rotWithShape="0">
                <a:blip r:embed="rId9"/>
                <a:stretch>
                  <a:fillRect/>
                </a:stretch>
              </a:blipFill>
            </p:spPr>
            <p:txBody>
              <a:bodyPr/>
              <a:lstStyle/>
              <a:p>
                <a:r>
                  <a:rPr lang="es-CO">
                    <a:noFill/>
                  </a:rPr>
                  <a:t> </a:t>
                </a:r>
              </a:p>
            </p:txBody>
          </p:sp>
        </mc:Fallback>
      </mc:AlternateContent>
      <p:sp>
        <p:nvSpPr>
          <p:cNvPr id="21" name="Chave direita 20"/>
          <p:cNvSpPr/>
          <p:nvPr/>
        </p:nvSpPr>
        <p:spPr>
          <a:xfrm rot="5400000">
            <a:off x="6330325" y="4376383"/>
            <a:ext cx="547936" cy="279558"/>
          </a:xfrm>
          <a:prstGeom prst="rightBrace">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22" name="CaixaDeTexto 21"/>
              <p:cNvSpPr txBox="1"/>
              <p:nvPr/>
            </p:nvSpPr>
            <p:spPr>
              <a:xfrm>
                <a:off x="6462189" y="4773870"/>
                <a:ext cx="1324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CO" i="1" smtClean="0">
                              <a:latin typeface="Cambria Math" panose="02040503050406030204" pitchFamily="18" charset="0"/>
                            </a:rPr>
                          </m:ctrlPr>
                        </m:sSubPr>
                        <m:e>
                          <m:r>
                            <a:rPr lang="pt-BR" b="0" i="1" smtClean="0">
                              <a:latin typeface="Cambria Math" panose="02040503050406030204" pitchFamily="18" charset="0"/>
                            </a:rPr>
                            <m:t>𝐿</m:t>
                          </m:r>
                        </m:e>
                        <m:sub>
                          <m:r>
                            <a:rPr lang="pt-BR" b="0" i="1" smtClean="0">
                              <a:latin typeface="Cambria Math" panose="02040503050406030204" pitchFamily="18" charset="0"/>
                            </a:rPr>
                            <m:t>2</m:t>
                          </m:r>
                        </m:sub>
                      </m:sSub>
                    </m:oMath>
                  </m:oMathPara>
                </a14:m>
                <a:endParaRPr lang="es-CO" dirty="0"/>
              </a:p>
            </p:txBody>
          </p:sp>
        </mc:Choice>
        <mc:Fallback xmlns="">
          <p:sp>
            <p:nvSpPr>
              <p:cNvPr id="22" name="CaixaDeTexto 21"/>
              <p:cNvSpPr txBox="1">
                <a:spLocks noRot="1" noChangeAspect="1" noMove="1" noResize="1" noEditPoints="1" noAdjustHandles="1" noChangeArrowheads="1" noChangeShapeType="1" noTextEdit="1"/>
              </p:cNvSpPr>
              <p:nvPr/>
            </p:nvSpPr>
            <p:spPr>
              <a:xfrm>
                <a:off x="6462189" y="4773870"/>
                <a:ext cx="132447" cy="369332"/>
              </a:xfrm>
              <a:prstGeom prst="rect">
                <a:avLst/>
              </a:prstGeom>
              <a:blipFill rotWithShape="0">
                <a:blip r:embed="rId10"/>
                <a:stretch>
                  <a:fillRect l="-13636" r="-154545"/>
                </a:stretch>
              </a:blipFill>
            </p:spPr>
            <p:txBody>
              <a:bodyPr/>
              <a:lstStyle/>
              <a:p>
                <a:r>
                  <a:rPr lang="es-CO">
                    <a:noFill/>
                  </a:rPr>
                  <a:t> </a:t>
                </a:r>
              </a:p>
            </p:txBody>
          </p:sp>
        </mc:Fallback>
      </mc:AlternateContent>
      <p:sp>
        <p:nvSpPr>
          <p:cNvPr id="23" name="Chave direita 22"/>
          <p:cNvSpPr/>
          <p:nvPr/>
        </p:nvSpPr>
        <p:spPr>
          <a:xfrm rot="5400000">
            <a:off x="5438197" y="1399088"/>
            <a:ext cx="547936" cy="2498839"/>
          </a:xfrm>
          <a:prstGeom prst="rightBrace">
            <a:avLst/>
          </a:prstGeom>
          <a:ln w="2857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24" name="CaixaDeTexto 23"/>
              <p:cNvSpPr txBox="1"/>
              <p:nvPr/>
            </p:nvSpPr>
            <p:spPr>
              <a:xfrm>
                <a:off x="5519654" y="2941477"/>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0</m:t>
                      </m:r>
                    </m:oMath>
                  </m:oMathPara>
                </a14:m>
                <a:endParaRPr lang="es-CO" dirty="0"/>
              </a:p>
            </p:txBody>
          </p:sp>
        </mc:Choice>
        <mc:Fallback xmlns="">
          <p:sp>
            <p:nvSpPr>
              <p:cNvPr id="24" name="CaixaDeTexto 23"/>
              <p:cNvSpPr txBox="1">
                <a:spLocks noRot="1" noChangeAspect="1" noMove="1" noResize="1" noEditPoints="1" noAdjustHandles="1" noChangeArrowheads="1" noChangeShapeType="1" noTextEdit="1"/>
              </p:cNvSpPr>
              <p:nvPr/>
            </p:nvSpPr>
            <p:spPr>
              <a:xfrm>
                <a:off x="5519654" y="2941477"/>
                <a:ext cx="365805" cy="369332"/>
              </a:xfrm>
              <a:prstGeom prst="rect">
                <a:avLst/>
              </a:prstGeom>
              <a:blipFill rotWithShape="0">
                <a:blip r:embed="rId11"/>
                <a:stretch>
                  <a:fillRect/>
                </a:stretch>
              </a:blipFill>
            </p:spPr>
            <p:txBody>
              <a:bodyPr/>
              <a:lstStyle/>
              <a:p>
                <a:r>
                  <a:rPr lang="es-CO">
                    <a:noFill/>
                  </a:rPr>
                  <a:t> </a:t>
                </a:r>
              </a:p>
            </p:txBody>
          </p:sp>
        </mc:Fallback>
      </mc:AlternateContent>
      <p:sp>
        <p:nvSpPr>
          <p:cNvPr id="25" name="Chave direita 24"/>
          <p:cNvSpPr/>
          <p:nvPr/>
        </p:nvSpPr>
        <p:spPr>
          <a:xfrm rot="5400000">
            <a:off x="3422282" y="2214744"/>
            <a:ext cx="547936" cy="938700"/>
          </a:xfrm>
          <a:prstGeom prst="rightBrace">
            <a:avLst/>
          </a:prstGeom>
          <a:ln w="2857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26" name="Chave direita 25"/>
          <p:cNvSpPr/>
          <p:nvPr/>
        </p:nvSpPr>
        <p:spPr>
          <a:xfrm rot="5400000">
            <a:off x="6939454" y="4081038"/>
            <a:ext cx="547936" cy="938700"/>
          </a:xfrm>
          <a:prstGeom prst="rightBrace">
            <a:avLst/>
          </a:prstGeom>
          <a:ln w="2857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27" name="CaixaDeTexto 26"/>
              <p:cNvSpPr txBox="1"/>
              <p:nvPr/>
            </p:nvSpPr>
            <p:spPr>
              <a:xfrm>
                <a:off x="2646988" y="2958062"/>
                <a:ext cx="209852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rPr>
                        <m:t>𝑃</m:t>
                      </m:r>
                      <m:r>
                        <a:rPr lang="pt-BR" b="0" i="1" smtClean="0">
                          <a:latin typeface="Cambria Math" panose="02040503050406030204" pitchFamily="18" charset="0"/>
                        </a:rPr>
                        <m:t>𝑜𝑙𝑜𝑠</m:t>
                      </m:r>
                      <m:r>
                        <a:rPr lang="pt-BR" b="0" i="1" smtClean="0">
                          <a:latin typeface="Cambria Math" panose="02040503050406030204" pitchFamily="18" charset="0"/>
                        </a:rPr>
                        <m:t> </m:t>
                      </m:r>
                      <m:r>
                        <a:rPr lang="pt-BR" b="0" i="1" smtClean="0">
                          <a:latin typeface="Cambria Math" panose="02040503050406030204" pitchFamily="18" charset="0"/>
                        </a:rPr>
                        <m:t>𝑑𝑜𝑚𝑖𝑛𝑎𝑛𝑡𝑒𝑠</m:t>
                      </m:r>
                    </m:oMath>
                  </m:oMathPara>
                </a14:m>
                <a:endParaRPr lang="es-CO" dirty="0"/>
              </a:p>
            </p:txBody>
          </p:sp>
        </mc:Choice>
        <mc:Fallback xmlns="">
          <p:sp>
            <p:nvSpPr>
              <p:cNvPr id="27" name="CaixaDeTexto 26"/>
              <p:cNvSpPr txBox="1">
                <a:spLocks noRot="1" noChangeAspect="1" noMove="1" noResize="1" noEditPoints="1" noAdjustHandles="1" noChangeArrowheads="1" noChangeShapeType="1" noTextEdit="1"/>
              </p:cNvSpPr>
              <p:nvPr/>
            </p:nvSpPr>
            <p:spPr>
              <a:xfrm>
                <a:off x="2646988" y="2958062"/>
                <a:ext cx="2098523" cy="369332"/>
              </a:xfrm>
              <a:prstGeom prst="rect">
                <a:avLst/>
              </a:prstGeom>
              <a:blipFill rotWithShape="0">
                <a:blip r:embed="rId12"/>
                <a:stretch>
                  <a:fillRect/>
                </a:stretch>
              </a:blipFill>
            </p:spPr>
            <p:txBody>
              <a:bodyPr/>
              <a:lstStyle/>
              <a:p>
                <a:r>
                  <a:rPr lang="es-CO">
                    <a:noFill/>
                  </a:rPr>
                  <a:t> </a:t>
                </a:r>
              </a:p>
            </p:txBody>
          </p:sp>
        </mc:Fallback>
      </mc:AlternateContent>
    </p:spTree>
    <p:extLst>
      <p:ext uri="{BB962C8B-B14F-4D97-AF65-F5344CB8AC3E}">
        <p14:creationId xmlns:p14="http://schemas.microsoft.com/office/powerpoint/2010/main" val="3431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0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p:bldP spid="19" grpId="0" animBg="1"/>
      <p:bldP spid="20" grpId="0"/>
      <p:bldP spid="21" grpId="0" animBg="1"/>
      <p:bldP spid="22" grpId="0"/>
      <p:bldP spid="23" grpId="0" animBg="1"/>
      <p:bldP spid="24" grpId="0"/>
      <p:bldP spid="25" grpId="0" animBg="1"/>
      <p:bldP spid="26" grpId="0" animBg="1"/>
      <p:bldP spid="2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mtClean="0"/>
              <a:pPr/>
              <a:t>28</a:t>
            </a:fld>
            <a:endParaRPr lang="en-US"/>
          </a:p>
        </p:txBody>
      </p:sp>
      <p:pic>
        <p:nvPicPr>
          <p:cNvPr id="4" name="Picture 4"/>
          <p:cNvPicPr>
            <a:picLocks noChangeAspect="1" noChangeArrowheads="1"/>
          </p:cNvPicPr>
          <p:nvPr/>
        </p:nvPicPr>
        <p:blipFill>
          <a:blip r:embed="rId10"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646331"/>
          </a:xfrm>
          <a:prstGeom prst="rect">
            <a:avLst/>
          </a:prstGeom>
          <a:noFill/>
        </p:spPr>
        <p:txBody>
          <a:bodyPr wrap="square" rtlCol="0">
            <a:spAutoFit/>
          </a:bodyPr>
          <a:lstStyle/>
          <a:p>
            <a:pPr algn="ctr"/>
            <a:r>
              <a:rPr lang="es-CO" sz="3600" b="1" dirty="0">
                <a:solidFill>
                  <a:schemeClr val="bg1"/>
                </a:solidFill>
              </a:rPr>
              <a:t>PREDICTOR DE SMITH (INTEGRADOR)</a:t>
            </a:r>
            <a:endParaRPr lang="pt-BR" sz="1100" b="1" i="1" dirty="0">
              <a:solidFill>
                <a:schemeClr val="bg1"/>
              </a:solidFill>
            </a:endParaRPr>
          </a:p>
        </p:txBody>
      </p:sp>
      <p:pic>
        <p:nvPicPr>
          <p:cNvPr id="6" name="Imagem 5"/>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tretch>
            <a:fillRect/>
          </a:stretch>
        </p:blipFill>
        <p:spPr>
          <a:xfrm>
            <a:off x="623392" y="1556792"/>
            <a:ext cx="5808345" cy="760095"/>
          </a:xfrm>
          <a:prstGeom prst="rect">
            <a:avLst/>
          </a:prstGeom>
        </p:spPr>
      </p:pic>
      <p:pic>
        <p:nvPicPr>
          <p:cNvPr id="8" name="Imagem 7"/>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9011285" y="1612036"/>
            <a:ext cx="2297430" cy="649605"/>
          </a:xfrm>
          <a:prstGeom prst="rect">
            <a:avLst/>
          </a:prstGeom>
        </p:spPr>
      </p:pic>
      <p:pic>
        <p:nvPicPr>
          <p:cNvPr id="9" name="Imagem 8"/>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4774164" y="2752794"/>
            <a:ext cx="3773805" cy="777240"/>
          </a:xfrm>
          <a:prstGeom prst="rect">
            <a:avLst/>
          </a:prstGeom>
        </p:spPr>
      </p:pic>
      <p:pic>
        <p:nvPicPr>
          <p:cNvPr id="10" name="Imagem 9"/>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1117739" y="2813741"/>
            <a:ext cx="2409825" cy="742950"/>
          </a:xfrm>
          <a:prstGeom prst="rect">
            <a:avLst/>
          </a:prstGeom>
        </p:spPr>
      </p:pic>
      <p:cxnSp>
        <p:nvCxnSpPr>
          <p:cNvPr id="11" name="Conector de seta reta 10"/>
          <p:cNvCxnSpPr/>
          <p:nvPr/>
        </p:nvCxnSpPr>
        <p:spPr>
          <a:xfrm>
            <a:off x="3836356" y="3185216"/>
            <a:ext cx="65848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2" name="Imagem 11"/>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1117739" y="3869614"/>
            <a:ext cx="6488430" cy="800100"/>
          </a:xfrm>
          <a:prstGeom prst="rect">
            <a:avLst/>
          </a:prstGeom>
        </p:spPr>
      </p:pic>
      <mc:AlternateContent xmlns:mc="http://schemas.openxmlformats.org/markup-compatibility/2006" xmlns:a14="http://schemas.microsoft.com/office/drawing/2010/main">
        <mc:Choice Requires="a14">
          <p:sp>
            <p:nvSpPr>
              <p:cNvPr id="13" name="CaixaDeTexto 12"/>
              <p:cNvSpPr txBox="1"/>
              <p:nvPr/>
            </p:nvSpPr>
            <p:spPr>
              <a:xfrm>
                <a:off x="8253840" y="3860829"/>
                <a:ext cx="3362459" cy="6410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s-CO" sz="3200" i="1" smtClean="0">
                              <a:latin typeface="Cambria Math" panose="02040503050406030204" pitchFamily="18" charset="0"/>
                            </a:rPr>
                          </m:ctrlPr>
                        </m:funcPr>
                        <m:fName>
                          <m:limLow>
                            <m:limLowPr>
                              <m:ctrlPr>
                                <a:rPr lang="es-CO" sz="3200" i="1" smtClean="0">
                                  <a:latin typeface="Cambria Math" panose="02040503050406030204" pitchFamily="18" charset="0"/>
                                </a:rPr>
                              </m:ctrlPr>
                            </m:limLowPr>
                            <m:e>
                              <m:r>
                                <m:rPr>
                                  <m:sty m:val="p"/>
                                </m:rPr>
                                <a:rPr lang="es-CO" sz="3200" i="0" smtClean="0">
                                  <a:latin typeface="Cambria Math" panose="02040503050406030204" pitchFamily="18" charset="0"/>
                                </a:rPr>
                                <m:t>lim</m:t>
                              </m:r>
                            </m:e>
                            <m:lim>
                              <m:r>
                                <a:rPr lang="pt-BR" sz="3200" b="0" i="1" smtClean="0">
                                  <a:latin typeface="Cambria Math" panose="02040503050406030204" pitchFamily="18" charset="0"/>
                                </a:rPr>
                                <m:t>𝑠</m:t>
                              </m:r>
                              <m:r>
                                <a:rPr lang="pt-BR" sz="3200" b="0" i="1" smtClean="0">
                                  <a:latin typeface="Cambria Math" panose="02040503050406030204" pitchFamily="18" charset="0"/>
                                  <a:ea typeface="Cambria Math" panose="02040503050406030204" pitchFamily="18" charset="0"/>
                                </a:rPr>
                                <m:t>→</m:t>
                              </m:r>
                              <m:r>
                                <a:rPr lang="pt-BR" sz="3200" b="0" i="1" smtClean="0">
                                  <a:latin typeface="Cambria Math" panose="02040503050406030204" pitchFamily="18" charset="0"/>
                                  <a:ea typeface="Cambria Math" panose="02040503050406030204" pitchFamily="18" charset="0"/>
                                </a:rPr>
                                <m:t>𝑜</m:t>
                              </m:r>
                            </m:lim>
                          </m:limLow>
                        </m:fName>
                        <m:e>
                          <m:sSub>
                            <m:sSubPr>
                              <m:ctrlPr>
                                <a:rPr lang="es-CO" sz="3200" i="1" smtClean="0">
                                  <a:latin typeface="Cambria Math" panose="02040503050406030204" pitchFamily="18" charset="0"/>
                                </a:rPr>
                              </m:ctrlPr>
                            </m:sSubPr>
                            <m:e>
                              <m:r>
                                <a:rPr lang="pt-BR" sz="3200" b="0" i="1" smtClean="0">
                                  <a:latin typeface="Cambria Math" panose="02040503050406030204" pitchFamily="18" charset="0"/>
                                </a:rPr>
                                <m:t>𝐻</m:t>
                              </m:r>
                            </m:e>
                            <m:sub>
                              <m:r>
                                <a:rPr lang="pt-BR" sz="3200" b="0" i="1" smtClean="0">
                                  <a:latin typeface="Cambria Math" panose="02040503050406030204" pitchFamily="18" charset="0"/>
                                </a:rPr>
                                <m:t>𝑞</m:t>
                              </m:r>
                            </m:sub>
                          </m:sSub>
                        </m:e>
                      </m:func>
                      <m:r>
                        <a:rPr lang="pt-BR" sz="3200" b="0" i="1" smtClean="0">
                          <a:solidFill>
                            <a:srgbClr val="FF0000"/>
                          </a:solidFill>
                          <a:latin typeface="Cambria Math" panose="02040503050406030204" pitchFamily="18" charset="0"/>
                        </a:rPr>
                        <m:t>(</m:t>
                      </m:r>
                      <m:sSup>
                        <m:sSupPr>
                          <m:ctrlPr>
                            <a:rPr lang="pt-BR" sz="3200" b="0" i="1" smtClean="0">
                              <a:solidFill>
                                <a:srgbClr val="FF0000"/>
                              </a:solidFill>
                              <a:latin typeface="Cambria Math" panose="02040503050406030204" pitchFamily="18" charset="0"/>
                            </a:rPr>
                          </m:ctrlPr>
                        </m:sSupPr>
                        <m:e>
                          <m:r>
                            <a:rPr lang="pt-BR" sz="3200" b="0" i="1" smtClean="0">
                              <a:solidFill>
                                <a:srgbClr val="FF0000"/>
                              </a:solidFill>
                              <a:latin typeface="Cambria Math" panose="02040503050406030204" pitchFamily="18" charset="0"/>
                            </a:rPr>
                            <m:t>𝐿</m:t>
                          </m:r>
                        </m:e>
                        <m:sup>
                          <m:r>
                            <a:rPr lang="pt-BR" sz="3200" b="0" i="1" smtClean="0">
                              <a:solidFill>
                                <a:srgbClr val="FF0000"/>
                              </a:solidFill>
                              <a:latin typeface="Cambria Math" panose="02040503050406030204" pitchFamily="18" charset="0"/>
                            </a:rPr>
                            <m:t>′</m:t>
                          </m:r>
                        </m:sup>
                      </m:sSup>
                      <m:r>
                        <a:rPr lang="pt-BR" sz="3200" b="0" i="1" smtClean="0">
                          <a:solidFill>
                            <a:srgbClr val="FF0000"/>
                          </a:solidFill>
                          <a:latin typeface="Cambria Math" panose="02040503050406030204" pitchFamily="18" charset="0"/>
                        </a:rPr>
                        <m:t>𝐻𝑜𝑝𝑖𝑡𝑎𝑙</m:t>
                      </m:r>
                      <m:r>
                        <a:rPr lang="pt-BR" sz="3200" b="0" i="1" smtClean="0">
                          <a:solidFill>
                            <a:srgbClr val="FF0000"/>
                          </a:solidFill>
                          <a:latin typeface="Cambria Math" panose="02040503050406030204" pitchFamily="18" charset="0"/>
                        </a:rPr>
                        <m:t>)</m:t>
                      </m:r>
                    </m:oMath>
                  </m:oMathPara>
                </a14:m>
                <a:endParaRPr lang="es-CO" sz="3200" dirty="0">
                  <a:solidFill>
                    <a:srgbClr val="FF0000"/>
                  </a:solidFill>
                </a:endParaRPr>
              </a:p>
            </p:txBody>
          </p:sp>
        </mc:Choice>
        <mc:Fallback xmlns="">
          <p:sp>
            <p:nvSpPr>
              <p:cNvPr id="13" name="CaixaDeTexto 12"/>
              <p:cNvSpPr txBox="1">
                <a:spLocks noRot="1" noChangeAspect="1" noMove="1" noResize="1" noEditPoints="1" noAdjustHandles="1" noChangeArrowheads="1" noChangeShapeType="1" noTextEdit="1"/>
              </p:cNvSpPr>
              <p:nvPr/>
            </p:nvSpPr>
            <p:spPr>
              <a:xfrm>
                <a:off x="8253840" y="3860829"/>
                <a:ext cx="3362459" cy="641009"/>
              </a:xfrm>
              <a:prstGeom prst="rect">
                <a:avLst/>
              </a:prstGeom>
              <a:blipFill rotWithShape="0">
                <a:blip r:embed="rId16"/>
                <a:stretch>
                  <a:fillRect/>
                </a:stretch>
              </a:blipFill>
            </p:spPr>
            <p:txBody>
              <a:bodyPr/>
              <a:lstStyle/>
              <a:p>
                <a:r>
                  <a:rPr lang="es-CO">
                    <a:noFill/>
                  </a:rPr>
                  <a:t> </a:t>
                </a:r>
              </a:p>
            </p:txBody>
          </p:sp>
        </mc:Fallback>
      </mc:AlternateContent>
      <p:pic>
        <p:nvPicPr>
          <p:cNvPr id="14" name="Imagem 13"/>
          <p:cNvPicPr>
            <a:picLocks noChangeAspect="1"/>
          </p:cNvPicPr>
          <p:nvPr>
            <p:custDataLst>
              <p:tags r:id="rId6"/>
            </p:custDataLst>
          </p:nvPr>
        </p:nvPicPr>
        <p:blipFill>
          <a:blip r:embed="rId17" cstate="print">
            <a:extLst>
              <a:ext uri="{28A0092B-C50C-407E-A947-70E740481C1C}">
                <a14:useLocalDpi xmlns:a14="http://schemas.microsoft.com/office/drawing/2010/main" val="0"/>
              </a:ext>
            </a:extLst>
          </a:blip>
          <a:stretch>
            <a:fillRect/>
          </a:stretch>
        </p:blipFill>
        <p:spPr>
          <a:xfrm>
            <a:off x="1117739" y="5115617"/>
            <a:ext cx="2832735" cy="697230"/>
          </a:xfrm>
          <a:prstGeom prst="rect">
            <a:avLst/>
          </a:prstGeom>
        </p:spPr>
      </p:pic>
      <p:pic>
        <p:nvPicPr>
          <p:cNvPr id="15" name="Imagem 14"/>
          <p:cNvPicPr>
            <a:picLocks noChangeAspect="1"/>
          </p:cNvPicPr>
          <p:nvPr>
            <p:custDataLst>
              <p:tags r:id="rId7"/>
            </p:custDataLst>
          </p:nvPr>
        </p:nvPicPr>
        <p:blipFill>
          <a:blip r:embed="rId18" cstate="print">
            <a:extLst>
              <a:ext uri="{28A0092B-C50C-407E-A947-70E740481C1C}">
                <a14:useLocalDpi xmlns:a14="http://schemas.microsoft.com/office/drawing/2010/main" val="0"/>
              </a:ext>
            </a:extLst>
          </a:blip>
          <a:stretch>
            <a:fillRect/>
          </a:stretch>
        </p:blipFill>
        <p:spPr>
          <a:xfrm>
            <a:off x="9445625" y="2483417"/>
            <a:ext cx="1428750" cy="318135"/>
          </a:xfrm>
          <a:prstGeom prst="rect">
            <a:avLst/>
          </a:prstGeom>
        </p:spPr>
      </p:pic>
    </p:spTree>
    <p:extLst>
      <p:ext uri="{BB962C8B-B14F-4D97-AF65-F5344CB8AC3E}">
        <p14:creationId xmlns:p14="http://schemas.microsoft.com/office/powerpoint/2010/main" val="3457985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xEl>
                                              <p:pRg st="0" end="0"/>
                                            </p:txEl>
                                          </p:spTgt>
                                        </p:tgtEl>
                                        <p:attrNameLst>
                                          <p:attrName>style.visibility</p:attrName>
                                        </p:attrNameLst>
                                      </p:cBhvr>
                                      <p:to>
                                        <p:strVal val="visible"/>
                                      </p:to>
                                    </p:set>
                                    <p:animEffect transition="in" filter="fade">
                                      <p:cBhvr>
                                        <p:cTn id="30" dur="500"/>
                                        <p:tgtEl>
                                          <p:spTgt spid="13">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mtClean="0"/>
              <a:pPr/>
              <a:t>29</a:t>
            </a:fld>
            <a:endParaRPr lang="en-US"/>
          </a:p>
        </p:txBody>
      </p:sp>
      <p:pic>
        <p:nvPicPr>
          <p:cNvPr id="4" name="Picture 4"/>
          <p:cNvPicPr>
            <a:picLocks noChangeAspect="1" noChangeArrowheads="1"/>
          </p:cNvPicPr>
          <p:nvPr/>
        </p:nvPicPr>
        <p:blipFill>
          <a:blip r:embed="rId5"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815608"/>
          </a:xfrm>
          <a:prstGeom prst="rect">
            <a:avLst/>
          </a:prstGeom>
          <a:noFill/>
        </p:spPr>
        <p:txBody>
          <a:bodyPr wrap="square" rtlCol="0">
            <a:spAutoFit/>
          </a:bodyPr>
          <a:lstStyle/>
          <a:p>
            <a:pPr algn="ctr"/>
            <a:r>
              <a:rPr lang="es-CO" sz="3600" b="1" dirty="0">
                <a:solidFill>
                  <a:schemeClr val="bg1"/>
                </a:solidFill>
              </a:rPr>
              <a:t>PREDICTOR DE SMITH (INTEGRADOR)</a:t>
            </a:r>
            <a:endParaRPr lang="pt-BR" sz="3600" b="1" i="1" dirty="0">
              <a:solidFill>
                <a:schemeClr val="bg1"/>
              </a:solidFill>
            </a:endParaRPr>
          </a:p>
          <a:p>
            <a:pPr algn="r"/>
            <a:endParaRPr lang="pt-BR" sz="1100" b="1" i="1" dirty="0">
              <a:solidFill>
                <a:schemeClr val="bg1"/>
              </a:solidFill>
            </a:endParaRPr>
          </a:p>
        </p:txBody>
      </p:sp>
      <p:pic>
        <p:nvPicPr>
          <p:cNvPr id="6" name="Imagem 5"/>
          <p:cNvPicPr>
            <a:picLocks noChangeAspect="1"/>
          </p:cNvPicPr>
          <p:nvPr/>
        </p:nvPicPr>
        <p:blipFill>
          <a:blip r:embed="rId6"/>
          <a:stretch>
            <a:fillRect/>
          </a:stretch>
        </p:blipFill>
        <p:spPr>
          <a:xfrm>
            <a:off x="2225675" y="2920986"/>
            <a:ext cx="7934325" cy="2676525"/>
          </a:xfrm>
          <a:prstGeom prst="rect">
            <a:avLst/>
          </a:prstGeom>
        </p:spPr>
      </p:pic>
      <p:pic>
        <p:nvPicPr>
          <p:cNvPr id="7" name="Imagem 6"/>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2063552" y="1222929"/>
            <a:ext cx="3773805" cy="777240"/>
          </a:xfrm>
          <a:prstGeom prst="rect">
            <a:avLst/>
          </a:prstGeom>
        </p:spPr>
      </p:pic>
      <p:pic>
        <p:nvPicPr>
          <p:cNvPr id="8" name="Imagem 7"/>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7415000" y="1302939"/>
            <a:ext cx="2832735" cy="697230"/>
          </a:xfrm>
          <a:prstGeom prst="rect">
            <a:avLst/>
          </a:prstGeom>
        </p:spPr>
      </p:pic>
    </p:spTree>
    <p:extLst>
      <p:ext uri="{BB962C8B-B14F-4D97-AF65-F5344CB8AC3E}">
        <p14:creationId xmlns:p14="http://schemas.microsoft.com/office/powerpoint/2010/main" val="12116755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Rodapé 1"/>
          <p:cNvSpPr>
            <a:spLocks noGrp="1"/>
          </p:cNvSpPr>
          <p:nvPr>
            <p:ph type="ftr" sz="quarter" idx="11"/>
          </p:nvPr>
        </p:nvSpPr>
        <p:spPr/>
        <p:txBody>
          <a:bodyPr/>
          <a:lstStyle/>
          <a:p>
            <a:r>
              <a:rPr lang="en-US"/>
              <a:t>http://controlautomaticoeducacion.com/</a:t>
            </a:r>
          </a:p>
        </p:txBody>
      </p:sp>
      <p:sp>
        <p:nvSpPr>
          <p:cNvPr id="3" name="Espaço Reservado para Número de Slide 2"/>
          <p:cNvSpPr>
            <a:spLocks noGrp="1"/>
          </p:cNvSpPr>
          <p:nvPr>
            <p:ph type="sldNum" sz="quarter" idx="12"/>
          </p:nvPr>
        </p:nvSpPr>
        <p:spPr/>
        <p:txBody>
          <a:bodyPr/>
          <a:lstStyle/>
          <a:p>
            <a:fld id="{FA1C692C-4F2D-45F6-A9A8-8A3A8FE27806}" type="slidenum">
              <a:rPr lang="en-US" smtClean="0"/>
              <a:pPr/>
              <a:t>30</a:t>
            </a:fld>
            <a:endParaRPr lang="en-US"/>
          </a:p>
        </p:txBody>
      </p:sp>
      <p:pic>
        <p:nvPicPr>
          <p:cNvPr id="4" name="Picture 4"/>
          <p:cNvPicPr>
            <a:picLocks noChangeAspect="1" noChangeArrowheads="1"/>
          </p:cNvPicPr>
          <p:nvPr/>
        </p:nvPicPr>
        <p:blipFill>
          <a:blip r:embed="rId3" cstate="print"/>
          <a:srcRect/>
          <a:stretch>
            <a:fillRect/>
          </a:stretch>
        </p:blipFill>
        <p:spPr bwMode="auto">
          <a:xfrm>
            <a:off x="0" y="-28249"/>
            <a:ext cx="12192000" cy="1071546"/>
          </a:xfrm>
          <a:prstGeom prst="rect">
            <a:avLst/>
          </a:prstGeom>
          <a:noFill/>
          <a:ln w="9525">
            <a:noFill/>
            <a:miter lim="800000"/>
            <a:headEnd/>
            <a:tailEnd/>
          </a:ln>
          <a:effectLst/>
        </p:spPr>
      </p:pic>
      <p:sp>
        <p:nvSpPr>
          <p:cNvPr id="5" name="CaixaDeTexto 4"/>
          <p:cNvSpPr txBox="1"/>
          <p:nvPr/>
        </p:nvSpPr>
        <p:spPr>
          <a:xfrm>
            <a:off x="1631504" y="165120"/>
            <a:ext cx="8928992" cy="815608"/>
          </a:xfrm>
          <a:prstGeom prst="rect">
            <a:avLst/>
          </a:prstGeom>
          <a:noFill/>
        </p:spPr>
        <p:txBody>
          <a:bodyPr wrap="square" rtlCol="0">
            <a:spAutoFit/>
          </a:bodyPr>
          <a:lstStyle/>
          <a:p>
            <a:pPr algn="ctr"/>
            <a:r>
              <a:rPr lang="es-CO" sz="3600" b="1" dirty="0">
                <a:solidFill>
                  <a:schemeClr val="bg1"/>
                </a:solidFill>
              </a:rPr>
              <a:t>PREDICTOR DE SMITH (INESTABLE)</a:t>
            </a:r>
            <a:endParaRPr lang="pt-BR" sz="3600" b="1" i="1" dirty="0">
              <a:solidFill>
                <a:schemeClr val="bg1"/>
              </a:solidFill>
            </a:endParaRPr>
          </a:p>
          <a:p>
            <a:pPr algn="r"/>
            <a:endParaRPr lang="pt-BR" sz="1100" b="1" i="1" dirty="0">
              <a:solidFill>
                <a:schemeClr val="bg1"/>
              </a:solidFill>
            </a:endParaRPr>
          </a:p>
        </p:txBody>
      </p:sp>
      <p:pic>
        <p:nvPicPr>
          <p:cNvPr id="6" name="Imagem 5"/>
          <p:cNvPicPr>
            <a:picLocks noChangeAspect="1"/>
          </p:cNvPicPr>
          <p:nvPr/>
        </p:nvPicPr>
        <p:blipFill>
          <a:blip r:embed="rId4"/>
          <a:stretch>
            <a:fillRect/>
          </a:stretch>
        </p:blipFill>
        <p:spPr>
          <a:xfrm>
            <a:off x="1055440" y="2316046"/>
            <a:ext cx="9981920" cy="3275874"/>
          </a:xfrm>
          <a:prstGeom prst="rect">
            <a:avLst/>
          </a:prstGeom>
        </p:spPr>
      </p:pic>
    </p:spTree>
    <p:extLst>
      <p:ext uri="{BB962C8B-B14F-4D97-AF65-F5344CB8AC3E}">
        <p14:creationId xmlns:p14="http://schemas.microsoft.com/office/powerpoint/2010/main" val="40027892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0A59AD-6DC9-44C3-BC36-1905FE3A21BA}"/>
              </a:ext>
            </a:extLst>
          </p:cNvPr>
          <p:cNvSpPr>
            <a:spLocks noGrp="1"/>
          </p:cNvSpPr>
          <p:nvPr>
            <p:ph type="title"/>
          </p:nvPr>
        </p:nvSpPr>
        <p:spPr/>
        <p:txBody>
          <a:bodyPr/>
          <a:lstStyle/>
          <a:p>
            <a:r>
              <a:rPr lang="es-419" dirty="0">
                <a:solidFill>
                  <a:srgbClr val="FF0000"/>
                </a:solidFill>
              </a:rPr>
              <a:t>Bibliografía</a:t>
            </a:r>
          </a:p>
        </p:txBody>
      </p:sp>
      <p:sp>
        <p:nvSpPr>
          <p:cNvPr id="3" name="Marcador de contenido 2">
            <a:extLst>
              <a:ext uri="{FF2B5EF4-FFF2-40B4-BE49-F238E27FC236}">
                <a16:creationId xmlns:a16="http://schemas.microsoft.com/office/drawing/2014/main" id="{220A74AE-62CF-48F2-902B-305C3A4DA93D}"/>
              </a:ext>
            </a:extLst>
          </p:cNvPr>
          <p:cNvSpPr>
            <a:spLocks noGrp="1"/>
          </p:cNvSpPr>
          <p:nvPr>
            <p:ph idx="1"/>
          </p:nvPr>
        </p:nvSpPr>
        <p:spPr/>
        <p:txBody>
          <a:bodyPr/>
          <a:lstStyle/>
          <a:p>
            <a:r>
              <a:rPr lang="en-US" b="0" i="0" dirty="0">
                <a:solidFill>
                  <a:srgbClr val="333333"/>
                </a:solidFill>
                <a:effectLst/>
                <a:latin typeface="-apple-system"/>
              </a:rPr>
              <a:t>NORMEY-RICO and CAMACHO. Control of Dead-time Processes. Springer. Berlin, 2007.</a:t>
            </a:r>
            <a:endParaRPr lang="es-419" dirty="0"/>
          </a:p>
        </p:txBody>
      </p:sp>
      <p:sp>
        <p:nvSpPr>
          <p:cNvPr id="4" name="Marcador de pie de página 3">
            <a:extLst>
              <a:ext uri="{FF2B5EF4-FFF2-40B4-BE49-F238E27FC236}">
                <a16:creationId xmlns:a16="http://schemas.microsoft.com/office/drawing/2014/main" id="{B36C788F-A3F8-4BBB-9263-7CB7B0822E9B}"/>
              </a:ext>
            </a:extLst>
          </p:cNvPr>
          <p:cNvSpPr>
            <a:spLocks noGrp="1"/>
          </p:cNvSpPr>
          <p:nvPr>
            <p:ph type="ftr" sz="quarter" idx="11"/>
          </p:nvPr>
        </p:nvSpPr>
        <p:spPr/>
        <p:txBody>
          <a:bodyPr/>
          <a:lstStyle/>
          <a:p>
            <a:r>
              <a:rPr lang="en-US"/>
              <a:t>http://controlautomaticoeducacion.com/</a:t>
            </a:r>
          </a:p>
        </p:txBody>
      </p:sp>
      <p:sp>
        <p:nvSpPr>
          <p:cNvPr id="5" name="Marcador de número de diapositiva 4">
            <a:extLst>
              <a:ext uri="{FF2B5EF4-FFF2-40B4-BE49-F238E27FC236}">
                <a16:creationId xmlns:a16="http://schemas.microsoft.com/office/drawing/2014/main" id="{0EAC5160-38ED-43B2-8B1B-063F153EB21B}"/>
              </a:ext>
            </a:extLst>
          </p:cNvPr>
          <p:cNvSpPr>
            <a:spLocks noGrp="1"/>
          </p:cNvSpPr>
          <p:nvPr>
            <p:ph type="sldNum" sz="quarter" idx="12"/>
          </p:nvPr>
        </p:nvSpPr>
        <p:spPr/>
        <p:txBody>
          <a:bodyPr/>
          <a:lstStyle/>
          <a:p>
            <a:fld id="{FA1C692C-4F2D-45F6-A9A8-8A3A8FE27806}" type="slidenum">
              <a:rPr lang="en-US" smtClean="0"/>
              <a:pPr/>
              <a:t>31</a:t>
            </a:fld>
            <a:endParaRPr lang="en-US"/>
          </a:p>
        </p:txBody>
      </p:sp>
    </p:spTree>
    <p:extLst>
      <p:ext uri="{BB962C8B-B14F-4D97-AF65-F5344CB8AC3E}">
        <p14:creationId xmlns:p14="http://schemas.microsoft.com/office/powerpoint/2010/main" val="18667009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RIGINALHEIGHT" val="123,7346"/>
  <p:tag name="ORIGINALWIDTH" val="1727,034"/>
  <p:tag name="OUTPUTDPI" val="1200"/>
  <p:tag name="LATEXADDIN" val="\documentclass{article}&#10;\usepackage[brazil]{babel}&#10;\usepackage[T1]{fontenc}&#10;\usepackage{ae} %incluido&#10;\usepackage{amsmath}&#10;\usepackage{multirow}&#10;\pagestyle{empty}&#10;\begin{document}&#10;&#10;$L \left[ f(t-a)H(t-a) \right]=e^{-as}F(s)$&#10;&#10;\end{document}"/>
  <p:tag name="IGUANATEXSIZE" val="25"/>
  <p:tag name="IGUANATEXCURSOR" val="224"/>
  <p:tag name="TRANSPARENCY" val="Verdadeiro"/>
  <p:tag name="FILENAME" val=""/>
  <p:tag name="INPUTTYPE" val="0"/>
  <p:tag name="LATEXENGINEID" val="0"/>
  <p:tag name="TEMPFOLDER" val="C:\Latex\"/>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294.7131"/>
  <p:tag name="ORIGINALWIDTH" val="806.8991"/>
  <p:tag name="LATEXADDIN" val="\documentclass{article}&#10;\usepackage{ae} %incluido&#10;\usepackage{multirow}&#10;\usepackage{mathrsfs} %Transformada de laplace e Fourier&#10;\usepackage{amsmath}&#10;\pagestyle{empty}&#10;&#10;\begin{document}&#10;&#10;$\dfrac{H(s)}{\alpha(s)}=\dfrac{K}{\tau s+1}$&#10;&#10;\end{document}"/>
  <p:tag name="IGUANATEXSIZE" val="20"/>
  <p:tag name="IGUANATEXCURSOR" val="231"/>
  <p:tag name="TRANSPARENCY" val="Verdadero"/>
  <p:tag name="FILENAME" val=""/>
  <p:tag name="LATEXENGINEID" val="0"/>
  <p:tag name="TEMPFOLDER" val="c:\temp\"/>
  <p:tag name="LATEXFORMHEIGHT" val="312"/>
  <p:tag name="LATEXFORMWIDTH" val="384"/>
  <p:tag name="LATEXFORMWRAP" val="Verdadero"/>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52.9809"/>
  <p:tag name="ORIGINALWIDTH" val="1197.6"/>
  <p:tag name="LATEXADDIN" val="\documentclass{article}&#10;\usepackage{ae} %incluido&#10;\usepackage{multirow}&#10;\usepackage{mathrsfs} %Transformada de laplace e Fourier&#10;\usepackage{amsmath}&#10;\pagestyle{empty}&#10;&#10;\begin{document}&#10;&#10;$h(t)=AK\left(1-e^{-t/\tau} \right)$&#10;&#10;\end{document}"/>
  <p:tag name="IGUANATEXSIZE" val="20"/>
  <p:tag name="IGUANATEXCURSOR" val="207"/>
  <p:tag name="TRANSPARENCY" val="Verdadero"/>
  <p:tag name="FILENAME" val=""/>
  <p:tag name="LATEXENGINEID" val="0"/>
  <p:tag name="TEMPFOLDER" val="c:\temp\"/>
  <p:tag name="LATEXFORMHEIGHT" val="312"/>
  <p:tag name="LATEXFORMWIDTH" val="384"/>
  <p:tag name="LATEXFORMWRAP" val="Verdadero"/>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294.7131"/>
  <p:tag name="ORIGINALWIDTH" val="1047.619"/>
  <p:tag name="LATEXADDIN" val="\documentclass{article}&#10;\usepackage{ae} %incluido&#10;\usepackage{multirow}&#10;\usepackage{mathrsfs} %Transformada de laplace e Fourier&#10;\usepackage{amsmath}&#10;\pagestyle{empty}&#10;&#10;\begin{document}&#10;&#10;$\dfrac{H(s)}{\alpha(s)}=\dfrac{K}{\tau s+1}e^{-\theta s}$&#10;&#10;\end{document}"/>
  <p:tag name="IGUANATEXSIZE" val="20"/>
  <p:tag name="IGUANATEXCURSOR" val="230"/>
  <p:tag name="TRANSPARENCY" val="Verdadero"/>
  <p:tag name="FILENAME" val=""/>
  <p:tag name="LATEXENGINEID" val="0"/>
  <p:tag name="TEMPFOLDER" val="c:\temp\"/>
  <p:tag name="LATEXFORMHEIGHT" val="312"/>
  <p:tag name="LATEXFORMWIDTH" val="384"/>
  <p:tag name="LATEXFORMWRAP" val="Verdadero"/>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152.9809"/>
  <p:tag name="ORIGINALWIDTH" val="1900.262"/>
  <p:tag name="LATEXADDIN" val="\documentclass{article}&#10;\usepackage{ae} %incluido&#10;\usepackage{multirow}&#10;\usepackage{mathrsfs} %Transformada de laplace e Fourier&#10;\usepackage{amsmath}&#10;\pagestyle{empty}&#10;&#10;\begin{document}&#10;&#10;$h(t)=AK\left(1-e^{-(t-\theta)/\tau} \right)H(t-\theta)$&#10;&#10;\end{document}"/>
  <p:tag name="IGUANATEXSIZE" val="20"/>
  <p:tag name="IGUANATEXCURSOR" val="242"/>
  <p:tag name="TRANSPARENCY" val="Verdadero"/>
  <p:tag name="FILENAME" val=""/>
  <p:tag name="LATEXENGINEID" val="0"/>
  <p:tag name="TEMPFOLDER" val="c:\temp\"/>
  <p:tag name="LATEXFORMHEIGHT" val="312"/>
  <p:tag name="LATEXFORMWIDTH" val="384"/>
  <p:tag name="LATEXFORMWRAP" val="Verdadero"/>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548.1815"/>
  <p:tag name="ORIGINALWIDTH" val="779.9025"/>
  <p:tag name="LATEXADDIN" val="\documentclass{article}&#10;\usepackage{ae} %incluido&#10;\usepackage{multirow}&#10;\usepackage{mathrsfs} %Transformada de laplace e Fourier&#10;\usepackage{amsmath}&#10;\pagestyle{empty}&#10;&#10;\begin{document}&#10;$e^{-\theta s}\approx \dfrac{1-\dfrac{\theta}{2}s}{1+\dfrac{\theta}{2}s}$&#10;&#10;\end{document}"/>
  <p:tag name="IGUANATEXSIZE" val="25"/>
  <p:tag name="IGUANATEXCURSOR" val="252"/>
  <p:tag name="TRANSPARENCY" val="Verdadero"/>
  <p:tag name="FILENAME" val=""/>
  <p:tag name="LATEXENGINEID" val="0"/>
  <p:tag name="TEMPFOLDER" val="c:\temp\"/>
  <p:tag name="LATEXFORMHEIGHT" val="312"/>
  <p:tag name="LATEXFORMWIDTH" val="384"/>
  <p:tag name="LATEXFORMWRAP" val="Verdadero"/>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578.1777"/>
  <p:tag name="ORIGINALWIDTH" val="1200.6"/>
  <p:tag name="LATEXADDIN" val="\documentclass{article}&#10;\usepackage{ae} %incluido&#10;\usepackage{multirow}&#10;\usepackage{mathrsfs} %Transformada de laplace e Fourier&#10;\usepackage{amsmath}&#10;\pagestyle{empty}&#10;&#10;\begin{document}&#10;$e^{-\theta s}\approx \dfrac{1-\dfrac{\theta}{2}s+\dfrac{\theta^2}{12}s^2}{1+\dfrac{\theta}{2}s+\dfrac{\theta^2}{12}s^2}$&#10;&#10;\end{document}"/>
  <p:tag name="IGUANATEXSIZE" val="25"/>
  <p:tag name="IGUANATEXCURSOR" val="305"/>
  <p:tag name="TRANSPARENCY" val="Verdadero"/>
  <p:tag name="FILENAME" val=""/>
  <p:tag name="LATEXENGINEID" val="0"/>
  <p:tag name="TEMPFOLDER" val="c:\temp\"/>
  <p:tag name="LATEXFORMHEIGHT" val="312"/>
  <p:tag name="LATEXFORMWIDTH" val="384"/>
  <p:tag name="LATEXFORMWRAP" val="Verdadero"/>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262.4672"/>
  <p:tag name="ORIGINALWIDTH" val="892.3884"/>
  <p:tag name="LATEXADDIN" val="\documentclass{article}&#10;\usepackage{ae} %incluido&#10;\usepackage{multirow}&#10;\usepackage{mathrsfs} %Transformada de laplace e Fourier&#10;\usepackage{amsmath}&#10;\pagestyle{empty}&#10;&#10;\begin{document}&#10;$G(s)=\dfrac{1}{s+1}e^{-s}$&#10;&#10;\end{document}"/>
  <p:tag name="IGUANATEXSIZE" val="20"/>
  <p:tag name="IGUANATEXCURSOR" val="211"/>
  <p:tag name="TRANSPARENCY" val="Verdadero"/>
  <p:tag name="FILENAME" val=""/>
  <p:tag name="LATEXENGINEID" val="0"/>
  <p:tag name="TEMPFOLDER" val="c:\temp\"/>
  <p:tag name="LATEXFORMHEIGHT" val="312"/>
  <p:tag name="LATEXFORMWIDTH" val="384"/>
  <p:tag name="LATEXFORMWRAP" val="Verdadero"/>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263.2171"/>
  <p:tag name="ORIGINALWIDTH" val="1259.093"/>
  <p:tag name="LATEXADDIN" val="\documentclass{article}&#10;\usepackage{ae} %incluido&#10;\usepackage{multirow}&#10;\usepackage{mathrsfs} %Transformada de laplace e Fourier&#10;\usepackage{amsmath}&#10;\pagestyle{empty}&#10;&#10;\begin{document}&#10;$G(s)=\dfrac{1}{s+1}\dfrac{-0.5 s + 1}{0.5 s + 1}$&#10;&#10;\end{document}"/>
  <p:tag name="IGUANATEXSIZE" val="20"/>
  <p:tag name="IGUANATEXCURSOR" val="234"/>
  <p:tag name="TRANSPARENCY" val="Verdadero"/>
  <p:tag name="FILENAME" val=""/>
  <p:tag name="LATEXENGINEID" val="0"/>
  <p:tag name="TEMPFOLDER" val="c:\temp\"/>
  <p:tag name="LATEXFORMHEIGHT" val="312"/>
  <p:tag name="LATEXFORMWIDTH" val="384"/>
  <p:tag name="LATEXFORMWRAP" val="Verdadero"/>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282.7147"/>
  <p:tag name="ORIGINALWIDTH" val="1837.27"/>
  <p:tag name="LATEXADDIN" val="\documentclass{article}&#10;\usepackage{ae} %incluido&#10;\usepackage{multirow}&#10;\usepackage{mathrsfs} %Transformada de laplace e Fourier&#10;\usepackage{amsmath}&#10;\pagestyle{empty}&#10;&#10;\begin{document}&#10;$G(s)=\dfrac{1}{s+1}\dfrac{0.08333 s^2 - 0.5 s + 1}{0.08333 s^2 + 0.5 s + 1}$&#10;&#10;\end{document}"/>
  <p:tag name="IGUANATEXSIZE" val="20"/>
  <p:tag name="IGUANATEXCURSOR" val="261"/>
  <p:tag name="TRANSPARENCY" val="Verdadero"/>
  <p:tag name="FILENAME" val=""/>
  <p:tag name="LATEXENGINEID" val="0"/>
  <p:tag name="TEMPFOLDER" val="c:\temp\"/>
  <p:tag name="LATEXFORMHEIGHT" val="312"/>
  <p:tag name="LATEXFORMWIDTH" val="384"/>
  <p:tag name="LATEXFORMWRAP" val="Verdadero"/>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262.4672"/>
  <p:tag name="ORIGINALWIDTH" val="1003.375"/>
  <p:tag name="LATEXADDIN" val="\documentclass{article}&#10;\usepackage{ae} %incluido&#10;\usepackage{multirow}&#10;\usepackage{mathrsfs} %Transformada de laplace e Fourier&#10;\usepackage{amsmath}&#10;\pagestyle{empty}&#10;&#10;\begin{document}&#10;$G(s)=\dfrac{1}{s+1}\dfrac{1}{ s + 1}$&#10;&#10;\end{document}"/>
  <p:tag name="IGUANATEXSIZE" val="20"/>
  <p:tag name="IGUANATEXCURSOR" val="216"/>
  <p:tag name="TRANSPARENCY" val="Verdadero"/>
  <p:tag name="FILENAME" val=""/>
  <p:tag name="LATEXENGINEID" val="0"/>
  <p:tag name="TEMPFOLDER" val="c:\temp\"/>
  <p:tag name="LATEXFORMHEIGHT" val="312"/>
  <p:tag name="LATEXFORMWIDTH" val="384"/>
  <p:tag name="LATEXFORMWRAP" val="Verdadero"/>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262.4672"/>
  <p:tag name="ORIGINALWIDTH" val="1490.814"/>
  <p:tag name="LATEXADDIN" val="\documentclass{article}&#10;\usepackage{ae} %incluido&#10;\usepackage{multirow}&#10;\usepackage{mathrsfs} %Transformada de laplace e Fourier&#10;\usepackage{amsmath}&#10;\pagestyle{empty}&#10;&#10;\begin{document}&#10;$G(s)=\dfrac{1}{s+1}\dfrac{1}{0.25 s^2 + s + 1}$&#10;&#10;\end{document}"/>
  <p:tag name="IGUANATEXSIZE" val="20"/>
  <p:tag name="IGUANATEXCURSOR" val="232"/>
  <p:tag name="TRANSPARENCY" val="Verdadero"/>
  <p:tag name="FILENAME" val=""/>
  <p:tag name="LATEXENGINEID" val="0"/>
  <p:tag name="TEMPFOLDER" val="c:\temp\"/>
  <p:tag name="LATEXFORMHEIGHT" val="312"/>
  <p:tag name="LATEXFORMWIDTH" val="384"/>
  <p:tag name="LATEXFORMWRAP" val="Verdadero"/>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RIGINALHEIGHT" val="294,75"/>
  <p:tag name="ORIGINALWIDTH" val="1217,25"/>
  <p:tag name="OUTPUTDPI" val="1200"/>
  <p:tag name="LATEXADDIN" val="\documentclass{article}&#10;\usepackage[brazil]{babel}&#10;\usepackage[T1]{fontenc}&#10;\usepackage{ae} %incluido&#10;\usepackage{amsmath}&#10;\usepackage{multirow}&#10;\pagestyle{empty}&#10;\begin{document}&#10;&#10;$\tilde{C}(s)=\dfrac{C(s)}{1+C(s)G_n(s)}$&#10;&#10;\end{document}"/>
  <p:tag name="IGUANATEXSIZE" val="25"/>
  <p:tag name="IGUANATEXCURSOR" val="222"/>
  <p:tag name="TRANSPARENCY" val="Verdadeiro"/>
  <p:tag name="FILENAME" val=""/>
  <p:tag name="INPUTTYPE" val="0"/>
  <p:tag name="LATEXENGINEID" val="0"/>
  <p:tag name="TEMPFOLDER" val="C:\Latex\"/>
</p:tagLst>
</file>

<file path=ppt/tags/tag14.xml><?xml version="1.0" encoding="utf-8"?>
<p:tagLst xmlns:a="http://schemas.openxmlformats.org/drawingml/2006/main" xmlns:r="http://schemas.openxmlformats.org/officeDocument/2006/relationships" xmlns:p="http://schemas.openxmlformats.org/presentationml/2006/main">
  <p:tag name="ORIGINALHEIGHT" val="294,75"/>
  <p:tag name="ORIGINALWIDTH" val="1217,25"/>
  <p:tag name="OUTPUTDPI" val="1200"/>
  <p:tag name="LATEXADDIN" val="\documentclass{article}&#10;\usepackage[brazil]{babel}&#10;\usepackage[T1]{fontenc}&#10;\usepackage{ae} %incluido&#10;\usepackage{amsmath}&#10;\usepackage{multirow}&#10;\pagestyle{empty}&#10;\begin{document}&#10;&#10;$\tilde{C}(s)=\dfrac{C(s)}{1+C(s)G_n(s)}$&#10;&#10;\end{document}"/>
  <p:tag name="IGUANATEXSIZE" val="25"/>
  <p:tag name="IGUANATEXCURSOR" val="222"/>
  <p:tag name="TRANSPARENCY" val="Verdadeiro"/>
  <p:tag name="FILENAME" val=""/>
  <p:tag name="INPUTTYPE" val="0"/>
  <p:tag name="LATEXENGINEID" val="0"/>
  <p:tag name="TEMPFOLDER" val="C:\Latex\"/>
</p:tagLst>
</file>

<file path=ppt/tags/tag15.xml><?xml version="1.0" encoding="utf-8"?>
<p:tagLst xmlns:a="http://schemas.openxmlformats.org/drawingml/2006/main" xmlns:r="http://schemas.openxmlformats.org/officeDocument/2006/relationships" xmlns:p="http://schemas.openxmlformats.org/presentationml/2006/main">
  <p:tag name="ORIGINALHEIGHT" val="967,5"/>
  <p:tag name="ORIGINALWIDTH" val="2823"/>
  <p:tag name="OUTPUTDPI" val="1200"/>
  <p:tag name="LATEXADDIN" val="\documentclass{article}&#10;\usepackage[brazil]{babel}&#10;\usepackage[T1]{fontenc}&#10;\usepackage{ae} %incluido&#10;\usepackage{amsmath}&#10;\usepackage{multirow}&#10;\pagestyle{empty}&#10;\begin{document}&#10;&#10;\begin{align}&#10;C_{eq}(s)&amp;=\dfrac{\tilde{C}(s)}{1-\tilde{C}(s)P_n(s)}=\dfrac{\dfrac{C(s)}{1+C(s)G_n(s)}}{1-\dfrac{C(s)}{1+C(s)G_n(s)}P_n(s)}\nonumber\\&#10;&amp;=\dfrac{C(s)}{1+C(s)G_n(s)-C(s)P_n(s)}\nonumber&#10;\label{equ:1.8}&#10;\end{align}&#10;&#10;\end{document}"/>
  <p:tag name="IGUANATEXSIZE" val="25"/>
  <p:tag name="IGUANATEXCURSOR" val="379"/>
  <p:tag name="TRANSPARENCY" val="Verdadeiro"/>
  <p:tag name="FILENAME" val=""/>
  <p:tag name="INPUTTYPE" val="0"/>
  <p:tag name="LATEXENGINEID" val="0"/>
  <p:tag name="TEMPFOLDER" val="C:\Latex\"/>
</p:tagLst>
</file>

<file path=ppt/tags/tag16.xml><?xml version="1.0" encoding="utf-8"?>
<p:tagLst xmlns:a="http://schemas.openxmlformats.org/drawingml/2006/main" xmlns:r="http://schemas.openxmlformats.org/officeDocument/2006/relationships" xmlns:p="http://schemas.openxmlformats.org/presentationml/2006/main">
  <p:tag name="ORIGINALHEIGHT" val="294,75"/>
  <p:tag name="ORIGINALWIDTH" val="1863"/>
  <p:tag name="OUTPUTDPI" val="1200"/>
  <p:tag name="LATEXADDIN" val="\documentclass{article}&#10;\usepackage[brazil]{babel}&#10;\usepackage[T1]{fontenc}&#10;\usepackage{ae} %incluido&#10;\usepackage{amsmath}&#10;\usepackage{multirow}&#10;\pagestyle{empty}&#10;\begin{document}&#10;&#10;$C_{eq}=\dfrac{C(s)}{1+C(s)G_n(s)-C(s)P_n(s)}$&#10;&#10;\end{document}"/>
  <p:tag name="IGUANATEXSIZE" val="25"/>
  <p:tag name="IGUANATEXCURSOR" val="227"/>
  <p:tag name="TRANSPARENCY" val="Verdadeiro"/>
  <p:tag name="FILENAME" val=""/>
  <p:tag name="INPUTTYPE" val="0"/>
  <p:tag name="LATEXENGINEID" val="0"/>
  <p:tag name="TEMPFOLDER" val="C:\Latex\"/>
</p:tagLst>
</file>

<file path=ppt/tags/tag17.xml><?xml version="1.0" encoding="utf-8"?>
<p:tagLst xmlns:a="http://schemas.openxmlformats.org/drawingml/2006/main" xmlns:r="http://schemas.openxmlformats.org/officeDocument/2006/relationships" xmlns:p="http://schemas.openxmlformats.org/presentationml/2006/main">
  <p:tag name="ORIGINALHEIGHT" val="292,5"/>
  <p:tag name="ORIGINALWIDTH" val="948,75"/>
  <p:tag name="OUTPUTDPI" val="1200"/>
  <p:tag name="LATEXADDIN" val="\documentclass{article}&#10;\usepackage[brazil]{babel}&#10;\usepackage[T1]{fontenc}&#10;\usepackage{ae} %incluido&#10;\usepackage{amsmath}&#10;\usepackage{multirow}&#10;\pagestyle{empty}&#10;\begin{document}&#10;&#10;$H(s)=\dfrac{C_{eq}P}{1+C_{eq}P}$&#10;&#10;\end{document}"/>
  <p:tag name="IGUANATEXSIZE" val="25"/>
  <p:tag name="IGUANATEXCURSOR" val="180"/>
  <p:tag name="TRANSPARENCY" val="Verdadeiro"/>
  <p:tag name="FILENAME" val=""/>
  <p:tag name="INPUTTYPE" val="0"/>
  <p:tag name="LATEXENGINEID" val="0"/>
  <p:tag name="TEMPFOLDER" val="C:\Latex\"/>
</p:tagLst>
</file>

<file path=ppt/tags/tag18.xml><?xml version="1.0" encoding="utf-8"?>
<p:tagLst xmlns:a="http://schemas.openxmlformats.org/drawingml/2006/main" xmlns:r="http://schemas.openxmlformats.org/officeDocument/2006/relationships" xmlns:p="http://schemas.openxmlformats.org/presentationml/2006/main">
  <p:tag name="ORIGINALHEIGHT" val="292,5"/>
  <p:tag name="ORIGINALWIDTH" val="948,75"/>
  <p:tag name="OUTPUTDPI" val="1200"/>
  <p:tag name="LATEXADDIN" val="\documentclass{article}&#10;\usepackage[brazil]{babel}&#10;\usepackage[T1]{fontenc}&#10;\usepackage{ae} %incluido&#10;\usepackage{amsmath}&#10;\usepackage{multirow}&#10;\pagestyle{empty}&#10;\begin{document}&#10;&#10;$H(s)=\dfrac{C_{eq}P}{1+C_{eq}P}$&#10;&#10;\end{document}"/>
  <p:tag name="IGUANATEXSIZE" val="25"/>
  <p:tag name="IGUANATEXCURSOR" val="180"/>
  <p:tag name="TRANSPARENCY" val="Verdadeiro"/>
  <p:tag name="FILENAME" val=""/>
  <p:tag name="INPUTTYPE" val="0"/>
  <p:tag name="LATEXENGINEID" val="0"/>
  <p:tag name="TEMPFOLDER" val="C:\Latex\"/>
</p:tagLst>
</file>

<file path=ppt/tags/tag19.xml><?xml version="1.0" encoding="utf-8"?>
<p:tagLst xmlns:a="http://schemas.openxmlformats.org/drawingml/2006/main" xmlns:r="http://schemas.openxmlformats.org/officeDocument/2006/relationships" xmlns:p="http://schemas.openxmlformats.org/presentationml/2006/main">
  <p:tag name="ORIGINALHEIGHT" val="294,75"/>
  <p:tag name="ORIGINALWIDTH" val="1863"/>
  <p:tag name="OUTPUTDPI" val="1200"/>
  <p:tag name="LATEXADDIN" val="\documentclass{article}&#10;\usepackage[brazil]{babel}&#10;\usepackage[T1]{fontenc}&#10;\usepackage{ae} %incluido&#10;\usepackage{amsmath}&#10;\usepackage{multirow}&#10;\pagestyle{empty}&#10;\begin{document}&#10;&#10;$C_{eq}=\dfrac{C(s)}{1+C(s)G_n(s)-C(s)P_n(s)}$&#10;&#10;\end{document}"/>
  <p:tag name="IGUANATEXSIZE" val="25"/>
  <p:tag name="IGUANATEXCURSOR" val="227"/>
  <p:tag name="TRANSPARENCY" val="Verdadeiro"/>
  <p:tag name="FILENAME" val=""/>
  <p:tag name="INPUTTYPE" val="0"/>
  <p:tag name="LATEXENGINEID" val="0"/>
  <p:tag name="TEMPFOLDER" val="C:\Latex\"/>
</p:tagLst>
</file>

<file path=ppt/tags/tag20.xml><?xml version="1.0" encoding="utf-8"?>
<p:tagLst xmlns:a="http://schemas.openxmlformats.org/drawingml/2006/main" xmlns:r="http://schemas.openxmlformats.org/officeDocument/2006/relationships" xmlns:p="http://schemas.openxmlformats.org/presentationml/2006/main">
  <p:tag name="ORIGINALHEIGHT" val="624"/>
  <p:tag name="ORIGINALWIDTH" val="2187"/>
  <p:tag name="OUTPUTDPI" val="1200"/>
  <p:tag name="LATEXADDIN" val="\documentclass{article}&#10;\usepackage[brazil]{babel}&#10;\usepackage[T1]{fontenc}&#10;\usepackage{ae} %incluido&#10;\usepackage{amsmath}&#10;\usepackage{multirow}&#10;\pagestyle{empty}&#10;\begin{document}&#10;&#10;$H(s)=\dfrac{\dfrac{C(s)P(s)}{1+C(s)G_n(s)-C(s)P_n(s)}}{1+\dfrac{C(s)P(s)}{1+C(s)G_n(s)-C(s)P_n(s)}}$&#10;&#10;&#10;\end{document}"/>
  <p:tag name="IGUANATEXSIZE" val="25"/>
  <p:tag name="IGUANATEXCURSOR" val="181"/>
  <p:tag name="TRANSPARENCY" val="Verdadeiro"/>
  <p:tag name="FILENAME" val=""/>
  <p:tag name="INPUTTYPE" val="0"/>
  <p:tag name="LATEXENGINEID" val="0"/>
  <p:tag name="TEMPFOLDER" val="C:\Latex\"/>
</p:tagLst>
</file>

<file path=ppt/tags/tag21.xml><?xml version="1.0" encoding="utf-8"?>
<p:tagLst xmlns:a="http://schemas.openxmlformats.org/drawingml/2006/main" xmlns:r="http://schemas.openxmlformats.org/officeDocument/2006/relationships" xmlns:p="http://schemas.openxmlformats.org/presentationml/2006/main">
  <p:tag name="ORIGINALHEIGHT" val="639"/>
  <p:tag name="ORIGINALWIDTH" val="2599,5"/>
  <p:tag name="OUTPUTDPI" val="1200"/>
  <p:tag name="LATEXADDIN" val="\documentclass{article}&#10;\usepackage[brazil]{babel}&#10;\usepackage[T1]{fontenc}&#10;\usepackage{ae} %incluido&#10;\usepackage{amsmath}&#10;\usepackage{multirow}&#10;\pagestyle{empty}&#10;\begin{document}&#10;&#10;\begin{align}&#10;H(s)&amp;=\frac{C(s)P(s)}{1+C(s)P(s)-C(s)P_n(s)+C(s)G_n(s)}\nonumber\\ &amp;=\frac{C(s)P(s)}{1+C(s)\left [ P(s)-P_n(s)+G_n(s) \right ]}\nonumber&#10;\label{equ:1.1}&#10;\end{align}&#10;&#10;\end{document}"/>
  <p:tag name="IGUANATEXSIZE" val="25"/>
  <p:tag name="IGUANATEXCURSOR" val="331"/>
  <p:tag name="TRANSPARENCY" val="Verdadeiro"/>
  <p:tag name="FILENAME" val=""/>
  <p:tag name="INPUTTYPE" val="0"/>
  <p:tag name="LATEXENGINEID" val="0"/>
  <p:tag name="TEMPFOLDER" val="C:\Latex\"/>
</p:tagLst>
</file>

<file path=ppt/tags/tag22.xml><?xml version="1.0" encoding="utf-8"?>
<p:tagLst xmlns:a="http://schemas.openxmlformats.org/drawingml/2006/main" xmlns:r="http://schemas.openxmlformats.org/officeDocument/2006/relationships" xmlns:p="http://schemas.openxmlformats.org/presentationml/2006/main">
  <p:tag name="ORIGINALHEIGHT" val="639"/>
  <p:tag name="ORIGINALWIDTH" val="2599,5"/>
  <p:tag name="OUTPUTDPI" val="1200"/>
  <p:tag name="LATEXADDIN" val="\documentclass{article}&#10;\usepackage[brazil]{babel}&#10;\usepackage[T1]{fontenc}&#10;\usepackage{ae} %incluido&#10;\usepackage{amsmath}&#10;\usepackage{multirow}&#10;\pagestyle{empty}&#10;\begin{document}&#10;&#10;\begin{align}&#10;H(s)&amp;=\frac{C(s)P(s)}{1+C(s)P(s)-C(s)P_n(s)+C(s)G_n(s)}\nonumber\\ &amp;=\frac{C(s)P(s)}{1+C(s)\left [ P(s)-P_n(s)+G_n(s) \right ]}\nonumber&#10;\label{equ:1.1}&#10;\end{align}&#10;&#10;\end{document}"/>
  <p:tag name="IGUANATEXSIZE" val="25"/>
  <p:tag name="IGUANATEXCURSOR" val="331"/>
  <p:tag name="TRANSPARENCY" val="Verdadeiro"/>
  <p:tag name="FILENAME" val=""/>
  <p:tag name="INPUTTYPE" val="0"/>
  <p:tag name="LATEXENGINEID" val="0"/>
  <p:tag name="TEMPFOLDER" val="C:\Latex\"/>
</p:tagLst>
</file>

<file path=ppt/tags/tag23.xml><?xml version="1.0" encoding="utf-8"?>
<p:tagLst xmlns:a="http://schemas.openxmlformats.org/drawingml/2006/main" xmlns:r="http://schemas.openxmlformats.org/officeDocument/2006/relationships" xmlns:p="http://schemas.openxmlformats.org/presentationml/2006/main">
  <p:tag name="ORIGINALHEIGHT" val="125,25"/>
  <p:tag name="ORIGINALWIDTH" val="705"/>
  <p:tag name="OUTPUTDPI" val="1200"/>
  <p:tag name="LATEXADDIN" val="\documentclass{article}&#10;\usepackage[brazil]{babel}&#10;\usepackage[T1]{fontenc}&#10;\usepackage{ae} %incluido&#10;\usepackage{amsmath}&#10;\usepackage{multirow}&#10;\pagestyle{empty}&#10;\begin{document}&#10;&#10;$P_n(s)=P(s)$&#10;&#10;\end{document}"/>
  <p:tag name="IGUANATEXSIZE" val="25"/>
  <p:tag name="IGUANATEXCURSOR" val="194"/>
  <p:tag name="TRANSPARENCY" val="Verdadeiro"/>
  <p:tag name="FILENAME" val=""/>
  <p:tag name="INPUTTYPE" val="0"/>
  <p:tag name="LATEXENGINEID" val="0"/>
  <p:tag name="TEMPFOLDER" val="C:\Latex\"/>
</p:tagLst>
</file>

<file path=ppt/tags/tag24.xml><?xml version="1.0" encoding="utf-8"?>
<p:tagLst xmlns:a="http://schemas.openxmlformats.org/drawingml/2006/main" xmlns:r="http://schemas.openxmlformats.org/officeDocument/2006/relationships" xmlns:p="http://schemas.openxmlformats.org/presentationml/2006/main">
  <p:tag name="ORIGINALHEIGHT" val="294,75"/>
  <p:tag name="ORIGINALWIDTH" val="2478"/>
  <p:tag name="OUTPUTDPI" val="1200"/>
  <p:tag name="LATEXADDIN" val="\documentclass{article}&#10;\usepackage[brazil]{babel}&#10;\usepackage[T1]{fontenc}&#10;\usepackage{ae} %incluido&#10;\usepackage{amsmath}&#10;\usepackage{multirow}&#10;\pagestyle{empty}&#10;\begin{document}&#10;&#10;\begin{equation}&#10;H(s)=\frac{C(s)P(s)}{1+C(s)G_n(s)}=\frac{C(s)G(s)}{1+C(s)G_n(s)}e^{-Ls}\nonumber&#10;\label{equ:1.2}&#10;\end{equation}&#10;&#10;\end{document}"/>
  <p:tag name="IGUANATEXSIZE" val="25"/>
  <p:tag name="IGUANATEXCURSOR" val="278"/>
  <p:tag name="TRANSPARENCY" val="Verdadeiro"/>
  <p:tag name="FILENAME" val=""/>
  <p:tag name="INPUTTYPE" val="0"/>
  <p:tag name="LATEXENGINEID" val="0"/>
  <p:tag name="TEMPFOLDER" val="C:\Latex\"/>
</p:tagLst>
</file>

<file path=ppt/tags/tag25.xml><?xml version="1.0" encoding="utf-8"?>
<p:tagLst xmlns:a="http://schemas.openxmlformats.org/drawingml/2006/main" xmlns:r="http://schemas.openxmlformats.org/officeDocument/2006/relationships" xmlns:p="http://schemas.openxmlformats.org/presentationml/2006/main">
  <p:tag name="ORIGINALHEIGHT" val="294,75"/>
  <p:tag name="ORIGINALWIDTH" val="1863"/>
  <p:tag name="OUTPUTDPI" val="1200"/>
  <p:tag name="LATEXADDIN" val="\documentclass{article}&#10;\usepackage[brazil]{babel}&#10;\usepackage[T1]{fontenc}&#10;\usepackage{ae} %incluido&#10;\usepackage{amsmath}&#10;\usepackage{multirow}&#10;\pagestyle{empty}&#10;\begin{document}&#10;&#10;$C_{eq}=\dfrac{C(s)}{1+C(s)G_n(s)-C(s)P_n(s)}$&#10;&#10;\end{document}"/>
  <p:tag name="IGUANATEXSIZE" val="25"/>
  <p:tag name="IGUANATEXCURSOR" val="227"/>
  <p:tag name="TRANSPARENCY" val="Verdadeiro"/>
  <p:tag name="FILENAME" val=""/>
  <p:tag name="INPUTTYPE" val="0"/>
  <p:tag name="LATEXENGINEID" val="0"/>
  <p:tag name="TEMPFOLDER" val="C:\Latex\"/>
</p:tagLst>
</file>

<file path=ppt/tags/tag26.xml><?xml version="1.0" encoding="utf-8"?>
<p:tagLst xmlns:a="http://schemas.openxmlformats.org/drawingml/2006/main" xmlns:r="http://schemas.openxmlformats.org/officeDocument/2006/relationships" xmlns:p="http://schemas.openxmlformats.org/presentationml/2006/main">
  <p:tag name="ORIGINALHEIGHT" val="291"/>
  <p:tag name="ORIGINALWIDTH" val="1193,25"/>
  <p:tag name="OUTPUTDPI" val="1200"/>
  <p:tag name="LATEXADDIN" val="\documentclass{article}&#10;\usepackage[brazil]{babel}&#10;\usepackage[T1]{fontenc}&#10;\usepackage{ae} %incluido&#10;\usepackage{amsmath}&#10;\usepackage{multirow}&#10;\pagestyle{empty}&#10;\begin{document}&#10;&#10;$Q(s)=\dfrac{y}{q}=\dfrac{P}{1+C_{eq}P}$&#10;&#10;\end{document}"/>
  <p:tag name="IGUANATEXSIZE" val="25"/>
  <p:tag name="IGUANATEXCURSOR" val="202"/>
  <p:tag name="TRANSPARENCY" val="Verdadeiro"/>
  <p:tag name="FILENAME" val=""/>
  <p:tag name="INPUTTYPE" val="0"/>
  <p:tag name="LATEXENGINEID" val="0"/>
  <p:tag name="TEMPFOLDER" val="C:\Latex\"/>
</p:tagLst>
</file>

<file path=ppt/tags/tag27.xml><?xml version="1.0" encoding="utf-8"?>
<p:tagLst xmlns:a="http://schemas.openxmlformats.org/drawingml/2006/main" xmlns:r="http://schemas.openxmlformats.org/officeDocument/2006/relationships" xmlns:p="http://schemas.openxmlformats.org/presentationml/2006/main">
  <p:tag name="ORIGINALHEIGHT" val="125,25"/>
  <p:tag name="ORIGINALWIDTH" val="705"/>
  <p:tag name="OUTPUTDPI" val="1200"/>
  <p:tag name="LATEXADDIN" val="\documentclass{article}&#10;\usepackage[brazil]{babel}&#10;\usepackage[T1]{fontenc}&#10;\usepackage{ae} %incluido&#10;\usepackage{amsmath}&#10;\usepackage{multirow}&#10;\pagestyle{empty}&#10;\begin{document}&#10;&#10;$P_n(s)=P(s)$&#10;&#10;\end{document}"/>
  <p:tag name="IGUANATEXSIZE" val="25"/>
  <p:tag name="IGUANATEXCURSOR" val="194"/>
  <p:tag name="TRANSPARENCY" val="Verdadeiro"/>
  <p:tag name="FILENAME" val=""/>
  <p:tag name="INPUTTYPE" val="0"/>
  <p:tag name="LATEXENGINEID" val="0"/>
  <p:tag name="TEMPFOLDER" val="C:\Latex\"/>
</p:tagLst>
</file>

<file path=ppt/tags/tag28.xml><?xml version="1.0" encoding="utf-8"?>
<p:tagLst xmlns:a="http://schemas.openxmlformats.org/drawingml/2006/main" xmlns:r="http://schemas.openxmlformats.org/officeDocument/2006/relationships" xmlns:p="http://schemas.openxmlformats.org/presentationml/2006/main">
  <p:tag name="ORIGINALHEIGHT" val="430,5"/>
  <p:tag name="ORIGINALWIDTH" val="1549,5"/>
  <p:tag name="OUTPUTDPI" val="1200"/>
  <p:tag name="LATEXADDIN" val="\documentclass{article}&#10;\usepackage[brazil]{babel}&#10;\usepackage[T1]{fontenc}&#10;\usepackage{ae} %incluido&#10;\usepackage{amsmath}&#10;\usepackage{multirow}&#10;\pagestyle{empty}&#10;\begin{document}&#10;&#10;$Q(s)=\dfrac{P}{1+\dfrac{CP}{1+CG_n-CP_n}}$&#10;&#10;\end{document}"/>
  <p:tag name="IGUANATEXSIZE" val="25"/>
  <p:tag name="IGUANATEXCURSOR" val="224"/>
  <p:tag name="TRANSPARENCY" val="Verdadeiro"/>
  <p:tag name="FILENAME" val=""/>
  <p:tag name="INPUTTYPE" val="0"/>
  <p:tag name="LATEXENGINEID" val="0"/>
  <p:tag name="TEMPFOLDER" val="C:\Latex\"/>
</p:tagLst>
</file>

<file path=ppt/tags/tag29.xml><?xml version="1.0" encoding="utf-8"?>
<p:tagLst xmlns:a="http://schemas.openxmlformats.org/drawingml/2006/main" xmlns:r="http://schemas.openxmlformats.org/officeDocument/2006/relationships" xmlns:p="http://schemas.openxmlformats.org/presentationml/2006/main">
  <p:tag name="ORIGINALHEIGHT" val="282,75"/>
  <p:tag name="ORIGINALWIDTH" val="1652,25"/>
  <p:tag name="OUTPUTDPI" val="1200"/>
  <p:tag name="LATEXADDIN" val="\documentclass{article}&#10;\usepackage[brazil]{babel}&#10;\usepackage[T1]{fontenc}&#10;\usepackage{ae} %incluido&#10;\usepackage{amsmath}&#10;\usepackage{multirow}&#10;\pagestyle{empty}&#10;\begin{document}&#10;&#10;$Q(s)=\dfrac{P(1+CG_n-CP_n)}{1+CG_n-CP_n+CP}$&#10;&#10;\end{document}"/>
  <p:tag name="IGUANATEXSIZE" val="25"/>
  <p:tag name="IGUANATEXCURSOR" val="210"/>
  <p:tag name="TRANSPARENCY" val="Verdadeiro"/>
  <p:tag name="FILENAME" val=""/>
  <p:tag name="INPUTTYPE" val="0"/>
  <p:tag name="LATEXENGINEID" val="0"/>
  <p:tag name="TEMPFOLDER" val="C:\Latex\"/>
</p:tagLst>
</file>

<file path=ppt/tags/tag30.xml><?xml version="1.0" encoding="utf-8"?>
<p:tagLst xmlns:a="http://schemas.openxmlformats.org/drawingml/2006/main" xmlns:r="http://schemas.openxmlformats.org/officeDocument/2006/relationships" xmlns:p="http://schemas.openxmlformats.org/presentationml/2006/main">
  <p:tag name="ORIGINALHEIGHT" val="282,75"/>
  <p:tag name="ORIGINALWIDTH" val="1499,25"/>
  <p:tag name="OUTPUTDPI" val="1200"/>
  <p:tag name="LATEXADDIN" val="\documentclass{article}&#10;\usepackage[brazil]{babel}&#10;\usepackage[T1]{fontenc}&#10;\usepackage{ae} %incluido&#10;\usepackage{amsmath}&#10;\usepackage{multirow}&#10;\pagestyle{empty}&#10;\begin{document}&#10;&#10;$Q(s)=\dfrac{P(1+CG_n-CP_n)}{1+CG_n}$&#10;&#10;\end{document}"/>
  <p:tag name="IGUANATEXSIZE" val="25"/>
  <p:tag name="IGUANATEXCURSOR" val="211"/>
  <p:tag name="TRANSPARENCY" val="Verdadeiro"/>
  <p:tag name="FILENAME" val=""/>
  <p:tag name="INPUTTYPE" val="0"/>
  <p:tag name="LATEXENGINEID" val="0"/>
  <p:tag name="TEMPFOLDER" val="C:\Latex\"/>
</p:tagLst>
</file>

<file path=ppt/tags/tag31.xml><?xml version="1.0" encoding="utf-8"?>
<p:tagLst xmlns:a="http://schemas.openxmlformats.org/drawingml/2006/main" xmlns:r="http://schemas.openxmlformats.org/officeDocument/2006/relationships" xmlns:p="http://schemas.openxmlformats.org/presentationml/2006/main">
  <p:tag name="ORIGINALHEIGHT" val="294,75"/>
  <p:tag name="ORIGINALWIDTH" val="1863"/>
  <p:tag name="OUTPUTDPI" val="1200"/>
  <p:tag name="LATEXADDIN" val="\documentclass{article}&#10;\usepackage[brazil]{babel}&#10;\usepackage[T1]{fontenc}&#10;\usepackage{ae} %incluido&#10;\usepackage{amsmath}&#10;\usepackage{multirow}&#10;\pagestyle{empty}&#10;\begin{document}&#10;&#10;$C_{eq}=\dfrac{C(s)}{1+C(s)G_n(s)-C(s)P_n(s)}$&#10;&#10;\end{document}"/>
  <p:tag name="IGUANATEXSIZE" val="25"/>
  <p:tag name="IGUANATEXCURSOR" val="227"/>
  <p:tag name="TRANSPARENCY" val="Verdadeiro"/>
  <p:tag name="FILENAME" val=""/>
  <p:tag name="INPUTTYPE" val="0"/>
  <p:tag name="LATEXENGINEID" val="0"/>
  <p:tag name="TEMPFOLDER" val="C:\Latex\"/>
</p:tagLst>
</file>

<file path=ppt/tags/tag32.xml><?xml version="1.0" encoding="utf-8"?>
<p:tagLst xmlns:a="http://schemas.openxmlformats.org/drawingml/2006/main" xmlns:r="http://schemas.openxmlformats.org/officeDocument/2006/relationships" xmlns:p="http://schemas.openxmlformats.org/presentationml/2006/main">
  <p:tag name="ORIGINALHEIGHT" val="125,25"/>
  <p:tag name="ORIGINALWIDTH" val="705"/>
  <p:tag name="OUTPUTDPI" val="1200"/>
  <p:tag name="LATEXADDIN" val="\documentclass{article}&#10;\usepackage[brazil]{babel}&#10;\usepackage[T1]{fontenc}&#10;\usepackage{ae} %incluido&#10;\usepackage{amsmath}&#10;\usepackage{multirow}&#10;\pagestyle{empty}&#10;\begin{document}&#10;&#10;$P_n(s)=P(s)$&#10;&#10;\end{document}"/>
  <p:tag name="IGUANATEXSIZE" val="25"/>
  <p:tag name="IGUANATEXCURSOR" val="194"/>
  <p:tag name="TRANSPARENCY" val="Verdadeiro"/>
  <p:tag name="FILENAME" val=""/>
  <p:tag name="INPUTTYPE" val="0"/>
  <p:tag name="LATEXENGINEID" val="0"/>
  <p:tag name="TEMPFOLDER" val="C:\Latex\"/>
</p:tagLst>
</file>

<file path=ppt/tags/tag33.xml><?xml version="1.0" encoding="utf-8"?>
<p:tagLst xmlns:a="http://schemas.openxmlformats.org/drawingml/2006/main" xmlns:r="http://schemas.openxmlformats.org/officeDocument/2006/relationships" xmlns:p="http://schemas.openxmlformats.org/presentationml/2006/main">
  <p:tag name="ORIGINALHEIGHT" val="282,75"/>
  <p:tag name="ORIGINALWIDTH" val="1499,25"/>
  <p:tag name="OUTPUTDPI" val="1200"/>
  <p:tag name="LATEXADDIN" val="\documentclass{article}&#10;\usepackage[brazil]{babel}&#10;\usepackage[T1]{fontenc}&#10;\usepackage{ae} %incluido&#10;\usepackage{amsmath}&#10;\usepackage{multirow}&#10;\pagestyle{empty}&#10;\begin{document}&#10;&#10;$Q(s)=\dfrac{P(1+CG_n-CP_n)}{1+CG_n}$&#10;&#10;\end{document}"/>
  <p:tag name="IGUANATEXSIZE" val="25"/>
  <p:tag name="IGUANATEXCURSOR" val="211"/>
  <p:tag name="TRANSPARENCY" val="Verdadeiro"/>
  <p:tag name="FILENAME" val=""/>
  <p:tag name="INPUTTYPE" val="0"/>
  <p:tag name="LATEXENGINEID" val="0"/>
  <p:tag name="TEMPFOLDER" val="C:\Latex\"/>
</p:tagLst>
</file>

<file path=ppt/tags/tag34.xml><?xml version="1.0" encoding="utf-8"?>
<p:tagLst xmlns:a="http://schemas.openxmlformats.org/drawingml/2006/main" xmlns:r="http://schemas.openxmlformats.org/officeDocument/2006/relationships" xmlns:p="http://schemas.openxmlformats.org/presentationml/2006/main">
  <p:tag name="ORIGINALHEIGHT" val="299,25"/>
  <p:tag name="ORIGINALWIDTH" val="1411,5"/>
  <p:tag name="OUTPUTDPI" val="1200"/>
  <p:tag name="LATEXADDIN" val="\documentclass{article}&#10;\usepackage[brazil]{babel}&#10;\usepackage[T1]{fontenc}&#10;\usepackage{ae} %incluido&#10;\usepackage{amsmath}&#10;\usepackage{multirow}&#10;\pagestyle{empty}&#10;\begin{document}&#10;&#10;$Q(s)=P\left(1-\dfrac{CP}{1+CG_n}\right)$&#10;&#10;\end{document}"/>
  <p:tag name="IGUANATEXSIZE" val="25"/>
  <p:tag name="IGUANATEXCURSOR" val="220"/>
  <p:tag name="TRANSPARENCY" val="Verdadeiro"/>
  <p:tag name="FILENAME" val=""/>
  <p:tag name="INPUTTYPE" val="0"/>
  <p:tag name="LATEXENGINEID" val="0"/>
  <p:tag name="TEMPFOLDER" val="C:\Latex\"/>
</p:tagLst>
</file>

<file path=ppt/tags/tag35.xml><?xml version="1.0" encoding="utf-8"?>
<p:tagLst xmlns:a="http://schemas.openxmlformats.org/drawingml/2006/main" xmlns:r="http://schemas.openxmlformats.org/officeDocument/2006/relationships" xmlns:p="http://schemas.openxmlformats.org/presentationml/2006/main">
  <p:tag name="ORIGINALHEIGHT" val="299,25"/>
  <p:tag name="ORIGINALWIDTH" val="1926,75"/>
  <p:tag name="OUTPUTDPI" val="1200"/>
  <p:tag name="LATEXADDIN" val="\documentclass{article}&#10;\usepackage[brazil]{babel}&#10;\usepackage[T1]{fontenc}&#10;\usepackage{ae} %incluido&#10;\usepackage{amsmath}&#10;\usepackage{multirow}&#10;\pagestyle{empty}&#10;\begin{document}&#10;&#10;$Q(s)=Ge^{-Ls}\left(1-\dfrac{CG}{1+CG_n}e^{-Ls}\right)$&#10;&#10;\end{document}"/>
  <p:tag name="IGUANATEXSIZE" val="25"/>
  <p:tag name="IGUANATEXCURSOR" val="181"/>
  <p:tag name="TRANSPARENCY" val="Verdadeiro"/>
  <p:tag name="FILENAME" val=""/>
  <p:tag name="INPUTTYPE" val="0"/>
  <p:tag name="LATEXENGINEID" val="0"/>
  <p:tag name="TEMPFOLDER" val="C:\Latex\"/>
</p:tagLst>
</file>

<file path=ppt/tags/tag36.xml><?xml version="1.0" encoding="utf-8"?>
<p:tagLst xmlns:a="http://schemas.openxmlformats.org/drawingml/2006/main" xmlns:r="http://schemas.openxmlformats.org/officeDocument/2006/relationships" xmlns:p="http://schemas.openxmlformats.org/presentationml/2006/main">
  <p:tag name="ORIGINALHEIGHT" val="299,25"/>
  <p:tag name="ORIGINALWIDTH" val="1926,75"/>
  <p:tag name="OUTPUTDPI" val="1200"/>
  <p:tag name="LATEXADDIN" val="\documentclass{article}&#10;\usepackage[brazil]{babel}&#10;\usepackage[T1]{fontenc}&#10;\usepackage{ae} %incluido&#10;\usepackage{amsmath}&#10;\usepackage{multirow}&#10;\pagestyle{empty}&#10;\begin{document}&#10;&#10;$Q(s)=Ge^{-Ls}\left(1-\dfrac{CG}{1+CG_n}e^{-Ls}\right)$&#10;&#10;\end{document}"/>
  <p:tag name="IGUANATEXSIZE" val="25"/>
  <p:tag name="IGUANATEXCURSOR" val="181"/>
  <p:tag name="TRANSPARENCY" val="Verdadeiro"/>
  <p:tag name="FILENAME" val=""/>
  <p:tag name="INPUTTYPE" val="0"/>
  <p:tag name="LATEXENGINEID" val="0"/>
  <p:tag name="TEMPFOLDER" val="C:\Latex\"/>
</p:tagLst>
</file>

<file path=ppt/tags/tag37.xml><?xml version="1.0" encoding="utf-8"?>
<p:tagLst xmlns:a="http://schemas.openxmlformats.org/drawingml/2006/main" xmlns:r="http://schemas.openxmlformats.org/officeDocument/2006/relationships" xmlns:p="http://schemas.openxmlformats.org/presentationml/2006/main">
  <p:tag name="ORIGINALHEIGHT" val="299,25"/>
  <p:tag name="ORIGINALWIDTH" val="2286,75"/>
  <p:tag name="OUTPUTDPI" val="1200"/>
  <p:tag name="LATEXADDIN" val="\documentclass{article}&#10;\usepackage[brazil]{babel}&#10;\usepackage[T1]{fontenc}&#10;\usepackage{ae} %incluido&#10;\usepackage{amsmath}&#10;\usepackage{multirow}&#10;\pagestyle{empty}&#10;\begin{document}&#10;&#10;\begin{equation}&#10;            Q(s)=\frac{y(s)}{q(s)}=P_n(s)\left [ 1-\frac{C(s)P_n(s)}{1+C(s)G_n(s)} \right ]\nonumber&#10;            \label{equ:1.15}&#10;            \end{equation}&#10;&#10;\end{document}"/>
  <p:tag name="IGUANATEXSIZE" val="25"/>
  <p:tag name="IGUANATEXCURSOR" val="298"/>
  <p:tag name="TRANSPARENCY" val="Verdadeiro"/>
  <p:tag name="FILENAME" val=""/>
  <p:tag name="INPUTTYPE" val="0"/>
  <p:tag name="LATEXENGINEID" val="0"/>
  <p:tag name="TEMPFOLDER" val="C:\Latex\"/>
</p:tagLst>
</file>

<file path=ppt/tags/tag38.xml><?xml version="1.0" encoding="utf-8"?>
<p:tagLst xmlns:a="http://schemas.openxmlformats.org/drawingml/2006/main" xmlns:r="http://schemas.openxmlformats.org/officeDocument/2006/relationships" xmlns:p="http://schemas.openxmlformats.org/presentationml/2006/main">
  <p:tag name="ORIGINALHEIGHT" val="255,75"/>
  <p:tag name="ORIGINALWIDTH" val="904,5"/>
  <p:tag name="OUTPUTDPI" val="1200"/>
  <p:tag name="LATEXADDIN" val="\documentclass{article}&#10;\usepackage[brazil]{babel}&#10;\usepackage[T1]{fontenc}&#10;\usepackage{ae} %incluido&#10;\usepackage{amsmath}&#10;\usepackage{multirow}&#10;\pagestyle{empty}&#10;\begin{document}&#10;&#10;$P_n(s)=\dfrac{K_v}{s}e^{-Ls}$&#10;&#10;\end{document}"/>
  <p:tag name="IGUANATEXSIZE" val="25"/>
  <p:tag name="IGUANATEXCURSOR" val="210"/>
  <p:tag name="TRANSPARENCY" val="Verdadeiro"/>
  <p:tag name="FILENAME" val=""/>
  <p:tag name="INPUTTYPE" val="0"/>
  <p:tag name="LATEXENGINEID" val="0"/>
  <p:tag name="TEMPFOLDER" val="C:\Latex\"/>
</p:tagLst>
</file>

<file path=ppt/tags/tag39.xml><?xml version="1.0" encoding="utf-8"?>
<p:tagLst xmlns:a="http://schemas.openxmlformats.org/drawingml/2006/main" xmlns:r="http://schemas.openxmlformats.org/officeDocument/2006/relationships" xmlns:p="http://schemas.openxmlformats.org/presentationml/2006/main">
  <p:tag name="ORIGINALHEIGHT" val="306"/>
  <p:tag name="ORIGINALWIDTH" val="1485,75"/>
  <p:tag name="OUTPUTDPI" val="1200"/>
  <p:tag name="LATEXADDIN" val="\documentclass{article}&#10;\usepackage[brazil]{babel}&#10;\usepackage[T1]{fontenc}&#10;\usepackage{ae} %incluido&#10;\usepackage{amsmath}&#10;\usepackage{multirow}&#10;\pagestyle{empty}&#10;\begin{document}&#10;&#10;\begin{equation}&#10;            H_r(s)=\frac{y(s)}{r(s)}=\frac{K_vK_ce^{-Ls}}{s+K_vK_c}\nonumber&#10;            \label{equ:1.16}&#10;            \end{equation}&#10;&#10;\end{document}"/>
  <p:tag name="IGUANATEXSIZE" val="25"/>
  <p:tag name="IGUANATEXCURSOR" val="274"/>
  <p:tag name="TRANSPARENCY" val="Verdadeiro"/>
  <p:tag name="FILENAME" val=""/>
  <p:tag name="INPUTTYPE" val="0"/>
  <p:tag name="LATEXENGINEID" val="0"/>
  <p:tag name="TEMPFOLDER" val="C:\Latex\"/>
</p:tagLst>
</file>

<file path=ppt/tags/tag40.xml><?xml version="1.0" encoding="utf-8"?>
<p:tagLst xmlns:a="http://schemas.openxmlformats.org/drawingml/2006/main" xmlns:r="http://schemas.openxmlformats.org/officeDocument/2006/relationships" xmlns:p="http://schemas.openxmlformats.org/presentationml/2006/main">
  <p:tag name="ORIGINALHEIGHT" val="292,5"/>
  <p:tag name="ORIGINALWIDTH" val="948,75"/>
  <p:tag name="OUTPUTDPI" val="1200"/>
  <p:tag name="LATEXADDIN" val="\documentclass{article}&#10;\usepackage[brazil]{babel}&#10;\usepackage[T1]{fontenc}&#10;\usepackage{ae} %incluido&#10;\usepackage{amsmath}&#10;\usepackage{multirow}&#10;\pagestyle{empty}&#10;\begin{document}&#10;&#10;$H(s)=\dfrac{C_{eq}P}{1+C_{eq}P}$&#10;&#10;\end{document}"/>
  <p:tag name="IGUANATEXSIZE" val="25"/>
  <p:tag name="IGUANATEXCURSOR" val="180"/>
  <p:tag name="TRANSPARENCY" val="Verdadeiro"/>
  <p:tag name="FILENAME" val=""/>
  <p:tag name="INPUTTYPE" val="0"/>
  <p:tag name="LATEXENGINEID" val="0"/>
  <p:tag name="TEMPFOLDER" val="C:\Latex\"/>
</p:tagLst>
</file>

<file path=ppt/tags/tag41.xml><?xml version="1.0" encoding="utf-8"?>
<p:tagLst xmlns:a="http://schemas.openxmlformats.org/drawingml/2006/main" xmlns:r="http://schemas.openxmlformats.org/officeDocument/2006/relationships" xmlns:p="http://schemas.openxmlformats.org/presentationml/2006/main">
  <p:tag name="ORIGINALHEIGHT" val="315"/>
  <p:tag name="ORIGINALWIDTH" val="2554,5"/>
  <p:tag name="OUTPUTDPI" val="1200"/>
  <p:tag name="LATEXADDIN" val="\documentclass{article}&#10;\usepackage[brazil]{babel}&#10;\usepackage[T1]{fontenc}&#10;\usepackage{ae} %incluido&#10;\usepackage{amsmath}&#10;\usepackage{multirow}&#10;\pagestyle{empty}&#10;\begin{document}&#10;&#10;\begin{equation}&#10;            H_q(s)=\frac{y(s)}{q(s)}=\frac{K_ve^{-Ls}\left [ s+K_vK_c(1-e^{-Ls}) \right ]}{s(s+K_vK_c)}\nonumber&#10;            \label{equ:1.17}&#10;            \end{equation}&#10;&#10;\end{document}"/>
  <p:tag name="IGUANATEXSIZE" val="25"/>
  <p:tag name="IGUANATEXCURSOR" val="310"/>
  <p:tag name="TRANSPARENCY" val="Verdadeiro"/>
  <p:tag name="FILENAME" val=""/>
  <p:tag name="INPUTTYPE" val="0"/>
  <p:tag name="LATEXENGINEID" val="0"/>
  <p:tag name="TEMPFOLDER" val="C:\Latex\"/>
</p:tagLst>
</file>

<file path=ppt/tags/tag42.xml><?xml version="1.0" encoding="utf-8"?>
<p:tagLst xmlns:a="http://schemas.openxmlformats.org/drawingml/2006/main" xmlns:r="http://schemas.openxmlformats.org/officeDocument/2006/relationships" xmlns:p="http://schemas.openxmlformats.org/presentationml/2006/main">
  <p:tag name="ORIGINALHEIGHT" val="274,5"/>
  <p:tag name="ORIGINALWIDTH" val="1115,25"/>
  <p:tag name="OUTPUTDPI" val="1200"/>
  <p:tag name="LATEXADDIN" val="\documentclass{article}&#10;\usepackage[brazil]{babel}&#10;\usepackage[T1]{fontenc}&#10;\usepackage{ae} %incluido&#10;\usepackage{amsmath}&#10;\usepackage{multirow}&#10;\pagestyle{empty}&#10;\begin{document}&#10;&#10;$H_q(0)=\dfrac{1+K_vK_cL}{K_c}$&#10;&#10;\end{document}"/>
  <p:tag name="IGUANATEXSIZE" val="25"/>
  <p:tag name="IGUANATEXCURSOR" val="212"/>
  <p:tag name="TRANSPARENCY" val="Verdadeiro"/>
  <p:tag name="FILENAME" val=""/>
  <p:tag name="INPUTTYPE" val="0"/>
  <p:tag name="LATEXENGINEID" val="0"/>
  <p:tag name="TEMPFOLDER" val="C:\Latex\"/>
</p:tagLst>
</file>

<file path=ppt/tags/tag43.xml><?xml version="1.0" encoding="utf-8"?>
<p:tagLst xmlns:a="http://schemas.openxmlformats.org/drawingml/2006/main" xmlns:r="http://schemas.openxmlformats.org/officeDocument/2006/relationships" xmlns:p="http://schemas.openxmlformats.org/presentationml/2006/main">
  <p:tag name="ORIGINALHEIGHT" val="125,25"/>
  <p:tag name="ORIGINALWIDTH" val="562,5"/>
  <p:tag name="OUTPUTDPI" val="1200"/>
  <p:tag name="LATEXADDIN" val="\documentclass{article}&#10;\usepackage[brazil]{babel}&#10;\usepackage[T1]{fontenc}&#10;\usepackage{ae} %incluido&#10;\usepackage{amsmath}&#10;\usepackage{multirow}&#10;\pagestyle{empty}&#10;\begin{document}&#10;&#10;$C(s)=K_c$&#10;&#10;\end{document}"/>
  <p:tag name="IGUANATEXSIZE" val="25"/>
  <p:tag name="IGUANATEXCURSOR" val="191"/>
  <p:tag name="TRANSPARENCY" val="Verdadeiro"/>
  <p:tag name="FILENAME" val=""/>
  <p:tag name="INPUTTYPE" val="0"/>
  <p:tag name="LATEXENGINEID" val="0"/>
  <p:tag name="TEMPFOLDER" val="C:\Latex\"/>
</p:tagLst>
</file>

<file path=ppt/tags/tag44.xml><?xml version="1.0" encoding="utf-8"?>
<p:tagLst xmlns:a="http://schemas.openxmlformats.org/drawingml/2006/main" xmlns:r="http://schemas.openxmlformats.org/officeDocument/2006/relationships" xmlns:p="http://schemas.openxmlformats.org/presentationml/2006/main">
  <p:tag name="ORIGINALHEIGHT" val="306"/>
  <p:tag name="ORIGINALWIDTH" val="1485,75"/>
  <p:tag name="OUTPUTDPI" val="1200"/>
  <p:tag name="LATEXADDIN" val="\documentclass{article}&#10;\usepackage[brazil]{babel}&#10;\usepackage[T1]{fontenc}&#10;\usepackage{ae} %incluido&#10;\usepackage{amsmath}&#10;\usepackage{multirow}&#10;\pagestyle{empty}&#10;\begin{document}&#10;&#10;\begin{equation}&#10;            H_r(s)=\frac{y(s)}{r(s)}=\frac{K_vK_ce^{-Ls}}{s+K_vK_c}\nonumber&#10;            \label{equ:1.16}&#10;            \end{equation}&#10;&#10;\end{document}"/>
  <p:tag name="IGUANATEXSIZE" val="25"/>
  <p:tag name="IGUANATEXCURSOR" val="274"/>
  <p:tag name="TRANSPARENCY" val="Verdadeiro"/>
  <p:tag name="FILENAME" val=""/>
  <p:tag name="INPUTTYPE" val="0"/>
  <p:tag name="LATEXENGINEID" val="0"/>
  <p:tag name="TEMPFOLDER" val="C:\Latex\"/>
</p:tagLst>
</file>

<file path=ppt/tags/tag45.xml><?xml version="1.0" encoding="utf-8"?>
<p:tagLst xmlns:a="http://schemas.openxmlformats.org/drawingml/2006/main" xmlns:r="http://schemas.openxmlformats.org/officeDocument/2006/relationships" xmlns:p="http://schemas.openxmlformats.org/presentationml/2006/main">
  <p:tag name="ORIGINALHEIGHT" val="274,5"/>
  <p:tag name="ORIGINALWIDTH" val="1115,25"/>
  <p:tag name="OUTPUTDPI" val="1200"/>
  <p:tag name="LATEXADDIN" val="\documentclass{article}&#10;\usepackage[brazil]{babel}&#10;\usepackage[T1]{fontenc}&#10;\usepackage{ae} %incluido&#10;\usepackage{amsmath}&#10;\usepackage{multirow}&#10;\pagestyle{empty}&#10;\begin{document}&#10;&#10;$H_q(0)=\dfrac{1+K_vK_cL}{K_c}$&#10;&#10;\end{document}"/>
  <p:tag name="IGUANATEXSIZE" val="25"/>
  <p:tag name="IGUANATEXCURSOR" val="212"/>
  <p:tag name="TRANSPARENCY" val="Verdadeiro"/>
  <p:tag name="FILENAME" val=""/>
  <p:tag name="INPUTTYPE" val="0"/>
  <p:tag name="LATEXENGINEID" val="0"/>
  <p:tag name="TEMPFOLDER" val="C:\Latex\"/>
</p:tagLst>
</file>

<file path=ppt/theme/theme1.xml><?xml version="1.0" encoding="utf-8"?>
<a:theme xmlns:a="http://schemas.openxmlformats.org/drawingml/2006/main" name="Animated_pointer_and_light-up_tex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53A00F274449E4D98379C6BF4F2EA6B" ma:contentTypeVersion="11" ma:contentTypeDescription="Crear nuevo documento." ma:contentTypeScope="" ma:versionID="eb3f5a400347c3417aab130743b3d1b7">
  <xsd:schema xmlns:xsd="http://www.w3.org/2001/XMLSchema" xmlns:xs="http://www.w3.org/2001/XMLSchema" xmlns:p="http://schemas.microsoft.com/office/2006/metadata/properties" xmlns:ns2="fac3ca94-d71a-4caa-9690-eb28d591cc11" xmlns:ns3="81d90fb7-c10b-429b-a2b8-56a49218fdfe" targetNamespace="http://schemas.microsoft.com/office/2006/metadata/properties" ma:root="true" ma:fieldsID="76a9e87a822cd72ed856b4afed0ee74c" ns2:_="" ns3:_="">
    <xsd:import namespace="fac3ca94-d71a-4caa-9690-eb28d591cc11"/>
    <xsd:import namespace="81d90fb7-c10b-429b-a2b8-56a49218fd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c3ca94-d71a-4caa-9690-eb28d591cc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2093fb0a-f3be-4120-808e-fc0c80b8c9c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1d90fb7-c10b-429b-a2b8-56a49218fdf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2809115-c1bd-42a4-a936-87346198339a}" ma:internalName="TaxCatchAll" ma:showField="CatchAllData" ma:web="81d90fb7-c10b-429b-a2b8-56a49218fd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1d90fb7-c10b-429b-a2b8-56a49218fdfe" xsi:nil="true"/>
    <lcf76f155ced4ddcb4097134ff3c332f xmlns="fac3ca94-d71a-4caa-9690-eb28d591cc1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D9C8DB6-DA18-4555-8DD6-E00F2C75343C}"/>
</file>

<file path=customXml/itemProps2.xml><?xml version="1.0" encoding="utf-8"?>
<ds:datastoreItem xmlns:ds="http://schemas.openxmlformats.org/officeDocument/2006/customXml" ds:itemID="{86C048CC-E69A-4311-A459-DA08D791BB77}"/>
</file>

<file path=customXml/itemProps3.xml><?xml version="1.0" encoding="utf-8"?>
<ds:datastoreItem xmlns:ds="http://schemas.openxmlformats.org/officeDocument/2006/customXml" ds:itemID="{32207D6B-2914-4237-9BAA-9E89C8E31D16}"/>
</file>

<file path=docProps/app.xml><?xml version="1.0" encoding="utf-8"?>
<Properties xmlns="http://schemas.openxmlformats.org/officeDocument/2006/extended-properties" xmlns:vt="http://schemas.openxmlformats.org/officeDocument/2006/docPropsVTypes">
  <Template>Ponteiro animado e texto iluminado</Template>
  <TotalTime>0</TotalTime>
  <Words>1691</Words>
  <Application>Microsoft Office PowerPoint</Application>
  <PresentationFormat>Panorámica</PresentationFormat>
  <Paragraphs>353</Paragraphs>
  <Slides>31</Slides>
  <Notes>14</Notes>
  <HiddenSlides>0</HiddenSlides>
  <MMClips>1</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31</vt:i4>
      </vt:variant>
    </vt:vector>
  </HeadingPairs>
  <TitlesOfParts>
    <vt:vector size="37" baseType="lpstr">
      <vt:lpstr>-apple-system</vt:lpstr>
      <vt:lpstr>Arial</vt:lpstr>
      <vt:lpstr>Calibri</vt:lpstr>
      <vt:lpstr>Cambria Math</vt:lpstr>
      <vt:lpstr>Menlo</vt:lpstr>
      <vt:lpstr>Animated_pointer_and_light-up_text</vt:lpstr>
      <vt:lpstr>SERGIO ANDRES CASTAÑO GIRALDO</vt:lpstr>
      <vt:lpstr>Presentación de PowerPoint</vt:lpstr>
      <vt:lpstr>Presentación de PowerPoint</vt:lpstr>
      <vt:lpstr>Presentación de PowerPoint</vt:lpstr>
      <vt:lpstr>Transformada de Laplace</vt:lpstr>
      <vt:lpstr>Presentación de PowerPoint</vt:lpstr>
      <vt:lpstr>Especificar el Retardo en Matlab</vt:lpstr>
      <vt:lpstr>Aproximaciones polinomiales del tiempo muerto</vt:lpstr>
      <vt:lpstr>Aproximaciones polinomiales del tiempo muerto</vt:lpstr>
      <vt:lpstr>Retardo del Sistema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Bibliografía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2016-03-30T23:17:01Z</dcterms:created>
  <dcterms:modified xsi:type="dcterms:W3CDTF">2026-03-11T13:07:41Z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TC024787149991</vt:lpwstr>
  </property>
  <property fmtid="{D5CDD505-2E9C-101B-9397-08002B2CF9AE}" pid="3" name="ContentTypeId">
    <vt:lpwstr>0x010100753A00F274449E4D98379C6BF4F2EA6B</vt:lpwstr>
  </property>
</Properties>
</file>