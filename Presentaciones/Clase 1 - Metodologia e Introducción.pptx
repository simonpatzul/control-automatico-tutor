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8"/>
  </p:notesMasterIdLst>
  <p:sldIdLst>
    <p:sldId id="256" r:id="rId5"/>
    <p:sldId id="294" r:id="rId6"/>
    <p:sldId id="259" r:id="rId7"/>
    <p:sldId id="260" r:id="rId8"/>
    <p:sldId id="261" r:id="rId9"/>
    <p:sldId id="295" r:id="rId10"/>
    <p:sldId id="296" r:id="rId11"/>
    <p:sldId id="304" r:id="rId12"/>
    <p:sldId id="305" r:id="rId13"/>
    <p:sldId id="298" r:id="rId14"/>
    <p:sldId id="297" r:id="rId15"/>
    <p:sldId id="302" r:id="rId16"/>
    <p:sldId id="263" r:id="rId17"/>
    <p:sldId id="265" r:id="rId18"/>
    <p:sldId id="266" r:id="rId19"/>
    <p:sldId id="267" r:id="rId20"/>
    <p:sldId id="268" r:id="rId21"/>
    <p:sldId id="303" r:id="rId22"/>
    <p:sldId id="269" r:id="rId23"/>
    <p:sldId id="271" r:id="rId24"/>
    <p:sldId id="270" r:id="rId25"/>
    <p:sldId id="272" r:id="rId26"/>
    <p:sldId id="279" r:id="rId27"/>
    <p:sldId id="274" r:id="rId28"/>
    <p:sldId id="275" r:id="rId29"/>
    <p:sldId id="276" r:id="rId30"/>
    <p:sldId id="277" r:id="rId31"/>
    <p:sldId id="278" r:id="rId32"/>
    <p:sldId id="281" r:id="rId33"/>
    <p:sldId id="282" r:id="rId34"/>
    <p:sldId id="283" r:id="rId35"/>
    <p:sldId id="285" r:id="rId36"/>
    <p:sldId id="286" r:id="rId37"/>
    <p:sldId id="287" r:id="rId38"/>
    <p:sldId id="273" r:id="rId39"/>
    <p:sldId id="284" r:id="rId40"/>
    <p:sldId id="288" r:id="rId41"/>
    <p:sldId id="289" r:id="rId42"/>
    <p:sldId id="262" r:id="rId43"/>
    <p:sldId id="290" r:id="rId44"/>
    <p:sldId id="291" r:id="rId45"/>
    <p:sldId id="292" r:id="rId46"/>
    <p:sldId id="29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2"/>
    <a:srgbClr val="282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5D23-057B-43C8-B6B2-AB4345A55EE6}" type="datetimeFigureOut">
              <a:rPr lang="es-419" smtClean="0"/>
              <a:t>2/2/2026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7FBC4-7AC6-4C92-8E19-EFEEBBCAC4CF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403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todo sistema de automatización industrial encontramos cuatro bloques fundamentales: el </a:t>
            </a:r>
            <a:r>
              <a:rPr lang="es-ES" b="1" dirty="0"/>
              <a:t>proceso físico</a:t>
            </a:r>
            <a:r>
              <a:rPr lang="es-ES" dirty="0"/>
              <a:t> (por ejemplo, este intercambiador de calor), el </a:t>
            </a:r>
            <a:r>
              <a:rPr lang="es-ES" b="1" dirty="0"/>
              <a:t>controlador</a:t>
            </a:r>
            <a:r>
              <a:rPr lang="es-ES" dirty="0"/>
              <a:t> (aquí un PLC), el </a:t>
            </a:r>
            <a:r>
              <a:rPr lang="es-ES" b="1" dirty="0"/>
              <a:t>actuador</a:t>
            </a:r>
            <a:r>
              <a:rPr lang="es-ES" dirty="0"/>
              <a:t> (una válvula proporcional) y el </a:t>
            </a:r>
            <a:r>
              <a:rPr lang="es-ES" b="1" dirty="0"/>
              <a:t>sensor</a:t>
            </a:r>
            <a:r>
              <a:rPr lang="es-ES" dirty="0"/>
              <a:t> (termocupla para medir temperatura).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7FBC4-7AC6-4C92-8E19-EFEEBBCAC4CF}" type="slidenum">
              <a:rPr lang="es-419" smtClean="0"/>
              <a:t>3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8258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 tenemos las respuestas a estas preguntas... pero al final del semestre, todos ustedes deberían poder responderlas con claridad. Este es el objetivo real de este curso.</a:t>
            </a:r>
          </a:p>
          <a:p>
            <a:r>
              <a:rPr lang="es-ES" b="1" dirty="0"/>
              <a:t>Explica brevemente cada una, sin profundizar demasiado</a:t>
            </a:r>
            <a:r>
              <a:rPr lang="es-ES" dirty="0"/>
              <a:t>:</a:t>
            </a:r>
          </a:p>
          <a:p>
            <a:r>
              <a:rPr lang="es-ES" b="1" dirty="0"/>
              <a:t>¿Por qué modelar sistemas?</a:t>
            </a:r>
            <a:br>
              <a:rPr lang="es-ES" dirty="0"/>
            </a:br>
            <a:r>
              <a:rPr lang="es-ES" dirty="0"/>
              <a:t>👉 “Para anticipar comportamientos antes de construir, evitar fallos, optimizar procesos.”</a:t>
            </a:r>
          </a:p>
          <a:p>
            <a:r>
              <a:rPr lang="es-ES" b="1" dirty="0"/>
              <a:t>¿Cómo modelar sistemas?</a:t>
            </a:r>
            <a:br>
              <a:rPr lang="es-ES" dirty="0"/>
            </a:br>
            <a:r>
              <a:rPr lang="es-ES" dirty="0"/>
              <a:t>👉 “Usando ecuaciones, simulaciones, y una secuencia lógica que aprenderemos paso a paso.”</a:t>
            </a:r>
          </a:p>
          <a:p>
            <a:r>
              <a:rPr lang="es-ES" b="1" dirty="0"/>
              <a:t>¿Qué necesitamos para modelar?</a:t>
            </a:r>
            <a:br>
              <a:rPr lang="es-ES" dirty="0"/>
            </a:br>
            <a:r>
              <a:rPr lang="es-ES" dirty="0"/>
              <a:t>👉 “Datos, conocimiento físico, herramientas computacionales… y criterio.”</a:t>
            </a:r>
          </a:p>
          <a:p>
            <a:r>
              <a:rPr lang="es-ES" b="1" dirty="0"/>
              <a:t>¿Qué sistemas podemos modelar?</a:t>
            </a:r>
            <a:br>
              <a:rPr lang="es-ES" dirty="0"/>
            </a:br>
            <a:r>
              <a:rPr lang="es-ES" dirty="0"/>
              <a:t>👉 “Desde un motor hasta una planta química, pasando por drones, robots y hornos.”</a:t>
            </a:r>
          </a:p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7FBC4-7AC6-4C92-8E19-EFEEBBCAC4CF}" type="slidenum">
              <a:rPr lang="es-419" smtClean="0"/>
              <a:t>11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47011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un estudio del movimiento de un cuerpo sometido a una fuerza, la masa de éste puede ser considerada un parámetro. Si el cuerpo es, por ejemplo, el trasbordador espacial, Fig. 1.9(a), su masa estará variando constantemente a causa del combustible consumido; por este hecho, es un sistema cuyo modelo deberá considerar la variación de la masa en forma explícita en función del tiempo. </a:t>
            </a: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3D3DC-14A1-4CB4-9D90-BDD0AC4CC93B}" type="slidenum">
              <a:rPr lang="es-419" smtClean="0"/>
              <a:t>34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86340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5F429-2E65-A2A5-646C-47A7DF642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75C68E-E6EF-2642-9242-4CAB37351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F52098-5DEF-125E-910A-298060A6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E8CD5-2075-F0BD-B809-BA1614C33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1BA298-5C58-AEC2-0D5F-65DB93DA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57400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98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E7E2-A1DA-5A5F-F04C-B31073F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2BAF2-5DDF-2899-157D-304296D0D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72D68-96FB-787B-E01E-C31EAEA4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C65A20-9F1B-3567-C602-C2115B97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BBFD5-4C22-7CCE-A7ED-B48593D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28914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79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FB27-ED85-696B-8635-BDA9D938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96C02-F63C-1D5B-1CDF-6234E7AE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1ED94D-ACD3-DB06-B641-842F9AB7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9E86B-A5DB-70B9-7672-56BC1BDD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FDF003-B456-5670-189F-3BE24EE6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71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3919A-FAE6-A557-2DDD-C6C5EEE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66818-E6E6-BF92-3D8A-88B290EAD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7D1F06-8BE0-2F73-9ABE-21F8392C0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2F93F9-BB7D-2760-5B81-6AE2B0F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836E06-4439-0922-979B-3F77C3EB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9CD1D3-7606-E3F1-CA8C-7B043A17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959074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26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6BDEC-5854-0421-B33F-BFC527E6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948E72-1405-EB95-5E2D-C4AC9C080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86E1B1-3ED5-CB2E-3697-F46630D5B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01C4BA-0862-325B-3410-33998F599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44A766-342D-2D6A-F4DC-727725965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09F5FA-8AF5-1C81-AB3D-6C7EAF6D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1DD451-07F2-49BD-BDA4-97A82333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199F36-22A3-529D-71B8-D00DCA50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20368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5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670A2-D11A-70D8-F0B6-4FA0959E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3200BD-4E74-7503-3398-F7F9A0CA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5C098E-38AB-B050-2115-14138DD4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235B1C-C7B9-706E-BD3D-7D021AF13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63097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D9605C-23A9-A572-387E-CEBFFEB1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7807EB-8D27-8E9D-492A-4EFF4FAD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F77476-549F-30C5-456D-B9E6C557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37460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52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CB46-E99F-EBEC-8A5A-43AABEFA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7BD16-E023-CF7A-5F9A-AC2033F29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B5672C-D422-4143-80CA-6AB253364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DC03FF-72B3-4B87-E679-533E3372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406800-A976-3EA0-DCD1-35E24B08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90AE15-2D9F-3311-754B-0132AAB7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22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611DA-140E-2B03-934C-5E00A9D5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5D5FAC-155F-20DA-CF9F-0CC96C1D8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CBF3A5-368C-CCE9-9A2C-CC3ED1525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69C89B-5CED-0315-C9BF-0428235F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69B6C4-75F9-9DAE-692E-3158FA15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2D8D33-A566-F48B-BFE1-49922964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72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E725B-95EF-BDEF-4518-5FFD3400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7D7347-78FC-FD1F-DAFD-3973100C4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76D8-D56C-E5F9-729F-9B050101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FA9B6-4686-A276-17D6-C1E28FFB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AEB9AC-A955-635C-F88D-C063542B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3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023F1E-3568-212D-07A2-B9274A14A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80EBAA-B758-7AC7-4E21-14E247EE7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7EA02D-6900-CFFE-7404-446A7AC7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1D888-963A-8CFA-282F-FB2B81FF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98526-8CCC-6464-4820-7063F741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04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10D696-A3AB-D0C8-8503-8BEB77EE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pt-B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88058-ABB1-1E1A-C78D-FAB589124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pt-BR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E1B763-0134-BCFC-5C8C-0A74E5345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8F8F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B9A9A4E-3042-4604-968A-12BD889B065C}" type="datetimeFigureOut">
              <a:rPr lang="pt-BR" smtClean="0"/>
              <a:pPr/>
              <a:t>02/02/2026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FF956-A946-2452-6532-D72FB1886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8F8F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96BEDC-A4E0-4DAD-C68F-D4140EE06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1A04707-BC9A-4795-97CB-BBF4E2115A75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95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Calibri" panose="020F0502020204030204" pitchFamily="34" charset="0"/>
          <a:ea typeface="Verdan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emf"/><Relationship Id="rId7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tags" Target="../tags/tag3.xml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6.xml"/><Relationship Id="rId7" Type="http://schemas.openxmlformats.org/officeDocument/2006/relationships/image" Target="../media/image44.png"/><Relationship Id="rId12" Type="http://schemas.openxmlformats.org/officeDocument/2006/relationships/image" Target="../media/image5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3.png"/><Relationship Id="rId11" Type="http://schemas.openxmlformats.org/officeDocument/2006/relationships/image" Target="../media/image56.png"/><Relationship Id="rId5" Type="http://schemas.openxmlformats.org/officeDocument/2006/relationships/image" Target="../media/image42.png"/><Relationship Id="rId10" Type="http://schemas.openxmlformats.org/officeDocument/2006/relationships/image" Target="../media/image5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9.png"/><Relationship Id="rId3" Type="http://schemas.openxmlformats.org/officeDocument/2006/relationships/tags" Target="../tags/tag9.xml"/><Relationship Id="rId7" Type="http://schemas.openxmlformats.org/officeDocument/2006/relationships/image" Target="../media/image43.png"/><Relationship Id="rId12" Type="http://schemas.openxmlformats.org/officeDocument/2006/relationships/image" Target="../media/image5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2.png"/><Relationship Id="rId11" Type="http://schemas.openxmlformats.org/officeDocument/2006/relationships/image" Target="../media/image57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tags" Target="../tags/tag10.xml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66.png"/><Relationship Id="rId18" Type="http://schemas.openxmlformats.org/officeDocument/2006/relationships/image" Target="../media/image70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65.png"/><Relationship Id="rId17" Type="http://schemas.openxmlformats.org/officeDocument/2006/relationships/image" Target="../media/image69.png"/><Relationship Id="rId2" Type="http://schemas.openxmlformats.org/officeDocument/2006/relationships/tags" Target="../tags/tag12.xml"/><Relationship Id="rId16" Type="http://schemas.openxmlformats.org/officeDocument/2006/relationships/image" Target="../media/image68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64.png"/><Relationship Id="rId5" Type="http://schemas.openxmlformats.org/officeDocument/2006/relationships/tags" Target="../tags/tag15.xml"/><Relationship Id="rId15" Type="http://schemas.openxmlformats.org/officeDocument/2006/relationships/image" Target="../media/image56.png"/><Relationship Id="rId10" Type="http://schemas.openxmlformats.org/officeDocument/2006/relationships/image" Target="../media/image63.png"/><Relationship Id="rId4" Type="http://schemas.openxmlformats.org/officeDocument/2006/relationships/tags" Target="../tags/tag14.xml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tags" Target="../tags/tag20.xml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23.xml"/><Relationship Id="rId7" Type="http://schemas.openxmlformats.org/officeDocument/2006/relationships/image" Target="../media/image8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80.png"/><Relationship Id="rId11" Type="http://schemas.openxmlformats.org/officeDocument/2006/relationships/image" Target="../media/image74.png"/><Relationship Id="rId5" Type="http://schemas.openxmlformats.org/officeDocument/2006/relationships/image" Target="../media/image77.png"/><Relationship Id="rId10" Type="http://schemas.openxmlformats.org/officeDocument/2006/relationships/image" Target="../media/image73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26.xml"/><Relationship Id="rId7" Type="http://schemas.openxmlformats.org/officeDocument/2006/relationships/image" Target="../media/image83.png"/><Relationship Id="rId12" Type="http://schemas.openxmlformats.org/officeDocument/2006/relationships/image" Target="../media/image74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82.png"/><Relationship Id="rId11" Type="http://schemas.openxmlformats.org/officeDocument/2006/relationships/image" Target="../media/image7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1.png"/><Relationship Id="rId4" Type="http://schemas.openxmlformats.org/officeDocument/2006/relationships/tags" Target="../tags/tag27.xml"/><Relationship Id="rId9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89.png"/><Relationship Id="rId18" Type="http://schemas.openxmlformats.org/officeDocument/2006/relationships/image" Target="../media/image72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88.png"/><Relationship Id="rId17" Type="http://schemas.openxmlformats.org/officeDocument/2006/relationships/image" Target="../media/image71.png"/><Relationship Id="rId2" Type="http://schemas.openxmlformats.org/officeDocument/2006/relationships/tags" Target="../tags/tag29.xml"/><Relationship Id="rId16" Type="http://schemas.openxmlformats.org/officeDocument/2006/relationships/image" Target="../media/image85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87.png"/><Relationship Id="rId5" Type="http://schemas.openxmlformats.org/officeDocument/2006/relationships/tags" Target="../tags/tag32.xml"/><Relationship Id="rId15" Type="http://schemas.openxmlformats.org/officeDocument/2006/relationships/image" Target="../media/image91.png"/><Relationship Id="rId10" Type="http://schemas.openxmlformats.org/officeDocument/2006/relationships/image" Target="../media/image82.png"/><Relationship Id="rId19" Type="http://schemas.openxmlformats.org/officeDocument/2006/relationships/image" Target="../media/image74.png"/><Relationship Id="rId4" Type="http://schemas.openxmlformats.org/officeDocument/2006/relationships/tags" Target="../tags/tag31.xml"/><Relationship Id="rId9" Type="http://schemas.openxmlformats.org/officeDocument/2006/relationships/image" Target="../media/image86.png"/><Relationship Id="rId14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2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85.png"/><Relationship Id="rId11" Type="http://schemas.openxmlformats.org/officeDocument/2006/relationships/image" Target="../media/image1070.png"/><Relationship Id="rId5" Type="http://schemas.openxmlformats.org/officeDocument/2006/relationships/image" Target="../media/image107.png"/><Relationship Id="rId10" Type="http://schemas.openxmlformats.org/officeDocument/2006/relationships/image" Target="../media/image1060.png"/><Relationship Id="rId4" Type="http://schemas.openxmlformats.org/officeDocument/2006/relationships/image" Target="../media/image106.png"/><Relationship Id="rId9" Type="http://schemas.openxmlformats.org/officeDocument/2006/relationships/image" Target="../media/image10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23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17.png"/><Relationship Id="rId10" Type="http://schemas.openxmlformats.org/officeDocument/2006/relationships/image" Target="../media/image129.png"/><Relationship Id="rId4" Type="http://schemas.openxmlformats.org/officeDocument/2006/relationships/image" Target="../media/image124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B29E4-240F-ACBC-C0BA-A130B3D63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5415"/>
            <a:ext cx="9144000" cy="2266379"/>
          </a:xfrm>
        </p:spPr>
        <p:txBody>
          <a:bodyPr>
            <a:normAutofit/>
          </a:bodyPr>
          <a:lstStyle/>
          <a:p>
            <a:r>
              <a:rPr lang="es-ES" dirty="0"/>
              <a:t>Control de Sistemas Dinámicos</a:t>
            </a:r>
            <a:endParaRPr lang="es-CO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A7DFB7-D159-76F5-13AA-A4F02C1CF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5102352"/>
            <a:ext cx="9144000" cy="1179576"/>
          </a:xfrm>
        </p:spPr>
        <p:txBody>
          <a:bodyPr>
            <a:normAutofit/>
          </a:bodyPr>
          <a:lstStyle/>
          <a:p>
            <a:r>
              <a:rPr lang="es-CO" dirty="0"/>
              <a:t>Prof. Sergio Andrés Castaño Giraldo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B2E3C-2A26-5955-3777-150D93576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0" y="360346"/>
            <a:ext cx="3738880" cy="2103120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55CDC2AB-3A93-0CC8-F049-CDB7F3B85FE2}"/>
              </a:ext>
            </a:extLst>
          </p:cNvPr>
          <p:cNvSpPr txBox="1">
            <a:spLocks/>
          </p:cNvSpPr>
          <p:nvPr/>
        </p:nvSpPr>
        <p:spPr>
          <a:xfrm>
            <a:off x="1889760" y="4123944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24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2911-502B-A05F-7544-AF010D06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¿De qué trata este curso?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EF8AE-50F2-678A-9714-2A60BEA5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Diseñamos sistemas que actúan sobre procesos físicos automáticamente.</a:t>
            </a:r>
            <a:endParaRPr lang="es-ES" dirty="0">
              <a:solidFill>
                <a:schemeClr val="accent2"/>
              </a:solidFill>
            </a:endParaRPr>
          </a:p>
          <a:p>
            <a:pPr lvl="1"/>
            <a:r>
              <a:rPr lang="es-ES" dirty="0"/>
              <a:t>Por ejemplo: temperatura de un horno, nivel de un tanque, presión en una línea.</a:t>
            </a:r>
          </a:p>
          <a:p>
            <a:r>
              <a:rPr lang="es-ES" b="1" dirty="0">
                <a:solidFill>
                  <a:schemeClr val="accent4"/>
                </a:solidFill>
              </a:rPr>
              <a:t>Estudiamos cómo responden esos procesos ante señales de entrada.</a:t>
            </a:r>
          </a:p>
          <a:p>
            <a:pPr lvl="1"/>
            <a:r>
              <a:rPr lang="es-ES" dirty="0"/>
              <a:t>¿Son rápidos? ¿estables? ¿responden bien al cambio?</a:t>
            </a:r>
          </a:p>
          <a:p>
            <a:pPr lvl="1"/>
            <a:r>
              <a:rPr lang="es-ES" dirty="0"/>
              <a:t>Modelamos esa dinámica con ecuaciones, funciones de transferencia y simulaciones.</a:t>
            </a:r>
          </a:p>
          <a:p>
            <a:r>
              <a:rPr lang="es-ES" b="1" dirty="0">
                <a:solidFill>
                  <a:schemeClr val="accent5"/>
                </a:solidFill>
              </a:rPr>
              <a:t>Implementamos controladores para que cumplan especificaciones.</a:t>
            </a:r>
          </a:p>
          <a:p>
            <a:pPr lvl="1"/>
            <a:r>
              <a:rPr lang="es-ES" dirty="0"/>
              <a:t>Como minimizar el error, evitar </a:t>
            </a:r>
            <a:r>
              <a:rPr lang="es-ES" dirty="0" err="1"/>
              <a:t>sobreimpulsos</a:t>
            </a:r>
            <a:r>
              <a:rPr lang="es-ES" dirty="0"/>
              <a:t> o lograr estabilidad.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4986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CBCDD5-C0A9-C576-8B2C-CF8E5C0B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Automatización de Procesos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1D71F0-A040-F6EF-911A-5B57AA2E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6698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Un proceso industrial automatizado consta de: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1"/>
                </a:solidFill>
              </a:rPr>
              <a:t>proceso físico </a:t>
            </a:r>
            <a:r>
              <a:rPr lang="es-ES" dirty="0"/>
              <a:t>(intercambiador de calor)</a:t>
            </a:r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2"/>
                </a:solidFill>
              </a:rPr>
              <a:t>controlador</a:t>
            </a:r>
            <a:r>
              <a:rPr lang="es-ES" dirty="0"/>
              <a:t> (decide la acción)</a:t>
            </a:r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4"/>
                </a:solidFill>
              </a:rPr>
              <a:t>actuador</a:t>
            </a:r>
            <a:r>
              <a:rPr lang="es-ES" dirty="0"/>
              <a:t> (ejecuta la orden, aquí: válvula)</a:t>
            </a:r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5"/>
                </a:solidFill>
              </a:rPr>
              <a:t>sensor</a:t>
            </a:r>
            <a:r>
              <a:rPr lang="es-ES" dirty="0"/>
              <a:t> (mide la variable de interés, p. ej. temperatura)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Esta estructura en lazo cerrado es base para diseñar un sistema de control.</a:t>
            </a:r>
          </a:p>
          <a:p>
            <a:endParaRPr lang="es-C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DC243D-85BC-D548-C4B7-C793829AD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501" y="2176787"/>
            <a:ext cx="1807836" cy="1136074"/>
          </a:xfrm>
          <a:prstGeom prst="rect">
            <a:avLst/>
          </a:prstGeom>
          <a:ln>
            <a:solidFill>
              <a:schemeClr val="tx1">
                <a:lumMod val="25000"/>
                <a:lumOff val="75000"/>
              </a:schemeClr>
            </a:solidFill>
          </a:ln>
          <a:effectLst>
            <a:glow rad="50800">
              <a:srgbClr val="F8F8F2"/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E73E4-A8B7-9F7B-98A0-B991020D8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820" y="3841257"/>
            <a:ext cx="3367684" cy="1969968"/>
          </a:xfrm>
          <a:prstGeom prst="rect">
            <a:avLst/>
          </a:prstGeom>
          <a:effectLst>
            <a:glow rad="50800">
              <a:schemeClr val="bg1"/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65BFDF-480C-E1E8-3190-1306ACB89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078" y="4234692"/>
            <a:ext cx="626267" cy="610004"/>
          </a:xfrm>
          <a:prstGeom prst="rect">
            <a:avLst/>
          </a:prstGeom>
          <a:effectLst>
            <a:glow rad="50800">
              <a:srgbClr val="F8F8F2"/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0F826-21F8-8572-AE74-D8C12CC18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531" y="2263839"/>
            <a:ext cx="985636" cy="1565607"/>
          </a:xfrm>
          <a:prstGeom prst="rect">
            <a:avLst/>
          </a:prstGeom>
          <a:effectLst>
            <a:glow rad="50800">
              <a:schemeClr val="bg1"/>
            </a:glo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03E5F8-9E8B-506F-5B4A-90AB964F8B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914" y="3483917"/>
            <a:ext cx="484804" cy="465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DB6B0F-E2B5-4298-8078-2DA7226C37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7989131" y="3467474"/>
            <a:ext cx="463471" cy="487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853EAC-705C-8597-C7E4-972DF3C420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429" y="3472048"/>
            <a:ext cx="924507" cy="2750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0A76B8-F71C-20BF-BFC7-0C3A918584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1" y="3492978"/>
            <a:ext cx="924507" cy="27503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BAC49E4-B0E8-3E5D-2D91-60E760C55652}"/>
              </a:ext>
            </a:extLst>
          </p:cNvPr>
          <p:cNvSpPr/>
          <p:nvPr/>
        </p:nvSpPr>
        <p:spPr>
          <a:xfrm>
            <a:off x="10010736" y="2956931"/>
            <a:ext cx="1417406" cy="1495011"/>
          </a:xfrm>
          <a:custGeom>
            <a:avLst/>
            <a:gdLst>
              <a:gd name="connsiteX0" fmla="*/ 0 w 1751396"/>
              <a:gd name="connsiteY0" fmla="*/ 1932317 h 1932317"/>
              <a:gd name="connsiteX1" fmla="*/ 845389 w 1751396"/>
              <a:gd name="connsiteY1" fmla="*/ 1656272 h 1932317"/>
              <a:gd name="connsiteX2" fmla="*/ 1647646 w 1751396"/>
              <a:gd name="connsiteY2" fmla="*/ 646981 h 1932317"/>
              <a:gd name="connsiteX3" fmla="*/ 1716657 w 1751396"/>
              <a:gd name="connsiteY3" fmla="*/ 0 h 1932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1396" h="1932317">
                <a:moveTo>
                  <a:pt x="0" y="1932317"/>
                </a:moveTo>
                <a:cubicBezTo>
                  <a:pt x="285390" y="1901406"/>
                  <a:pt x="570781" y="1870495"/>
                  <a:pt x="845389" y="1656272"/>
                </a:cubicBezTo>
                <a:cubicBezTo>
                  <a:pt x="1119997" y="1442049"/>
                  <a:pt x="1502435" y="923026"/>
                  <a:pt x="1647646" y="646981"/>
                </a:cubicBezTo>
                <a:cubicBezTo>
                  <a:pt x="1792857" y="370936"/>
                  <a:pt x="1754757" y="185468"/>
                  <a:pt x="1716657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3F630-9F1D-A49D-DE82-F35880EAAF08}"/>
              </a:ext>
            </a:extLst>
          </p:cNvPr>
          <p:cNvSpPr/>
          <p:nvPr/>
        </p:nvSpPr>
        <p:spPr>
          <a:xfrm>
            <a:off x="9975829" y="2863493"/>
            <a:ext cx="1417217" cy="1562725"/>
          </a:xfrm>
          <a:custGeom>
            <a:avLst/>
            <a:gdLst>
              <a:gd name="connsiteX0" fmla="*/ 0 w 1751163"/>
              <a:gd name="connsiteY0" fmla="*/ 2018581 h 2019839"/>
              <a:gd name="connsiteX1" fmla="*/ 698740 w 1751163"/>
              <a:gd name="connsiteY1" fmla="*/ 1828800 h 2019839"/>
              <a:gd name="connsiteX2" fmla="*/ 1518249 w 1751163"/>
              <a:gd name="connsiteY2" fmla="*/ 828136 h 2019839"/>
              <a:gd name="connsiteX3" fmla="*/ 1751163 w 1751163"/>
              <a:gd name="connsiteY3" fmla="*/ 0 h 201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1163" h="2019839">
                <a:moveTo>
                  <a:pt x="0" y="2018581"/>
                </a:moveTo>
                <a:cubicBezTo>
                  <a:pt x="222849" y="2022894"/>
                  <a:pt x="445699" y="2027208"/>
                  <a:pt x="698740" y="1828800"/>
                </a:cubicBezTo>
                <a:cubicBezTo>
                  <a:pt x="951782" y="1630392"/>
                  <a:pt x="1342845" y="1132936"/>
                  <a:pt x="1518249" y="828136"/>
                </a:cubicBezTo>
                <a:cubicBezTo>
                  <a:pt x="1693653" y="523336"/>
                  <a:pt x="1722408" y="261668"/>
                  <a:pt x="1751163" y="0"/>
                </a:cubicBezTo>
              </a:path>
            </a:pathLst>
          </a:custGeom>
          <a:noFill/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220C39-2446-4358-BFAF-F195099E36A0}"/>
              </a:ext>
            </a:extLst>
          </p:cNvPr>
          <p:cNvSpPr/>
          <p:nvPr/>
        </p:nvSpPr>
        <p:spPr>
          <a:xfrm>
            <a:off x="7032235" y="1984601"/>
            <a:ext cx="4628027" cy="752299"/>
          </a:xfrm>
          <a:custGeom>
            <a:avLst/>
            <a:gdLst>
              <a:gd name="connsiteX0" fmla="*/ 5664416 w 5718552"/>
              <a:gd name="connsiteY0" fmla="*/ 730536 h 972355"/>
              <a:gd name="connsiteX1" fmla="*/ 5422876 w 5718552"/>
              <a:gd name="connsiteY1" fmla="*/ 100807 h 972355"/>
              <a:gd name="connsiteX2" fmla="*/ 3387042 w 5718552"/>
              <a:gd name="connsiteY2" fmla="*/ 74928 h 972355"/>
              <a:gd name="connsiteX3" fmla="*/ 514446 w 5718552"/>
              <a:gd name="connsiteY3" fmla="*/ 825426 h 972355"/>
              <a:gd name="connsiteX4" fmla="*/ 14114 w 5718552"/>
              <a:gd name="connsiteY4" fmla="*/ 972075 h 972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8552" h="972355">
                <a:moveTo>
                  <a:pt x="5664416" y="730536"/>
                </a:moveTo>
                <a:cubicBezTo>
                  <a:pt x="5733427" y="470305"/>
                  <a:pt x="5802438" y="210075"/>
                  <a:pt x="5422876" y="100807"/>
                </a:cubicBezTo>
                <a:cubicBezTo>
                  <a:pt x="5043314" y="-8461"/>
                  <a:pt x="4205114" y="-45842"/>
                  <a:pt x="3387042" y="74928"/>
                </a:cubicBezTo>
                <a:cubicBezTo>
                  <a:pt x="2568970" y="195698"/>
                  <a:pt x="1076601" y="675902"/>
                  <a:pt x="514446" y="825426"/>
                </a:cubicBezTo>
                <a:cubicBezTo>
                  <a:pt x="-47709" y="974950"/>
                  <a:pt x="-16798" y="973512"/>
                  <a:pt x="14114" y="972075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5A1BB2-16B1-AEB9-7135-7472239268ED}"/>
              </a:ext>
            </a:extLst>
          </p:cNvPr>
          <p:cNvSpPr/>
          <p:nvPr/>
        </p:nvSpPr>
        <p:spPr>
          <a:xfrm>
            <a:off x="7029695" y="1856999"/>
            <a:ext cx="4735732" cy="812943"/>
          </a:xfrm>
          <a:custGeom>
            <a:avLst/>
            <a:gdLst>
              <a:gd name="connsiteX0" fmla="*/ 5667555 w 5851636"/>
              <a:gd name="connsiteY0" fmla="*/ 990353 h 1050738"/>
              <a:gd name="connsiteX1" fmla="*/ 5848710 w 5851636"/>
              <a:gd name="connsiteY1" fmla="*/ 602165 h 1050738"/>
              <a:gd name="connsiteX2" fmla="*/ 5538159 w 5851636"/>
              <a:gd name="connsiteY2" fmla="*/ 196723 h 1050738"/>
              <a:gd name="connsiteX3" fmla="*/ 3545457 w 5851636"/>
              <a:gd name="connsiteY3" fmla="*/ 50074 h 1050738"/>
              <a:gd name="connsiteX4" fmla="*/ 0 w 5851636"/>
              <a:gd name="connsiteY4" fmla="*/ 1050738 h 1050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1636" h="1050738">
                <a:moveTo>
                  <a:pt x="5667555" y="990353"/>
                </a:moveTo>
                <a:cubicBezTo>
                  <a:pt x="5768915" y="862395"/>
                  <a:pt x="5870276" y="734437"/>
                  <a:pt x="5848710" y="602165"/>
                </a:cubicBezTo>
                <a:cubicBezTo>
                  <a:pt x="5827144" y="469893"/>
                  <a:pt x="5922034" y="288738"/>
                  <a:pt x="5538159" y="196723"/>
                </a:cubicBezTo>
                <a:cubicBezTo>
                  <a:pt x="5154284" y="104708"/>
                  <a:pt x="4468483" y="-92262"/>
                  <a:pt x="3545457" y="50074"/>
                </a:cubicBezTo>
                <a:cubicBezTo>
                  <a:pt x="2622431" y="192410"/>
                  <a:pt x="1311215" y="621574"/>
                  <a:pt x="0" y="1050738"/>
                </a:cubicBezTo>
              </a:path>
            </a:pathLst>
          </a:custGeom>
          <a:noFill/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A93B24-9E7F-9F8D-16EB-053591457939}"/>
              </a:ext>
            </a:extLst>
          </p:cNvPr>
          <p:cNvSpPr txBox="1"/>
          <p:nvPr/>
        </p:nvSpPr>
        <p:spPr>
          <a:xfrm>
            <a:off x="9618314" y="4809282"/>
            <a:ext cx="1101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5"/>
                </a:solidFill>
              </a:rPr>
              <a:t>sensor</a:t>
            </a:r>
            <a:endParaRPr lang="es-419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D2721C-80A7-6223-0062-F74B4FEB7B6A}"/>
              </a:ext>
            </a:extLst>
          </p:cNvPr>
          <p:cNvSpPr txBox="1"/>
          <p:nvPr/>
        </p:nvSpPr>
        <p:spPr>
          <a:xfrm>
            <a:off x="7106842" y="5753125"/>
            <a:ext cx="2478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</a:rPr>
              <a:t>proceso físico </a:t>
            </a:r>
            <a:endParaRPr lang="es-419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B35680B-394B-69C5-F149-E87166F22501}"/>
              </a:ext>
            </a:extLst>
          </p:cNvPr>
          <p:cNvSpPr txBox="1"/>
          <p:nvPr/>
        </p:nvSpPr>
        <p:spPr>
          <a:xfrm>
            <a:off x="6402531" y="1856999"/>
            <a:ext cx="1536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4"/>
                </a:solidFill>
              </a:rPr>
              <a:t>actuador</a:t>
            </a:r>
            <a:endParaRPr lang="es-419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53BF3E9-EA34-4A72-C9E9-BE55AE870525}"/>
              </a:ext>
            </a:extLst>
          </p:cNvPr>
          <p:cNvSpPr txBox="1"/>
          <p:nvPr/>
        </p:nvSpPr>
        <p:spPr>
          <a:xfrm>
            <a:off x="10416012" y="1493663"/>
            <a:ext cx="16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controlador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1372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C28F1B-3DEA-269B-BC95-59B47BD2E4BA}"/>
              </a:ext>
            </a:extLst>
          </p:cNvPr>
          <p:cNvSpPr/>
          <p:nvPr/>
        </p:nvSpPr>
        <p:spPr>
          <a:xfrm>
            <a:off x="2807057" y="2438385"/>
            <a:ext cx="2063579" cy="113607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10469-4BB7-CB46-7042-0DAE6C26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71" y="2438385"/>
            <a:ext cx="1807836" cy="1136074"/>
          </a:xfrm>
          <a:prstGeom prst="rect">
            <a:avLst/>
          </a:prstGeom>
          <a:effectLst>
            <a:glow rad="50800">
              <a:srgbClr val="F8F8F2"/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497463-C20E-EE4A-B6CF-BF3BEF0EC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68" y="2053429"/>
            <a:ext cx="3367684" cy="1969968"/>
          </a:xfrm>
          <a:prstGeom prst="rect">
            <a:avLst/>
          </a:prstGeom>
          <a:effectLst>
            <a:glow rad="50800">
              <a:srgbClr val="F8F8F2"/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963EE3-961E-18F8-3964-638F4EA0C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397" y="2777406"/>
            <a:ext cx="626267" cy="610004"/>
          </a:xfrm>
          <a:prstGeom prst="rect">
            <a:avLst/>
          </a:prstGeom>
          <a:effectLst>
            <a:glow rad="50800">
              <a:srgbClr val="F8F8F2"/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DC7A56-50C9-8113-6DDE-CFA70286E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787" y="2223619"/>
            <a:ext cx="985636" cy="1565607"/>
          </a:xfrm>
          <a:prstGeom prst="rect">
            <a:avLst/>
          </a:prstGeom>
          <a:effectLst>
            <a:glow rad="50800">
              <a:srgbClr val="F8F8F2"/>
            </a:glow>
          </a:effec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18CFBDD-8A6E-1DF1-514B-E60B192E9F23}"/>
              </a:ext>
            </a:extLst>
          </p:cNvPr>
          <p:cNvSpPr/>
          <p:nvPr/>
        </p:nvSpPr>
        <p:spPr>
          <a:xfrm>
            <a:off x="1335933" y="2719315"/>
            <a:ext cx="574213" cy="57421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BB53BE-05BD-B134-2ECA-911F0A22319F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729049" y="3006422"/>
            <a:ext cx="606884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83810AC-DCB5-EC0C-8D2C-49F04CC9A06F}"/>
              </a:ext>
            </a:extLst>
          </p:cNvPr>
          <p:cNvSpPr/>
          <p:nvPr/>
        </p:nvSpPr>
        <p:spPr>
          <a:xfrm>
            <a:off x="6820929" y="2445662"/>
            <a:ext cx="2063579" cy="113607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F6681C-BFA8-2D5A-8AF7-86B127FE16F5}"/>
              </a:ext>
            </a:extLst>
          </p:cNvPr>
          <p:cNvCxnSpPr>
            <a:cxnSpLocks/>
            <a:stCxn id="9" idx="6"/>
            <a:endCxn id="4" idx="1"/>
          </p:cNvCxnSpPr>
          <p:nvPr/>
        </p:nvCxnSpPr>
        <p:spPr>
          <a:xfrm>
            <a:off x="1910146" y="3006422"/>
            <a:ext cx="896911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28787F-F2CC-ADFA-8C4A-CD244243AE3A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4870636" y="3006422"/>
            <a:ext cx="1950293" cy="7277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0D12EE-521E-3CC6-284E-E0F1BC04981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884508" y="3006421"/>
            <a:ext cx="2467441" cy="7278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4434720-13DE-8EBC-B3BD-A7EEB60B64E0}"/>
              </a:ext>
            </a:extLst>
          </p:cNvPr>
          <p:cNvCxnSpPr>
            <a:endCxn id="9" idx="4"/>
          </p:cNvCxnSpPr>
          <p:nvPr/>
        </p:nvCxnSpPr>
        <p:spPr>
          <a:xfrm rot="10800000" flipV="1">
            <a:off x="1623040" y="3006420"/>
            <a:ext cx="9226192" cy="287107"/>
          </a:xfrm>
          <a:prstGeom prst="bentConnector4">
            <a:avLst>
              <a:gd name="adj1" fmla="val 229"/>
              <a:gd name="adj2" fmla="val 838117"/>
            </a:avLst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F5240F8-A06B-D9F0-869A-34532A25DB12}"/>
              </a:ext>
            </a:extLst>
          </p:cNvPr>
          <p:cNvSpPr txBox="1"/>
          <p:nvPr/>
        </p:nvSpPr>
        <p:spPr>
          <a:xfrm>
            <a:off x="1358145" y="28217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EA27C-7080-1633-D6CD-A46C369277E7}"/>
              </a:ext>
            </a:extLst>
          </p:cNvPr>
          <p:cNvSpPr txBox="1"/>
          <p:nvPr/>
        </p:nvSpPr>
        <p:spPr>
          <a:xfrm>
            <a:off x="1466790" y="29172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36CE43-2E6C-9AE7-FDDA-2B036116C446}"/>
                  </a:ext>
                </a:extLst>
              </p:cNvPr>
              <p:cNvSpPr txBox="1"/>
              <p:nvPr/>
            </p:nvSpPr>
            <p:spPr>
              <a:xfrm>
                <a:off x="555990" y="2580815"/>
                <a:ext cx="6009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36CE43-2E6C-9AE7-FDDA-2B036116C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90" y="2580815"/>
                <a:ext cx="600934" cy="369332"/>
              </a:xfrm>
              <a:prstGeom prst="rect">
                <a:avLst/>
              </a:prstGeom>
              <a:blipFill>
                <a:blip r:embed="rId6"/>
                <a:stretch>
                  <a:fillRect l="-7071" t="-1639" r="-18182" b="-3278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F1D732C-BC4E-7738-E1AF-E5BD960EE585}"/>
                  </a:ext>
                </a:extLst>
              </p:cNvPr>
              <p:cNvSpPr txBox="1"/>
              <p:nvPr/>
            </p:nvSpPr>
            <p:spPr>
              <a:xfrm>
                <a:off x="1877400" y="2541006"/>
                <a:ext cx="6073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F1D732C-BC4E-7738-E1AF-E5BD960EE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400" y="2541006"/>
                <a:ext cx="607346" cy="369332"/>
              </a:xfrm>
              <a:prstGeom prst="rect">
                <a:avLst/>
              </a:prstGeom>
              <a:blipFill>
                <a:blip r:embed="rId7"/>
                <a:stretch>
                  <a:fillRect l="-8000" t="-1667" r="-17000" b="-3333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0D977-4D90-9331-D2EC-B9718DCD7720}"/>
                  </a:ext>
                </a:extLst>
              </p:cNvPr>
              <p:cNvSpPr txBox="1"/>
              <p:nvPr/>
            </p:nvSpPr>
            <p:spPr>
              <a:xfrm>
                <a:off x="5472740" y="2579711"/>
                <a:ext cx="6324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0D977-4D90-9331-D2EC-B9718DCD7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740" y="2579711"/>
                <a:ext cx="632481" cy="369332"/>
              </a:xfrm>
              <a:prstGeom prst="rect">
                <a:avLst/>
              </a:prstGeom>
              <a:blipFill>
                <a:blip r:embed="rId8"/>
                <a:stretch>
                  <a:fillRect l="-6731" t="-1639" r="-16346" b="-3278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EBC0ED-AA0F-D36D-7183-0DDD72B4BEEE}"/>
                  </a:ext>
                </a:extLst>
              </p:cNvPr>
              <p:cNvSpPr txBox="1"/>
              <p:nvPr/>
            </p:nvSpPr>
            <p:spPr>
              <a:xfrm>
                <a:off x="10461664" y="2516066"/>
                <a:ext cx="6251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EBC0ED-AA0F-D36D-7183-0DDD72B4B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664" y="2516066"/>
                <a:ext cx="625108" cy="369332"/>
              </a:xfrm>
              <a:prstGeom prst="rect">
                <a:avLst/>
              </a:prstGeom>
              <a:blipFill>
                <a:blip r:embed="rId9"/>
                <a:stretch>
                  <a:fillRect l="-12621" t="-1667" r="-17476" b="-3333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1A7EF175-0D83-3116-7D8E-74D6B5A2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Bloques en Lazo Cerrado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90969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1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35A7-DA8A-8146-A936-ED2EE7FB5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C35829-B85A-B4E2-D078-9501357FF4FC}"/>
              </a:ext>
            </a:extLst>
          </p:cNvPr>
          <p:cNvSpPr/>
          <p:nvPr/>
        </p:nvSpPr>
        <p:spPr>
          <a:xfrm>
            <a:off x="4989050" y="4913450"/>
            <a:ext cx="1494046" cy="1194741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EAEB1B-A856-85ED-F114-A559F3DB6DB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77056" y="5510821"/>
            <a:ext cx="1111994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9CBE12-7AB3-8994-67F9-3D41ECE544E0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483096" y="5510820"/>
            <a:ext cx="1197864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6FE86A-2C3A-0AF4-F9FC-AB427B63A5E9}"/>
                  </a:ext>
                </a:extLst>
              </p:cNvPr>
              <p:cNvSpPr txBox="1"/>
              <p:nvPr/>
            </p:nvSpPr>
            <p:spPr>
              <a:xfrm>
                <a:off x="3791186" y="4942670"/>
                <a:ext cx="6324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6FE86A-2C3A-0AF4-F9FC-AB427B63A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186" y="4942670"/>
                <a:ext cx="632481" cy="369332"/>
              </a:xfrm>
              <a:prstGeom prst="rect">
                <a:avLst/>
              </a:prstGeom>
              <a:blipFill>
                <a:blip r:embed="rId2"/>
                <a:stretch>
                  <a:fillRect l="-6731" t="-1667" r="-16346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840239-0E69-C138-A612-D4DAC71E16EE}"/>
                  </a:ext>
                </a:extLst>
              </p:cNvPr>
              <p:cNvSpPr txBox="1"/>
              <p:nvPr/>
            </p:nvSpPr>
            <p:spPr>
              <a:xfrm>
                <a:off x="7048479" y="4842803"/>
                <a:ext cx="6251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840239-0E69-C138-A612-D4DAC71E1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79" y="4842803"/>
                <a:ext cx="625108" cy="369332"/>
              </a:xfrm>
              <a:prstGeom prst="rect">
                <a:avLst/>
              </a:prstGeom>
              <a:blipFill>
                <a:blip r:embed="rId3"/>
                <a:stretch>
                  <a:fillRect l="-12621" t="-1639" r="-17476" b="-327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C9DCE326-9D78-4D26-1FF2-F4D80801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056"/>
            <a:ext cx="10515600" cy="845305"/>
          </a:xfrm>
        </p:spPr>
        <p:txBody>
          <a:bodyPr>
            <a:normAutofit/>
          </a:bodyPr>
          <a:lstStyle/>
          <a:p>
            <a:r>
              <a:rPr lang="es-ES" sz="4000" dirty="0"/>
              <a:t>Introducción al Control de Procesos</a:t>
            </a:r>
            <a:endParaRPr lang="es-419" sz="4000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62F62D27-4523-6E6D-A1AE-26FDDD182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1029361"/>
            <a:ext cx="10372344" cy="25180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IDEA: </a:t>
            </a:r>
            <a:r>
              <a:rPr lang="es-ES" dirty="0">
                <a:solidFill>
                  <a:schemeClr val="accent5"/>
                </a:solidFill>
              </a:rPr>
              <a:t>MEDIR</a:t>
            </a:r>
            <a:r>
              <a:rPr lang="es-ES" dirty="0"/>
              <a:t> – </a:t>
            </a:r>
            <a:r>
              <a:rPr lang="es-ES" dirty="0">
                <a:solidFill>
                  <a:schemeClr val="accent2"/>
                </a:solidFill>
              </a:rPr>
              <a:t>CONTROLAR</a:t>
            </a:r>
            <a:r>
              <a:rPr lang="es-ES" dirty="0"/>
              <a:t> – </a:t>
            </a:r>
            <a:r>
              <a:rPr lang="es-ES" dirty="0">
                <a:solidFill>
                  <a:schemeClr val="accent1"/>
                </a:solidFill>
              </a:rPr>
              <a:t>ACTUAR</a:t>
            </a:r>
            <a:r>
              <a:rPr lang="es-ES" dirty="0"/>
              <a:t>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1"/>
                </a:solidFill>
              </a:rPr>
              <a:t>ACTUADOR: </a:t>
            </a:r>
            <a:r>
              <a:rPr lang="es-ES" dirty="0"/>
              <a:t>Variables Manipuladas o Variables de Control</a:t>
            </a:r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2"/>
                </a:solidFill>
              </a:rPr>
              <a:t>MEDIDOR:</a:t>
            </a:r>
            <a:r>
              <a:rPr lang="es-ES" dirty="0"/>
              <a:t> Variables de Proceso, variables controladas o no.</a:t>
            </a:r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4"/>
                </a:solidFill>
              </a:rPr>
              <a:t>PERTURBACIONES:</a:t>
            </a:r>
            <a:r>
              <a:rPr lang="es-ES" dirty="0"/>
              <a:t> Medidas o no medidas</a:t>
            </a:r>
          </a:p>
          <a:p>
            <a:r>
              <a:rPr lang="es-ES" dirty="0"/>
              <a:t>El </a:t>
            </a:r>
            <a:r>
              <a:rPr lang="es-ES" dirty="0">
                <a:solidFill>
                  <a:schemeClr val="accent5"/>
                </a:solidFill>
              </a:rPr>
              <a:t>RUIDO DE MEDICIÓN</a:t>
            </a:r>
          </a:p>
          <a:p>
            <a:endParaRPr lang="es-ES" dirty="0"/>
          </a:p>
          <a:p>
            <a:endParaRPr lang="es-CO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01C84E-1EAD-A9AD-A178-EC0498BF45C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736073" y="4123944"/>
            <a:ext cx="0" cy="789506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BCF8A4-4823-28B5-24A7-F5D9CF2ABAE3}"/>
                  </a:ext>
                </a:extLst>
              </p:cNvPr>
              <p:cNvSpPr txBox="1"/>
              <p:nvPr/>
            </p:nvSpPr>
            <p:spPr>
              <a:xfrm>
                <a:off x="5850615" y="4060767"/>
                <a:ext cx="6227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BCF8A4-4823-28B5-24A7-F5D9CF2AB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615" y="4060767"/>
                <a:ext cx="622735" cy="369332"/>
              </a:xfrm>
              <a:prstGeom prst="rect">
                <a:avLst/>
              </a:prstGeom>
              <a:blipFill>
                <a:blip r:embed="rId4"/>
                <a:stretch>
                  <a:fillRect l="-11765" t="-1639" r="-17647" b="-327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1404F8B-7883-25D5-F8FF-2AA7B72BB605}"/>
              </a:ext>
            </a:extLst>
          </p:cNvPr>
          <p:cNvSpPr txBox="1"/>
          <p:nvPr/>
        </p:nvSpPr>
        <p:spPr>
          <a:xfrm>
            <a:off x="4423667" y="3640593"/>
            <a:ext cx="29740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4"/>
                </a:solidFill>
                <a:latin typeface="Lucida Handwriting" panose="03010101010101010101" pitchFamily="66" charset="0"/>
              </a:rPr>
              <a:t>Perturbaciones</a:t>
            </a:r>
            <a:endParaRPr lang="es-CO" sz="2400" b="1" dirty="0">
              <a:latin typeface="Lucida Handwriting" panose="03010101010101010101" pitchFamily="66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D47D6F-A8FB-F56B-5F85-05A6E03DA1C4}"/>
              </a:ext>
            </a:extLst>
          </p:cNvPr>
          <p:cNvSpPr txBox="1"/>
          <p:nvPr/>
        </p:nvSpPr>
        <p:spPr>
          <a:xfrm>
            <a:off x="1281065" y="5027469"/>
            <a:ext cx="2545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Variables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Manipuladas</a:t>
            </a:r>
            <a:endParaRPr lang="es-CO" sz="2400" b="1" dirty="0">
              <a:solidFill>
                <a:schemeClr val="accent1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DCD27B-E9D9-FC8F-3562-8311F7ED80DB}"/>
              </a:ext>
            </a:extLst>
          </p:cNvPr>
          <p:cNvSpPr txBox="1"/>
          <p:nvPr/>
        </p:nvSpPr>
        <p:spPr>
          <a:xfrm>
            <a:off x="7902146" y="4997642"/>
            <a:ext cx="2545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Variables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Controladas</a:t>
            </a:r>
            <a:endParaRPr lang="es-CO" sz="2400" b="1" dirty="0">
              <a:solidFill>
                <a:schemeClr val="accent1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365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B864-ECA5-373B-2F2E-EA072A0A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Contenidos</a:t>
            </a:r>
            <a:r>
              <a:rPr lang="pt-BR" dirty="0"/>
              <a:t> </a:t>
            </a:r>
            <a:r>
              <a:rPr lang="pt-BR" dirty="0" err="1"/>
              <a:t>principales</a:t>
            </a:r>
            <a:r>
              <a:rPr lang="pt-BR" dirty="0"/>
              <a:t> </a:t>
            </a:r>
            <a:r>
              <a:rPr lang="pt-BR" dirty="0" err="1"/>
              <a:t>del</a:t>
            </a:r>
            <a:r>
              <a:rPr lang="pt-BR" dirty="0"/>
              <a:t> curso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2F62-6B1C-E119-31FC-B5F865C3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Principios de automatización y estructura de sistemas de control</a:t>
            </a:r>
          </a:p>
          <a:p>
            <a:r>
              <a:rPr lang="es-ES" dirty="0"/>
              <a:t>Modelado en tiempo continuo y discreto (funciones de transferencia y espacio de estados)</a:t>
            </a:r>
          </a:p>
          <a:p>
            <a:r>
              <a:rPr lang="es-ES" dirty="0"/>
              <a:t>Análisis de respuesta temporal y frecuencial</a:t>
            </a:r>
          </a:p>
          <a:p>
            <a:r>
              <a:rPr lang="es-ES" dirty="0"/>
              <a:t>Estabilidad, errores en régimen permanente y sensibilidad</a:t>
            </a:r>
          </a:p>
          <a:p>
            <a:r>
              <a:rPr lang="es-ES" dirty="0"/>
              <a:t>Diseño y sintonía de controladores clásicos (P, PI, PID)</a:t>
            </a:r>
          </a:p>
          <a:p>
            <a:r>
              <a:rPr lang="es-ES" dirty="0"/>
              <a:t>Compensación por LGR, Bode y asignación de polos</a:t>
            </a:r>
          </a:p>
          <a:p>
            <a:r>
              <a:rPr lang="es-ES" dirty="0"/>
              <a:t>Controladores avanzados: espacio de estado, predictor de Smith</a:t>
            </a:r>
          </a:p>
          <a:p>
            <a:r>
              <a:rPr lang="es-ES" dirty="0"/>
              <a:t>Estrategias industriales: cascada, relación, </a:t>
            </a:r>
            <a:r>
              <a:rPr lang="es-ES" dirty="0" err="1"/>
              <a:t>feedforward</a:t>
            </a:r>
            <a:endParaRPr lang="es-ES" dirty="0"/>
          </a:p>
          <a:p>
            <a:r>
              <a:rPr lang="es-ES" dirty="0"/>
              <a:t>Implementación en MATLAB, Python</a:t>
            </a:r>
          </a:p>
          <a:p>
            <a:r>
              <a:rPr lang="es-ES" dirty="0"/>
              <a:t>Proyecto final: diseño y validación de un sistema de control real o simulado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46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2F4C-726C-B579-86C0-81B5A858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de </a:t>
            </a:r>
            <a:r>
              <a:rPr lang="pt-BR" dirty="0" err="1"/>
              <a:t>evaluación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0A910-74A9-8976-88AC-0E6EFBAAE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Parcial: </a:t>
            </a:r>
            <a:r>
              <a:rPr lang="es-ES" dirty="0">
                <a:solidFill>
                  <a:schemeClr val="accent1"/>
                </a:solidFill>
              </a:rPr>
              <a:t>20% </a:t>
            </a:r>
          </a:p>
          <a:p>
            <a:r>
              <a:rPr lang="es-ES" dirty="0"/>
              <a:t>Final: </a:t>
            </a:r>
            <a:r>
              <a:rPr lang="es-ES" dirty="0">
                <a:solidFill>
                  <a:schemeClr val="accent1"/>
                </a:solidFill>
              </a:rPr>
              <a:t>30% </a:t>
            </a:r>
          </a:p>
          <a:p>
            <a:r>
              <a:rPr lang="es-ES" dirty="0"/>
              <a:t>Proyecto Final: </a:t>
            </a:r>
            <a:r>
              <a:rPr lang="es-ES" dirty="0">
                <a:solidFill>
                  <a:schemeClr val="accent1"/>
                </a:solidFill>
              </a:rPr>
              <a:t>20% </a:t>
            </a:r>
          </a:p>
          <a:p>
            <a:r>
              <a:rPr lang="es-ES" dirty="0"/>
              <a:t>Quis Corto 1: </a:t>
            </a:r>
            <a:r>
              <a:rPr lang="es-ES" dirty="0">
                <a:solidFill>
                  <a:schemeClr val="accent1"/>
                </a:solidFill>
              </a:rPr>
              <a:t>6% </a:t>
            </a:r>
          </a:p>
          <a:p>
            <a:r>
              <a:rPr lang="es-ES" dirty="0"/>
              <a:t>Quis Corto 2: </a:t>
            </a:r>
            <a:r>
              <a:rPr lang="es-ES" dirty="0">
                <a:solidFill>
                  <a:schemeClr val="accent1"/>
                </a:solidFill>
              </a:rPr>
              <a:t>6% </a:t>
            </a:r>
          </a:p>
          <a:p>
            <a:r>
              <a:rPr lang="es-ES" dirty="0"/>
              <a:t>Reto de Simulación 1: </a:t>
            </a:r>
            <a:r>
              <a:rPr lang="es-ES" dirty="0">
                <a:solidFill>
                  <a:schemeClr val="accent1"/>
                </a:solidFill>
              </a:rPr>
              <a:t>6% </a:t>
            </a:r>
          </a:p>
          <a:p>
            <a:r>
              <a:rPr lang="es-ES" dirty="0"/>
              <a:t>Reto de Simulación 2: </a:t>
            </a:r>
            <a:r>
              <a:rPr lang="es-ES" dirty="0">
                <a:solidFill>
                  <a:schemeClr val="accent1"/>
                </a:solidFill>
              </a:rPr>
              <a:t>6% </a:t>
            </a:r>
          </a:p>
          <a:p>
            <a:r>
              <a:rPr lang="es-ES" dirty="0"/>
              <a:t>Reto de Simulación 3: </a:t>
            </a:r>
            <a:r>
              <a:rPr lang="es-ES" dirty="0">
                <a:solidFill>
                  <a:schemeClr val="accent1"/>
                </a:solidFill>
              </a:rPr>
              <a:t>6% </a:t>
            </a:r>
          </a:p>
          <a:p>
            <a:endParaRPr lang="es-E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83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04BBC-BA17-6B34-BCFB-F4C231FC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Decálogo del Área de Automática y </a:t>
            </a:r>
            <a:r>
              <a:rPr lang="es-MX" dirty="0" err="1"/>
              <a:t>Robotica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79A767-5045-6CC2-7AC6-99230A6BD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82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1"/>
                </a:solidFill>
              </a:rPr>
              <a:t>REGLAS DE LA CLASE</a:t>
            </a:r>
            <a:endParaRPr lang="es-CO" dirty="0">
              <a:solidFill>
                <a:schemeClr val="accent1"/>
              </a:solidFill>
            </a:endParaRPr>
          </a:p>
          <a:p>
            <a:pPr lvl="0"/>
            <a:r>
              <a:rPr lang="es-CO" dirty="0"/>
              <a:t>El curso se </a:t>
            </a:r>
            <a:r>
              <a:rPr lang="es-CO" dirty="0">
                <a:solidFill>
                  <a:schemeClr val="accent4"/>
                </a:solidFill>
              </a:rPr>
              <a:t>pierde</a:t>
            </a:r>
            <a:r>
              <a:rPr lang="es-CO" dirty="0"/>
              <a:t> por inasistencia (20%). Justificación de Inasistencia se hará exclusivamente con la dirección de ingeniería Mecánica.</a:t>
            </a:r>
          </a:p>
          <a:p>
            <a:pPr lvl="0"/>
            <a:r>
              <a:rPr lang="es-CO" dirty="0"/>
              <a:t>Cualquier intento de copia en laboratorios, informes, entregas o exámenes resultará en una calificación de 0 para todas las personas involucradas.</a:t>
            </a:r>
          </a:p>
          <a:p>
            <a:pPr lvl="0"/>
            <a:r>
              <a:rPr lang="es-CO" dirty="0"/>
              <a:t>Deje el laboratorio organizado al finalizar cada práctica.</a:t>
            </a:r>
          </a:p>
          <a:p>
            <a:pPr lvl="0"/>
            <a:r>
              <a:rPr lang="es-CO" dirty="0"/>
              <a:t>El uso del computador solo está permitido cuando sea estrictamente necesario para la clase.</a:t>
            </a:r>
          </a:p>
          <a:p>
            <a:pPr lvl="0"/>
            <a:r>
              <a:rPr lang="es-CO" dirty="0"/>
              <a:t>El uso de la </a:t>
            </a:r>
            <a:r>
              <a:rPr lang="es-CO" dirty="0" err="1"/>
              <a:t>tablet</a:t>
            </a:r>
            <a:r>
              <a:rPr lang="es-CO" dirty="0"/>
              <a:t> está permitido para toma de notas de clase o cuando sea estrictamente necesario para la clase.</a:t>
            </a:r>
          </a:p>
          <a:p>
            <a:pPr lvl="0"/>
            <a:r>
              <a:rPr lang="es-CO" dirty="0"/>
              <a:t>El uso del celular está prohibido durante la clase, a menos que haya indicación para su uso como recurso académico</a:t>
            </a:r>
          </a:p>
          <a:p>
            <a:pPr lvl="0"/>
            <a:r>
              <a:rPr lang="es-CO" dirty="0"/>
              <a:t>Asista a clase únicamente si viene dispuesto a aprovecharla y participar activamente.</a:t>
            </a:r>
          </a:p>
        </p:txBody>
      </p:sp>
    </p:spTree>
    <p:extLst>
      <p:ext uri="{BB962C8B-B14F-4D97-AF65-F5344CB8AC3E}">
        <p14:creationId xmlns:p14="http://schemas.microsoft.com/office/powerpoint/2010/main" val="133172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5DED-31EC-63C5-A533-6A76F315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6F174-6133-2F4D-CBCE-59F3ECA9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Decálogo del Área de Automática y </a:t>
            </a:r>
            <a:r>
              <a:rPr lang="es-MX" dirty="0" err="1"/>
              <a:t>Robotica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9B72BE-77BC-149B-CA69-2EFF2250E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8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1"/>
                </a:solidFill>
              </a:rPr>
              <a:t>INDICACIONES Y COMPROMISOS</a:t>
            </a:r>
            <a:endParaRPr lang="es-CO" dirty="0">
              <a:solidFill>
                <a:schemeClr val="accent1"/>
              </a:solidFill>
            </a:endParaRPr>
          </a:p>
          <a:p>
            <a:pPr lvl="0"/>
            <a:r>
              <a:rPr lang="es-CO" dirty="0"/>
              <a:t>No posponga el aprendizaje. Resuelva las dudas durante la clase, no en la casa.</a:t>
            </a:r>
          </a:p>
          <a:p>
            <a:pPr lvl="0"/>
            <a:r>
              <a:rPr lang="es-MX" dirty="0"/>
              <a:t>Yo me comprometo a preparar clase cada día de clases. Ustedes se comprometen a estudiar la clase no solo los días de clase. </a:t>
            </a:r>
            <a:endParaRPr lang="es-CO" dirty="0"/>
          </a:p>
          <a:p>
            <a:pPr lvl="0"/>
            <a:r>
              <a:rPr lang="es-MX" dirty="0"/>
              <a:t>Yo me comprometo a enseñar sin asumir que todo lo que enseño es fácil. Ustedes se comprometen a aprender sin asumir que todo lo que aprenden es difícil. </a:t>
            </a:r>
            <a:endParaRPr lang="es-CO" dirty="0"/>
          </a:p>
          <a:p>
            <a:pPr lvl="0"/>
            <a:r>
              <a:rPr lang="es-CO" dirty="0"/>
              <a:t>Hagan las tareas.</a:t>
            </a:r>
          </a:p>
          <a:p>
            <a:pPr lvl="0"/>
            <a:r>
              <a:rPr lang="es-CO" dirty="0"/>
              <a:t>Sigan las indicaciones. Es más sencillo de lo que parece.</a:t>
            </a:r>
          </a:p>
        </p:txBody>
      </p:sp>
    </p:spTree>
    <p:extLst>
      <p:ext uri="{BB962C8B-B14F-4D97-AF65-F5344CB8AC3E}">
        <p14:creationId xmlns:p14="http://schemas.microsoft.com/office/powerpoint/2010/main" val="384480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2600-4944-225D-292A-EEF5CEB7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¿</a:t>
            </a:r>
            <a:r>
              <a:rPr lang="pt-BR" dirty="0" err="1"/>
              <a:t>Cómo</a:t>
            </a:r>
            <a:r>
              <a:rPr lang="pt-BR" dirty="0"/>
              <a:t> vamos a aprender?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AC9B-E10A-DDF4-FD35-55CE3F65F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Clases con ejemplos reales y simulaciones en vivo</a:t>
            </a:r>
          </a:p>
          <a:p>
            <a:r>
              <a:rPr lang="es-ES" dirty="0"/>
              <a:t>Resolución de problemas usando herramientas industriales</a:t>
            </a:r>
          </a:p>
          <a:p>
            <a:r>
              <a:rPr lang="es-ES" dirty="0"/>
              <a:t>Uso de MATLAB, </a:t>
            </a:r>
            <a:r>
              <a:rPr lang="es-ES" dirty="0" err="1"/>
              <a:t>Simulink</a:t>
            </a:r>
            <a:r>
              <a:rPr lang="es-ES" dirty="0"/>
              <a:t>, Python, Arduino.</a:t>
            </a:r>
          </a:p>
          <a:p>
            <a:r>
              <a:rPr lang="es-ES" dirty="0"/>
              <a:t>Proyecto práctico como integración de todos los conceptos</a:t>
            </a:r>
            <a:endParaRPr lang="es-C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408564-29CE-4652-F346-9ADA7F2E691C}"/>
              </a:ext>
            </a:extLst>
          </p:cNvPr>
          <p:cNvSpPr txBox="1"/>
          <p:nvPr/>
        </p:nvSpPr>
        <p:spPr>
          <a:xfrm>
            <a:off x="2688336" y="4934635"/>
            <a:ext cx="72123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accent4"/>
                </a:solidFill>
              </a:rPr>
              <a:t>💬 </a:t>
            </a:r>
            <a:r>
              <a:rPr lang="es-ES" sz="3200" i="1" dirty="0">
                <a:solidFill>
                  <a:schemeClr val="accent4"/>
                </a:solidFill>
              </a:rPr>
              <a:t>“La mejor forma de aprender a controlar… es controlando.”</a:t>
            </a:r>
            <a:endParaRPr lang="es-CO" sz="3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8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38DB-70AB-A16A-5F3F-36113F5C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Preguntas que guiarán nuestro curso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DFFD-AFA9-2668-53F8-C2FDD15C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6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</a:t>
            </a:r>
            <a:r>
              <a:rPr lang="pt-BR" dirty="0" err="1"/>
              <a:t>lo</a:t>
            </a:r>
            <a:r>
              <a:rPr lang="pt-BR" dirty="0"/>
              <a:t> largo </a:t>
            </a:r>
            <a:r>
              <a:rPr lang="pt-BR" dirty="0" err="1"/>
              <a:t>del</a:t>
            </a:r>
            <a:r>
              <a:rPr lang="pt-BR" dirty="0"/>
              <a:t> semestre, vamos a responder estas preguntas...</a:t>
            </a:r>
          </a:p>
          <a:p>
            <a:pPr marL="0" indent="0">
              <a:buNone/>
            </a:pPr>
            <a:endParaRPr lang="pt-BR" dirty="0"/>
          </a:p>
          <a:p>
            <a:r>
              <a:rPr lang="es-ES" dirty="0"/>
              <a:t>❓ ¿Qué es un sistema de control y por qué es importante?</a:t>
            </a:r>
          </a:p>
          <a:p>
            <a:r>
              <a:rPr lang="es-ES" dirty="0"/>
              <a:t>❓ </a:t>
            </a:r>
            <a:r>
              <a:rPr lang="pt-BR" dirty="0"/>
              <a:t>¿</a:t>
            </a:r>
            <a:r>
              <a:rPr lang="pt-BR" dirty="0" err="1"/>
              <a:t>Qué</a:t>
            </a:r>
            <a:r>
              <a:rPr lang="pt-BR" dirty="0"/>
              <a:t> </a:t>
            </a:r>
            <a:r>
              <a:rPr lang="pt-BR" dirty="0" err="1"/>
              <a:t>estrategias</a:t>
            </a:r>
            <a:r>
              <a:rPr lang="pt-BR" dirty="0"/>
              <a:t> de </a:t>
            </a:r>
            <a:r>
              <a:rPr lang="pt-BR" dirty="0" err="1"/>
              <a:t>control</a:t>
            </a:r>
            <a:r>
              <a:rPr lang="pt-BR" dirty="0"/>
              <a:t> podemos aplicar?</a:t>
            </a:r>
          </a:p>
          <a:p>
            <a:r>
              <a:rPr lang="es-ES" dirty="0"/>
              <a:t>❓ ¿Cómo saber si un sistema controlado está funcionando bien?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A95AA-6817-9AEF-14EF-06F1D82AAA71}"/>
              </a:ext>
            </a:extLst>
          </p:cNvPr>
          <p:cNvSpPr txBox="1"/>
          <p:nvPr/>
        </p:nvSpPr>
        <p:spPr>
          <a:xfrm>
            <a:off x="2274951" y="5054409"/>
            <a:ext cx="76420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accent4"/>
                </a:solidFill>
              </a:rPr>
              <a:t>🧭 </a:t>
            </a:r>
            <a:r>
              <a:rPr lang="es-ES" sz="3200" i="1" dirty="0">
                <a:solidFill>
                  <a:schemeClr val="accent4"/>
                </a:solidFill>
              </a:rPr>
              <a:t>Estas son las brújulas que guiarán todo lo que haremos en clase</a:t>
            </a:r>
            <a:endParaRPr lang="es-CO" sz="3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72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58E8-C107-A47D-32E6-C698CADB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¿Con qué vamos a simular en este curso?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60476-B2EE-533B-D721-45EE9DD3C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703"/>
            <a:ext cx="10515600" cy="21517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En este curso aprenderás a diseñar y simular sistemas de control usando herramientas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accent5"/>
                </a:solidFill>
              </a:rPr>
              <a:t>MATLAB: </a:t>
            </a:r>
            <a:r>
              <a:rPr lang="es-ES" dirty="0"/>
              <a:t>análisis de sistemas, diseño de controladores y respuesta en el tiempo/frecuencia.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err="1">
                <a:solidFill>
                  <a:schemeClr val="accent5"/>
                </a:solidFill>
              </a:rPr>
              <a:t>Simulink</a:t>
            </a:r>
            <a:r>
              <a:rPr lang="es-ES" dirty="0">
                <a:solidFill>
                  <a:schemeClr val="accent5"/>
                </a:solidFill>
              </a:rPr>
              <a:t>: </a:t>
            </a:r>
            <a:r>
              <a:rPr lang="es-ES" dirty="0"/>
              <a:t>entorno gráfico ideal para simular lazos de control en tiempo continuo.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accent5"/>
                </a:solidFill>
              </a:rPr>
              <a:t>Python: </a:t>
            </a:r>
            <a:r>
              <a:rPr lang="es-ES" dirty="0"/>
              <a:t>modelado y análisis usando librerías como control, numpy, </a:t>
            </a:r>
            <a:r>
              <a:rPr lang="es-ES" dirty="0" err="1"/>
              <a:t>scipy</a:t>
            </a:r>
            <a:r>
              <a:rPr lang="es-ES" dirty="0"/>
              <a:t>, </a:t>
            </a:r>
            <a:r>
              <a:rPr lang="es-ES" dirty="0" err="1"/>
              <a:t>matplotlib</a:t>
            </a:r>
            <a:r>
              <a:rPr lang="es-ES" dirty="0"/>
              <a:t>.</a:t>
            </a:r>
            <a:endParaRPr lang="es-CO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E14D61A-4E90-85CD-4C29-B345C3A87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89" y="3822191"/>
            <a:ext cx="3079750" cy="2756271"/>
          </a:xfrm>
          <a:prstGeom prst="rect">
            <a:avLst/>
          </a:prstGeom>
          <a:noFill/>
          <a:effectLst>
            <a:glow rad="254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498D10A-039B-1EFD-FAC1-A1D53C0F6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776" y="3822191"/>
            <a:ext cx="2756271" cy="2756271"/>
          </a:xfrm>
          <a:prstGeom prst="rect">
            <a:avLst/>
          </a:prstGeom>
          <a:noFill/>
          <a:effectLst>
            <a:glow rad="254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Python Logo PNG Vector SVG, EPS, Ai formats (1.28 KB) Free Download">
            <a:extLst>
              <a:ext uri="{FF2B5EF4-FFF2-40B4-BE49-F238E27FC236}">
                <a16:creationId xmlns:a16="http://schemas.microsoft.com/office/drawing/2014/main" id="{C2220257-4C0A-7866-B21A-94EEA83780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08155-7867-0A13-7F1C-00C047130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687" y="3711437"/>
            <a:ext cx="2878539" cy="2867025"/>
          </a:xfrm>
          <a:prstGeom prst="rect">
            <a:avLst/>
          </a:prstGeom>
          <a:effectLst>
            <a:glow rad="254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317522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F6C5-5AA5-3D73-4C6B-05E998C4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163957"/>
            <a:ext cx="10515600" cy="732155"/>
          </a:xfrm>
        </p:spPr>
        <p:txBody>
          <a:bodyPr/>
          <a:lstStyle/>
          <a:p>
            <a:r>
              <a:rPr lang="es-ES"/>
              <a:t>Introducción al Control de Procesos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9D13-AF65-AD47-E4DD-460189263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896112"/>
            <a:ext cx="10515600" cy="506095"/>
          </a:xfrm>
        </p:spPr>
        <p:txBody>
          <a:bodyPr/>
          <a:lstStyle/>
          <a:p>
            <a:pPr marL="0" indent="0">
              <a:buNone/>
            </a:pPr>
            <a:r>
              <a:rPr lang="es-CO">
                <a:solidFill>
                  <a:schemeClr val="accent2"/>
                </a:solidFill>
              </a:rPr>
              <a:t>Ejemplo: Control de Temperatura de un Calentador</a:t>
            </a:r>
            <a:endParaRPr lang="es-CO" dirty="0">
              <a:solidFill>
                <a:schemeClr val="accent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A857B-C8D2-1AEF-DD03-D17B5DF52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78" y="1514590"/>
            <a:ext cx="8011643" cy="3810532"/>
          </a:xfrm>
          <a:prstGeom prst="rect">
            <a:avLst/>
          </a:prstGeom>
        </p:spPr>
      </p:pic>
      <p:pic>
        <p:nvPicPr>
          <p:cNvPr id="1026" name="Picture 2" descr="Calentador de agua Haceb de paso a gas natural tiro natural Bambú 5.5 litros">
            <a:extLst>
              <a:ext uri="{FF2B5EF4-FFF2-40B4-BE49-F238E27FC236}">
                <a16:creationId xmlns:a16="http://schemas.microsoft.com/office/drawing/2014/main" id="{EFBF1654-8DA1-ADA0-7EF2-FF8A9F25B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710" y="657225"/>
            <a:ext cx="2465439" cy="246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9F9337-ED63-0BE5-3071-73485D188EBB}"/>
              </a:ext>
            </a:extLst>
          </p:cNvPr>
          <p:cNvSpPr txBox="1">
            <a:spLocks/>
          </p:cNvSpPr>
          <p:nvPr/>
        </p:nvSpPr>
        <p:spPr>
          <a:xfrm>
            <a:off x="1160538" y="5830698"/>
            <a:ext cx="3978390" cy="8633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bg1"/>
                </a:solidFill>
              </a:rPr>
              <a:t>Quemador de gas natural</a:t>
            </a:r>
          </a:p>
          <a:p>
            <a:r>
              <a:rPr lang="es-CO" dirty="0">
                <a:solidFill>
                  <a:schemeClr val="bg1"/>
                </a:solidFill>
              </a:rPr>
              <a:t>Calentamiento de agua</a:t>
            </a:r>
          </a:p>
        </p:txBody>
      </p:sp>
    </p:spTree>
    <p:extLst>
      <p:ext uri="{BB962C8B-B14F-4D97-AF65-F5344CB8AC3E}">
        <p14:creationId xmlns:p14="http://schemas.microsoft.com/office/powerpoint/2010/main" val="369968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F11A-F024-BF27-8D73-5D4BF256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63456-55A5-7175-CE91-A740350D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163957"/>
            <a:ext cx="10515600" cy="732155"/>
          </a:xfrm>
        </p:spPr>
        <p:txBody>
          <a:bodyPr/>
          <a:lstStyle/>
          <a:p>
            <a:r>
              <a:rPr lang="es-ES"/>
              <a:t>Introducción al Control de Procesos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31C71-1DE0-832B-A772-F23FCC92A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896112"/>
            <a:ext cx="10515600" cy="506095"/>
          </a:xfrm>
        </p:spPr>
        <p:txBody>
          <a:bodyPr/>
          <a:lstStyle/>
          <a:p>
            <a:pPr marL="0" indent="0">
              <a:buNone/>
            </a:pPr>
            <a:r>
              <a:rPr lang="es-CO">
                <a:solidFill>
                  <a:schemeClr val="accent2"/>
                </a:solidFill>
              </a:rPr>
              <a:t>Ejemplo: Control de Temperatura de un Calentador</a:t>
            </a:r>
            <a:endParaRPr lang="es-CO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alentador de agua Haceb de paso a gas natural tiro natural Bambú 5.5 litros">
            <a:extLst>
              <a:ext uri="{FF2B5EF4-FFF2-40B4-BE49-F238E27FC236}">
                <a16:creationId xmlns:a16="http://schemas.microsoft.com/office/drawing/2014/main" id="{91A7AAF7-0772-1F84-322F-2E3EB05E4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710" y="657225"/>
            <a:ext cx="2465439" cy="246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57EC3B-041A-1EDD-A5DD-A4AF52FE1912}"/>
              </a:ext>
            </a:extLst>
          </p:cNvPr>
          <p:cNvSpPr txBox="1">
            <a:spLocks/>
          </p:cNvSpPr>
          <p:nvPr/>
        </p:nvSpPr>
        <p:spPr>
          <a:xfrm>
            <a:off x="1160538" y="5830698"/>
            <a:ext cx="9483078" cy="8633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bg1"/>
                </a:solidFill>
              </a:rPr>
              <a:t>Actuadores: Válvulas en los tubos de gas y aire del quemador</a:t>
            </a:r>
          </a:p>
          <a:p>
            <a:r>
              <a:rPr lang="es-CO" dirty="0">
                <a:solidFill>
                  <a:schemeClr val="bg1"/>
                </a:solidFill>
              </a:rPr>
              <a:t>Medidor: Temperatura de salida del agua</a:t>
            </a:r>
          </a:p>
        </p:txBody>
      </p:sp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03C4BC47-53C3-9DEF-134A-8E7B7DF43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78" y="1517234"/>
            <a:ext cx="8011643" cy="4134427"/>
          </a:xfrm>
          <a:prstGeom prst="rect">
            <a:avLst/>
          </a:prstGeom>
        </p:spPr>
      </p:pic>
      <p:pic>
        <p:nvPicPr>
          <p:cNvPr id="1028" name="Picture 4" descr="homeropensando - Grupo ACT Argentina">
            <a:extLst>
              <a:ext uri="{FF2B5EF4-FFF2-40B4-BE49-F238E27FC236}">
                <a16:creationId xmlns:a16="http://schemas.microsoft.com/office/drawing/2014/main" id="{8381F067-0B97-D9EA-1D49-CF1CDEE00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498" y="4182733"/>
            <a:ext cx="4003923" cy="267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2AFAA33-9DF6-5C00-ED7B-045048AEABA3}"/>
              </a:ext>
            </a:extLst>
          </p:cNvPr>
          <p:cNvSpPr/>
          <p:nvPr/>
        </p:nvSpPr>
        <p:spPr>
          <a:xfrm>
            <a:off x="7616952" y="3419856"/>
            <a:ext cx="2779776" cy="960120"/>
          </a:xfrm>
          <a:prstGeom prst="wedgeRoundRectCallout">
            <a:avLst>
              <a:gd name="adj1" fmla="val 50443"/>
              <a:gd name="adj2" fmla="val 10631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 ¿Cuáles son las perturbaciones?</a:t>
            </a:r>
          </a:p>
        </p:txBody>
      </p:sp>
    </p:spTree>
    <p:extLst>
      <p:ext uri="{BB962C8B-B14F-4D97-AF65-F5344CB8AC3E}">
        <p14:creationId xmlns:p14="http://schemas.microsoft.com/office/powerpoint/2010/main" val="315083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6CE2-6211-3ABB-95AD-F06EC960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9B52-6920-17D8-F9D6-487232A0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163957"/>
            <a:ext cx="10515600" cy="732155"/>
          </a:xfrm>
        </p:spPr>
        <p:txBody>
          <a:bodyPr/>
          <a:lstStyle/>
          <a:p>
            <a:r>
              <a:rPr lang="es-ES"/>
              <a:t>Introducción al Control de Procesos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B136-4E53-72E6-9489-281BC4778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896112"/>
            <a:ext cx="10515600" cy="506095"/>
          </a:xfrm>
        </p:spPr>
        <p:txBody>
          <a:bodyPr/>
          <a:lstStyle/>
          <a:p>
            <a:pPr marL="0" indent="0">
              <a:buNone/>
            </a:pPr>
            <a:r>
              <a:rPr lang="es-CO">
                <a:solidFill>
                  <a:schemeClr val="accent2"/>
                </a:solidFill>
              </a:rPr>
              <a:t>Ejemplo: Control de Temperatura de un Calentador</a:t>
            </a:r>
            <a:endParaRPr lang="es-CO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alentador de agua Haceb de paso a gas natural tiro natural Bambú 5.5 litros">
            <a:extLst>
              <a:ext uri="{FF2B5EF4-FFF2-40B4-BE49-F238E27FC236}">
                <a16:creationId xmlns:a16="http://schemas.microsoft.com/office/drawing/2014/main" id="{EE53058E-3354-52A5-8605-69935766A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710" y="657225"/>
            <a:ext cx="2465439" cy="246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804C07-AC7F-793C-208E-51D5494433E1}"/>
              </a:ext>
            </a:extLst>
          </p:cNvPr>
          <p:cNvSpPr txBox="1">
            <a:spLocks/>
          </p:cNvSpPr>
          <p:nvPr/>
        </p:nvSpPr>
        <p:spPr>
          <a:xfrm>
            <a:off x="1160538" y="5830698"/>
            <a:ext cx="9483078" cy="863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bg1"/>
                </a:solidFill>
              </a:rPr>
              <a:t>Medidas Auxiliares: Temperatura y caudal de agua de entrada, caudal de gas y de aire.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CD3B5-9FBF-AA58-D399-A3F8DC574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0824" y="1321940"/>
            <a:ext cx="8055864" cy="4578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B0CDF-0ADD-4C6D-4573-55E1D8005031}"/>
              </a:ext>
            </a:extLst>
          </p:cNvPr>
          <p:cNvSpPr txBox="1"/>
          <p:nvPr/>
        </p:nvSpPr>
        <p:spPr>
          <a:xfrm>
            <a:off x="404066" y="3604146"/>
            <a:ext cx="2545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Variable principal</a:t>
            </a:r>
            <a:endParaRPr lang="es-CO" sz="2400" b="1" dirty="0">
              <a:solidFill>
                <a:schemeClr val="accent1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621192-37A9-9D68-2F17-E3DEAFEAAA71}"/>
              </a:ext>
            </a:extLst>
          </p:cNvPr>
          <p:cNvCxnSpPr/>
          <p:nvPr/>
        </p:nvCxnSpPr>
        <p:spPr>
          <a:xfrm flipV="1">
            <a:off x="2313432" y="3813048"/>
            <a:ext cx="1133856" cy="11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94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9FCE-1B32-DAE2-67DB-4D7E755C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483E-485D-96F0-9CC0-64CB1302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163957"/>
            <a:ext cx="10515600" cy="732155"/>
          </a:xfrm>
        </p:spPr>
        <p:txBody>
          <a:bodyPr/>
          <a:lstStyle/>
          <a:p>
            <a:r>
              <a:rPr lang="es-ES"/>
              <a:t>Introducción al Control de Procesos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EBA3-19F4-A7F4-DD91-84269FF44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896112"/>
            <a:ext cx="10515600" cy="506095"/>
          </a:xfrm>
        </p:spPr>
        <p:txBody>
          <a:bodyPr/>
          <a:lstStyle/>
          <a:p>
            <a:pPr marL="0" indent="0">
              <a:buNone/>
            </a:pPr>
            <a:r>
              <a:rPr lang="es-CO" dirty="0">
                <a:solidFill>
                  <a:schemeClr val="accent2"/>
                </a:solidFill>
              </a:rPr>
              <a:t>Definición del Sistema</a:t>
            </a:r>
          </a:p>
        </p:txBody>
      </p:sp>
      <p:pic>
        <p:nvPicPr>
          <p:cNvPr id="1026" name="Picture 2" descr="Calentador de agua Haceb de paso a gas natural tiro natural Bambú 5.5 litros">
            <a:extLst>
              <a:ext uri="{FF2B5EF4-FFF2-40B4-BE49-F238E27FC236}">
                <a16:creationId xmlns:a16="http://schemas.microsoft.com/office/drawing/2014/main" id="{261380AA-987A-E033-DEDE-53627BA9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710" y="657225"/>
            <a:ext cx="2465439" cy="246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9A7E12-60B4-DEEF-4B30-CE81BF133808}"/>
              </a:ext>
            </a:extLst>
          </p:cNvPr>
          <p:cNvSpPr txBox="1">
            <a:spLocks/>
          </p:cNvSpPr>
          <p:nvPr/>
        </p:nvSpPr>
        <p:spPr>
          <a:xfrm>
            <a:off x="1160538" y="4516224"/>
            <a:ext cx="9483078" cy="217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bg1"/>
                </a:solidFill>
              </a:rPr>
              <a:t>Salida a controlar: Temperatura del agua de salida</a:t>
            </a:r>
          </a:p>
          <a:p>
            <a:r>
              <a:rPr lang="es-CO" dirty="0">
                <a:solidFill>
                  <a:schemeClr val="bg1"/>
                </a:solidFill>
              </a:rPr>
              <a:t>Entrada de Control: Abertura de la válvula de gas.</a:t>
            </a:r>
          </a:p>
          <a:p>
            <a:r>
              <a:rPr lang="es-CO" dirty="0">
                <a:solidFill>
                  <a:schemeClr val="bg1"/>
                </a:solidFill>
              </a:rPr>
              <a:t>Perturbaciones: Temperatura y caudal de la entrada de agua y la presión de la tubería de gas.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57F89-44A3-2043-C414-C4184DD26E08}"/>
              </a:ext>
            </a:extLst>
          </p:cNvPr>
          <p:cNvSpPr/>
          <p:nvPr/>
        </p:nvSpPr>
        <p:spPr>
          <a:xfrm>
            <a:off x="4102082" y="3122664"/>
            <a:ext cx="1928408" cy="1194741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71C78E-091C-555F-90D1-BBC7EE01F16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990088" y="3720035"/>
            <a:ext cx="1111994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9237BE-3A8B-36CC-1CDC-B648C496A83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030490" y="3720034"/>
            <a:ext cx="763502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727F51-DE75-4CF0-852C-1B989EC447E3}"/>
                  </a:ext>
                </a:extLst>
              </p:cNvPr>
              <p:cNvSpPr txBox="1"/>
              <p:nvPr/>
            </p:nvSpPr>
            <p:spPr>
              <a:xfrm>
                <a:off x="2904218" y="3151884"/>
                <a:ext cx="3495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727F51-DE75-4CF0-852C-1B989EC44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218" y="3151884"/>
                <a:ext cx="349519" cy="369332"/>
              </a:xfrm>
              <a:prstGeom prst="rect">
                <a:avLst/>
              </a:prstGeom>
              <a:blipFill>
                <a:blip r:embed="rId3"/>
                <a:stretch>
                  <a:fillRect l="-20690" r="-5172" b="-114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96411B-0E8C-30FC-7276-2B81B4BCD28E}"/>
                  </a:ext>
                </a:extLst>
              </p:cNvPr>
              <p:cNvSpPr txBox="1"/>
              <p:nvPr/>
            </p:nvSpPr>
            <p:spPr>
              <a:xfrm>
                <a:off x="6412241" y="3234814"/>
                <a:ext cx="2519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96411B-0E8C-30FC-7276-2B81B4BC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41" y="3234814"/>
                <a:ext cx="251992" cy="369332"/>
              </a:xfrm>
              <a:prstGeom prst="rect">
                <a:avLst/>
              </a:prstGeom>
              <a:blipFill>
                <a:blip r:embed="rId4"/>
                <a:stretch>
                  <a:fillRect l="-31707" r="-26829" b="-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0533EB-DF06-71FB-A7D0-93266398C12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066286" y="2409405"/>
            <a:ext cx="0" cy="713259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A9EF59-F40D-B357-6E25-FCF7598F46F1}"/>
                  </a:ext>
                </a:extLst>
              </p:cNvPr>
              <p:cNvSpPr txBox="1"/>
              <p:nvPr/>
            </p:nvSpPr>
            <p:spPr>
              <a:xfrm>
                <a:off x="4897872" y="1896344"/>
                <a:ext cx="344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A9EF59-F40D-B357-6E25-FCF7598F4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872" y="1896344"/>
                <a:ext cx="344582" cy="369332"/>
              </a:xfrm>
              <a:prstGeom prst="rect">
                <a:avLst/>
              </a:prstGeom>
              <a:blipFill>
                <a:blip r:embed="rId5"/>
                <a:stretch>
                  <a:fillRect l="-21053" r="-1754" b="-819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1D3C8-CFAB-A3BB-830E-9A76B45BD3B2}"/>
              </a:ext>
            </a:extLst>
          </p:cNvPr>
          <p:cNvCxnSpPr>
            <a:cxnSpLocks/>
          </p:cNvCxnSpPr>
          <p:nvPr/>
        </p:nvCxnSpPr>
        <p:spPr>
          <a:xfrm>
            <a:off x="4407918" y="2409405"/>
            <a:ext cx="0" cy="713259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5F10FE-DD6E-10F9-B840-C2004842C587}"/>
              </a:ext>
            </a:extLst>
          </p:cNvPr>
          <p:cNvCxnSpPr>
            <a:cxnSpLocks/>
          </p:cNvCxnSpPr>
          <p:nvPr/>
        </p:nvCxnSpPr>
        <p:spPr>
          <a:xfrm>
            <a:off x="5651502" y="2409404"/>
            <a:ext cx="0" cy="713259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6998DA-AA32-AA5E-6286-22788C6E2A69}"/>
                  </a:ext>
                </a:extLst>
              </p:cNvPr>
              <p:cNvSpPr txBox="1"/>
              <p:nvPr/>
            </p:nvSpPr>
            <p:spPr>
              <a:xfrm>
                <a:off x="4235627" y="1882667"/>
                <a:ext cx="3313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6998DA-AA32-AA5E-6286-22788C6E2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627" y="1882667"/>
                <a:ext cx="331373" cy="369332"/>
              </a:xfrm>
              <a:prstGeom prst="rect">
                <a:avLst/>
              </a:prstGeom>
              <a:blipFill>
                <a:blip r:embed="rId6"/>
                <a:stretch>
                  <a:fillRect l="-24074" r="-1852" b="-8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A829B5-FB4E-CE77-6D9A-529F1696C0DB}"/>
                  </a:ext>
                </a:extLst>
              </p:cNvPr>
              <p:cNvSpPr txBox="1"/>
              <p:nvPr/>
            </p:nvSpPr>
            <p:spPr>
              <a:xfrm>
                <a:off x="5479211" y="1868109"/>
                <a:ext cx="345736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A829B5-FB4E-CE77-6D9A-529F1696C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11" y="1868109"/>
                <a:ext cx="345736" cy="399405"/>
              </a:xfrm>
              <a:prstGeom prst="rect">
                <a:avLst/>
              </a:prstGeom>
              <a:blipFill>
                <a:blip r:embed="rId7"/>
                <a:stretch>
                  <a:fillRect l="-22807" r="-7018" b="-212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260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3603-91D7-6056-23F4-E3436805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1754-0BD1-D78E-E42D-7C284719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163957"/>
            <a:ext cx="10515600" cy="732155"/>
          </a:xfrm>
        </p:spPr>
        <p:txBody>
          <a:bodyPr/>
          <a:lstStyle/>
          <a:p>
            <a:r>
              <a:rPr lang="es-ES" dirty="0"/>
              <a:t>Introducción al Control de Procesos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BCFE-E8BB-4BB2-8DAA-EBFC2E4D4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896112"/>
            <a:ext cx="10515600" cy="506095"/>
          </a:xfrm>
        </p:spPr>
        <p:txBody>
          <a:bodyPr/>
          <a:lstStyle/>
          <a:p>
            <a:pPr marL="0" indent="0">
              <a:buNone/>
            </a:pPr>
            <a:r>
              <a:rPr lang="es-CO" dirty="0" err="1">
                <a:solidFill>
                  <a:schemeClr val="accent2"/>
                </a:solidFill>
              </a:rPr>
              <a:t>Definicion</a:t>
            </a:r>
            <a:r>
              <a:rPr lang="es-CO" dirty="0">
                <a:solidFill>
                  <a:schemeClr val="accent2"/>
                </a:solidFill>
              </a:rPr>
              <a:t> del Sistema</a:t>
            </a:r>
          </a:p>
        </p:txBody>
      </p:sp>
      <p:pic>
        <p:nvPicPr>
          <p:cNvPr id="1026" name="Picture 2" descr="Calentador de agua Haceb de paso a gas natural tiro natural Bambú 5.5 litros">
            <a:extLst>
              <a:ext uri="{FF2B5EF4-FFF2-40B4-BE49-F238E27FC236}">
                <a16:creationId xmlns:a16="http://schemas.microsoft.com/office/drawing/2014/main" id="{6C2096AA-8325-E79D-C696-10CAAFA14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710" y="657225"/>
            <a:ext cx="2465439" cy="246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D71343-5753-5C67-B65C-7982F53D82DC}"/>
              </a:ext>
            </a:extLst>
          </p:cNvPr>
          <p:cNvSpPr txBox="1">
            <a:spLocks/>
          </p:cNvSpPr>
          <p:nvPr/>
        </p:nvSpPr>
        <p:spPr>
          <a:xfrm>
            <a:off x="1160538" y="4516224"/>
            <a:ext cx="9483078" cy="217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600" dirty="0">
                <a:solidFill>
                  <a:schemeClr val="bg1"/>
                </a:solidFill>
              </a:rPr>
              <a:t>Sistema </a:t>
            </a:r>
            <a:r>
              <a:rPr lang="es-CO" sz="3600" dirty="0">
                <a:solidFill>
                  <a:schemeClr val="accent1"/>
                </a:solidFill>
              </a:rPr>
              <a:t>SISO</a:t>
            </a:r>
            <a:r>
              <a:rPr lang="es-CO" sz="3600" dirty="0">
                <a:solidFill>
                  <a:schemeClr val="bg1"/>
                </a:solidFill>
              </a:rPr>
              <a:t> (Single Input Single Output)</a:t>
            </a:r>
          </a:p>
          <a:p>
            <a:r>
              <a:rPr lang="es-CO" dirty="0">
                <a:solidFill>
                  <a:schemeClr val="bg1"/>
                </a:solidFill>
              </a:rPr>
              <a:t>Tenemos solo una manipulada y una controlada, a pesar de poder tener varias entradas de perturbación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82C549-DED9-8D81-2DFB-04B4754BD580}"/>
              </a:ext>
            </a:extLst>
          </p:cNvPr>
          <p:cNvSpPr/>
          <p:nvPr/>
        </p:nvSpPr>
        <p:spPr>
          <a:xfrm>
            <a:off x="4102082" y="3122664"/>
            <a:ext cx="1928408" cy="1194741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0D5760-880B-34A7-172D-F637A906CE0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990088" y="3720035"/>
            <a:ext cx="1111994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AEBEDC-565F-6CAE-0801-6B6CEFF3739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030490" y="3720034"/>
            <a:ext cx="763502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93C6BD-2C53-A2FA-473B-62EB4EB2B3DA}"/>
                  </a:ext>
                </a:extLst>
              </p:cNvPr>
              <p:cNvSpPr txBox="1"/>
              <p:nvPr/>
            </p:nvSpPr>
            <p:spPr>
              <a:xfrm>
                <a:off x="2904218" y="3151884"/>
                <a:ext cx="3495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93C6BD-2C53-A2FA-473B-62EB4EB2B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218" y="3151884"/>
                <a:ext cx="349519" cy="369332"/>
              </a:xfrm>
              <a:prstGeom prst="rect">
                <a:avLst/>
              </a:prstGeom>
              <a:blipFill>
                <a:blip r:embed="rId3"/>
                <a:stretch>
                  <a:fillRect l="-20690" r="-5172" b="-114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32BA9A-DBF8-03A1-3D7C-8A68770EA669}"/>
                  </a:ext>
                </a:extLst>
              </p:cNvPr>
              <p:cNvSpPr txBox="1"/>
              <p:nvPr/>
            </p:nvSpPr>
            <p:spPr>
              <a:xfrm>
                <a:off x="6412241" y="3234814"/>
                <a:ext cx="2519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32BA9A-DBF8-03A1-3D7C-8A68770EA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41" y="3234814"/>
                <a:ext cx="251992" cy="369332"/>
              </a:xfrm>
              <a:prstGeom prst="rect">
                <a:avLst/>
              </a:prstGeom>
              <a:blipFill>
                <a:blip r:embed="rId4"/>
                <a:stretch>
                  <a:fillRect l="-31707" r="-26829" b="-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2E4712-75FD-4351-A67D-3DC11A27BEB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066286" y="2409405"/>
            <a:ext cx="0" cy="713259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9947AD-9EEF-30FB-E915-0441EA310A40}"/>
                  </a:ext>
                </a:extLst>
              </p:cNvPr>
              <p:cNvSpPr txBox="1"/>
              <p:nvPr/>
            </p:nvSpPr>
            <p:spPr>
              <a:xfrm>
                <a:off x="4897872" y="1896344"/>
                <a:ext cx="344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9947AD-9EEF-30FB-E915-0441EA310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872" y="1896344"/>
                <a:ext cx="344582" cy="369332"/>
              </a:xfrm>
              <a:prstGeom prst="rect">
                <a:avLst/>
              </a:prstGeom>
              <a:blipFill>
                <a:blip r:embed="rId5"/>
                <a:stretch>
                  <a:fillRect l="-21053" r="-1754" b="-819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F47371-2DAE-A939-6E94-825C572970CE}"/>
              </a:ext>
            </a:extLst>
          </p:cNvPr>
          <p:cNvCxnSpPr>
            <a:cxnSpLocks/>
          </p:cNvCxnSpPr>
          <p:nvPr/>
        </p:nvCxnSpPr>
        <p:spPr>
          <a:xfrm>
            <a:off x="4407918" y="2409405"/>
            <a:ext cx="0" cy="713259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42F383-2015-9380-FF21-5F134EA50F28}"/>
              </a:ext>
            </a:extLst>
          </p:cNvPr>
          <p:cNvCxnSpPr>
            <a:cxnSpLocks/>
          </p:cNvCxnSpPr>
          <p:nvPr/>
        </p:nvCxnSpPr>
        <p:spPr>
          <a:xfrm>
            <a:off x="5651502" y="2409404"/>
            <a:ext cx="0" cy="713259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57AC3-1A1B-5213-31FA-963C0F028510}"/>
                  </a:ext>
                </a:extLst>
              </p:cNvPr>
              <p:cNvSpPr txBox="1"/>
              <p:nvPr/>
            </p:nvSpPr>
            <p:spPr>
              <a:xfrm>
                <a:off x="4235627" y="1882667"/>
                <a:ext cx="3313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57AC3-1A1B-5213-31FA-963C0F028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627" y="1882667"/>
                <a:ext cx="331373" cy="369332"/>
              </a:xfrm>
              <a:prstGeom prst="rect">
                <a:avLst/>
              </a:prstGeom>
              <a:blipFill>
                <a:blip r:embed="rId6"/>
                <a:stretch>
                  <a:fillRect l="-24074" r="-1852" b="-8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4130E1-4348-847E-6591-6AE18B8FADC6}"/>
                  </a:ext>
                </a:extLst>
              </p:cNvPr>
              <p:cNvSpPr txBox="1"/>
              <p:nvPr/>
            </p:nvSpPr>
            <p:spPr>
              <a:xfrm>
                <a:off x="5479211" y="1868109"/>
                <a:ext cx="345736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4130E1-4348-847E-6591-6AE18B8FA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11" y="1868109"/>
                <a:ext cx="345736" cy="399405"/>
              </a:xfrm>
              <a:prstGeom prst="rect">
                <a:avLst/>
              </a:prstGeom>
              <a:blipFill>
                <a:blip r:embed="rId7"/>
                <a:stretch>
                  <a:fillRect l="-22807" r="-7018" b="-212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266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9C25-B6E3-29E8-489B-761D5EFE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51401"/>
            <a:ext cx="10515600" cy="742982"/>
          </a:xfrm>
        </p:spPr>
        <p:txBody>
          <a:bodyPr/>
          <a:lstStyle/>
          <a:p>
            <a:r>
              <a:rPr lang="es-ES" dirty="0"/>
              <a:t>Introducción al Control de Procesos</a:t>
            </a:r>
            <a:endParaRPr lang="es-CO" dirty="0"/>
          </a:p>
        </p:txBody>
      </p:sp>
      <p:pic>
        <p:nvPicPr>
          <p:cNvPr id="4" name="animacion_control">
            <a:hlinkClick r:id="" action="ppaction://media"/>
            <a:extLst>
              <a:ext uri="{FF2B5EF4-FFF2-40B4-BE49-F238E27FC236}">
                <a16:creationId xmlns:a16="http://schemas.microsoft.com/office/drawing/2014/main" id="{D9DFDCBE-DA35-B5C9-2940-7C9704CDE67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5141" t="4133" r="6592"/>
          <a:stretch/>
        </p:blipFill>
        <p:spPr>
          <a:xfrm>
            <a:off x="6007807" y="1581913"/>
            <a:ext cx="5803364" cy="3207860"/>
          </a:xfrm>
        </p:spPr>
      </p:pic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5BF6556E-1DBE-3B8C-4A1B-FE9FE2D0C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21" y="2002599"/>
            <a:ext cx="8011643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8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 descr="Resultado de imagen para greenhouse humidity and temperature">
            <a:extLst>
              <a:ext uri="{FF2B5EF4-FFF2-40B4-BE49-F238E27FC236}">
                <a16:creationId xmlns:a16="http://schemas.microsoft.com/office/drawing/2014/main" id="{774746D3-6BA2-BF62-8EFA-E4FEAD12F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319233"/>
            <a:ext cx="4822804" cy="482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8">
            <a:extLst>
              <a:ext uri="{FF2B5EF4-FFF2-40B4-BE49-F238E27FC236}">
                <a16:creationId xmlns:a16="http://schemas.microsoft.com/office/drawing/2014/main" id="{55396B73-A6A7-4F7F-12D8-207C28EE7ED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437" y="1443523"/>
            <a:ext cx="1890222" cy="1751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4" descr="Resultado de imagen para calefactor invernadero">
            <a:extLst>
              <a:ext uri="{FF2B5EF4-FFF2-40B4-BE49-F238E27FC236}">
                <a16:creationId xmlns:a16="http://schemas.microsoft.com/office/drawing/2014/main" id="{D5A1BB8F-0102-5BFB-9B94-BB4E70C6C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662" y="1287261"/>
            <a:ext cx="2357021" cy="235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Bocadillo: rectángulo con esquinas redondeadas 7">
            <a:extLst>
              <a:ext uri="{FF2B5EF4-FFF2-40B4-BE49-F238E27FC236}">
                <a16:creationId xmlns:a16="http://schemas.microsoft.com/office/drawing/2014/main" id="{EEC56333-74BB-59F5-6109-1954E4DA75CC}"/>
              </a:ext>
            </a:extLst>
          </p:cNvPr>
          <p:cNvSpPr/>
          <p:nvPr/>
        </p:nvSpPr>
        <p:spPr>
          <a:xfrm>
            <a:off x="6587231" y="1349406"/>
            <a:ext cx="2441359" cy="1970843"/>
          </a:xfrm>
          <a:prstGeom prst="wedgeRoundRectCallout">
            <a:avLst>
              <a:gd name="adj1" fmla="val -14288"/>
              <a:gd name="adj2" fmla="val 9403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Bocadillo: rectángulo con esquinas redondeadas 12">
            <a:extLst>
              <a:ext uri="{FF2B5EF4-FFF2-40B4-BE49-F238E27FC236}">
                <a16:creationId xmlns:a16="http://schemas.microsoft.com/office/drawing/2014/main" id="{A9DCAC65-8F0F-0EE3-2B38-206B8A383C54}"/>
              </a:ext>
            </a:extLst>
          </p:cNvPr>
          <p:cNvSpPr/>
          <p:nvPr/>
        </p:nvSpPr>
        <p:spPr>
          <a:xfrm>
            <a:off x="9489341" y="1469504"/>
            <a:ext cx="2441359" cy="1970843"/>
          </a:xfrm>
          <a:prstGeom prst="wedgeRoundRectCallout">
            <a:avLst>
              <a:gd name="adj1" fmla="val -41561"/>
              <a:gd name="adj2" fmla="val 7105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Bocadillo: rectángulo con esquinas redondeadas 14">
            <a:extLst>
              <a:ext uri="{FF2B5EF4-FFF2-40B4-BE49-F238E27FC236}">
                <a16:creationId xmlns:a16="http://schemas.microsoft.com/office/drawing/2014/main" id="{6D7DB249-8595-AA23-5D5E-C4878172907A}"/>
              </a:ext>
            </a:extLst>
          </p:cNvPr>
          <p:cNvSpPr/>
          <p:nvPr/>
        </p:nvSpPr>
        <p:spPr>
          <a:xfrm>
            <a:off x="10169529" y="5287006"/>
            <a:ext cx="1559510" cy="963477"/>
          </a:xfrm>
          <a:prstGeom prst="wedgeRoundRectCallout">
            <a:avLst>
              <a:gd name="adj1" fmla="val -111859"/>
              <a:gd name="adj2" fmla="val -12235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CuadroTexto 13">
            <a:extLst>
              <a:ext uri="{FF2B5EF4-FFF2-40B4-BE49-F238E27FC236}">
                <a16:creationId xmlns:a16="http://schemas.microsoft.com/office/drawing/2014/main" id="{821CE80E-9549-66F5-B95A-4B483EE8D0D9}"/>
              </a:ext>
            </a:extLst>
          </p:cNvPr>
          <p:cNvSpPr txBox="1"/>
          <p:nvPr/>
        </p:nvSpPr>
        <p:spPr>
          <a:xfrm>
            <a:off x="10346994" y="5445579"/>
            <a:ext cx="1436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Temperatura</a:t>
            </a:r>
          </a:p>
          <a:p>
            <a:r>
              <a:rPr lang="es-419" dirty="0">
                <a:solidFill>
                  <a:schemeClr val="bg1"/>
                </a:solidFill>
              </a:rPr>
              <a:t>Humedad</a:t>
            </a:r>
          </a:p>
        </p:txBody>
      </p:sp>
      <p:sp>
        <p:nvSpPr>
          <p:cNvPr id="11" name="Rectángulo 17">
            <a:extLst>
              <a:ext uri="{FF2B5EF4-FFF2-40B4-BE49-F238E27FC236}">
                <a16:creationId xmlns:a16="http://schemas.microsoft.com/office/drawing/2014/main" id="{7875991B-F1C4-556D-96FF-91F477C5EB94}"/>
              </a:ext>
            </a:extLst>
          </p:cNvPr>
          <p:cNvSpPr/>
          <p:nvPr/>
        </p:nvSpPr>
        <p:spPr>
          <a:xfrm>
            <a:off x="2064305" y="2674080"/>
            <a:ext cx="1455938" cy="10367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12" name="Conector recto de flecha 18">
            <a:extLst>
              <a:ext uri="{FF2B5EF4-FFF2-40B4-BE49-F238E27FC236}">
                <a16:creationId xmlns:a16="http://schemas.microsoft.com/office/drawing/2014/main" id="{25ACB8F1-6E84-7A4F-C31E-99D2A4B43F39}"/>
              </a:ext>
            </a:extLst>
          </p:cNvPr>
          <p:cNvCxnSpPr>
            <a:cxnSpLocks/>
          </p:cNvCxnSpPr>
          <p:nvPr/>
        </p:nvCxnSpPr>
        <p:spPr>
          <a:xfrm>
            <a:off x="1232468" y="3034818"/>
            <a:ext cx="8318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9">
            <a:extLst>
              <a:ext uri="{FF2B5EF4-FFF2-40B4-BE49-F238E27FC236}">
                <a16:creationId xmlns:a16="http://schemas.microsoft.com/office/drawing/2014/main" id="{0A40D050-A9FA-9201-78AC-A840D6846A3C}"/>
              </a:ext>
            </a:extLst>
          </p:cNvPr>
          <p:cNvCxnSpPr>
            <a:cxnSpLocks/>
          </p:cNvCxnSpPr>
          <p:nvPr/>
        </p:nvCxnSpPr>
        <p:spPr>
          <a:xfrm>
            <a:off x="3520243" y="3034819"/>
            <a:ext cx="8318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20">
            <a:extLst>
              <a:ext uri="{FF2B5EF4-FFF2-40B4-BE49-F238E27FC236}">
                <a16:creationId xmlns:a16="http://schemas.microsoft.com/office/drawing/2014/main" id="{E7D4BF5E-C67E-8649-DE0B-1520186DFFF7}"/>
              </a:ext>
            </a:extLst>
          </p:cNvPr>
          <p:cNvSpPr txBox="1"/>
          <p:nvPr/>
        </p:nvSpPr>
        <p:spPr>
          <a:xfrm>
            <a:off x="242261" y="2225498"/>
            <a:ext cx="1067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Entrada:</a:t>
            </a:r>
          </a:p>
        </p:txBody>
      </p:sp>
      <p:sp>
        <p:nvSpPr>
          <p:cNvPr id="15" name="CuadroTexto 21">
            <a:extLst>
              <a:ext uri="{FF2B5EF4-FFF2-40B4-BE49-F238E27FC236}">
                <a16:creationId xmlns:a16="http://schemas.microsoft.com/office/drawing/2014/main" id="{A7BEB767-A612-F42A-CA3C-8188E27E438B}"/>
              </a:ext>
            </a:extLst>
          </p:cNvPr>
          <p:cNvSpPr txBox="1"/>
          <p:nvPr/>
        </p:nvSpPr>
        <p:spPr>
          <a:xfrm>
            <a:off x="4519611" y="2337841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Salida:</a:t>
            </a:r>
          </a:p>
        </p:txBody>
      </p:sp>
      <p:sp>
        <p:nvSpPr>
          <p:cNvPr id="16" name="Rectángulo 23">
            <a:extLst>
              <a:ext uri="{FF2B5EF4-FFF2-40B4-BE49-F238E27FC236}">
                <a16:creationId xmlns:a16="http://schemas.microsoft.com/office/drawing/2014/main" id="{962EDC0F-8F24-782D-DACA-A75ECB9ABC68}"/>
              </a:ext>
            </a:extLst>
          </p:cNvPr>
          <p:cNvSpPr/>
          <p:nvPr/>
        </p:nvSpPr>
        <p:spPr>
          <a:xfrm>
            <a:off x="2064305" y="5240671"/>
            <a:ext cx="1455938" cy="7214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17" name="Conector recto de flecha 24">
            <a:extLst>
              <a:ext uri="{FF2B5EF4-FFF2-40B4-BE49-F238E27FC236}">
                <a16:creationId xmlns:a16="http://schemas.microsoft.com/office/drawing/2014/main" id="{47BF6B33-A57C-6EF9-A07A-23EF20419247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232468" y="5601408"/>
            <a:ext cx="8318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25">
            <a:extLst>
              <a:ext uri="{FF2B5EF4-FFF2-40B4-BE49-F238E27FC236}">
                <a16:creationId xmlns:a16="http://schemas.microsoft.com/office/drawing/2014/main" id="{11F85890-6E5E-BB66-AADB-9375A7EE2C1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520243" y="5601408"/>
            <a:ext cx="8318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26">
            <a:extLst>
              <a:ext uri="{FF2B5EF4-FFF2-40B4-BE49-F238E27FC236}">
                <a16:creationId xmlns:a16="http://schemas.microsoft.com/office/drawing/2014/main" id="{72BD0069-9D40-4A3F-8E47-BBC23E46D0E2}"/>
              </a:ext>
            </a:extLst>
          </p:cNvPr>
          <p:cNvSpPr txBox="1"/>
          <p:nvPr/>
        </p:nvSpPr>
        <p:spPr>
          <a:xfrm>
            <a:off x="1130501" y="513600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u</a:t>
            </a:r>
            <a:endParaRPr lang="es-419" dirty="0">
              <a:solidFill>
                <a:schemeClr val="bg1"/>
              </a:solidFill>
            </a:endParaRPr>
          </a:p>
        </p:txBody>
      </p:sp>
      <p:sp>
        <p:nvSpPr>
          <p:cNvPr id="20" name="CuadroTexto 27">
            <a:extLst>
              <a:ext uri="{FF2B5EF4-FFF2-40B4-BE49-F238E27FC236}">
                <a16:creationId xmlns:a16="http://schemas.microsoft.com/office/drawing/2014/main" id="{90ACA78A-4EB1-CC47-C667-58B93D67A9C8}"/>
              </a:ext>
            </a:extLst>
          </p:cNvPr>
          <p:cNvSpPr txBox="1"/>
          <p:nvPr/>
        </p:nvSpPr>
        <p:spPr>
          <a:xfrm>
            <a:off x="3842064" y="516232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y</a:t>
            </a:r>
            <a:endParaRPr lang="es-419" dirty="0">
              <a:solidFill>
                <a:schemeClr val="bg1"/>
              </a:solidFill>
            </a:endParaRPr>
          </a:p>
        </p:txBody>
      </p:sp>
      <p:cxnSp>
        <p:nvCxnSpPr>
          <p:cNvPr id="21" name="Conector recto de flecha 31">
            <a:extLst>
              <a:ext uri="{FF2B5EF4-FFF2-40B4-BE49-F238E27FC236}">
                <a16:creationId xmlns:a16="http://schemas.microsoft.com/office/drawing/2014/main" id="{70728723-5EC2-030A-B72B-95737FA9F3DE}"/>
              </a:ext>
            </a:extLst>
          </p:cNvPr>
          <p:cNvCxnSpPr>
            <a:cxnSpLocks/>
          </p:cNvCxnSpPr>
          <p:nvPr/>
        </p:nvCxnSpPr>
        <p:spPr>
          <a:xfrm>
            <a:off x="1232468" y="3430124"/>
            <a:ext cx="8318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34">
            <a:extLst>
              <a:ext uri="{FF2B5EF4-FFF2-40B4-BE49-F238E27FC236}">
                <a16:creationId xmlns:a16="http://schemas.microsoft.com/office/drawing/2014/main" id="{07A130F6-D4D4-66E7-3B65-2A2730FC3669}"/>
              </a:ext>
            </a:extLst>
          </p:cNvPr>
          <p:cNvCxnSpPr>
            <a:cxnSpLocks/>
          </p:cNvCxnSpPr>
          <p:nvPr/>
        </p:nvCxnSpPr>
        <p:spPr>
          <a:xfrm>
            <a:off x="3520243" y="3440347"/>
            <a:ext cx="8318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32">
            <a:extLst>
              <a:ext uri="{FF2B5EF4-FFF2-40B4-BE49-F238E27FC236}">
                <a16:creationId xmlns:a16="http://schemas.microsoft.com/office/drawing/2014/main" id="{C695A500-C8DF-7E68-AD38-4359188BAC4E}"/>
              </a:ext>
            </a:extLst>
          </p:cNvPr>
          <p:cNvSpPr txBox="1"/>
          <p:nvPr/>
        </p:nvSpPr>
        <p:spPr>
          <a:xfrm>
            <a:off x="82605" y="2867703"/>
            <a:ext cx="1141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400" dirty="0">
                <a:solidFill>
                  <a:schemeClr val="bg1"/>
                </a:solidFill>
              </a:rPr>
              <a:t>Pulverizador</a:t>
            </a:r>
          </a:p>
        </p:txBody>
      </p:sp>
      <p:sp>
        <p:nvSpPr>
          <p:cNvPr id="24" name="CuadroTexto 36">
            <a:extLst>
              <a:ext uri="{FF2B5EF4-FFF2-40B4-BE49-F238E27FC236}">
                <a16:creationId xmlns:a16="http://schemas.microsoft.com/office/drawing/2014/main" id="{98295EC8-F461-7F50-A4F6-1C7FCB9BE2BD}"/>
              </a:ext>
            </a:extLst>
          </p:cNvPr>
          <p:cNvSpPr txBox="1"/>
          <p:nvPr/>
        </p:nvSpPr>
        <p:spPr>
          <a:xfrm>
            <a:off x="111331" y="3251674"/>
            <a:ext cx="10043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400" dirty="0">
                <a:solidFill>
                  <a:schemeClr val="bg1"/>
                </a:solidFill>
              </a:rPr>
              <a:t>Calefactor</a:t>
            </a:r>
          </a:p>
        </p:txBody>
      </p:sp>
      <p:sp>
        <p:nvSpPr>
          <p:cNvPr id="25" name="CuadroTexto 37">
            <a:extLst>
              <a:ext uri="{FF2B5EF4-FFF2-40B4-BE49-F238E27FC236}">
                <a16:creationId xmlns:a16="http://schemas.microsoft.com/office/drawing/2014/main" id="{6C189BD2-9F21-6904-6BC1-15E35B8EADB9}"/>
              </a:ext>
            </a:extLst>
          </p:cNvPr>
          <p:cNvSpPr txBox="1"/>
          <p:nvPr/>
        </p:nvSpPr>
        <p:spPr>
          <a:xfrm>
            <a:off x="4443129" y="2884695"/>
            <a:ext cx="1618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400" dirty="0">
                <a:solidFill>
                  <a:schemeClr val="bg1"/>
                </a:solidFill>
              </a:rPr>
              <a:t>Humedad Relativa</a:t>
            </a:r>
          </a:p>
        </p:txBody>
      </p:sp>
      <p:sp>
        <p:nvSpPr>
          <p:cNvPr id="26" name="CuadroTexto 38">
            <a:extLst>
              <a:ext uri="{FF2B5EF4-FFF2-40B4-BE49-F238E27FC236}">
                <a16:creationId xmlns:a16="http://schemas.microsoft.com/office/drawing/2014/main" id="{E79B0A9A-8CEB-F996-215E-793A0D863FFA}"/>
              </a:ext>
            </a:extLst>
          </p:cNvPr>
          <p:cNvSpPr txBox="1"/>
          <p:nvPr/>
        </p:nvSpPr>
        <p:spPr>
          <a:xfrm>
            <a:off x="4492566" y="3286458"/>
            <a:ext cx="1158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400" dirty="0">
                <a:solidFill>
                  <a:schemeClr val="bg1"/>
                </a:solidFill>
              </a:rPr>
              <a:t>Temperatura</a:t>
            </a:r>
          </a:p>
        </p:txBody>
      </p:sp>
      <p:sp>
        <p:nvSpPr>
          <p:cNvPr id="27" name="Forma libre: forma 33">
            <a:extLst>
              <a:ext uri="{FF2B5EF4-FFF2-40B4-BE49-F238E27FC236}">
                <a16:creationId xmlns:a16="http://schemas.microsoft.com/office/drawing/2014/main" id="{7673909C-E6EF-960B-6307-BB55164968BA}"/>
              </a:ext>
            </a:extLst>
          </p:cNvPr>
          <p:cNvSpPr/>
          <p:nvPr/>
        </p:nvSpPr>
        <p:spPr>
          <a:xfrm>
            <a:off x="3018408" y="3577701"/>
            <a:ext cx="3799642" cy="1397850"/>
          </a:xfrm>
          <a:custGeom>
            <a:avLst/>
            <a:gdLst>
              <a:gd name="connsiteX0" fmla="*/ 3799642 w 3799642"/>
              <a:gd name="connsiteY0" fmla="*/ 1349406 h 1397850"/>
              <a:gd name="connsiteX1" fmla="*/ 1509204 w 3799642"/>
              <a:gd name="connsiteY1" fmla="*/ 1233996 h 1397850"/>
              <a:gd name="connsiteX2" fmla="*/ 0 w 3799642"/>
              <a:gd name="connsiteY2" fmla="*/ 0 h 1397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9642" h="1397850">
                <a:moveTo>
                  <a:pt x="3799642" y="1349406"/>
                </a:moveTo>
                <a:cubicBezTo>
                  <a:pt x="2971060" y="1404151"/>
                  <a:pt x="2142478" y="1458897"/>
                  <a:pt x="1509204" y="1233996"/>
                </a:cubicBezTo>
                <a:cubicBezTo>
                  <a:pt x="875930" y="1009095"/>
                  <a:pt x="437965" y="504547"/>
                  <a:pt x="0" y="0"/>
                </a:cubicBezTo>
              </a:path>
            </a:pathLst>
          </a:custGeom>
          <a:noFill/>
          <a:ln w="5715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Arco 35">
            <a:extLst>
              <a:ext uri="{FF2B5EF4-FFF2-40B4-BE49-F238E27FC236}">
                <a16:creationId xmlns:a16="http://schemas.microsoft.com/office/drawing/2014/main" id="{8F60802B-D156-207C-701C-ACB5EC2BD6B0}"/>
              </a:ext>
            </a:extLst>
          </p:cNvPr>
          <p:cNvSpPr/>
          <p:nvPr/>
        </p:nvSpPr>
        <p:spPr>
          <a:xfrm>
            <a:off x="10234623" y="5768744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Forma libre: forma 39">
            <a:extLst>
              <a:ext uri="{FF2B5EF4-FFF2-40B4-BE49-F238E27FC236}">
                <a16:creationId xmlns:a16="http://schemas.microsoft.com/office/drawing/2014/main" id="{D3F6E967-BE63-4E45-314D-A1468AA6BF7F}"/>
              </a:ext>
            </a:extLst>
          </p:cNvPr>
          <p:cNvSpPr/>
          <p:nvPr/>
        </p:nvSpPr>
        <p:spPr>
          <a:xfrm>
            <a:off x="4651899" y="3701988"/>
            <a:ext cx="5601810" cy="2272684"/>
          </a:xfrm>
          <a:custGeom>
            <a:avLst/>
            <a:gdLst>
              <a:gd name="connsiteX0" fmla="*/ 5601810 w 5601810"/>
              <a:gd name="connsiteY0" fmla="*/ 2272684 h 2272684"/>
              <a:gd name="connsiteX1" fmla="*/ 1864311 w 5601810"/>
              <a:gd name="connsiteY1" fmla="*/ 1597981 h 2272684"/>
              <a:gd name="connsiteX2" fmla="*/ 0 w 5601810"/>
              <a:gd name="connsiteY2" fmla="*/ 0 h 227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01810" h="2272684">
                <a:moveTo>
                  <a:pt x="5601810" y="2272684"/>
                </a:moveTo>
                <a:cubicBezTo>
                  <a:pt x="4199878" y="2124723"/>
                  <a:pt x="2797946" y="1976762"/>
                  <a:pt x="1864311" y="1597981"/>
                </a:cubicBezTo>
                <a:cubicBezTo>
                  <a:pt x="930676" y="1219200"/>
                  <a:pt x="465338" y="609600"/>
                  <a:pt x="0" y="0"/>
                </a:cubicBezTo>
              </a:path>
            </a:pathLst>
          </a:custGeom>
          <a:noFill/>
          <a:ln w="5715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Forma libre: forma 40">
            <a:extLst>
              <a:ext uri="{FF2B5EF4-FFF2-40B4-BE49-F238E27FC236}">
                <a16:creationId xmlns:a16="http://schemas.microsoft.com/office/drawing/2014/main" id="{31DCF0E2-B303-3B31-8DC1-2FDEC2FCBBBD}"/>
              </a:ext>
            </a:extLst>
          </p:cNvPr>
          <p:cNvSpPr/>
          <p:nvPr/>
        </p:nvSpPr>
        <p:spPr>
          <a:xfrm>
            <a:off x="1145219" y="1924555"/>
            <a:ext cx="5885896" cy="916299"/>
          </a:xfrm>
          <a:custGeom>
            <a:avLst/>
            <a:gdLst>
              <a:gd name="connsiteX0" fmla="*/ 5885896 w 5885896"/>
              <a:gd name="connsiteY0" fmla="*/ 99554 h 916299"/>
              <a:gd name="connsiteX1" fmla="*/ 2814222 w 5885896"/>
              <a:gd name="connsiteY1" fmla="*/ 72921 h 916299"/>
              <a:gd name="connsiteX2" fmla="*/ 0 w 5885896"/>
              <a:gd name="connsiteY2" fmla="*/ 916299 h 91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85896" h="916299">
                <a:moveTo>
                  <a:pt x="5885896" y="99554"/>
                </a:moveTo>
                <a:cubicBezTo>
                  <a:pt x="4840550" y="18175"/>
                  <a:pt x="3795204" y="-63203"/>
                  <a:pt x="2814222" y="72921"/>
                </a:cubicBezTo>
                <a:cubicBezTo>
                  <a:pt x="1833240" y="209045"/>
                  <a:pt x="916620" y="562672"/>
                  <a:pt x="0" y="916299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Forma libre: forma 41">
            <a:extLst>
              <a:ext uri="{FF2B5EF4-FFF2-40B4-BE49-F238E27FC236}">
                <a16:creationId xmlns:a16="http://schemas.microsoft.com/office/drawing/2014/main" id="{C8EF944C-4374-30F2-A485-6EB817A6C73C}"/>
              </a:ext>
            </a:extLst>
          </p:cNvPr>
          <p:cNvSpPr/>
          <p:nvPr/>
        </p:nvSpPr>
        <p:spPr>
          <a:xfrm>
            <a:off x="949911" y="2911876"/>
            <a:ext cx="8859914" cy="1411777"/>
          </a:xfrm>
          <a:custGeom>
            <a:avLst/>
            <a:gdLst>
              <a:gd name="connsiteX0" fmla="*/ 8859914 w 8859914"/>
              <a:gd name="connsiteY0" fmla="*/ 0 h 1411777"/>
              <a:gd name="connsiteX1" fmla="*/ 4935984 w 8859914"/>
              <a:gd name="connsiteY1" fmla="*/ 1189607 h 1411777"/>
              <a:gd name="connsiteX2" fmla="*/ 1091953 w 8859914"/>
              <a:gd name="connsiteY2" fmla="*/ 1376039 h 1411777"/>
              <a:gd name="connsiteX3" fmla="*/ 0 w 8859914"/>
              <a:gd name="connsiteY3" fmla="*/ 745724 h 1411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59914" h="1411777">
                <a:moveTo>
                  <a:pt x="8859914" y="0"/>
                </a:moveTo>
                <a:cubicBezTo>
                  <a:pt x="7545279" y="480133"/>
                  <a:pt x="6230644" y="960267"/>
                  <a:pt x="4935984" y="1189607"/>
                </a:cubicBezTo>
                <a:cubicBezTo>
                  <a:pt x="3641324" y="1418947"/>
                  <a:pt x="1914617" y="1450020"/>
                  <a:pt x="1091953" y="1376039"/>
                </a:cubicBezTo>
                <a:cubicBezTo>
                  <a:pt x="269289" y="1302059"/>
                  <a:pt x="134644" y="1023891"/>
                  <a:pt x="0" y="745724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2" name="Flecha: hacia abajo 42">
            <a:extLst>
              <a:ext uri="{FF2B5EF4-FFF2-40B4-BE49-F238E27FC236}">
                <a16:creationId xmlns:a16="http://schemas.microsoft.com/office/drawing/2014/main" id="{8799EF69-CCDE-AE43-5740-D3D591DA52EA}"/>
              </a:ext>
            </a:extLst>
          </p:cNvPr>
          <p:cNvSpPr/>
          <p:nvPr/>
        </p:nvSpPr>
        <p:spPr>
          <a:xfrm>
            <a:off x="2601157" y="4065973"/>
            <a:ext cx="323966" cy="721474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57F1B196-C2BD-9374-F0FA-FA76B7D6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163957"/>
            <a:ext cx="10515600" cy="732155"/>
          </a:xfrm>
        </p:spPr>
        <p:txBody>
          <a:bodyPr/>
          <a:lstStyle/>
          <a:p>
            <a:r>
              <a:rPr lang="es-ES" dirty="0"/>
              <a:t>Introducción al Control de Procesos</a:t>
            </a:r>
            <a:endParaRPr lang="es-CO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46DF724-7AE5-6A90-8F52-22C8496D6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896112"/>
            <a:ext cx="10515600" cy="506095"/>
          </a:xfrm>
        </p:spPr>
        <p:txBody>
          <a:bodyPr/>
          <a:lstStyle/>
          <a:p>
            <a:pPr marL="0" indent="0">
              <a:buNone/>
            </a:pPr>
            <a:r>
              <a:rPr lang="es-CO" dirty="0">
                <a:solidFill>
                  <a:schemeClr val="accent2"/>
                </a:solidFill>
              </a:rPr>
              <a:t>Sistema Multivariable</a:t>
            </a:r>
          </a:p>
        </p:txBody>
      </p:sp>
    </p:spTree>
    <p:extLst>
      <p:ext uri="{BB962C8B-B14F-4D97-AF65-F5344CB8AC3E}">
        <p14:creationId xmlns:p14="http://schemas.microsoft.com/office/powerpoint/2010/main" val="355377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 animBg="1"/>
      <p:bldP spid="14" grpId="0"/>
      <p:bldP spid="15" grpId="0"/>
      <p:bldP spid="16" grpId="0" animBg="1"/>
      <p:bldP spid="19" grpId="0"/>
      <p:bldP spid="20" grpId="0"/>
      <p:bldP spid="23" grpId="0"/>
      <p:bldP spid="24" grpId="0"/>
      <p:bldP spid="25" grpId="0"/>
      <p:bldP spid="26" grpId="0"/>
      <p:bldP spid="27" grpId="0" animBg="1"/>
      <p:bldP spid="27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6644-B4C9-0576-08E1-198F0702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2B0C6BD-9547-DA4B-DEAF-0BAA73B3F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>
            <a:normAutofit fontScale="85000" lnSpcReduction="20000"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Sistemas/modelos lineales: </a:t>
            </a:r>
            <a:r>
              <a:rPr lang="es-419" dirty="0">
                <a:solidFill>
                  <a:schemeClr val="bg1"/>
                </a:solidFill>
              </a:rPr>
              <a:t>Cumplen el principio de superposición y homogeneidad.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A6AEED-B854-36C8-64FC-7F86F6AD5046}"/>
              </a:ext>
            </a:extLst>
          </p:cNvPr>
          <p:cNvSpPr/>
          <p:nvPr/>
        </p:nvSpPr>
        <p:spPr>
          <a:xfrm>
            <a:off x="2958216" y="2573712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A8FF4A4-8812-B1E7-4C54-ED3A336369A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126379" y="293444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5B53170-9659-B298-27BC-0BACF104CAD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414154" y="293444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9">
            <a:extLst>
              <a:ext uri="{FF2B5EF4-FFF2-40B4-BE49-F238E27FC236}">
                <a16:creationId xmlns:a16="http://schemas.microsoft.com/office/drawing/2014/main" id="{866A2B45-0AB8-1E2B-76A6-8E33556D444B}"/>
              </a:ext>
            </a:extLst>
          </p:cNvPr>
          <p:cNvSpPr/>
          <p:nvPr/>
        </p:nvSpPr>
        <p:spPr>
          <a:xfrm>
            <a:off x="7265716" y="2565117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73E39EC2-5978-324F-D85C-32240DB66945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433879" y="2925854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11">
            <a:extLst>
              <a:ext uri="{FF2B5EF4-FFF2-40B4-BE49-F238E27FC236}">
                <a16:creationId xmlns:a16="http://schemas.microsoft.com/office/drawing/2014/main" id="{A0B42C72-42C8-F555-545A-E12B18D9D18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721654" y="2925854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4">
            <a:extLst>
              <a:ext uri="{FF2B5EF4-FFF2-40B4-BE49-F238E27FC236}">
                <a16:creationId xmlns:a16="http://schemas.microsoft.com/office/drawing/2014/main" id="{36A80093-ABB6-DBDD-26A5-DD779287649F}"/>
              </a:ext>
            </a:extLst>
          </p:cNvPr>
          <p:cNvSpPr/>
          <p:nvPr/>
        </p:nvSpPr>
        <p:spPr>
          <a:xfrm>
            <a:off x="2405392" y="4156012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12" name="Conector recto de flecha 15">
            <a:extLst>
              <a:ext uri="{FF2B5EF4-FFF2-40B4-BE49-F238E27FC236}">
                <a16:creationId xmlns:a16="http://schemas.microsoft.com/office/drawing/2014/main" id="{E2F3DA56-6D64-EF2F-E143-3DBC75F9FA0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573555" y="451674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6">
            <a:extLst>
              <a:ext uri="{FF2B5EF4-FFF2-40B4-BE49-F238E27FC236}">
                <a16:creationId xmlns:a16="http://schemas.microsoft.com/office/drawing/2014/main" id="{FD539F0B-BFE4-F26E-6DB7-D3AA7D0EAC1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861330" y="451674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9">
            <a:extLst>
              <a:ext uri="{FF2B5EF4-FFF2-40B4-BE49-F238E27FC236}">
                <a16:creationId xmlns:a16="http://schemas.microsoft.com/office/drawing/2014/main" id="{6B6F637C-DD2A-2795-8BF1-D4CF1A776F7B}"/>
              </a:ext>
            </a:extLst>
          </p:cNvPr>
          <p:cNvSpPr/>
          <p:nvPr/>
        </p:nvSpPr>
        <p:spPr>
          <a:xfrm>
            <a:off x="7265716" y="4656994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15" name="Conector recto de flecha 20">
            <a:extLst>
              <a:ext uri="{FF2B5EF4-FFF2-40B4-BE49-F238E27FC236}">
                <a16:creationId xmlns:a16="http://schemas.microsoft.com/office/drawing/2014/main" id="{12C78E3C-2CCA-7A4F-21E5-10EA16FAB44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433879" y="5017731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21">
            <a:extLst>
              <a:ext uri="{FF2B5EF4-FFF2-40B4-BE49-F238E27FC236}">
                <a16:creationId xmlns:a16="http://schemas.microsoft.com/office/drawing/2014/main" id="{C7DF8A14-EF4A-0DEA-D622-7614D66A7770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721654" y="5017731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24">
            <a:extLst>
              <a:ext uri="{FF2B5EF4-FFF2-40B4-BE49-F238E27FC236}">
                <a16:creationId xmlns:a16="http://schemas.microsoft.com/office/drawing/2014/main" id="{6F3E252B-7DAA-2792-7D7A-0BF6291E4AF6}"/>
              </a:ext>
            </a:extLst>
          </p:cNvPr>
          <p:cNvSpPr/>
          <p:nvPr/>
        </p:nvSpPr>
        <p:spPr>
          <a:xfrm>
            <a:off x="2405392" y="5238221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18" name="Conector recto de flecha 25">
            <a:extLst>
              <a:ext uri="{FF2B5EF4-FFF2-40B4-BE49-F238E27FC236}">
                <a16:creationId xmlns:a16="http://schemas.microsoft.com/office/drawing/2014/main" id="{F94EF03D-E8B2-3405-0DC3-A93C1BC88B2E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573555" y="5598958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26">
            <a:extLst>
              <a:ext uri="{FF2B5EF4-FFF2-40B4-BE49-F238E27FC236}">
                <a16:creationId xmlns:a16="http://schemas.microsoft.com/office/drawing/2014/main" id="{63D8293F-D5A3-421A-EE08-EB10B9F0AD81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861330" y="5598958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29">
                <a:extLst>
                  <a:ext uri="{FF2B5EF4-FFF2-40B4-BE49-F238E27FC236}">
                    <a16:creationId xmlns:a16="http://schemas.microsoft.com/office/drawing/2014/main" id="{D277250F-A31E-4E04-7810-9D2A09A2D7B7}"/>
                  </a:ext>
                </a:extLst>
              </p:cNvPr>
              <p:cNvSpPr txBox="1"/>
              <p:nvPr/>
            </p:nvSpPr>
            <p:spPr>
              <a:xfrm>
                <a:off x="2127380" y="3067637"/>
                <a:ext cx="191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uadroTexto 29">
                <a:extLst>
                  <a:ext uri="{FF2B5EF4-FFF2-40B4-BE49-F238E27FC236}">
                    <a16:creationId xmlns:a16="http://schemas.microsoft.com/office/drawing/2014/main" id="{D277250F-A31E-4E04-7810-9D2A09A2D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380" y="3067637"/>
                <a:ext cx="191784" cy="276999"/>
              </a:xfrm>
              <a:prstGeom prst="rect">
                <a:avLst/>
              </a:prstGeom>
              <a:blipFill>
                <a:blip r:embed="rId2"/>
                <a:stretch>
                  <a:fillRect l="-19355" r="-161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30">
                <a:extLst>
                  <a:ext uri="{FF2B5EF4-FFF2-40B4-BE49-F238E27FC236}">
                    <a16:creationId xmlns:a16="http://schemas.microsoft.com/office/drawing/2014/main" id="{70EDAD58-DDD4-FF77-5CB4-8AC61FD7C02C}"/>
                  </a:ext>
                </a:extLst>
              </p:cNvPr>
              <p:cNvSpPr txBox="1"/>
              <p:nvPr/>
            </p:nvSpPr>
            <p:spPr>
              <a:xfrm>
                <a:off x="4884725" y="3018187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30">
                <a:extLst>
                  <a:ext uri="{FF2B5EF4-FFF2-40B4-BE49-F238E27FC236}">
                    <a16:creationId xmlns:a16="http://schemas.microsoft.com/office/drawing/2014/main" id="{70EDAD58-DDD4-FF77-5CB4-8AC61FD7C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725" y="3018187"/>
                <a:ext cx="180306" cy="276999"/>
              </a:xfrm>
              <a:prstGeom prst="rect">
                <a:avLst/>
              </a:prstGeom>
              <a:blipFill>
                <a:blip r:embed="rId3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31">
            <a:extLst>
              <a:ext uri="{FF2B5EF4-FFF2-40B4-BE49-F238E27FC236}">
                <a16:creationId xmlns:a16="http://schemas.microsoft.com/office/drawing/2014/main" id="{EE10D639-8B20-3A87-4217-E5621C93C87F}"/>
              </a:ext>
            </a:extLst>
          </p:cNvPr>
          <p:cNvSpPr txBox="1"/>
          <p:nvPr/>
        </p:nvSpPr>
        <p:spPr>
          <a:xfrm>
            <a:off x="9902283" y="2917259"/>
            <a:ext cx="1452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accent4"/>
                </a:solidFill>
              </a:rPr>
              <a:t>Homogéneo </a:t>
            </a:r>
          </a:p>
        </p:txBody>
      </p:sp>
      <p:sp>
        <p:nvSpPr>
          <p:cNvPr id="23" name="CuadroTexto 32">
            <a:extLst>
              <a:ext uri="{FF2B5EF4-FFF2-40B4-BE49-F238E27FC236}">
                <a16:creationId xmlns:a16="http://schemas.microsoft.com/office/drawing/2014/main" id="{2E2247AC-E340-5235-5490-E7C00D678D9C}"/>
              </a:ext>
            </a:extLst>
          </p:cNvPr>
          <p:cNvSpPr txBox="1"/>
          <p:nvPr/>
        </p:nvSpPr>
        <p:spPr>
          <a:xfrm>
            <a:off x="9902282" y="4899851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accent4"/>
                </a:solidFill>
              </a:rPr>
              <a:t>Superposición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33">
                <a:extLst>
                  <a:ext uri="{FF2B5EF4-FFF2-40B4-BE49-F238E27FC236}">
                    <a16:creationId xmlns:a16="http://schemas.microsoft.com/office/drawing/2014/main" id="{7112B5EF-58CA-B1E2-ECF5-AA543D59A015}"/>
                  </a:ext>
                </a:extLst>
              </p:cNvPr>
              <p:cNvSpPr txBox="1"/>
              <p:nvPr/>
            </p:nvSpPr>
            <p:spPr>
              <a:xfrm>
                <a:off x="8974554" y="3083880"/>
                <a:ext cx="332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uadroTexto 33">
                <a:extLst>
                  <a:ext uri="{FF2B5EF4-FFF2-40B4-BE49-F238E27FC236}">
                    <a16:creationId xmlns:a16="http://schemas.microsoft.com/office/drawing/2014/main" id="{7112B5EF-58CA-B1E2-ECF5-AA543D59A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554" y="3083880"/>
                <a:ext cx="332592" cy="276999"/>
              </a:xfrm>
              <a:prstGeom prst="rect">
                <a:avLst/>
              </a:prstGeom>
              <a:blipFill>
                <a:blip r:embed="rId4"/>
                <a:stretch>
                  <a:fillRect l="-23636" r="-21818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34">
                <a:extLst>
                  <a:ext uri="{FF2B5EF4-FFF2-40B4-BE49-F238E27FC236}">
                    <a16:creationId xmlns:a16="http://schemas.microsoft.com/office/drawing/2014/main" id="{7B9BE8F5-11DE-79EC-76F0-0024CBAC7693}"/>
                  </a:ext>
                </a:extLst>
              </p:cNvPr>
              <p:cNvSpPr txBox="1"/>
              <p:nvPr/>
            </p:nvSpPr>
            <p:spPr>
              <a:xfrm>
                <a:off x="6532949" y="3090531"/>
                <a:ext cx="3376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uadroTexto 34">
                <a:extLst>
                  <a:ext uri="{FF2B5EF4-FFF2-40B4-BE49-F238E27FC236}">
                    <a16:creationId xmlns:a16="http://schemas.microsoft.com/office/drawing/2014/main" id="{7B9BE8F5-11DE-79EC-76F0-0024CBAC7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949" y="3090531"/>
                <a:ext cx="337657" cy="276999"/>
              </a:xfrm>
              <a:prstGeom prst="rect">
                <a:avLst/>
              </a:prstGeom>
              <a:blipFill>
                <a:blip r:embed="rId5"/>
                <a:stretch>
                  <a:fillRect l="-18182" r="-14545" b="-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35">
                <a:extLst>
                  <a:ext uri="{FF2B5EF4-FFF2-40B4-BE49-F238E27FC236}">
                    <a16:creationId xmlns:a16="http://schemas.microsoft.com/office/drawing/2014/main" id="{A8D533D3-30E0-8EB3-2D61-AC95FC43F4CE}"/>
                  </a:ext>
                </a:extLst>
              </p:cNvPr>
              <p:cNvSpPr txBox="1"/>
              <p:nvPr/>
            </p:nvSpPr>
            <p:spPr>
              <a:xfrm>
                <a:off x="1477663" y="4588559"/>
                <a:ext cx="2879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uadroTexto 35">
                <a:extLst>
                  <a:ext uri="{FF2B5EF4-FFF2-40B4-BE49-F238E27FC236}">
                    <a16:creationId xmlns:a16="http://schemas.microsoft.com/office/drawing/2014/main" id="{A8D533D3-30E0-8EB3-2D61-AC95FC43F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663" y="4588559"/>
                <a:ext cx="287964" cy="276999"/>
              </a:xfrm>
              <a:prstGeom prst="rect">
                <a:avLst/>
              </a:prstGeom>
              <a:blipFill>
                <a:blip r:embed="rId6"/>
                <a:stretch>
                  <a:fillRect l="-12500" r="-4167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36">
                <a:extLst>
                  <a:ext uri="{FF2B5EF4-FFF2-40B4-BE49-F238E27FC236}">
                    <a16:creationId xmlns:a16="http://schemas.microsoft.com/office/drawing/2014/main" id="{4A12F87D-FA8D-815D-8D62-6776E82F6850}"/>
                  </a:ext>
                </a:extLst>
              </p:cNvPr>
              <p:cNvSpPr txBox="1"/>
              <p:nvPr/>
            </p:nvSpPr>
            <p:spPr>
              <a:xfrm>
                <a:off x="1477663" y="5682696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uadroTexto 36">
                <a:extLst>
                  <a:ext uri="{FF2B5EF4-FFF2-40B4-BE49-F238E27FC236}">
                    <a16:creationId xmlns:a16="http://schemas.microsoft.com/office/drawing/2014/main" id="{4A12F87D-FA8D-815D-8D62-6776E82F6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663" y="5682696"/>
                <a:ext cx="293285" cy="276999"/>
              </a:xfrm>
              <a:prstGeom prst="rect">
                <a:avLst/>
              </a:prstGeom>
              <a:blipFill>
                <a:blip r:embed="rId7"/>
                <a:stretch>
                  <a:fillRect l="-12245" r="-4082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37">
                <a:extLst>
                  <a:ext uri="{FF2B5EF4-FFF2-40B4-BE49-F238E27FC236}">
                    <a16:creationId xmlns:a16="http://schemas.microsoft.com/office/drawing/2014/main" id="{56667C82-7904-32BA-E002-4F64338E178D}"/>
                  </a:ext>
                </a:extLst>
              </p:cNvPr>
              <p:cNvSpPr txBox="1"/>
              <p:nvPr/>
            </p:nvSpPr>
            <p:spPr>
              <a:xfrm>
                <a:off x="4277248" y="4600486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CuadroTexto 37">
                <a:extLst>
                  <a:ext uri="{FF2B5EF4-FFF2-40B4-BE49-F238E27FC236}">
                    <a16:creationId xmlns:a16="http://schemas.microsoft.com/office/drawing/2014/main" id="{56667C82-7904-32BA-E002-4F64338E1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248" y="4600486"/>
                <a:ext cx="277768" cy="276999"/>
              </a:xfrm>
              <a:prstGeom prst="rect">
                <a:avLst/>
              </a:prstGeom>
              <a:blipFill>
                <a:blip r:embed="rId8"/>
                <a:stretch>
                  <a:fillRect l="-22222" r="-6667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38">
                <a:extLst>
                  <a:ext uri="{FF2B5EF4-FFF2-40B4-BE49-F238E27FC236}">
                    <a16:creationId xmlns:a16="http://schemas.microsoft.com/office/drawing/2014/main" id="{A44B359D-4B62-2E13-665F-D350363BA39A}"/>
                  </a:ext>
                </a:extLst>
              </p:cNvPr>
              <p:cNvSpPr txBox="1"/>
              <p:nvPr/>
            </p:nvSpPr>
            <p:spPr>
              <a:xfrm>
                <a:off x="4275270" y="5746679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uadroTexto 38">
                <a:extLst>
                  <a:ext uri="{FF2B5EF4-FFF2-40B4-BE49-F238E27FC236}">
                    <a16:creationId xmlns:a16="http://schemas.microsoft.com/office/drawing/2014/main" id="{A44B359D-4B62-2E13-665F-D350363BA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270" y="5746679"/>
                <a:ext cx="283091" cy="276999"/>
              </a:xfrm>
              <a:prstGeom prst="rect">
                <a:avLst/>
              </a:prstGeom>
              <a:blipFill>
                <a:blip r:embed="rId9"/>
                <a:stretch>
                  <a:fillRect l="-21277" r="-4255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39">
                <a:extLst>
                  <a:ext uri="{FF2B5EF4-FFF2-40B4-BE49-F238E27FC236}">
                    <a16:creationId xmlns:a16="http://schemas.microsoft.com/office/drawing/2014/main" id="{BD688D9C-1D6C-AA9F-982A-6AD02724522F}"/>
                  </a:ext>
                </a:extLst>
              </p:cNvPr>
              <p:cNvSpPr txBox="1"/>
              <p:nvPr/>
            </p:nvSpPr>
            <p:spPr>
              <a:xfrm>
                <a:off x="8749378" y="4569770"/>
                <a:ext cx="834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uadroTexto 39">
                <a:extLst>
                  <a:ext uri="{FF2B5EF4-FFF2-40B4-BE49-F238E27FC236}">
                    <a16:creationId xmlns:a16="http://schemas.microsoft.com/office/drawing/2014/main" id="{BD688D9C-1D6C-AA9F-982A-6AD027245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378" y="4569770"/>
                <a:ext cx="834972" cy="276999"/>
              </a:xfrm>
              <a:prstGeom prst="rect">
                <a:avLst/>
              </a:prstGeom>
              <a:blipFill>
                <a:blip r:embed="rId10"/>
                <a:stretch>
                  <a:fillRect l="-6569" r="-1460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40">
                <a:extLst>
                  <a:ext uri="{FF2B5EF4-FFF2-40B4-BE49-F238E27FC236}">
                    <a16:creationId xmlns:a16="http://schemas.microsoft.com/office/drawing/2014/main" id="{1C55B824-7065-A826-69CF-9DDD54966F94}"/>
                  </a:ext>
                </a:extLst>
              </p:cNvPr>
              <p:cNvSpPr txBox="1"/>
              <p:nvPr/>
            </p:nvSpPr>
            <p:spPr>
              <a:xfrm>
                <a:off x="6236189" y="4618001"/>
                <a:ext cx="8553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uadroTexto 40">
                <a:extLst>
                  <a:ext uri="{FF2B5EF4-FFF2-40B4-BE49-F238E27FC236}">
                    <a16:creationId xmlns:a16="http://schemas.microsoft.com/office/drawing/2014/main" id="{1C55B824-7065-A826-69CF-9DDD54966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189" y="4618001"/>
                <a:ext cx="855362" cy="276999"/>
              </a:xfrm>
              <a:prstGeom prst="rect">
                <a:avLst/>
              </a:prstGeom>
              <a:blipFill>
                <a:blip r:embed="rId11"/>
                <a:stretch>
                  <a:fillRect l="-3571" r="-2143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lecha: a la derecha 41">
            <a:extLst>
              <a:ext uri="{FF2B5EF4-FFF2-40B4-BE49-F238E27FC236}">
                <a16:creationId xmlns:a16="http://schemas.microsoft.com/office/drawing/2014/main" id="{06834D93-1CE6-6B2F-CA1B-7416E6B062FC}"/>
              </a:ext>
            </a:extLst>
          </p:cNvPr>
          <p:cNvSpPr/>
          <p:nvPr/>
        </p:nvSpPr>
        <p:spPr>
          <a:xfrm>
            <a:off x="5575610" y="2720898"/>
            <a:ext cx="416356" cy="458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33" name="Flecha: a la derecha 42">
            <a:extLst>
              <a:ext uri="{FF2B5EF4-FFF2-40B4-BE49-F238E27FC236}">
                <a16:creationId xmlns:a16="http://schemas.microsoft.com/office/drawing/2014/main" id="{41AA46EE-22E4-688F-D34B-3DBBA8B0B1E7}"/>
              </a:ext>
            </a:extLst>
          </p:cNvPr>
          <p:cNvSpPr/>
          <p:nvPr/>
        </p:nvSpPr>
        <p:spPr>
          <a:xfrm>
            <a:off x="5366923" y="4779710"/>
            <a:ext cx="416356" cy="458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34" name="CuadroTexto 43">
            <a:extLst>
              <a:ext uri="{FF2B5EF4-FFF2-40B4-BE49-F238E27FC236}">
                <a16:creationId xmlns:a16="http://schemas.microsoft.com/office/drawing/2014/main" id="{82C01965-5264-9623-0ACD-5931CCC476C5}"/>
              </a:ext>
            </a:extLst>
          </p:cNvPr>
          <p:cNvSpPr txBox="1"/>
          <p:nvPr/>
        </p:nvSpPr>
        <p:spPr>
          <a:xfrm>
            <a:off x="7265716" y="3534931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A= Constante</a:t>
            </a:r>
          </a:p>
        </p:txBody>
      </p:sp>
    </p:spTree>
    <p:extLst>
      <p:ext uri="{BB962C8B-B14F-4D97-AF65-F5344CB8AC3E}">
        <p14:creationId xmlns:p14="http://schemas.microsoft.com/office/powerpoint/2010/main" val="6420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8" grpId="0" animBg="1"/>
      <p:bldP spid="11" grpId="0" animBg="1"/>
      <p:bldP spid="14" grpId="0" animBg="1"/>
      <p:bldP spid="17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72CB-A66C-1C6B-854E-4639F8C4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93B262B-ED05-8699-A897-DEBA288D6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>
                <a:solidFill>
                  <a:schemeClr val="bg1"/>
                </a:solidFill>
              </a:rPr>
              <a:t>Ejemplo 1</a:t>
            </a:r>
            <a:endParaRPr lang="es-419" dirty="0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95680B-D6C6-05AB-3919-6BDEC3A37DE2}"/>
              </a:ext>
            </a:extLst>
          </p:cNvPr>
          <p:cNvSpPr/>
          <p:nvPr/>
        </p:nvSpPr>
        <p:spPr>
          <a:xfrm>
            <a:off x="4240606" y="2134573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F54330A-B600-6759-6810-0BFE298BB6A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408769" y="249531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2CBB9C8-2847-401E-D21E-58F842E709B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696544" y="249531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29">
                <a:extLst>
                  <a:ext uri="{FF2B5EF4-FFF2-40B4-BE49-F238E27FC236}">
                    <a16:creationId xmlns:a16="http://schemas.microsoft.com/office/drawing/2014/main" id="{95D372F8-2E3A-F100-136F-1C2F3CDE071E}"/>
                  </a:ext>
                </a:extLst>
              </p:cNvPr>
              <p:cNvSpPr txBox="1"/>
              <p:nvPr/>
            </p:nvSpPr>
            <p:spPr>
              <a:xfrm>
                <a:off x="3409770" y="2628498"/>
                <a:ext cx="191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29">
                <a:extLst>
                  <a:ext uri="{FF2B5EF4-FFF2-40B4-BE49-F238E27FC236}">
                    <a16:creationId xmlns:a16="http://schemas.microsoft.com/office/drawing/2014/main" id="{95D372F8-2E3A-F100-136F-1C2F3CDE0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770" y="2628498"/>
                <a:ext cx="191784" cy="276999"/>
              </a:xfrm>
              <a:prstGeom prst="rect">
                <a:avLst/>
              </a:prstGeom>
              <a:blipFill>
                <a:blip r:embed="rId5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30">
                <a:extLst>
                  <a:ext uri="{FF2B5EF4-FFF2-40B4-BE49-F238E27FC236}">
                    <a16:creationId xmlns:a16="http://schemas.microsoft.com/office/drawing/2014/main" id="{E690C2CA-6642-3AC5-E430-7E850A730DC7}"/>
                  </a:ext>
                </a:extLst>
              </p:cNvPr>
              <p:cNvSpPr txBox="1"/>
              <p:nvPr/>
            </p:nvSpPr>
            <p:spPr>
              <a:xfrm>
                <a:off x="5887749" y="2579048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uadroTexto 30">
                <a:extLst>
                  <a:ext uri="{FF2B5EF4-FFF2-40B4-BE49-F238E27FC236}">
                    <a16:creationId xmlns:a16="http://schemas.microsoft.com/office/drawing/2014/main" id="{E690C2CA-6642-3AC5-E430-7E850A73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749" y="2579048"/>
                <a:ext cx="180306" cy="276999"/>
              </a:xfrm>
              <a:prstGeom prst="rect">
                <a:avLst/>
              </a:prstGeom>
              <a:blipFill>
                <a:blip r:embed="rId6"/>
                <a:stretch>
                  <a:fillRect l="-34483" r="-34483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: a la derecha 41">
            <a:extLst>
              <a:ext uri="{FF2B5EF4-FFF2-40B4-BE49-F238E27FC236}">
                <a16:creationId xmlns:a16="http://schemas.microsoft.com/office/drawing/2014/main" id="{E66657F0-818A-1AB7-D890-EC7FA434DF3E}"/>
              </a:ext>
            </a:extLst>
          </p:cNvPr>
          <p:cNvSpPr/>
          <p:nvPr/>
        </p:nvSpPr>
        <p:spPr>
          <a:xfrm>
            <a:off x="6858000" y="2281759"/>
            <a:ext cx="416356" cy="458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11" name="CuadroTexto 7">
            <a:extLst>
              <a:ext uri="{FF2B5EF4-FFF2-40B4-BE49-F238E27FC236}">
                <a16:creationId xmlns:a16="http://schemas.microsoft.com/office/drawing/2014/main" id="{909104C5-4C54-7E6E-3B95-768C74178E4C}"/>
              </a:ext>
            </a:extLst>
          </p:cNvPr>
          <p:cNvSpPr txBox="1"/>
          <p:nvPr/>
        </p:nvSpPr>
        <p:spPr>
          <a:xfrm>
            <a:off x="4510885" y="1806365"/>
            <a:ext cx="99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Sistema</a:t>
            </a:r>
          </a:p>
        </p:txBody>
      </p:sp>
      <p:pic>
        <p:nvPicPr>
          <p:cNvPr id="12" name="Imagen 12">
            <a:extLst>
              <a:ext uri="{FF2B5EF4-FFF2-40B4-BE49-F238E27FC236}">
                <a16:creationId xmlns:a16="http://schemas.microsoft.com/office/drawing/2014/main" id="{C3022EA4-E9F8-68CE-6F30-D0DA899594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34" y="2409069"/>
            <a:ext cx="856381" cy="219429"/>
          </a:xfrm>
          <a:prstGeom prst="rect">
            <a:avLst/>
          </a:prstGeom>
        </p:spPr>
      </p:pic>
      <p:sp>
        <p:nvSpPr>
          <p:cNvPr id="13" name="Rectángulo 8">
            <a:extLst>
              <a:ext uri="{FF2B5EF4-FFF2-40B4-BE49-F238E27FC236}">
                <a16:creationId xmlns:a16="http://schemas.microsoft.com/office/drawing/2014/main" id="{79819E9F-61E0-3CB1-F26E-872BF88202E2}"/>
              </a:ext>
            </a:extLst>
          </p:cNvPr>
          <p:cNvSpPr/>
          <p:nvPr/>
        </p:nvSpPr>
        <p:spPr>
          <a:xfrm>
            <a:off x="576118" y="3059668"/>
            <a:ext cx="1689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superposición</a:t>
            </a:r>
          </a:p>
        </p:txBody>
      </p:sp>
      <p:sp>
        <p:nvSpPr>
          <p:cNvPr id="14" name="Rectángulo 21">
            <a:extLst>
              <a:ext uri="{FF2B5EF4-FFF2-40B4-BE49-F238E27FC236}">
                <a16:creationId xmlns:a16="http://schemas.microsoft.com/office/drawing/2014/main" id="{A77FCD27-142A-D5F7-A477-BF12418F85AE}"/>
              </a:ext>
            </a:extLst>
          </p:cNvPr>
          <p:cNvSpPr/>
          <p:nvPr/>
        </p:nvSpPr>
        <p:spPr>
          <a:xfrm>
            <a:off x="1569842" y="3798063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5" name="Conector recto de flecha 22">
            <a:extLst>
              <a:ext uri="{FF2B5EF4-FFF2-40B4-BE49-F238E27FC236}">
                <a16:creationId xmlns:a16="http://schemas.microsoft.com/office/drawing/2014/main" id="{6B07CB93-6293-1C3C-B92D-6657863175B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38005" y="415880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24">
            <a:extLst>
              <a:ext uri="{FF2B5EF4-FFF2-40B4-BE49-F238E27FC236}">
                <a16:creationId xmlns:a16="http://schemas.microsoft.com/office/drawing/2014/main" id="{3741F26F-D790-618D-B8FA-608AE633170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025780" y="415880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25">
                <a:extLst>
                  <a:ext uri="{FF2B5EF4-FFF2-40B4-BE49-F238E27FC236}">
                    <a16:creationId xmlns:a16="http://schemas.microsoft.com/office/drawing/2014/main" id="{29AF9DAE-E5F9-14D3-D172-14A84736C53B}"/>
                  </a:ext>
                </a:extLst>
              </p:cNvPr>
              <p:cNvSpPr txBox="1"/>
              <p:nvPr/>
            </p:nvSpPr>
            <p:spPr>
              <a:xfrm>
                <a:off x="739006" y="4291988"/>
                <a:ext cx="7175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uadroTexto 25">
                <a:extLst>
                  <a:ext uri="{FF2B5EF4-FFF2-40B4-BE49-F238E27FC236}">
                    <a16:creationId xmlns:a16="http://schemas.microsoft.com/office/drawing/2014/main" id="{29AF9DAE-E5F9-14D3-D172-14A84736C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06" y="4291988"/>
                <a:ext cx="717569" cy="276999"/>
              </a:xfrm>
              <a:prstGeom prst="rect">
                <a:avLst/>
              </a:prstGeom>
              <a:blipFill>
                <a:blip r:embed="rId8"/>
                <a:stretch>
                  <a:fillRect l="-4237" r="-7627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26">
                <a:extLst>
                  <a:ext uri="{FF2B5EF4-FFF2-40B4-BE49-F238E27FC236}">
                    <a16:creationId xmlns:a16="http://schemas.microsoft.com/office/drawing/2014/main" id="{D10F2A29-E003-1075-AC22-5476535E8865}"/>
                  </a:ext>
                </a:extLst>
              </p:cNvPr>
              <p:cNvSpPr txBox="1"/>
              <p:nvPr/>
            </p:nvSpPr>
            <p:spPr>
              <a:xfrm>
                <a:off x="3216985" y="4242538"/>
                <a:ext cx="8356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uadroTexto 26">
                <a:extLst>
                  <a:ext uri="{FF2B5EF4-FFF2-40B4-BE49-F238E27FC236}">
                    <a16:creationId xmlns:a16="http://schemas.microsoft.com/office/drawing/2014/main" id="{D10F2A29-E003-1075-AC22-5476535E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985" y="4242538"/>
                <a:ext cx="835613" cy="276999"/>
              </a:xfrm>
              <a:prstGeom prst="rect">
                <a:avLst/>
              </a:prstGeom>
              <a:blipFill>
                <a:blip r:embed="rId9"/>
                <a:stretch>
                  <a:fillRect l="-6569" r="-5839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27">
            <a:extLst>
              <a:ext uri="{FF2B5EF4-FFF2-40B4-BE49-F238E27FC236}">
                <a16:creationId xmlns:a16="http://schemas.microsoft.com/office/drawing/2014/main" id="{64F3D7DB-F973-778D-75F5-5BB1822B95A8}"/>
              </a:ext>
            </a:extLst>
          </p:cNvPr>
          <p:cNvSpPr txBox="1"/>
          <p:nvPr/>
        </p:nvSpPr>
        <p:spPr>
          <a:xfrm>
            <a:off x="1840121" y="3469855"/>
            <a:ext cx="99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Sistema</a:t>
            </a:r>
          </a:p>
        </p:txBody>
      </p:sp>
      <p:sp>
        <p:nvSpPr>
          <p:cNvPr id="20" name="Rectángulo 28">
            <a:extLst>
              <a:ext uri="{FF2B5EF4-FFF2-40B4-BE49-F238E27FC236}">
                <a16:creationId xmlns:a16="http://schemas.microsoft.com/office/drawing/2014/main" id="{F8DCCC17-FB28-04EA-A930-CDF79BD721B4}"/>
              </a:ext>
            </a:extLst>
          </p:cNvPr>
          <p:cNvSpPr/>
          <p:nvPr/>
        </p:nvSpPr>
        <p:spPr>
          <a:xfrm>
            <a:off x="1503104" y="5092489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21" name="Conector recto de flecha 31">
            <a:extLst>
              <a:ext uri="{FF2B5EF4-FFF2-40B4-BE49-F238E27FC236}">
                <a16:creationId xmlns:a16="http://schemas.microsoft.com/office/drawing/2014/main" id="{BDE4734F-8578-1DA5-421F-4CC0265E40E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71267" y="5453226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32">
            <a:extLst>
              <a:ext uri="{FF2B5EF4-FFF2-40B4-BE49-F238E27FC236}">
                <a16:creationId xmlns:a16="http://schemas.microsoft.com/office/drawing/2014/main" id="{3BDCE25C-03E6-185E-76D5-581566EE4BA1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2959042" y="5453226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33">
                <a:extLst>
                  <a:ext uri="{FF2B5EF4-FFF2-40B4-BE49-F238E27FC236}">
                    <a16:creationId xmlns:a16="http://schemas.microsoft.com/office/drawing/2014/main" id="{54321157-DD25-03CD-C12C-1B207C3B4191}"/>
                  </a:ext>
                </a:extLst>
              </p:cNvPr>
              <p:cNvSpPr txBox="1"/>
              <p:nvPr/>
            </p:nvSpPr>
            <p:spPr>
              <a:xfrm>
                <a:off x="672268" y="5586414"/>
                <a:ext cx="7228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uadroTexto 33">
                <a:extLst>
                  <a:ext uri="{FF2B5EF4-FFF2-40B4-BE49-F238E27FC236}">
                    <a16:creationId xmlns:a16="http://schemas.microsoft.com/office/drawing/2014/main" id="{54321157-DD25-03CD-C12C-1B207C3B4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68" y="5586414"/>
                <a:ext cx="722890" cy="276999"/>
              </a:xfrm>
              <a:prstGeom prst="rect">
                <a:avLst/>
              </a:prstGeom>
              <a:blipFill>
                <a:blip r:embed="rId10"/>
                <a:stretch>
                  <a:fillRect l="-4202" r="-7563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34">
                <a:extLst>
                  <a:ext uri="{FF2B5EF4-FFF2-40B4-BE49-F238E27FC236}">
                    <a16:creationId xmlns:a16="http://schemas.microsoft.com/office/drawing/2014/main" id="{A242E7BE-FCAF-B418-110B-B2A461251A00}"/>
                  </a:ext>
                </a:extLst>
              </p:cNvPr>
              <p:cNvSpPr txBox="1"/>
              <p:nvPr/>
            </p:nvSpPr>
            <p:spPr>
              <a:xfrm>
                <a:off x="3150247" y="5536964"/>
                <a:ext cx="840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uadroTexto 34">
                <a:extLst>
                  <a:ext uri="{FF2B5EF4-FFF2-40B4-BE49-F238E27FC236}">
                    <a16:creationId xmlns:a16="http://schemas.microsoft.com/office/drawing/2014/main" id="{A242E7BE-FCAF-B418-110B-B2A461251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247" y="5536964"/>
                <a:ext cx="840936" cy="276999"/>
              </a:xfrm>
              <a:prstGeom prst="rect">
                <a:avLst/>
              </a:prstGeom>
              <a:blipFill>
                <a:blip r:embed="rId11"/>
                <a:stretch>
                  <a:fillRect l="-6522" r="-6522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35">
            <a:extLst>
              <a:ext uri="{FF2B5EF4-FFF2-40B4-BE49-F238E27FC236}">
                <a16:creationId xmlns:a16="http://schemas.microsoft.com/office/drawing/2014/main" id="{A6C43FB5-2C44-FD73-D386-420D8317136B}"/>
              </a:ext>
            </a:extLst>
          </p:cNvPr>
          <p:cNvSpPr txBox="1"/>
          <p:nvPr/>
        </p:nvSpPr>
        <p:spPr>
          <a:xfrm>
            <a:off x="1773383" y="4764281"/>
            <a:ext cx="99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Sistema</a:t>
            </a:r>
          </a:p>
        </p:txBody>
      </p:sp>
      <p:sp>
        <p:nvSpPr>
          <p:cNvPr id="26" name="Rectángulo 36">
            <a:extLst>
              <a:ext uri="{FF2B5EF4-FFF2-40B4-BE49-F238E27FC236}">
                <a16:creationId xmlns:a16="http://schemas.microsoft.com/office/drawing/2014/main" id="{7D2FD239-E951-8472-CAED-8FFDAB155523}"/>
              </a:ext>
            </a:extLst>
          </p:cNvPr>
          <p:cNvSpPr/>
          <p:nvPr/>
        </p:nvSpPr>
        <p:spPr>
          <a:xfrm>
            <a:off x="5540412" y="4637044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27" name="Conector recto de flecha 37">
            <a:extLst>
              <a:ext uri="{FF2B5EF4-FFF2-40B4-BE49-F238E27FC236}">
                <a16:creationId xmlns:a16="http://schemas.microsoft.com/office/drawing/2014/main" id="{18B3083D-8EFB-8061-DEB8-FA631CB1271B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708575" y="4997781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38">
            <a:extLst>
              <a:ext uri="{FF2B5EF4-FFF2-40B4-BE49-F238E27FC236}">
                <a16:creationId xmlns:a16="http://schemas.microsoft.com/office/drawing/2014/main" id="{48337C67-2387-E00C-DABC-69A4E33E0DBD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6996350" y="4997781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39">
                <a:extLst>
                  <a:ext uri="{FF2B5EF4-FFF2-40B4-BE49-F238E27FC236}">
                    <a16:creationId xmlns:a16="http://schemas.microsoft.com/office/drawing/2014/main" id="{79CBBADE-3C53-F4CA-3AF1-A42F3B7499BD}"/>
                  </a:ext>
                </a:extLst>
              </p:cNvPr>
              <p:cNvSpPr txBox="1"/>
              <p:nvPr/>
            </p:nvSpPr>
            <p:spPr>
              <a:xfrm>
                <a:off x="7024074" y="4549820"/>
                <a:ext cx="834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uadroTexto 39">
                <a:extLst>
                  <a:ext uri="{FF2B5EF4-FFF2-40B4-BE49-F238E27FC236}">
                    <a16:creationId xmlns:a16="http://schemas.microsoft.com/office/drawing/2014/main" id="{79CBBADE-3C53-F4CA-3AF1-A42F3B749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074" y="4549820"/>
                <a:ext cx="834972" cy="276999"/>
              </a:xfrm>
              <a:prstGeom prst="rect">
                <a:avLst/>
              </a:prstGeom>
              <a:blipFill>
                <a:blip r:embed="rId12"/>
                <a:stretch>
                  <a:fillRect l="-6569" r="-1460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40">
                <a:extLst>
                  <a:ext uri="{FF2B5EF4-FFF2-40B4-BE49-F238E27FC236}">
                    <a16:creationId xmlns:a16="http://schemas.microsoft.com/office/drawing/2014/main" id="{82991787-708F-550A-83C5-E8B204ABD7A4}"/>
                  </a:ext>
                </a:extLst>
              </p:cNvPr>
              <p:cNvSpPr txBox="1"/>
              <p:nvPr/>
            </p:nvSpPr>
            <p:spPr>
              <a:xfrm>
                <a:off x="4510885" y="4598051"/>
                <a:ext cx="8553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uadroTexto 40">
                <a:extLst>
                  <a:ext uri="{FF2B5EF4-FFF2-40B4-BE49-F238E27FC236}">
                    <a16:creationId xmlns:a16="http://schemas.microsoft.com/office/drawing/2014/main" id="{82991787-708F-550A-83C5-E8B204ABD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885" y="4598051"/>
                <a:ext cx="855362" cy="276999"/>
              </a:xfrm>
              <a:prstGeom prst="rect">
                <a:avLst/>
              </a:prstGeom>
              <a:blipFill>
                <a:blip r:embed="rId13"/>
                <a:stretch>
                  <a:fillRect l="-3571" r="-2143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Imagen 11">
            <a:extLst>
              <a:ext uri="{FF2B5EF4-FFF2-40B4-BE49-F238E27FC236}">
                <a16:creationId xmlns:a16="http://schemas.microsoft.com/office/drawing/2014/main" id="{502CEBCA-1C83-54E9-1CBD-65A43800442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24" y="3869297"/>
            <a:ext cx="3669333" cy="254476"/>
          </a:xfrm>
          <a:prstGeom prst="rect">
            <a:avLst/>
          </a:prstGeom>
        </p:spPr>
      </p:pic>
      <p:pic>
        <p:nvPicPr>
          <p:cNvPr id="32" name="Imagen 14">
            <a:extLst>
              <a:ext uri="{FF2B5EF4-FFF2-40B4-BE49-F238E27FC236}">
                <a16:creationId xmlns:a16="http://schemas.microsoft.com/office/drawing/2014/main" id="{F4D4BD07-26AF-1A8A-B3C4-5A009FBCE5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673" y="5361151"/>
            <a:ext cx="1359238" cy="21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8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7" grpId="0"/>
      <p:bldP spid="18" grpId="0"/>
      <p:bldP spid="19" grpId="0"/>
      <p:bldP spid="20" grpId="0" animBg="1"/>
      <p:bldP spid="23" grpId="0"/>
      <p:bldP spid="24" grpId="0"/>
      <p:bldP spid="25" grpId="0"/>
      <p:bldP spid="26" grpId="0" animBg="1"/>
      <p:bldP spid="29" grpId="0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32C1-96C9-8369-B2E6-3164511E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394FC1C-1A50-D619-FD05-E608ED602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>
                <a:solidFill>
                  <a:schemeClr val="bg1"/>
                </a:solidFill>
              </a:rPr>
              <a:t>Ejemplo 1</a:t>
            </a:r>
            <a:endParaRPr lang="es-419" dirty="0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2FF89D-7D73-BB55-01A0-9F3203864E1B}"/>
              </a:ext>
            </a:extLst>
          </p:cNvPr>
          <p:cNvSpPr/>
          <p:nvPr/>
        </p:nvSpPr>
        <p:spPr>
          <a:xfrm>
            <a:off x="4240606" y="2134573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A1BC706-9246-9F2B-75B9-C1BA0DF048C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408769" y="249531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5B1A790-4295-4FCB-C96D-D395F20E24C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696544" y="249531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29">
                <a:extLst>
                  <a:ext uri="{FF2B5EF4-FFF2-40B4-BE49-F238E27FC236}">
                    <a16:creationId xmlns:a16="http://schemas.microsoft.com/office/drawing/2014/main" id="{CC819747-BE82-3150-DED3-333D5FB3DB1F}"/>
                  </a:ext>
                </a:extLst>
              </p:cNvPr>
              <p:cNvSpPr txBox="1"/>
              <p:nvPr/>
            </p:nvSpPr>
            <p:spPr>
              <a:xfrm>
                <a:off x="3409770" y="2628498"/>
                <a:ext cx="191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29">
                <a:extLst>
                  <a:ext uri="{FF2B5EF4-FFF2-40B4-BE49-F238E27FC236}">
                    <a16:creationId xmlns:a16="http://schemas.microsoft.com/office/drawing/2014/main" id="{CC819747-BE82-3150-DED3-333D5FB3D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770" y="2628498"/>
                <a:ext cx="191784" cy="276999"/>
              </a:xfrm>
              <a:prstGeom prst="rect">
                <a:avLst/>
              </a:prstGeom>
              <a:blipFill>
                <a:blip r:embed="rId5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30">
                <a:extLst>
                  <a:ext uri="{FF2B5EF4-FFF2-40B4-BE49-F238E27FC236}">
                    <a16:creationId xmlns:a16="http://schemas.microsoft.com/office/drawing/2014/main" id="{96BBD545-5096-4634-E1BB-38D2C4F53247}"/>
                  </a:ext>
                </a:extLst>
              </p:cNvPr>
              <p:cNvSpPr txBox="1"/>
              <p:nvPr/>
            </p:nvSpPr>
            <p:spPr>
              <a:xfrm>
                <a:off x="5887749" y="2579048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uadroTexto 30">
                <a:extLst>
                  <a:ext uri="{FF2B5EF4-FFF2-40B4-BE49-F238E27FC236}">
                    <a16:creationId xmlns:a16="http://schemas.microsoft.com/office/drawing/2014/main" id="{96BBD545-5096-4634-E1BB-38D2C4F53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749" y="2579048"/>
                <a:ext cx="180306" cy="276999"/>
              </a:xfrm>
              <a:prstGeom prst="rect">
                <a:avLst/>
              </a:prstGeom>
              <a:blipFill>
                <a:blip r:embed="rId6"/>
                <a:stretch>
                  <a:fillRect l="-34483" r="-34483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: a la derecha 41">
            <a:extLst>
              <a:ext uri="{FF2B5EF4-FFF2-40B4-BE49-F238E27FC236}">
                <a16:creationId xmlns:a16="http://schemas.microsoft.com/office/drawing/2014/main" id="{950FD132-CF17-BBC9-7EA7-2BC390A6AB80}"/>
              </a:ext>
            </a:extLst>
          </p:cNvPr>
          <p:cNvSpPr/>
          <p:nvPr/>
        </p:nvSpPr>
        <p:spPr>
          <a:xfrm>
            <a:off x="6858000" y="2281759"/>
            <a:ext cx="416356" cy="458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pic>
        <p:nvPicPr>
          <p:cNvPr id="11" name="Imagen 12">
            <a:extLst>
              <a:ext uri="{FF2B5EF4-FFF2-40B4-BE49-F238E27FC236}">
                <a16:creationId xmlns:a16="http://schemas.microsoft.com/office/drawing/2014/main" id="{579CEA27-5423-5387-114C-17E692EFD0B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34" y="2409069"/>
            <a:ext cx="856381" cy="219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44">
                <a:extLst>
                  <a:ext uri="{FF2B5EF4-FFF2-40B4-BE49-F238E27FC236}">
                    <a16:creationId xmlns:a16="http://schemas.microsoft.com/office/drawing/2014/main" id="{5891D88E-3A3C-293B-3EB7-1008A01617F8}"/>
                  </a:ext>
                </a:extLst>
              </p:cNvPr>
              <p:cNvSpPr txBox="1"/>
              <p:nvPr/>
            </p:nvSpPr>
            <p:spPr>
              <a:xfrm>
                <a:off x="3610666" y="2628498"/>
                <a:ext cx="418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uadroTexto 44">
                <a:extLst>
                  <a:ext uri="{FF2B5EF4-FFF2-40B4-BE49-F238E27FC236}">
                    <a16:creationId xmlns:a16="http://schemas.microsoft.com/office/drawing/2014/main" id="{5891D88E-3A3C-293B-3EB7-1008A0161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666" y="2628498"/>
                <a:ext cx="418384" cy="276999"/>
              </a:xfrm>
              <a:prstGeom prst="rect">
                <a:avLst/>
              </a:prstGeom>
              <a:blipFill>
                <a:blip r:embed="rId8"/>
                <a:stretch>
                  <a:fillRect l="-4348" r="-13043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45">
                <a:extLst>
                  <a:ext uri="{FF2B5EF4-FFF2-40B4-BE49-F238E27FC236}">
                    <a16:creationId xmlns:a16="http://schemas.microsoft.com/office/drawing/2014/main" id="{9606DDD8-44DA-46B5-9C6C-6E243FEBA317}"/>
                  </a:ext>
                </a:extLst>
              </p:cNvPr>
              <p:cNvSpPr txBox="1"/>
              <p:nvPr/>
            </p:nvSpPr>
            <p:spPr>
              <a:xfrm>
                <a:off x="6080985" y="2591991"/>
                <a:ext cx="5466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45">
                <a:extLst>
                  <a:ext uri="{FF2B5EF4-FFF2-40B4-BE49-F238E27FC236}">
                    <a16:creationId xmlns:a16="http://schemas.microsoft.com/office/drawing/2014/main" id="{9606DDD8-44DA-46B5-9C6C-6E243FEBA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985" y="2591991"/>
                <a:ext cx="546625" cy="276999"/>
              </a:xfrm>
              <a:prstGeom prst="rect">
                <a:avLst/>
              </a:prstGeom>
              <a:blipFill>
                <a:blip r:embed="rId9"/>
                <a:stretch>
                  <a:fillRect l="-4494" r="-10112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7">
            <a:extLst>
              <a:ext uri="{FF2B5EF4-FFF2-40B4-BE49-F238E27FC236}">
                <a16:creationId xmlns:a16="http://schemas.microsoft.com/office/drawing/2014/main" id="{FB147092-39AD-54E0-467F-60D426A0545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45" y="3613996"/>
            <a:ext cx="1621333" cy="254476"/>
          </a:xfrm>
          <a:prstGeom prst="rect">
            <a:avLst/>
          </a:prstGeom>
        </p:spPr>
      </p:pic>
      <p:sp>
        <p:nvSpPr>
          <p:cNvPr id="15" name="Rectángulo 18">
            <a:extLst>
              <a:ext uri="{FF2B5EF4-FFF2-40B4-BE49-F238E27FC236}">
                <a16:creationId xmlns:a16="http://schemas.microsoft.com/office/drawing/2014/main" id="{088DF15F-A111-492E-8CE6-BE145B479047}"/>
              </a:ext>
            </a:extLst>
          </p:cNvPr>
          <p:cNvSpPr/>
          <p:nvPr/>
        </p:nvSpPr>
        <p:spPr>
          <a:xfrm>
            <a:off x="590589" y="3168281"/>
            <a:ext cx="175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homogeneidad</a:t>
            </a:r>
          </a:p>
        </p:txBody>
      </p:sp>
      <p:pic>
        <p:nvPicPr>
          <p:cNvPr id="16" name="Imagen 23">
            <a:extLst>
              <a:ext uri="{FF2B5EF4-FFF2-40B4-BE49-F238E27FC236}">
                <a16:creationId xmlns:a16="http://schemas.microsoft.com/office/drawing/2014/main" id="{92DB7840-75A8-A3F2-A8A9-4E966959C0D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89" y="4116869"/>
            <a:ext cx="635429" cy="187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46">
                <a:extLst>
                  <a:ext uri="{FF2B5EF4-FFF2-40B4-BE49-F238E27FC236}">
                    <a16:creationId xmlns:a16="http://schemas.microsoft.com/office/drawing/2014/main" id="{552B8DA4-7123-D836-3DC4-34AD21894A85}"/>
                  </a:ext>
                </a:extLst>
              </p:cNvPr>
              <p:cNvSpPr txBox="1"/>
              <p:nvPr/>
            </p:nvSpPr>
            <p:spPr>
              <a:xfrm>
                <a:off x="3196662" y="2628497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uadroTexto 46">
                <a:extLst>
                  <a:ext uri="{FF2B5EF4-FFF2-40B4-BE49-F238E27FC236}">
                    <a16:creationId xmlns:a16="http://schemas.microsoft.com/office/drawing/2014/main" id="{552B8DA4-7123-D836-3DC4-34AD2189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662" y="2628497"/>
                <a:ext cx="201016" cy="276999"/>
              </a:xfrm>
              <a:prstGeom prst="rect">
                <a:avLst/>
              </a:prstGeom>
              <a:blipFill>
                <a:blip r:embed="rId12"/>
                <a:stretch>
                  <a:fillRect l="-27273" r="-27273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25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8" grpId="0"/>
      <p:bldP spid="9" grpId="0"/>
      <p:bldP spid="10" grpId="0" animBg="1"/>
      <p:bldP spid="12" grpId="0"/>
      <p:bldP spid="13" grpId="0"/>
      <p:bldP spid="15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6F63-2413-0404-273A-3567D74E9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D0E39-7680-723A-1B7D-847AA579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4CDADE9-71A7-6839-65AA-878DCA0D1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>
                <a:solidFill>
                  <a:schemeClr val="bg1"/>
                </a:solidFill>
              </a:rPr>
              <a:t>Ejemplo 1</a:t>
            </a:r>
            <a:endParaRPr lang="es-419" dirty="0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A11BF2-B72D-F5BD-22FA-AD1586C1F37A}"/>
              </a:ext>
            </a:extLst>
          </p:cNvPr>
          <p:cNvSpPr/>
          <p:nvPr/>
        </p:nvSpPr>
        <p:spPr>
          <a:xfrm>
            <a:off x="4240606" y="2134573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25A82DD-1AEB-E062-B06A-062957C5177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408769" y="249531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D3F427D-4703-81BB-928C-9EF3E77299F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696544" y="2495310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29">
                <a:extLst>
                  <a:ext uri="{FF2B5EF4-FFF2-40B4-BE49-F238E27FC236}">
                    <a16:creationId xmlns:a16="http://schemas.microsoft.com/office/drawing/2014/main" id="{FC872C4F-9F5C-F271-AA52-D56CCB61B23D}"/>
                  </a:ext>
                </a:extLst>
              </p:cNvPr>
              <p:cNvSpPr txBox="1"/>
              <p:nvPr/>
            </p:nvSpPr>
            <p:spPr>
              <a:xfrm>
                <a:off x="3409770" y="2628498"/>
                <a:ext cx="191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29">
                <a:extLst>
                  <a:ext uri="{FF2B5EF4-FFF2-40B4-BE49-F238E27FC236}">
                    <a16:creationId xmlns:a16="http://schemas.microsoft.com/office/drawing/2014/main" id="{FC872C4F-9F5C-F271-AA52-D56CCB61B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770" y="2628498"/>
                <a:ext cx="191784" cy="276999"/>
              </a:xfrm>
              <a:prstGeom prst="rect">
                <a:avLst/>
              </a:prstGeom>
              <a:blipFill>
                <a:blip r:embed="rId6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30">
                <a:extLst>
                  <a:ext uri="{FF2B5EF4-FFF2-40B4-BE49-F238E27FC236}">
                    <a16:creationId xmlns:a16="http://schemas.microsoft.com/office/drawing/2014/main" id="{BC3BACEE-D206-F155-E076-3A1E0553931C}"/>
                  </a:ext>
                </a:extLst>
              </p:cNvPr>
              <p:cNvSpPr txBox="1"/>
              <p:nvPr/>
            </p:nvSpPr>
            <p:spPr>
              <a:xfrm>
                <a:off x="5887749" y="2579048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uadroTexto 30">
                <a:extLst>
                  <a:ext uri="{FF2B5EF4-FFF2-40B4-BE49-F238E27FC236}">
                    <a16:creationId xmlns:a16="http://schemas.microsoft.com/office/drawing/2014/main" id="{BC3BACEE-D206-F155-E076-3A1E0553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749" y="2579048"/>
                <a:ext cx="180306" cy="276999"/>
              </a:xfrm>
              <a:prstGeom prst="rect">
                <a:avLst/>
              </a:prstGeom>
              <a:blipFill>
                <a:blip r:embed="rId7"/>
                <a:stretch>
                  <a:fillRect l="-34483" r="-34483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: a la derecha 41">
            <a:extLst>
              <a:ext uri="{FF2B5EF4-FFF2-40B4-BE49-F238E27FC236}">
                <a16:creationId xmlns:a16="http://schemas.microsoft.com/office/drawing/2014/main" id="{BB256A3F-BA27-8FD8-8346-96347CAC3A24}"/>
              </a:ext>
            </a:extLst>
          </p:cNvPr>
          <p:cNvSpPr/>
          <p:nvPr/>
        </p:nvSpPr>
        <p:spPr>
          <a:xfrm>
            <a:off x="6858000" y="2281759"/>
            <a:ext cx="416356" cy="458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pic>
        <p:nvPicPr>
          <p:cNvPr id="11" name="Imagen 12">
            <a:extLst>
              <a:ext uri="{FF2B5EF4-FFF2-40B4-BE49-F238E27FC236}">
                <a16:creationId xmlns:a16="http://schemas.microsoft.com/office/drawing/2014/main" id="{91C0DD87-4E62-BDC9-3178-38C9A68CC3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434" y="2409069"/>
            <a:ext cx="856381" cy="219429"/>
          </a:xfrm>
          <a:prstGeom prst="rect">
            <a:avLst/>
          </a:prstGeom>
        </p:spPr>
      </p:pic>
      <p:pic>
        <p:nvPicPr>
          <p:cNvPr id="14" name="Imagen 17">
            <a:extLst>
              <a:ext uri="{FF2B5EF4-FFF2-40B4-BE49-F238E27FC236}">
                <a16:creationId xmlns:a16="http://schemas.microsoft.com/office/drawing/2014/main" id="{FD60DB77-AF91-9A1F-D341-940DD8B00F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45" y="3613996"/>
            <a:ext cx="1621333" cy="254476"/>
          </a:xfrm>
          <a:prstGeom prst="rect">
            <a:avLst/>
          </a:prstGeom>
        </p:spPr>
      </p:pic>
      <p:sp>
        <p:nvSpPr>
          <p:cNvPr id="15" name="Rectángulo 18">
            <a:extLst>
              <a:ext uri="{FF2B5EF4-FFF2-40B4-BE49-F238E27FC236}">
                <a16:creationId xmlns:a16="http://schemas.microsoft.com/office/drawing/2014/main" id="{009A81CD-5B2C-DF20-582D-A3A6886132BF}"/>
              </a:ext>
            </a:extLst>
          </p:cNvPr>
          <p:cNvSpPr/>
          <p:nvPr/>
        </p:nvSpPr>
        <p:spPr>
          <a:xfrm>
            <a:off x="590589" y="3168281"/>
            <a:ext cx="175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homogeneidad</a:t>
            </a:r>
          </a:p>
        </p:txBody>
      </p:sp>
      <p:pic>
        <p:nvPicPr>
          <p:cNvPr id="16" name="Imagen 23">
            <a:extLst>
              <a:ext uri="{FF2B5EF4-FFF2-40B4-BE49-F238E27FC236}">
                <a16:creationId xmlns:a16="http://schemas.microsoft.com/office/drawing/2014/main" id="{A3F9E661-729E-AFEF-46BA-3431AAA192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89" y="4116869"/>
            <a:ext cx="635429" cy="187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46">
                <a:extLst>
                  <a:ext uri="{FF2B5EF4-FFF2-40B4-BE49-F238E27FC236}">
                    <a16:creationId xmlns:a16="http://schemas.microsoft.com/office/drawing/2014/main" id="{F3C0EB69-C708-98D0-DA06-9580331EF47B}"/>
                  </a:ext>
                </a:extLst>
              </p:cNvPr>
              <p:cNvSpPr txBox="1"/>
              <p:nvPr/>
            </p:nvSpPr>
            <p:spPr>
              <a:xfrm>
                <a:off x="3196662" y="2628497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uadroTexto 46">
                <a:extLst>
                  <a:ext uri="{FF2B5EF4-FFF2-40B4-BE49-F238E27FC236}">
                    <a16:creationId xmlns:a16="http://schemas.microsoft.com/office/drawing/2014/main" id="{F3C0EB69-C708-98D0-DA06-9580331EF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662" y="2628497"/>
                <a:ext cx="201016" cy="276999"/>
              </a:xfrm>
              <a:prstGeom prst="rect">
                <a:avLst/>
              </a:prstGeom>
              <a:blipFill>
                <a:blip r:embed="rId11"/>
                <a:stretch>
                  <a:fillRect l="-27273" r="-27273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44">
                <a:extLst>
                  <a:ext uri="{FF2B5EF4-FFF2-40B4-BE49-F238E27FC236}">
                    <a16:creationId xmlns:a16="http://schemas.microsoft.com/office/drawing/2014/main" id="{36417A63-2F0D-CFA0-7876-E142089B372A}"/>
                  </a:ext>
                </a:extLst>
              </p:cNvPr>
              <p:cNvSpPr txBox="1"/>
              <p:nvPr/>
            </p:nvSpPr>
            <p:spPr>
              <a:xfrm>
                <a:off x="3610666" y="2628498"/>
                <a:ext cx="418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uadroTexto 44">
                <a:extLst>
                  <a:ext uri="{FF2B5EF4-FFF2-40B4-BE49-F238E27FC236}">
                    <a16:creationId xmlns:a16="http://schemas.microsoft.com/office/drawing/2014/main" id="{36417A63-2F0D-CFA0-7876-E142089B3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666" y="2628498"/>
                <a:ext cx="418384" cy="276999"/>
              </a:xfrm>
              <a:prstGeom prst="rect">
                <a:avLst/>
              </a:prstGeom>
              <a:blipFill>
                <a:blip r:embed="rId12"/>
                <a:stretch>
                  <a:fillRect l="-4348" r="-13043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45">
                <a:extLst>
                  <a:ext uri="{FF2B5EF4-FFF2-40B4-BE49-F238E27FC236}">
                    <a16:creationId xmlns:a16="http://schemas.microsoft.com/office/drawing/2014/main" id="{3988DA04-DEC3-7B03-A9F1-6BD33DE8AD3A}"/>
                  </a:ext>
                </a:extLst>
              </p:cNvPr>
              <p:cNvSpPr txBox="1"/>
              <p:nvPr/>
            </p:nvSpPr>
            <p:spPr>
              <a:xfrm>
                <a:off x="6080985" y="2591991"/>
                <a:ext cx="5466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=60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uadroTexto 45">
                <a:extLst>
                  <a:ext uri="{FF2B5EF4-FFF2-40B4-BE49-F238E27FC236}">
                    <a16:creationId xmlns:a16="http://schemas.microsoft.com/office/drawing/2014/main" id="{3988DA04-DEC3-7B03-A9F1-6BD33DE8A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985" y="2591991"/>
                <a:ext cx="546625" cy="276999"/>
              </a:xfrm>
              <a:prstGeom prst="rect">
                <a:avLst/>
              </a:prstGeom>
              <a:blipFill>
                <a:blip r:embed="rId13"/>
                <a:stretch>
                  <a:fillRect l="-4494" r="-10112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9">
                <a:extLst>
                  <a:ext uri="{FF2B5EF4-FFF2-40B4-BE49-F238E27FC236}">
                    <a16:creationId xmlns:a16="http://schemas.microsoft.com/office/drawing/2014/main" id="{856E5866-7CB2-FBAD-D450-5BDC76D0D073}"/>
                  </a:ext>
                </a:extLst>
              </p:cNvPr>
              <p:cNvSpPr txBox="1"/>
              <p:nvPr/>
            </p:nvSpPr>
            <p:spPr>
              <a:xfrm>
                <a:off x="5707084" y="2579047"/>
                <a:ext cx="201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uadroTexto 19">
                <a:extLst>
                  <a:ext uri="{FF2B5EF4-FFF2-40B4-BE49-F238E27FC236}">
                    <a16:creationId xmlns:a16="http://schemas.microsoft.com/office/drawing/2014/main" id="{856E5866-7CB2-FBAD-D450-5BDC76D0D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084" y="2579047"/>
                <a:ext cx="201016" cy="276999"/>
              </a:xfrm>
              <a:prstGeom prst="rect">
                <a:avLst/>
              </a:prstGeom>
              <a:blipFill>
                <a:blip r:embed="rId14"/>
                <a:stretch>
                  <a:fillRect l="-27273" r="-27273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n 9">
            <a:extLst>
              <a:ext uri="{FF2B5EF4-FFF2-40B4-BE49-F238E27FC236}">
                <a16:creationId xmlns:a16="http://schemas.microsoft.com/office/drawing/2014/main" id="{A71BA052-8092-4F71-A801-9754F932832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18" y="4552695"/>
            <a:ext cx="2742857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5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BB8-BAB6-7737-8464-C9AB0A7A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FD22-62EE-6FE3-551C-FEE8FBBD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84A1E6-5C61-9DD2-31C2-34842361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>
                <a:solidFill>
                  <a:schemeClr val="bg1"/>
                </a:solidFill>
              </a:rPr>
              <a:t>Ejemplo 2</a:t>
            </a:r>
            <a:endParaRPr lang="es-419" dirty="0">
              <a:solidFill>
                <a:schemeClr val="bg1"/>
              </a:solidFill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2825AE33-FD5F-A350-9D7B-69128F341D10}"/>
              </a:ext>
            </a:extLst>
          </p:cNvPr>
          <p:cNvSpPr/>
          <p:nvPr/>
        </p:nvSpPr>
        <p:spPr>
          <a:xfrm>
            <a:off x="3693096" y="2224806"/>
            <a:ext cx="617556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5" name="Conector recto de flecha 5">
            <a:extLst>
              <a:ext uri="{FF2B5EF4-FFF2-40B4-BE49-F238E27FC236}">
                <a16:creationId xmlns:a16="http://schemas.microsoft.com/office/drawing/2014/main" id="{BE55C597-7DC1-C442-7CDB-E3836B5C18D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885025" y="2585543"/>
            <a:ext cx="80807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6">
            <a:extLst>
              <a:ext uri="{FF2B5EF4-FFF2-40B4-BE49-F238E27FC236}">
                <a16:creationId xmlns:a16="http://schemas.microsoft.com/office/drawing/2014/main" id="{41BEF215-C9B8-0303-F37B-C6B4B693E9E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310652" y="2585543"/>
            <a:ext cx="47008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29">
                <a:extLst>
                  <a:ext uri="{FF2B5EF4-FFF2-40B4-BE49-F238E27FC236}">
                    <a16:creationId xmlns:a16="http://schemas.microsoft.com/office/drawing/2014/main" id="{59ADD82C-CEDB-1DEF-7484-BF3A025E0142}"/>
                  </a:ext>
                </a:extLst>
              </p:cNvPr>
              <p:cNvSpPr txBox="1"/>
              <p:nvPr/>
            </p:nvSpPr>
            <p:spPr>
              <a:xfrm>
                <a:off x="2907163" y="2637072"/>
                <a:ext cx="191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uadroTexto 29">
                <a:extLst>
                  <a:ext uri="{FF2B5EF4-FFF2-40B4-BE49-F238E27FC236}">
                    <a16:creationId xmlns:a16="http://schemas.microsoft.com/office/drawing/2014/main" id="{59ADD82C-CEDB-1DEF-7484-BF3A025E0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163" y="2637072"/>
                <a:ext cx="191784" cy="276999"/>
              </a:xfrm>
              <a:prstGeom prst="rect">
                <a:avLst/>
              </a:prstGeom>
              <a:blipFill>
                <a:blip r:embed="rId9"/>
                <a:stretch>
                  <a:fillRect l="-19355" r="-161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30">
                <a:extLst>
                  <a:ext uri="{FF2B5EF4-FFF2-40B4-BE49-F238E27FC236}">
                    <a16:creationId xmlns:a16="http://schemas.microsoft.com/office/drawing/2014/main" id="{61456CB0-7A66-0C86-DEBA-9E2DC052DBD8}"/>
                  </a:ext>
                </a:extLst>
              </p:cNvPr>
              <p:cNvSpPr txBox="1"/>
              <p:nvPr/>
            </p:nvSpPr>
            <p:spPr>
              <a:xfrm>
                <a:off x="6051753" y="2637072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30">
                <a:extLst>
                  <a:ext uri="{FF2B5EF4-FFF2-40B4-BE49-F238E27FC236}">
                    <a16:creationId xmlns:a16="http://schemas.microsoft.com/office/drawing/2014/main" id="{61456CB0-7A66-0C86-DEBA-9E2DC052D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753" y="2637072"/>
                <a:ext cx="180306" cy="276999"/>
              </a:xfrm>
              <a:prstGeom prst="rect">
                <a:avLst/>
              </a:prstGeom>
              <a:blipFill>
                <a:blip r:embed="rId10"/>
                <a:stretch>
                  <a:fillRect l="-34483" r="-34483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echa: a la derecha 41">
            <a:extLst>
              <a:ext uri="{FF2B5EF4-FFF2-40B4-BE49-F238E27FC236}">
                <a16:creationId xmlns:a16="http://schemas.microsoft.com/office/drawing/2014/main" id="{06164882-EC65-3DDC-8319-37F4753422E9}"/>
              </a:ext>
            </a:extLst>
          </p:cNvPr>
          <p:cNvSpPr/>
          <p:nvPr/>
        </p:nvSpPr>
        <p:spPr>
          <a:xfrm>
            <a:off x="7721838" y="2246523"/>
            <a:ext cx="416356" cy="458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10" name="CuadroTexto 7">
            <a:extLst>
              <a:ext uri="{FF2B5EF4-FFF2-40B4-BE49-F238E27FC236}">
                <a16:creationId xmlns:a16="http://schemas.microsoft.com/office/drawing/2014/main" id="{18E271FE-733E-7F1C-9629-43C179361BEE}"/>
              </a:ext>
            </a:extLst>
          </p:cNvPr>
          <p:cNvSpPr txBox="1"/>
          <p:nvPr/>
        </p:nvSpPr>
        <p:spPr>
          <a:xfrm>
            <a:off x="4159600" y="1840406"/>
            <a:ext cx="99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Sistema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A88E6D4-412F-5509-3086-13230747E1C5}"/>
              </a:ext>
            </a:extLst>
          </p:cNvPr>
          <p:cNvSpPr/>
          <p:nvPr/>
        </p:nvSpPr>
        <p:spPr>
          <a:xfrm>
            <a:off x="4814186" y="2346704"/>
            <a:ext cx="416356" cy="45851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2" name="Conector recto de flecha 42">
            <a:extLst>
              <a:ext uri="{FF2B5EF4-FFF2-40B4-BE49-F238E27FC236}">
                <a16:creationId xmlns:a16="http://schemas.microsoft.com/office/drawing/2014/main" id="{CE1EDDB3-8F43-0DDE-40AE-3C073E16F5BD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5022364" y="2805215"/>
            <a:ext cx="0" cy="40078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43">
                <a:extLst>
                  <a:ext uri="{FF2B5EF4-FFF2-40B4-BE49-F238E27FC236}">
                    <a16:creationId xmlns:a16="http://schemas.microsoft.com/office/drawing/2014/main" id="{70DFA25B-A69D-CDDF-24EE-2A3C5EA6EA46}"/>
                  </a:ext>
                </a:extLst>
              </p:cNvPr>
              <p:cNvSpPr txBox="1"/>
              <p:nvPr/>
            </p:nvSpPr>
            <p:spPr>
              <a:xfrm>
                <a:off x="4785544" y="2929005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43">
                <a:extLst>
                  <a:ext uri="{FF2B5EF4-FFF2-40B4-BE49-F238E27FC236}">
                    <a16:creationId xmlns:a16="http://schemas.microsoft.com/office/drawing/2014/main" id="{70DFA25B-A69D-CDDF-24EE-2A3C5EA6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544" y="2929005"/>
                <a:ext cx="181139" cy="276999"/>
              </a:xfrm>
              <a:prstGeom prst="rect">
                <a:avLst/>
              </a:prstGeom>
              <a:blipFill>
                <a:blip r:embed="rId11"/>
                <a:stretch>
                  <a:fillRect l="-33333" r="-30000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44">
            <a:extLst>
              <a:ext uri="{FF2B5EF4-FFF2-40B4-BE49-F238E27FC236}">
                <a16:creationId xmlns:a16="http://schemas.microsoft.com/office/drawing/2014/main" id="{D9D47777-BBD6-96BE-0502-09A9C1113866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5230542" y="2575960"/>
            <a:ext cx="1248193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45">
            <a:extLst>
              <a:ext uri="{FF2B5EF4-FFF2-40B4-BE49-F238E27FC236}">
                <a16:creationId xmlns:a16="http://schemas.microsoft.com/office/drawing/2014/main" id="{28E94A3C-5399-07A3-9B02-E1900D79E0C8}"/>
              </a:ext>
            </a:extLst>
          </p:cNvPr>
          <p:cNvSpPr/>
          <p:nvPr/>
        </p:nvSpPr>
        <p:spPr>
          <a:xfrm>
            <a:off x="3389971" y="2165749"/>
            <a:ext cx="2341756" cy="11796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pic>
        <p:nvPicPr>
          <p:cNvPr id="16" name="Imagen 48">
            <a:extLst>
              <a:ext uri="{FF2B5EF4-FFF2-40B4-BE49-F238E27FC236}">
                <a16:creationId xmlns:a16="http://schemas.microsoft.com/office/drawing/2014/main" id="{C9CB6560-838C-305C-4442-A2B24A44AB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249" y="2355007"/>
            <a:ext cx="1286095" cy="220952"/>
          </a:xfrm>
          <a:prstGeom prst="rect">
            <a:avLst/>
          </a:prstGeom>
        </p:spPr>
      </p:pic>
      <p:sp>
        <p:nvSpPr>
          <p:cNvPr id="17" name="Rectángulo 49">
            <a:extLst>
              <a:ext uri="{FF2B5EF4-FFF2-40B4-BE49-F238E27FC236}">
                <a16:creationId xmlns:a16="http://schemas.microsoft.com/office/drawing/2014/main" id="{97A81DBF-9B15-2882-A522-CEF3AA618933}"/>
              </a:ext>
            </a:extLst>
          </p:cNvPr>
          <p:cNvSpPr/>
          <p:nvPr/>
        </p:nvSpPr>
        <p:spPr>
          <a:xfrm>
            <a:off x="880520" y="3540447"/>
            <a:ext cx="175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homogeneidad</a:t>
            </a:r>
          </a:p>
        </p:txBody>
      </p:sp>
      <p:pic>
        <p:nvPicPr>
          <p:cNvPr id="18" name="Imagen 51">
            <a:extLst>
              <a:ext uri="{FF2B5EF4-FFF2-40B4-BE49-F238E27FC236}">
                <a16:creationId xmlns:a16="http://schemas.microsoft.com/office/drawing/2014/main" id="{F535F1E5-98C7-F7F2-12D8-AC079DEC6A3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025" y="3909779"/>
            <a:ext cx="591238" cy="170667"/>
          </a:xfrm>
          <a:prstGeom prst="rect">
            <a:avLst/>
          </a:prstGeom>
        </p:spPr>
      </p:pic>
      <p:pic>
        <p:nvPicPr>
          <p:cNvPr id="19" name="Imagen 53">
            <a:extLst>
              <a:ext uri="{FF2B5EF4-FFF2-40B4-BE49-F238E27FC236}">
                <a16:creationId xmlns:a16="http://schemas.microsoft.com/office/drawing/2014/main" id="{E6802BE7-1B9F-C7C7-F11A-D7E24214DBC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753" y="3797294"/>
            <a:ext cx="2054095" cy="254476"/>
          </a:xfrm>
          <a:prstGeom prst="rect">
            <a:avLst/>
          </a:prstGeom>
        </p:spPr>
      </p:pic>
      <p:pic>
        <p:nvPicPr>
          <p:cNvPr id="20" name="Imagen 54">
            <a:extLst>
              <a:ext uri="{FF2B5EF4-FFF2-40B4-BE49-F238E27FC236}">
                <a16:creationId xmlns:a16="http://schemas.microsoft.com/office/drawing/2014/main" id="{D36E9D2C-80E8-1F2E-DA8E-84912F8029C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85" y="4336988"/>
            <a:ext cx="635429" cy="187429"/>
          </a:xfrm>
          <a:prstGeom prst="rect">
            <a:avLst/>
          </a:prstGeom>
        </p:spPr>
      </p:pic>
      <p:pic>
        <p:nvPicPr>
          <p:cNvPr id="21" name="Imagen 56">
            <a:extLst>
              <a:ext uri="{FF2B5EF4-FFF2-40B4-BE49-F238E27FC236}">
                <a16:creationId xmlns:a16="http://schemas.microsoft.com/office/drawing/2014/main" id="{10C95533-72F5-E956-BFE1-D50CBD0C620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549" y="4312094"/>
            <a:ext cx="780190" cy="187429"/>
          </a:xfrm>
          <a:prstGeom prst="rect">
            <a:avLst/>
          </a:prstGeom>
        </p:spPr>
      </p:pic>
      <p:pic>
        <p:nvPicPr>
          <p:cNvPr id="22" name="Imagen 58">
            <a:extLst>
              <a:ext uri="{FF2B5EF4-FFF2-40B4-BE49-F238E27FC236}">
                <a16:creationId xmlns:a16="http://schemas.microsoft.com/office/drawing/2014/main" id="{BAC1A4F5-5A19-7C4C-0842-C87733A4452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276" y="4278570"/>
            <a:ext cx="2403047" cy="254476"/>
          </a:xfrm>
          <a:prstGeom prst="rect">
            <a:avLst/>
          </a:prstGeom>
        </p:spPr>
      </p:pic>
      <p:sp>
        <p:nvSpPr>
          <p:cNvPr id="23" name="CuadroTexto 59">
            <a:extLst>
              <a:ext uri="{FF2B5EF4-FFF2-40B4-BE49-F238E27FC236}">
                <a16:creationId xmlns:a16="http://schemas.microsoft.com/office/drawing/2014/main" id="{DE044601-E1FB-3EE7-B6F6-B36505E36067}"/>
              </a:ext>
            </a:extLst>
          </p:cNvPr>
          <p:cNvSpPr txBox="1"/>
          <p:nvPr/>
        </p:nvSpPr>
        <p:spPr>
          <a:xfrm>
            <a:off x="8377413" y="42211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?????</a:t>
            </a:r>
          </a:p>
        </p:txBody>
      </p:sp>
      <p:pic>
        <p:nvPicPr>
          <p:cNvPr id="24" name="Imagen 61">
            <a:extLst>
              <a:ext uri="{FF2B5EF4-FFF2-40B4-BE49-F238E27FC236}">
                <a16:creationId xmlns:a16="http://schemas.microsoft.com/office/drawing/2014/main" id="{4D3CBABD-757D-544B-2F88-A1B89E9C978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399" y="5467459"/>
            <a:ext cx="3611428" cy="254476"/>
          </a:xfrm>
          <a:prstGeom prst="rect">
            <a:avLst/>
          </a:prstGeom>
        </p:spPr>
      </p:pic>
      <p:sp>
        <p:nvSpPr>
          <p:cNvPr id="25" name="Rectángulo 62">
            <a:extLst>
              <a:ext uri="{FF2B5EF4-FFF2-40B4-BE49-F238E27FC236}">
                <a16:creationId xmlns:a16="http://schemas.microsoft.com/office/drawing/2014/main" id="{3FE5B741-8430-87DE-B2F5-648D2B0493D3}"/>
              </a:ext>
            </a:extLst>
          </p:cNvPr>
          <p:cNvSpPr/>
          <p:nvPr/>
        </p:nvSpPr>
        <p:spPr>
          <a:xfrm>
            <a:off x="7328164" y="5392909"/>
            <a:ext cx="1314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bg1"/>
                </a:solidFill>
              </a:rPr>
              <a:t>NO LINEAL</a:t>
            </a:r>
          </a:p>
        </p:txBody>
      </p:sp>
    </p:spTree>
    <p:extLst>
      <p:ext uri="{BB962C8B-B14F-4D97-AF65-F5344CB8AC3E}">
        <p14:creationId xmlns:p14="http://schemas.microsoft.com/office/powerpoint/2010/main" val="429194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117DB-88D1-31E7-0EE4-843839B5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80E5-99DB-0BDD-7B3B-698425EA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6024D0-B79B-5DEE-426E-7C8A890B8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/>
              <a:t>Ejemplo 3</a:t>
            </a:r>
            <a:endParaRPr lang="es-419" dirty="0"/>
          </a:p>
        </p:txBody>
      </p:sp>
      <p:cxnSp>
        <p:nvCxnSpPr>
          <p:cNvPr id="4" name="Conector de seta reta 9">
            <a:extLst>
              <a:ext uri="{FF2B5EF4-FFF2-40B4-BE49-F238E27FC236}">
                <a16:creationId xmlns:a16="http://schemas.microsoft.com/office/drawing/2014/main" id="{AB3820D6-055D-8C09-E833-F116AEC39CEA}"/>
              </a:ext>
            </a:extLst>
          </p:cNvPr>
          <p:cNvCxnSpPr/>
          <p:nvPr/>
        </p:nvCxnSpPr>
        <p:spPr>
          <a:xfrm>
            <a:off x="2400463" y="2603684"/>
            <a:ext cx="0" cy="37119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10">
            <a:extLst>
              <a:ext uri="{FF2B5EF4-FFF2-40B4-BE49-F238E27FC236}">
                <a16:creationId xmlns:a16="http://schemas.microsoft.com/office/drawing/2014/main" id="{BF95DF15-C6F0-2227-A98D-42FAFB33D7FD}"/>
              </a:ext>
            </a:extLst>
          </p:cNvPr>
          <p:cNvCxnSpPr/>
          <p:nvPr/>
        </p:nvCxnSpPr>
        <p:spPr>
          <a:xfrm flipH="1" flipV="1">
            <a:off x="1384149" y="2603684"/>
            <a:ext cx="1010954" cy="70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11">
            <a:extLst>
              <a:ext uri="{FF2B5EF4-FFF2-40B4-BE49-F238E27FC236}">
                <a16:creationId xmlns:a16="http://schemas.microsoft.com/office/drawing/2014/main" id="{68A4EEC1-9EB9-BA15-CDDB-F1D685599701}"/>
              </a:ext>
            </a:extLst>
          </p:cNvPr>
          <p:cNvCxnSpPr/>
          <p:nvPr/>
        </p:nvCxnSpPr>
        <p:spPr>
          <a:xfrm flipH="1">
            <a:off x="3896448" y="4450409"/>
            <a:ext cx="10087" cy="5631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12">
            <a:extLst>
              <a:ext uri="{FF2B5EF4-FFF2-40B4-BE49-F238E27FC236}">
                <a16:creationId xmlns:a16="http://schemas.microsoft.com/office/drawing/2014/main" id="{84ECCD9D-487E-AF49-885D-9A429C1D0BC8}"/>
              </a:ext>
            </a:extLst>
          </p:cNvPr>
          <p:cNvCxnSpPr/>
          <p:nvPr/>
        </p:nvCxnSpPr>
        <p:spPr>
          <a:xfrm flipH="1" flipV="1">
            <a:off x="2821805" y="4446771"/>
            <a:ext cx="1102660" cy="36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13">
                <a:extLst>
                  <a:ext uri="{FF2B5EF4-FFF2-40B4-BE49-F238E27FC236}">
                    <a16:creationId xmlns:a16="http://schemas.microsoft.com/office/drawing/2014/main" id="{55BB2F2A-FB6C-34A5-59BD-7989A7A98C83}"/>
                  </a:ext>
                </a:extLst>
              </p:cNvPr>
              <p:cNvSpPr txBox="1"/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13">
                <a:extLst>
                  <a:ext uri="{FF2B5EF4-FFF2-40B4-BE49-F238E27FC236}">
                    <a16:creationId xmlns:a16="http://schemas.microsoft.com/office/drawing/2014/main" id="{55BB2F2A-FB6C-34A5-59BD-7989A7A9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blipFill>
                <a:blip r:embed="rId5"/>
                <a:stretch>
                  <a:fillRect l="-25641" r="-5128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14">
                <a:extLst>
                  <a:ext uri="{FF2B5EF4-FFF2-40B4-BE49-F238E27FC236}">
                    <a16:creationId xmlns:a16="http://schemas.microsoft.com/office/drawing/2014/main" id="{7C960B18-143F-5A49-8BCC-137916C25097}"/>
                  </a:ext>
                </a:extLst>
              </p:cNvPr>
              <p:cNvSpPr txBox="1"/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14">
                <a:extLst>
                  <a:ext uri="{FF2B5EF4-FFF2-40B4-BE49-F238E27FC236}">
                    <a16:creationId xmlns:a16="http://schemas.microsoft.com/office/drawing/2014/main" id="{7C960B18-143F-5A49-8BCC-137916C25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blipFill>
                <a:blip r:embed="rId6"/>
                <a:stretch>
                  <a:fillRect l="-22222" r="-8889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to 18">
            <a:extLst>
              <a:ext uri="{FF2B5EF4-FFF2-40B4-BE49-F238E27FC236}">
                <a16:creationId xmlns:a16="http://schemas.microsoft.com/office/drawing/2014/main" id="{CD510327-DBBF-237A-0BB9-F2AF6AD951C8}"/>
              </a:ext>
            </a:extLst>
          </p:cNvPr>
          <p:cNvCxnSpPr/>
          <p:nvPr/>
        </p:nvCxnSpPr>
        <p:spPr>
          <a:xfrm>
            <a:off x="1979121" y="3467510"/>
            <a:ext cx="8426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9">
            <a:extLst>
              <a:ext uri="{FF2B5EF4-FFF2-40B4-BE49-F238E27FC236}">
                <a16:creationId xmlns:a16="http://schemas.microsoft.com/office/drawing/2014/main" id="{94E2E20E-2CD7-795E-2455-B752AF79BEC0}"/>
              </a:ext>
            </a:extLst>
          </p:cNvPr>
          <p:cNvCxnSpPr/>
          <p:nvPr/>
        </p:nvCxnSpPr>
        <p:spPr>
          <a:xfrm>
            <a:off x="2223363" y="3510374"/>
            <a:ext cx="3474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28">
                <a:extLst>
                  <a:ext uri="{FF2B5EF4-FFF2-40B4-BE49-F238E27FC236}">
                    <a16:creationId xmlns:a16="http://schemas.microsoft.com/office/drawing/2014/main" id="{F0E0660A-EBA7-273E-F995-01163869259E}"/>
                  </a:ext>
                </a:extLst>
              </p:cNvPr>
              <p:cNvSpPr txBox="1"/>
              <p:nvPr/>
            </p:nvSpPr>
            <p:spPr>
              <a:xfrm>
                <a:off x="3539804" y="4085445"/>
                <a:ext cx="3365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28">
                <a:extLst>
                  <a:ext uri="{FF2B5EF4-FFF2-40B4-BE49-F238E27FC236}">
                    <a16:creationId xmlns:a16="http://schemas.microsoft.com/office/drawing/2014/main" id="{F0E0660A-EBA7-273E-F995-011638692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804" y="4085445"/>
                <a:ext cx="336567" cy="276999"/>
              </a:xfrm>
              <a:prstGeom prst="rect">
                <a:avLst/>
              </a:prstGeom>
              <a:blipFill>
                <a:blip r:embed="rId7"/>
                <a:stretch>
                  <a:fillRect l="-18182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29">
                <a:extLst>
                  <a:ext uri="{FF2B5EF4-FFF2-40B4-BE49-F238E27FC236}">
                    <a16:creationId xmlns:a16="http://schemas.microsoft.com/office/drawing/2014/main" id="{4153CB4E-5205-4EE5-F60F-3D8A0F729282}"/>
                  </a:ext>
                </a:extLst>
              </p:cNvPr>
              <p:cNvSpPr txBox="1"/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29">
                <a:extLst>
                  <a:ext uri="{FF2B5EF4-FFF2-40B4-BE49-F238E27FC236}">
                    <a16:creationId xmlns:a16="http://schemas.microsoft.com/office/drawing/2014/main" id="{4153CB4E-5205-4EE5-F60F-3D8A0F729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blipFill>
                <a:blip r:embed="rId8"/>
                <a:stretch>
                  <a:fillRect l="-20833" r="-8333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35">
            <a:extLst>
              <a:ext uri="{FF2B5EF4-FFF2-40B4-BE49-F238E27FC236}">
                <a16:creationId xmlns:a16="http://schemas.microsoft.com/office/drawing/2014/main" id="{935D640E-69D0-4E53-4D5E-7F7F788F80C8}"/>
              </a:ext>
            </a:extLst>
          </p:cNvPr>
          <p:cNvCxnSpPr/>
          <p:nvPr/>
        </p:nvCxnSpPr>
        <p:spPr>
          <a:xfrm>
            <a:off x="1979121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38">
            <a:extLst>
              <a:ext uri="{FF2B5EF4-FFF2-40B4-BE49-F238E27FC236}">
                <a16:creationId xmlns:a16="http://schemas.microsoft.com/office/drawing/2014/main" id="{DDA6CB4C-A166-0B65-F0D0-BD78FD382FAC}"/>
              </a:ext>
            </a:extLst>
          </p:cNvPr>
          <p:cNvCxnSpPr/>
          <p:nvPr/>
        </p:nvCxnSpPr>
        <p:spPr>
          <a:xfrm>
            <a:off x="2821805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39">
            <a:extLst>
              <a:ext uri="{FF2B5EF4-FFF2-40B4-BE49-F238E27FC236}">
                <a16:creationId xmlns:a16="http://schemas.microsoft.com/office/drawing/2014/main" id="{214A08B2-5E6E-BDA1-FC45-ADB6EBF4D251}"/>
              </a:ext>
            </a:extLst>
          </p:cNvPr>
          <p:cNvCxnSpPr/>
          <p:nvPr/>
        </p:nvCxnSpPr>
        <p:spPr>
          <a:xfrm flipH="1" flipV="1">
            <a:off x="1979121" y="4608033"/>
            <a:ext cx="842684" cy="118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3">
            <a:extLst>
              <a:ext uri="{FF2B5EF4-FFF2-40B4-BE49-F238E27FC236}">
                <a16:creationId xmlns:a16="http://schemas.microsoft.com/office/drawing/2014/main" id="{31DB448E-9A08-47FA-BB9F-8C29173E8B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777" y="3476401"/>
            <a:ext cx="2705494" cy="673035"/>
          </a:xfrm>
          <a:prstGeom prst="rect">
            <a:avLst/>
          </a:prstGeom>
        </p:spPr>
      </p:pic>
      <p:sp>
        <p:nvSpPr>
          <p:cNvPr id="18" name="Rectángulo 8">
            <a:extLst>
              <a:ext uri="{FF2B5EF4-FFF2-40B4-BE49-F238E27FC236}">
                <a16:creationId xmlns:a16="http://schemas.microsoft.com/office/drawing/2014/main" id="{8986F5F8-8A70-82B6-3A8B-44B8A29C0F29}"/>
              </a:ext>
            </a:extLst>
          </p:cNvPr>
          <p:cNvSpPr/>
          <p:nvPr/>
        </p:nvSpPr>
        <p:spPr>
          <a:xfrm>
            <a:off x="30480" y="54296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El flujo de salida del tanque para el caso de una sección transversal S es:</a:t>
            </a:r>
          </a:p>
        </p:txBody>
      </p:sp>
      <p:pic>
        <p:nvPicPr>
          <p:cNvPr id="19" name="Imagen 4">
            <a:extLst>
              <a:ext uri="{FF2B5EF4-FFF2-40B4-BE49-F238E27FC236}">
                <a16:creationId xmlns:a16="http://schemas.microsoft.com/office/drawing/2014/main" id="{FF93E740-253C-23B0-B624-2C44793A5B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21" y="5842816"/>
            <a:ext cx="1556190" cy="321778"/>
          </a:xfrm>
          <a:prstGeom prst="rect">
            <a:avLst/>
          </a:prstGeom>
        </p:spPr>
      </p:pic>
      <p:pic>
        <p:nvPicPr>
          <p:cNvPr id="20" name="Imagen 6">
            <a:extLst>
              <a:ext uri="{FF2B5EF4-FFF2-40B4-BE49-F238E27FC236}">
                <a16:creationId xmlns:a16="http://schemas.microsoft.com/office/drawing/2014/main" id="{384F6A14-059F-66E6-EA2A-3716BA957F6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540" y="4655066"/>
            <a:ext cx="3945829" cy="716887"/>
          </a:xfrm>
          <a:prstGeom prst="rect">
            <a:avLst/>
          </a:prstGeom>
        </p:spPr>
      </p:pic>
      <p:sp>
        <p:nvSpPr>
          <p:cNvPr id="21" name="Rectángulo 72">
            <a:extLst>
              <a:ext uri="{FF2B5EF4-FFF2-40B4-BE49-F238E27FC236}">
                <a16:creationId xmlns:a16="http://schemas.microsoft.com/office/drawing/2014/main" id="{C9CC53B6-3580-7D24-40BA-F6A7E94B1147}"/>
              </a:ext>
            </a:extLst>
          </p:cNvPr>
          <p:cNvSpPr/>
          <p:nvPr/>
        </p:nvSpPr>
        <p:spPr>
          <a:xfrm>
            <a:off x="6957316" y="2302272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Sistema: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Tanque</a:t>
            </a:r>
          </a:p>
        </p:txBody>
      </p:sp>
      <p:cxnSp>
        <p:nvCxnSpPr>
          <p:cNvPr id="22" name="Conector recto de flecha 73">
            <a:extLst>
              <a:ext uri="{FF2B5EF4-FFF2-40B4-BE49-F238E27FC236}">
                <a16:creationId xmlns:a16="http://schemas.microsoft.com/office/drawing/2014/main" id="{AD976AFC-2FFA-85D0-DEC6-EBB2168480DB}"/>
              </a:ext>
            </a:extLst>
          </p:cNvPr>
          <p:cNvCxnSpPr>
            <a:cxnSpLocks/>
          </p:cNvCxnSpPr>
          <p:nvPr/>
        </p:nvCxnSpPr>
        <p:spPr>
          <a:xfrm>
            <a:off x="6126480" y="266300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74">
            <a:extLst>
              <a:ext uri="{FF2B5EF4-FFF2-40B4-BE49-F238E27FC236}">
                <a16:creationId xmlns:a16="http://schemas.microsoft.com/office/drawing/2014/main" id="{6B7CB082-C51B-496E-88EC-4C9F3B96D19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413254" y="266300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75">
                <a:extLst>
                  <a:ext uri="{FF2B5EF4-FFF2-40B4-BE49-F238E27FC236}">
                    <a16:creationId xmlns:a16="http://schemas.microsoft.com/office/drawing/2014/main" id="{37E5120F-5EA4-82E4-6032-79BF7F694575}"/>
                  </a:ext>
                </a:extLst>
              </p:cNvPr>
              <p:cNvSpPr txBox="1"/>
              <p:nvPr/>
            </p:nvSpPr>
            <p:spPr>
              <a:xfrm>
                <a:off x="6125479" y="2297592"/>
                <a:ext cx="2480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uadroTexto 75">
                <a:extLst>
                  <a:ext uri="{FF2B5EF4-FFF2-40B4-BE49-F238E27FC236}">
                    <a16:creationId xmlns:a16="http://schemas.microsoft.com/office/drawing/2014/main" id="{37E5120F-5EA4-82E4-6032-79BF7F694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479" y="2297592"/>
                <a:ext cx="248081" cy="276999"/>
              </a:xfrm>
              <a:prstGeom prst="rect">
                <a:avLst/>
              </a:prstGeom>
              <a:blipFill>
                <a:blip r:embed="rId12"/>
                <a:stretch>
                  <a:fillRect l="-24390" r="-2439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76">
                <a:extLst>
                  <a:ext uri="{FF2B5EF4-FFF2-40B4-BE49-F238E27FC236}">
                    <a16:creationId xmlns:a16="http://schemas.microsoft.com/office/drawing/2014/main" id="{D180A9A4-A83F-3080-8858-29E9AC315EBC}"/>
                  </a:ext>
                </a:extLst>
              </p:cNvPr>
              <p:cNvSpPr txBox="1"/>
              <p:nvPr/>
            </p:nvSpPr>
            <p:spPr>
              <a:xfrm>
                <a:off x="8883825" y="2746747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uadroTexto 76">
                <a:extLst>
                  <a:ext uri="{FF2B5EF4-FFF2-40B4-BE49-F238E27FC236}">
                    <a16:creationId xmlns:a16="http://schemas.microsoft.com/office/drawing/2014/main" id="{D180A9A4-A83F-3080-8858-29E9AC315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825" y="2746747"/>
                <a:ext cx="283154" cy="276999"/>
              </a:xfrm>
              <a:prstGeom prst="rect">
                <a:avLst/>
              </a:prstGeom>
              <a:blipFill>
                <a:blip r:embed="rId13"/>
                <a:stretch>
                  <a:fillRect l="-21277" r="-4255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83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516C-13FA-1C25-6A5C-2CEC00E2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DE44-58A6-78CA-E72E-D88993C9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547387-86E7-D070-3EB5-E4192453D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/>
              <a:t>Ejemplo 3</a:t>
            </a:r>
            <a:endParaRPr lang="es-419" dirty="0"/>
          </a:p>
        </p:txBody>
      </p:sp>
      <p:pic>
        <p:nvPicPr>
          <p:cNvPr id="17" name="Imagen 4">
            <a:extLst>
              <a:ext uri="{FF2B5EF4-FFF2-40B4-BE49-F238E27FC236}">
                <a16:creationId xmlns:a16="http://schemas.microsoft.com/office/drawing/2014/main" id="{287D7D6E-FEA4-DD32-CA42-B0BF806A778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072395"/>
            <a:ext cx="3945829" cy="716887"/>
          </a:xfrm>
          <a:prstGeom prst="rect">
            <a:avLst/>
          </a:prstGeom>
        </p:spPr>
      </p:pic>
      <p:sp>
        <p:nvSpPr>
          <p:cNvPr id="18" name="Rectángulo 34">
            <a:extLst>
              <a:ext uri="{FF2B5EF4-FFF2-40B4-BE49-F238E27FC236}">
                <a16:creationId xmlns:a16="http://schemas.microsoft.com/office/drawing/2014/main" id="{E5A4F18C-7B5C-9D94-2AB7-12B2DDE2754C}"/>
              </a:ext>
            </a:extLst>
          </p:cNvPr>
          <p:cNvSpPr/>
          <p:nvPr/>
        </p:nvSpPr>
        <p:spPr>
          <a:xfrm>
            <a:off x="4894959" y="2890921"/>
            <a:ext cx="175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accent2"/>
                </a:solidFill>
              </a:rPr>
              <a:t>homogeneidad</a:t>
            </a:r>
          </a:p>
        </p:txBody>
      </p:sp>
      <p:pic>
        <p:nvPicPr>
          <p:cNvPr id="19" name="Imagen 6">
            <a:extLst>
              <a:ext uri="{FF2B5EF4-FFF2-40B4-BE49-F238E27FC236}">
                <a16:creationId xmlns:a16="http://schemas.microsoft.com/office/drawing/2014/main" id="{FFF3F2AD-4E8B-6610-528D-8FF2F7085DF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911" y="3597748"/>
            <a:ext cx="4498359" cy="716887"/>
          </a:xfrm>
          <a:prstGeom prst="rect">
            <a:avLst/>
          </a:prstGeom>
        </p:spPr>
      </p:pic>
      <p:pic>
        <p:nvPicPr>
          <p:cNvPr id="20" name="Imagen 8">
            <a:extLst>
              <a:ext uri="{FF2B5EF4-FFF2-40B4-BE49-F238E27FC236}">
                <a16:creationId xmlns:a16="http://schemas.microsoft.com/office/drawing/2014/main" id="{FB462C33-B3B1-C200-DCBB-6284701467D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911" y="4731959"/>
            <a:ext cx="4521223" cy="716887"/>
          </a:xfrm>
          <a:prstGeom prst="rect">
            <a:avLst/>
          </a:prstGeom>
        </p:spPr>
      </p:pic>
      <p:sp>
        <p:nvSpPr>
          <p:cNvPr id="21" name="Rectángulo 43">
            <a:extLst>
              <a:ext uri="{FF2B5EF4-FFF2-40B4-BE49-F238E27FC236}">
                <a16:creationId xmlns:a16="http://schemas.microsoft.com/office/drawing/2014/main" id="{821D33B4-AAAB-9E17-4A8C-B99272FBC5E7}"/>
              </a:ext>
            </a:extLst>
          </p:cNvPr>
          <p:cNvSpPr/>
          <p:nvPr/>
        </p:nvSpPr>
        <p:spPr>
          <a:xfrm>
            <a:off x="5126880" y="5681504"/>
            <a:ext cx="1314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accent2"/>
                </a:solidFill>
              </a:rPr>
              <a:t>NO LINEAL</a:t>
            </a:r>
          </a:p>
        </p:txBody>
      </p:sp>
      <p:cxnSp>
        <p:nvCxnSpPr>
          <p:cNvPr id="22" name="Conector de seta reta 9">
            <a:extLst>
              <a:ext uri="{FF2B5EF4-FFF2-40B4-BE49-F238E27FC236}">
                <a16:creationId xmlns:a16="http://schemas.microsoft.com/office/drawing/2014/main" id="{DAB9972B-96E6-D93B-EC95-338D6B3605FA}"/>
              </a:ext>
            </a:extLst>
          </p:cNvPr>
          <p:cNvCxnSpPr/>
          <p:nvPr/>
        </p:nvCxnSpPr>
        <p:spPr>
          <a:xfrm>
            <a:off x="2400463" y="2603684"/>
            <a:ext cx="0" cy="37119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10">
            <a:extLst>
              <a:ext uri="{FF2B5EF4-FFF2-40B4-BE49-F238E27FC236}">
                <a16:creationId xmlns:a16="http://schemas.microsoft.com/office/drawing/2014/main" id="{BA88D2FE-61F7-D061-2802-001318A73712}"/>
              </a:ext>
            </a:extLst>
          </p:cNvPr>
          <p:cNvCxnSpPr/>
          <p:nvPr/>
        </p:nvCxnSpPr>
        <p:spPr>
          <a:xfrm flipH="1" flipV="1">
            <a:off x="1384149" y="2603684"/>
            <a:ext cx="1010954" cy="70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11">
            <a:extLst>
              <a:ext uri="{FF2B5EF4-FFF2-40B4-BE49-F238E27FC236}">
                <a16:creationId xmlns:a16="http://schemas.microsoft.com/office/drawing/2014/main" id="{DC1CA7B7-BBC0-6497-4510-41BEC903EF5F}"/>
              </a:ext>
            </a:extLst>
          </p:cNvPr>
          <p:cNvCxnSpPr/>
          <p:nvPr/>
        </p:nvCxnSpPr>
        <p:spPr>
          <a:xfrm flipH="1">
            <a:off x="3896448" y="4450409"/>
            <a:ext cx="10087" cy="5631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12">
            <a:extLst>
              <a:ext uri="{FF2B5EF4-FFF2-40B4-BE49-F238E27FC236}">
                <a16:creationId xmlns:a16="http://schemas.microsoft.com/office/drawing/2014/main" id="{7FF1AA9B-45A0-EC18-069B-A17B6C8AE8D1}"/>
              </a:ext>
            </a:extLst>
          </p:cNvPr>
          <p:cNvCxnSpPr/>
          <p:nvPr/>
        </p:nvCxnSpPr>
        <p:spPr>
          <a:xfrm flipH="1" flipV="1">
            <a:off x="2821805" y="4446771"/>
            <a:ext cx="1102660" cy="36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13">
                <a:extLst>
                  <a:ext uri="{FF2B5EF4-FFF2-40B4-BE49-F238E27FC236}">
                    <a16:creationId xmlns:a16="http://schemas.microsoft.com/office/drawing/2014/main" id="{311462AB-7CCA-866B-2A84-2DECF3A9770C}"/>
                  </a:ext>
                </a:extLst>
              </p:cNvPr>
              <p:cNvSpPr txBox="1"/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aixaDeTexto 13">
                <a:extLst>
                  <a:ext uri="{FF2B5EF4-FFF2-40B4-BE49-F238E27FC236}">
                    <a16:creationId xmlns:a16="http://schemas.microsoft.com/office/drawing/2014/main" id="{311462AB-7CCA-866B-2A84-2DECF3A97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blipFill>
                <a:blip r:embed="rId8"/>
                <a:stretch>
                  <a:fillRect l="-25641" r="-5128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14">
                <a:extLst>
                  <a:ext uri="{FF2B5EF4-FFF2-40B4-BE49-F238E27FC236}">
                    <a16:creationId xmlns:a16="http://schemas.microsoft.com/office/drawing/2014/main" id="{7FB7403F-3D3A-853E-6C86-AB392F4EA7CC}"/>
                  </a:ext>
                </a:extLst>
              </p:cNvPr>
              <p:cNvSpPr txBox="1"/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ixaDeTexto 14">
                <a:extLst>
                  <a:ext uri="{FF2B5EF4-FFF2-40B4-BE49-F238E27FC236}">
                    <a16:creationId xmlns:a16="http://schemas.microsoft.com/office/drawing/2014/main" id="{7FB7403F-3D3A-853E-6C86-AB392F4EA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blipFill>
                <a:blip r:embed="rId9"/>
                <a:stretch>
                  <a:fillRect l="-22222" r="-8889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to 18">
            <a:extLst>
              <a:ext uri="{FF2B5EF4-FFF2-40B4-BE49-F238E27FC236}">
                <a16:creationId xmlns:a16="http://schemas.microsoft.com/office/drawing/2014/main" id="{B05DBEC5-BF9C-5244-1FD0-E581CA39A30C}"/>
              </a:ext>
            </a:extLst>
          </p:cNvPr>
          <p:cNvCxnSpPr/>
          <p:nvPr/>
        </p:nvCxnSpPr>
        <p:spPr>
          <a:xfrm>
            <a:off x="1979121" y="3467510"/>
            <a:ext cx="8426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19">
            <a:extLst>
              <a:ext uri="{FF2B5EF4-FFF2-40B4-BE49-F238E27FC236}">
                <a16:creationId xmlns:a16="http://schemas.microsoft.com/office/drawing/2014/main" id="{70778340-C57B-9473-1C87-42A6296A3D04}"/>
              </a:ext>
            </a:extLst>
          </p:cNvPr>
          <p:cNvCxnSpPr/>
          <p:nvPr/>
        </p:nvCxnSpPr>
        <p:spPr>
          <a:xfrm>
            <a:off x="2223363" y="3510374"/>
            <a:ext cx="3474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8">
                <a:extLst>
                  <a:ext uri="{FF2B5EF4-FFF2-40B4-BE49-F238E27FC236}">
                    <a16:creationId xmlns:a16="http://schemas.microsoft.com/office/drawing/2014/main" id="{958BAB50-2A01-E3A3-89FF-C7C71C2C9A37}"/>
                  </a:ext>
                </a:extLst>
              </p:cNvPr>
              <p:cNvSpPr txBox="1"/>
              <p:nvPr/>
            </p:nvSpPr>
            <p:spPr>
              <a:xfrm>
                <a:off x="3539804" y="4085445"/>
                <a:ext cx="3365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aixaDeTexto 28">
                <a:extLst>
                  <a:ext uri="{FF2B5EF4-FFF2-40B4-BE49-F238E27FC236}">
                    <a16:creationId xmlns:a16="http://schemas.microsoft.com/office/drawing/2014/main" id="{958BAB50-2A01-E3A3-89FF-C7C71C2C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804" y="4085445"/>
                <a:ext cx="336567" cy="276999"/>
              </a:xfrm>
              <a:prstGeom prst="rect">
                <a:avLst/>
              </a:prstGeom>
              <a:blipFill>
                <a:blip r:embed="rId10"/>
                <a:stretch>
                  <a:fillRect l="-18182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29">
                <a:extLst>
                  <a:ext uri="{FF2B5EF4-FFF2-40B4-BE49-F238E27FC236}">
                    <a16:creationId xmlns:a16="http://schemas.microsoft.com/office/drawing/2014/main" id="{9E3C034E-B104-CFDC-7A58-D0B042304F6B}"/>
                  </a:ext>
                </a:extLst>
              </p:cNvPr>
              <p:cNvSpPr txBox="1"/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29">
                <a:extLst>
                  <a:ext uri="{FF2B5EF4-FFF2-40B4-BE49-F238E27FC236}">
                    <a16:creationId xmlns:a16="http://schemas.microsoft.com/office/drawing/2014/main" id="{9E3C034E-B104-CFDC-7A58-D0B04230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blipFill>
                <a:blip r:embed="rId11"/>
                <a:stretch>
                  <a:fillRect l="-20833" r="-8333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reto 35">
            <a:extLst>
              <a:ext uri="{FF2B5EF4-FFF2-40B4-BE49-F238E27FC236}">
                <a16:creationId xmlns:a16="http://schemas.microsoft.com/office/drawing/2014/main" id="{562A8B17-13FE-B3E1-A1C7-BA7BF1FF429C}"/>
              </a:ext>
            </a:extLst>
          </p:cNvPr>
          <p:cNvCxnSpPr/>
          <p:nvPr/>
        </p:nvCxnSpPr>
        <p:spPr>
          <a:xfrm>
            <a:off x="1979121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8">
            <a:extLst>
              <a:ext uri="{FF2B5EF4-FFF2-40B4-BE49-F238E27FC236}">
                <a16:creationId xmlns:a16="http://schemas.microsoft.com/office/drawing/2014/main" id="{E101C0C3-F81E-E809-ED62-0FCCD67128FC}"/>
              </a:ext>
            </a:extLst>
          </p:cNvPr>
          <p:cNvCxnSpPr/>
          <p:nvPr/>
        </p:nvCxnSpPr>
        <p:spPr>
          <a:xfrm>
            <a:off x="2821805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9">
            <a:extLst>
              <a:ext uri="{FF2B5EF4-FFF2-40B4-BE49-F238E27FC236}">
                <a16:creationId xmlns:a16="http://schemas.microsoft.com/office/drawing/2014/main" id="{EB19E8F9-EA5B-353C-22A3-61971B4FBCCA}"/>
              </a:ext>
            </a:extLst>
          </p:cNvPr>
          <p:cNvCxnSpPr/>
          <p:nvPr/>
        </p:nvCxnSpPr>
        <p:spPr>
          <a:xfrm flipH="1" flipV="1">
            <a:off x="1979121" y="4608033"/>
            <a:ext cx="842684" cy="118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8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EDA5-F32D-5C9C-F32C-76B28DC0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538E-0522-AADA-3B02-D1B87FB6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B36395-ECED-9327-E372-20A278E34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/>
              <a:t>Ejemplo 3</a:t>
            </a:r>
            <a:endParaRPr lang="es-419" dirty="0"/>
          </a:p>
        </p:txBody>
      </p:sp>
      <p:pic>
        <p:nvPicPr>
          <p:cNvPr id="17" name="Imagen 5">
            <a:extLst>
              <a:ext uri="{FF2B5EF4-FFF2-40B4-BE49-F238E27FC236}">
                <a16:creationId xmlns:a16="http://schemas.microsoft.com/office/drawing/2014/main" id="{FB93F043-C490-1061-8350-BF46D24248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072394"/>
            <a:ext cx="3524763" cy="716887"/>
          </a:xfrm>
          <a:prstGeom prst="rect">
            <a:avLst/>
          </a:prstGeom>
        </p:spPr>
      </p:pic>
      <p:sp>
        <p:nvSpPr>
          <p:cNvPr id="18" name="Rectángulo 34">
            <a:extLst>
              <a:ext uri="{FF2B5EF4-FFF2-40B4-BE49-F238E27FC236}">
                <a16:creationId xmlns:a16="http://schemas.microsoft.com/office/drawing/2014/main" id="{D8042F18-77EF-3442-0A3F-01A7BC473CC8}"/>
              </a:ext>
            </a:extLst>
          </p:cNvPr>
          <p:cNvSpPr/>
          <p:nvPr/>
        </p:nvSpPr>
        <p:spPr>
          <a:xfrm>
            <a:off x="4894959" y="2890921"/>
            <a:ext cx="175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accent2"/>
                </a:solidFill>
              </a:rPr>
              <a:t>homogeneidad</a:t>
            </a:r>
          </a:p>
        </p:txBody>
      </p:sp>
      <p:pic>
        <p:nvPicPr>
          <p:cNvPr id="19" name="Imagen 11">
            <a:extLst>
              <a:ext uri="{FF2B5EF4-FFF2-40B4-BE49-F238E27FC236}">
                <a16:creationId xmlns:a16="http://schemas.microsoft.com/office/drawing/2014/main" id="{2DE80BCD-876D-DC4E-A78D-78B9AA96956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911" y="3597749"/>
            <a:ext cx="4077293" cy="716887"/>
          </a:xfrm>
          <a:prstGeom prst="rect">
            <a:avLst/>
          </a:prstGeom>
        </p:spPr>
      </p:pic>
      <p:pic>
        <p:nvPicPr>
          <p:cNvPr id="20" name="Imagen 15">
            <a:extLst>
              <a:ext uri="{FF2B5EF4-FFF2-40B4-BE49-F238E27FC236}">
                <a16:creationId xmlns:a16="http://schemas.microsoft.com/office/drawing/2014/main" id="{183F0919-888B-49C7-EDD1-D9CD3A83E58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910" y="4731960"/>
            <a:ext cx="3732438" cy="716887"/>
          </a:xfrm>
          <a:prstGeom prst="rect">
            <a:avLst/>
          </a:prstGeom>
        </p:spPr>
      </p:pic>
      <p:sp>
        <p:nvSpPr>
          <p:cNvPr id="21" name="Rectángulo 43">
            <a:extLst>
              <a:ext uri="{FF2B5EF4-FFF2-40B4-BE49-F238E27FC236}">
                <a16:creationId xmlns:a16="http://schemas.microsoft.com/office/drawing/2014/main" id="{D7EAA436-5B72-4263-AD2E-138842EF010E}"/>
              </a:ext>
            </a:extLst>
          </p:cNvPr>
          <p:cNvSpPr/>
          <p:nvPr/>
        </p:nvSpPr>
        <p:spPr>
          <a:xfrm>
            <a:off x="5126880" y="5681504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accent2"/>
                </a:solidFill>
              </a:rPr>
              <a:t>CUMPLE</a:t>
            </a:r>
          </a:p>
        </p:txBody>
      </p:sp>
      <p:pic>
        <p:nvPicPr>
          <p:cNvPr id="22" name="Imagen 9">
            <a:extLst>
              <a:ext uri="{FF2B5EF4-FFF2-40B4-BE49-F238E27FC236}">
                <a16:creationId xmlns:a16="http://schemas.microsoft.com/office/drawing/2014/main" id="{0871F1D4-683F-0586-5579-642CD49329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234" y="5054460"/>
            <a:ext cx="1253333" cy="281555"/>
          </a:xfrm>
          <a:prstGeom prst="rect">
            <a:avLst/>
          </a:prstGeom>
        </p:spPr>
      </p:pic>
      <p:cxnSp>
        <p:nvCxnSpPr>
          <p:cNvPr id="23" name="Conector recto 14">
            <a:extLst>
              <a:ext uri="{FF2B5EF4-FFF2-40B4-BE49-F238E27FC236}">
                <a16:creationId xmlns:a16="http://schemas.microsoft.com/office/drawing/2014/main" id="{802FFD4D-54EF-F950-A5D0-9DBC6B49FDDB}"/>
              </a:ext>
            </a:extLst>
          </p:cNvPr>
          <p:cNvCxnSpPr>
            <a:cxnSpLocks/>
          </p:cNvCxnSpPr>
          <p:nvPr/>
        </p:nvCxnSpPr>
        <p:spPr>
          <a:xfrm flipV="1">
            <a:off x="7520224" y="4811639"/>
            <a:ext cx="282905" cy="1791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32">
            <a:extLst>
              <a:ext uri="{FF2B5EF4-FFF2-40B4-BE49-F238E27FC236}">
                <a16:creationId xmlns:a16="http://schemas.microsoft.com/office/drawing/2014/main" id="{62F91F27-A2FC-41BC-CDD5-8A5CB47F1104}"/>
              </a:ext>
            </a:extLst>
          </p:cNvPr>
          <p:cNvCxnSpPr/>
          <p:nvPr/>
        </p:nvCxnSpPr>
        <p:spPr>
          <a:xfrm flipV="1">
            <a:off x="5739622" y="5022170"/>
            <a:ext cx="394575" cy="2815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9">
            <a:extLst>
              <a:ext uri="{FF2B5EF4-FFF2-40B4-BE49-F238E27FC236}">
                <a16:creationId xmlns:a16="http://schemas.microsoft.com/office/drawing/2014/main" id="{95389AA4-74B4-15DC-ABF3-AA719B1FF8DA}"/>
              </a:ext>
            </a:extLst>
          </p:cNvPr>
          <p:cNvCxnSpPr/>
          <p:nvPr/>
        </p:nvCxnSpPr>
        <p:spPr>
          <a:xfrm>
            <a:off x="2400463" y="2603684"/>
            <a:ext cx="0" cy="37119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10">
            <a:extLst>
              <a:ext uri="{FF2B5EF4-FFF2-40B4-BE49-F238E27FC236}">
                <a16:creationId xmlns:a16="http://schemas.microsoft.com/office/drawing/2014/main" id="{D7179BE1-7DD5-3CB0-4242-EBCC60EC968E}"/>
              </a:ext>
            </a:extLst>
          </p:cNvPr>
          <p:cNvCxnSpPr/>
          <p:nvPr/>
        </p:nvCxnSpPr>
        <p:spPr>
          <a:xfrm flipH="1" flipV="1">
            <a:off x="1384149" y="2603684"/>
            <a:ext cx="1010954" cy="70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11">
            <a:extLst>
              <a:ext uri="{FF2B5EF4-FFF2-40B4-BE49-F238E27FC236}">
                <a16:creationId xmlns:a16="http://schemas.microsoft.com/office/drawing/2014/main" id="{9D80C8D8-3BF9-3190-BCAD-6D49AA2FE2B3}"/>
              </a:ext>
            </a:extLst>
          </p:cNvPr>
          <p:cNvCxnSpPr/>
          <p:nvPr/>
        </p:nvCxnSpPr>
        <p:spPr>
          <a:xfrm flipH="1">
            <a:off x="3896448" y="4450409"/>
            <a:ext cx="10087" cy="5631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12">
            <a:extLst>
              <a:ext uri="{FF2B5EF4-FFF2-40B4-BE49-F238E27FC236}">
                <a16:creationId xmlns:a16="http://schemas.microsoft.com/office/drawing/2014/main" id="{860F3C97-D900-DB4C-5363-255E5AC0D92E}"/>
              </a:ext>
            </a:extLst>
          </p:cNvPr>
          <p:cNvCxnSpPr/>
          <p:nvPr/>
        </p:nvCxnSpPr>
        <p:spPr>
          <a:xfrm flipH="1" flipV="1">
            <a:off x="2821805" y="4446771"/>
            <a:ext cx="1102660" cy="36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13">
                <a:extLst>
                  <a:ext uri="{FF2B5EF4-FFF2-40B4-BE49-F238E27FC236}">
                    <a16:creationId xmlns:a16="http://schemas.microsoft.com/office/drawing/2014/main" id="{B0FAFC12-375C-6E76-9B54-71856A34C81E}"/>
                  </a:ext>
                </a:extLst>
              </p:cNvPr>
              <p:cNvSpPr txBox="1"/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13">
                <a:extLst>
                  <a:ext uri="{FF2B5EF4-FFF2-40B4-BE49-F238E27FC236}">
                    <a16:creationId xmlns:a16="http://schemas.microsoft.com/office/drawing/2014/main" id="{B0FAFC12-375C-6E76-9B54-71856A34C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blipFill>
                <a:blip r:embed="rId10"/>
                <a:stretch>
                  <a:fillRect l="-25641" r="-5128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14">
                <a:extLst>
                  <a:ext uri="{FF2B5EF4-FFF2-40B4-BE49-F238E27FC236}">
                    <a16:creationId xmlns:a16="http://schemas.microsoft.com/office/drawing/2014/main" id="{F6228AC7-7C62-CF85-DE04-FF85A1A5B8E0}"/>
                  </a:ext>
                </a:extLst>
              </p:cNvPr>
              <p:cNvSpPr txBox="1"/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aixaDeTexto 14">
                <a:extLst>
                  <a:ext uri="{FF2B5EF4-FFF2-40B4-BE49-F238E27FC236}">
                    <a16:creationId xmlns:a16="http://schemas.microsoft.com/office/drawing/2014/main" id="{F6228AC7-7C62-CF85-DE04-FF85A1A5B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blipFill>
                <a:blip r:embed="rId11"/>
                <a:stretch>
                  <a:fillRect l="-22222" r="-8889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ctor reto 18">
            <a:extLst>
              <a:ext uri="{FF2B5EF4-FFF2-40B4-BE49-F238E27FC236}">
                <a16:creationId xmlns:a16="http://schemas.microsoft.com/office/drawing/2014/main" id="{79DF6ABC-69AE-38C0-CC76-951F3A77EEF5}"/>
              </a:ext>
            </a:extLst>
          </p:cNvPr>
          <p:cNvCxnSpPr/>
          <p:nvPr/>
        </p:nvCxnSpPr>
        <p:spPr>
          <a:xfrm>
            <a:off x="1979121" y="3467510"/>
            <a:ext cx="8426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19">
            <a:extLst>
              <a:ext uri="{FF2B5EF4-FFF2-40B4-BE49-F238E27FC236}">
                <a16:creationId xmlns:a16="http://schemas.microsoft.com/office/drawing/2014/main" id="{3AAC65A3-83BA-BE3D-D52B-F16E7E5F4759}"/>
              </a:ext>
            </a:extLst>
          </p:cNvPr>
          <p:cNvCxnSpPr/>
          <p:nvPr/>
        </p:nvCxnSpPr>
        <p:spPr>
          <a:xfrm>
            <a:off x="2223363" y="3510374"/>
            <a:ext cx="3474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29">
                <a:extLst>
                  <a:ext uri="{FF2B5EF4-FFF2-40B4-BE49-F238E27FC236}">
                    <a16:creationId xmlns:a16="http://schemas.microsoft.com/office/drawing/2014/main" id="{728CA9F8-DA78-B30C-ED4B-C76281667766}"/>
                  </a:ext>
                </a:extLst>
              </p:cNvPr>
              <p:cNvSpPr txBox="1"/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CaixaDeTexto 29">
                <a:extLst>
                  <a:ext uri="{FF2B5EF4-FFF2-40B4-BE49-F238E27FC236}">
                    <a16:creationId xmlns:a16="http://schemas.microsoft.com/office/drawing/2014/main" id="{728CA9F8-DA78-B30C-ED4B-C76281667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blipFill>
                <a:blip r:embed="rId12"/>
                <a:stretch>
                  <a:fillRect l="-20833" r="-8333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to 35">
            <a:extLst>
              <a:ext uri="{FF2B5EF4-FFF2-40B4-BE49-F238E27FC236}">
                <a16:creationId xmlns:a16="http://schemas.microsoft.com/office/drawing/2014/main" id="{3BD48E1B-B9CC-E7A6-9450-E723A36AB92A}"/>
              </a:ext>
            </a:extLst>
          </p:cNvPr>
          <p:cNvCxnSpPr/>
          <p:nvPr/>
        </p:nvCxnSpPr>
        <p:spPr>
          <a:xfrm>
            <a:off x="1979121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8">
            <a:extLst>
              <a:ext uri="{FF2B5EF4-FFF2-40B4-BE49-F238E27FC236}">
                <a16:creationId xmlns:a16="http://schemas.microsoft.com/office/drawing/2014/main" id="{D95A6968-F06A-D307-DB35-926E35DC64D9}"/>
              </a:ext>
            </a:extLst>
          </p:cNvPr>
          <p:cNvCxnSpPr/>
          <p:nvPr/>
        </p:nvCxnSpPr>
        <p:spPr>
          <a:xfrm>
            <a:off x="2821805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9">
            <a:extLst>
              <a:ext uri="{FF2B5EF4-FFF2-40B4-BE49-F238E27FC236}">
                <a16:creationId xmlns:a16="http://schemas.microsoft.com/office/drawing/2014/main" id="{F53101CC-74AA-C7DB-449D-96C03BE09C7F}"/>
              </a:ext>
            </a:extLst>
          </p:cNvPr>
          <p:cNvCxnSpPr/>
          <p:nvPr/>
        </p:nvCxnSpPr>
        <p:spPr>
          <a:xfrm flipH="1" flipV="1">
            <a:off x="1979121" y="4608033"/>
            <a:ext cx="842684" cy="118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06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9CD3-E46A-D5BE-126C-87CC46D2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2F9F-92C2-A608-E17B-F057AE69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y modelos lineales – no lineales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1E3B1-5922-19F3-905D-233076C9E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49576"/>
          </a:xfrm>
        </p:spPr>
        <p:txBody>
          <a:bodyPr/>
          <a:lstStyle/>
          <a:p>
            <a:r>
              <a:rPr lang="es-419" b="1" dirty="0"/>
              <a:t>Ejemplo 3</a:t>
            </a:r>
            <a:endParaRPr lang="es-419" dirty="0"/>
          </a:p>
        </p:txBody>
      </p:sp>
      <p:cxnSp>
        <p:nvCxnSpPr>
          <p:cNvPr id="6" name="Conector de seta reta 11">
            <a:extLst>
              <a:ext uri="{FF2B5EF4-FFF2-40B4-BE49-F238E27FC236}">
                <a16:creationId xmlns:a16="http://schemas.microsoft.com/office/drawing/2014/main" id="{C54FB343-A2A9-941A-2E62-CEEF1E1B2BD5}"/>
              </a:ext>
            </a:extLst>
          </p:cNvPr>
          <p:cNvCxnSpPr/>
          <p:nvPr/>
        </p:nvCxnSpPr>
        <p:spPr>
          <a:xfrm flipH="1">
            <a:off x="3896448" y="4450409"/>
            <a:ext cx="10087" cy="5631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12">
            <a:extLst>
              <a:ext uri="{FF2B5EF4-FFF2-40B4-BE49-F238E27FC236}">
                <a16:creationId xmlns:a16="http://schemas.microsoft.com/office/drawing/2014/main" id="{59665961-6E85-CEDE-86F6-B4490FF9FD64}"/>
              </a:ext>
            </a:extLst>
          </p:cNvPr>
          <p:cNvCxnSpPr/>
          <p:nvPr/>
        </p:nvCxnSpPr>
        <p:spPr>
          <a:xfrm flipH="1" flipV="1">
            <a:off x="2821805" y="4446771"/>
            <a:ext cx="1102660" cy="36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28">
                <a:extLst>
                  <a:ext uri="{FF2B5EF4-FFF2-40B4-BE49-F238E27FC236}">
                    <a16:creationId xmlns:a16="http://schemas.microsoft.com/office/drawing/2014/main" id="{88562144-395E-6830-3538-C03B5D49F542}"/>
                  </a:ext>
                </a:extLst>
              </p:cNvPr>
              <p:cNvSpPr txBox="1"/>
              <p:nvPr/>
            </p:nvSpPr>
            <p:spPr>
              <a:xfrm>
                <a:off x="3539804" y="4085445"/>
                <a:ext cx="3365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aixaDeTexto 28">
                <a:extLst>
                  <a:ext uri="{FF2B5EF4-FFF2-40B4-BE49-F238E27FC236}">
                    <a16:creationId xmlns:a16="http://schemas.microsoft.com/office/drawing/2014/main" id="{88562144-395E-6830-3538-C03B5D49F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804" y="4085445"/>
                <a:ext cx="336567" cy="276999"/>
              </a:xfrm>
              <a:prstGeom prst="rect">
                <a:avLst/>
              </a:prstGeom>
              <a:blipFill>
                <a:blip r:embed="rId9"/>
                <a:stretch>
                  <a:fillRect l="-18182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7">
            <a:extLst>
              <a:ext uri="{FF2B5EF4-FFF2-40B4-BE49-F238E27FC236}">
                <a16:creationId xmlns:a16="http://schemas.microsoft.com/office/drawing/2014/main" id="{9AA281A3-1098-83E9-D742-4B52C93EEE5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072394"/>
            <a:ext cx="3524763" cy="716887"/>
          </a:xfrm>
          <a:prstGeom prst="rect">
            <a:avLst/>
          </a:prstGeom>
        </p:spPr>
      </p:pic>
      <p:sp>
        <p:nvSpPr>
          <p:cNvPr id="18" name="Rectángulo 34">
            <a:extLst>
              <a:ext uri="{FF2B5EF4-FFF2-40B4-BE49-F238E27FC236}">
                <a16:creationId xmlns:a16="http://schemas.microsoft.com/office/drawing/2014/main" id="{C914A89B-78BA-E3B1-B99D-D67C827CAE1C}"/>
              </a:ext>
            </a:extLst>
          </p:cNvPr>
          <p:cNvSpPr/>
          <p:nvPr/>
        </p:nvSpPr>
        <p:spPr>
          <a:xfrm>
            <a:off x="4894959" y="2890921"/>
            <a:ext cx="1709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accent2"/>
                </a:solidFill>
              </a:rPr>
              <a:t>Superposición</a:t>
            </a:r>
          </a:p>
        </p:txBody>
      </p:sp>
      <p:pic>
        <p:nvPicPr>
          <p:cNvPr id="19" name="Imagen 10">
            <a:extLst>
              <a:ext uri="{FF2B5EF4-FFF2-40B4-BE49-F238E27FC236}">
                <a16:creationId xmlns:a16="http://schemas.microsoft.com/office/drawing/2014/main" id="{4423F73A-6CA0-6CCA-9DF0-1E546CFE031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320" y="3377920"/>
            <a:ext cx="3940113" cy="716887"/>
          </a:xfrm>
          <a:prstGeom prst="rect">
            <a:avLst/>
          </a:prstGeom>
        </p:spPr>
      </p:pic>
      <p:pic>
        <p:nvPicPr>
          <p:cNvPr id="20" name="Imagen 12">
            <a:extLst>
              <a:ext uri="{FF2B5EF4-FFF2-40B4-BE49-F238E27FC236}">
                <a16:creationId xmlns:a16="http://schemas.microsoft.com/office/drawing/2014/main" id="{8FA46B2D-DDE7-C573-5F12-20F6EF64BC2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661" y="4373516"/>
            <a:ext cx="3873428" cy="716887"/>
          </a:xfrm>
          <a:prstGeom prst="rect">
            <a:avLst/>
          </a:prstGeom>
        </p:spPr>
      </p:pic>
      <p:pic>
        <p:nvPicPr>
          <p:cNvPr id="21" name="Imagen 15">
            <a:extLst>
              <a:ext uri="{FF2B5EF4-FFF2-40B4-BE49-F238E27FC236}">
                <a16:creationId xmlns:a16="http://schemas.microsoft.com/office/drawing/2014/main" id="{65A8F702-406F-A908-D926-CF7B71516C0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52" y="5520625"/>
            <a:ext cx="2774083" cy="673035"/>
          </a:xfrm>
          <a:prstGeom prst="rect">
            <a:avLst/>
          </a:prstGeom>
        </p:spPr>
      </p:pic>
      <p:pic>
        <p:nvPicPr>
          <p:cNvPr id="22" name="Imagen 17">
            <a:extLst>
              <a:ext uri="{FF2B5EF4-FFF2-40B4-BE49-F238E27FC236}">
                <a16:creationId xmlns:a16="http://schemas.microsoft.com/office/drawing/2014/main" id="{36DD8D9E-9088-3838-FCB5-1860585A28D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974" y="5607375"/>
            <a:ext cx="3261832" cy="673035"/>
          </a:xfrm>
          <a:prstGeom prst="rect">
            <a:avLst/>
          </a:prstGeom>
        </p:spPr>
      </p:pic>
      <p:pic>
        <p:nvPicPr>
          <p:cNvPr id="23" name="Imagen 14">
            <a:extLst>
              <a:ext uri="{FF2B5EF4-FFF2-40B4-BE49-F238E27FC236}">
                <a16:creationId xmlns:a16="http://schemas.microsoft.com/office/drawing/2014/main" id="{38473D01-369A-F38B-A947-0A10886B3E3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646" y="5668844"/>
            <a:ext cx="4254477" cy="550095"/>
          </a:xfrm>
          <a:prstGeom prst="rect">
            <a:avLst/>
          </a:prstGeom>
        </p:spPr>
      </p:pic>
      <p:sp>
        <p:nvSpPr>
          <p:cNvPr id="24" name="Rectángulo 42">
            <a:extLst>
              <a:ext uri="{FF2B5EF4-FFF2-40B4-BE49-F238E27FC236}">
                <a16:creationId xmlns:a16="http://schemas.microsoft.com/office/drawing/2014/main" id="{A19CA2F2-9130-98DD-032D-C841116C41E4}"/>
              </a:ext>
            </a:extLst>
          </p:cNvPr>
          <p:cNvSpPr/>
          <p:nvPr/>
        </p:nvSpPr>
        <p:spPr>
          <a:xfrm>
            <a:off x="9924159" y="5155179"/>
            <a:ext cx="1899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b="1" dirty="0">
                <a:solidFill>
                  <a:schemeClr val="accent2"/>
                </a:solidFill>
              </a:rPr>
              <a:t>SISTEMA LINEAL</a:t>
            </a:r>
          </a:p>
        </p:txBody>
      </p:sp>
      <p:pic>
        <p:nvPicPr>
          <p:cNvPr id="25" name="Imagen 31">
            <a:extLst>
              <a:ext uri="{FF2B5EF4-FFF2-40B4-BE49-F238E27FC236}">
                <a16:creationId xmlns:a16="http://schemas.microsoft.com/office/drawing/2014/main" id="{0D4A7A50-6EC8-4B4E-979F-D6189F5917F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20" y="3765953"/>
            <a:ext cx="1253333" cy="281555"/>
          </a:xfrm>
          <a:prstGeom prst="rect">
            <a:avLst/>
          </a:prstGeom>
        </p:spPr>
      </p:pic>
      <p:cxnSp>
        <p:nvCxnSpPr>
          <p:cNvPr id="26" name="Conector de seta reta 9">
            <a:extLst>
              <a:ext uri="{FF2B5EF4-FFF2-40B4-BE49-F238E27FC236}">
                <a16:creationId xmlns:a16="http://schemas.microsoft.com/office/drawing/2014/main" id="{764E4F6D-4C3C-6458-4D5B-5446661B2483}"/>
              </a:ext>
            </a:extLst>
          </p:cNvPr>
          <p:cNvCxnSpPr/>
          <p:nvPr/>
        </p:nvCxnSpPr>
        <p:spPr>
          <a:xfrm>
            <a:off x="2400463" y="2603684"/>
            <a:ext cx="0" cy="37119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10">
            <a:extLst>
              <a:ext uri="{FF2B5EF4-FFF2-40B4-BE49-F238E27FC236}">
                <a16:creationId xmlns:a16="http://schemas.microsoft.com/office/drawing/2014/main" id="{EA945736-C144-127E-E442-A99FA7430F55}"/>
              </a:ext>
            </a:extLst>
          </p:cNvPr>
          <p:cNvCxnSpPr/>
          <p:nvPr/>
        </p:nvCxnSpPr>
        <p:spPr>
          <a:xfrm flipH="1" flipV="1">
            <a:off x="1384149" y="2603684"/>
            <a:ext cx="1010954" cy="70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11">
            <a:extLst>
              <a:ext uri="{FF2B5EF4-FFF2-40B4-BE49-F238E27FC236}">
                <a16:creationId xmlns:a16="http://schemas.microsoft.com/office/drawing/2014/main" id="{687F1B10-E893-2319-B4FD-797F59415046}"/>
              </a:ext>
            </a:extLst>
          </p:cNvPr>
          <p:cNvCxnSpPr/>
          <p:nvPr/>
        </p:nvCxnSpPr>
        <p:spPr>
          <a:xfrm flipH="1">
            <a:off x="3896448" y="4450409"/>
            <a:ext cx="10087" cy="5631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12">
            <a:extLst>
              <a:ext uri="{FF2B5EF4-FFF2-40B4-BE49-F238E27FC236}">
                <a16:creationId xmlns:a16="http://schemas.microsoft.com/office/drawing/2014/main" id="{9B842DEA-320D-FCB0-D0AD-5F0CCB9A3B7D}"/>
              </a:ext>
            </a:extLst>
          </p:cNvPr>
          <p:cNvCxnSpPr/>
          <p:nvPr/>
        </p:nvCxnSpPr>
        <p:spPr>
          <a:xfrm flipH="1" flipV="1">
            <a:off x="2821805" y="4446771"/>
            <a:ext cx="1102660" cy="36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13">
                <a:extLst>
                  <a:ext uri="{FF2B5EF4-FFF2-40B4-BE49-F238E27FC236}">
                    <a16:creationId xmlns:a16="http://schemas.microsoft.com/office/drawing/2014/main" id="{4E8D7298-0B6C-2800-4EF2-A2EFA9CDAD35}"/>
                  </a:ext>
                </a:extLst>
              </p:cNvPr>
              <p:cNvSpPr txBox="1"/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aixaDeTexto 13">
                <a:extLst>
                  <a:ext uri="{FF2B5EF4-FFF2-40B4-BE49-F238E27FC236}">
                    <a16:creationId xmlns:a16="http://schemas.microsoft.com/office/drawing/2014/main" id="{4E8D7298-0B6C-2800-4EF2-A2EFA9CDA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215" y="2752422"/>
                <a:ext cx="241668" cy="276999"/>
              </a:xfrm>
              <a:prstGeom prst="rect">
                <a:avLst/>
              </a:prstGeom>
              <a:blipFill>
                <a:blip r:embed="rId17"/>
                <a:stretch>
                  <a:fillRect l="-25641" r="-5128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14">
                <a:extLst>
                  <a:ext uri="{FF2B5EF4-FFF2-40B4-BE49-F238E27FC236}">
                    <a16:creationId xmlns:a16="http://schemas.microsoft.com/office/drawing/2014/main" id="{C253B24E-C400-AD5F-341B-3A7059A3AB11}"/>
                  </a:ext>
                </a:extLst>
              </p:cNvPr>
              <p:cNvSpPr txBox="1"/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14">
                <a:extLst>
                  <a:ext uri="{FF2B5EF4-FFF2-40B4-BE49-F238E27FC236}">
                    <a16:creationId xmlns:a16="http://schemas.microsoft.com/office/drawing/2014/main" id="{C253B24E-C400-AD5F-341B-3A7059A3A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363" y="3736364"/>
                <a:ext cx="276742" cy="276999"/>
              </a:xfrm>
              <a:prstGeom prst="rect">
                <a:avLst/>
              </a:prstGeom>
              <a:blipFill>
                <a:blip r:embed="rId18"/>
                <a:stretch>
                  <a:fillRect l="-22222" r="-8889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reto 18">
            <a:extLst>
              <a:ext uri="{FF2B5EF4-FFF2-40B4-BE49-F238E27FC236}">
                <a16:creationId xmlns:a16="http://schemas.microsoft.com/office/drawing/2014/main" id="{B7CB8901-2E85-D58F-6D4B-5FB40001CC3C}"/>
              </a:ext>
            </a:extLst>
          </p:cNvPr>
          <p:cNvCxnSpPr/>
          <p:nvPr/>
        </p:nvCxnSpPr>
        <p:spPr>
          <a:xfrm>
            <a:off x="1979121" y="3467510"/>
            <a:ext cx="8426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19">
            <a:extLst>
              <a:ext uri="{FF2B5EF4-FFF2-40B4-BE49-F238E27FC236}">
                <a16:creationId xmlns:a16="http://schemas.microsoft.com/office/drawing/2014/main" id="{08AD529B-3BEB-D51E-4ABA-E0478FEA5292}"/>
              </a:ext>
            </a:extLst>
          </p:cNvPr>
          <p:cNvCxnSpPr/>
          <p:nvPr/>
        </p:nvCxnSpPr>
        <p:spPr>
          <a:xfrm>
            <a:off x="2223363" y="3510374"/>
            <a:ext cx="3474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29">
                <a:extLst>
                  <a:ext uri="{FF2B5EF4-FFF2-40B4-BE49-F238E27FC236}">
                    <a16:creationId xmlns:a16="http://schemas.microsoft.com/office/drawing/2014/main" id="{7B957AC6-9724-20D3-1EBA-2540359BF56F}"/>
                  </a:ext>
                </a:extLst>
              </p:cNvPr>
              <p:cNvSpPr txBox="1"/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aixaDeTexto 29">
                <a:extLst>
                  <a:ext uri="{FF2B5EF4-FFF2-40B4-BE49-F238E27FC236}">
                    <a16:creationId xmlns:a16="http://schemas.microsoft.com/office/drawing/2014/main" id="{7B957AC6-9724-20D3-1EBA-2540359BF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558" y="4624236"/>
                <a:ext cx="294376" cy="276999"/>
              </a:xfrm>
              <a:prstGeom prst="rect">
                <a:avLst/>
              </a:prstGeom>
              <a:blipFill>
                <a:blip r:embed="rId19"/>
                <a:stretch>
                  <a:fillRect l="-20833" r="-8333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E756B6ED-7A04-8235-B808-7A2C9CFC451B}"/>
              </a:ext>
            </a:extLst>
          </p:cNvPr>
          <p:cNvCxnSpPr/>
          <p:nvPr/>
        </p:nvCxnSpPr>
        <p:spPr>
          <a:xfrm>
            <a:off x="1979121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8">
            <a:extLst>
              <a:ext uri="{FF2B5EF4-FFF2-40B4-BE49-F238E27FC236}">
                <a16:creationId xmlns:a16="http://schemas.microsoft.com/office/drawing/2014/main" id="{15BE9989-EFBC-C28B-818C-57AB5448C3DE}"/>
              </a:ext>
            </a:extLst>
          </p:cNvPr>
          <p:cNvCxnSpPr/>
          <p:nvPr/>
        </p:nvCxnSpPr>
        <p:spPr>
          <a:xfrm>
            <a:off x="2821805" y="3037287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9">
            <a:extLst>
              <a:ext uri="{FF2B5EF4-FFF2-40B4-BE49-F238E27FC236}">
                <a16:creationId xmlns:a16="http://schemas.microsoft.com/office/drawing/2014/main" id="{994E1ACC-6635-5DA0-FFDD-FD4BE20F5A6B}"/>
              </a:ext>
            </a:extLst>
          </p:cNvPr>
          <p:cNvCxnSpPr/>
          <p:nvPr/>
        </p:nvCxnSpPr>
        <p:spPr>
          <a:xfrm flipH="1" flipV="1">
            <a:off x="1979121" y="4608033"/>
            <a:ext cx="842684" cy="118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43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120C6-13F7-4D9C-BF10-BD131643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Determinísticos y Estocásticos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9C7C69-EBAD-4AF0-B372-11BBC5CB8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341349"/>
          </a:xfrm>
        </p:spPr>
        <p:txBody>
          <a:bodyPr>
            <a:normAutofit fontScale="77500" lnSpcReduction="20000"/>
          </a:bodyPr>
          <a:lstStyle/>
          <a:p>
            <a:r>
              <a:rPr lang="es-419" b="1" dirty="0"/>
              <a:t>Modelo determinístico: </a:t>
            </a:r>
            <a:r>
              <a:rPr lang="es-419" dirty="0"/>
              <a:t>El resultado del sistema (salida) es totalmente predeterminado en función de los datos de entrada.</a:t>
            </a:r>
          </a:p>
          <a:p>
            <a:r>
              <a:rPr lang="es-419" dirty="0" err="1"/>
              <a:t>Ej</a:t>
            </a:r>
            <a:r>
              <a:rPr lang="es-419" dirty="0"/>
              <a:t>: Balance de masas, energía y cantidad de movimiento (principios fisicoquímicos), balance de poblaciones, modelos empíricos (ajuste empírico de datos de planta)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777CEFF-C198-4556-8E97-555D96EB2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18" y="3187083"/>
            <a:ext cx="3286125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B49D6340-0243-4784-8D4C-19502880C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18" y="4897685"/>
            <a:ext cx="35147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Imagen relacionada">
            <a:extLst>
              <a:ext uri="{FF2B5EF4-FFF2-40B4-BE49-F238E27FC236}">
                <a16:creationId xmlns:a16="http://schemas.microsoft.com/office/drawing/2014/main" id="{EA5457B6-CD2E-4F21-97B1-C27881F4A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012" y="3429000"/>
            <a:ext cx="5145629" cy="257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2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120C6-13F7-4D9C-BF10-BD131643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Determinísticos y Estocásticos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9C7C69-EBAD-4AF0-B372-11BBC5CB8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950732"/>
          </a:xfrm>
        </p:spPr>
        <p:txBody>
          <a:bodyPr>
            <a:normAutofit fontScale="77500" lnSpcReduction="20000"/>
          </a:bodyPr>
          <a:lstStyle/>
          <a:p>
            <a:r>
              <a:rPr lang="es-419" b="1" dirty="0"/>
              <a:t>Modelos Estocásticos: </a:t>
            </a:r>
            <a:r>
              <a:rPr lang="es-419" dirty="0"/>
              <a:t>Son resultados en la salida del sistema que no dependen </a:t>
            </a:r>
            <a:r>
              <a:rPr lang="es-419" u="sng" dirty="0"/>
              <a:t>solamente</a:t>
            </a:r>
            <a:r>
              <a:rPr lang="es-419" dirty="0"/>
              <a:t> de los datos de entrada, si no que también dependen de otros factores normalmente aleatorios. Lo que requiere de un modelo probabilístico.</a:t>
            </a:r>
            <a:endParaRPr lang="es-419" b="1" dirty="0"/>
          </a:p>
        </p:txBody>
      </p:sp>
      <p:pic>
        <p:nvPicPr>
          <p:cNvPr id="2050" name="Picture 2" descr="Resultado de imagen para publico en un teatro">
            <a:extLst>
              <a:ext uri="{FF2B5EF4-FFF2-40B4-BE49-F238E27FC236}">
                <a16:creationId xmlns:a16="http://schemas.microsoft.com/office/drawing/2014/main" id="{B2E3740A-7415-447E-A69C-74CFE40D4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14" y="3213224"/>
            <a:ext cx="3559153" cy="200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3">
            <a:extLst>
              <a:ext uri="{FF2B5EF4-FFF2-40B4-BE49-F238E27FC236}">
                <a16:creationId xmlns:a16="http://schemas.microsoft.com/office/drawing/2014/main" id="{1C608365-4E8A-436A-A433-F03BC1CC3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624" y="2848642"/>
            <a:ext cx="1847886" cy="1788001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612F47F7-66C7-47A0-AE4A-DA2892F30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533" y="2770201"/>
            <a:ext cx="2604082" cy="194488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3F5D2B6-EE00-44FC-A4A1-0256CA7AAB97}"/>
              </a:ext>
            </a:extLst>
          </p:cNvPr>
          <p:cNvSpPr/>
          <p:nvPr/>
        </p:nvSpPr>
        <p:spPr>
          <a:xfrm>
            <a:off x="7636748" y="4994262"/>
            <a:ext cx="1455938" cy="72147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Sistema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61B6AD6-097E-42D4-A915-3D04C69269D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804911" y="535499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D5AA83B-EA20-459F-A906-13E5A81BA91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092686" y="5354999"/>
            <a:ext cx="8318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F33DB35-5F52-4A5E-9314-2198CDACB720}"/>
                  </a:ext>
                </a:extLst>
              </p:cNvPr>
              <p:cNvSpPr txBox="1"/>
              <p:nvPr/>
            </p:nvSpPr>
            <p:spPr>
              <a:xfrm>
                <a:off x="6805912" y="5488187"/>
                <a:ext cx="191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F33DB35-5F52-4A5E-9314-2198CDACB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912" y="5488187"/>
                <a:ext cx="191784" cy="276999"/>
              </a:xfrm>
              <a:prstGeom prst="rect">
                <a:avLst/>
              </a:prstGeom>
              <a:blipFill>
                <a:blip r:embed="rId5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55D8117-6999-40DF-AFEB-50AD1389104E}"/>
                  </a:ext>
                </a:extLst>
              </p:cNvPr>
              <p:cNvSpPr txBox="1"/>
              <p:nvPr/>
            </p:nvSpPr>
            <p:spPr>
              <a:xfrm>
                <a:off x="9563257" y="5438737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55D8117-6999-40DF-AFEB-50AD13891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257" y="5438737"/>
                <a:ext cx="180306" cy="276999"/>
              </a:xfrm>
              <a:prstGeom prst="rect">
                <a:avLst/>
              </a:prstGeom>
              <a:blipFill>
                <a:blip r:embed="rId6"/>
                <a:stretch>
                  <a:fillRect l="-34483" r="-34483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o explicativo retangular com cantos arredondados 8">
            <a:extLst>
              <a:ext uri="{FF2B5EF4-FFF2-40B4-BE49-F238E27FC236}">
                <a16:creationId xmlns:a16="http://schemas.microsoft.com/office/drawing/2014/main" id="{91CEB337-A806-483E-B740-3A572B668D00}"/>
              </a:ext>
            </a:extLst>
          </p:cNvPr>
          <p:cNvSpPr/>
          <p:nvPr/>
        </p:nvSpPr>
        <p:spPr>
          <a:xfrm>
            <a:off x="9374819" y="2770201"/>
            <a:ext cx="2508346" cy="2043692"/>
          </a:xfrm>
          <a:prstGeom prst="wedgeRoundRectCallout">
            <a:avLst>
              <a:gd name="adj1" fmla="val -38509"/>
              <a:gd name="adj2" fmla="val 80011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688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1" grpId="0"/>
      <p:bldP spid="12" grpId="0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81581-557D-412B-8A51-DD7D8734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Concentrados y Distribuidos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CBCD5-D7A9-4B38-BB4D-430723B01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087074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¿Cómo se distribuyen la masa, la energía y la cantidad de movimiento en el espacio?</a:t>
            </a:r>
          </a:p>
          <a:p>
            <a:r>
              <a:rPr lang="es-ES" dirty="0"/>
              <a:t>En un </a:t>
            </a:r>
            <a:r>
              <a:rPr lang="es-ES" b="1" dirty="0"/>
              <a:t>sistema concentrado</a:t>
            </a:r>
            <a:r>
              <a:rPr lang="es-ES" dirty="0"/>
              <a:t>, no hay variaciones espaciales en los valores de las variables del proceso, o estas variaciones son insignificantes. Una variable se concentra en un único valor sobre el espacio.</a:t>
            </a:r>
          </a:p>
          <a:p>
            <a:r>
              <a:rPr lang="es-ES" dirty="0"/>
              <a:t>En un </a:t>
            </a:r>
            <a:r>
              <a:rPr lang="es-ES" b="1" dirty="0"/>
              <a:t>sistema distribuido</a:t>
            </a:r>
            <a:r>
              <a:rPr lang="es-ES" dirty="0"/>
              <a:t>, hay variaciones espaciales en los valores de las variables del proceso. Una variable se distribuye en valores sobre el espacio.</a:t>
            </a:r>
            <a:endParaRPr lang="es-419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CDAF4F-79EC-48AF-A6D7-30F037B2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C29E56-4844-4B94-B5F4-F4C403B27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831" y="3932808"/>
            <a:ext cx="5101158" cy="19807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3F9C04C-A6C2-43FB-9831-90D7C1A71606}"/>
              </a:ext>
            </a:extLst>
          </p:cNvPr>
          <p:cNvSpPr txBox="1"/>
          <p:nvPr/>
        </p:nvSpPr>
        <p:spPr>
          <a:xfrm>
            <a:off x="3222594" y="5728911"/>
            <a:ext cx="2569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Ecuaciones Algebraicas o </a:t>
            </a:r>
          </a:p>
          <a:p>
            <a:r>
              <a:rPr lang="es-419" dirty="0"/>
              <a:t>Diferenciales Ordinarias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6526D8-B915-43AB-934D-78CF246F918E}"/>
              </a:ext>
            </a:extLst>
          </p:cNvPr>
          <p:cNvSpPr txBox="1"/>
          <p:nvPr/>
        </p:nvSpPr>
        <p:spPr>
          <a:xfrm>
            <a:off x="6232125" y="5544245"/>
            <a:ext cx="335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Ecuaciones Diferenciales Parciales</a:t>
            </a:r>
          </a:p>
        </p:txBody>
      </p:sp>
    </p:spTree>
    <p:extLst>
      <p:ext uri="{BB962C8B-B14F-4D97-AF65-F5344CB8AC3E}">
        <p14:creationId xmlns:p14="http://schemas.microsoft.com/office/powerpoint/2010/main" val="76301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CDA35-89CB-4D7C-83A1-B94D988C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Continuos y Discretos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B43A67-DEE7-4533-B037-7EC29AB38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Modelos que describen el comportamiento del sistema en función de la variable independiente (tiempo). </a:t>
            </a:r>
          </a:p>
          <a:p>
            <a:r>
              <a:rPr lang="es-419" dirty="0"/>
              <a:t>Por lo tanto, </a:t>
            </a:r>
            <a:r>
              <a:rPr lang="es-ES" dirty="0"/>
              <a:t>un sistema de </a:t>
            </a:r>
            <a:r>
              <a:rPr lang="es-ES" b="1" dirty="0"/>
              <a:t>evolución continua</a:t>
            </a:r>
            <a:r>
              <a:rPr lang="es-ES" dirty="0"/>
              <a:t> las variables de interés asumen algún valor en cada instante, mientras que en </a:t>
            </a:r>
            <a:r>
              <a:rPr lang="es-ES" b="1" dirty="0"/>
              <a:t>sistemas discretos </a:t>
            </a:r>
            <a:r>
              <a:rPr lang="es-ES" dirty="0"/>
              <a:t>los valores de las variables, cambian tan sólo en ciertos instantes de tiempo. </a:t>
            </a:r>
            <a:endParaRPr lang="es-419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C50F92-1A48-48D5-8F13-469EB25A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414EE5-98A3-4085-A405-6FF885DA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3857414"/>
            <a:ext cx="5652486" cy="20464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636F373-7848-43AD-B0D0-8F886D1401C4}"/>
              </a:ext>
            </a:extLst>
          </p:cNvPr>
          <p:cNvSpPr txBox="1"/>
          <p:nvPr/>
        </p:nvSpPr>
        <p:spPr>
          <a:xfrm>
            <a:off x="1731145" y="3672748"/>
            <a:ext cx="183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Función Continua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A40D2D-BA9A-4F54-B885-B0D1CB9AC1E1}"/>
              </a:ext>
            </a:extLst>
          </p:cNvPr>
          <p:cNvSpPr txBox="1"/>
          <p:nvPr/>
        </p:nvSpPr>
        <p:spPr>
          <a:xfrm>
            <a:off x="4483222" y="3672748"/>
            <a:ext cx="1740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Función Discreta</a:t>
            </a:r>
          </a:p>
        </p:txBody>
      </p:sp>
    </p:spTree>
    <p:extLst>
      <p:ext uri="{BB962C8B-B14F-4D97-AF65-F5344CB8AC3E}">
        <p14:creationId xmlns:p14="http://schemas.microsoft.com/office/powerpoint/2010/main" val="20674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37EC3-E987-48B2-B0B1-CE845012A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Causales y No Causales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8AA3D8-E4FF-4BDA-86D6-B9117080A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217062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Un </a:t>
            </a:r>
            <a:r>
              <a:rPr lang="es-ES" b="1" dirty="0"/>
              <a:t>sistema causal </a:t>
            </a:r>
            <a:r>
              <a:rPr lang="es-ES" dirty="0"/>
              <a:t>es aquel cuya salida es una consecuencia del </a:t>
            </a:r>
            <a:r>
              <a:rPr lang="es-ES" b="1" dirty="0"/>
              <a:t>valor actual y pasado </a:t>
            </a:r>
            <a:r>
              <a:rPr lang="es-ES" dirty="0"/>
              <a:t>de la señal de entrada. Los </a:t>
            </a:r>
            <a:r>
              <a:rPr lang="es-ES" b="1" dirty="0"/>
              <a:t>sistemas no causales </a:t>
            </a:r>
            <a:r>
              <a:rPr lang="es-ES" dirty="0"/>
              <a:t>generalmente surgen de algoritmos matemáticos y son representaciones abstractas.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E61409F-E3A2-48BE-B70E-484EB8E51377}"/>
                  </a:ext>
                </a:extLst>
              </p:cNvPr>
              <p:cNvSpPr txBox="1"/>
              <p:nvPr/>
            </p:nvSpPr>
            <p:spPr>
              <a:xfrm>
                <a:off x="1393793" y="3604455"/>
                <a:ext cx="56087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E61409F-E3A2-48BE-B70E-484EB8E5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793" y="3604455"/>
                <a:ext cx="5608715" cy="276999"/>
              </a:xfrm>
              <a:prstGeom prst="rect">
                <a:avLst/>
              </a:prstGeom>
              <a:blipFill>
                <a:blip r:embed="rId2"/>
                <a:stretch>
                  <a:fillRect l="-543" t="-2174" r="-1087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816B3D8-F604-4D8E-A521-F4A93510CC85}"/>
                  </a:ext>
                </a:extLst>
              </p:cNvPr>
              <p:cNvSpPr txBox="1"/>
              <p:nvPr/>
            </p:nvSpPr>
            <p:spPr>
              <a:xfrm>
                <a:off x="1393793" y="4893620"/>
                <a:ext cx="56087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816B3D8-F604-4D8E-A521-F4A93510C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793" y="4893620"/>
                <a:ext cx="5608715" cy="276999"/>
              </a:xfrm>
              <a:prstGeom prst="rect">
                <a:avLst/>
              </a:prstGeom>
              <a:blipFill>
                <a:blip r:embed="rId3"/>
                <a:stretch>
                  <a:fillRect l="-543" t="-2222" r="-1087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023BC721-A587-40E2-8F4F-77B17C5086C9}"/>
              </a:ext>
            </a:extLst>
          </p:cNvPr>
          <p:cNvSpPr/>
          <p:nvPr/>
        </p:nvSpPr>
        <p:spPr>
          <a:xfrm>
            <a:off x="1393793" y="3144658"/>
            <a:ext cx="181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sistema causal </a:t>
            </a:r>
            <a:endParaRPr lang="es-419" dirty="0">
              <a:solidFill>
                <a:schemeClr val="accent2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10FEF9-BB4B-412E-9C7C-3E2EF8054647}"/>
              </a:ext>
            </a:extLst>
          </p:cNvPr>
          <p:cNvSpPr/>
          <p:nvPr/>
        </p:nvSpPr>
        <p:spPr>
          <a:xfrm>
            <a:off x="1393793" y="4576624"/>
            <a:ext cx="2128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sistema no causal </a:t>
            </a:r>
            <a:endParaRPr lang="es-419" dirty="0">
              <a:solidFill>
                <a:schemeClr val="accent2"/>
              </a:solidFill>
            </a:endParaRP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5AEC21FA-D8CF-45D0-A814-2611B7EDF53E}"/>
              </a:ext>
            </a:extLst>
          </p:cNvPr>
          <p:cNvSpPr/>
          <p:nvPr/>
        </p:nvSpPr>
        <p:spPr>
          <a:xfrm rot="5400000">
            <a:off x="6342226" y="4908227"/>
            <a:ext cx="466335" cy="95878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7CEEEE-4A86-466C-B680-71FBD5173F9D}"/>
              </a:ext>
            </a:extLst>
          </p:cNvPr>
          <p:cNvSpPr txBox="1"/>
          <p:nvPr/>
        </p:nvSpPr>
        <p:spPr>
          <a:xfrm>
            <a:off x="6170731" y="5670955"/>
            <a:ext cx="837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Futuro</a:t>
            </a:r>
          </a:p>
        </p:txBody>
      </p:sp>
      <p:cxnSp>
        <p:nvCxnSpPr>
          <p:cNvPr id="11" name="Conector de seta reta 5">
            <a:extLst>
              <a:ext uri="{FF2B5EF4-FFF2-40B4-BE49-F238E27FC236}">
                <a16:creationId xmlns:a16="http://schemas.microsoft.com/office/drawing/2014/main" id="{1655D1A6-A9CB-4B65-B68A-43F9BF7F738A}"/>
              </a:ext>
            </a:extLst>
          </p:cNvPr>
          <p:cNvCxnSpPr>
            <a:cxnSpLocks/>
          </p:cNvCxnSpPr>
          <p:nvPr/>
        </p:nvCxnSpPr>
        <p:spPr>
          <a:xfrm flipV="1">
            <a:off x="8286004" y="2855142"/>
            <a:ext cx="0" cy="1906148"/>
          </a:xfrm>
          <a:prstGeom prst="straightConnector1">
            <a:avLst/>
          </a:prstGeom>
          <a:ln w="57150">
            <a:solidFill>
              <a:schemeClr val="accent6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9D10947-14CF-4B04-BF74-9FFDD37F3F51}"/>
              </a:ext>
            </a:extLst>
          </p:cNvPr>
          <p:cNvCxnSpPr>
            <a:cxnSpLocks/>
          </p:cNvCxnSpPr>
          <p:nvPr/>
        </p:nvCxnSpPr>
        <p:spPr>
          <a:xfrm flipV="1">
            <a:off x="8249490" y="4761290"/>
            <a:ext cx="2906190" cy="1"/>
          </a:xfrm>
          <a:prstGeom prst="straightConnector1">
            <a:avLst/>
          </a:prstGeom>
          <a:ln w="57150">
            <a:solidFill>
              <a:schemeClr val="accent6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8FC887EC-B951-4E15-A49D-B1967A646450}"/>
                  </a:ext>
                </a:extLst>
              </p:cNvPr>
              <p:cNvSpPr/>
              <p:nvPr/>
            </p:nvSpPr>
            <p:spPr>
              <a:xfrm>
                <a:off x="7549486" y="2734395"/>
                <a:ext cx="6963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8FC887EC-B951-4E15-A49D-B1967A6464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486" y="2734395"/>
                <a:ext cx="696344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0B88A9F2-823E-4D26-BAA8-C980D0609BB8}"/>
                  </a:ext>
                </a:extLst>
              </p:cNvPr>
              <p:cNvSpPr/>
              <p:nvPr/>
            </p:nvSpPr>
            <p:spPr>
              <a:xfrm>
                <a:off x="10854433" y="4824447"/>
                <a:ext cx="5071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0B88A9F2-823E-4D26-BAA8-C980D0609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4433" y="4824447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09378450-26D5-40F6-8228-1B8CEC65F33D}"/>
              </a:ext>
            </a:extLst>
          </p:cNvPr>
          <p:cNvSpPr/>
          <p:nvPr/>
        </p:nvSpPr>
        <p:spPr>
          <a:xfrm>
            <a:off x="8300621" y="3932808"/>
            <a:ext cx="807868" cy="790112"/>
          </a:xfrm>
          <a:custGeom>
            <a:avLst/>
            <a:gdLst>
              <a:gd name="connsiteX0" fmla="*/ 0 w 807868"/>
              <a:gd name="connsiteY0" fmla="*/ 790112 h 790112"/>
              <a:gd name="connsiteX1" fmla="*/ 213064 w 807868"/>
              <a:gd name="connsiteY1" fmla="*/ 656947 h 790112"/>
              <a:gd name="connsiteX2" fmla="*/ 523783 w 807868"/>
              <a:gd name="connsiteY2" fmla="*/ 248575 h 790112"/>
              <a:gd name="connsiteX3" fmla="*/ 807868 w 807868"/>
              <a:gd name="connsiteY3" fmla="*/ 0 h 790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7868" h="790112">
                <a:moveTo>
                  <a:pt x="0" y="790112"/>
                </a:moveTo>
                <a:cubicBezTo>
                  <a:pt x="62883" y="768657"/>
                  <a:pt x="125767" y="747203"/>
                  <a:pt x="213064" y="656947"/>
                </a:cubicBezTo>
                <a:cubicBezTo>
                  <a:pt x="300361" y="566691"/>
                  <a:pt x="424649" y="358066"/>
                  <a:pt x="523783" y="248575"/>
                </a:cubicBezTo>
                <a:cubicBezTo>
                  <a:pt x="622917" y="139084"/>
                  <a:pt x="715392" y="69542"/>
                  <a:pt x="807868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27EC3969-5A0C-4970-9A23-80FBE802CFB3}"/>
              </a:ext>
            </a:extLst>
          </p:cNvPr>
          <p:cNvSpPr/>
          <p:nvPr/>
        </p:nvSpPr>
        <p:spPr>
          <a:xfrm>
            <a:off x="9099612" y="3710866"/>
            <a:ext cx="452761" cy="239697"/>
          </a:xfrm>
          <a:custGeom>
            <a:avLst/>
            <a:gdLst>
              <a:gd name="connsiteX0" fmla="*/ 0 w 452761"/>
              <a:gd name="connsiteY0" fmla="*/ 239697 h 239697"/>
              <a:gd name="connsiteX1" fmla="*/ 150920 w 452761"/>
              <a:gd name="connsiteY1" fmla="*/ 97654 h 239697"/>
              <a:gd name="connsiteX2" fmla="*/ 452761 w 452761"/>
              <a:gd name="connsiteY2" fmla="*/ 0 h 23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761" h="239697">
                <a:moveTo>
                  <a:pt x="0" y="239697"/>
                </a:moveTo>
                <a:cubicBezTo>
                  <a:pt x="37730" y="188650"/>
                  <a:pt x="75460" y="137603"/>
                  <a:pt x="150920" y="97654"/>
                </a:cubicBezTo>
                <a:cubicBezTo>
                  <a:pt x="226380" y="57705"/>
                  <a:pt x="339570" y="28852"/>
                  <a:pt x="452761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bg1"/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95AC876-72D5-4673-A086-5989571230B9}"/>
              </a:ext>
            </a:extLst>
          </p:cNvPr>
          <p:cNvCxnSpPr/>
          <p:nvPr/>
        </p:nvCxnSpPr>
        <p:spPr>
          <a:xfrm>
            <a:off x="9552373" y="3329324"/>
            <a:ext cx="0" cy="1495123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052B6B3-7B3D-44B0-87D7-90F27E4052C9}"/>
              </a:ext>
            </a:extLst>
          </p:cNvPr>
          <p:cNvCxnSpPr/>
          <p:nvPr/>
        </p:nvCxnSpPr>
        <p:spPr>
          <a:xfrm>
            <a:off x="9108489" y="3351518"/>
            <a:ext cx="0" cy="1495123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47ABD604-B605-439E-B44E-AC2004D4C241}"/>
              </a:ext>
            </a:extLst>
          </p:cNvPr>
          <p:cNvCxnSpPr/>
          <p:nvPr/>
        </p:nvCxnSpPr>
        <p:spPr>
          <a:xfrm>
            <a:off x="8704555" y="3398497"/>
            <a:ext cx="0" cy="1495123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6862FC72-0ADF-4EE9-93A4-1252E83C85E3}"/>
                  </a:ext>
                </a:extLst>
              </p:cNvPr>
              <p:cNvSpPr/>
              <p:nvPr/>
            </p:nvSpPr>
            <p:spPr>
              <a:xfrm>
                <a:off x="9390582" y="4837395"/>
                <a:ext cx="299376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41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6862FC72-0ADF-4EE9-93A4-1252E83C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582" y="4837395"/>
                <a:ext cx="299376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2E2AD6E0-662D-4F54-9FD6-E2C743453CFB}"/>
                  </a:ext>
                </a:extLst>
              </p:cNvPr>
              <p:cNvSpPr/>
              <p:nvPr/>
            </p:nvSpPr>
            <p:spPr>
              <a:xfrm>
                <a:off x="8835273" y="4816459"/>
                <a:ext cx="546432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419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2E2AD6E0-662D-4F54-9FD6-E2C743453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273" y="4816459"/>
                <a:ext cx="546432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69B32AB6-8A12-4F2B-8946-8515F33C538F}"/>
                  </a:ext>
                </a:extLst>
              </p:cNvPr>
              <p:cNvSpPr/>
              <p:nvPr/>
            </p:nvSpPr>
            <p:spPr>
              <a:xfrm>
                <a:off x="8394773" y="4824447"/>
                <a:ext cx="546432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s-419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69B32AB6-8A12-4F2B-8946-8515F33C5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773" y="4824447"/>
                <a:ext cx="546432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 animBg="1"/>
      <p:bldP spid="10" grpId="0"/>
      <p:bldP spid="17" grpId="0"/>
      <p:bldP spid="18" grpId="0"/>
      <p:bldP spid="19" grpId="0" animBg="1"/>
      <p:bldP spid="20" grpId="0" animBg="1"/>
      <p:bldP spid="25" grpId="0"/>
      <p:bldP spid="26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0E75-5D9F-4C74-9DC2-70B55209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Invariantes y Variantes en el tiempo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B9D5F9-7215-46BC-908C-8D5D4626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181551"/>
          </a:xfrm>
        </p:spPr>
        <p:txBody>
          <a:bodyPr>
            <a:normAutofit fontScale="85000" lnSpcReduction="20000"/>
          </a:bodyPr>
          <a:lstStyle/>
          <a:p>
            <a:r>
              <a:rPr lang="es-419" dirty="0"/>
              <a:t>Los </a:t>
            </a:r>
            <a:r>
              <a:rPr lang="es-419" b="1" dirty="0"/>
              <a:t>modelos invariantes </a:t>
            </a:r>
            <a:r>
              <a:rPr lang="es-419" dirty="0"/>
              <a:t>son aquellos en los cuales sus parámetros no cambian con el tiempo, o su cambio es muy insignificante, en cuanto los </a:t>
            </a:r>
            <a:r>
              <a:rPr lang="es-419" b="1" dirty="0"/>
              <a:t>modelos variantes </a:t>
            </a:r>
            <a:r>
              <a:rPr lang="es-419" dirty="0"/>
              <a:t>los parámetros son susceptibles a variar a cada que el tiempo va transcurriendo.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B8D1FE-19DE-48A2-AB6D-57B62B7E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p:pic>
        <p:nvPicPr>
          <p:cNvPr id="3074" name="Picture 2" descr="Resultado de imagen para transbordador">
            <a:extLst>
              <a:ext uri="{FF2B5EF4-FFF2-40B4-BE49-F238E27FC236}">
                <a16:creationId xmlns:a16="http://schemas.microsoft.com/office/drawing/2014/main" id="{4680140F-D0BB-4289-96DF-142F741D7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846" y="3020554"/>
            <a:ext cx="3944047" cy="295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masa fuerza">
            <a:extLst>
              <a:ext uri="{FF2B5EF4-FFF2-40B4-BE49-F238E27FC236}">
                <a16:creationId xmlns:a16="http://schemas.microsoft.com/office/drawing/2014/main" id="{D3C9C9AE-F815-4881-AA74-18B4A7B98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234783"/>
            <a:ext cx="46863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5">
            <a:extLst>
              <a:ext uri="{FF2B5EF4-FFF2-40B4-BE49-F238E27FC236}">
                <a16:creationId xmlns:a16="http://schemas.microsoft.com/office/drawing/2014/main" id="{B3D99D1B-E4E6-4B0C-A4CC-6B1BA444C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125" y="2888017"/>
            <a:ext cx="3690035" cy="276752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405BEBC-681D-42A3-827E-3209FB12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Estáticos y Dinámicos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EBB8AF-75E2-499B-997A-DCA991A8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956907"/>
          </a:xfrm>
        </p:spPr>
        <p:txBody>
          <a:bodyPr>
            <a:normAutofit lnSpcReduction="10000"/>
          </a:bodyPr>
          <a:lstStyle/>
          <a:p>
            <a:r>
              <a:rPr lang="es-419" b="1" dirty="0"/>
              <a:t>Estacionarios: </a:t>
            </a:r>
            <a:r>
              <a:rPr lang="es-419" dirty="0"/>
              <a:t>No existe variación con el tiempo.</a:t>
            </a:r>
          </a:p>
          <a:p>
            <a:r>
              <a:rPr lang="es-419" b="1" dirty="0"/>
              <a:t>Dinámicos: </a:t>
            </a:r>
            <a:r>
              <a:rPr lang="es-419" dirty="0"/>
              <a:t>Existe variación con el tiempo.</a:t>
            </a:r>
          </a:p>
          <a:p>
            <a:endParaRPr lang="es-419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0F9846-41B5-4A7B-8977-58C87185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CONTROL AUTOMÁTICO EDUCACIÓN-  Sergio Andres Castaño Giraldo</a:t>
            </a:r>
            <a:endParaRPr lang="es-41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8">
                <a:extLst>
                  <a:ext uri="{FF2B5EF4-FFF2-40B4-BE49-F238E27FC236}">
                    <a16:creationId xmlns:a16="http://schemas.microsoft.com/office/drawing/2014/main" id="{4E2CD9DF-5C86-457B-916C-ADDB2033FE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85082" y="3552223"/>
                <a:ext cx="3529614" cy="2172811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CO" dirty="0">
                    <a:solidFill>
                      <a:schemeClr val="accent6"/>
                    </a:solidFill>
                  </a:rPr>
                  <a:t>  </a:t>
                </a:r>
                <a:r>
                  <a:rPr lang="pt-BR" dirty="0">
                    <a:solidFill>
                      <a:schemeClr val="accent6"/>
                    </a:solidFill>
                  </a:rPr>
                  <a:t>Lineal: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pt-BR" dirty="0">
                  <a:solidFill>
                    <a:schemeClr val="accent6"/>
                  </a:solidFill>
                </a:endParaRPr>
              </a:p>
              <a:p>
                <a:r>
                  <a:rPr lang="pt-BR" dirty="0" err="1">
                    <a:solidFill>
                      <a:schemeClr val="accent6"/>
                    </a:solidFill>
                  </a:rPr>
                  <a:t>Raíz</a:t>
                </a:r>
                <a:r>
                  <a:rPr lang="pt-BR" dirty="0">
                    <a:solidFill>
                      <a:schemeClr val="accent6"/>
                    </a:solidFill>
                  </a:rPr>
                  <a:t> </a:t>
                </a:r>
                <a:r>
                  <a:rPr lang="pt-BR" dirty="0" err="1">
                    <a:solidFill>
                      <a:schemeClr val="accent6"/>
                    </a:solidFill>
                  </a:rPr>
                  <a:t>Cuadrada</a:t>
                </a:r>
                <a:r>
                  <a:rPr lang="pt-BR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pt-BR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pt-BR" dirty="0">
                  <a:solidFill>
                    <a:schemeClr val="accent6"/>
                  </a:solidFill>
                </a:endParaRPr>
              </a:p>
              <a:p>
                <a:r>
                  <a:rPr lang="pt-BR" dirty="0">
                    <a:solidFill>
                      <a:schemeClr val="accent6"/>
                    </a:solidFill>
                  </a:rPr>
                  <a:t>Igual Porcentaje: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s-CO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O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pt-BR" dirty="0">
                  <a:solidFill>
                    <a:schemeClr val="accent6"/>
                  </a:solidFill>
                </a:endParaRPr>
              </a:p>
              <a:p>
                <a:r>
                  <a:rPr lang="pt-BR" dirty="0" err="1">
                    <a:solidFill>
                      <a:schemeClr val="accent6"/>
                    </a:solidFill>
                  </a:rPr>
                  <a:t>Hyperbolica</a:t>
                </a:r>
                <a:r>
                  <a:rPr lang="pt-BR" dirty="0">
                    <a:solidFill>
                      <a:schemeClr val="accent6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pt-BR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pt-BR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pt-BR" dirty="0">
                  <a:solidFill>
                    <a:schemeClr val="accent6"/>
                  </a:solidFill>
                </a:endParaRPr>
              </a:p>
              <a:p>
                <a:endParaRPr lang="es-C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" name="Marcador de contenido 8">
                <a:extLst>
                  <a:ext uri="{FF2B5EF4-FFF2-40B4-BE49-F238E27FC236}">
                    <a16:creationId xmlns:a16="http://schemas.microsoft.com/office/drawing/2014/main" id="{4E2CD9DF-5C86-457B-916C-ADDB2033F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82" y="3552223"/>
                <a:ext cx="3529614" cy="2172811"/>
              </a:xfrm>
              <a:prstGeom prst="rect">
                <a:avLst/>
              </a:prstGeom>
              <a:blipFill>
                <a:blip r:embed="rId3"/>
                <a:stretch>
                  <a:fillRect l="-1900" t="-28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Resultado de imagem para valvula de control">
            <a:extLst>
              <a:ext uri="{FF2B5EF4-FFF2-40B4-BE49-F238E27FC236}">
                <a16:creationId xmlns:a16="http://schemas.microsoft.com/office/drawing/2014/main" id="{A16FAF92-2DBA-42F3-A307-59CF76033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26" y="2802641"/>
            <a:ext cx="3174827" cy="31748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27181DE-2F21-4F7D-BC2C-49C03DE3C1F9}"/>
              </a:ext>
            </a:extLst>
          </p:cNvPr>
          <p:cNvSpPr txBox="1"/>
          <p:nvPr/>
        </p:nvSpPr>
        <p:spPr>
          <a:xfrm rot="16200000">
            <a:off x="7393935" y="355553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Flujo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9E7DB5-C3C0-448F-81E5-C11CA6DF4EBF}"/>
              </a:ext>
            </a:extLst>
          </p:cNvPr>
          <p:cNvSpPr txBox="1"/>
          <p:nvPr/>
        </p:nvSpPr>
        <p:spPr>
          <a:xfrm>
            <a:off x="8904679" y="5740921"/>
            <a:ext cx="225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Abertura de la Válvula</a:t>
            </a:r>
          </a:p>
        </p:txBody>
      </p:sp>
    </p:spTree>
    <p:extLst>
      <p:ext uri="{BB962C8B-B14F-4D97-AF65-F5344CB8AC3E}">
        <p14:creationId xmlns:p14="http://schemas.microsoft.com/office/powerpoint/2010/main" val="199397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5BEBC-681D-42A3-827E-3209FB12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/>
              <a:t>Modelos Estáticos y Dinámicos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EBB8AF-75E2-499B-997A-DCA991A8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973263"/>
          </a:xfrm>
        </p:spPr>
        <p:txBody>
          <a:bodyPr>
            <a:normAutofit lnSpcReduction="10000"/>
          </a:bodyPr>
          <a:lstStyle/>
          <a:p>
            <a:r>
              <a:rPr lang="es-419" b="1" dirty="0"/>
              <a:t>Estacionarios: </a:t>
            </a:r>
            <a:r>
              <a:rPr lang="es-419" dirty="0"/>
              <a:t>No existe variación con el tiempo.</a:t>
            </a:r>
          </a:p>
          <a:p>
            <a:r>
              <a:rPr lang="es-419" b="1" dirty="0"/>
              <a:t>Dinámicos: </a:t>
            </a:r>
            <a:r>
              <a:rPr lang="es-419" dirty="0"/>
              <a:t>Existe variación con el tiempo.</a:t>
            </a:r>
          </a:p>
          <a:p>
            <a:endParaRPr lang="es-419" dirty="0"/>
          </a:p>
        </p:txBody>
      </p:sp>
      <p:cxnSp>
        <p:nvCxnSpPr>
          <p:cNvPr id="5" name="Conector de seta reta 5">
            <a:extLst>
              <a:ext uri="{FF2B5EF4-FFF2-40B4-BE49-F238E27FC236}">
                <a16:creationId xmlns:a16="http://schemas.microsoft.com/office/drawing/2014/main" id="{0F6E251F-A5D3-4470-8340-7A0D9B21543A}"/>
              </a:ext>
            </a:extLst>
          </p:cNvPr>
          <p:cNvCxnSpPr>
            <a:cxnSpLocks/>
          </p:cNvCxnSpPr>
          <p:nvPr/>
        </p:nvCxnSpPr>
        <p:spPr>
          <a:xfrm flipV="1">
            <a:off x="2048553" y="3933056"/>
            <a:ext cx="0" cy="1906147"/>
          </a:xfrm>
          <a:prstGeom prst="straightConnector1">
            <a:avLst/>
          </a:prstGeom>
          <a:ln w="57150">
            <a:solidFill>
              <a:schemeClr val="accent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11">
            <a:extLst>
              <a:ext uri="{FF2B5EF4-FFF2-40B4-BE49-F238E27FC236}">
                <a16:creationId xmlns:a16="http://schemas.microsoft.com/office/drawing/2014/main" id="{A869E990-0036-4435-BA14-3FA13B58C403}"/>
              </a:ext>
            </a:extLst>
          </p:cNvPr>
          <p:cNvCxnSpPr>
            <a:cxnSpLocks/>
          </p:cNvCxnSpPr>
          <p:nvPr/>
        </p:nvCxnSpPr>
        <p:spPr>
          <a:xfrm flipV="1">
            <a:off x="2012039" y="5805264"/>
            <a:ext cx="4349432" cy="33939"/>
          </a:xfrm>
          <a:prstGeom prst="straightConnector1">
            <a:avLst/>
          </a:prstGeom>
          <a:ln w="57150">
            <a:solidFill>
              <a:schemeClr val="accent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8">
                <a:extLst>
                  <a:ext uri="{FF2B5EF4-FFF2-40B4-BE49-F238E27FC236}">
                    <a16:creationId xmlns:a16="http://schemas.microsoft.com/office/drawing/2014/main" id="{A639A496-BBF6-4C36-90CA-9B782092D518}"/>
                  </a:ext>
                </a:extLst>
              </p:cNvPr>
              <p:cNvSpPr txBox="1"/>
              <p:nvPr/>
            </p:nvSpPr>
            <p:spPr>
              <a:xfrm>
                <a:off x="3596215" y="5949280"/>
                <a:ext cx="1566326" cy="332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𝑇𝑖𝑒𝑚𝑝𝑜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8">
                <a:extLst>
                  <a:ext uri="{FF2B5EF4-FFF2-40B4-BE49-F238E27FC236}">
                    <a16:creationId xmlns:a16="http://schemas.microsoft.com/office/drawing/2014/main" id="{A639A496-BBF6-4C36-90CA-9B782092D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215" y="5949280"/>
                <a:ext cx="1566326" cy="332399"/>
              </a:xfrm>
              <a:prstGeom prst="rect">
                <a:avLst/>
              </a:prstGeom>
              <a:blipFill>
                <a:blip r:embed="rId4"/>
                <a:stretch>
                  <a:fillRect l="-6615" t="-11111" r="-6615" b="-38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18">
                <a:extLst>
                  <a:ext uri="{FF2B5EF4-FFF2-40B4-BE49-F238E27FC236}">
                    <a16:creationId xmlns:a16="http://schemas.microsoft.com/office/drawing/2014/main" id="{0F54307F-498A-4F97-BA7E-A5C0016E60D3}"/>
                  </a:ext>
                </a:extLst>
              </p:cNvPr>
              <p:cNvSpPr txBox="1"/>
              <p:nvPr/>
            </p:nvSpPr>
            <p:spPr>
              <a:xfrm>
                <a:off x="579690" y="4065482"/>
                <a:ext cx="1269898" cy="664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𝑉𝑎𝑟𝑖𝑎𝑏𝑙𝑒</m:t>
                      </m:r>
                    </m:oMath>
                  </m:oMathPara>
                </a14:m>
                <a:endParaRPr lang="pt-BR" sz="2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18">
                <a:extLst>
                  <a:ext uri="{FF2B5EF4-FFF2-40B4-BE49-F238E27FC236}">
                    <a16:creationId xmlns:a16="http://schemas.microsoft.com/office/drawing/2014/main" id="{0F54307F-498A-4F97-BA7E-A5C0016E6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90" y="4065482"/>
                <a:ext cx="1269898" cy="664797"/>
              </a:xfrm>
              <a:prstGeom prst="rect">
                <a:avLst/>
              </a:prstGeom>
              <a:blipFill>
                <a:blip r:embed="rId5"/>
                <a:stretch>
                  <a:fillRect l="-5769" t="-917" r="-5288" b="-1834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rma livre 10">
            <a:extLst>
              <a:ext uri="{FF2B5EF4-FFF2-40B4-BE49-F238E27FC236}">
                <a16:creationId xmlns:a16="http://schemas.microsoft.com/office/drawing/2014/main" id="{E3C92DDC-CD4E-46DE-943C-2FBFDF4997BB}"/>
              </a:ext>
            </a:extLst>
          </p:cNvPr>
          <p:cNvSpPr/>
          <p:nvPr/>
        </p:nvSpPr>
        <p:spPr>
          <a:xfrm>
            <a:off x="2060620" y="4288665"/>
            <a:ext cx="3992450" cy="1518734"/>
          </a:xfrm>
          <a:custGeom>
            <a:avLst/>
            <a:gdLst>
              <a:gd name="connsiteX0" fmla="*/ 0 w 3992450"/>
              <a:gd name="connsiteY0" fmla="*/ 1493949 h 1518734"/>
              <a:gd name="connsiteX1" fmla="*/ 334850 w 3992450"/>
              <a:gd name="connsiteY1" fmla="*/ 1493949 h 1518734"/>
              <a:gd name="connsiteX2" fmla="*/ 708338 w 3992450"/>
              <a:gd name="connsiteY2" fmla="*/ 1236372 h 1518734"/>
              <a:gd name="connsiteX3" fmla="*/ 1094704 w 3992450"/>
              <a:gd name="connsiteY3" fmla="*/ 682580 h 1518734"/>
              <a:gd name="connsiteX4" fmla="*/ 1416676 w 3992450"/>
              <a:gd name="connsiteY4" fmla="*/ 309093 h 1518734"/>
              <a:gd name="connsiteX5" fmla="*/ 1738648 w 3992450"/>
              <a:gd name="connsiteY5" fmla="*/ 115910 h 1518734"/>
              <a:gd name="connsiteX6" fmla="*/ 2202287 w 3992450"/>
              <a:gd name="connsiteY6" fmla="*/ 25758 h 1518734"/>
              <a:gd name="connsiteX7" fmla="*/ 3992450 w 3992450"/>
              <a:gd name="connsiteY7" fmla="*/ 0 h 151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2450" h="1518734">
                <a:moveTo>
                  <a:pt x="0" y="1493949"/>
                </a:moveTo>
                <a:cubicBezTo>
                  <a:pt x="108397" y="1515414"/>
                  <a:pt x="216794" y="1536879"/>
                  <a:pt x="334850" y="1493949"/>
                </a:cubicBezTo>
                <a:cubicBezTo>
                  <a:pt x="452906" y="1451019"/>
                  <a:pt x="581696" y="1371600"/>
                  <a:pt x="708338" y="1236372"/>
                </a:cubicBezTo>
                <a:cubicBezTo>
                  <a:pt x="834980" y="1101144"/>
                  <a:pt x="976648" y="837126"/>
                  <a:pt x="1094704" y="682580"/>
                </a:cubicBezTo>
                <a:cubicBezTo>
                  <a:pt x="1212760" y="528034"/>
                  <a:pt x="1309352" y="403538"/>
                  <a:pt x="1416676" y="309093"/>
                </a:cubicBezTo>
                <a:cubicBezTo>
                  <a:pt x="1524000" y="214648"/>
                  <a:pt x="1607713" y="163132"/>
                  <a:pt x="1738648" y="115910"/>
                </a:cubicBezTo>
                <a:cubicBezTo>
                  <a:pt x="1869583" y="68688"/>
                  <a:pt x="1826653" y="45076"/>
                  <a:pt x="2202287" y="25758"/>
                </a:cubicBezTo>
                <a:cubicBezTo>
                  <a:pt x="2577921" y="6440"/>
                  <a:pt x="3285185" y="3220"/>
                  <a:pt x="3992450" y="0"/>
                </a:cubicBezTo>
              </a:path>
            </a:pathLst>
          </a:custGeom>
          <a:noFill/>
          <a:ln w="57150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0" name="Retângulo 3">
            <a:extLst>
              <a:ext uri="{FF2B5EF4-FFF2-40B4-BE49-F238E27FC236}">
                <a16:creationId xmlns:a16="http://schemas.microsoft.com/office/drawing/2014/main" id="{012A9CB3-CB16-4BCC-AC23-B2F829B27A49}"/>
              </a:ext>
            </a:extLst>
          </p:cNvPr>
          <p:cNvSpPr/>
          <p:nvPr/>
        </p:nvSpPr>
        <p:spPr>
          <a:xfrm>
            <a:off x="2116901" y="3645024"/>
            <a:ext cx="1745264" cy="2194179"/>
          </a:xfrm>
          <a:prstGeom prst="rect">
            <a:avLst/>
          </a:prstGeom>
          <a:noFill/>
          <a:ln w="57150" cmpd="tri">
            <a:solidFill>
              <a:schemeClr val="accent3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" name="Retângulo 19">
            <a:extLst>
              <a:ext uri="{FF2B5EF4-FFF2-40B4-BE49-F238E27FC236}">
                <a16:creationId xmlns:a16="http://schemas.microsoft.com/office/drawing/2014/main" id="{F2DAF409-4F9A-4934-8C31-34CADF645976}"/>
              </a:ext>
            </a:extLst>
          </p:cNvPr>
          <p:cNvSpPr/>
          <p:nvPr/>
        </p:nvSpPr>
        <p:spPr>
          <a:xfrm>
            <a:off x="4123671" y="3611085"/>
            <a:ext cx="1745264" cy="2194179"/>
          </a:xfrm>
          <a:prstGeom prst="rect">
            <a:avLst/>
          </a:prstGeom>
          <a:noFill/>
          <a:ln w="57150" cmpd="tri">
            <a:solidFill>
              <a:schemeClr val="accent3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2" name="Retângulo 4">
            <a:extLst>
              <a:ext uri="{FF2B5EF4-FFF2-40B4-BE49-F238E27FC236}">
                <a16:creationId xmlns:a16="http://schemas.microsoft.com/office/drawing/2014/main" id="{4209FADD-44BA-45FC-AAEA-8E44DCBCA67E}"/>
              </a:ext>
            </a:extLst>
          </p:cNvPr>
          <p:cNvSpPr/>
          <p:nvPr/>
        </p:nvSpPr>
        <p:spPr>
          <a:xfrm>
            <a:off x="2464174" y="3597513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Dinámico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13" name="Retângulo 6">
            <a:extLst>
              <a:ext uri="{FF2B5EF4-FFF2-40B4-BE49-F238E27FC236}">
                <a16:creationId xmlns:a16="http://schemas.microsoft.com/office/drawing/2014/main" id="{11F21CAD-55B5-4AC0-92C2-229D747A8D88}"/>
              </a:ext>
            </a:extLst>
          </p:cNvPr>
          <p:cNvSpPr/>
          <p:nvPr/>
        </p:nvSpPr>
        <p:spPr>
          <a:xfrm>
            <a:off x="4329090" y="3563724"/>
            <a:ext cx="1504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Estacionario</a:t>
            </a:r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164172F-E14C-466F-8149-ACD79584BE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387" y="3476428"/>
            <a:ext cx="1253333" cy="28155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075576E-27CD-41DE-BD0E-8B8A3D5B414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014" y="5209339"/>
            <a:ext cx="3524763" cy="716887"/>
          </a:xfrm>
          <a:prstGeom prst="rect">
            <a:avLst/>
          </a:prstGeom>
        </p:spPr>
      </p:pic>
      <p:cxnSp>
        <p:nvCxnSpPr>
          <p:cNvPr id="29" name="Conector de seta reta 9">
            <a:extLst>
              <a:ext uri="{FF2B5EF4-FFF2-40B4-BE49-F238E27FC236}">
                <a16:creationId xmlns:a16="http://schemas.microsoft.com/office/drawing/2014/main" id="{4A2818AB-5A5E-58D8-09E3-872543490B87}"/>
              </a:ext>
            </a:extLst>
          </p:cNvPr>
          <p:cNvCxnSpPr/>
          <p:nvPr/>
        </p:nvCxnSpPr>
        <p:spPr>
          <a:xfrm>
            <a:off x="9043262" y="2518775"/>
            <a:ext cx="0" cy="37119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10">
            <a:extLst>
              <a:ext uri="{FF2B5EF4-FFF2-40B4-BE49-F238E27FC236}">
                <a16:creationId xmlns:a16="http://schemas.microsoft.com/office/drawing/2014/main" id="{9759CC30-D202-9C36-7E63-8A8ED3F411DA}"/>
              </a:ext>
            </a:extLst>
          </p:cNvPr>
          <p:cNvCxnSpPr/>
          <p:nvPr/>
        </p:nvCxnSpPr>
        <p:spPr>
          <a:xfrm flipH="1" flipV="1">
            <a:off x="8026948" y="2518775"/>
            <a:ext cx="1010954" cy="702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11">
            <a:extLst>
              <a:ext uri="{FF2B5EF4-FFF2-40B4-BE49-F238E27FC236}">
                <a16:creationId xmlns:a16="http://schemas.microsoft.com/office/drawing/2014/main" id="{1CDB7C0C-FACE-BF05-C85F-3DF6F4D6ED4D}"/>
              </a:ext>
            </a:extLst>
          </p:cNvPr>
          <p:cNvCxnSpPr/>
          <p:nvPr/>
        </p:nvCxnSpPr>
        <p:spPr>
          <a:xfrm flipH="1">
            <a:off x="10539247" y="4365500"/>
            <a:ext cx="10087" cy="5631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12">
            <a:extLst>
              <a:ext uri="{FF2B5EF4-FFF2-40B4-BE49-F238E27FC236}">
                <a16:creationId xmlns:a16="http://schemas.microsoft.com/office/drawing/2014/main" id="{621CE1ED-A470-5D61-2F40-CB32E14AC1C0}"/>
              </a:ext>
            </a:extLst>
          </p:cNvPr>
          <p:cNvCxnSpPr/>
          <p:nvPr/>
        </p:nvCxnSpPr>
        <p:spPr>
          <a:xfrm flipH="1" flipV="1">
            <a:off x="9464604" y="4361862"/>
            <a:ext cx="1102660" cy="36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13">
                <a:extLst>
                  <a:ext uri="{FF2B5EF4-FFF2-40B4-BE49-F238E27FC236}">
                    <a16:creationId xmlns:a16="http://schemas.microsoft.com/office/drawing/2014/main" id="{84F998CD-5E4A-9BBB-D99E-AE6941CCFC21}"/>
                  </a:ext>
                </a:extLst>
              </p:cNvPr>
              <p:cNvSpPr txBox="1"/>
              <p:nvPr/>
            </p:nvSpPr>
            <p:spPr>
              <a:xfrm>
                <a:off x="7902014" y="2667513"/>
                <a:ext cx="241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CaixaDeTexto 13">
                <a:extLst>
                  <a:ext uri="{FF2B5EF4-FFF2-40B4-BE49-F238E27FC236}">
                    <a16:creationId xmlns:a16="http://schemas.microsoft.com/office/drawing/2014/main" id="{84F998CD-5E4A-9BBB-D99E-AE6941CCF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014" y="2667513"/>
                <a:ext cx="241668" cy="276999"/>
              </a:xfrm>
              <a:prstGeom prst="rect">
                <a:avLst/>
              </a:prstGeom>
              <a:blipFill>
                <a:blip r:embed="rId8"/>
                <a:stretch>
                  <a:fillRect l="-25000" r="-5000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14">
                <a:extLst>
                  <a:ext uri="{FF2B5EF4-FFF2-40B4-BE49-F238E27FC236}">
                    <a16:creationId xmlns:a16="http://schemas.microsoft.com/office/drawing/2014/main" id="{5571C29B-6C57-F4F1-6574-4C83A93C7043}"/>
                  </a:ext>
                </a:extLst>
              </p:cNvPr>
              <p:cNvSpPr txBox="1"/>
              <p:nvPr/>
            </p:nvSpPr>
            <p:spPr>
              <a:xfrm>
                <a:off x="8866162" y="3651455"/>
                <a:ext cx="2767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CaixaDeTexto 14">
                <a:extLst>
                  <a:ext uri="{FF2B5EF4-FFF2-40B4-BE49-F238E27FC236}">
                    <a16:creationId xmlns:a16="http://schemas.microsoft.com/office/drawing/2014/main" id="{5571C29B-6C57-F4F1-6574-4C83A93C7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162" y="3651455"/>
                <a:ext cx="276742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to 18">
            <a:extLst>
              <a:ext uri="{FF2B5EF4-FFF2-40B4-BE49-F238E27FC236}">
                <a16:creationId xmlns:a16="http://schemas.microsoft.com/office/drawing/2014/main" id="{35BE26D2-936C-7E8E-B699-FFC2719976A0}"/>
              </a:ext>
            </a:extLst>
          </p:cNvPr>
          <p:cNvCxnSpPr/>
          <p:nvPr/>
        </p:nvCxnSpPr>
        <p:spPr>
          <a:xfrm>
            <a:off x="8621920" y="3382601"/>
            <a:ext cx="8426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19">
            <a:extLst>
              <a:ext uri="{FF2B5EF4-FFF2-40B4-BE49-F238E27FC236}">
                <a16:creationId xmlns:a16="http://schemas.microsoft.com/office/drawing/2014/main" id="{51E8D077-3E81-FC16-339F-F22F6011161A}"/>
              </a:ext>
            </a:extLst>
          </p:cNvPr>
          <p:cNvCxnSpPr/>
          <p:nvPr/>
        </p:nvCxnSpPr>
        <p:spPr>
          <a:xfrm>
            <a:off x="8866162" y="3425465"/>
            <a:ext cx="34742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28">
                <a:extLst>
                  <a:ext uri="{FF2B5EF4-FFF2-40B4-BE49-F238E27FC236}">
                    <a16:creationId xmlns:a16="http://schemas.microsoft.com/office/drawing/2014/main" id="{F60C770C-AE3B-C1BA-DFCF-C4E431E494F4}"/>
                  </a:ext>
                </a:extLst>
              </p:cNvPr>
              <p:cNvSpPr txBox="1"/>
              <p:nvPr/>
            </p:nvSpPr>
            <p:spPr>
              <a:xfrm>
                <a:off x="10182603" y="4000536"/>
                <a:ext cx="3365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28">
                <a:extLst>
                  <a:ext uri="{FF2B5EF4-FFF2-40B4-BE49-F238E27FC236}">
                    <a16:creationId xmlns:a16="http://schemas.microsoft.com/office/drawing/2014/main" id="{F60C770C-AE3B-C1BA-DFCF-C4E431E49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2603" y="4000536"/>
                <a:ext cx="336567" cy="276999"/>
              </a:xfrm>
              <a:prstGeom prst="rect">
                <a:avLst/>
              </a:prstGeom>
              <a:blipFill>
                <a:blip r:embed="rId10"/>
                <a:stretch>
                  <a:fillRect l="-17857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29">
                <a:extLst>
                  <a:ext uri="{FF2B5EF4-FFF2-40B4-BE49-F238E27FC236}">
                    <a16:creationId xmlns:a16="http://schemas.microsoft.com/office/drawing/2014/main" id="{D91B0844-1EF5-D13D-A5BD-AC2C25D38593}"/>
                  </a:ext>
                </a:extLst>
              </p:cNvPr>
              <p:cNvSpPr txBox="1"/>
              <p:nvPr/>
            </p:nvSpPr>
            <p:spPr>
              <a:xfrm>
                <a:off x="8853357" y="4539327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29">
                <a:extLst>
                  <a:ext uri="{FF2B5EF4-FFF2-40B4-BE49-F238E27FC236}">
                    <a16:creationId xmlns:a16="http://schemas.microsoft.com/office/drawing/2014/main" id="{D91B0844-1EF5-D13D-A5BD-AC2C25D38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357" y="4539327"/>
                <a:ext cx="294376" cy="276999"/>
              </a:xfrm>
              <a:prstGeom prst="rect">
                <a:avLst/>
              </a:prstGeom>
              <a:blipFill>
                <a:blip r:embed="rId11"/>
                <a:stretch>
                  <a:fillRect l="-18367" r="-6122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ector reto 35">
            <a:extLst>
              <a:ext uri="{FF2B5EF4-FFF2-40B4-BE49-F238E27FC236}">
                <a16:creationId xmlns:a16="http://schemas.microsoft.com/office/drawing/2014/main" id="{14EC3A2F-68BB-624C-C9D1-DC31E4BB8FBE}"/>
              </a:ext>
            </a:extLst>
          </p:cNvPr>
          <p:cNvCxnSpPr/>
          <p:nvPr/>
        </p:nvCxnSpPr>
        <p:spPr>
          <a:xfrm>
            <a:off x="8621920" y="2952378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8">
            <a:extLst>
              <a:ext uri="{FF2B5EF4-FFF2-40B4-BE49-F238E27FC236}">
                <a16:creationId xmlns:a16="http://schemas.microsoft.com/office/drawing/2014/main" id="{DF438922-F7A2-D198-0027-3C4AC17CB7F7}"/>
              </a:ext>
            </a:extLst>
          </p:cNvPr>
          <p:cNvCxnSpPr/>
          <p:nvPr/>
        </p:nvCxnSpPr>
        <p:spPr>
          <a:xfrm>
            <a:off x="9464604" y="2952378"/>
            <a:ext cx="0" cy="158694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39">
            <a:extLst>
              <a:ext uri="{FF2B5EF4-FFF2-40B4-BE49-F238E27FC236}">
                <a16:creationId xmlns:a16="http://schemas.microsoft.com/office/drawing/2014/main" id="{C3B6E89F-B637-4511-FB06-57F2AC2D20BF}"/>
              </a:ext>
            </a:extLst>
          </p:cNvPr>
          <p:cNvCxnSpPr/>
          <p:nvPr/>
        </p:nvCxnSpPr>
        <p:spPr>
          <a:xfrm flipH="1" flipV="1">
            <a:off x="8621920" y="4523124"/>
            <a:ext cx="842684" cy="118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43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 animBg="1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73A4-0555-AE68-3382-28C84BB5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Modelos Estáticos y Dinámicos de un Proceso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16D37-272F-0492-B2E7-F1FA0515A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1825625"/>
            <a:ext cx="5391912" cy="4351338"/>
          </a:xfrm>
        </p:spPr>
        <p:txBody>
          <a:bodyPr/>
          <a:lstStyle/>
          <a:p>
            <a:r>
              <a:rPr lang="es-ES" dirty="0"/>
              <a:t>Característica estática de la planta o sistema. Modelo de punto de equilibrio.</a:t>
            </a:r>
          </a:p>
          <a:p>
            <a:pPr lvl="1"/>
            <a:r>
              <a:rPr lang="es-ES" dirty="0"/>
              <a:t>Variamos la entrada de control (VÁLVULA).</a:t>
            </a:r>
          </a:p>
          <a:p>
            <a:pPr lvl="1"/>
            <a:r>
              <a:rPr lang="es-ES" dirty="0"/>
              <a:t>Medimos la salida (TEMPERATURA).</a:t>
            </a:r>
          </a:p>
          <a:p>
            <a:pPr lvl="1"/>
            <a:r>
              <a:rPr lang="es-ES" dirty="0"/>
              <a:t>Esperamos alcanzar un nuevo punto de equilibrio.</a:t>
            </a:r>
          </a:p>
          <a:p>
            <a:r>
              <a:rPr lang="es-ES" dirty="0"/>
              <a:t>Normalmente, el sistema no es lineal.</a:t>
            </a:r>
            <a:endParaRPr lang="es-CO" dirty="0"/>
          </a:p>
        </p:txBody>
      </p:sp>
      <p:pic>
        <p:nvPicPr>
          <p:cNvPr id="4" name="Imagen 3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C247EB92-A193-C3AE-01DB-9EC21CC05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47" y="1920240"/>
            <a:ext cx="4282290" cy="3377656"/>
          </a:xfrm>
          <a:prstGeom prst="rect">
            <a:avLst/>
          </a:prstGeom>
        </p:spPr>
      </p:pic>
      <p:cxnSp>
        <p:nvCxnSpPr>
          <p:cNvPr id="5" name="Conector recto 41">
            <a:extLst>
              <a:ext uri="{FF2B5EF4-FFF2-40B4-BE49-F238E27FC236}">
                <a16:creationId xmlns:a16="http://schemas.microsoft.com/office/drawing/2014/main" id="{16327201-C714-C68C-B2BE-810726BDF8C4}"/>
              </a:ext>
            </a:extLst>
          </p:cNvPr>
          <p:cNvCxnSpPr>
            <a:cxnSpLocks/>
          </p:cNvCxnSpPr>
          <p:nvPr/>
        </p:nvCxnSpPr>
        <p:spPr>
          <a:xfrm flipV="1">
            <a:off x="3526311" y="2943570"/>
            <a:ext cx="1979316" cy="2100404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9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4388-4188-31FC-2939-202A239E5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17"/>
            <a:ext cx="10515600" cy="1325563"/>
          </a:xfrm>
        </p:spPr>
        <p:txBody>
          <a:bodyPr>
            <a:normAutofit/>
          </a:bodyPr>
          <a:lstStyle/>
          <a:p>
            <a:r>
              <a:rPr lang="es-CO" sz="4000"/>
              <a:t>Dinámica en la vecindad del punto de operación</a:t>
            </a:r>
            <a:endParaRPr lang="es-CO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4FB21-2E2D-9D62-49A5-AB1C86CF5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040" y="1487419"/>
            <a:ext cx="4175760" cy="5165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Característica dinámica de la planta o sistema. Modelado en las proximidades del punto de equilibrio. </a:t>
            </a:r>
          </a:p>
          <a:p>
            <a:r>
              <a:rPr lang="es-ES" dirty="0"/>
              <a:t>Variamos la entrada de control (VÁLVULA) </a:t>
            </a:r>
          </a:p>
          <a:p>
            <a:r>
              <a:rPr lang="es-ES" dirty="0"/>
              <a:t>medimos la salida (TEMPERATURA).</a:t>
            </a:r>
            <a:endParaRPr lang="es-C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63CD7-0CC3-C3B3-0FA2-79815E5A7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272344"/>
            <a:ext cx="6483902" cy="516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70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3ED7-71E1-B0C7-66A5-B093A9CF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n 3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04AACEEA-2E61-9029-9866-7E6FAFEE3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75" y="3429000"/>
            <a:ext cx="4282290" cy="3377656"/>
          </a:xfrm>
          <a:prstGeom prst="rect">
            <a:avLst/>
          </a:prstGeo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93EAA78C-35BF-E98A-4E39-045C9E8A8696}"/>
              </a:ext>
            </a:extLst>
          </p:cNvPr>
          <p:cNvSpPr/>
          <p:nvPr/>
        </p:nvSpPr>
        <p:spPr>
          <a:xfrm>
            <a:off x="602055" y="2322852"/>
            <a:ext cx="2833735" cy="1106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>
                <a:solidFill>
                  <a:schemeClr val="tx1"/>
                </a:solidFill>
              </a:rPr>
              <a:t>Derivar ecuaciones diferenciales con balance de energía / masa / </a:t>
            </a:r>
            <a:r>
              <a:rPr lang="es-ES" sz="1600" dirty="0" err="1">
                <a:solidFill>
                  <a:schemeClr val="tx1"/>
                </a:solidFill>
              </a:rPr>
              <a:t>momentum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D2AB8-8724-F80C-33ED-4DCD5A627738}"/>
              </a:ext>
            </a:extLst>
          </p:cNvPr>
          <p:cNvSpPr/>
          <p:nvPr/>
        </p:nvSpPr>
        <p:spPr>
          <a:xfrm>
            <a:off x="5299946" y="1283283"/>
            <a:ext cx="1264837" cy="696338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/>
                </a:solidFill>
              </a:rPr>
              <a:t>Proceso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22EA6D-F628-8057-98D8-70A872C1DB2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771175" y="1631452"/>
            <a:ext cx="528771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261ECA-6F08-BD0E-9CA9-D62D4FA2A47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564783" y="1631451"/>
            <a:ext cx="424491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9582CD-7345-0490-29FD-34363B515E5D}"/>
                  </a:ext>
                </a:extLst>
              </p:cNvPr>
              <p:cNvSpPr txBox="1"/>
              <p:nvPr/>
            </p:nvSpPr>
            <p:spPr>
              <a:xfrm>
                <a:off x="4615088" y="903369"/>
                <a:ext cx="6324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9582CD-7345-0490-29FD-34363B515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088" y="903369"/>
                <a:ext cx="632481" cy="369332"/>
              </a:xfrm>
              <a:prstGeom prst="rect">
                <a:avLst/>
              </a:prstGeom>
              <a:blipFill>
                <a:blip r:embed="rId3"/>
                <a:stretch>
                  <a:fillRect l="-5769" t="-1639" r="-17308" b="-327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F5F8E3-0BC8-3F03-4B1F-93096067B2C6}"/>
                  </a:ext>
                </a:extLst>
              </p:cNvPr>
              <p:cNvSpPr txBox="1"/>
              <p:nvPr/>
            </p:nvSpPr>
            <p:spPr>
              <a:xfrm>
                <a:off x="6596546" y="930904"/>
                <a:ext cx="6251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F5F8E3-0BC8-3F03-4B1F-93096067B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546" y="930904"/>
                <a:ext cx="625108" cy="369332"/>
              </a:xfrm>
              <a:prstGeom prst="rect">
                <a:avLst/>
              </a:prstGeom>
              <a:blipFill>
                <a:blip r:embed="rId4"/>
                <a:stretch>
                  <a:fillRect l="-12621" t="-1667" r="-17476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593962B2-F4F1-E0BC-E513-DB28C150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056"/>
            <a:ext cx="10515600" cy="845305"/>
          </a:xfrm>
        </p:spPr>
        <p:txBody>
          <a:bodyPr>
            <a:normAutofit/>
          </a:bodyPr>
          <a:lstStyle/>
          <a:p>
            <a:r>
              <a:rPr lang="es-ES" sz="4000" dirty="0"/>
              <a:t>Modelado y Simulación de Sistemas Dinámicos</a:t>
            </a:r>
            <a:endParaRPr lang="es-419" sz="4000" dirty="0"/>
          </a:p>
        </p:txBody>
      </p:sp>
      <p:sp>
        <p:nvSpPr>
          <p:cNvPr id="30" name="Rectángulo: una sola esquina cortada 29">
            <a:extLst>
              <a:ext uri="{FF2B5EF4-FFF2-40B4-BE49-F238E27FC236}">
                <a16:creationId xmlns:a16="http://schemas.microsoft.com/office/drawing/2014/main" id="{1A1D0A2B-FE9F-C3DF-55AC-2C3AEAC1A604}"/>
              </a:ext>
            </a:extLst>
          </p:cNvPr>
          <p:cNvSpPr/>
          <p:nvPr/>
        </p:nvSpPr>
        <p:spPr>
          <a:xfrm>
            <a:off x="488885" y="1709332"/>
            <a:ext cx="2525918" cy="696338"/>
          </a:xfrm>
          <a:prstGeom prst="snip1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Modelos de primeros principios</a:t>
            </a: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73225DD5-6A77-92BB-C0B3-581665B8B754}"/>
              </a:ext>
            </a:extLst>
          </p:cNvPr>
          <p:cNvCxnSpPr>
            <a:stCxn id="11" idx="2"/>
            <a:endCxn id="30" idx="3"/>
          </p:cNvCxnSpPr>
          <p:nvPr/>
        </p:nvCxnSpPr>
        <p:spPr>
          <a:xfrm rot="5400000" flipH="1">
            <a:off x="3706960" y="-245783"/>
            <a:ext cx="270289" cy="4180521"/>
          </a:xfrm>
          <a:prstGeom prst="bentConnector5">
            <a:avLst>
              <a:gd name="adj1" fmla="val -84576"/>
              <a:gd name="adj2" fmla="val 54153"/>
              <a:gd name="adj3" fmla="val 184576"/>
            </a:avLst>
          </a:prstGeom>
          <a:ln w="28575">
            <a:solidFill>
              <a:schemeClr val="accent2">
                <a:lumMod val="20000"/>
                <a:lumOff val="80000"/>
              </a:schemeClr>
            </a:solidFill>
            <a:prstDash val="sysDot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A12AD36-18B8-257B-AF2C-8812C8822DAD}"/>
                  </a:ext>
                </a:extLst>
              </p:cNvPr>
              <p:cNvSpPr txBox="1"/>
              <p:nvPr/>
            </p:nvSpPr>
            <p:spPr>
              <a:xfrm>
                <a:off x="1249378" y="4531642"/>
                <a:ext cx="1965731" cy="586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A12AD36-18B8-257B-AF2C-8812C8822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4531642"/>
                <a:ext cx="1965731" cy="586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3B9B280-FD2F-1996-3B09-F39E0AB63050}"/>
              </a:ext>
            </a:extLst>
          </p:cNvPr>
          <p:cNvCxnSpPr>
            <a:cxnSpLocks/>
          </p:cNvCxnSpPr>
          <p:nvPr/>
        </p:nvCxnSpPr>
        <p:spPr>
          <a:xfrm flipV="1">
            <a:off x="2264439" y="4452330"/>
            <a:ext cx="1979316" cy="2100404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A1756798-DF8F-BEFA-4612-CA98B6783B9C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254097" y="5502532"/>
            <a:ext cx="1360991" cy="2517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upo 56">
            <a:extLst>
              <a:ext uri="{FF2B5EF4-FFF2-40B4-BE49-F238E27FC236}">
                <a16:creationId xmlns:a16="http://schemas.microsoft.com/office/drawing/2014/main" id="{981E246C-B384-8DC9-A9EB-148617D6A3EC}"/>
              </a:ext>
            </a:extLst>
          </p:cNvPr>
          <p:cNvGrpSpPr/>
          <p:nvPr/>
        </p:nvGrpSpPr>
        <p:grpSpPr>
          <a:xfrm>
            <a:off x="4512233" y="5113047"/>
            <a:ext cx="2547370" cy="934356"/>
            <a:chOff x="4512233" y="5113047"/>
            <a:chExt cx="2547370" cy="9343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E6486735-770C-1A8E-1F6A-114119377BA0}"/>
                    </a:ext>
                  </a:extLst>
                </p:cNvPr>
                <p:cNvSpPr txBox="1"/>
                <p:nvPr/>
              </p:nvSpPr>
              <p:spPr>
                <a:xfrm>
                  <a:off x="4615088" y="5461217"/>
                  <a:ext cx="2444515" cy="586186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𝑑𝑦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s-419" sz="2000" dirty="0"/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E6486735-770C-1A8E-1F6A-114119377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5088" y="5461217"/>
                  <a:ext cx="2444515" cy="58618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6AEC93C2-615E-48F6-F892-94AEB65D2EDB}"/>
                </a:ext>
              </a:extLst>
            </p:cNvPr>
            <p:cNvSpPr txBox="1"/>
            <p:nvPr/>
          </p:nvSpPr>
          <p:spPr>
            <a:xfrm>
              <a:off x="4512233" y="5113047"/>
              <a:ext cx="1493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dirty="0">
                  <a:solidFill>
                    <a:schemeClr val="accent6"/>
                  </a:solidFill>
                </a:rPr>
                <a:t>Linealización</a:t>
              </a:r>
            </a:p>
          </p:txBody>
        </p:sp>
      </p:grp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EBF11CF-3135-9B3D-F7EF-510B2E58ECEB}"/>
              </a:ext>
            </a:extLst>
          </p:cNvPr>
          <p:cNvSpPr/>
          <p:nvPr/>
        </p:nvSpPr>
        <p:spPr>
          <a:xfrm>
            <a:off x="8591902" y="2315133"/>
            <a:ext cx="2833735" cy="1106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>
                <a:solidFill>
                  <a:schemeClr val="tx1"/>
                </a:solidFill>
              </a:rPr>
              <a:t>Tomar datos de entrada-salida reales y ajustar una Función de Transferencia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51" name="Rectángulo: una sola esquina cortada 50">
            <a:extLst>
              <a:ext uri="{FF2B5EF4-FFF2-40B4-BE49-F238E27FC236}">
                <a16:creationId xmlns:a16="http://schemas.microsoft.com/office/drawing/2014/main" id="{C8D0835D-5487-6A92-7CF9-230789FB7A9A}"/>
              </a:ext>
            </a:extLst>
          </p:cNvPr>
          <p:cNvSpPr/>
          <p:nvPr/>
        </p:nvSpPr>
        <p:spPr>
          <a:xfrm>
            <a:off x="8478732" y="1701613"/>
            <a:ext cx="2525918" cy="696338"/>
          </a:xfrm>
          <a:prstGeom prst="snip1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/>
                </a:solidFill>
              </a:rPr>
              <a:t>Identificación de modelos</a:t>
            </a:r>
          </a:p>
        </p:txBody>
      </p: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A899C7CA-7F79-0BC2-1F3B-5B1260C38C71}"/>
              </a:ext>
            </a:extLst>
          </p:cNvPr>
          <p:cNvCxnSpPr>
            <a:cxnSpLocks/>
            <a:endCxn id="51" idx="3"/>
          </p:cNvCxnSpPr>
          <p:nvPr/>
        </p:nvCxnSpPr>
        <p:spPr>
          <a:xfrm>
            <a:off x="8128000" y="1533243"/>
            <a:ext cx="1613691" cy="168370"/>
          </a:xfrm>
          <a:prstGeom prst="bentConnector2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prstDash val="sysDot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7">
                <a:extLst>
                  <a:ext uri="{FF2B5EF4-FFF2-40B4-BE49-F238E27FC236}">
                    <a16:creationId xmlns:a16="http://schemas.microsoft.com/office/drawing/2014/main" id="{39F14DB7-B09C-7584-4D7A-E96B12719018}"/>
                  </a:ext>
                </a:extLst>
              </p:cNvPr>
              <p:cNvSpPr txBox="1"/>
              <p:nvPr/>
            </p:nvSpPr>
            <p:spPr>
              <a:xfrm>
                <a:off x="8778240" y="4600789"/>
                <a:ext cx="2317173" cy="1292149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 lIns="182880" tIns="182880" rIns="182880" bIns="18288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𝐹𝑇</m:t>
                      </m:r>
                      <m:r>
                        <a:rPr lang="pt-B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CO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7">
                <a:extLst>
                  <a:ext uri="{FF2B5EF4-FFF2-40B4-BE49-F238E27FC236}">
                    <a16:creationId xmlns:a16="http://schemas.microsoft.com/office/drawing/2014/main" id="{39F14DB7-B09C-7584-4D7A-E96B12719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4600789"/>
                <a:ext cx="2317173" cy="12921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7455BF1-D155-796B-D415-038F33686C85}"/>
              </a:ext>
            </a:extLst>
          </p:cNvPr>
          <p:cNvCxnSpPr>
            <a:stCxn id="44" idx="3"/>
            <a:endCxn id="3" idx="1"/>
          </p:cNvCxnSpPr>
          <p:nvPr/>
        </p:nvCxnSpPr>
        <p:spPr>
          <a:xfrm flipV="1">
            <a:off x="7059603" y="5246864"/>
            <a:ext cx="1718637" cy="5074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7E6EDB-E1D2-1FB8-A6C7-A01FD1F00685}"/>
              </a:ext>
            </a:extLst>
          </p:cNvPr>
          <p:cNvSpPr txBox="1"/>
          <p:nvPr/>
        </p:nvSpPr>
        <p:spPr>
          <a:xfrm>
            <a:off x="7021380" y="4600661"/>
            <a:ext cx="1718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dirty="0">
                <a:solidFill>
                  <a:schemeClr val="accent6"/>
                </a:solidFill>
              </a:rPr>
              <a:t>Transformada</a:t>
            </a:r>
          </a:p>
          <a:p>
            <a:pPr algn="ctr"/>
            <a:r>
              <a:rPr lang="es-419" dirty="0">
                <a:solidFill>
                  <a:schemeClr val="accent6"/>
                </a:solidFill>
              </a:rPr>
              <a:t>Laplace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6A50F6-A109-A19D-AFCB-0488D4C70EF1}"/>
              </a:ext>
            </a:extLst>
          </p:cNvPr>
          <p:cNvGrpSpPr/>
          <p:nvPr/>
        </p:nvGrpSpPr>
        <p:grpSpPr>
          <a:xfrm>
            <a:off x="6909100" y="1363716"/>
            <a:ext cx="1060594" cy="675793"/>
            <a:chOff x="6909100" y="1363716"/>
            <a:chExt cx="1060594" cy="675793"/>
          </a:xfrm>
        </p:grpSpPr>
        <p:sp>
          <p:nvSpPr>
            <p:cNvPr id="10" name="Forma livre 61">
              <a:extLst>
                <a:ext uri="{FF2B5EF4-FFF2-40B4-BE49-F238E27FC236}">
                  <a16:creationId xmlns:a16="http://schemas.microsoft.com/office/drawing/2014/main" id="{FA05ED0B-8761-9BF6-518E-E4ED48A11CAE}"/>
                </a:ext>
              </a:extLst>
            </p:cNvPr>
            <p:cNvSpPr/>
            <p:nvPr/>
          </p:nvSpPr>
          <p:spPr>
            <a:xfrm>
              <a:off x="7080872" y="1549981"/>
              <a:ext cx="888822" cy="450693"/>
            </a:xfrm>
            <a:custGeom>
              <a:avLst/>
              <a:gdLst>
                <a:gd name="connsiteX0" fmla="*/ 0 w 3992450"/>
                <a:gd name="connsiteY0" fmla="*/ 1493949 h 1518734"/>
                <a:gd name="connsiteX1" fmla="*/ 334850 w 3992450"/>
                <a:gd name="connsiteY1" fmla="*/ 1493949 h 1518734"/>
                <a:gd name="connsiteX2" fmla="*/ 708338 w 3992450"/>
                <a:gd name="connsiteY2" fmla="*/ 1236372 h 1518734"/>
                <a:gd name="connsiteX3" fmla="*/ 1094704 w 3992450"/>
                <a:gd name="connsiteY3" fmla="*/ 682580 h 1518734"/>
                <a:gd name="connsiteX4" fmla="*/ 1416676 w 3992450"/>
                <a:gd name="connsiteY4" fmla="*/ 309093 h 1518734"/>
                <a:gd name="connsiteX5" fmla="*/ 1738648 w 3992450"/>
                <a:gd name="connsiteY5" fmla="*/ 115910 h 1518734"/>
                <a:gd name="connsiteX6" fmla="*/ 2202287 w 3992450"/>
                <a:gd name="connsiteY6" fmla="*/ 25758 h 1518734"/>
                <a:gd name="connsiteX7" fmla="*/ 3992450 w 3992450"/>
                <a:gd name="connsiteY7" fmla="*/ 0 h 151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92450" h="1518734">
                  <a:moveTo>
                    <a:pt x="0" y="1493949"/>
                  </a:moveTo>
                  <a:cubicBezTo>
                    <a:pt x="108397" y="1515414"/>
                    <a:pt x="216794" y="1536879"/>
                    <a:pt x="334850" y="1493949"/>
                  </a:cubicBezTo>
                  <a:cubicBezTo>
                    <a:pt x="452906" y="1451019"/>
                    <a:pt x="581696" y="1371600"/>
                    <a:pt x="708338" y="1236372"/>
                  </a:cubicBezTo>
                  <a:cubicBezTo>
                    <a:pt x="834980" y="1101144"/>
                    <a:pt x="976648" y="837126"/>
                    <a:pt x="1094704" y="682580"/>
                  </a:cubicBezTo>
                  <a:cubicBezTo>
                    <a:pt x="1212760" y="528034"/>
                    <a:pt x="1309352" y="403538"/>
                    <a:pt x="1416676" y="309093"/>
                  </a:cubicBezTo>
                  <a:cubicBezTo>
                    <a:pt x="1524000" y="214648"/>
                    <a:pt x="1607713" y="163132"/>
                    <a:pt x="1738648" y="115910"/>
                  </a:cubicBezTo>
                  <a:cubicBezTo>
                    <a:pt x="1869583" y="68688"/>
                    <a:pt x="1826653" y="45076"/>
                    <a:pt x="2202287" y="25758"/>
                  </a:cubicBezTo>
                  <a:cubicBezTo>
                    <a:pt x="2577921" y="6440"/>
                    <a:pt x="3285185" y="3220"/>
                    <a:pt x="3992450" y="0"/>
                  </a:cubicBezTo>
                </a:path>
              </a:pathLst>
            </a:custGeom>
            <a:noFill/>
            <a:ln w="28575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2" name="Conector de seta reta 57">
              <a:extLst>
                <a:ext uri="{FF2B5EF4-FFF2-40B4-BE49-F238E27FC236}">
                  <a16:creationId xmlns:a16="http://schemas.microsoft.com/office/drawing/2014/main" id="{85ABFDF8-9E8C-C988-2E83-DD9B6406A1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0505" y="1363716"/>
              <a:ext cx="0" cy="675793"/>
            </a:xfrm>
            <a:prstGeom prst="straightConnector1">
              <a:avLst/>
            </a:prstGeom>
            <a:ln w="12700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57">
              <a:extLst>
                <a:ext uri="{FF2B5EF4-FFF2-40B4-BE49-F238E27FC236}">
                  <a16:creationId xmlns:a16="http://schemas.microsoft.com/office/drawing/2014/main" id="{25B8180C-FC0C-5AF3-1E08-C45A04737637}"/>
                </a:ext>
              </a:extLst>
            </p:cNvPr>
            <p:cNvCxnSpPr>
              <a:cxnSpLocks/>
            </p:cNvCxnSpPr>
            <p:nvPr/>
          </p:nvCxnSpPr>
          <p:spPr>
            <a:xfrm>
              <a:off x="6909100" y="2000674"/>
              <a:ext cx="1009821" cy="0"/>
            </a:xfrm>
            <a:prstGeom prst="straightConnector1">
              <a:avLst/>
            </a:prstGeom>
            <a:ln w="12700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9977C7-A308-15E1-DC67-8323F3158310}"/>
              </a:ext>
            </a:extLst>
          </p:cNvPr>
          <p:cNvGrpSpPr/>
          <p:nvPr/>
        </p:nvGrpSpPr>
        <p:grpSpPr>
          <a:xfrm>
            <a:off x="3921507" y="1299693"/>
            <a:ext cx="1009821" cy="675793"/>
            <a:chOff x="3972887" y="1216626"/>
            <a:chExt cx="1009821" cy="675793"/>
          </a:xfrm>
        </p:grpSpPr>
        <p:cxnSp>
          <p:nvCxnSpPr>
            <p:cNvPr id="26" name="Conector de seta reta 57">
              <a:extLst>
                <a:ext uri="{FF2B5EF4-FFF2-40B4-BE49-F238E27FC236}">
                  <a16:creationId xmlns:a16="http://schemas.microsoft.com/office/drawing/2014/main" id="{1499B571-31C4-4BC8-59B3-9944812573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292" y="1216626"/>
              <a:ext cx="0" cy="675793"/>
            </a:xfrm>
            <a:prstGeom prst="straightConnector1">
              <a:avLst/>
            </a:prstGeom>
            <a:ln w="12700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57">
              <a:extLst>
                <a:ext uri="{FF2B5EF4-FFF2-40B4-BE49-F238E27FC236}">
                  <a16:creationId xmlns:a16="http://schemas.microsoft.com/office/drawing/2014/main" id="{49155107-451E-5977-D31E-AD0D0F839FD8}"/>
                </a:ext>
              </a:extLst>
            </p:cNvPr>
            <p:cNvCxnSpPr>
              <a:cxnSpLocks/>
            </p:cNvCxnSpPr>
            <p:nvPr/>
          </p:nvCxnSpPr>
          <p:spPr>
            <a:xfrm>
              <a:off x="3972887" y="1853584"/>
              <a:ext cx="1009821" cy="0"/>
            </a:xfrm>
            <a:prstGeom prst="straightConnector1">
              <a:avLst/>
            </a:prstGeom>
            <a:ln w="12700">
              <a:solidFill>
                <a:schemeClr val="bg2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0ACC741D-398B-DFB9-8280-90F066B8507D}"/>
                </a:ext>
              </a:extLst>
            </p:cNvPr>
            <p:cNvCxnSpPr/>
            <p:nvPr/>
          </p:nvCxnSpPr>
          <p:spPr>
            <a:xfrm flipV="1">
              <a:off x="3972887" y="1431636"/>
              <a:ext cx="866968" cy="343691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0CED128-9BC5-6A43-333B-7A8CF4BB45DF}"/>
              </a:ext>
            </a:extLst>
          </p:cNvPr>
          <p:cNvCxnSpPr>
            <a:cxnSpLocks/>
            <a:stCxn id="50" idx="2"/>
            <a:endCxn id="3" idx="0"/>
          </p:cNvCxnSpPr>
          <p:nvPr/>
        </p:nvCxnSpPr>
        <p:spPr>
          <a:xfrm rot="5400000">
            <a:off x="9383045" y="3975064"/>
            <a:ext cx="1179508" cy="719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7">
                <a:extLst>
                  <a:ext uri="{FF2B5EF4-FFF2-40B4-BE49-F238E27FC236}">
                    <a16:creationId xmlns:a16="http://schemas.microsoft.com/office/drawing/2014/main" id="{2E6651ED-B123-4B99-B1B8-4DBEE31B90E2}"/>
                  </a:ext>
                </a:extLst>
              </p:cNvPr>
              <p:cNvSpPr txBox="1"/>
              <p:nvPr/>
            </p:nvSpPr>
            <p:spPr>
              <a:xfrm>
                <a:off x="4803332" y="2879600"/>
                <a:ext cx="2158861" cy="1034129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none" lIns="182880" tIns="182880" rIns="182880" bIns="18288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𝐵𝑢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𝐶𝑥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𝐷𝑢</m:t>
                      </m:r>
                    </m:oMath>
                  </m:oMathPara>
                </a14:m>
                <a:endParaRPr lang="es-CO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7">
                <a:extLst>
                  <a:ext uri="{FF2B5EF4-FFF2-40B4-BE49-F238E27FC236}">
                    <a16:creationId xmlns:a16="http://schemas.microsoft.com/office/drawing/2014/main" id="{2E6651ED-B123-4B99-B1B8-4DBEE31B9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332" y="2879600"/>
                <a:ext cx="2158861" cy="10341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96F9CDF-2D5C-CC3A-4DC2-2B015A2C3524}"/>
              </a:ext>
            </a:extLst>
          </p:cNvPr>
          <p:cNvCxnSpPr>
            <a:cxnSpLocks/>
            <a:stCxn id="44" idx="3"/>
            <a:endCxn id="6" idx="2"/>
          </p:cNvCxnSpPr>
          <p:nvPr/>
        </p:nvCxnSpPr>
        <p:spPr>
          <a:xfrm flipH="1" flipV="1">
            <a:off x="5882763" y="3913729"/>
            <a:ext cx="1176840" cy="1840581"/>
          </a:xfrm>
          <a:prstGeom prst="bentConnector4">
            <a:avLst>
              <a:gd name="adj1" fmla="val -6216"/>
              <a:gd name="adj2" fmla="val 579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133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 animBg="1"/>
      <p:bldP spid="36" grpId="0"/>
      <p:bldP spid="50" grpId="0" animBg="1"/>
      <p:bldP spid="51" grpId="0" animBg="1"/>
      <p:bldP spid="3" grpId="0" animBg="1"/>
      <p:bldP spid="9" grpId="0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B355D-5684-281F-E9AC-8B90FC3E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/>
              <a:t>Motivación para la linealización de sistemas no lineales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E2DF0F-4407-091E-AD46-898AEC00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490" y="1825625"/>
            <a:ext cx="6233310" cy="3004993"/>
          </a:xfrm>
        </p:spPr>
        <p:txBody>
          <a:bodyPr/>
          <a:lstStyle/>
          <a:p>
            <a:r>
              <a:rPr lang="es-ES" dirty="0"/>
              <a:t>Muchos sistemas reales son </a:t>
            </a:r>
            <a:r>
              <a:rPr lang="es-ES" b="1" dirty="0">
                <a:solidFill>
                  <a:schemeClr val="accent1"/>
                </a:solidFill>
              </a:rPr>
              <a:t>no lineales</a:t>
            </a:r>
          </a:p>
          <a:p>
            <a:r>
              <a:rPr lang="es-CO" dirty="0"/>
              <a:t>La mayoría de los procesos industriales generalmente operan en un punto específico de operación y pocas veces cambian de punto, por lo que se hace interesante encontrar ese punto de equilibrio.</a:t>
            </a:r>
          </a:p>
        </p:txBody>
      </p:sp>
      <p:pic>
        <p:nvPicPr>
          <p:cNvPr id="4" name="Imagen 3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BB4D3425-9AF3-899B-8546-F9FA122C9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825625"/>
            <a:ext cx="4282290" cy="337765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0A4565C-51EE-0DE2-3278-6B9808938779}"/>
              </a:ext>
            </a:extLst>
          </p:cNvPr>
          <p:cNvSpPr/>
          <p:nvPr/>
        </p:nvSpPr>
        <p:spPr>
          <a:xfrm>
            <a:off x="3106253" y="3359751"/>
            <a:ext cx="948511" cy="962868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1D4A29CE-D033-4A03-8B07-274C6226EFB4}"/>
              </a:ext>
            </a:extLst>
          </p:cNvPr>
          <p:cNvSpPr txBox="1"/>
          <p:nvPr/>
        </p:nvSpPr>
        <p:spPr>
          <a:xfrm>
            <a:off x="1713782" y="2528754"/>
            <a:ext cx="2545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región de equilibrio</a:t>
            </a:r>
            <a:endParaRPr lang="es-CO" sz="2400" b="1" dirty="0">
              <a:solidFill>
                <a:schemeClr val="accent1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34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2165C-94E6-D5B6-CB23-9C2B9BE5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53621-B883-7ED8-0107-100795A0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/>
              <a:t>Motivación para la linealización de sistemas no lineales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D58EC9-8279-E0E7-8FBF-1806229F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490" y="1558925"/>
            <a:ext cx="6233310" cy="1603375"/>
          </a:xfrm>
        </p:spPr>
        <p:txBody>
          <a:bodyPr/>
          <a:lstStyle/>
          <a:p>
            <a:r>
              <a:rPr lang="es-CO" noProof="0" dirty="0"/>
              <a:t>Si solo observamos la región de operación, veremos que ahora se parece mucho a una línea recta</a:t>
            </a:r>
          </a:p>
        </p:txBody>
      </p:sp>
      <p:pic>
        <p:nvPicPr>
          <p:cNvPr id="4" name="Imagen 3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70560B0F-74AE-3CE0-4A93-3038AED75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825625"/>
            <a:ext cx="4282290" cy="337765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6D7D6C9-20DE-9E6F-0713-9260A439EDFF}"/>
              </a:ext>
            </a:extLst>
          </p:cNvPr>
          <p:cNvSpPr/>
          <p:nvPr/>
        </p:nvSpPr>
        <p:spPr>
          <a:xfrm>
            <a:off x="3106253" y="3359751"/>
            <a:ext cx="948511" cy="962868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06DBB57B-77D1-2464-7558-EC95780E5E50}"/>
              </a:ext>
            </a:extLst>
          </p:cNvPr>
          <p:cNvSpPr txBox="1"/>
          <p:nvPr/>
        </p:nvSpPr>
        <p:spPr>
          <a:xfrm>
            <a:off x="1713782" y="2528754"/>
            <a:ext cx="2545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Lucida Handwriting" panose="03010101010101010101" pitchFamily="66" charset="0"/>
              </a:rPr>
              <a:t>región de equilibrio</a:t>
            </a:r>
            <a:endParaRPr lang="es-CO" sz="2400" b="1" dirty="0">
              <a:solidFill>
                <a:schemeClr val="accent1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D9F526-D4BC-0C5A-6F88-F86B15578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200" y="3162300"/>
            <a:ext cx="3107130" cy="3086230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AC25463-08CC-430C-217A-759F15FC5BC7}"/>
              </a:ext>
            </a:extLst>
          </p:cNvPr>
          <p:cNvCxnSpPr/>
          <p:nvPr/>
        </p:nvCxnSpPr>
        <p:spPr>
          <a:xfrm>
            <a:off x="3106253" y="4322619"/>
            <a:ext cx="3142147" cy="1782906"/>
          </a:xfrm>
          <a:prstGeom prst="line">
            <a:avLst/>
          </a:prstGeom>
          <a:ln>
            <a:solidFill>
              <a:schemeClr val="accent1">
                <a:alpha val="1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EE1FA28-8281-1F57-426A-FDCC7E42FE7A}"/>
              </a:ext>
            </a:extLst>
          </p:cNvPr>
          <p:cNvCxnSpPr>
            <a:cxnSpLocks/>
          </p:cNvCxnSpPr>
          <p:nvPr/>
        </p:nvCxnSpPr>
        <p:spPr>
          <a:xfrm flipV="1">
            <a:off x="4054764" y="3336351"/>
            <a:ext cx="5094368" cy="49697"/>
          </a:xfrm>
          <a:prstGeom prst="line">
            <a:avLst/>
          </a:prstGeom>
          <a:ln>
            <a:solidFill>
              <a:schemeClr val="accent1">
                <a:alpha val="1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8778BE3-A7BD-4263-3D1C-CF67C539131D}"/>
              </a:ext>
            </a:extLst>
          </p:cNvPr>
          <p:cNvCxnSpPr>
            <a:cxnSpLocks/>
          </p:cNvCxnSpPr>
          <p:nvPr/>
        </p:nvCxnSpPr>
        <p:spPr>
          <a:xfrm>
            <a:off x="4054764" y="4311660"/>
            <a:ext cx="4965411" cy="1804824"/>
          </a:xfrm>
          <a:prstGeom prst="line">
            <a:avLst/>
          </a:prstGeom>
          <a:ln>
            <a:solidFill>
              <a:schemeClr val="accent1">
                <a:alpha val="1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86BA782-54A7-3DB6-D6D1-3E3C6D081B09}"/>
              </a:ext>
            </a:extLst>
          </p:cNvPr>
          <p:cNvCxnSpPr>
            <a:cxnSpLocks/>
          </p:cNvCxnSpPr>
          <p:nvPr/>
        </p:nvCxnSpPr>
        <p:spPr>
          <a:xfrm flipV="1">
            <a:off x="3153828" y="3303842"/>
            <a:ext cx="3105623" cy="88419"/>
          </a:xfrm>
          <a:prstGeom prst="line">
            <a:avLst/>
          </a:prstGeom>
          <a:ln>
            <a:solidFill>
              <a:schemeClr val="accent1">
                <a:alpha val="1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41">
            <a:extLst>
              <a:ext uri="{FF2B5EF4-FFF2-40B4-BE49-F238E27FC236}">
                <a16:creationId xmlns:a16="http://schemas.microsoft.com/office/drawing/2014/main" id="{07ADD1AF-18EB-FFA5-B272-EF52EABCD661}"/>
              </a:ext>
            </a:extLst>
          </p:cNvPr>
          <p:cNvCxnSpPr>
            <a:cxnSpLocks/>
          </p:cNvCxnSpPr>
          <p:nvPr/>
        </p:nvCxnSpPr>
        <p:spPr>
          <a:xfrm flipV="1">
            <a:off x="6200818" y="3137452"/>
            <a:ext cx="3102089" cy="3355423"/>
          </a:xfrm>
          <a:prstGeom prst="line">
            <a:avLst/>
          </a:prstGeom>
          <a:ln w="57150">
            <a:solidFill>
              <a:schemeClr val="accent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06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7DD1-0D87-D40D-1F9F-ABE295B1B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399DE-366F-DB42-EB20-F10D6D29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Motivación para la linealización de sistemas no lineales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4164EE-92A5-C9D3-920D-9A3A1744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490" y="1558925"/>
            <a:ext cx="6233310" cy="1603375"/>
          </a:xfrm>
        </p:spPr>
        <p:txBody>
          <a:bodyPr>
            <a:normAutofit lnSpcReduction="10000"/>
          </a:bodyPr>
          <a:lstStyle/>
          <a:p>
            <a:r>
              <a:rPr lang="es-CO" noProof="0" dirty="0"/>
              <a:t>Esto muestra que el uso de herramientas lineales para el análisis de proceso es un procedimiento adecuado para resolver el problema.</a:t>
            </a:r>
          </a:p>
        </p:txBody>
      </p:sp>
      <p:pic>
        <p:nvPicPr>
          <p:cNvPr id="4" name="Imagen 3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E890D0B6-3C8E-E470-9C24-2674570DB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825625"/>
            <a:ext cx="4282290" cy="337765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14E9B0F-B676-3E3A-FE8E-A38F78AC6E82}"/>
              </a:ext>
            </a:extLst>
          </p:cNvPr>
          <p:cNvSpPr/>
          <p:nvPr/>
        </p:nvSpPr>
        <p:spPr>
          <a:xfrm>
            <a:off x="3106253" y="3359751"/>
            <a:ext cx="948511" cy="962868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FE3DFC4-2453-2BE7-1F4F-CC6713EE0F32}"/>
              </a:ext>
            </a:extLst>
          </p:cNvPr>
          <p:cNvCxnSpPr/>
          <p:nvPr/>
        </p:nvCxnSpPr>
        <p:spPr>
          <a:xfrm flipV="1">
            <a:off x="3609975" y="2867025"/>
            <a:ext cx="0" cy="10382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0D73D05-EF3B-9FC4-4D41-1960591DCA55}"/>
              </a:ext>
            </a:extLst>
          </p:cNvPr>
          <p:cNvCxnSpPr>
            <a:cxnSpLocks/>
          </p:cNvCxnSpPr>
          <p:nvPr/>
        </p:nvCxnSpPr>
        <p:spPr>
          <a:xfrm>
            <a:off x="3609975" y="3905250"/>
            <a:ext cx="9485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Conector recto 41">
            <a:extLst>
              <a:ext uri="{FF2B5EF4-FFF2-40B4-BE49-F238E27FC236}">
                <a16:creationId xmlns:a16="http://schemas.microsoft.com/office/drawing/2014/main" id="{17D045BC-4DA4-A9B4-D045-AC975B879F9A}"/>
              </a:ext>
            </a:extLst>
          </p:cNvPr>
          <p:cNvCxnSpPr>
            <a:cxnSpLocks/>
          </p:cNvCxnSpPr>
          <p:nvPr/>
        </p:nvCxnSpPr>
        <p:spPr>
          <a:xfrm flipV="1">
            <a:off x="3106253" y="3359751"/>
            <a:ext cx="977977" cy="1141089"/>
          </a:xfrm>
          <a:prstGeom prst="line">
            <a:avLst/>
          </a:prstGeom>
          <a:ln w="57150">
            <a:solidFill>
              <a:schemeClr val="accent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7CF2C32-E6B6-E58B-0786-4AA115B583CC}"/>
              </a:ext>
            </a:extLst>
          </p:cNvPr>
          <p:cNvSpPr txBox="1"/>
          <p:nvPr/>
        </p:nvSpPr>
        <p:spPr>
          <a:xfrm>
            <a:off x="3411840" y="3202707"/>
            <a:ext cx="3373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accent6"/>
                </a:solidFill>
              </a:rPr>
              <a:t>.</a:t>
            </a:r>
            <a:endParaRPr lang="es-CO" sz="6000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C17D0E3-EE43-F9D9-D6CE-8AEFB6101576}"/>
                  </a:ext>
                </a:extLst>
              </p:cNvPr>
              <p:cNvSpPr txBox="1"/>
              <p:nvPr/>
            </p:nvSpPr>
            <p:spPr>
              <a:xfrm>
                <a:off x="3103582" y="2657310"/>
                <a:ext cx="4769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𝑉𝑃</m:t>
                      </m:r>
                    </m:oMath>
                  </m:oMathPara>
                </a14:m>
                <a:endParaRPr lang="es-CO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C17D0E3-EE43-F9D9-D6CE-8AEFB6101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582" y="2657310"/>
                <a:ext cx="476925" cy="276999"/>
              </a:xfrm>
              <a:prstGeom prst="rect">
                <a:avLst/>
              </a:prstGeom>
              <a:blipFill>
                <a:blip r:embed="rId3"/>
                <a:stretch>
                  <a:fillRect l="-11538" r="-12821" b="-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E319515-C109-8BCB-29B4-A161FDFDB4CC}"/>
                  </a:ext>
                </a:extLst>
              </p:cNvPr>
              <p:cNvSpPr txBox="1"/>
              <p:nvPr/>
            </p:nvSpPr>
            <p:spPr>
              <a:xfrm>
                <a:off x="4557840" y="3766750"/>
                <a:ext cx="531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𝑉𝑀</m:t>
                      </m:r>
                    </m:oMath>
                  </m:oMathPara>
                </a14:m>
                <a:endParaRPr lang="es-CO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E319515-C109-8BCB-29B4-A161FDFDB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840" y="3766750"/>
                <a:ext cx="531428" cy="276999"/>
              </a:xfrm>
              <a:prstGeom prst="rect">
                <a:avLst/>
              </a:prstGeom>
              <a:blipFill>
                <a:blip r:embed="rId4"/>
                <a:stretch>
                  <a:fillRect l="-11494" r="-10345" b="-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7633D03-ECF0-2F2C-BB9D-5E2416B19480}"/>
              </a:ext>
            </a:extLst>
          </p:cNvPr>
          <p:cNvSpPr txBox="1">
            <a:spLocks/>
          </p:cNvSpPr>
          <p:nvPr/>
        </p:nvSpPr>
        <p:spPr>
          <a:xfrm>
            <a:off x="5562878" y="3416682"/>
            <a:ext cx="623331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000" dirty="0"/>
              <a:t>Con este cambio de coordenadas puedo decir que la recta que pasa por el origen describe el comportamiento de mi proceso</a:t>
            </a: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15FD26EF-8FB1-304B-113A-0AFB20315664}"/>
              </a:ext>
            </a:extLst>
          </p:cNvPr>
          <p:cNvSpPr/>
          <p:nvPr/>
        </p:nvSpPr>
        <p:spPr>
          <a:xfrm>
            <a:off x="4400550" y="3276916"/>
            <a:ext cx="685800" cy="256859"/>
          </a:xfrm>
          <a:custGeom>
            <a:avLst/>
            <a:gdLst>
              <a:gd name="connsiteX0" fmla="*/ 0 w 685800"/>
              <a:gd name="connsiteY0" fmla="*/ 180659 h 256859"/>
              <a:gd name="connsiteX1" fmla="*/ 161925 w 685800"/>
              <a:gd name="connsiteY1" fmla="*/ 9209 h 256859"/>
              <a:gd name="connsiteX2" fmla="*/ 371475 w 685800"/>
              <a:gd name="connsiteY2" fmla="*/ 37784 h 256859"/>
              <a:gd name="connsiteX3" fmla="*/ 485775 w 685800"/>
              <a:gd name="connsiteY3" fmla="*/ 161609 h 256859"/>
              <a:gd name="connsiteX4" fmla="*/ 685800 w 685800"/>
              <a:gd name="connsiteY4" fmla="*/ 256859 h 25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" h="256859">
                <a:moveTo>
                  <a:pt x="0" y="180659"/>
                </a:moveTo>
                <a:cubicBezTo>
                  <a:pt x="50006" y="106840"/>
                  <a:pt x="100013" y="33021"/>
                  <a:pt x="161925" y="9209"/>
                </a:cubicBezTo>
                <a:cubicBezTo>
                  <a:pt x="223837" y="-14603"/>
                  <a:pt x="317500" y="12384"/>
                  <a:pt x="371475" y="37784"/>
                </a:cubicBezTo>
                <a:cubicBezTo>
                  <a:pt x="425450" y="63184"/>
                  <a:pt x="433388" y="125097"/>
                  <a:pt x="485775" y="161609"/>
                </a:cubicBezTo>
                <a:cubicBezTo>
                  <a:pt x="538162" y="198121"/>
                  <a:pt x="611981" y="227490"/>
                  <a:pt x="685800" y="256859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C2A5367-AFEA-BDAF-E990-4C86FA78EA04}"/>
                  </a:ext>
                </a:extLst>
              </p:cNvPr>
              <p:cNvSpPr txBox="1"/>
              <p:nvPr/>
            </p:nvSpPr>
            <p:spPr>
              <a:xfrm>
                <a:off x="6939090" y="4491697"/>
                <a:ext cx="20106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s-CO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C2A5367-AFEA-BDAF-E990-4C86FA78E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090" y="4491697"/>
                <a:ext cx="2010614" cy="369332"/>
              </a:xfrm>
              <a:prstGeom prst="rect">
                <a:avLst/>
              </a:prstGeom>
              <a:blipFill>
                <a:blip r:embed="rId5"/>
                <a:stretch>
                  <a:fillRect l="-3030" r="-3333" b="-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95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21" grpId="0"/>
      <p:bldP spid="22" grpId="0"/>
      <p:bldP spid="24" grpId="0" build="p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EA0B-83EA-1CE9-7AAD-A5935648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Linealización por Series de Taylor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F49D0-FB27-AB8E-92DC-C75A0F2BC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13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La </a:t>
            </a:r>
            <a:r>
              <a:rPr lang="es-ES" i="1" dirty="0"/>
              <a:t>linealización</a:t>
            </a:r>
            <a:r>
              <a:rPr lang="es-ES" dirty="0"/>
              <a:t> es una técnica para aproximar una función no lineal mediante una </a:t>
            </a:r>
            <a:r>
              <a:rPr lang="es-ES" b="1" dirty="0">
                <a:solidFill>
                  <a:schemeClr val="accent4"/>
                </a:solidFill>
              </a:rPr>
              <a:t>recta tangente</a:t>
            </a:r>
            <a:r>
              <a:rPr lang="es-ES" dirty="0">
                <a:solidFill>
                  <a:schemeClr val="accent4"/>
                </a:solidFill>
              </a:rPr>
              <a:t> </a:t>
            </a:r>
            <a:r>
              <a:rPr lang="es-ES" dirty="0"/>
              <a:t>en torno a un punto de operación. Se usa para simplificar el análisis de sistemas no lineales </a:t>
            </a:r>
            <a:r>
              <a:rPr lang="es-ES" b="1" dirty="0">
                <a:solidFill>
                  <a:schemeClr val="accent4"/>
                </a:solidFill>
              </a:rPr>
              <a:t>cerca del equilibrio</a:t>
            </a:r>
            <a:r>
              <a:rPr lang="es-ES" dirty="0"/>
              <a:t>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C02227-81D8-94F0-17D5-52C97EC94D92}"/>
                  </a:ext>
                </a:extLst>
              </p:cNvPr>
              <p:cNvSpPr txBox="1"/>
              <p:nvPr/>
            </p:nvSpPr>
            <p:spPr>
              <a:xfrm>
                <a:off x="2510028" y="3131514"/>
                <a:ext cx="6627584" cy="5949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C02227-81D8-94F0-17D5-52C97EC94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028" y="3131514"/>
                <a:ext cx="6627584" cy="5949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846BB91-5D20-712E-D987-4D95858DF5DF}"/>
              </a:ext>
            </a:extLst>
          </p:cNvPr>
          <p:cNvSpPr/>
          <p:nvPr/>
        </p:nvSpPr>
        <p:spPr>
          <a:xfrm>
            <a:off x="2313432" y="3051873"/>
            <a:ext cx="3584448" cy="889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68F6C-AB47-015D-9464-9C83C773E025}"/>
              </a:ext>
            </a:extLst>
          </p:cNvPr>
          <p:cNvSpPr txBox="1"/>
          <p:nvPr/>
        </p:nvSpPr>
        <p:spPr>
          <a:xfrm>
            <a:off x="1936712" y="38913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</a:rPr>
              <a:t>Truncamos en la derivada de primer orden</a:t>
            </a:r>
            <a:endParaRPr lang="es-CO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34E622-2714-1774-1164-68DD132F6AAC}"/>
                  </a:ext>
                </a:extLst>
              </p:cNvPr>
              <p:cNvSpPr txBox="1"/>
              <p:nvPr/>
            </p:nvSpPr>
            <p:spPr>
              <a:xfrm>
                <a:off x="9491472" y="3219470"/>
                <a:ext cx="1539418" cy="36933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34E622-2714-1774-1164-68DD132F6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472" y="3219470"/>
                <a:ext cx="15394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FE7A6236-38D1-0CE3-9C8B-55D75D853B6D}"/>
              </a:ext>
            </a:extLst>
          </p:cNvPr>
          <p:cNvSpPr/>
          <p:nvPr/>
        </p:nvSpPr>
        <p:spPr>
          <a:xfrm rot="16200000">
            <a:off x="7300363" y="2318014"/>
            <a:ext cx="534183" cy="3041614"/>
          </a:xfrm>
          <a:prstGeom prst="leftBrace">
            <a:avLst>
              <a:gd name="adj1" fmla="val 8333"/>
              <a:gd name="adj2" fmla="val 65031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814D87-756B-EF6D-CFC8-2146CB6F245C}"/>
                  </a:ext>
                </a:extLst>
              </p:cNvPr>
              <p:cNvSpPr txBox="1"/>
              <p:nvPr/>
            </p:nvSpPr>
            <p:spPr>
              <a:xfrm>
                <a:off x="6280372" y="4054554"/>
                <a:ext cx="39749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dirty="0">
                    <a:solidFill>
                      <a:schemeClr val="accent5"/>
                    </a:solidFill>
                  </a:rPr>
                  <a:t>Terminos de orden superior muy pequeños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O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814D87-756B-EF6D-CFC8-2146CB6F2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372" y="4054554"/>
                <a:ext cx="3974916" cy="646331"/>
              </a:xfrm>
              <a:prstGeom prst="rect">
                <a:avLst/>
              </a:prstGeom>
              <a:blipFill>
                <a:blip r:embed="rId4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7">
            <a:extLst>
              <a:ext uri="{FF2B5EF4-FFF2-40B4-BE49-F238E27FC236}">
                <a16:creationId xmlns:a16="http://schemas.microsoft.com/office/drawing/2014/main" id="{6FBD8599-9057-DDA2-B63B-E4A00A9A2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4915465"/>
            <a:ext cx="1572768" cy="1562189"/>
          </a:xfrm>
          <a:prstGeom prst="rect">
            <a:avLst/>
          </a:prstGeom>
        </p:spPr>
      </p:pic>
      <p:cxnSp>
        <p:nvCxnSpPr>
          <p:cNvPr id="16" name="Conector recto 41">
            <a:extLst>
              <a:ext uri="{FF2B5EF4-FFF2-40B4-BE49-F238E27FC236}">
                <a16:creationId xmlns:a16="http://schemas.microsoft.com/office/drawing/2014/main" id="{5A4AFCBD-0E07-9C6A-5BAE-89EAC4B3978B}"/>
              </a:ext>
            </a:extLst>
          </p:cNvPr>
          <p:cNvCxnSpPr>
            <a:cxnSpLocks/>
          </p:cNvCxnSpPr>
          <p:nvPr/>
        </p:nvCxnSpPr>
        <p:spPr>
          <a:xfrm flipV="1">
            <a:off x="2216283" y="4915465"/>
            <a:ext cx="1606264" cy="1778578"/>
          </a:xfrm>
          <a:prstGeom prst="line">
            <a:avLst/>
          </a:prstGeom>
          <a:ln w="57150">
            <a:solidFill>
              <a:schemeClr val="accent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105925-4816-8BFC-122F-F0FAEB243498}"/>
              </a:ext>
            </a:extLst>
          </p:cNvPr>
          <p:cNvCxnSpPr>
            <a:cxnSpLocks/>
          </p:cNvCxnSpPr>
          <p:nvPr/>
        </p:nvCxnSpPr>
        <p:spPr>
          <a:xfrm>
            <a:off x="3057525" y="5788845"/>
            <a:ext cx="7164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59D6CB-7E87-43C9-0A87-83FB2BC47757}"/>
              </a:ext>
            </a:extLst>
          </p:cNvPr>
          <p:cNvCxnSpPr>
            <a:cxnSpLocks/>
          </p:cNvCxnSpPr>
          <p:nvPr/>
        </p:nvCxnSpPr>
        <p:spPr>
          <a:xfrm>
            <a:off x="3766788" y="4957699"/>
            <a:ext cx="0" cy="832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8">
            <a:extLst>
              <a:ext uri="{FF2B5EF4-FFF2-40B4-BE49-F238E27FC236}">
                <a16:creationId xmlns:a16="http://schemas.microsoft.com/office/drawing/2014/main" id="{BE037639-BE82-CA06-87D4-FD8635B42F76}"/>
              </a:ext>
            </a:extLst>
          </p:cNvPr>
          <p:cNvSpPr txBox="1"/>
          <p:nvPr/>
        </p:nvSpPr>
        <p:spPr>
          <a:xfrm>
            <a:off x="3550948" y="4313990"/>
            <a:ext cx="3373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2"/>
                </a:solidFill>
              </a:rPr>
              <a:t>.</a:t>
            </a:r>
            <a:endParaRPr lang="es-CO" sz="6000" b="1" dirty="0">
              <a:solidFill>
                <a:schemeClr val="bg2"/>
              </a:solidFill>
            </a:endParaRPr>
          </a:p>
        </p:txBody>
      </p:sp>
      <p:sp>
        <p:nvSpPr>
          <p:cNvPr id="30" name="CuadroTexto 8">
            <a:extLst>
              <a:ext uri="{FF2B5EF4-FFF2-40B4-BE49-F238E27FC236}">
                <a16:creationId xmlns:a16="http://schemas.microsoft.com/office/drawing/2014/main" id="{AAA2F79A-53DF-FA91-6E69-5566D61F312A}"/>
              </a:ext>
            </a:extLst>
          </p:cNvPr>
          <p:cNvSpPr txBox="1"/>
          <p:nvPr/>
        </p:nvSpPr>
        <p:spPr>
          <a:xfrm>
            <a:off x="3451716" y="4219405"/>
            <a:ext cx="3373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accent2"/>
                </a:solidFill>
              </a:rPr>
              <a:t>.</a:t>
            </a:r>
            <a:endParaRPr lang="es-CO" sz="6000" b="1" dirty="0">
              <a:solidFill>
                <a:schemeClr val="accent2"/>
              </a:solidFill>
            </a:endParaRPr>
          </a:p>
        </p:txBody>
      </p:sp>
      <p:sp>
        <p:nvSpPr>
          <p:cNvPr id="18" name="CuadroTexto 8">
            <a:extLst>
              <a:ext uri="{FF2B5EF4-FFF2-40B4-BE49-F238E27FC236}">
                <a16:creationId xmlns:a16="http://schemas.microsoft.com/office/drawing/2014/main" id="{932FA358-BC22-FF8A-E565-78E13D4C5246}"/>
              </a:ext>
            </a:extLst>
          </p:cNvPr>
          <p:cNvSpPr txBox="1"/>
          <p:nvPr/>
        </p:nvSpPr>
        <p:spPr>
          <a:xfrm>
            <a:off x="2850747" y="5100131"/>
            <a:ext cx="3373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accent6"/>
                </a:solidFill>
              </a:rPr>
              <a:t>.</a:t>
            </a:r>
            <a:endParaRPr lang="es-CO" sz="6000" b="1" dirty="0">
              <a:solidFill>
                <a:schemeClr val="accent6"/>
              </a:solidFill>
            </a:endParaRPr>
          </a:p>
        </p:txBody>
      </p:sp>
      <p:sp>
        <p:nvSpPr>
          <p:cNvPr id="32" name="TextBox 34">
            <a:extLst>
              <a:ext uri="{FF2B5EF4-FFF2-40B4-BE49-F238E27FC236}">
                <a16:creationId xmlns:a16="http://schemas.microsoft.com/office/drawing/2014/main" id="{5FCA2294-3724-DE4F-1351-9E68E9AB6026}"/>
              </a:ext>
            </a:extLst>
          </p:cNvPr>
          <p:cNvSpPr txBox="1"/>
          <p:nvPr/>
        </p:nvSpPr>
        <p:spPr>
          <a:xfrm>
            <a:off x="2194560" y="4494842"/>
            <a:ext cx="1421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chemeClr val="accent5"/>
                </a:solidFill>
                <a:latin typeface="Lucida Handwriting" panose="03010101010101010101" pitchFamily="66" charset="0"/>
              </a:rPr>
              <a:t>Punto real</a:t>
            </a:r>
            <a:endParaRPr lang="es-CO" sz="1400" b="1" dirty="0">
              <a:solidFill>
                <a:schemeClr val="accent5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73271237-EF2C-B3AE-1BD5-449A1E4D0BA3}"/>
              </a:ext>
            </a:extLst>
          </p:cNvPr>
          <p:cNvSpPr txBox="1"/>
          <p:nvPr/>
        </p:nvSpPr>
        <p:spPr>
          <a:xfrm>
            <a:off x="4076015" y="4556592"/>
            <a:ext cx="15658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chemeClr val="accent5"/>
                </a:solidFill>
                <a:latin typeface="Lucida Handwriting" panose="03010101010101010101" pitchFamily="66" charset="0"/>
              </a:rPr>
              <a:t>Punto </a:t>
            </a:r>
            <a:r>
              <a:rPr lang="es-ES" sz="1400" b="1" dirty="0" err="1">
                <a:solidFill>
                  <a:schemeClr val="accent5"/>
                </a:solidFill>
                <a:latin typeface="Lucida Handwriting" panose="03010101010101010101" pitchFamily="66" charset="0"/>
              </a:rPr>
              <a:t>aprox</a:t>
            </a:r>
            <a:endParaRPr lang="es-CO" sz="1400" b="1" dirty="0">
              <a:solidFill>
                <a:schemeClr val="accent5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FF2D769-7E81-AF26-AFCD-FC5C54212DED}"/>
              </a:ext>
            </a:extLst>
          </p:cNvPr>
          <p:cNvSpPr/>
          <p:nvPr/>
        </p:nvSpPr>
        <p:spPr>
          <a:xfrm>
            <a:off x="3447288" y="4564412"/>
            <a:ext cx="182880" cy="181324"/>
          </a:xfrm>
          <a:custGeom>
            <a:avLst/>
            <a:gdLst>
              <a:gd name="connsiteX0" fmla="*/ 0 w 182880"/>
              <a:gd name="connsiteY0" fmla="*/ 35020 h 181324"/>
              <a:gd name="connsiteX1" fmla="*/ 64008 w 182880"/>
              <a:gd name="connsiteY1" fmla="*/ 7588 h 181324"/>
              <a:gd name="connsiteX2" fmla="*/ 146304 w 182880"/>
              <a:gd name="connsiteY2" fmla="*/ 16732 h 181324"/>
              <a:gd name="connsiteX3" fmla="*/ 182880 w 182880"/>
              <a:gd name="connsiteY3" fmla="*/ 181324 h 18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" h="181324">
                <a:moveTo>
                  <a:pt x="0" y="35020"/>
                </a:moveTo>
                <a:cubicBezTo>
                  <a:pt x="19812" y="22828"/>
                  <a:pt x="39624" y="10636"/>
                  <a:pt x="64008" y="7588"/>
                </a:cubicBezTo>
                <a:cubicBezTo>
                  <a:pt x="88392" y="4540"/>
                  <a:pt x="126492" y="-12224"/>
                  <a:pt x="146304" y="16732"/>
                </a:cubicBezTo>
                <a:cubicBezTo>
                  <a:pt x="166116" y="45688"/>
                  <a:pt x="174498" y="113506"/>
                  <a:pt x="182880" y="181324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D23BC6B-2914-B9EE-1AD0-B7DE72387CF6}"/>
              </a:ext>
            </a:extLst>
          </p:cNvPr>
          <p:cNvSpPr/>
          <p:nvPr/>
        </p:nvSpPr>
        <p:spPr>
          <a:xfrm>
            <a:off x="3895344" y="4818888"/>
            <a:ext cx="493776" cy="216118"/>
          </a:xfrm>
          <a:custGeom>
            <a:avLst/>
            <a:gdLst>
              <a:gd name="connsiteX0" fmla="*/ 493776 w 493776"/>
              <a:gd name="connsiteY0" fmla="*/ 0 h 216118"/>
              <a:gd name="connsiteX1" fmla="*/ 438912 w 493776"/>
              <a:gd name="connsiteY1" fmla="*/ 192024 h 216118"/>
              <a:gd name="connsiteX2" fmla="*/ 256032 w 493776"/>
              <a:gd name="connsiteY2" fmla="*/ 210312 h 216118"/>
              <a:gd name="connsiteX3" fmla="*/ 0 w 493776"/>
              <a:gd name="connsiteY3" fmla="*/ 164592 h 216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776" h="216118">
                <a:moveTo>
                  <a:pt x="493776" y="0"/>
                </a:moveTo>
                <a:cubicBezTo>
                  <a:pt x="486156" y="78486"/>
                  <a:pt x="478536" y="156972"/>
                  <a:pt x="438912" y="192024"/>
                </a:cubicBezTo>
                <a:cubicBezTo>
                  <a:pt x="399288" y="227076"/>
                  <a:pt x="329184" y="214884"/>
                  <a:pt x="256032" y="210312"/>
                </a:cubicBezTo>
                <a:cubicBezTo>
                  <a:pt x="182880" y="205740"/>
                  <a:pt x="91440" y="185166"/>
                  <a:pt x="0" y="164592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1CFF499-6224-B587-7769-C5B7EB88ED8B}"/>
                  </a:ext>
                </a:extLst>
              </p:cNvPr>
              <p:cNvSpPr txBox="1"/>
              <p:nvPr/>
            </p:nvSpPr>
            <p:spPr>
              <a:xfrm>
                <a:off x="992239" y="5404094"/>
                <a:ext cx="12792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1CFF499-6224-B587-7769-C5B7EB88E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239" y="5404094"/>
                <a:ext cx="127926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E9E22DA-136B-9B25-F4D5-17BC1906BD38}"/>
              </a:ext>
            </a:extLst>
          </p:cNvPr>
          <p:cNvSpPr/>
          <p:nvPr/>
        </p:nvSpPr>
        <p:spPr>
          <a:xfrm>
            <a:off x="1901952" y="5283193"/>
            <a:ext cx="1005840" cy="376943"/>
          </a:xfrm>
          <a:custGeom>
            <a:avLst/>
            <a:gdLst>
              <a:gd name="connsiteX0" fmla="*/ 0 w 1005840"/>
              <a:gd name="connsiteY0" fmla="*/ 120911 h 376943"/>
              <a:gd name="connsiteX1" fmla="*/ 146304 w 1005840"/>
              <a:gd name="connsiteY1" fmla="*/ 29471 h 376943"/>
              <a:gd name="connsiteX2" fmla="*/ 594360 w 1005840"/>
              <a:gd name="connsiteY2" fmla="*/ 29471 h 376943"/>
              <a:gd name="connsiteX3" fmla="*/ 1005840 w 1005840"/>
              <a:gd name="connsiteY3" fmla="*/ 376943 h 37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" h="376943">
                <a:moveTo>
                  <a:pt x="0" y="120911"/>
                </a:moveTo>
                <a:cubicBezTo>
                  <a:pt x="23622" y="82811"/>
                  <a:pt x="47244" y="44711"/>
                  <a:pt x="146304" y="29471"/>
                </a:cubicBezTo>
                <a:cubicBezTo>
                  <a:pt x="245364" y="14231"/>
                  <a:pt x="451104" y="-28441"/>
                  <a:pt x="594360" y="29471"/>
                </a:cubicBezTo>
                <a:cubicBezTo>
                  <a:pt x="737616" y="87383"/>
                  <a:pt x="871728" y="232163"/>
                  <a:pt x="1005840" y="376943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FD86A3-D2C8-9D39-2418-3AA15090FA96}"/>
                  </a:ext>
                </a:extLst>
              </p:cNvPr>
              <p:cNvSpPr txBox="1"/>
              <p:nvPr/>
            </p:nvSpPr>
            <p:spPr>
              <a:xfrm>
                <a:off x="4858931" y="5509406"/>
                <a:ext cx="4165748" cy="658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FD86A3-D2C8-9D39-2418-3AA15090F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931" y="5509406"/>
                <a:ext cx="4165748" cy="658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B49EDB-D7DA-2A49-30CA-6F956DFED7AA}"/>
                  </a:ext>
                </a:extLst>
              </p:cNvPr>
              <p:cNvSpPr txBox="1"/>
              <p:nvPr/>
            </p:nvSpPr>
            <p:spPr>
              <a:xfrm>
                <a:off x="5679587" y="6292988"/>
                <a:ext cx="734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B49EDB-D7DA-2A49-30CA-6F956DFE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587" y="6292988"/>
                <a:ext cx="734119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C35A3F-565A-95A5-DC85-294BA75F89B4}"/>
                  </a:ext>
                </a:extLst>
              </p:cNvPr>
              <p:cNvSpPr txBox="1"/>
              <p:nvPr/>
            </p:nvSpPr>
            <p:spPr>
              <a:xfrm>
                <a:off x="6421294" y="6292988"/>
                <a:ext cx="734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C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C35A3F-565A-95A5-DC85-294BA75F8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294" y="6292988"/>
                <a:ext cx="7341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221178-86A3-10AE-6CEC-110C8DADB15B}"/>
                  </a:ext>
                </a:extLst>
              </p:cNvPr>
              <p:cNvSpPr txBox="1"/>
              <p:nvPr/>
            </p:nvSpPr>
            <p:spPr>
              <a:xfrm>
                <a:off x="6833335" y="6292988"/>
                <a:ext cx="734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221178-86A3-10AE-6CEC-110C8DADB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335" y="6292988"/>
                <a:ext cx="73411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46402F4-C667-89E3-7B7F-0DD4165FC6AA}"/>
                  </a:ext>
                </a:extLst>
              </p:cNvPr>
              <p:cNvSpPr txBox="1"/>
              <p:nvPr/>
            </p:nvSpPr>
            <p:spPr>
              <a:xfrm>
                <a:off x="7694337" y="6266698"/>
                <a:ext cx="5393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C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46402F4-C667-89E3-7B7F-0DD4165FC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37" y="6266698"/>
                <a:ext cx="53930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9AB1E5-EE63-127C-8FE2-D9069ABCC4AD}"/>
                  </a:ext>
                </a:extLst>
              </p:cNvPr>
              <p:cNvSpPr txBox="1"/>
              <p:nvPr/>
            </p:nvSpPr>
            <p:spPr>
              <a:xfrm>
                <a:off x="2807657" y="6123516"/>
                <a:ext cx="12792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9AB1E5-EE63-127C-8FE2-D9069ABC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657" y="6123516"/>
                <a:ext cx="127926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681253-1938-CCE2-3D6B-8F4842F2F86A}"/>
                  </a:ext>
                </a:extLst>
              </p:cNvPr>
              <p:cNvSpPr txBox="1"/>
              <p:nvPr/>
            </p:nvSpPr>
            <p:spPr>
              <a:xfrm>
                <a:off x="8325851" y="6224024"/>
                <a:ext cx="3040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681253-1938-CCE2-3D6B-8F4842F2F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851" y="6224024"/>
                <a:ext cx="30407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Brace 49">
            <a:extLst>
              <a:ext uri="{FF2B5EF4-FFF2-40B4-BE49-F238E27FC236}">
                <a16:creationId xmlns:a16="http://schemas.microsoft.com/office/drawing/2014/main" id="{1F92F2B1-50D8-627F-FF10-AEFD29226756}"/>
              </a:ext>
            </a:extLst>
          </p:cNvPr>
          <p:cNvSpPr/>
          <p:nvPr/>
        </p:nvSpPr>
        <p:spPr>
          <a:xfrm rot="5400000">
            <a:off x="3284619" y="5690971"/>
            <a:ext cx="292608" cy="686119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B6325CE-912B-9E7E-52DF-5141C58A4E83}"/>
              </a:ext>
            </a:extLst>
          </p:cNvPr>
          <p:cNvSpPr/>
          <p:nvPr/>
        </p:nvSpPr>
        <p:spPr>
          <a:xfrm>
            <a:off x="3289300" y="5340350"/>
            <a:ext cx="152400" cy="180975"/>
          </a:xfrm>
          <a:custGeom>
            <a:avLst/>
            <a:gdLst>
              <a:gd name="connsiteX0" fmla="*/ 0 w 152400"/>
              <a:gd name="connsiteY0" fmla="*/ 180975 h 180975"/>
              <a:gd name="connsiteX1" fmla="*/ 152400 w 152400"/>
              <a:gd name="connsiteY1" fmla="*/ 177800 h 180975"/>
              <a:gd name="connsiteX2" fmla="*/ 152400 w 152400"/>
              <a:gd name="connsiteY2" fmla="*/ 177800 h 180975"/>
              <a:gd name="connsiteX3" fmla="*/ 149225 w 152400"/>
              <a:gd name="connsiteY3" fmla="*/ 0 h 180975"/>
              <a:gd name="connsiteX4" fmla="*/ 149225 w 152400"/>
              <a:gd name="connsiteY4" fmla="*/ 0 h 180975"/>
              <a:gd name="connsiteX5" fmla="*/ 0 w 152400"/>
              <a:gd name="connsiteY5" fmla="*/ 180975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400" h="180975">
                <a:moveTo>
                  <a:pt x="0" y="180975"/>
                </a:moveTo>
                <a:lnTo>
                  <a:pt x="152400" y="177800"/>
                </a:lnTo>
                <a:lnTo>
                  <a:pt x="152400" y="177800"/>
                </a:lnTo>
                <a:cubicBezTo>
                  <a:pt x="151871" y="148167"/>
                  <a:pt x="149225" y="0"/>
                  <a:pt x="149225" y="0"/>
                </a:cubicBezTo>
                <a:lnTo>
                  <a:pt x="149225" y="0"/>
                </a:lnTo>
                <a:lnTo>
                  <a:pt x="0" y="180975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8132CD6-63B2-FF57-BBA1-5A6BE2EE165B}"/>
                  </a:ext>
                </a:extLst>
              </p:cNvPr>
              <p:cNvSpPr txBox="1"/>
              <p:nvPr/>
            </p:nvSpPr>
            <p:spPr>
              <a:xfrm>
                <a:off x="3888283" y="5098475"/>
                <a:ext cx="944865" cy="658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8132CD6-63B2-FF57-BBA1-5A6BE2EE1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283" y="5098475"/>
                <a:ext cx="944865" cy="6581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DB0C62DB-1744-0B1E-194E-88BE722FFE0E}"/>
              </a:ext>
            </a:extLst>
          </p:cNvPr>
          <p:cNvSpPr/>
          <p:nvPr/>
        </p:nvSpPr>
        <p:spPr>
          <a:xfrm>
            <a:off x="3497580" y="5315528"/>
            <a:ext cx="548640" cy="102292"/>
          </a:xfrm>
          <a:custGeom>
            <a:avLst/>
            <a:gdLst>
              <a:gd name="connsiteX0" fmla="*/ 548640 w 548640"/>
              <a:gd name="connsiteY0" fmla="*/ 33712 h 102292"/>
              <a:gd name="connsiteX1" fmla="*/ 403860 w 548640"/>
              <a:gd name="connsiteY1" fmla="*/ 3232 h 102292"/>
              <a:gd name="connsiteX2" fmla="*/ 0 w 548640"/>
              <a:gd name="connsiteY2" fmla="*/ 102292 h 10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102292">
                <a:moveTo>
                  <a:pt x="548640" y="33712"/>
                </a:moveTo>
                <a:cubicBezTo>
                  <a:pt x="521970" y="12757"/>
                  <a:pt x="495300" y="-8198"/>
                  <a:pt x="403860" y="3232"/>
                </a:cubicBezTo>
                <a:cubicBezTo>
                  <a:pt x="312420" y="14662"/>
                  <a:pt x="156210" y="58477"/>
                  <a:pt x="0" y="102292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97E6CC8C-39EE-DE23-8E3C-8B8BB80CF9EC}"/>
              </a:ext>
            </a:extLst>
          </p:cNvPr>
          <p:cNvSpPr/>
          <p:nvPr/>
        </p:nvSpPr>
        <p:spPr>
          <a:xfrm rot="5400000">
            <a:off x="5924517" y="5562351"/>
            <a:ext cx="169471" cy="1279262"/>
          </a:xfrm>
          <a:prstGeom prst="rightBrace">
            <a:avLst>
              <a:gd name="adj1" fmla="val 8333"/>
              <a:gd name="adj2" fmla="val 49435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9E549ADB-9B7F-8C7A-C6A1-E05A0271D8C5}"/>
              </a:ext>
            </a:extLst>
          </p:cNvPr>
          <p:cNvSpPr/>
          <p:nvPr/>
        </p:nvSpPr>
        <p:spPr>
          <a:xfrm rot="5400000">
            <a:off x="7050615" y="5909285"/>
            <a:ext cx="169472" cy="629479"/>
          </a:xfrm>
          <a:prstGeom prst="rightBrace">
            <a:avLst>
              <a:gd name="adj1" fmla="val 8333"/>
              <a:gd name="adj2" fmla="val 49435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B784F541-0507-09AB-4F24-7EFD033FC97A}"/>
              </a:ext>
            </a:extLst>
          </p:cNvPr>
          <p:cNvSpPr/>
          <p:nvPr/>
        </p:nvSpPr>
        <p:spPr>
          <a:xfrm rot="5400000">
            <a:off x="7880257" y="5926061"/>
            <a:ext cx="144389" cy="539302"/>
          </a:xfrm>
          <a:prstGeom prst="rightBrace">
            <a:avLst>
              <a:gd name="adj1" fmla="val 8333"/>
              <a:gd name="adj2" fmla="val 49435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D6E92F64-B784-0DA4-6F0C-A827424B185E}"/>
              </a:ext>
            </a:extLst>
          </p:cNvPr>
          <p:cNvSpPr/>
          <p:nvPr/>
        </p:nvSpPr>
        <p:spPr>
          <a:xfrm rot="5400000">
            <a:off x="8393149" y="6028108"/>
            <a:ext cx="169474" cy="304069"/>
          </a:xfrm>
          <a:prstGeom prst="rightBrace">
            <a:avLst>
              <a:gd name="adj1" fmla="val 8333"/>
              <a:gd name="adj2" fmla="val 49435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829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7" grpId="0"/>
      <p:bldP spid="9" grpId="0" animBg="1"/>
      <p:bldP spid="10" grpId="0" animBg="1"/>
      <p:bldP spid="11" grpId="0"/>
      <p:bldP spid="21" grpId="0"/>
      <p:bldP spid="30" grpId="0"/>
      <p:bldP spid="18" grpId="0"/>
      <p:bldP spid="32" grpId="0"/>
      <p:bldP spid="33" grpId="0"/>
      <p:bldP spid="35" grpId="0" animBg="1"/>
      <p:bldP spid="36" grpId="0" animBg="1"/>
      <p:bldP spid="38" grpId="0"/>
      <p:bldP spid="40" grpId="0" animBg="1"/>
      <p:bldP spid="42" grpId="0"/>
      <p:bldP spid="43" grpId="0"/>
      <p:bldP spid="44" grpId="0"/>
      <p:bldP spid="45" grpId="0"/>
      <p:bldP spid="46" grpId="0"/>
      <p:bldP spid="47" grpId="0"/>
      <p:bldP spid="49" grpId="0"/>
      <p:bldP spid="50" grpId="0" animBg="1"/>
      <p:bldP spid="53" grpId="0" animBg="1"/>
      <p:bldP spid="55" grpId="0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21.4473"/>
  <p:tag name="LATEXADDIN" val="\documentclass{article}&#10;\usepackage{ae} %incluido&#10;\usepackage{multirow}&#10;\usepackage{mathrsfs} %Transformada de laplace e Fourier&#10;\usepackage{amsmath}&#10;\pagestyle{empty}&#10;&#10;\begin{document}&#10;&#10;$y=10u$&#10;&#10;\end{document}"/>
  <p:tag name="IGUANATEXSIZE" val="20"/>
  <p:tag name="IGUANATEXCURSOR" val="194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805.774"/>
  <p:tag name="LATEXADDIN" val="\documentclass{article}&#10;\usepackage{ae} %incluido&#10;\usepackage{multirow}&#10;\usepackage{mathrsfs} %Transformada de laplace e Fourier&#10;\usepackage{amsmath}&#10;\pagestyle{empty}&#10;&#10;\begin{document}&#10;&#10;$y=10(u_1+u_2)=10(3+5)=80$&#10;&#10;\end{document}"/>
  <p:tag name="IGUANATEXSIZE" val="20"/>
  <p:tag name="IGUANATEXCURSOR" val="213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668.9164"/>
  <p:tag name="LATEXADDIN" val="\documentclass{article}&#10;\usepackage{ae} %incluido&#10;\usepackage{multirow}&#10;\usepackage{mathrsfs} %Transformada de laplace e Fourier&#10;\usepackage{amsmath}&#10;\pagestyle{empty}&#10;&#10;\begin{document}&#10;&#10;$y_1+y_2=80$&#10;&#10;\end{document}"/>
  <p:tag name="IGUANATEXSIZE" val="20"/>
  <p:tag name="IGUANATEXCURSOR" val="199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21.4473"/>
  <p:tag name="LATEXADDIN" val="\documentclass{article}&#10;\usepackage{ae} %incluido&#10;\usepackage{multirow}&#10;\usepackage{mathrsfs} %Transformada de laplace e Fourier&#10;\usepackage{amsmath}&#10;\pagestyle{empty}&#10;&#10;\begin{document}&#10;&#10;$y=10u$&#10;&#10;\end{document}"/>
  <p:tag name="IGUANATEXSIZE" val="20"/>
  <p:tag name="IGUANATEXCURSOR" val="194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97.9002"/>
  <p:tag name="LATEXADDIN" val="\documentclass{article}&#10;\usepackage{ae} %incluido&#10;\usepackage{multirow}&#10;\usepackage{mathrsfs} %Transformada de laplace e Fourier&#10;\usepackage{amsmath}&#10;\pagestyle{empty}&#10;&#10;\begin{document}&#10;&#10;$y=10(2)=20$&#10;&#10;\end{document}"/>
  <p:tag name="IGUANATEXSIZE" val="20"/>
  <p:tag name="IGUANATEXCURSOR" val="199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312.7109"/>
  <p:tag name="LATEXADDIN" val="\documentclass{article}&#10;\usepackage{ae} %incluido&#10;\usepackage{multirow}&#10;\usepackage{mathrsfs} %Transformada de laplace e Fourier&#10;\usepackage{amsmath}&#10;\pagestyle{empty}&#10;&#10;\begin{document}&#10;&#10;$A=3$&#10;&#10;\end{document}"/>
  <p:tag name="IGUANATEXSIZE" val="20"/>
  <p:tag name="IGUANATEXCURSOR" val="192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21.4473"/>
  <p:tag name="LATEXADDIN" val="\documentclass{article}&#10;\usepackage{ae} %incluido&#10;\usepackage{multirow}&#10;\usepackage{mathrsfs} %Transformada de laplace e Fourier&#10;\usepackage{amsmath}&#10;\pagestyle{empty}&#10;&#10;\begin{document}&#10;&#10;$y=10u$&#10;&#10;\end{document}"/>
  <p:tag name="IGUANATEXSIZE" val="20"/>
  <p:tag name="IGUANATEXCURSOR" val="194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97.9002"/>
  <p:tag name="LATEXADDIN" val="\documentclass{article}&#10;\usepackage{ae} %incluido&#10;\usepackage{multirow}&#10;\usepackage{mathrsfs} %Transformada de laplace e Fourier&#10;\usepackage{amsmath}&#10;\pagestyle{empty}&#10;&#10;\begin{document}&#10;&#10;$y=10(2)=20$&#10;&#10;\end{document}"/>
  <p:tag name="IGUANATEXSIZE" val="20"/>
  <p:tag name="IGUANATEXCURSOR" val="199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312.7109"/>
  <p:tag name="LATEXADDIN" val="\documentclass{article}&#10;\usepackage{ae} %incluido&#10;\usepackage{multirow}&#10;\usepackage{mathrsfs} %Transformada de laplace e Fourier&#10;\usepackage{amsmath}&#10;\pagestyle{empty}&#10;&#10;\begin{document}&#10;&#10;$A=3$&#10;&#10;\end{document}"/>
  <p:tag name="IGUANATEXSIZE" val="20"/>
  <p:tag name="IGUANATEXCURSOR" val="192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349.831"/>
  <p:tag name="LATEXADDIN" val="\documentclass{article}&#10;\usepackage{ae} %incluido&#10;\usepackage{multirow}&#10;\usepackage{mathrsfs} %Transformada de laplace e Fourier&#10;\usepackage{amsmath}&#10;\pagestyle{empty}&#10;&#10;\begin{document}&#10;&#10;$y=10(Au)=10(6)=60$&#10;&#10;\end{document}"/>
  <p:tag name="IGUANATEXSIZE" val="20"/>
  <p:tag name="IGUANATEXCURSOR" val="206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.7364"/>
  <p:tag name="ORIGINALWIDTH" val="632.9208"/>
  <p:tag name="LATEXADDIN" val="\documentclass{article}&#10;\usepackage{ae} %incluido&#10;\usepackage{multirow}&#10;\usepackage{mathrsfs} %Transformada de laplace e Fourier&#10;\usepackage{amsmath}&#10;\pagestyle{empty}&#10;&#10;\begin{document}&#10;&#10;$y=10u+5$&#10;&#10;\end{document}"/>
  <p:tag name="IGUANATEXSIZE" val="20"/>
  <p:tag name="IGUANATEXCURSOR" val="196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290.9636"/>
  <p:tag name="LATEXADDIN" val="\documentclass{article}&#10;\usepackage{ae} %incluido&#10;\usepackage{multirow}&#10;\usepackage{mathrsfs} %Transformada de laplace e Fourier&#10;\usepackage{amsmath}&#10;\pagestyle{empty}&#10;&#10;\begin{document}&#10;&#10;$u=2$&#10;&#10;\end{document}"/>
  <p:tag name="IGUANATEXSIZE" val="20"/>
  <p:tag name="IGUANATEXCURSOR" val="192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10.874"/>
  <p:tag name="LATEXADDIN" val="\documentclass{article}&#10;\usepackage{ae} %incluido&#10;\usepackage{multirow}&#10;\usepackage{mathrsfs} %Transformada de laplace e Fourier&#10;\usepackage{amsmath}&#10;\pagestyle{empty}&#10;&#10;\begin{document}&#10;&#10;$y=10(2)+5=25$&#10;&#10;\end{document}"/>
  <p:tag name="IGUANATEXSIZE" val="20"/>
  <p:tag name="IGUANATEXCURSOR" val="201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312.7109"/>
  <p:tag name="LATEXADDIN" val="\documentclass{article}&#10;\usepackage{ae} %incluido&#10;\usepackage{multirow}&#10;\usepackage{mathrsfs} %Transformada de laplace e Fourier&#10;\usepackage{amsmath}&#10;\pagestyle{empty}&#10;&#10;\begin{document}&#10;&#10;$A=3$&#10;&#10;\end{document}"/>
  <p:tag name="IGUANATEXSIZE" val="20"/>
  <p:tag name="IGUANATEXCURSOR" val="192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383.952"/>
  <p:tag name="LATEXADDIN" val="\documentclass{article}&#10;\usepackage{ae} %incluido&#10;\usepackage{multirow}&#10;\usepackage{mathrsfs} %Transformada de laplace e Fourier&#10;\usepackage{amsmath}&#10;\pagestyle{empty}&#10;&#10;\begin{document}&#10;&#10;$Au=6$&#10;&#10;\end{document}"/>
  <p:tag name="IGUANATEXSIZE" val="20"/>
  <p:tag name="IGUANATEXCURSOR" val="192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82.602"/>
  <p:tag name="LATEXADDIN" val="\documentclass{article}&#10;\usepackage{ae} %incluido&#10;\usepackage{multirow}&#10;\usepackage{mathrsfs} %Transformada de laplace e Fourier&#10;\usepackage{amsmath}&#10;\pagestyle{empty}&#10;&#10;\begin{document}&#10;&#10;$Ay=3y=3(25)=75$&#10;&#10;\end{document}"/>
  <p:tag name="IGUANATEXSIZE" val="20"/>
  <p:tag name="IGUANATEXCURSOR" val="203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777.278"/>
  <p:tag name="LATEXADDIN" val="\documentclass{article}&#10;\usepackage{ae} %incluido&#10;\usepackage{multirow}&#10;\usepackage{mathrsfs} %Transformada de laplace e Fourier&#10;\usepackage{amsmath}&#10;\pagestyle{empty}&#10;&#10;\begin{document}&#10;&#10;$y=10(Au)+5=10(6)+5=65$ &#10;&#10;\end{document}"/>
  <p:tag name="IGUANATEXSIZE" val="20"/>
  <p:tag name="IGUANATEXCURSOR" val="211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1064.867"/>
  <p:tag name="LATEXADDIN" val="\documentclass{article}&#10;\usepackage[brazil]{babel}&#10;\usepackage[T1]{fontenc}&#10;\usepackage{ae} %incluido&#10;\usepackage{amsmath}&#10;\usepackage{multirow}&#10;\pagestyle{empty}&#10;\begin{document}&#10;&#10;$A_1\dfrac{dh_1(t)}{dt}=q_i-q_m$&#10;&#10;\end{document}"/>
  <p:tag name="IGUANATEXSIZE" val="25"/>
  <p:tag name="IGUANATEXCURSOR" val="196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9843"/>
  <p:tag name="ORIGINALWIDTH" val="612.6734"/>
  <p:tag name="LATEXADDIN" val="\documentclass{article}&#10;\usepackage[brazil]{babel}&#10;\usepackage[T1]{fontenc}&#10;\usepackage{ae} %incluido&#10;\usepackage{amsmath}&#10;\usepackage{multirow}&#10;\pagestyle{empty}&#10;\begin{document}&#10;&#10;$q_m=k\sqrt{h_1}$&#10;&#10;\end{document}"/>
  <p:tag name="IGUANATEXSIZE" val="25"/>
  <p:tag name="IGUANATEXCURSOR" val="196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553.056"/>
  <p:tag name="LATEXADDIN" val="\documentclass{article}&#10;\usepackage[brazil]{babel}&#10;\usepackage[T1]{fontenc}&#10;\usepackage{ae} %incluido&#10;\usepackage{amsmath}&#10;\usepackage{multirow}&#10;\pagestyle{empty}&#10;\begin{document}&#10;&#10;$\dfrac{dh_1(t)}{dt}=\dfrac{1}{A_1}\left(q_i-k\sqrt{h_1(t)}\right)$&#10;&#10;\end{document}"/>
  <p:tag name="IGUANATEXSIZE" val="25"/>
  <p:tag name="IGUANATEXCURSOR" val="225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553.056"/>
  <p:tag name="LATEXADDIN" val="\documentclass{article}&#10;\usepackage[brazil]{babel}&#10;\usepackage[T1]{fontenc}&#10;\usepackage{ae} %incluido&#10;\usepackage{amsmath}&#10;\usepackage{multirow}&#10;\pagestyle{empty}&#10;\begin{document}&#10;&#10;$\dfrac{dh_1(t)}{dt}=\dfrac{1}{A_1}\left(q_i-k\sqrt{h_1(t)}\right)$&#10;&#10;\end{document}"/>
  <p:tag name="IGUANATEXSIZE" val="25"/>
  <p:tag name="IGUANATEXCURSOR" val="227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770.529"/>
  <p:tag name="LATEXADDIN" val="\documentclass{article}&#10;\usepackage[brazil]{babel}&#10;\usepackage[T1]{fontenc}&#10;\usepackage{ae} %incluido&#10;\usepackage{amsmath}&#10;\usepackage{multirow}&#10;\pagestyle{empty}&#10;\begin{document}&#10;&#10;$\dfrac{d\lambda h_1(t)}{dt}=\dfrac{1}{A_1}\left(\lambda q_i-k\sqrt{\lambda h_1(t)}\right)$&#10;&#10;\end{document}"/>
  <p:tag name="IGUANATEXSIZE" val="25"/>
  <p:tag name="IGUANATEXCURSOR" val="243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779.528"/>
  <p:tag name="LATEXADDIN" val="\documentclass{article}&#10;\usepackage[brazil]{babel}&#10;\usepackage[T1]{fontenc}&#10;\usepackage{ae} %incluido&#10;\usepackage{amsmath}&#10;\usepackage{multirow}&#10;\pagestyle{empty}&#10;\begin{document}&#10;&#10;$\lambda \dfrac{dh_1(t)}{dt}=\dfrac{1}{A_1}\left(\lambda q_i-k\sqrt{\lambda h_1(t)}\right)$&#10;&#10;\end{document}"/>
  <p:tag name="IGUANATEXSIZE" val="25"/>
  <p:tag name="IGUANATEXCURSOR" val="243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387.327"/>
  <p:tag name="LATEXADDIN" val="\documentclass{article}&#10;\usepackage[brazil]{babel}&#10;\usepackage[T1]{fontenc}&#10;\usepackage{ae} %incluido&#10;\usepackage{amsmath}&#10;\usepackage{multirow}&#10;\pagestyle{empty}&#10;\begin{document}&#10;&#10;$\dfrac{dh_1(t)}{dt}=\dfrac{1}{A_1}\left(q_i-kh_1(t)\right)$&#10;&#10;\end{document}"/>
  <p:tag name="IGUANATEXSIZE" val="25"/>
  <p:tag name="IGUANATEXCURSOR" val="227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604.799"/>
  <p:tag name="LATEXADDIN" val="\documentclass{article}&#10;\usepackage[brazil]{babel}&#10;\usepackage[T1]{fontenc}&#10;\usepackage{ae} %incluido&#10;\usepackage{amsmath}&#10;\usepackage{multirow}&#10;\pagestyle{empty}&#10;\begin{document}&#10;&#10;$\dfrac{d\lambda h_1(t)}{dt}=\dfrac{1}{A_1}\left(\lambda q_i-k\lambda h_1(t)\right)$&#10;&#10;\end{document}"/>
  <p:tag name="IGUANATEXSIZE" val="25"/>
  <p:tag name="IGUANATEXCURSOR" val="243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469.066"/>
  <p:tag name="LATEXADDIN" val="\documentclass{article}&#10;\usepackage[brazil]{babel}&#10;\usepackage[T1]{fontenc}&#10;\usepackage{ae} %incluido&#10;\usepackage{amsmath}&#10;\usepackage{multirow}&#10;\pagestyle{empty}&#10;\begin{document}&#10;&#10;$\lambda \dfrac{dh_1(t)}{dt}=\dfrac{\lambda }{A_1}\left(q_i-kh_1(t)\right)$&#10;&#10;\end{document}"/>
  <p:tag name="IGUANATEXSIZE" val="25"/>
  <p:tag name="IGUANATEXCURSOR" val="242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493.4384"/>
  <p:tag name="LATEXADDIN" val="\documentclass{article}&#10;\usepackage[brazil]{babel}&#10;\usepackage[T1]{fontenc}&#10;\usepackage{ae} %incluido&#10;\usepackage{amsmath}&#10;\usepackage{multirow}&#10;\pagestyle{empty}&#10;\begin{document}&#10;&#10;$q_m=kh_1$&#10;&#10;\end{document}"/>
  <p:tag name="IGUANATEXSIZE" val="25"/>
  <p:tag name="IGUANATEXCURSOR" val="190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387.327"/>
  <p:tag name="LATEXADDIN" val="\documentclass{article}&#10;\usepackage[brazil]{babel}&#10;\usepackage[T1]{fontenc}&#10;\usepackage{ae} %incluido&#10;\usepackage{amsmath}&#10;\usepackage{multirow}&#10;\pagestyle{empty}&#10;\begin{document}&#10;&#10;$\dfrac{dh_1(t)}{dt}=\dfrac{1}{A_1}\left(q_i-kh_1(t)\right)$&#10;&#10;\end{document}"/>
  <p:tag name="IGUANATEXSIZE" val="25"/>
  <p:tag name="IGUANATEXCURSOR" val="227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550.806"/>
  <p:tag name="LATEXADDIN" val="\documentclass{article}&#10;\usepackage[brazil]{babel}&#10;\usepackage[T1]{fontenc}&#10;\usepackage{ae} %incluido&#10;\usepackage{amsmath}&#10;\usepackage{multirow}&#10;\pagestyle{empty}&#10;\begin{document}&#10;&#10;$\dfrac{dh_{1_a}(t)}{dt}=\dfrac{1}{A_1}\left(q_{i_a}-kh_{1_a}(t)\right)$&#10;&#10;\end{document}"/>
  <p:tag name="IGUANATEXSIZE" val="25"/>
  <p:tag name="IGUANATEXCURSOR" val="235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524.559"/>
  <p:tag name="LATEXADDIN" val="\documentclass{article}&#10;\usepackage[brazil]{babel}&#10;\usepackage[T1]{fontenc}&#10;\usepackage{ae} %incluido&#10;\usepackage{amsmath}&#10;\usepackage{multirow}&#10;\pagestyle{empty}&#10;\begin{document}&#10;&#10;$\dfrac{dh_{1_b}(t)}{dt}=\dfrac{1}{A_1}\left(q_{i_b}-kh_{1_b}(t)\right)$&#10;&#10;\end{document}"/>
  <p:tag name="IGUANATEXSIZE" val="25"/>
  <p:tag name="IGUANATEXCURSOR" val="235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1091.864"/>
  <p:tag name="LATEXADDIN" val="\documentclass{article}&#10;\usepackage[brazil]{babel}&#10;\usepackage[T1]{fontenc}&#10;\usepackage{ae} %incluido&#10;\usepackage{amsmath}&#10;\usepackage{multirow}&#10;\pagestyle{empty}&#10;\begin{document}&#10;&#10;$\dfrac{d(h_{1_a}(t)+h_{1_b}(t))}{dt}=$&#10;&#10;\end{document}"/>
  <p:tag name="IGUANATEXSIZE" val="25"/>
  <p:tag name="IGUANATEXCURSOR" val="219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1283.839"/>
  <p:tag name="LATEXADDIN" val="\documentclass{article}&#10;\usepackage[brazil]{babel}&#10;\usepackage[T1]{fontenc}&#10;\usepackage{ae} %incluido&#10;\usepackage{amsmath}&#10;\usepackage{multirow}&#10;\pagestyle{empty}&#10;\begin{document}&#10;&#10;$\dfrac{d(h_{1_a}(t))}{dt}+\dfrac{d(h_{1_b}(t))}{dt}=$&#10;&#10;\end{document}"/>
  <p:tag name="IGUANATEXSIZE" val="25"/>
  <p:tag name="IGUANATEXCURSOR" val="217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0.7162"/>
  <p:tag name="ORIGINALWIDTH" val="2093.738"/>
  <p:tag name="LATEXADDIN" val="\documentclass{article}&#10;\usepackage{ae} %incluido&#10;\usepackage{multirow}&#10;\usepackage{mathrsfs} %Transformada de laplace e Fourier&#10;\usepackage{amsmath}&#10;\pagestyle{empty}&#10;&#10;\begin{document}&#10;&#10;$\dfrac{1}{A_1}\left(q_{i_a}-kh_{1_a}(t)\right)+\dfrac{1}{A_1}\left(q_{i_b}-kh_{1_b}(t)\right)$&#10;&#10;\end{document}"/>
  <p:tag name="IGUANATEXSIZE" val="20"/>
  <p:tag name="IGUANATEXCURSOR" val="264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493.4384"/>
  <p:tag name="LATEXADDIN" val="\documentclass{article}&#10;\usepackage[brazil]{babel}&#10;\usepackage[T1]{fontenc}&#10;\usepackage{ae} %incluido&#10;\usepackage{amsmath}&#10;\usepackage{multirow}&#10;\pagestyle{empty}&#10;\begin{document}&#10;&#10;$q_m=kh_1$&#10;&#10;\end{document}"/>
  <p:tag name="IGUANATEXSIZE" val="25"/>
  <p:tag name="IGUANATEXCURSOR" val="190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493.4384"/>
  <p:tag name="LATEXADDIN" val="\documentclass{article}&#10;\usepackage[brazil]{babel}&#10;\usepackage[T1]{fontenc}&#10;\usepackage{ae} %incluido&#10;\usepackage{amsmath}&#10;\usepackage{multirow}&#10;\pagestyle{empty}&#10;\begin{document}&#10;&#10;$q_m=kh_1$&#10;&#10;\end{document}"/>
  <p:tag name="IGUANATEXSIZE" val="25"/>
  <p:tag name="IGUANATEXCURSOR" val="190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9647"/>
  <p:tag name="ORIGINALWIDTH" val="1387.327"/>
  <p:tag name="LATEXADDIN" val="\documentclass{article}&#10;\usepackage[brazil]{babel}&#10;\usepackage[T1]{fontenc}&#10;\usepackage{ae} %incluido&#10;\usepackage{amsmath}&#10;\usepackage{multirow}&#10;\pagestyle{empty}&#10;\begin{document}&#10;&#10;$\dfrac{dh_1(t)}{dt}=\dfrac{1}{A_1}\left(q_i-kh_1(t)\right)$&#10;&#10;\end{document}"/>
  <p:tag name="IGUANATEXSIZE" val="25"/>
  <p:tag name="IGUANATEXCURSOR" val="227"/>
  <p:tag name="TRANSPARENCY" val="Verdadero"/>
  <p:tag name="FILENAME" val=""/>
  <p:tag name="LATEXENGINEID" val="0"/>
  <p:tag name="TEMPFOLDER" val="c:\temp\"/>
  <p:tag name="LATEXFORMHEIGHT" val="312"/>
  <p:tag name="LATEXFORMWIDTH" val="384"/>
  <p:tag name="LATEXFORMWRAP" val="Verdadero"/>
  <p:tag name="BITMAPVECTOR" val="0"/>
</p:tagLst>
</file>

<file path=ppt/theme/theme1.xml><?xml version="1.0" encoding="utf-8"?>
<a:theme xmlns:a="http://schemas.openxmlformats.org/drawingml/2006/main" name="Tema de Office">
  <a:themeElements>
    <a:clrScheme name="Dracula">
      <a:dk1>
        <a:srgbClr val="282A36"/>
      </a:dk1>
      <a:lt1>
        <a:srgbClr val="F8F8F2"/>
      </a:lt1>
      <a:dk2>
        <a:srgbClr val="44475A"/>
      </a:dk2>
      <a:lt2>
        <a:srgbClr val="BD93F9"/>
      </a:lt2>
      <a:accent1>
        <a:srgbClr val="50FA7B"/>
      </a:accent1>
      <a:accent2>
        <a:srgbClr val="8BE9FD"/>
      </a:accent2>
      <a:accent3>
        <a:srgbClr val="6272A4"/>
      </a:accent3>
      <a:accent4>
        <a:srgbClr val="FF79C6"/>
      </a:accent4>
      <a:accent5>
        <a:srgbClr val="FFB86C"/>
      </a:accent5>
      <a:accent6>
        <a:srgbClr val="F1FA8C"/>
      </a:accent6>
      <a:hlink>
        <a:srgbClr val="BD93F9"/>
      </a:hlink>
      <a:folHlink>
        <a:srgbClr val="FF555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0920896-A505-4C6F-A429-DF7F67BB02FB}" vid="{9A50490F-329A-4F12-B91A-1BDAD4251B2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3A00F274449E4D98379C6BF4F2EA6B" ma:contentTypeVersion="11" ma:contentTypeDescription="Crear nuevo documento." ma:contentTypeScope="" ma:versionID="eb3f5a400347c3417aab130743b3d1b7">
  <xsd:schema xmlns:xsd="http://www.w3.org/2001/XMLSchema" xmlns:xs="http://www.w3.org/2001/XMLSchema" xmlns:p="http://schemas.microsoft.com/office/2006/metadata/properties" xmlns:ns2="fac3ca94-d71a-4caa-9690-eb28d591cc11" xmlns:ns3="81d90fb7-c10b-429b-a2b8-56a49218fdfe" targetNamespace="http://schemas.microsoft.com/office/2006/metadata/properties" ma:root="true" ma:fieldsID="76a9e87a822cd72ed856b4afed0ee74c" ns2:_="" ns3:_="">
    <xsd:import namespace="fac3ca94-d71a-4caa-9690-eb28d591cc11"/>
    <xsd:import namespace="81d90fb7-c10b-429b-a2b8-56a49218fd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c3ca94-d71a-4caa-9690-eb28d591cc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093fb0a-f3be-4120-808e-fc0c80b8c9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0fb7-c10b-429b-a2b8-56a49218fdf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809115-c1bd-42a4-a936-87346198339a}" ma:internalName="TaxCatchAll" ma:showField="CatchAllData" ma:web="81d90fb7-c10b-429b-a2b8-56a49218fd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d90fb7-c10b-429b-a2b8-56a49218fdfe" xsi:nil="true"/>
    <lcf76f155ced4ddcb4097134ff3c332f xmlns="fac3ca94-d71a-4caa-9690-eb28d591cc1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1E5FF3-0D58-4418-8663-F7D1E5E6382D}"/>
</file>

<file path=customXml/itemProps2.xml><?xml version="1.0" encoding="utf-8"?>
<ds:datastoreItem xmlns:ds="http://schemas.openxmlformats.org/officeDocument/2006/customXml" ds:itemID="{41939AA9-1944-49F9-9FB4-40A947121793}">
  <ds:schemaRefs>
    <ds:schemaRef ds:uri="http://schemas.microsoft.com/office/2006/metadata/properties"/>
    <ds:schemaRef ds:uri="http://schemas.microsoft.com/office/infopath/2007/PartnerControls"/>
    <ds:schemaRef ds:uri="81d90fb7-c10b-429b-a2b8-56a49218fdfe"/>
    <ds:schemaRef ds:uri="fac3ca94-d71a-4caa-9690-eb28d591cc11"/>
  </ds:schemaRefs>
</ds:datastoreItem>
</file>

<file path=customXml/itemProps3.xml><?xml version="1.0" encoding="utf-8"?>
<ds:datastoreItem xmlns:ds="http://schemas.openxmlformats.org/officeDocument/2006/customXml" ds:itemID="{0F238388-C092-49D6-91A2-F7230D44CC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Dracula Template</Template>
  <TotalTime>4524</TotalTime>
  <Words>2462</Words>
  <Application>Microsoft Office PowerPoint</Application>
  <PresentationFormat>Widescreen</PresentationFormat>
  <Paragraphs>382</Paragraphs>
  <Slides>43</Slides>
  <Notes>3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Tema de Office</vt:lpstr>
      <vt:lpstr>Control de Sistemas Dinámicos</vt:lpstr>
      <vt:lpstr>¿De qué trata este curso?</vt:lpstr>
      <vt:lpstr>Automatización de Procesos</vt:lpstr>
      <vt:lpstr>Diagrama de Bloques en Lazo Cerrado</vt:lpstr>
      <vt:lpstr>Introducción al Control de Procesos</vt:lpstr>
      <vt:lpstr>Contenidos principales del curso</vt:lpstr>
      <vt:lpstr>Sistema de evaluación</vt:lpstr>
      <vt:lpstr>Decálogo del Área de Automática y Robotica</vt:lpstr>
      <vt:lpstr>Decálogo del Área de Automática y Robotica</vt:lpstr>
      <vt:lpstr>¿Cómo vamos a aprender?</vt:lpstr>
      <vt:lpstr>Preguntas que guiarán nuestro curso</vt:lpstr>
      <vt:lpstr>¿Con qué vamos a simular en este curso?</vt:lpstr>
      <vt:lpstr>Introducción al Control de Procesos</vt:lpstr>
      <vt:lpstr>Introducción al Control de Procesos</vt:lpstr>
      <vt:lpstr>Introducción al Control de Procesos</vt:lpstr>
      <vt:lpstr>Introducción al Control de Procesos</vt:lpstr>
      <vt:lpstr>Introducción al Control de Procesos</vt:lpstr>
      <vt:lpstr>Introducción al Control de Procesos</vt:lpstr>
      <vt:lpstr>Introducción al Control de Procesos</vt:lpstr>
      <vt:lpstr>Sistemas y modelos lineales – no lineales</vt:lpstr>
      <vt:lpstr>Sistemas y modelos lineales – no lineales</vt:lpstr>
      <vt:lpstr>Sistemas y modelos lineales – no lineales</vt:lpstr>
      <vt:lpstr>Sistemas y modelos lineales – no lineales</vt:lpstr>
      <vt:lpstr>Sistemas y modelos lineales – no lineales</vt:lpstr>
      <vt:lpstr>Sistemas y modelos lineales – no lineales</vt:lpstr>
      <vt:lpstr>Sistemas y modelos lineales – no lineales</vt:lpstr>
      <vt:lpstr>Sistemas y modelos lineales – no lineales</vt:lpstr>
      <vt:lpstr>Sistemas y modelos lineales – no lineales</vt:lpstr>
      <vt:lpstr>Modelos Determinísticos y Estocásticos</vt:lpstr>
      <vt:lpstr>Modelos Determinísticos y Estocásticos</vt:lpstr>
      <vt:lpstr>Modelos Concentrados y Distribuidos</vt:lpstr>
      <vt:lpstr>Modelos Continuos y Discretos</vt:lpstr>
      <vt:lpstr>Modelos Causales y No Causales</vt:lpstr>
      <vt:lpstr>Modelos Invariantes y Variantes en el tiempo</vt:lpstr>
      <vt:lpstr>Modelos Estáticos y Dinámicos</vt:lpstr>
      <vt:lpstr>Modelos Estáticos y Dinámicos</vt:lpstr>
      <vt:lpstr>Modelos Estáticos y Dinámicos de un Proceso</vt:lpstr>
      <vt:lpstr>Dinámica en la vecindad del punto de operación</vt:lpstr>
      <vt:lpstr>Modelado y Simulación de Sistemas Dinámicos</vt:lpstr>
      <vt:lpstr>Motivación para la linealización de sistemas no lineales</vt:lpstr>
      <vt:lpstr>Motivación para la linealización de sistemas no lineales</vt:lpstr>
      <vt:lpstr>Motivación para la linealización de sistemas no lineales</vt:lpstr>
      <vt:lpstr>Linealización por Series de Taylor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Andres Castaño Giraldo</dc:creator>
  <cp:lastModifiedBy>Sergio Andres Castaño Giraldo</cp:lastModifiedBy>
  <cp:revision>132</cp:revision>
  <dcterms:created xsi:type="dcterms:W3CDTF">2025-06-03T01:40:26Z</dcterms:created>
  <dcterms:modified xsi:type="dcterms:W3CDTF">2026-02-02T16:57:03Z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0x010100753A00F274449E4D98379C6BF4F2EA6B</vt:lpwstr>
  </property>
  <property fmtid="{D5CDD505-2E9C-101B-9397-08002B2CF9AE}" pid="3" name="MediaServiceImageTags">
    <vt:lpwstr/>
  </property>
</Properties>
</file>