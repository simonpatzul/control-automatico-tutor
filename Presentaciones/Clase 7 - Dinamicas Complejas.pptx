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312" r:id="rId5"/>
    <p:sldId id="289" r:id="rId6"/>
    <p:sldId id="294" r:id="rId7"/>
    <p:sldId id="290" r:id="rId8"/>
    <p:sldId id="291" r:id="rId9"/>
    <p:sldId id="264" r:id="rId10"/>
    <p:sldId id="261" r:id="rId11"/>
    <p:sldId id="262" r:id="rId12"/>
    <p:sldId id="265" r:id="rId13"/>
    <p:sldId id="267" r:id="rId14"/>
    <p:sldId id="292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8" r:id="rId23"/>
    <p:sldId id="29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2"/>
    <a:srgbClr val="282A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5D23-057B-43C8-B6B2-AB4345A55EE6}" type="datetimeFigureOut">
              <a:rPr lang="es-419" smtClean="0"/>
              <a:t>16/2/2026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7FBC4-7AC6-4C92-8E19-EFEEBBCAC4CF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44039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5F429-2E65-A2A5-646C-47A7DF642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75C68E-E6EF-2642-9242-4CAB37351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F52098-5DEF-125E-910A-298060A6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EE8CD5-2075-F0BD-B809-BA1614C33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1BA298-5C58-AEC2-0D5F-65DB93DAF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057400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898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3E7E2-A1DA-5A5F-F04C-B31073F0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92BAF2-5DDF-2899-157D-304296D0D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A72D68-96FB-787B-E01E-C31EAEA4B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C65A20-9F1B-3567-C602-C2115B973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3BBFD5-4C22-7CCE-A7ED-B48593DE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028914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879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3FB27-ED85-696B-8635-BDA9D938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D96C02-F63C-1D5B-1CDF-6234E7AEB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1ED94D-ACD3-DB06-B641-842F9AB7F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F9E86B-A5DB-70B9-7672-56BC1BDD2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FDF003-B456-5670-189F-3BE24EE6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71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E3919A-FAE6-A557-2DDD-C6C5EEE0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866818-E6E6-BF92-3D8A-88B290EAD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7D1F06-8BE0-2F73-9ABE-21F8392C0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2F93F9-BB7D-2760-5B81-6AE2B0F29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836E06-4439-0922-979B-3F77C3EB8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9CD1D3-7606-E3F1-CA8C-7B043A17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959074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264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6BDEC-5854-0421-B33F-BFC527E6C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948E72-1405-EB95-5E2D-C4AC9C080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86E1B1-3ED5-CB2E-3697-F46630D5B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01C4BA-0862-325B-3410-33998F599F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A44A766-342D-2D6A-F4DC-727725965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909F5FA-8AF5-1C81-AB3D-6C7EAF6DB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F1DD451-07F2-49BD-BDA4-97A823337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5199F36-22A3-529D-71B8-D00DCA50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020368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50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E670A2-D11A-70D8-F0B6-4FA0959EA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3200BD-4E74-7503-3398-F7F9A0CAC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5C098E-38AB-B050-2115-14138DD47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235B1C-C7B9-706E-BD3D-7D021AF13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063097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50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D9605C-23A9-A572-387E-CEBFFEB1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97807EB-8D27-8E9D-492A-4EFF4FAD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F77476-549F-30C5-456D-B9E6C557E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037460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552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42CB46-E99F-EBEC-8A5A-43AABEFAF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A7BD16-E023-CF7A-5F9A-AC2033F29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B5672C-D422-4143-80CA-6AB253364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DC03FF-72B3-4B87-E679-533E3372D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406800-A976-3EA0-DCD1-35E24B086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90AE15-2D9F-3311-754B-0132AAB7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9222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B611DA-140E-2B03-934C-5E00A9D5A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25D5FAC-155F-20DA-CF9F-0CC96C1D8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pt-B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CBF3A5-368C-CCE9-9A2C-CC3ED1525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69C89B-5CED-0315-C9BF-0428235F5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69B6C4-75F9-9DAE-692E-3158FA15C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2D8D33-A566-F48B-BFE1-499229645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672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E725B-95EF-BDEF-4518-5FFD34002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7D7347-78FC-FD1F-DAFD-3973100C4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F176D8-D56C-E5F9-729F-9B050101F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5FA9B6-4686-A276-17D6-C1E28FFB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AEB9AC-A955-635C-F88D-C063542B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736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1023F1E-3568-212D-07A2-B9274A14AC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80EBAA-B758-7AC7-4E21-14E247EE7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7EA02D-6900-CFFE-7404-446A7AC7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E1D888-963A-8CFA-282F-FB2B81FF2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F98526-8CCC-6464-4820-7063F741C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904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010D696-A3AB-D0C8-8503-8BEB77EE4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pt-B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88058-ABB1-1E1A-C78D-FAB589124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E1B763-0134-BCFC-5C8C-0A74E5345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8F8F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B9A9A4E-3042-4604-968A-12BD889B065C}" type="datetimeFigureOut">
              <a:rPr lang="pt-BR" smtClean="0"/>
              <a:pPr/>
              <a:t>16/02/2026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FFF956-A946-2452-6532-D72FB18860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8F8F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96BEDC-A4E0-4DAD-C68F-D4140EE06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1A04707-BC9A-4795-97CB-BBF4E2115A75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095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/>
          </a:solidFill>
          <a:latin typeface="Calibri" panose="020F0502020204030204" pitchFamily="34" charset="0"/>
          <a:ea typeface="Verdana" panose="020B060403050404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8F8F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8F8F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8F8F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8F8F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8F8F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SergioACGiraldo" TargetMode="External"/><Relationship Id="rId2" Type="http://schemas.openxmlformats.org/officeDocument/2006/relationships/hyperlink" Target="https://controlautomaticoeducacion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www.instagram.com/sergioacgiraldo/" TargetMode="External"/><Relationship Id="rId4" Type="http://schemas.openxmlformats.org/officeDocument/2006/relationships/hyperlink" Target="https://br.linkedin.com/in/sergioacgiraldo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image" Target="../media/image14.png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tags" Target="../tags/tag6.xml"/><Relationship Id="rId16" Type="http://schemas.openxmlformats.org/officeDocument/2006/relationships/image" Target="../media/image17.pn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12.png"/><Relationship Id="rId5" Type="http://schemas.openxmlformats.org/officeDocument/2006/relationships/tags" Target="../tags/tag9.xml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tags" Target="../tags/tag8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2.png"/><Relationship Id="rId3" Type="http://schemas.openxmlformats.org/officeDocument/2006/relationships/tags" Target="../tags/tag15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1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20.png"/><Relationship Id="rId5" Type="http://schemas.openxmlformats.org/officeDocument/2006/relationships/tags" Target="../tags/tag17.xml"/><Relationship Id="rId10" Type="http://schemas.openxmlformats.org/officeDocument/2006/relationships/image" Target="../media/image19.png"/><Relationship Id="rId4" Type="http://schemas.openxmlformats.org/officeDocument/2006/relationships/tags" Target="../tags/tag16.xml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6.emf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tags" Target="../tags/tag23.xml"/><Relationship Id="rId7" Type="http://schemas.openxmlformats.org/officeDocument/2006/relationships/image" Target="../media/image29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tags" Target="../tags/tag26.xml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5.png"/><Relationship Id="rId4" Type="http://schemas.openxmlformats.org/officeDocument/2006/relationships/tags" Target="../tags/tag27.xml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6" Type="http://schemas.openxmlformats.org/officeDocument/2006/relationships/image" Target="../media/image37.png"/><Relationship Id="rId11" Type="http://schemas.openxmlformats.org/officeDocument/2006/relationships/image" Target="../media/image31.png"/><Relationship Id="rId5" Type="http://schemas.openxmlformats.org/officeDocument/2006/relationships/image" Target="../media/image36.png"/><Relationship Id="rId10" Type="http://schemas.openxmlformats.org/officeDocument/2006/relationships/image" Target="../media/image41.emf"/><Relationship Id="rId4" Type="http://schemas.openxmlformats.org/officeDocument/2006/relationships/image" Target="../media/image35.png"/><Relationship Id="rId9" Type="http://schemas.openxmlformats.org/officeDocument/2006/relationships/image" Target="../media/image40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6" Type="http://schemas.openxmlformats.org/officeDocument/2006/relationships/image" Target="../media/image37.png"/><Relationship Id="rId11" Type="http://schemas.openxmlformats.org/officeDocument/2006/relationships/image" Target="../media/image45.emf"/><Relationship Id="rId5" Type="http://schemas.openxmlformats.org/officeDocument/2006/relationships/image" Target="../media/image42.png"/><Relationship Id="rId10" Type="http://schemas.openxmlformats.org/officeDocument/2006/relationships/image" Target="../media/image44.emf"/><Relationship Id="rId4" Type="http://schemas.openxmlformats.org/officeDocument/2006/relationships/image" Target="../media/image35.png"/><Relationship Id="rId9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57.emf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6" Type="http://schemas.openxmlformats.org/officeDocument/2006/relationships/image" Target="../media/image59.emf"/><Relationship Id="rId5" Type="http://schemas.openxmlformats.org/officeDocument/2006/relationships/image" Target="../media/image57.emf"/><Relationship Id="rId4" Type="http://schemas.openxmlformats.org/officeDocument/2006/relationships/image" Target="../media/image5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73BAD0-79C3-F4E5-B2C0-B947816D4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86CE0A-EC86-5035-8188-8B40A4ABF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1090"/>
            <a:ext cx="9144000" cy="2266379"/>
          </a:xfrm>
        </p:spPr>
        <p:txBody>
          <a:bodyPr>
            <a:normAutofit/>
          </a:bodyPr>
          <a:lstStyle/>
          <a:p>
            <a:r>
              <a:rPr lang="es-ES"/>
              <a:t>Dinámicas Complejas</a:t>
            </a:r>
            <a:endParaRPr lang="es-CO" noProof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FADE62-CDC9-93DA-A64B-417B6FD2E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0" y="4507992"/>
            <a:ext cx="9144000" cy="1773936"/>
          </a:xfrm>
        </p:spPr>
        <p:txBody>
          <a:bodyPr>
            <a:normAutofit/>
          </a:bodyPr>
          <a:lstStyle/>
          <a:p>
            <a:r>
              <a:rPr lang="es-CO"/>
              <a:t>Prof. Sergio Andrés Castaño Giraldo</a:t>
            </a:r>
          </a:p>
          <a:p>
            <a:r>
              <a:rPr lang="es-CO" sz="1500">
                <a:hlinkClick r:id="rId2"/>
              </a:rPr>
              <a:t>https://controlautomaticoeducacion.com/</a:t>
            </a:r>
            <a:r>
              <a:rPr lang="es-CO" sz="1500"/>
              <a:t> </a:t>
            </a:r>
          </a:p>
          <a:p>
            <a:r>
              <a:rPr lang="es-CO" sz="1500">
                <a:hlinkClick r:id="rId3"/>
              </a:rPr>
              <a:t>https://www.youtube.com/@SergioACGiraldo</a:t>
            </a:r>
            <a:r>
              <a:rPr lang="es-CO" sz="1500"/>
              <a:t> </a:t>
            </a:r>
          </a:p>
          <a:p>
            <a:r>
              <a:rPr lang="es-CO" sz="150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https://br.linkedin.com/in/sergioacgiraldo</a:t>
            </a:r>
            <a:r>
              <a:rPr lang="es-CO" sz="1500">
                <a:solidFill>
                  <a:schemeClr val="bg2"/>
                </a:solidFill>
              </a:rPr>
              <a:t> </a:t>
            </a:r>
          </a:p>
          <a:p>
            <a:r>
              <a:rPr lang="es-CO" sz="1500">
                <a:hlinkClick r:id="rId5"/>
              </a:rPr>
              <a:t>https://www.instagram.com/sergioacgiraldo/</a:t>
            </a:r>
            <a:r>
              <a:rPr lang="es-CO" sz="1500"/>
              <a:t> </a:t>
            </a:r>
          </a:p>
          <a:p>
            <a:endParaRPr lang="es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82B4A-8505-3006-71F2-3AC40E1574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6560" y="360346"/>
            <a:ext cx="3738880" cy="2103120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B56A13CB-E3B0-358C-E6FD-5F7AE53B33BF}"/>
              </a:ext>
            </a:extLst>
          </p:cNvPr>
          <p:cNvSpPr txBox="1">
            <a:spLocks/>
          </p:cNvSpPr>
          <p:nvPr/>
        </p:nvSpPr>
        <p:spPr>
          <a:xfrm>
            <a:off x="1889760" y="4123944"/>
            <a:ext cx="9144000" cy="649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sz="32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07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FC3D1-AB8F-4C59-9EE8-92114D5D2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err="1"/>
              <a:t>Efecto</a:t>
            </a:r>
            <a:r>
              <a:rPr lang="en-US" b="1"/>
              <a:t> del Cero y del Polo </a:t>
            </a:r>
            <a:r>
              <a:rPr lang="en-US" b="1" err="1"/>
              <a:t>en</a:t>
            </a:r>
            <a:r>
              <a:rPr lang="en-US" b="1"/>
              <a:t> la Respuesta</a:t>
            </a:r>
            <a:endParaRPr lang="es-419"/>
          </a:p>
        </p:txBody>
      </p:sp>
      <p:sp>
        <p:nvSpPr>
          <p:cNvPr id="7" name="CaixaDeTexto 24 1">
            <a:extLst>
              <a:ext uri="{FF2B5EF4-FFF2-40B4-BE49-F238E27FC236}">
                <a16:creationId xmlns:a16="http://schemas.microsoft.com/office/drawing/2014/main" id="{860324AC-79F7-480A-B821-8C4E9A90756E}"/>
              </a:ext>
            </a:extLst>
          </p:cNvPr>
          <p:cNvSpPr txBox="1"/>
          <p:nvPr/>
        </p:nvSpPr>
        <p:spPr>
          <a:xfrm>
            <a:off x="862457" y="1876498"/>
            <a:ext cx="5369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Función de Transferencia Transformada de LAPLACE</a:t>
            </a:r>
          </a:p>
        </p:txBody>
      </p:sp>
      <p:pic>
        <p:nvPicPr>
          <p:cNvPr id="8" name="Imagem 3">
            <a:extLst>
              <a:ext uri="{FF2B5EF4-FFF2-40B4-BE49-F238E27FC236}">
                <a16:creationId xmlns:a16="http://schemas.microsoft.com/office/drawing/2014/main" id="{AE6BB211-2298-4E0F-A76C-82FAD1E224D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57" y="2384968"/>
            <a:ext cx="8087619" cy="769524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A8EDEA8-ADAE-40E0-B312-D4BBE1121D91}"/>
              </a:ext>
            </a:extLst>
          </p:cNvPr>
          <p:cNvSpPr/>
          <p:nvPr/>
        </p:nvSpPr>
        <p:spPr>
          <a:xfrm>
            <a:off x="1945758" y="2245830"/>
            <a:ext cx="6039293" cy="486737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bg1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5F10D66-5F84-49F1-BD69-A03777506A29}"/>
              </a:ext>
            </a:extLst>
          </p:cNvPr>
          <p:cNvSpPr/>
          <p:nvPr/>
        </p:nvSpPr>
        <p:spPr>
          <a:xfrm>
            <a:off x="1945758" y="2769730"/>
            <a:ext cx="6039293" cy="486737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bg1"/>
              </a:solidFill>
            </a:endParaRP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C026F740-2126-46BD-BB44-88C10430B989}"/>
              </a:ext>
            </a:extLst>
          </p:cNvPr>
          <p:cNvCxnSpPr/>
          <p:nvPr/>
        </p:nvCxnSpPr>
        <p:spPr>
          <a:xfrm flipV="1">
            <a:off x="7985051" y="2061164"/>
            <a:ext cx="659219" cy="18466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23D1BE57-3008-451C-A7C1-E7E82BBA081B}"/>
              </a:ext>
            </a:extLst>
          </p:cNvPr>
          <p:cNvCxnSpPr>
            <a:cxnSpLocks/>
          </p:cNvCxnSpPr>
          <p:nvPr/>
        </p:nvCxnSpPr>
        <p:spPr>
          <a:xfrm>
            <a:off x="7807495" y="3207171"/>
            <a:ext cx="786810" cy="187963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CED76F4-8F39-4018-93F2-FCF21BB0B4DB}"/>
              </a:ext>
            </a:extLst>
          </p:cNvPr>
          <p:cNvSpPr txBox="1"/>
          <p:nvPr/>
        </p:nvSpPr>
        <p:spPr>
          <a:xfrm>
            <a:off x="8644270" y="1913661"/>
            <a:ext cx="779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>
                <a:solidFill>
                  <a:schemeClr val="accent1"/>
                </a:solidFill>
              </a:rPr>
              <a:t>Ceros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B459641-459B-4230-B299-C6ABECEFA53B}"/>
              </a:ext>
            </a:extLst>
          </p:cNvPr>
          <p:cNvSpPr txBox="1"/>
          <p:nvPr/>
        </p:nvSpPr>
        <p:spPr>
          <a:xfrm>
            <a:off x="5880836" y="5274585"/>
            <a:ext cx="73385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419">
                <a:solidFill>
                  <a:schemeClr val="accent4"/>
                </a:solidFill>
              </a:rPr>
              <a:t>Polos</a:t>
            </a:r>
          </a:p>
        </p:txBody>
      </p:sp>
      <p:sp>
        <p:nvSpPr>
          <p:cNvPr id="18" name="CaixaDeTexto 24 2">
            <a:extLst>
              <a:ext uri="{FF2B5EF4-FFF2-40B4-BE49-F238E27FC236}">
                <a16:creationId xmlns:a16="http://schemas.microsoft.com/office/drawing/2014/main" id="{BB4816E4-8A79-4D59-9B7F-E753C3766943}"/>
              </a:ext>
            </a:extLst>
          </p:cNvPr>
          <p:cNvSpPr txBox="1"/>
          <p:nvPr/>
        </p:nvSpPr>
        <p:spPr>
          <a:xfrm>
            <a:off x="705033" y="4078138"/>
            <a:ext cx="8102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Aplicando la Transformada inversa de Laplace (Volviendo al dominio del tiempo)</a:t>
            </a:r>
          </a:p>
        </p:txBody>
      </p:sp>
      <p:pic>
        <p:nvPicPr>
          <p:cNvPr id="13" name="Picture 12" descr="\documentclass{article}&#10;\usepackage{ae} %incluido&#10;\usepackage{multirow}&#10;\usepackage{mathrsfs} %Transformada de laplace e Fourier&#10;\usepackage{amsmath}&#10;\pagestyle{empty}&#10;&#10;\begin{document}&#10;&#10;$f(t)=k+c_1e^{\alpha_1t}+c_2e^{\alpha_2t}+...+c_ne^{\alpha_nt}$&#10;&#10;\end{document}" title="IguanaTex Bitmap Display">
            <a:extLst>
              <a:ext uri="{FF2B5EF4-FFF2-40B4-BE49-F238E27FC236}">
                <a16:creationId xmlns:a16="http://schemas.microsoft.com/office/drawing/2014/main" id="{80D99CA3-46A9-8F51-F5C5-1AFB861E2B4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852" y="4672374"/>
            <a:ext cx="5451429" cy="333333"/>
          </a:xfrm>
          <a:prstGeom prst="rect">
            <a:avLst/>
          </a:prstGeom>
        </p:spPr>
      </p:pic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0DEA8EB6-20FC-49CC-8468-4E5F8895C6E4}"/>
              </a:ext>
            </a:extLst>
          </p:cNvPr>
          <p:cNvSpPr/>
          <p:nvPr/>
        </p:nvSpPr>
        <p:spPr>
          <a:xfrm>
            <a:off x="3200793" y="4672374"/>
            <a:ext cx="372140" cy="435308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accent1"/>
              </a:solidFill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4B9AF372-42BF-4697-B4FB-6C413A42BA6E}"/>
              </a:ext>
            </a:extLst>
          </p:cNvPr>
          <p:cNvSpPr/>
          <p:nvPr/>
        </p:nvSpPr>
        <p:spPr>
          <a:xfrm>
            <a:off x="4445296" y="4672374"/>
            <a:ext cx="372140" cy="435308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accent1"/>
              </a:solidFill>
            </a:endParaRP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BBA1586B-2E36-478E-9A04-71ACBE854928}"/>
              </a:ext>
            </a:extLst>
          </p:cNvPr>
          <p:cNvSpPr/>
          <p:nvPr/>
        </p:nvSpPr>
        <p:spPr>
          <a:xfrm>
            <a:off x="6379762" y="4699091"/>
            <a:ext cx="372140" cy="435308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accent1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22C64EB-FBC1-4D7E-928B-7C92F890999F}"/>
              </a:ext>
            </a:extLst>
          </p:cNvPr>
          <p:cNvSpPr txBox="1"/>
          <p:nvPr/>
        </p:nvSpPr>
        <p:spPr>
          <a:xfrm>
            <a:off x="3068306" y="5270138"/>
            <a:ext cx="77944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419">
                <a:solidFill>
                  <a:schemeClr val="accent1"/>
                </a:solidFill>
              </a:rPr>
              <a:t>Ceros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E2451FBC-CFA0-42BF-9373-8F748CFC9D34}"/>
              </a:ext>
            </a:extLst>
          </p:cNvPr>
          <p:cNvSpPr/>
          <p:nvPr/>
        </p:nvSpPr>
        <p:spPr>
          <a:xfrm>
            <a:off x="3737631" y="4592226"/>
            <a:ext cx="229267" cy="333333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accent4"/>
              </a:solidFill>
            </a:endParaRP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3F2372FE-FC00-425D-B5CE-1A5BBF016D94}"/>
              </a:ext>
            </a:extLst>
          </p:cNvPr>
          <p:cNvSpPr/>
          <p:nvPr/>
        </p:nvSpPr>
        <p:spPr>
          <a:xfrm>
            <a:off x="4975366" y="4560401"/>
            <a:ext cx="229267" cy="333333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accent4"/>
              </a:solidFill>
            </a:endParaRP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42E71785-0797-40C4-A2C4-0A7CCF4AB637}"/>
              </a:ext>
            </a:extLst>
          </p:cNvPr>
          <p:cNvSpPr/>
          <p:nvPr/>
        </p:nvSpPr>
        <p:spPr>
          <a:xfrm>
            <a:off x="6883710" y="4621312"/>
            <a:ext cx="229267" cy="333333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accent4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D0EEB1A-1B38-4654-9C85-E8EF8374CD22}"/>
              </a:ext>
            </a:extLst>
          </p:cNvPr>
          <p:cNvSpPr txBox="1"/>
          <p:nvPr/>
        </p:nvSpPr>
        <p:spPr>
          <a:xfrm>
            <a:off x="8594305" y="3244334"/>
            <a:ext cx="733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>
                <a:solidFill>
                  <a:schemeClr val="accent4"/>
                </a:solidFill>
              </a:rPr>
              <a:t>Polos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7F659-78B8-D70D-4A5D-4D7D6FFBB5F1}"/>
              </a:ext>
            </a:extLst>
          </p:cNvPr>
          <p:cNvSpPr txBox="1"/>
          <p:nvPr/>
        </p:nvSpPr>
        <p:spPr>
          <a:xfrm>
            <a:off x="3298814" y="3427978"/>
            <a:ext cx="3214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>
                <a:solidFill>
                  <a:schemeClr val="accent5"/>
                </a:solidFill>
              </a:rPr>
              <a:t>m ≤ n para sistemas </a:t>
            </a:r>
            <a:r>
              <a:rPr lang="pt-BR" err="1">
                <a:solidFill>
                  <a:schemeClr val="accent5"/>
                </a:solidFill>
              </a:rPr>
              <a:t>propios</a:t>
            </a:r>
            <a:endParaRPr lang="es-CO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380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/>
      <p:bldP spid="17" grpId="0"/>
      <p:bldP spid="18" grpId="0"/>
      <p:bldP spid="23" grpId="0" animBg="1"/>
      <p:bldP spid="24" grpId="0" animBg="1"/>
      <p:bldP spid="25" grpId="0" animBg="1"/>
      <p:bldP spid="26" grpId="0"/>
      <p:bldP spid="27" grpId="0" animBg="1"/>
      <p:bldP spid="28" grpId="0" animBg="1"/>
      <p:bldP spid="29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EC82-6EA6-5080-B1E0-757E4596E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¿Por qué el Polo define la estabilidad?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7E3BD-01F8-C2FB-E69E-648263E87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27125"/>
          </a:xfrm>
        </p:spPr>
        <p:txBody>
          <a:bodyPr/>
          <a:lstStyle/>
          <a:p>
            <a:pPr marL="0" indent="0">
              <a:buNone/>
            </a:pPr>
            <a:r>
              <a:rPr lang="es-CO"/>
              <a:t>Revisa nuevamente la ecuación resuelta en el tiempo, los polos quedaron en las exponenciales:</a:t>
            </a:r>
          </a:p>
        </p:txBody>
      </p:sp>
      <p:pic>
        <p:nvPicPr>
          <p:cNvPr id="24" name="Picture 23" descr="\documentclass{article}&#10;\usepackage{ae} %incluido&#10;\usepackage{multirow}&#10;\usepackage{mathrsfs} %Transformada de laplace e Fourier&#10;\usepackage{amsmath}&#10;\pagestyle{empty}&#10;&#10;\begin{document}&#10;&#10;$f(t)=k+c_1e^{-\alpha_1t}$&#10;&#10;\end{document}" title="IguanaTex Bitmap Display">
            <a:extLst>
              <a:ext uri="{FF2B5EF4-FFF2-40B4-BE49-F238E27FC236}">
                <a16:creationId xmlns:a16="http://schemas.microsoft.com/office/drawing/2014/main" id="{757D43B4-192F-4A66-D0DE-A0102CB3519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976" y="3905251"/>
            <a:ext cx="2514285" cy="3333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5E12C3-A29C-F6AC-CA4E-F622CBBE095E}"/>
                  </a:ext>
                </a:extLst>
              </p:cNvPr>
              <p:cNvSpPr txBox="1"/>
              <p:nvPr/>
            </p:nvSpPr>
            <p:spPr>
              <a:xfrm>
                <a:off x="1476375" y="3161001"/>
                <a:ext cx="24669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>
                    <a:solidFill>
                      <a:schemeClr val="accent1"/>
                    </a:solidFill>
                  </a:rPr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s-CO">
                    <a:solidFill>
                      <a:schemeClr val="accent1"/>
                    </a:solidFill>
                  </a:rPr>
                  <a:t> (Estable)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5E12C3-A29C-F6AC-CA4E-F622CBBE0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375" y="3161001"/>
                <a:ext cx="2466975" cy="369332"/>
              </a:xfrm>
              <a:prstGeom prst="rect">
                <a:avLst/>
              </a:prstGeom>
              <a:blipFill>
                <a:blip r:embed="rId5"/>
                <a:stretch>
                  <a:fillRect l="-197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\documentclass{article}&#10;\usepackage{ae} %incluido&#10;\usepackage{multirow}&#10;\usepackage{mathrsfs} %Transformada de laplace e Fourier&#10;\usepackage{amsmath}&#10;\pagestyle{empty}&#10;&#10;\begin{document}&#10;&#10;$f(t)=k+c_1e^{\alpha_1t}$&#10;&#10;\end{document}" title="IguanaTex Bitmap Display">
            <a:extLst>
              <a:ext uri="{FF2B5EF4-FFF2-40B4-BE49-F238E27FC236}">
                <a16:creationId xmlns:a16="http://schemas.microsoft.com/office/drawing/2014/main" id="{035CF478-9497-4AC6-FA48-A0FEAA32310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0557" y="3905251"/>
            <a:ext cx="2316190" cy="3333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7477F3-AECF-A632-844C-40232B941F25}"/>
                  </a:ext>
                </a:extLst>
              </p:cNvPr>
              <p:cNvSpPr txBox="1"/>
              <p:nvPr/>
            </p:nvSpPr>
            <p:spPr>
              <a:xfrm>
                <a:off x="7242957" y="3161001"/>
                <a:ext cx="24669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>
                    <a:solidFill>
                      <a:schemeClr val="accent1"/>
                    </a:solidFill>
                  </a:rPr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s-CO">
                    <a:solidFill>
                      <a:schemeClr val="accent1"/>
                    </a:solidFill>
                  </a:rPr>
                  <a:t> (Inestable)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7477F3-AECF-A632-844C-40232B941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957" y="3161001"/>
                <a:ext cx="2466975" cy="369332"/>
              </a:xfrm>
              <a:prstGeom prst="rect">
                <a:avLst/>
              </a:prstGeom>
              <a:blipFill>
                <a:blip r:embed="rId7"/>
                <a:stretch>
                  <a:fillRect l="-197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6AA5DA3-8471-17B1-9629-D21B8185D03D}"/>
              </a:ext>
            </a:extLst>
          </p:cNvPr>
          <p:cNvSpPr txBox="1"/>
          <p:nvPr/>
        </p:nvSpPr>
        <p:spPr>
          <a:xfrm>
            <a:off x="2052999" y="4867919"/>
            <a:ext cx="28121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>
                <a:solidFill>
                  <a:schemeClr val="accent5"/>
                </a:solidFill>
                <a:latin typeface="Lucida Handwriting" panose="03010101010101010101" pitchFamily="66" charset="0"/>
              </a:rPr>
              <a:t>Si t es muy grande!</a:t>
            </a:r>
            <a:endParaRPr lang="es-CO" sz="1800">
              <a:solidFill>
                <a:schemeClr val="accent5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C8F7921-3C32-DB67-C7CD-45EB97C2FDB4}"/>
              </a:ext>
            </a:extLst>
          </p:cNvPr>
          <p:cNvSpPr/>
          <p:nvPr/>
        </p:nvSpPr>
        <p:spPr>
          <a:xfrm>
            <a:off x="3511752" y="4124325"/>
            <a:ext cx="290753" cy="647700"/>
          </a:xfrm>
          <a:custGeom>
            <a:avLst/>
            <a:gdLst>
              <a:gd name="connsiteX0" fmla="*/ 107748 w 290753"/>
              <a:gd name="connsiteY0" fmla="*/ 647700 h 647700"/>
              <a:gd name="connsiteX1" fmla="*/ 2973 w 290753"/>
              <a:gd name="connsiteY1" fmla="*/ 523875 h 647700"/>
              <a:gd name="connsiteX2" fmla="*/ 50598 w 290753"/>
              <a:gd name="connsiteY2" fmla="*/ 238125 h 647700"/>
              <a:gd name="connsiteX3" fmla="*/ 269673 w 290753"/>
              <a:gd name="connsiteY3" fmla="*/ 180975 h 647700"/>
              <a:gd name="connsiteX4" fmla="*/ 269673 w 290753"/>
              <a:gd name="connsiteY4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753" h="647700">
                <a:moveTo>
                  <a:pt x="107748" y="647700"/>
                </a:moveTo>
                <a:cubicBezTo>
                  <a:pt x="60123" y="619918"/>
                  <a:pt x="12498" y="592137"/>
                  <a:pt x="2973" y="523875"/>
                </a:cubicBezTo>
                <a:cubicBezTo>
                  <a:pt x="-6552" y="455613"/>
                  <a:pt x="6148" y="295275"/>
                  <a:pt x="50598" y="238125"/>
                </a:cubicBezTo>
                <a:cubicBezTo>
                  <a:pt x="95048" y="180975"/>
                  <a:pt x="233161" y="220662"/>
                  <a:pt x="269673" y="180975"/>
                </a:cubicBezTo>
                <a:cubicBezTo>
                  <a:pt x="306185" y="141288"/>
                  <a:pt x="287929" y="70644"/>
                  <a:pt x="269673" y="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CABE55F-763C-4B15-C2D0-A497A025AFE3}"/>
              </a:ext>
            </a:extLst>
          </p:cNvPr>
          <p:cNvCxnSpPr/>
          <p:nvPr/>
        </p:nvCxnSpPr>
        <p:spPr>
          <a:xfrm flipV="1">
            <a:off x="2709862" y="3657600"/>
            <a:ext cx="1423988" cy="790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06BF68-7738-7BFC-9BF3-949563A0552C}"/>
                  </a:ext>
                </a:extLst>
              </p:cNvPr>
              <p:cNvSpPr txBox="1"/>
              <p:nvPr/>
            </p:nvSpPr>
            <p:spPr>
              <a:xfrm>
                <a:off x="4133850" y="3381376"/>
                <a:ext cx="5715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CO" sz="2400">
                    <a:solidFill>
                      <a:schemeClr val="accent1"/>
                    </a:solidFill>
                  </a:rPr>
                  <a:t> </a:t>
                </a:r>
                <a:endParaRPr lang="es-CO" sz="240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06BF68-7738-7BFC-9BF3-949563A05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850" y="3381376"/>
                <a:ext cx="571500" cy="461665"/>
              </a:xfrm>
              <a:prstGeom prst="rect">
                <a:avLst/>
              </a:prstGeom>
              <a:blipFill>
                <a:blip r:embed="rId8"/>
                <a:stretch>
                  <a:fillRect l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DFCB2B4-C182-CC18-DAA4-E15A6567BEFB}"/>
                  </a:ext>
                </a:extLst>
              </p:cNvPr>
              <p:cNvSpPr txBox="1"/>
              <p:nvPr/>
            </p:nvSpPr>
            <p:spPr>
              <a:xfrm>
                <a:off x="3879815" y="3806557"/>
                <a:ext cx="7603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CO" sz="240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DFCB2B4-C182-CC18-DAA4-E15A6567B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815" y="3806557"/>
                <a:ext cx="760336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9C6E877-F093-23D1-0FCF-FE336FCFC40F}"/>
                  </a:ext>
                </a:extLst>
              </p:cNvPr>
              <p:cNvSpPr txBox="1"/>
              <p:nvPr/>
            </p:nvSpPr>
            <p:spPr>
              <a:xfrm>
                <a:off x="9482138" y="3852525"/>
                <a:ext cx="7603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s-CO" sz="240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9C6E877-F093-23D1-0FCF-FE336FCFC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138" y="3852525"/>
                <a:ext cx="760336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0CFE129E-C1F1-3542-CCC4-BA1DC3BB90CA}"/>
              </a:ext>
            </a:extLst>
          </p:cNvPr>
          <p:cNvSpPr txBox="1"/>
          <p:nvPr/>
        </p:nvSpPr>
        <p:spPr>
          <a:xfrm>
            <a:off x="7430276" y="4867919"/>
            <a:ext cx="28121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>
                <a:solidFill>
                  <a:schemeClr val="accent5"/>
                </a:solidFill>
                <a:latin typeface="Lucida Handwriting" panose="03010101010101010101" pitchFamily="66" charset="0"/>
              </a:rPr>
              <a:t>Si t es muy grande!</a:t>
            </a:r>
            <a:endParaRPr lang="es-CO" sz="1800">
              <a:solidFill>
                <a:schemeClr val="accent5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B104EE9-72A4-8CA7-AAAC-848C2AC3C6F2}"/>
              </a:ext>
            </a:extLst>
          </p:cNvPr>
          <p:cNvSpPr/>
          <p:nvPr/>
        </p:nvSpPr>
        <p:spPr>
          <a:xfrm>
            <a:off x="9115994" y="4124325"/>
            <a:ext cx="290753" cy="647700"/>
          </a:xfrm>
          <a:custGeom>
            <a:avLst/>
            <a:gdLst>
              <a:gd name="connsiteX0" fmla="*/ 107748 w 290753"/>
              <a:gd name="connsiteY0" fmla="*/ 647700 h 647700"/>
              <a:gd name="connsiteX1" fmla="*/ 2973 w 290753"/>
              <a:gd name="connsiteY1" fmla="*/ 523875 h 647700"/>
              <a:gd name="connsiteX2" fmla="*/ 50598 w 290753"/>
              <a:gd name="connsiteY2" fmla="*/ 238125 h 647700"/>
              <a:gd name="connsiteX3" fmla="*/ 269673 w 290753"/>
              <a:gd name="connsiteY3" fmla="*/ 180975 h 647700"/>
              <a:gd name="connsiteX4" fmla="*/ 269673 w 290753"/>
              <a:gd name="connsiteY4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753" h="647700">
                <a:moveTo>
                  <a:pt x="107748" y="647700"/>
                </a:moveTo>
                <a:cubicBezTo>
                  <a:pt x="60123" y="619918"/>
                  <a:pt x="12498" y="592137"/>
                  <a:pt x="2973" y="523875"/>
                </a:cubicBezTo>
                <a:cubicBezTo>
                  <a:pt x="-6552" y="455613"/>
                  <a:pt x="6148" y="295275"/>
                  <a:pt x="50598" y="238125"/>
                </a:cubicBezTo>
                <a:cubicBezTo>
                  <a:pt x="95048" y="180975"/>
                  <a:pt x="233161" y="220662"/>
                  <a:pt x="269673" y="180975"/>
                </a:cubicBezTo>
                <a:cubicBezTo>
                  <a:pt x="306185" y="141288"/>
                  <a:pt x="287929" y="70644"/>
                  <a:pt x="269673" y="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6205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12" grpId="0"/>
      <p:bldP spid="25" grpId="0"/>
      <p:bldP spid="26" grpId="0" animBg="1"/>
      <p:bldP spid="30" grpId="0"/>
      <p:bldP spid="31" grpId="0"/>
      <p:bldP spid="32" grpId="0"/>
      <p:bldP spid="33" grpId="0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D8E2E-7244-42FD-9512-6849666DF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Cero de un Sistema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38BE7C-A7E5-4162-83B6-CE41E923B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3873931"/>
          </a:xfrm>
        </p:spPr>
        <p:txBody>
          <a:bodyPr>
            <a:normAutofit/>
          </a:bodyPr>
          <a:lstStyle/>
          <a:p>
            <a:r>
              <a:rPr lang="es-ES" b="1"/>
              <a:t>¿Porqué se llama CERO?</a:t>
            </a:r>
          </a:p>
          <a:p>
            <a:endParaRPr lang="es-ES" b="1"/>
          </a:p>
          <a:p>
            <a:r>
              <a:rPr lang="es-ES"/>
              <a:t>El concepto de </a:t>
            </a:r>
            <a:r>
              <a:rPr lang="es-ES" b="1">
                <a:solidFill>
                  <a:schemeClr val="bg2"/>
                </a:solidFill>
              </a:rPr>
              <a:t>POLOS</a:t>
            </a:r>
            <a:r>
              <a:rPr lang="es-ES" b="1"/>
              <a:t> y </a:t>
            </a:r>
            <a:r>
              <a:rPr lang="es-ES" b="1">
                <a:solidFill>
                  <a:schemeClr val="bg2"/>
                </a:solidFill>
              </a:rPr>
              <a:t>CEROS</a:t>
            </a:r>
            <a:r>
              <a:rPr lang="es-ES" b="1"/>
              <a:t> </a:t>
            </a:r>
            <a:r>
              <a:rPr lang="es-ES"/>
              <a:t>no le pertenece al área de Control, es un concepto de Matemáticas, donde si se toma una FUNCIÓN, el cero de dicha función hace que la función de </a:t>
            </a:r>
            <a:r>
              <a:rPr lang="es-ES">
                <a:solidFill>
                  <a:schemeClr val="bg2"/>
                </a:solidFill>
              </a:rPr>
              <a:t>CERO</a:t>
            </a:r>
            <a:r>
              <a:rPr lang="es-ES"/>
              <a:t> y el polo de la función hace que de </a:t>
            </a:r>
            <a:r>
              <a:rPr lang="es-ES">
                <a:solidFill>
                  <a:schemeClr val="bg2"/>
                </a:solidFill>
              </a:rPr>
              <a:t>INFINITO</a:t>
            </a:r>
            <a:r>
              <a:rPr lang="es-ES"/>
              <a:t>.</a:t>
            </a:r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69C5621-479F-4264-B6F8-D1EE03E9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0645" y="6356350"/>
            <a:ext cx="6783355" cy="365125"/>
          </a:xfrm>
        </p:spPr>
        <p:txBody>
          <a:bodyPr/>
          <a:lstStyle/>
          <a:p>
            <a:r>
              <a:rPr lang="es-ES"/>
              <a:t>CONTROL AUTOMÁTICO EDUCACIÓN-  Sergio Andres Castaño Giraldo</a:t>
            </a:r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00327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D8E2E-7244-42FD-9512-6849666DF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Cero de un Sistema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38BE7C-A7E5-4162-83B6-CE41E923B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760" y="1512699"/>
            <a:ext cx="10058400" cy="3441856"/>
          </a:xfrm>
        </p:spPr>
        <p:txBody>
          <a:bodyPr>
            <a:normAutofit/>
          </a:bodyPr>
          <a:lstStyle/>
          <a:p>
            <a:r>
              <a:rPr lang="es-ES"/>
              <a:t>Sin embargo, </a:t>
            </a:r>
            <a:r>
              <a:rPr lang="es-ES">
                <a:solidFill>
                  <a:schemeClr val="accent2"/>
                </a:solidFill>
              </a:rPr>
              <a:t>el </a:t>
            </a:r>
            <a:r>
              <a:rPr lang="es-ES" b="1">
                <a:solidFill>
                  <a:schemeClr val="accent2"/>
                </a:solidFill>
              </a:rPr>
              <a:t>CERO en el área de control </a:t>
            </a:r>
            <a:r>
              <a:rPr lang="es-ES"/>
              <a:t>en una función de transferencia de un sistema puede ser interpretado como una "</a:t>
            </a:r>
            <a:r>
              <a:rPr lang="es-ES" b="1">
                <a:solidFill>
                  <a:schemeClr val="accent2"/>
                </a:solidFill>
              </a:rPr>
              <a:t>transferencia nula</a:t>
            </a:r>
            <a:r>
              <a:rPr lang="es-ES"/>
              <a:t>" entre la entrada y la salida del sistema en la frecuencia del propio cero. </a:t>
            </a:r>
          </a:p>
          <a:p>
            <a:endParaRPr lang="es-ES"/>
          </a:p>
          <a:p>
            <a:r>
              <a:rPr lang="es-ES"/>
              <a:t>Esto quiere decir que si excitamos el sistema justo en la frecuencia del cero, esta no se verá reflejada en la respuesta del sistema.</a:t>
            </a:r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59234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6B84E-EA98-0AD7-4F44-52963099B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BCB5F2-D59C-C228-41C8-72D2D9D60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Cero de un Sistema</a:t>
            </a:r>
            <a:endParaRPr lang="es-419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C5BDAD-CB26-6C42-3EE0-5FB36A46A62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410" y="2155249"/>
            <a:ext cx="2407619" cy="576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3DB7B77-7616-B150-F19E-5DF66F5851A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753" y="2185984"/>
            <a:ext cx="755809" cy="17371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0921955-80AE-ECDC-5AC1-88BED8249E4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276" y="2643630"/>
            <a:ext cx="754286" cy="17523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66782F7-6506-5773-CA51-6A99007611E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9404" y="2632658"/>
            <a:ext cx="763429" cy="178286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C4A60E26-C0EB-F261-6170-FA7133A0401C}"/>
              </a:ext>
            </a:extLst>
          </p:cNvPr>
          <p:cNvSpPr/>
          <p:nvPr/>
        </p:nvSpPr>
        <p:spPr>
          <a:xfrm>
            <a:off x="6017723" y="2106304"/>
            <a:ext cx="732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>
                <a:solidFill>
                  <a:schemeClr val="bg1"/>
                </a:solidFill>
              </a:rPr>
              <a:t>Cero: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9EF6A75-2EF1-F211-47A5-BA2F439B0C03}"/>
              </a:ext>
            </a:extLst>
          </p:cNvPr>
          <p:cNvSpPr/>
          <p:nvPr/>
        </p:nvSpPr>
        <p:spPr>
          <a:xfrm>
            <a:off x="6077690" y="2594789"/>
            <a:ext cx="687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>
                <a:solidFill>
                  <a:schemeClr val="bg1"/>
                </a:solidFill>
              </a:rPr>
              <a:t>Polo: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F3015E4-04ED-635C-2AE4-1971A6209C2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314" y="3695906"/>
            <a:ext cx="921905" cy="211810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290F0D4C-66B8-417C-2CD9-28BC4BCC1512}"/>
              </a:ext>
            </a:extLst>
          </p:cNvPr>
          <p:cNvSpPr/>
          <p:nvPr/>
        </p:nvSpPr>
        <p:spPr>
          <a:xfrm>
            <a:off x="1299410" y="3223240"/>
            <a:ext cx="1027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>
                <a:solidFill>
                  <a:schemeClr val="bg1"/>
                </a:solidFill>
              </a:rPr>
              <a:t>Entrada: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34B509FA-EB78-396D-DBE1-308B28D5DD5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314" y="4084563"/>
            <a:ext cx="1421714" cy="53333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7BCC675B-7B31-0B5A-7EA7-80AC4564769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852" y="3731183"/>
            <a:ext cx="1886476" cy="254476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7841032D-9415-2BAE-2789-CA890CBDCBB2}"/>
              </a:ext>
            </a:extLst>
          </p:cNvPr>
          <p:cNvSpPr/>
          <p:nvPr/>
        </p:nvSpPr>
        <p:spPr>
          <a:xfrm>
            <a:off x="5103192" y="3210311"/>
            <a:ext cx="1312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>
                <a:solidFill>
                  <a:schemeClr val="bg1"/>
                </a:solidFill>
              </a:rPr>
              <a:t>Respuesta: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286EA139-71E4-672B-A107-9ABDB84C47D8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043" y="4208755"/>
            <a:ext cx="2381714" cy="576000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B25B2763-9FFD-0F6B-DB64-22DD17160880}"/>
              </a:ext>
            </a:extLst>
          </p:cNvPr>
          <p:cNvSpPr/>
          <p:nvPr/>
        </p:nvSpPr>
        <p:spPr>
          <a:xfrm>
            <a:off x="3399268" y="3773455"/>
            <a:ext cx="1645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>
                <a:solidFill>
                  <a:schemeClr val="bg1"/>
                </a:solidFill>
              </a:rPr>
              <a:t>NO APARECE!!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3E281C61-7E5D-4791-CFC8-BA0F6F645A8A}"/>
              </a:ext>
            </a:extLst>
          </p:cNvPr>
          <p:cNvCxnSpPr>
            <a:cxnSpLocks/>
          </p:cNvCxnSpPr>
          <p:nvPr/>
        </p:nvCxnSpPr>
        <p:spPr>
          <a:xfrm>
            <a:off x="2688047" y="3848501"/>
            <a:ext cx="2415145" cy="6482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214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22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D8E2E-7244-42FD-9512-6849666DF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Cero de un Sistema</a:t>
            </a:r>
            <a:endParaRPr lang="es-419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CBA284B-802E-49EC-A8EF-3DF1DFA526D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531" y="2338130"/>
            <a:ext cx="2407619" cy="576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F72935B-2CAB-40D1-96D8-1120F09F06B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435" y="3878787"/>
            <a:ext cx="921905" cy="211810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A6DD6706-EE08-42DF-818F-E62728227868}"/>
              </a:ext>
            </a:extLst>
          </p:cNvPr>
          <p:cNvSpPr/>
          <p:nvPr/>
        </p:nvSpPr>
        <p:spPr>
          <a:xfrm>
            <a:off x="1116531" y="3406121"/>
            <a:ext cx="974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/>
              <a:t>Entrada: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17EBE7E-9C14-42E2-A3E6-9DF52738DACC}"/>
              </a:ext>
            </a:extLst>
          </p:cNvPr>
          <p:cNvSpPr/>
          <p:nvPr/>
        </p:nvSpPr>
        <p:spPr>
          <a:xfrm>
            <a:off x="6096000" y="2072227"/>
            <a:ext cx="1996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>
                <a:solidFill>
                  <a:schemeClr val="accent1"/>
                </a:solidFill>
              </a:rPr>
              <a:t>Dominio Temporal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2881A57-9FD3-473F-9592-909524DA279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638" y="2734504"/>
            <a:ext cx="4662857" cy="55619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511A1D3-EC97-4F25-A930-E1BE1698B1E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743" y="4471157"/>
            <a:ext cx="1700571" cy="53790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8E1ED8C-AB86-4CA0-A5A2-3468575A726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638" y="3669136"/>
            <a:ext cx="4862476" cy="556190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9A69B57C-7A71-411A-8B5C-301DA9120ED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638" y="4518271"/>
            <a:ext cx="3309714" cy="55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04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06131-0924-4C57-B3AE-42D8D3B54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Cero de un Sistema (</a:t>
            </a:r>
            <a:r>
              <a:rPr lang="en-US" b="1" err="1"/>
              <a:t>Frecuencia</a:t>
            </a:r>
            <a:r>
              <a:rPr lang="en-US" b="1"/>
              <a:t>)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E0B8FD-2473-40D2-854F-A4E2609C2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Pensando en el dominio de la frecuencia si aplicamos una señal senoidal en la entrada, a la salida tendremos una señal senoidal con una determinada amplitud y desfase.</a:t>
            </a:r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A847041-0A79-45E7-A32E-9D6FAC3C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CONTROL AUTOMÁTICO EDUCACIÓN-  Sergio Andres Castaño Giraldo</a:t>
            </a:r>
            <a:endParaRPr lang="es-419"/>
          </a:p>
        </p:txBody>
      </p:sp>
      <p:pic>
        <p:nvPicPr>
          <p:cNvPr id="1026" name="Picture 2" descr="graficar bode">
            <a:extLst>
              <a:ext uri="{FF2B5EF4-FFF2-40B4-BE49-F238E27FC236}">
                <a16:creationId xmlns:a16="http://schemas.microsoft.com/office/drawing/2014/main" id="{44ED493F-B2F7-468D-9D91-DAA601E74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662" y="4001294"/>
            <a:ext cx="585787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5130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06131-0924-4C57-B3AE-42D8D3B54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Cero de un Sistema (</a:t>
            </a:r>
            <a:r>
              <a:rPr lang="en-US" b="1" err="1"/>
              <a:t>Frecuencia</a:t>
            </a:r>
            <a:r>
              <a:rPr lang="en-US" b="1"/>
              <a:t>)</a:t>
            </a:r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A847041-0A79-45E7-A32E-9D6FAC3C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CONTROL AUTOMÁTICO EDUCACIÓN-  Sergio Andres Castaño Giraldo</a:t>
            </a:r>
            <a:endParaRPr lang="es-419"/>
          </a:p>
        </p:txBody>
      </p:sp>
      <p:pic>
        <p:nvPicPr>
          <p:cNvPr id="1026" name="Picture 2" descr="graficar bode">
            <a:extLst>
              <a:ext uri="{FF2B5EF4-FFF2-40B4-BE49-F238E27FC236}">
                <a16:creationId xmlns:a16="http://schemas.microsoft.com/office/drawing/2014/main" id="{44ED493F-B2F7-468D-9D91-DAA601E74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230" y="2873057"/>
            <a:ext cx="585787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ED3DD65-E7D7-4934-A660-7256A14A139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620" y="4330406"/>
            <a:ext cx="246857" cy="15238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C405D50-9FEB-4E7F-838B-A106B4426F6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973" y="4098188"/>
            <a:ext cx="1112381" cy="153905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61525846-3C4D-473D-9BC5-F6EAFB2CB397}"/>
              </a:ext>
            </a:extLst>
          </p:cNvPr>
          <p:cNvSpPr/>
          <p:nvPr/>
        </p:nvSpPr>
        <p:spPr>
          <a:xfrm>
            <a:off x="5861785" y="2736485"/>
            <a:ext cx="2491433" cy="18605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F3835A2-556E-481E-8DF8-0C6FD176B1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1785" y="1805523"/>
            <a:ext cx="5428169" cy="4060606"/>
          </a:xfrm>
          <a:prstGeom prst="rect">
            <a:avLst/>
          </a:prstGeom>
          <a:effectLst>
            <a:glow rad="635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4062867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C73602-E2AE-4D0B-AC0D-963826A45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Cero de un Sistema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480456-A433-45FD-BB33-23C0CECBE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1. Los ceros cancelan la señal de entrada del sistema a una determinada frecuencia.</a:t>
            </a:r>
          </a:p>
          <a:p>
            <a:endParaRPr lang="es-ES"/>
          </a:p>
          <a:p>
            <a:r>
              <a:rPr lang="es-ES"/>
              <a:t>2. Los ceros ponderan las exponenciales que representan el comportamiento dinámico del sistema.</a:t>
            </a:r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0E3B8E7-F2B7-4917-A3BD-142FAD752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CONTROL AUTOMÁTICO EDUCACIÓN-  Sergio Andres Castaño Giraldo</a:t>
            </a:r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65437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287F2-D2DD-E364-0103-AFABB1C69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Cero de un Sistema </a:t>
            </a:r>
            <a:r>
              <a:rPr lang="en-US" b="1" err="1"/>
              <a:t>en</a:t>
            </a:r>
            <a:r>
              <a:rPr lang="en-US" b="1"/>
              <a:t> la Respuesta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834AF4-399B-1CE2-7878-952CC3BE3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/>
              <a:t>Vamos a descomponer el sistema para entender mejor el efecto del cero y para eso podemos valernos de una representación en diagramas de bloques y de la ubicación de los polos y ceros en el plano complejo.</a:t>
            </a:r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AB62FD-F73D-233A-263A-D9FB893E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Sergio Andrés Castaño Giraldo</a:t>
            </a:r>
          </a:p>
        </p:txBody>
      </p:sp>
    </p:spTree>
    <p:extLst>
      <p:ext uri="{BB962C8B-B14F-4D97-AF65-F5344CB8AC3E}">
        <p14:creationId xmlns:p14="http://schemas.microsoft.com/office/powerpoint/2010/main" val="4179638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33687-5E09-44A2-A529-BB0237FA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Cero de un Sistema </a:t>
            </a:r>
            <a:r>
              <a:rPr lang="en-US" b="1" err="1"/>
              <a:t>en</a:t>
            </a:r>
            <a:r>
              <a:rPr lang="en-US" b="1"/>
              <a:t> la Respuesta</a:t>
            </a:r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7D537D-F1F6-42F8-907F-2D1596AE2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CONTROL AUTOMÁTICO EDUCACIÓN-  Sergio Andres Castaño Giraldo</a:t>
            </a:r>
            <a:endParaRPr lang="es-419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0DE8976-44C4-4795-8AB9-9E6B3457117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015343"/>
            <a:ext cx="2500571" cy="576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F7E2548-78E7-44C2-B8BC-A960B0DF4580}"/>
              </a:ext>
            </a:extLst>
          </p:cNvPr>
          <p:cNvSpPr/>
          <p:nvPr/>
        </p:nvSpPr>
        <p:spPr>
          <a:xfrm>
            <a:off x="952768" y="2869326"/>
            <a:ext cx="561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>
                <a:solidFill>
                  <a:schemeClr val="bg1"/>
                </a:solidFill>
              </a:rPr>
              <a:t>Supongamos inicialmente que el sistema no tiene cero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CB364AB-762E-496B-B06B-8B258F40E4D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768" y="3522572"/>
            <a:ext cx="2500571" cy="57600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1978FABC-CDDD-4AEC-97E9-934A7CFD7747}"/>
              </a:ext>
            </a:extLst>
          </p:cNvPr>
          <p:cNvSpPr/>
          <p:nvPr/>
        </p:nvSpPr>
        <p:spPr>
          <a:xfrm>
            <a:off x="799476" y="4367379"/>
            <a:ext cx="88242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>
                <a:solidFill>
                  <a:schemeClr val="bg1"/>
                </a:solidFill>
              </a:rPr>
              <a:t>Tendríamos una respuesta del sistema ante un escalón unitario dada por: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1DEB675-F741-436A-B928-69E0CEF3367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76" y="5030533"/>
            <a:ext cx="4010666" cy="27581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5791EC0-090B-4760-879C-6F9F625F10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3674" y="1340284"/>
            <a:ext cx="4515001" cy="3377500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180988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33687-5E09-44A2-A529-BB0237FA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Cero de un Sistema </a:t>
            </a:r>
            <a:r>
              <a:rPr lang="en-US" b="1" err="1"/>
              <a:t>en</a:t>
            </a:r>
            <a:r>
              <a:rPr lang="en-US" b="1"/>
              <a:t> la Respuesta</a:t>
            </a:r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7D537D-F1F6-42F8-907F-2D1596AE2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CONTROL AUTOMÁTICO EDUCACIÓN-  Sergio Andres Castaño Giraldo</a:t>
            </a:r>
            <a:endParaRPr lang="es-41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E81BCC7-2389-4D4D-8BB3-39F888AED1E4}"/>
              </a:ext>
            </a:extLst>
          </p:cNvPr>
          <p:cNvSpPr/>
          <p:nvPr/>
        </p:nvSpPr>
        <p:spPr>
          <a:xfrm>
            <a:off x="1097280" y="2018181"/>
            <a:ext cx="25938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>
                <a:solidFill>
                  <a:schemeClr val="bg1"/>
                </a:solidFill>
              </a:rPr>
              <a:t>Ahora colocando el cero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ABE86A2-7430-401A-B845-D43BE869234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561168"/>
            <a:ext cx="5258666" cy="576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5AD1826-722E-4FF2-8710-BFDB401A5B1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3522572"/>
            <a:ext cx="4466286" cy="576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6381DB1-84AE-4127-8CC5-1CDBEA02C84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981" y="4390183"/>
            <a:ext cx="606476" cy="25447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F0F76E1-07FF-4FE7-A66A-C265B68C75B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017" y="4416762"/>
            <a:ext cx="606476" cy="254476"/>
          </a:xfrm>
          <a:prstGeom prst="rect">
            <a:avLst/>
          </a:prstGeom>
        </p:spPr>
      </p:pic>
      <p:sp>
        <p:nvSpPr>
          <p:cNvPr id="13" name="Cerrar llave 12">
            <a:extLst>
              <a:ext uri="{FF2B5EF4-FFF2-40B4-BE49-F238E27FC236}">
                <a16:creationId xmlns:a16="http://schemas.microsoft.com/office/drawing/2014/main" id="{955E4E3A-C5F0-4611-94F0-179FEF256EC8}"/>
              </a:ext>
            </a:extLst>
          </p:cNvPr>
          <p:cNvSpPr/>
          <p:nvPr/>
        </p:nvSpPr>
        <p:spPr>
          <a:xfrm rot="5400000">
            <a:off x="2609718" y="3418956"/>
            <a:ext cx="224726" cy="1650844"/>
          </a:xfrm>
          <a:prstGeom prst="rightBrac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bg1"/>
              </a:solidFill>
            </a:endParaRPr>
          </a:p>
        </p:txBody>
      </p:sp>
      <p:sp>
        <p:nvSpPr>
          <p:cNvPr id="14" name="Cerrar llave 13">
            <a:extLst>
              <a:ext uri="{FF2B5EF4-FFF2-40B4-BE49-F238E27FC236}">
                <a16:creationId xmlns:a16="http://schemas.microsoft.com/office/drawing/2014/main" id="{9005DE1C-3F90-4B3A-93C2-A1D365A214DE}"/>
              </a:ext>
            </a:extLst>
          </p:cNvPr>
          <p:cNvSpPr/>
          <p:nvPr/>
        </p:nvSpPr>
        <p:spPr>
          <a:xfrm rot="5400000">
            <a:off x="4724567" y="3403240"/>
            <a:ext cx="224726" cy="1650844"/>
          </a:xfrm>
          <a:prstGeom prst="rightBrac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D85F1749-1F87-4C30-B88A-53388496F8A7}"/>
                  </a:ext>
                </a:extLst>
              </p:cNvPr>
              <p:cNvSpPr/>
              <p:nvPr/>
            </p:nvSpPr>
            <p:spPr>
              <a:xfrm>
                <a:off x="7339408" y="2144434"/>
                <a:ext cx="882502" cy="57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D85F1749-1F87-4C30-B88A-53388496F8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408" y="2144434"/>
                <a:ext cx="882502" cy="576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919CF4F8-6678-4B48-84F0-B868B6207A9C}"/>
                  </a:ext>
                </a:extLst>
              </p:cNvPr>
              <p:cNvSpPr/>
              <p:nvPr/>
            </p:nvSpPr>
            <p:spPr>
              <a:xfrm>
                <a:off x="8792224" y="3078754"/>
                <a:ext cx="486154" cy="57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s-419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919CF4F8-6678-4B48-84F0-B868B6207A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224" y="3078754"/>
                <a:ext cx="486154" cy="576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C0242709-F691-4245-B659-5B4634A053D6}"/>
              </a:ext>
            </a:extLst>
          </p:cNvPr>
          <p:cNvCxnSpPr>
            <a:endCxn id="15" idx="1"/>
          </p:cNvCxnSpPr>
          <p:nvPr/>
        </p:nvCxnSpPr>
        <p:spPr>
          <a:xfrm>
            <a:off x="6826412" y="2432434"/>
            <a:ext cx="51299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3F8FB7BF-27B6-4FC1-97B9-5D19B351EE6C}"/>
              </a:ext>
            </a:extLst>
          </p:cNvPr>
          <p:cNvCxnSpPr>
            <a:cxnSpLocks/>
            <a:stCxn id="15" idx="3"/>
            <a:endCxn id="36" idx="2"/>
          </p:cNvCxnSpPr>
          <p:nvPr/>
        </p:nvCxnSpPr>
        <p:spPr>
          <a:xfrm>
            <a:off x="8221910" y="2432434"/>
            <a:ext cx="1991228" cy="1687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0554E460-D9AE-470F-B091-D0CF79994CDB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8160712" y="2735242"/>
            <a:ext cx="934318" cy="328705"/>
          </a:xfrm>
          <a:prstGeom prst="bentConnector2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6955DB42-60AE-45FF-BD57-D5022D7B3F09}"/>
                  </a:ext>
                </a:extLst>
              </p:cNvPr>
              <p:cNvSpPr/>
              <p:nvPr/>
            </p:nvSpPr>
            <p:spPr>
              <a:xfrm>
                <a:off x="9607083" y="3078754"/>
                <a:ext cx="323726" cy="57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s-419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6955DB42-60AE-45FF-BD57-D5022D7B3F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083" y="3078754"/>
                <a:ext cx="323726" cy="576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205D1C5B-2064-4FD1-84CB-68D658EB5D9E}"/>
              </a:ext>
            </a:extLst>
          </p:cNvPr>
          <p:cNvCxnSpPr>
            <a:cxnSpLocks/>
            <a:stCxn id="16" idx="3"/>
            <a:endCxn id="29" idx="1"/>
          </p:cNvCxnSpPr>
          <p:nvPr/>
        </p:nvCxnSpPr>
        <p:spPr>
          <a:xfrm>
            <a:off x="9278378" y="3366754"/>
            <a:ext cx="328705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EBC881A3-6E5F-4158-BA90-0A2F80DB2362}"/>
                  </a:ext>
                </a:extLst>
              </p:cNvPr>
              <p:cNvSpPr/>
              <p:nvPr/>
            </p:nvSpPr>
            <p:spPr>
              <a:xfrm>
                <a:off x="10213138" y="2161310"/>
                <a:ext cx="552893" cy="5759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s-419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EBC881A3-6E5F-4158-BA90-0A2F80DB23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138" y="2161310"/>
                <a:ext cx="552893" cy="575997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B53F0938-6821-4F28-8712-0435E7CDF9DE}"/>
              </a:ext>
            </a:extLst>
          </p:cNvPr>
          <p:cNvCxnSpPr/>
          <p:nvPr/>
        </p:nvCxnSpPr>
        <p:spPr>
          <a:xfrm>
            <a:off x="10766031" y="2449308"/>
            <a:ext cx="51299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F3BA7784-FC04-4213-B8CA-A3CEE5393BB2}"/>
              </a:ext>
            </a:extLst>
          </p:cNvPr>
          <p:cNvCxnSpPr>
            <a:cxnSpLocks/>
            <a:stCxn id="29" idx="3"/>
            <a:endCxn id="36" idx="4"/>
          </p:cNvCxnSpPr>
          <p:nvPr/>
        </p:nvCxnSpPr>
        <p:spPr>
          <a:xfrm flipV="1">
            <a:off x="9930809" y="2737307"/>
            <a:ext cx="558776" cy="629447"/>
          </a:xfrm>
          <a:prstGeom prst="bentConnector2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ectángulo 41">
                <a:extLst>
                  <a:ext uri="{FF2B5EF4-FFF2-40B4-BE49-F238E27FC236}">
                    <a16:creationId xmlns:a16="http://schemas.microsoft.com/office/drawing/2014/main" id="{BAE449A0-F830-4438-87C7-307E5F2BAD47}"/>
                  </a:ext>
                </a:extLst>
              </p:cNvPr>
              <p:cNvSpPr/>
              <p:nvPr/>
            </p:nvSpPr>
            <p:spPr>
              <a:xfrm>
                <a:off x="6633570" y="2057766"/>
                <a:ext cx="3764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s-419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2" name="Rectángulo 41">
                <a:extLst>
                  <a:ext uri="{FF2B5EF4-FFF2-40B4-BE49-F238E27FC236}">
                    <a16:creationId xmlns:a16="http://schemas.microsoft.com/office/drawing/2014/main" id="{BAE449A0-F830-4438-87C7-307E5F2BAD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570" y="2057766"/>
                <a:ext cx="37644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B10E9542-7BB1-40F4-A605-212B377AED91}"/>
                  </a:ext>
                </a:extLst>
              </p:cNvPr>
              <p:cNvSpPr/>
              <p:nvPr/>
            </p:nvSpPr>
            <p:spPr>
              <a:xfrm>
                <a:off x="8308494" y="2039310"/>
                <a:ext cx="4624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419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B10E9542-7BB1-40F4-A605-212B377AED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494" y="2039310"/>
                <a:ext cx="462434" cy="369332"/>
              </a:xfrm>
              <a:prstGeom prst="rect">
                <a:avLst/>
              </a:prstGeom>
              <a:blipFill>
                <a:blip r:embed="rId1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6068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29" grpId="0" animBg="1"/>
      <p:bldP spid="36" grpId="0" animBg="1"/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33687-5E09-44A2-A529-BB0237FA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Cero de un Sistema </a:t>
            </a:r>
            <a:r>
              <a:rPr lang="en-US" b="1" err="1"/>
              <a:t>en</a:t>
            </a:r>
            <a:r>
              <a:rPr lang="en-US" b="1"/>
              <a:t> la Respuesta</a:t>
            </a:r>
            <a:endParaRPr lang="es-419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D85F1749-1F87-4C30-B88A-53388496F8A7}"/>
                  </a:ext>
                </a:extLst>
              </p:cNvPr>
              <p:cNvSpPr/>
              <p:nvPr/>
            </p:nvSpPr>
            <p:spPr>
              <a:xfrm>
                <a:off x="7339408" y="2144434"/>
                <a:ext cx="882502" cy="57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D85F1749-1F87-4C30-B88A-53388496F8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408" y="2144434"/>
                <a:ext cx="882502" cy="5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919CF4F8-6678-4B48-84F0-B868B6207A9C}"/>
                  </a:ext>
                </a:extLst>
              </p:cNvPr>
              <p:cNvSpPr/>
              <p:nvPr/>
            </p:nvSpPr>
            <p:spPr>
              <a:xfrm>
                <a:off x="8792224" y="3078754"/>
                <a:ext cx="486154" cy="57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s-419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919CF4F8-6678-4B48-84F0-B868B6207A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224" y="3078754"/>
                <a:ext cx="486154" cy="57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C0242709-F691-4245-B659-5B4634A053D6}"/>
              </a:ext>
            </a:extLst>
          </p:cNvPr>
          <p:cNvCxnSpPr>
            <a:endCxn id="15" idx="1"/>
          </p:cNvCxnSpPr>
          <p:nvPr/>
        </p:nvCxnSpPr>
        <p:spPr>
          <a:xfrm>
            <a:off x="6826412" y="2432434"/>
            <a:ext cx="51299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3F8FB7BF-27B6-4FC1-97B9-5D19B351EE6C}"/>
              </a:ext>
            </a:extLst>
          </p:cNvPr>
          <p:cNvCxnSpPr>
            <a:cxnSpLocks/>
            <a:stCxn id="15" idx="3"/>
            <a:endCxn id="36" idx="2"/>
          </p:cNvCxnSpPr>
          <p:nvPr/>
        </p:nvCxnSpPr>
        <p:spPr>
          <a:xfrm>
            <a:off x="8221910" y="2432434"/>
            <a:ext cx="1991228" cy="1687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0554E460-D9AE-470F-B091-D0CF79994CDB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8160712" y="2735242"/>
            <a:ext cx="934318" cy="328705"/>
          </a:xfrm>
          <a:prstGeom prst="bentConnector2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6955DB42-60AE-45FF-BD57-D5022D7B3F09}"/>
                  </a:ext>
                </a:extLst>
              </p:cNvPr>
              <p:cNvSpPr/>
              <p:nvPr/>
            </p:nvSpPr>
            <p:spPr>
              <a:xfrm>
                <a:off x="9607083" y="3078754"/>
                <a:ext cx="323726" cy="57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s-419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6955DB42-60AE-45FF-BD57-D5022D7B3F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083" y="3078754"/>
                <a:ext cx="323726" cy="576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205D1C5B-2064-4FD1-84CB-68D658EB5D9E}"/>
              </a:ext>
            </a:extLst>
          </p:cNvPr>
          <p:cNvCxnSpPr>
            <a:cxnSpLocks/>
            <a:stCxn id="16" idx="3"/>
            <a:endCxn id="29" idx="1"/>
          </p:cNvCxnSpPr>
          <p:nvPr/>
        </p:nvCxnSpPr>
        <p:spPr>
          <a:xfrm>
            <a:off x="9278378" y="3366754"/>
            <a:ext cx="328705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EBC881A3-6E5F-4158-BA90-0A2F80DB2362}"/>
                  </a:ext>
                </a:extLst>
              </p:cNvPr>
              <p:cNvSpPr/>
              <p:nvPr/>
            </p:nvSpPr>
            <p:spPr>
              <a:xfrm>
                <a:off x="10213138" y="2161310"/>
                <a:ext cx="552893" cy="5759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s-419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EBC881A3-6E5F-4158-BA90-0A2F80DB23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138" y="2161310"/>
                <a:ext cx="552893" cy="575997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B53F0938-6821-4F28-8712-0435E7CDF9DE}"/>
              </a:ext>
            </a:extLst>
          </p:cNvPr>
          <p:cNvCxnSpPr/>
          <p:nvPr/>
        </p:nvCxnSpPr>
        <p:spPr>
          <a:xfrm>
            <a:off x="10766031" y="2449308"/>
            <a:ext cx="51299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F3BA7784-FC04-4213-B8CA-A3CEE5393BB2}"/>
              </a:ext>
            </a:extLst>
          </p:cNvPr>
          <p:cNvCxnSpPr>
            <a:cxnSpLocks/>
            <a:stCxn id="29" idx="3"/>
            <a:endCxn id="36" idx="4"/>
          </p:cNvCxnSpPr>
          <p:nvPr/>
        </p:nvCxnSpPr>
        <p:spPr>
          <a:xfrm flipV="1">
            <a:off x="9930809" y="2737307"/>
            <a:ext cx="558776" cy="629447"/>
          </a:xfrm>
          <a:prstGeom prst="bentConnector2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ectángulo 41">
                <a:extLst>
                  <a:ext uri="{FF2B5EF4-FFF2-40B4-BE49-F238E27FC236}">
                    <a16:creationId xmlns:a16="http://schemas.microsoft.com/office/drawing/2014/main" id="{BAE449A0-F830-4438-87C7-307E5F2BAD47}"/>
                  </a:ext>
                </a:extLst>
              </p:cNvPr>
              <p:cNvSpPr/>
              <p:nvPr/>
            </p:nvSpPr>
            <p:spPr>
              <a:xfrm>
                <a:off x="6633570" y="2057766"/>
                <a:ext cx="3764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s-419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2" name="Rectángulo 41">
                <a:extLst>
                  <a:ext uri="{FF2B5EF4-FFF2-40B4-BE49-F238E27FC236}">
                    <a16:creationId xmlns:a16="http://schemas.microsoft.com/office/drawing/2014/main" id="{BAE449A0-F830-4438-87C7-307E5F2BAD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570" y="2057766"/>
                <a:ext cx="3764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B10E9542-7BB1-40F4-A605-212B377AED91}"/>
                  </a:ext>
                </a:extLst>
              </p:cNvPr>
              <p:cNvSpPr/>
              <p:nvPr/>
            </p:nvSpPr>
            <p:spPr>
              <a:xfrm>
                <a:off x="8308494" y="2039310"/>
                <a:ext cx="4624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419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B10E9542-7BB1-40F4-A605-212B377AED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494" y="2039310"/>
                <a:ext cx="462434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1C931D95-9F4F-4838-A1BF-73712FF4D5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103" y="2754692"/>
            <a:ext cx="4515001" cy="3377500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DC2C7ED-9183-47F5-B878-02E1E05E89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5963" y="3469116"/>
            <a:ext cx="4401403" cy="329252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E9F9C4A1-6A9B-40D7-B102-27A7D85D49D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87" y="1926988"/>
            <a:ext cx="5258666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275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33687-5E09-44A2-A529-BB0237FA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Cero de un Sistema </a:t>
            </a:r>
            <a:r>
              <a:rPr lang="en-US" b="1" err="1"/>
              <a:t>en</a:t>
            </a:r>
            <a:r>
              <a:rPr lang="en-US" b="1"/>
              <a:t> la Respuesta</a:t>
            </a:r>
            <a:endParaRPr lang="es-419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D85F1749-1F87-4C30-B88A-53388496F8A7}"/>
                  </a:ext>
                </a:extLst>
              </p:cNvPr>
              <p:cNvSpPr/>
              <p:nvPr/>
            </p:nvSpPr>
            <p:spPr>
              <a:xfrm>
                <a:off x="7339408" y="2144434"/>
                <a:ext cx="882502" cy="57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D85F1749-1F87-4C30-B88A-53388496F8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408" y="2144434"/>
                <a:ext cx="882502" cy="5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919CF4F8-6678-4B48-84F0-B868B6207A9C}"/>
                  </a:ext>
                </a:extLst>
              </p:cNvPr>
              <p:cNvSpPr/>
              <p:nvPr/>
            </p:nvSpPr>
            <p:spPr>
              <a:xfrm>
                <a:off x="8792224" y="3078754"/>
                <a:ext cx="486154" cy="57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s-419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919CF4F8-6678-4B48-84F0-B868B6207A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224" y="3078754"/>
                <a:ext cx="486154" cy="57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C0242709-F691-4245-B659-5B4634A053D6}"/>
              </a:ext>
            </a:extLst>
          </p:cNvPr>
          <p:cNvCxnSpPr>
            <a:endCxn id="15" idx="1"/>
          </p:cNvCxnSpPr>
          <p:nvPr/>
        </p:nvCxnSpPr>
        <p:spPr>
          <a:xfrm>
            <a:off x="6826412" y="2432434"/>
            <a:ext cx="51299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3F8FB7BF-27B6-4FC1-97B9-5D19B351EE6C}"/>
              </a:ext>
            </a:extLst>
          </p:cNvPr>
          <p:cNvCxnSpPr>
            <a:cxnSpLocks/>
            <a:stCxn id="15" idx="3"/>
            <a:endCxn id="36" idx="2"/>
          </p:cNvCxnSpPr>
          <p:nvPr/>
        </p:nvCxnSpPr>
        <p:spPr>
          <a:xfrm>
            <a:off x="8221910" y="2432434"/>
            <a:ext cx="1991228" cy="1687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0554E460-D9AE-470F-B091-D0CF79994CDB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8160712" y="2735242"/>
            <a:ext cx="934318" cy="328705"/>
          </a:xfrm>
          <a:prstGeom prst="bentConnector2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6955DB42-60AE-45FF-BD57-D5022D7B3F09}"/>
                  </a:ext>
                </a:extLst>
              </p:cNvPr>
              <p:cNvSpPr/>
              <p:nvPr/>
            </p:nvSpPr>
            <p:spPr>
              <a:xfrm>
                <a:off x="9607083" y="3078754"/>
                <a:ext cx="323726" cy="57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419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6955DB42-60AE-45FF-BD57-D5022D7B3F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083" y="3078754"/>
                <a:ext cx="323726" cy="576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205D1C5B-2064-4FD1-84CB-68D658EB5D9E}"/>
              </a:ext>
            </a:extLst>
          </p:cNvPr>
          <p:cNvCxnSpPr>
            <a:cxnSpLocks/>
            <a:stCxn id="16" idx="3"/>
            <a:endCxn id="29" idx="1"/>
          </p:cNvCxnSpPr>
          <p:nvPr/>
        </p:nvCxnSpPr>
        <p:spPr>
          <a:xfrm>
            <a:off x="9278378" y="3366754"/>
            <a:ext cx="328705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EBC881A3-6E5F-4158-BA90-0A2F80DB2362}"/>
                  </a:ext>
                </a:extLst>
              </p:cNvPr>
              <p:cNvSpPr/>
              <p:nvPr/>
            </p:nvSpPr>
            <p:spPr>
              <a:xfrm>
                <a:off x="10213138" y="2161310"/>
                <a:ext cx="552893" cy="5759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s-419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EBC881A3-6E5F-4158-BA90-0A2F80DB23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138" y="2161310"/>
                <a:ext cx="552893" cy="575997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B53F0938-6821-4F28-8712-0435E7CDF9DE}"/>
              </a:ext>
            </a:extLst>
          </p:cNvPr>
          <p:cNvCxnSpPr/>
          <p:nvPr/>
        </p:nvCxnSpPr>
        <p:spPr>
          <a:xfrm>
            <a:off x="10766031" y="2449308"/>
            <a:ext cx="51299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F3BA7784-FC04-4213-B8CA-A3CEE5393BB2}"/>
              </a:ext>
            </a:extLst>
          </p:cNvPr>
          <p:cNvCxnSpPr>
            <a:cxnSpLocks/>
            <a:stCxn id="29" idx="3"/>
            <a:endCxn id="36" idx="4"/>
          </p:cNvCxnSpPr>
          <p:nvPr/>
        </p:nvCxnSpPr>
        <p:spPr>
          <a:xfrm flipV="1">
            <a:off x="9930809" y="2737307"/>
            <a:ext cx="558776" cy="629447"/>
          </a:xfrm>
          <a:prstGeom prst="bentConnector2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ectángulo 41">
                <a:extLst>
                  <a:ext uri="{FF2B5EF4-FFF2-40B4-BE49-F238E27FC236}">
                    <a16:creationId xmlns:a16="http://schemas.microsoft.com/office/drawing/2014/main" id="{BAE449A0-F830-4438-87C7-307E5F2BAD47}"/>
                  </a:ext>
                </a:extLst>
              </p:cNvPr>
              <p:cNvSpPr/>
              <p:nvPr/>
            </p:nvSpPr>
            <p:spPr>
              <a:xfrm>
                <a:off x="6633570" y="2057766"/>
                <a:ext cx="3764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s-419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2" name="Rectángulo 41">
                <a:extLst>
                  <a:ext uri="{FF2B5EF4-FFF2-40B4-BE49-F238E27FC236}">
                    <a16:creationId xmlns:a16="http://schemas.microsoft.com/office/drawing/2014/main" id="{BAE449A0-F830-4438-87C7-307E5F2BAD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570" y="2057766"/>
                <a:ext cx="3764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B10E9542-7BB1-40F4-A605-212B377AED91}"/>
                  </a:ext>
                </a:extLst>
              </p:cNvPr>
              <p:cNvSpPr/>
              <p:nvPr/>
            </p:nvSpPr>
            <p:spPr>
              <a:xfrm>
                <a:off x="8308494" y="2039310"/>
                <a:ext cx="4624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419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B10E9542-7BB1-40F4-A605-212B377AED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494" y="2039310"/>
                <a:ext cx="462434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n 10">
            <a:extLst>
              <a:ext uri="{FF2B5EF4-FFF2-40B4-BE49-F238E27FC236}">
                <a16:creationId xmlns:a16="http://schemas.microsoft.com/office/drawing/2014/main" id="{36F064D0-C40D-4C5B-84FF-05E854B28B0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89" y="1926988"/>
            <a:ext cx="5258663" cy="576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20702F8-3956-47FE-B602-74471AF64D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5324" y="3410523"/>
            <a:ext cx="4362176" cy="3263177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E022334-9119-455B-927E-06B22ABE2A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3526" y="2899594"/>
            <a:ext cx="4515001" cy="3377500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1099439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33687-5E09-44A2-A529-BB0237FA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Cero de un Sistema </a:t>
            </a:r>
            <a:r>
              <a:rPr lang="en-US" b="1" err="1"/>
              <a:t>en</a:t>
            </a:r>
            <a:r>
              <a:rPr lang="en-US" b="1"/>
              <a:t> la Respuesta</a:t>
            </a:r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7D537D-F1F6-42F8-907F-2D1596AE2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CONTROL AUTOMÁTICO EDUCACIÓN-  Sergio Andres Castaño Giraldo</a:t>
            </a:r>
            <a:endParaRPr lang="es-419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CDC0F82-E82D-460D-BA56-2FF9B630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69" y="2112014"/>
            <a:ext cx="3813630" cy="285283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87EEBF4-FBEB-42B3-9BC6-B63C74FF2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409" y="2206365"/>
            <a:ext cx="3687503" cy="2758480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E049D09-7C2E-4C39-B2C1-E1893C038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713" y="1896855"/>
            <a:ext cx="4515001" cy="3377500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1277038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33687-5E09-44A2-A529-BB0237FA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Cero de un Sistema </a:t>
            </a:r>
            <a:r>
              <a:rPr lang="en-US" b="1" err="1"/>
              <a:t>en</a:t>
            </a:r>
            <a:r>
              <a:rPr lang="en-US" b="1"/>
              <a:t> la Respuesta</a:t>
            </a:r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7D537D-F1F6-42F8-907F-2D1596AE2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CONTROL AUTOMÁTICO EDUCACIÓN-  Sergio Andres Castaño Giraldo</a:t>
            </a:r>
            <a:endParaRPr lang="es-419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2E70758-C97F-4074-95F5-B279A4F51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42" y="2537376"/>
            <a:ext cx="3892787" cy="2912045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FFA873A-31E9-419B-8D7E-254DE65FE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029" y="2691743"/>
            <a:ext cx="3686431" cy="2757678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C2DA64C-86DD-446C-B9C6-21CBA9C1A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262" y="2304648"/>
            <a:ext cx="4515001" cy="3377500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336848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33687-5E09-44A2-A529-BB0237FA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Cero de un Sistema </a:t>
            </a:r>
            <a:r>
              <a:rPr lang="en-US" b="1" err="1"/>
              <a:t>en</a:t>
            </a:r>
            <a:r>
              <a:rPr lang="en-US" b="1"/>
              <a:t> la Respuesta</a:t>
            </a:r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7D537D-F1F6-42F8-907F-2D1596AE2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CONTROL AUTOMÁTICO EDUCACIÓN-  Sergio Andres Castaño Giraldo</a:t>
            </a:r>
            <a:endParaRPr lang="es-419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AC2A0F-659C-4301-B3A4-CBBBF179F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93" y="2212656"/>
            <a:ext cx="4252414" cy="3181069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4FFFE28-B5DC-41AC-B068-5EA1758FF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844" y="2164628"/>
            <a:ext cx="4515001" cy="3377500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1EFBB47-CED6-4720-9396-CD50B350F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989" y="2318347"/>
            <a:ext cx="4104022" cy="3070062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474293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4513F-EC64-4113-A85E-3F6EA262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b="1"/>
              <a:t>Ceros de Fase no Mínima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FB1A12-3861-48C9-82D5-6577675ED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504061"/>
          </a:xfrm>
        </p:spPr>
        <p:txBody>
          <a:bodyPr/>
          <a:lstStyle/>
          <a:p>
            <a:pPr marL="0" indent="0">
              <a:buNone/>
            </a:pPr>
            <a:r>
              <a:rPr lang="es-ES"/>
              <a:t>Que sucede se </a:t>
            </a:r>
            <a:r>
              <a:rPr lang="es-ES" err="1"/>
              <a:t>se</a:t>
            </a:r>
            <a:r>
              <a:rPr lang="es-ES"/>
              <a:t> cambia el signo del cero?</a:t>
            </a:r>
            <a:endParaRPr lang="es-419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566B12B-525C-4DC4-B21C-BF65D1ABE41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708" y="3221164"/>
            <a:ext cx="2407619" cy="576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B2A0128-8D6C-4E72-B03D-5D0A70B783D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4087724"/>
            <a:ext cx="4466286" cy="576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D2D146B-D70E-4B26-8663-47E170B0F8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334" y="2458169"/>
            <a:ext cx="5393546" cy="4034706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1181859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4513F-EC64-4113-A85E-3F6EA262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b="1"/>
              <a:t>Ceros de Fase no Mínima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582914D-F0ED-4B79-802C-513E4B00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CONTROL AUTOMÁTICO EDUCACIÓN-  Sergio Andres Castaño Giraldo</a:t>
            </a:r>
            <a:endParaRPr lang="es-419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B2A0128-8D6C-4E72-B03D-5D0A70B783D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887285"/>
            <a:ext cx="4466286" cy="576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4B604C3-3C01-4978-ADB8-741A55212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988" y="2613210"/>
            <a:ext cx="4515001" cy="3377500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F91BC66-888A-4CC8-BEFE-2F08C47B1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13210"/>
            <a:ext cx="4515001" cy="3377500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7AA4776-09D8-46B7-A199-3CC44B79C8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136" y="2613210"/>
            <a:ext cx="4515001" cy="3377500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4191856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301"/>
  <p:tag name="IGUANATEXSIZE" val="25"/>
  <p:tag name="LATEXADDIN" val="\documentclass{article}&#10;\usepackage[brazil]{babel}&#10;\usepackage[T1]{fontenc}&#10;\usepackage{ae} %incluido&#10;\usepackage{amsmath}&#10;\usepackage{multirow}&#10;\pagestyle{empty}&#10;\begin{document}&#10;&#10;$\dfrac{Y(s)}{U(s)}=\dfrac{b_ms^m+b_{m-1}s^{m-1}+...+b_1s+b_0}{s^n+a_{n-1}s^{n-1}+...+a_1s+a_0}=\dfrac{N(s)}{D(s)}=G(s)$&#10;&#10;\end{document}"/>
  <p:tag name="LATEXENGINEID" val="0"/>
  <p:tag name="LATEXFORMHEIGHT" val="312"/>
  <p:tag name="LATEXFORMWIDTH" val="384"/>
  <p:tag name="LATEXFORMWRAP" val="Verdadeiro"/>
  <p:tag name="ORIGINALHEIGHT" val="302,9621"/>
  <p:tag name="ORIGINALWIDTH" val="3184,102"/>
  <p:tag name="OUTPUTDPI" val="1200"/>
  <p:tag name="TEMPFOLDER" val="C:\Latex\"/>
  <p:tag name="TRANSPARENCY" val="Verdadeiro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IGUANATEXCURSOR" val="194"/>
  <p:tag name="IGUANATEXSIZE" val="25"/>
  <p:tag name="IGUANATEXVERSION" val="160"/>
  <p:tag name="LATEXADDIN" val="\documentclass{article}&#10;\usepackage{ae} %incluido&#10;\usepackage{multirow}&#10;\usepackage{mathrsfs} %Transformada de laplace e Fourier&#10;\usepackage{amsmath}&#10;\pagestyle{empty}&#10;&#10;\begin{document}&#10;&#10;$f(t)=k+c_1e^{\alpha_1t}+c_2e^{\alpha_2t}+...+c_ne^{\alpha_nt}$&#10;&#10;\end{document}"/>
  <p:tag name="LATEXENGINEID" val="0"/>
  <p:tag name="LATEXFORMHEIGHT" val="312"/>
  <p:tag name="LATEXFORMWIDTH" val="384"/>
  <p:tag name="LATEXFORMWRAP" val="True"/>
  <p:tag name="ORIGINALHEIGHT" val="131.2336"/>
  <p:tag name="ORIGINALWIDTH" val="2146.232"/>
  <p:tag name="OUTPUTDPI" val="1200"/>
  <p:tag name="OUTPUTTYPE" val="PNG"/>
  <p:tag name="TEMPFOLDER" val="c:\temp\"/>
  <p:tag name="TRANSPARENCY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IGUANATEXCURSOR" val="202"/>
  <p:tag name="IGUANATEXSIZE" val="25"/>
  <p:tag name="IGUANATEXVERSION" val="160"/>
  <p:tag name="LATEXADDIN" val="\documentclass{article}&#10;\usepackage{ae} %incluido&#10;\usepackage{multirow}&#10;\usepackage{mathrsfs} %Transformada de laplace e Fourier&#10;\usepackage{amsmath}&#10;\pagestyle{empty}&#10;&#10;\begin{document}&#10;&#10;$f(t)=k+c_1e^{-\alpha_1t}$&#10;&#10;\end{document}"/>
  <p:tag name="LATEXENGINEID" val="0"/>
  <p:tag name="LATEXFORMHEIGHT" val="312"/>
  <p:tag name="LATEXFORMWIDTH" val="384"/>
  <p:tag name="LATEXFORMWRAP" val="True"/>
  <p:tag name="ORIGINALHEIGHT" val="131.2336"/>
  <p:tag name="ORIGINALWIDTH" val="989.8762"/>
  <p:tag name="OUTPUTDPI" val="1200"/>
  <p:tag name="OUTPUTTYPE" val="PNG"/>
  <p:tag name="TEMPFOLDER" val="c:\temp\"/>
  <p:tag name="TRANSPARENCY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IGUANATEXCURSOR" val="211"/>
  <p:tag name="IGUANATEXSIZE" val="25"/>
  <p:tag name="IGUANATEXVERSION" val="160"/>
  <p:tag name="LATEXADDIN" val="\documentclass{article}&#10;\usepackage{ae} %incluido&#10;\usepackage{multirow}&#10;\usepackage{mathrsfs} %Transformada de laplace e Fourier&#10;\usepackage{amsmath}&#10;\pagestyle{empty}&#10;&#10;\begin{document}&#10;&#10;$f(t)=k+c_1e^{\alpha_1t}$&#10;&#10;\end{document}"/>
  <p:tag name="LATEXENGINEID" val="0"/>
  <p:tag name="LATEXFORMHEIGHT" val="312"/>
  <p:tag name="LATEXFORMWIDTH" val="384"/>
  <p:tag name="LATEXFORMWRAP" val="True"/>
  <p:tag name="ORIGINALHEIGHT" val="131.2336"/>
  <p:tag name="ORIGINALWIDTH" val="911.886"/>
  <p:tag name="OUTPUTDPI" val="1200"/>
  <p:tag name="OUTPUTTYPE" val="PNG"/>
  <p:tag name="TEMPFOLDER" val="c:\temp\"/>
  <p:tag name="TRANSPARENCY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17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H(s)=\dfrac{s+6}{(s+5)(s+7)}$&#10;&#10;\end{document}"/>
  <p:tag name="LATEXENGINEID" val="0"/>
  <p:tag name="LATEXFORMHEIGHT" val="312"/>
  <p:tag name="LATEXFORMWIDTH" val="384"/>
  <p:tag name="LATEXFORMWRAP" val="Verdadero"/>
  <p:tag name="ORIGINALHEIGHT" val="283.4646"/>
  <p:tag name="ORIGINALWIDTH" val="1184.852"/>
  <p:tag name="OUTPUTDPI" val="1200"/>
  <p:tag name="TEMPFOLDER" val="c:\temp\"/>
  <p:tag name="TRANSPARENCY" val="Verdader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193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s=-6$&#10;&#10;\end{document}"/>
  <p:tag name="LATEXENGINEID" val="0"/>
  <p:tag name="LATEXFORMHEIGHT" val="312"/>
  <p:tag name="LATEXFORMWIDTH" val="384"/>
  <p:tag name="LATEXFORMWRAP" val="Verdadero"/>
  <p:tag name="ORIGINALHEIGHT" val="85.48929"/>
  <p:tag name="ORIGINALWIDTH" val="371.9535"/>
  <p:tag name="OUTPUTDPI" val="1200"/>
  <p:tag name="TEMPFOLDER" val="c:\temp\"/>
  <p:tag name="TRANSPARENCY" val="Verdadero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193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s=-5$&#10;&#10;\end{document}"/>
  <p:tag name="LATEXENGINEID" val="0"/>
  <p:tag name="LATEXFORMHEIGHT" val="312"/>
  <p:tag name="LATEXFORMWIDTH" val="384"/>
  <p:tag name="LATEXFORMWRAP" val="Verdadero"/>
  <p:tag name="ORIGINALHEIGHT" val="86.23921"/>
  <p:tag name="ORIGINALWIDTH" val="371.2036"/>
  <p:tag name="OUTPUTDPI" val="1200"/>
  <p:tag name="TEMPFOLDER" val="c:\temp\"/>
  <p:tag name="TRANSPARENCY" val="Verdader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193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s=-7$&#10;&#10;\end{document}"/>
  <p:tag name="LATEXENGINEID" val="0"/>
  <p:tag name="LATEXFORMHEIGHT" val="312"/>
  <p:tag name="LATEXFORMWIDTH" val="384"/>
  <p:tag name="LATEXFORMWRAP" val="Verdadero"/>
  <p:tag name="ORIGINALHEIGHT" val="87.73905"/>
  <p:tag name="ORIGINALWIDTH" val="375.7031"/>
  <p:tag name="OUTPUTDPI" val="1200"/>
  <p:tag name="TEMPFOLDER" val="c:\temp\"/>
  <p:tag name="TRANSPARENCY" val="Verdader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198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u=e^{-6t}$&#10;&#10;\end{document}"/>
  <p:tag name="LATEXENGINEID" val="0"/>
  <p:tag name="LATEXFORMHEIGHT" val="312"/>
  <p:tag name="LATEXFORMWIDTH" val="384"/>
  <p:tag name="LATEXFORMWRAP" val="Verdadero"/>
  <p:tag name="ORIGINALHEIGHT" val="104.237"/>
  <p:tag name="ORIGINALWIDTH" val="453.6933"/>
  <p:tag name="OUTPUTDPI" val="1200"/>
  <p:tag name="TEMPFOLDER" val="c:\temp\"/>
  <p:tag name="TRANSPARENCY" val="Verdader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08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U(s)=\dfrac{1}{s+6}$&#10;&#10;\end{document}"/>
  <p:tag name="LATEXENGINEID" val="0"/>
  <p:tag name="LATEXFORMHEIGHT" val="312"/>
  <p:tag name="LATEXFORMWIDTH" val="384"/>
  <p:tag name="LATEXFORMWRAP" val="Verdadero"/>
  <p:tag name="ORIGINALHEIGHT" val="262.4672"/>
  <p:tag name="ORIGINALWIDTH" val="699.6625"/>
  <p:tag name="OUTPUTDPI" val="1200"/>
  <p:tag name="TEMPFOLDER" val="c:\temp\"/>
  <p:tag name="TRANSPARENCY" val="Verdadero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02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Y(s)=H(s)U(s)$&#10;&#10;\end{document}"/>
  <p:tag name="LATEXENGINEID" val="0"/>
  <p:tag name="LATEXFORMHEIGHT" val="312"/>
  <p:tag name="LATEXFORMWIDTH" val="384"/>
  <p:tag name="LATEXFORMWRAP" val="Verdadero"/>
  <p:tag name="ORIGINALHEIGHT" val="125.2343"/>
  <p:tag name="ORIGINALWIDTH" val="928.3839"/>
  <p:tag name="OUTPUTDPI" val="1200"/>
  <p:tag name="TEMPFOLDER" val="c:\temp\"/>
  <p:tag name="TRANSPARENCY" val="Verdadero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15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Y(s)=\dfrac{1}{(s+5)(s+7)}$&#10;&#10;\end{document}"/>
  <p:tag name="LATEXENGINEID" val="0"/>
  <p:tag name="LATEXFORMHEIGHT" val="312"/>
  <p:tag name="LATEXFORMWIDTH" val="384"/>
  <p:tag name="LATEXFORMWRAP" val="Verdadero"/>
  <p:tag name="ORIGINALHEIGHT" val="283.4646"/>
  <p:tag name="ORIGINALWIDTH" val="1172.104"/>
  <p:tag name="OUTPUTDPI" val="1200"/>
  <p:tag name="TEMPFOLDER" val="c:\temp\"/>
  <p:tag name="TRANSPARENCY" val="Verdader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17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H(s)=\dfrac{s+6}{(s+5)(s+7)}$&#10;&#10;\end{document}"/>
  <p:tag name="LATEXENGINEID" val="0"/>
  <p:tag name="LATEXFORMHEIGHT" val="312"/>
  <p:tag name="LATEXFORMWIDTH" val="384"/>
  <p:tag name="LATEXFORMWRAP" val="Verdadero"/>
  <p:tag name="ORIGINALHEIGHT" val="283.4646"/>
  <p:tag name="ORIGINALWIDTH" val="1184.852"/>
  <p:tag name="OUTPUTDPI" val="1200"/>
  <p:tag name="TEMPFOLDER" val="c:\temp\"/>
  <p:tag name="TRANSPARENCY" val="Verdadero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198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u=e^{-6t}$&#10;&#10;\end{document}"/>
  <p:tag name="LATEXENGINEID" val="0"/>
  <p:tag name="LATEXFORMHEIGHT" val="312"/>
  <p:tag name="LATEXFORMWIDTH" val="384"/>
  <p:tag name="LATEXFORMWRAP" val="Verdadero"/>
  <p:tag name="ORIGINALHEIGHT" val="104.237"/>
  <p:tag name="ORIGINALWIDTH" val="453.6933"/>
  <p:tag name="OUTPUTDPI" val="1200"/>
  <p:tag name="TEMPFOLDER" val="c:\temp\"/>
  <p:tag name="TRANSPARENCY" val="Verdadero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61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\dfrac{d^2y(t)}{dt^2}+12\dfrac{dy(t)}{dt}+35y(t)=\dfrac{du(t)}{dt}+6u(t)$&#10;&#10;\end{document}"/>
  <p:tag name="LATEXENGINEID" val="0"/>
  <p:tag name="LATEXFORMHEIGHT" val="312"/>
  <p:tag name="LATEXFORMWIDTH" val="384"/>
  <p:tag name="LATEXFORMWRAP" val="Verdadero"/>
  <p:tag name="ORIGINALHEIGHT" val="273.7158"/>
  <p:tag name="ORIGINALWIDTH" val="2294.713"/>
  <p:tag name="OUTPUTDPI" val="1200"/>
  <p:tag name="TEMPFOLDER" val="c:\temp\"/>
  <p:tag name="TRANSPARENCY" val="Verdadero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16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\dfrac{du(t)}{dt}=-6e^{-6t}$&#10;&#10;\end{document}"/>
  <p:tag name="LATEXENGINEID" val="0"/>
  <p:tag name="LATEXFORMHEIGHT" val="312"/>
  <p:tag name="LATEXFORMWIDTH" val="384"/>
  <p:tag name="LATEXFORMWRAP" val="Verdadero"/>
  <p:tag name="ORIGINALHEIGHT" val="264.7169"/>
  <p:tag name="ORIGINALWIDTH" val="836.8953"/>
  <p:tag name="OUTPUTDPI" val="1200"/>
  <p:tag name="TEMPFOLDER" val="c:\temp\"/>
  <p:tag name="TRANSPARENCY" val="Verdadero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57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\dfrac{d^2y(t)}{dt^2}+12\dfrac{dy(t)}{dt}+35y(t)=-6e^{-6t}+6e^{-6t}$&#10;&#10;&#10;\end{document}"/>
  <p:tag name="LATEXENGINEID" val="0"/>
  <p:tag name="LATEXFORMHEIGHT" val="312"/>
  <p:tag name="LATEXFORMWIDTH" val="384"/>
  <p:tag name="LATEXFORMWRAP" val="Verdadero"/>
  <p:tag name="ORIGINALHEIGHT" val="273.7158"/>
  <p:tag name="ORIGINALWIDTH" val="2392.951"/>
  <p:tag name="OUTPUTDPI" val="1200"/>
  <p:tag name="TEMPFOLDER" val="c:\temp\"/>
  <p:tag name="TRANSPARENCY" val="Verdadero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40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\dfrac{d^2y(t)}{dt^2}+12\dfrac{dy(t)}{dt}+35y(t)=0$&#10;&#10;&#10;\end{document}"/>
  <p:tag name="LATEXENGINEID" val="0"/>
  <p:tag name="LATEXFORMHEIGHT" val="312"/>
  <p:tag name="LATEXFORMWIDTH" val="384"/>
  <p:tag name="LATEXFORMWRAP" val="Verdadero"/>
  <p:tag name="ORIGINALHEIGHT" val="273.7158"/>
  <p:tag name="ORIGINALWIDTH" val="1628.796"/>
  <p:tag name="OUTPUTDPI" val="1200"/>
  <p:tag name="TEMPFOLDER" val="c:\temp\"/>
  <p:tag name="TRANSPARENCY" val="Verdadero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197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\omega_0$&#10;&#10;\end{document}"/>
  <p:tag name="LATEXENGINEID" val="0"/>
  <p:tag name="LATEXFORMHEIGHT" val="312"/>
  <p:tag name="LATEXFORMWIDTH" val="384"/>
  <p:tag name="LATEXFORMWRAP" val="Verdadero"/>
  <p:tag name="ORIGINALHEIGHT" val="74.99063"/>
  <p:tag name="ORIGINALWIDTH" val="121.4848"/>
  <p:tag name="OUTPUTDPI" val="1200"/>
  <p:tag name="TEMPFOLDER" val="c:\temp\"/>
  <p:tag name="TRANSPARENCY" val="Verdadero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05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cero en $\omega_0$&#10;&#10;\end{document}"/>
  <p:tag name="LATEXENGINEID" val="0"/>
  <p:tag name="LATEXFORMHEIGHT" val="312"/>
  <p:tag name="LATEXFORMWIDTH" val="384"/>
  <p:tag name="LATEXFORMWRAP" val="Verdadero"/>
  <p:tag name="ORIGINALHEIGHT" val="75.74055"/>
  <p:tag name="ORIGINALWIDTH" val="547.4316"/>
  <p:tag name="OUTPUTDPI" val="1200"/>
  <p:tag name="TEMPFOLDER" val="c:\temp\"/>
  <p:tag name="TRANSPARENCY" val="Verdadero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19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H_2(s)=\dfrac{s+6}{(s+5)(s+7)}$&#10;&#10;\end{document}"/>
  <p:tag name="LATEXENGINEID" val="0"/>
  <p:tag name="LATEXFORMHEIGHT" val="312"/>
  <p:tag name="LATEXFORMWIDTH" val="384"/>
  <p:tag name="LATEXFORMWRAP" val="Verdadero"/>
  <p:tag name="ORIGINALHEIGHT" val="283.4646"/>
  <p:tag name="ORIGINALWIDTH" val="1230.596"/>
  <p:tag name="OUTPUTDPI" val="1200"/>
  <p:tag name="TEMPFOLDER" val="c:\temp\"/>
  <p:tag name="TRANSPARENCY" val="Verdadero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17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H_1(s)=\dfrac{6}{(s+5)(s+7)}$&#10;&#10;\end{document}"/>
  <p:tag name="LATEXENGINEID" val="0"/>
  <p:tag name="LATEXFORMHEIGHT" val="312"/>
  <p:tag name="LATEXFORMWIDTH" val="384"/>
  <p:tag name="LATEXFORMWRAP" val="Verdadero"/>
  <p:tag name="ORIGINALHEIGHT" val="283.4646"/>
  <p:tag name="ORIGINALWIDTH" val="1230.596"/>
  <p:tag name="OUTPUTDPI" val="1200"/>
  <p:tag name="TEMPFOLDER" val="c:\temp\"/>
  <p:tag name="TRANSPARENCY" val="Verdadero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26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y(t)= 0.1714-0.6e^{-5t}+0.4286e^{-7t}$&#10;&#10;\end{document}"/>
  <p:tag name="LATEXENGINEID" val="0"/>
  <p:tag name="LATEXFORMHEIGHT" val="312"/>
  <p:tag name="LATEXFORMWIDTH" val="384"/>
  <p:tag name="LATEXFORMWRAP" val="Verdadero"/>
  <p:tag name="ORIGINALHEIGHT" val="135.7331"/>
  <p:tag name="ORIGINALWIDTH" val="1973.753"/>
  <p:tag name="OUTPUTDPI" val="1200"/>
  <p:tag name="TEMPFOLDER" val="c:\temp\"/>
  <p:tag name="TRANSPARENCY" val="Verdadero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69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H(s)=\dfrac{s+6}{(s+5)(s+7)}= \dfrac{6}{(s+5)(s+7)} \left( \dfrac{s}{6}+1\right)$&#10;&#10;\end{document}"/>
  <p:tag name="LATEXENGINEID" val="0"/>
  <p:tag name="LATEXFORMHEIGHT" val="312"/>
  <p:tag name="LATEXFORMWIDTH" val="384"/>
  <p:tag name="LATEXFORMWRAP" val="Verdadero"/>
  <p:tag name="ORIGINALHEIGHT" val="283.4646"/>
  <p:tag name="ORIGINALWIDTH" val="2587.927"/>
  <p:tag name="OUTPUTDPI" val="1200"/>
  <p:tag name="TEMPFOLDER" val="c:\temp\"/>
  <p:tag name="TRANSPARENCY" val="Verdadero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51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H(s)=\dfrac{6}{(s+5)(s+7)}+  \dfrac{s}{6}\dfrac{6}{(s+5)(s+7)}$&#10;&#10;\end{document}"/>
  <p:tag name="LATEXENGINEID" val="0"/>
  <p:tag name="LATEXFORMHEIGHT" val="312"/>
  <p:tag name="LATEXFORMWIDTH" val="384"/>
  <p:tag name="LATEXFORMWRAP" val="Verdadero"/>
  <p:tag name="ORIGINALHEIGHT" val="283.4646"/>
  <p:tag name="ORIGINALWIDTH" val="2197.975"/>
  <p:tag name="OUTPUTDPI" val="1200"/>
  <p:tag name="TEMPFOLDER" val="c:\temp\"/>
  <p:tag name="TRANSPARENCY" val="Verdadero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195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H_1(s)$&#10;&#10;\end{document}"/>
  <p:tag name="LATEXENGINEID" val="0"/>
  <p:tag name="LATEXFORMHEIGHT" val="312"/>
  <p:tag name="LATEXFORMWIDTH" val="384"/>
  <p:tag name="LATEXFORMWRAP" val="Verdadero"/>
  <p:tag name="ORIGINALHEIGHT" val="125.2343"/>
  <p:tag name="ORIGINALWIDTH" val="298.4627"/>
  <p:tag name="OUTPUTDPI" val="1200"/>
  <p:tag name="TEMPFOLDER" val="c:\temp\"/>
  <p:tag name="TRANSPARENCY" val="Verdadero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195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H_1(s)$&#10;&#10;\end{document}"/>
  <p:tag name="LATEXENGINEID" val="0"/>
  <p:tag name="LATEXFORMHEIGHT" val="312"/>
  <p:tag name="LATEXFORMWIDTH" val="384"/>
  <p:tag name="LATEXFORMWRAP" val="Verdadero"/>
  <p:tag name="ORIGINALHEIGHT" val="125.2343"/>
  <p:tag name="ORIGINALWIDTH" val="298.4627"/>
  <p:tag name="OUTPUTDPI" val="1200"/>
  <p:tag name="TEMPFOLDER" val="c:\temp\"/>
  <p:tag name="TRANSPARENCY" val="Verdader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69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H(s)=\dfrac{s+6}{(s+5)(s+7)}= \dfrac{6}{(s+5)(s+7)} \left( \dfrac{s}{6}+1\right)$&#10;&#10;\end{document}"/>
  <p:tag name="LATEXENGINEID" val="0"/>
  <p:tag name="LATEXFORMHEIGHT" val="312"/>
  <p:tag name="LATEXFORMWIDTH" val="384"/>
  <p:tag name="LATEXFORMWRAP" val="Verdadero"/>
  <p:tag name="ORIGINALHEIGHT" val="283.4646"/>
  <p:tag name="ORIGINALWIDTH" val="2587.927"/>
  <p:tag name="OUTPUTDPI" val="1200"/>
  <p:tag name="TEMPFOLDER" val="c:\temp\"/>
  <p:tag name="TRANSPARENCY" val="Verdadero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26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H(s)=\dfrac{s+2}{(s+5)(s+7)}= \dfrac{2}{(s+5)(s+7)} \left( \dfrac{s}{2}+1\right)$&#10;&#10;\end{document}"/>
  <p:tag name="LATEXENGINEID" val="0"/>
  <p:tag name="LATEXFORMHEIGHT" val="312"/>
  <p:tag name="LATEXFORMWIDTH" val="384"/>
  <p:tag name="LATEXFORMWRAP" val="Verdadero"/>
  <p:tag name="ORIGINALHEIGHT" val="283.4646"/>
  <p:tag name="ORIGINALWIDTH" val="2587.927"/>
  <p:tag name="OUTPUTDPI" val="1200"/>
  <p:tag name="TEMPFOLDER" val="c:\temp\"/>
  <p:tag name="TRANSPARENCY" val="Verdadero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18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H(s)=\dfrac{-s+6}{(s+5)(s+7)}$&#10;&#10;\end{document}"/>
  <p:tag name="LATEXENGINEID" val="0"/>
  <p:tag name="LATEXFORMHEIGHT" val="312"/>
  <p:tag name="LATEXFORMWIDTH" val="384"/>
  <p:tag name="LATEXFORMWRAP" val="Verdadero"/>
  <p:tag name="ORIGINALHEIGHT" val="283.4646"/>
  <p:tag name="ORIGINALWIDTH" val="1184.852"/>
  <p:tag name="OUTPUTDPI" val="1200"/>
  <p:tag name="TEMPFOLDER" val="c:\temp\"/>
  <p:tag name="TRANSPARENCY" val="Verdadero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51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H(s)=\dfrac{6}{(s+5)(s+7)}-  \dfrac{s}{6}\dfrac{6}{(s+5)(s+7)}$&#10;&#10;\end{document}"/>
  <p:tag name="LATEXENGINEID" val="0"/>
  <p:tag name="LATEXFORMHEIGHT" val="312"/>
  <p:tag name="LATEXFORMWIDTH" val="384"/>
  <p:tag name="LATEXFORMWRAP" val="Verdadero"/>
  <p:tag name="ORIGINALHEIGHT" val="283.4646"/>
  <p:tag name="ORIGINALWIDTH" val="2197.975"/>
  <p:tag name="OUTPUTDPI" val="1200"/>
  <p:tag name="TEMPFOLDER" val="c:\temp\"/>
  <p:tag name="TRANSPARENCY" val="Verdadero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0"/>
  <p:tag name="FILENAME" val=""/>
  <p:tag name="IGUANATEXCURSOR" val="251"/>
  <p:tag name="IGUANATEXSIZE" val="20"/>
  <p:tag name="LATEXADDIN" val="\documentclass{article}&#10;\usepackage{ae} %incluido&#10;\usepackage{multirow}&#10;\usepackage{mathrsfs} %Transformada de laplace e Fourier&#10;\usepackage{amsmath}&#10;\pagestyle{empty}&#10;&#10;\begin{document}&#10;&#10;$H(s)=\dfrac{6}{(s+5)(s+7)}-  \dfrac{s}{6}\dfrac{6}{(s+5)(s+7)}$&#10;&#10;\end{document}"/>
  <p:tag name="LATEXENGINEID" val="0"/>
  <p:tag name="LATEXFORMHEIGHT" val="312"/>
  <p:tag name="LATEXFORMWIDTH" val="384"/>
  <p:tag name="LATEXFORMWRAP" val="Verdadero"/>
  <p:tag name="ORIGINALHEIGHT" val="283.4646"/>
  <p:tag name="ORIGINALWIDTH" val="2197.975"/>
  <p:tag name="OUTPUTDPI" val="1200"/>
  <p:tag name="TEMPFOLDER" val="c:\temp\"/>
  <p:tag name="TRANSPARENCY" val="Verdadero"/>
</p:tagLst>
</file>

<file path=ppt/theme/theme1.xml><?xml version="1.0" encoding="utf-8"?>
<a:theme xmlns:a="http://schemas.openxmlformats.org/drawingml/2006/main" name="Tema de Office">
  <a:themeElements>
    <a:clrScheme name="Dracula">
      <a:dk1>
        <a:srgbClr val="282A36"/>
      </a:dk1>
      <a:lt1>
        <a:srgbClr val="F8F8F2"/>
      </a:lt1>
      <a:dk2>
        <a:srgbClr val="44475A"/>
      </a:dk2>
      <a:lt2>
        <a:srgbClr val="BD93F9"/>
      </a:lt2>
      <a:accent1>
        <a:srgbClr val="50FA7B"/>
      </a:accent1>
      <a:accent2>
        <a:srgbClr val="8BE9FD"/>
      </a:accent2>
      <a:accent3>
        <a:srgbClr val="6272A4"/>
      </a:accent3>
      <a:accent4>
        <a:srgbClr val="FF79C6"/>
      </a:accent4>
      <a:accent5>
        <a:srgbClr val="FFB86C"/>
      </a:accent5>
      <a:accent6>
        <a:srgbClr val="F1FA8C"/>
      </a:accent6>
      <a:hlink>
        <a:srgbClr val="BD93F9"/>
      </a:hlink>
      <a:folHlink>
        <a:srgbClr val="FF555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30920896-A505-4C6F-A429-DF7F67BB02FB}" vid="{9A50490F-329A-4F12-B91A-1BDAD4251B2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53A00F274449E4D98379C6BF4F2EA6B" ma:contentTypeVersion="11" ma:contentTypeDescription="Crear nuevo documento." ma:contentTypeScope="" ma:versionID="eb3f5a400347c3417aab130743b3d1b7">
  <xsd:schema xmlns:xsd="http://www.w3.org/2001/XMLSchema" xmlns:xs="http://www.w3.org/2001/XMLSchema" xmlns:p="http://schemas.microsoft.com/office/2006/metadata/properties" xmlns:ns2="fac3ca94-d71a-4caa-9690-eb28d591cc11" xmlns:ns3="81d90fb7-c10b-429b-a2b8-56a49218fdfe" targetNamespace="http://schemas.microsoft.com/office/2006/metadata/properties" ma:root="true" ma:fieldsID="76a9e87a822cd72ed856b4afed0ee74c" ns2:_="" ns3:_="">
    <xsd:import namespace="fac3ca94-d71a-4caa-9690-eb28d591cc11"/>
    <xsd:import namespace="81d90fb7-c10b-429b-a2b8-56a49218fd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c3ca94-d71a-4caa-9690-eb28d591cc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2093fb0a-f3be-4120-808e-fc0c80b8c9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90fb7-c10b-429b-a2b8-56a49218fdf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809115-c1bd-42a4-a936-87346198339a}" ma:internalName="TaxCatchAll" ma:showField="CatchAllData" ma:web="81d90fb7-c10b-429b-a2b8-56a49218fd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d90fb7-c10b-429b-a2b8-56a49218fdfe" xsi:nil="true"/>
    <lcf76f155ced4ddcb4097134ff3c332f xmlns="fac3ca94-d71a-4caa-9690-eb28d591cc1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16430C7-0AEE-4DA9-8B46-E290CBBA3FE9}"/>
</file>

<file path=customXml/itemProps2.xml><?xml version="1.0" encoding="utf-8"?>
<ds:datastoreItem xmlns:ds="http://schemas.openxmlformats.org/officeDocument/2006/customXml" ds:itemID="{0CA40BDC-26D1-441D-B040-B78E12C37D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AA1250-F5AD-4813-B524-7E0A8F93D072}">
  <ds:schemaRefs>
    <ds:schemaRef ds:uri="81d90fb7-c10b-429b-a2b8-56a49218fdfe"/>
    <ds:schemaRef ds:uri="fac3ca94-d71a-4caa-9690-eb28d591cc11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Dracula Template</Template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Tema de Office</vt:lpstr>
      <vt:lpstr>Dinámicas Complejas</vt:lpstr>
      <vt:lpstr>Efecto del Cero y del Polo en la Respuesta</vt:lpstr>
      <vt:lpstr>¿Por qué el Polo define la estabilidad?</vt:lpstr>
      <vt:lpstr>Cero de un Sistema</vt:lpstr>
      <vt:lpstr>Cero de un Sistema</vt:lpstr>
      <vt:lpstr>Cero de un Sistema</vt:lpstr>
      <vt:lpstr>Cero de un Sistema</vt:lpstr>
      <vt:lpstr>Cero de un Sistema (Frecuencia)</vt:lpstr>
      <vt:lpstr>Cero de un Sistema (Frecuencia)</vt:lpstr>
      <vt:lpstr>Cero de un Sistema</vt:lpstr>
      <vt:lpstr>Cero de un Sistema en la Respuesta</vt:lpstr>
      <vt:lpstr>Cero de un Sistema en la Respuesta</vt:lpstr>
      <vt:lpstr>Cero de un Sistema en la Respuesta</vt:lpstr>
      <vt:lpstr>Cero de un Sistema en la Respuesta</vt:lpstr>
      <vt:lpstr>Cero de un Sistema en la Respuesta</vt:lpstr>
      <vt:lpstr>Cero de un Sistema en la Respuesta</vt:lpstr>
      <vt:lpstr>Cero de un Sistema en la Respuesta</vt:lpstr>
      <vt:lpstr>Cero de un Sistema en la Respuesta</vt:lpstr>
      <vt:lpstr>Ceros de Fase no Mínima</vt:lpstr>
      <vt:lpstr>Ceros de Fase no Mínima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Andres Castaño Giraldo</dc:creator>
  <cp:revision>1</cp:revision>
  <dcterms:created xsi:type="dcterms:W3CDTF">2025-06-03T01:40:26Z</dcterms:created>
  <dcterms:modified xsi:type="dcterms:W3CDTF">2026-02-16T16:23:57Z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0x010100753A00F274449E4D98379C6BF4F2EA6B</vt:lpwstr>
  </property>
  <property fmtid="{D5CDD505-2E9C-101B-9397-08002B2CF9AE}" pid="3" name="MediaServiceImageTags">
    <vt:lpwstr/>
  </property>
</Properties>
</file>