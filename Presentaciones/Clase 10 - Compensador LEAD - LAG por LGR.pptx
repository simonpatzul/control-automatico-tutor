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312" r:id="rId5"/>
    <p:sldId id="313" r:id="rId6"/>
    <p:sldId id="315" r:id="rId7"/>
    <p:sldId id="316" r:id="rId8"/>
    <p:sldId id="317" r:id="rId9"/>
    <p:sldId id="318" r:id="rId10"/>
    <p:sldId id="31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2"/>
    <a:srgbClr val="282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5D23-057B-43C8-B6B2-AB4345A55EE6}" type="datetimeFigureOut">
              <a:rPr lang="es-419" smtClean="0"/>
              <a:t>10/3/2026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7FBC4-7AC6-4C92-8E19-EFEEBBCAC4CF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44039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5F429-2E65-A2A5-646C-47A7DF642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75C68E-E6EF-2642-9242-4CAB37351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F52098-5DEF-125E-910A-298060A6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E8CD5-2075-F0BD-B809-BA1614C33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1BA298-5C58-AEC2-0D5F-65DB93DA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57400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98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3E7E2-A1DA-5A5F-F04C-B31073F0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92BAF2-5DDF-2899-157D-304296D0D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A72D68-96FB-787B-E01E-C31EAEA4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C65A20-9F1B-3567-C602-C2115B97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3BBFD5-4C22-7CCE-A7ED-B48593D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28914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79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3FB27-ED85-696B-8635-BDA9D938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D96C02-F63C-1D5B-1CDF-6234E7AEB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1ED94D-ACD3-DB06-B641-842F9AB7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F9E86B-A5DB-70B9-7672-56BC1BDD2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FDF003-B456-5670-189F-3BE24EE6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71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3919A-FAE6-A557-2DDD-C6C5EEE0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866818-E6E6-BF92-3D8A-88B290EAD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7D1F06-8BE0-2F73-9ABE-21F8392C0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2F93F9-BB7D-2760-5B81-6AE2B0F2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836E06-4439-0922-979B-3F77C3EB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9CD1D3-7606-E3F1-CA8C-7B043A17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959074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26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6BDEC-5854-0421-B33F-BFC527E6C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948E72-1405-EB95-5E2D-C4AC9C080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86E1B1-3ED5-CB2E-3697-F46630D5B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01C4BA-0862-325B-3410-33998F599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44A766-342D-2D6A-F4DC-727725965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09F5FA-8AF5-1C81-AB3D-6C7EAF6D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1DD451-07F2-49BD-BDA4-97A82333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199F36-22A3-529D-71B8-D00DCA50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20368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5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670A2-D11A-70D8-F0B6-4FA0959E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3200BD-4E74-7503-3398-F7F9A0CAC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5C098E-38AB-B050-2115-14138DD4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235B1C-C7B9-706E-BD3D-7D021AF13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63097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D9605C-23A9-A572-387E-CEBFFEB1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97807EB-8D27-8E9D-492A-4EFF4FAD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F77476-549F-30C5-456D-B9E6C557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037460" cy="365125"/>
          </a:xfrm>
        </p:spPr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52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2CB46-E99F-EBEC-8A5A-43AABEFA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7BD16-E023-CF7A-5F9A-AC2033F29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B5672C-D422-4143-80CA-6AB253364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DC03FF-72B3-4B87-E679-533E3372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406800-A976-3EA0-DCD1-35E24B08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90AE15-2D9F-3311-754B-0132AAB7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222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611DA-140E-2B03-934C-5E00A9D5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5D5FAC-155F-20DA-CF9F-0CC96C1D8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pt-B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CBF3A5-368C-CCE9-9A2C-CC3ED1525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69C89B-5CED-0315-C9BF-0428235F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69B6C4-75F9-9DAE-692E-3158FA15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2D8D33-A566-F48B-BFE1-49922964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72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E725B-95EF-BDEF-4518-5FFD3400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7D7347-78FC-FD1F-DAFD-3973100C4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176D8-D56C-E5F9-729F-9B050101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5FA9B6-4686-A276-17D6-C1E28FFB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AEB9AC-A955-635C-F88D-C063542B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73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023F1E-3568-212D-07A2-B9274A14A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80EBAA-B758-7AC7-4E21-14E247EE7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7EA02D-6900-CFFE-7404-446A7AC7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9A4E-3042-4604-968A-12BD889B065C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E1D888-963A-8CFA-282F-FB2B81FF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98526-8CCC-6464-4820-7063F741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04707-BC9A-4795-97CB-BBF4E2115A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04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010D696-A3AB-D0C8-8503-8BEB77EE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pt-B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88058-ABB1-1E1A-C78D-FAB589124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pt-B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E1B763-0134-BCFC-5C8C-0A74E5345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8F8F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B9A9A4E-3042-4604-968A-12BD889B065C}" type="datetimeFigureOut">
              <a:rPr lang="pt-BR" smtClean="0"/>
              <a:pPr/>
              <a:t>10/03/2026</a:t>
            </a:fld>
            <a:endParaRPr lang="pt-B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FFF956-A946-2452-6532-D72FB1886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8F8F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96BEDC-A4E0-4DAD-C68F-D4140EE06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1A04707-BC9A-4795-97CB-BBF4E2115A75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95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/>
          </a:solidFill>
          <a:latin typeface="Calibri" panose="020F0502020204030204" pitchFamily="34" charset="0"/>
          <a:ea typeface="Verdana" panose="020B060403050404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8F8F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SergioACGiraldo" TargetMode="External"/><Relationship Id="rId2" Type="http://schemas.openxmlformats.org/officeDocument/2006/relationships/hyperlink" Target="https://controlautomaticoeducacion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instagram.com/sergioacgiraldo/" TargetMode="External"/><Relationship Id="rId4" Type="http://schemas.openxmlformats.org/officeDocument/2006/relationships/hyperlink" Target="https://br.linkedin.com/in/sergioacgiraldo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3BAD0-79C3-F4E5-B2C0-B947816D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6CE0A-EC86-5035-8188-8B40A4ABF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9589"/>
            <a:ext cx="9144000" cy="2266379"/>
          </a:xfrm>
        </p:spPr>
        <p:txBody>
          <a:bodyPr>
            <a:normAutofit/>
          </a:bodyPr>
          <a:lstStyle/>
          <a:p>
            <a:r>
              <a:rPr lang="es-ES"/>
              <a:t>Compensador LEAD - LAG por LGR</a:t>
            </a:r>
            <a:endParaRPr lang="es-CO" noProof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FADE62-CDC9-93DA-A64B-417B6FD2E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5128" y="4537821"/>
            <a:ext cx="9144000" cy="1773936"/>
          </a:xfrm>
        </p:spPr>
        <p:txBody>
          <a:bodyPr>
            <a:normAutofit/>
          </a:bodyPr>
          <a:lstStyle/>
          <a:p>
            <a:r>
              <a:rPr lang="es-CO"/>
              <a:t>Prof. Sergio Andrés Castaño Giraldo</a:t>
            </a:r>
          </a:p>
          <a:p>
            <a:r>
              <a:rPr lang="es-CO" sz="1500">
                <a:hlinkClick r:id="rId2"/>
              </a:rPr>
              <a:t>https://controlautomaticoeducacion.com/</a:t>
            </a:r>
            <a:r>
              <a:rPr lang="es-CO" sz="1500"/>
              <a:t> </a:t>
            </a:r>
          </a:p>
          <a:p>
            <a:r>
              <a:rPr lang="es-CO" sz="1500">
                <a:hlinkClick r:id="rId3"/>
              </a:rPr>
              <a:t>https://www.youtube.com/@SergioACGiraldo</a:t>
            </a:r>
            <a:r>
              <a:rPr lang="es-CO" sz="1500"/>
              <a:t> </a:t>
            </a:r>
          </a:p>
          <a:p>
            <a:r>
              <a:rPr lang="es-CO" sz="150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https://br.linkedin.com/in/sergioacgiraldo</a:t>
            </a:r>
            <a:r>
              <a:rPr lang="es-CO" sz="1500">
                <a:solidFill>
                  <a:schemeClr val="bg2"/>
                </a:solidFill>
              </a:rPr>
              <a:t> </a:t>
            </a:r>
          </a:p>
          <a:p>
            <a:r>
              <a:rPr lang="es-CO" sz="1500">
                <a:hlinkClick r:id="rId5"/>
              </a:rPr>
              <a:t>https://www.instagram.com/sergioacgiraldo/</a:t>
            </a:r>
            <a:r>
              <a:rPr lang="es-CO" sz="1500"/>
              <a:t> </a:t>
            </a:r>
          </a:p>
          <a:p>
            <a:endParaRPr lang="es-C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82B4A-8505-3006-71F2-3AC40E1574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6560" y="360346"/>
            <a:ext cx="3738880" cy="2103120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B56A13CB-E3B0-358C-E6FD-5F7AE53B33BF}"/>
              </a:ext>
            </a:extLst>
          </p:cNvPr>
          <p:cNvSpPr txBox="1">
            <a:spLocks/>
          </p:cNvSpPr>
          <p:nvPr/>
        </p:nvSpPr>
        <p:spPr>
          <a:xfrm>
            <a:off x="1889760" y="4123944"/>
            <a:ext cx="9144000" cy="64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F8F8F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 sz="32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0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A7DEA-FD20-E4F3-AB5B-8641DEB9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Compensación</a:t>
            </a:r>
            <a:r>
              <a:rPr lang="pt-BR"/>
              <a:t> </a:t>
            </a:r>
            <a:r>
              <a:rPr lang="pt-BR" err="1"/>
              <a:t>en</a:t>
            </a:r>
            <a:r>
              <a:rPr lang="pt-BR"/>
              <a:t> </a:t>
            </a:r>
            <a:r>
              <a:rPr lang="pt-BR" err="1"/>
              <a:t>Adelanto</a:t>
            </a:r>
            <a:r>
              <a:rPr lang="pt-BR"/>
              <a:t> (Lead)</a:t>
            </a:r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9E0392-ABA9-0C3F-9080-B7DF4223E4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049124" cy="4351338"/>
              </a:xfrm>
            </p:spPr>
            <p:txBody>
              <a:bodyPr/>
              <a:lstStyle/>
              <a:p>
                <a:r>
                  <a:rPr lang="es-ES">
                    <a:solidFill>
                      <a:schemeClr val="accent5"/>
                    </a:solidFill>
                  </a:rPr>
                  <a:t>¿Por qué LEAD? </a:t>
                </a:r>
                <a:r>
                  <a:rPr lang="es-ES"/>
                  <a:t>Se usa cuando el sistema es estable pero lento o tiene un transitorio deficiente (mucho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s-ES"/>
                  <a:t> 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"/>
                  <a:t>).</a:t>
                </a:r>
              </a:p>
              <a:p>
                <a:r>
                  <a:rPr lang="es-ES">
                    <a:solidFill>
                      <a:schemeClr val="accent5"/>
                    </a:solidFill>
                  </a:rPr>
                  <a:t>Efecto en el LGR: </a:t>
                </a:r>
                <a:r>
                  <a:rPr lang="es-ES"/>
                  <a:t>El compensador actúa como un "imán" que deforma las ramas del LGR hacia la izquierda del plano s.</a:t>
                </a:r>
                <a:endParaRPr lang="es-CO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9E0392-ABA9-0C3F-9080-B7DF4223E4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049124" cy="4351338"/>
              </a:xfrm>
              <a:blipFill>
                <a:blip r:embed="rId2"/>
                <a:stretch>
                  <a:fillRect l="-1815" t="-2241" r="-3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A1C5320-737B-411A-14B3-FB6FD8B54CEB}"/>
              </a:ext>
            </a:extLst>
          </p:cNvPr>
          <p:cNvGrpSpPr/>
          <p:nvPr/>
        </p:nvGrpSpPr>
        <p:grpSpPr>
          <a:xfrm>
            <a:off x="7974619" y="2621266"/>
            <a:ext cx="3719508" cy="2130552"/>
            <a:chOff x="7763256" y="2423160"/>
            <a:chExt cx="3719508" cy="213055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7659E6-941E-228A-0DFA-E770690CF2C1}"/>
                </a:ext>
              </a:extLst>
            </p:cNvPr>
            <p:cNvCxnSpPr/>
            <p:nvPr/>
          </p:nvCxnSpPr>
          <p:spPr>
            <a:xfrm flipV="1">
              <a:off x="10351008" y="2679192"/>
              <a:ext cx="0" cy="18745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B2C905C-2D55-3E76-80B6-DCF10718B7A7}"/>
                </a:ext>
              </a:extLst>
            </p:cNvPr>
            <p:cNvCxnSpPr>
              <a:cxnSpLocks/>
            </p:cNvCxnSpPr>
            <p:nvPr/>
          </p:nvCxnSpPr>
          <p:spPr>
            <a:xfrm>
              <a:off x="7763256" y="3616452"/>
              <a:ext cx="32735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5CFEB0-C5FC-D6CC-1E44-FF07E4FCE070}"/>
                </a:ext>
              </a:extLst>
            </p:cNvPr>
            <p:cNvSpPr txBox="1"/>
            <p:nvPr/>
          </p:nvSpPr>
          <p:spPr>
            <a:xfrm>
              <a:off x="10351008" y="242316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>
                  <a:solidFill>
                    <a:schemeClr val="bg1"/>
                  </a:solidFill>
                </a:rPr>
                <a:t>Im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2D7FC9-0C57-E3D5-4520-BEB36DDC6619}"/>
                </a:ext>
              </a:extLst>
            </p:cNvPr>
            <p:cNvSpPr txBox="1"/>
            <p:nvPr/>
          </p:nvSpPr>
          <p:spPr>
            <a:xfrm>
              <a:off x="11036808" y="3431786"/>
              <a:ext cx="445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>
                  <a:solidFill>
                    <a:schemeClr val="bg1"/>
                  </a:solidFill>
                </a:rPr>
                <a:t>Re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0F3390-60DF-662E-0812-6732B3683256}"/>
                  </a:ext>
                </a:extLst>
              </p:cNvPr>
              <p:cNvSpPr txBox="1"/>
              <p:nvPr/>
            </p:nvSpPr>
            <p:spPr>
              <a:xfrm>
                <a:off x="8225087" y="2005821"/>
                <a:ext cx="3489481" cy="610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|&lt;|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0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0F3390-60DF-662E-0812-6732B3683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087" y="2005821"/>
                <a:ext cx="3489481" cy="610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A98A98-E7E4-2B54-4930-224266B49054}"/>
                  </a:ext>
                </a:extLst>
              </p:cNvPr>
              <p:cNvSpPr txBox="1"/>
              <p:nvPr/>
            </p:nvSpPr>
            <p:spPr>
              <a:xfrm>
                <a:off x="8691801" y="3986445"/>
                <a:ext cx="5180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A98A98-E7E4-2B54-4930-224266B4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801" y="3986445"/>
                <a:ext cx="518061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A8C256-C66E-9A02-41BF-FBD4A225A6DF}"/>
                  </a:ext>
                </a:extLst>
              </p:cNvPr>
              <p:cNvSpPr txBox="1"/>
              <p:nvPr/>
            </p:nvSpPr>
            <p:spPr>
              <a:xfrm>
                <a:off x="9548962" y="3986445"/>
                <a:ext cx="5180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s-CO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A8C256-C66E-9A02-41BF-FBD4A225A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962" y="3986445"/>
                <a:ext cx="5180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5F0D36-C58D-8420-CB5B-33CEC97F59F5}"/>
                  </a:ext>
                </a:extLst>
              </p:cNvPr>
              <p:cNvSpPr txBox="1"/>
              <p:nvPr/>
            </p:nvSpPr>
            <p:spPr>
              <a:xfrm>
                <a:off x="9133000" y="2526970"/>
                <a:ext cx="5180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CO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65F0D36-C58D-8420-CB5B-33CEC97F5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000" y="2526970"/>
                <a:ext cx="51806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7986AA-9709-4468-23F1-B947C8C6D7EB}"/>
              </a:ext>
            </a:extLst>
          </p:cNvPr>
          <p:cNvCxnSpPr/>
          <p:nvPr/>
        </p:nvCxnSpPr>
        <p:spPr>
          <a:xfrm flipV="1">
            <a:off x="8950831" y="2877298"/>
            <a:ext cx="441199" cy="937259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2CD3FB-1951-CCF6-4F0B-A5949EBB6024}"/>
              </a:ext>
            </a:extLst>
          </p:cNvPr>
          <p:cNvCxnSpPr>
            <a:cxnSpLocks/>
          </p:cNvCxnSpPr>
          <p:nvPr/>
        </p:nvCxnSpPr>
        <p:spPr>
          <a:xfrm flipH="1" flipV="1">
            <a:off x="9376505" y="2875477"/>
            <a:ext cx="456725" cy="9390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6A871473-1117-952F-1A8A-ACEC5F3A860B}"/>
              </a:ext>
            </a:extLst>
          </p:cNvPr>
          <p:cNvSpPr/>
          <p:nvPr/>
        </p:nvSpPr>
        <p:spPr>
          <a:xfrm>
            <a:off x="8834544" y="3629892"/>
            <a:ext cx="363961" cy="363961"/>
          </a:xfrm>
          <a:prstGeom prst="arc">
            <a:avLst>
              <a:gd name="adj1" fmla="val 14886052"/>
              <a:gd name="adj2" fmla="val 215921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E377FBBC-73BA-07EE-25F8-64EFB096D39D}"/>
              </a:ext>
            </a:extLst>
          </p:cNvPr>
          <p:cNvSpPr/>
          <p:nvPr/>
        </p:nvSpPr>
        <p:spPr>
          <a:xfrm>
            <a:off x="8768665" y="3634889"/>
            <a:ext cx="364335" cy="36433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ircle: Hollow 17">
            <a:extLst>
              <a:ext uri="{FF2B5EF4-FFF2-40B4-BE49-F238E27FC236}">
                <a16:creationId xmlns:a16="http://schemas.microsoft.com/office/drawing/2014/main" id="{7E55B2D5-54AC-D3CA-90C5-5CEE52F0063C}"/>
              </a:ext>
            </a:extLst>
          </p:cNvPr>
          <p:cNvSpPr/>
          <p:nvPr/>
        </p:nvSpPr>
        <p:spPr>
          <a:xfrm>
            <a:off x="9704505" y="3684690"/>
            <a:ext cx="259735" cy="259735"/>
          </a:xfrm>
          <a:prstGeom prst="don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3FEBFC-E422-0560-1CB8-FF2AECF05EF3}"/>
                  </a:ext>
                </a:extLst>
              </p:cNvPr>
              <p:cNvSpPr txBox="1"/>
              <p:nvPr/>
            </p:nvSpPr>
            <p:spPr>
              <a:xfrm>
                <a:off x="9144361" y="3400065"/>
                <a:ext cx="3077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sz="20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3FEBFC-E422-0560-1CB8-FF2AECF05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361" y="3400065"/>
                <a:ext cx="307777" cy="307777"/>
              </a:xfrm>
              <a:prstGeom prst="rect">
                <a:avLst/>
              </a:prstGeom>
              <a:blipFill>
                <a:blip r:embed="rId7"/>
                <a:stretch>
                  <a:fillRect l="-21569" r="-5882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c 19">
            <a:extLst>
              <a:ext uri="{FF2B5EF4-FFF2-40B4-BE49-F238E27FC236}">
                <a16:creationId xmlns:a16="http://schemas.microsoft.com/office/drawing/2014/main" id="{74048A6C-CA89-592E-2274-47DD3F452B37}"/>
              </a:ext>
            </a:extLst>
          </p:cNvPr>
          <p:cNvSpPr/>
          <p:nvPr/>
        </p:nvSpPr>
        <p:spPr>
          <a:xfrm>
            <a:off x="9690789" y="3590591"/>
            <a:ext cx="363961" cy="363961"/>
          </a:xfrm>
          <a:prstGeom prst="arc">
            <a:avLst>
              <a:gd name="adj1" fmla="val 13408338"/>
              <a:gd name="adj2" fmla="val 215921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25F3E-2E5D-EF15-9563-796E9076DEF3}"/>
                  </a:ext>
                </a:extLst>
              </p:cNvPr>
              <p:cNvSpPr txBox="1"/>
              <p:nvPr/>
            </p:nvSpPr>
            <p:spPr>
              <a:xfrm>
                <a:off x="10000606" y="3360764"/>
                <a:ext cx="3018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sz="20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925F3E-2E5D-EF15-9563-796E9076D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606" y="3360764"/>
                <a:ext cx="301814" cy="307777"/>
              </a:xfrm>
              <a:prstGeom prst="rect">
                <a:avLst/>
              </a:prstGeom>
              <a:blipFill>
                <a:blip r:embed="rId8"/>
                <a:stretch>
                  <a:fillRect l="-20408" r="-10204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2FA2BEC-5FBB-4C70-C732-10F54828BFB6}"/>
                  </a:ext>
                </a:extLst>
              </p:cNvPr>
              <p:cNvSpPr txBox="1"/>
              <p:nvPr/>
            </p:nvSpPr>
            <p:spPr>
              <a:xfrm>
                <a:off x="9072714" y="4573555"/>
                <a:ext cx="89152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sz="20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2FA2BEC-5FBB-4C70-C732-10F54828B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714" y="4573555"/>
                <a:ext cx="891526" cy="307777"/>
              </a:xfrm>
              <a:prstGeom prst="rect">
                <a:avLst/>
              </a:prstGeom>
              <a:blipFill>
                <a:blip r:embed="rId9"/>
                <a:stretch>
                  <a:fillRect l="-6803" r="-2041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17FE3B93-A91B-E683-E8DF-DB036E0D4778}"/>
              </a:ext>
            </a:extLst>
          </p:cNvPr>
          <p:cNvSpPr txBox="1"/>
          <p:nvPr/>
        </p:nvSpPr>
        <p:spPr>
          <a:xfrm>
            <a:off x="9977274" y="4690751"/>
            <a:ext cx="1611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>
                <a:solidFill>
                  <a:schemeClr val="accent6"/>
                </a:solidFill>
                <a:latin typeface="Blackadder ITC" panose="04020505051007020D02" pitchFamily="82" charset="0"/>
              </a:rPr>
              <a:t>Fase positiva!</a:t>
            </a:r>
          </a:p>
        </p:txBody>
      </p:sp>
    </p:spTree>
    <p:extLst>
      <p:ext uri="{BB962C8B-B14F-4D97-AF65-F5344CB8AC3E}">
        <p14:creationId xmlns:p14="http://schemas.microsoft.com/office/powerpoint/2010/main" val="300557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6" grpId="0" animBg="1"/>
      <p:bldP spid="17" grpId="0" animBg="1"/>
      <p:bldP spid="18" grpId="0" animBg="1"/>
      <p:bldP spid="19" grpId="0"/>
      <p:bldP spid="20" grpId="0" animBg="1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0B39B-DD5F-9765-F09A-8B60CAB3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8ED8-ED81-2A8C-C747-6ACEB73EA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Procedimiento de Diseño (Paso a Paso)</a:t>
            </a:r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7328F-473C-428A-3358-0482D4A44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1646" y="1615767"/>
                <a:ext cx="10502153" cy="474135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ES"/>
                  <a:t>Determinar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/>
                  <a:t>: A partir de criterios de diseño deseados, calcular el punto de los polos dominantes: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E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s-E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s-ES" i="1" dirty="0" err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s-E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es-E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s-E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s-E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s-ES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es-ES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>
                    <a:solidFill>
                      <a:schemeClr val="accent1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"/>
                  <a:t>Calcular la deficiencia de ángulo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𝑛𝑒𝑐</m:t>
                        </m:r>
                      </m:sub>
                    </m:sSub>
                  </m:oMath>
                </a14:m>
                <a:r>
                  <a:rPr lang="es-ES"/>
                  <a:t>): Evaluar el ángulo de la planta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/>
                  <a:t>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/>
                  <a:t>. Lo que falte para llegar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s-E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/>
                  <a:t>es lo que debe poner el LEAD.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"/>
                  <a:t>Ubicación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s-ES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s-ES"/>
                  <a:t>: Usar métodos geométricos (Bisectriz o cancelación de polo lento) para repartir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s-ES" i="1" dirty="0" err="1">
                            <a:latin typeface="Cambria Math" panose="02040503050406030204" pitchFamily="18" charset="0"/>
                          </a:rPr>
                          <m:t>𝑛𝑒𝑐</m:t>
                        </m:r>
                      </m:sub>
                    </m:sSub>
                    <m:r>
                      <a:rPr lang="es-ES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"/>
                  <a:t>Calcular la Ganancia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ES"/>
                  <a:t>: Usar la condición de magnitud 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/>
                  <a:t>.</a:t>
                </a:r>
                <a:endParaRPr lang="es-CO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17328F-473C-428A-3358-0482D4A44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1646" y="1615767"/>
                <a:ext cx="10502153" cy="4741355"/>
              </a:xfrm>
              <a:blipFill>
                <a:blip r:embed="rId2"/>
                <a:stretch>
                  <a:fillRect l="-1220" t="-2314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1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50DB-930F-F9AA-5974-43DDDB54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0"/>
            <a:ext cx="2343912" cy="1325563"/>
          </a:xfrm>
        </p:spPr>
        <p:txBody>
          <a:bodyPr/>
          <a:lstStyle/>
          <a:p>
            <a:r>
              <a:rPr lang="es-CO"/>
              <a:t>Ejemplo</a:t>
            </a:r>
          </a:p>
        </p:txBody>
      </p:sp>
      <p:sp>
        <p:nvSpPr>
          <p:cNvPr id="4" name="Flowchart: Summing Junction 3">
            <a:extLst>
              <a:ext uri="{FF2B5EF4-FFF2-40B4-BE49-F238E27FC236}">
                <a16:creationId xmlns:a16="http://schemas.microsoft.com/office/drawing/2014/main" id="{CC8CE749-7150-AC1F-1E50-22F347EE8C16}"/>
              </a:ext>
            </a:extLst>
          </p:cNvPr>
          <p:cNvSpPr/>
          <p:nvPr/>
        </p:nvSpPr>
        <p:spPr>
          <a:xfrm>
            <a:off x="2114430" y="1936720"/>
            <a:ext cx="715297" cy="715297"/>
          </a:xfrm>
          <a:prstGeom prst="flowChartSummingJuncti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F8F8F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8403B2E-0845-573B-97F5-026EB5DCE2F6}"/>
                  </a:ext>
                </a:extLst>
              </p:cNvPr>
              <p:cNvSpPr/>
              <p:nvPr/>
            </p:nvSpPr>
            <p:spPr>
              <a:xfrm>
                <a:off x="6740296" y="1792286"/>
                <a:ext cx="1882495" cy="100289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0.1</m:t>
                          </m:r>
                        </m:num>
                        <m:den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+1)(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+0.5)</m:t>
                          </m:r>
                        </m:den>
                      </m:f>
                    </m:oMath>
                  </m:oMathPara>
                </a14:m>
                <a:endParaRPr kumimoji="0" lang="es-CO" sz="2800" b="0" i="0" u="none" strike="noStrike" kern="1200" cap="none" spc="0" normalizeH="0" baseline="0" noProof="0">
                  <a:ln>
                    <a:noFill/>
                  </a:ln>
                  <a:solidFill>
                    <a:srgbClr val="282A3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68403B2E-0845-573B-97F5-026EB5DCE2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296" y="1792286"/>
                <a:ext cx="1882495" cy="100289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8B562FE-A03D-1FD0-2936-C93D0008E0A6}"/>
              </a:ext>
            </a:extLst>
          </p:cNvPr>
          <p:cNvCxnSpPr>
            <a:cxnSpLocks/>
            <a:stCxn id="4" idx="6"/>
            <a:endCxn id="18" idx="1"/>
          </p:cNvCxnSpPr>
          <p:nvPr/>
        </p:nvCxnSpPr>
        <p:spPr>
          <a:xfrm flipV="1">
            <a:off x="2829727" y="2294367"/>
            <a:ext cx="1166705" cy="2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804EE04-7BC6-1E5D-B421-CA4BE7BC3F31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8622791" y="2273984"/>
            <a:ext cx="1365790" cy="19747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33">
            <a:extLst>
              <a:ext uri="{FF2B5EF4-FFF2-40B4-BE49-F238E27FC236}">
                <a16:creationId xmlns:a16="http://schemas.microsoft.com/office/drawing/2014/main" id="{9297950B-BE47-7C38-8295-FDDDBE552818}"/>
              </a:ext>
            </a:extLst>
          </p:cNvPr>
          <p:cNvCxnSpPr>
            <a:cxnSpLocks/>
            <a:stCxn id="5" idx="3"/>
            <a:endCxn id="13" idx="2"/>
          </p:cNvCxnSpPr>
          <p:nvPr/>
        </p:nvCxnSpPr>
        <p:spPr>
          <a:xfrm flipH="1">
            <a:off x="2472078" y="2293731"/>
            <a:ext cx="6150713" cy="436686"/>
          </a:xfrm>
          <a:prstGeom prst="bentConnector4">
            <a:avLst>
              <a:gd name="adj1" fmla="val -3717"/>
              <a:gd name="adj2" fmla="val 211151"/>
            </a:avLst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00671F-947F-F682-0AF9-81AD8F30F7F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160705" y="2294367"/>
            <a:ext cx="894345" cy="3098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576E35-534A-7D9C-9ABA-FA7102763116}"/>
                  </a:ext>
                </a:extLst>
              </p:cNvPr>
              <p:cNvSpPr txBox="1"/>
              <p:nvPr/>
            </p:nvSpPr>
            <p:spPr>
              <a:xfrm>
                <a:off x="2770347" y="1601052"/>
                <a:ext cx="106188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𝑒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3200" b="0" i="0" u="none" strike="noStrike" kern="1200" cap="none" spc="0" normalizeH="0" baseline="0" noProof="0">
                  <a:ln>
                    <a:noFill/>
                  </a:ln>
                  <a:solidFill>
                    <a:srgbClr val="F8F8F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576E35-534A-7D9C-9ABA-FA7102763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347" y="1601052"/>
                <a:ext cx="106188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BAA6AD-355E-5D8E-491B-26252BD2788E}"/>
                  </a:ext>
                </a:extLst>
              </p:cNvPr>
              <p:cNvSpPr txBox="1"/>
              <p:nvPr/>
            </p:nvSpPr>
            <p:spPr>
              <a:xfrm>
                <a:off x="8712403" y="1620192"/>
                <a:ext cx="106188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3200" b="0" i="0" u="none" strike="noStrike" kern="1200" cap="none" spc="0" normalizeH="0" baseline="0" noProof="0">
                  <a:ln>
                    <a:noFill/>
                  </a:ln>
                  <a:solidFill>
                    <a:srgbClr val="F8F8F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BAA6AD-355E-5D8E-491B-26252BD27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403" y="1620192"/>
                <a:ext cx="106188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BF3358-03B0-DDB1-0C5D-8C3AAB4240A2}"/>
                  </a:ext>
                </a:extLst>
              </p:cNvPr>
              <p:cNvSpPr txBox="1"/>
              <p:nvPr/>
            </p:nvSpPr>
            <p:spPr>
              <a:xfrm>
                <a:off x="2055050" y="2097410"/>
                <a:ext cx="4902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82A3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s-CO" sz="2000" b="1" i="0" u="none" strike="noStrike" kern="1200" cap="none" spc="0" normalizeH="0" baseline="0" noProof="0">
                  <a:ln>
                    <a:noFill/>
                  </a:ln>
                  <a:solidFill>
                    <a:srgbClr val="282A3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7BF3358-03B0-DDB1-0C5D-8C3AAB424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050" y="2097410"/>
                <a:ext cx="49022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188604-72FD-A5AB-EC6B-9E82FBB26D3D}"/>
                  </a:ext>
                </a:extLst>
              </p:cNvPr>
              <p:cNvSpPr txBox="1"/>
              <p:nvPr/>
            </p:nvSpPr>
            <p:spPr>
              <a:xfrm>
                <a:off x="2226964" y="2330307"/>
                <a:ext cx="4902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82A3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s-CO" sz="2000" b="1" i="0" u="none" strike="noStrike" kern="1200" cap="none" spc="0" normalizeH="0" baseline="0" noProof="0">
                  <a:ln>
                    <a:noFill/>
                  </a:ln>
                  <a:solidFill>
                    <a:srgbClr val="282A3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188604-72FD-A5AB-EC6B-9E82FBB26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964" y="2330307"/>
                <a:ext cx="49022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8D1650-DAF8-0EAC-D86A-8837EBB79E53}"/>
                  </a:ext>
                </a:extLst>
              </p:cNvPr>
              <p:cNvSpPr txBox="1"/>
              <p:nvPr/>
            </p:nvSpPr>
            <p:spPr>
              <a:xfrm>
                <a:off x="889320" y="1611113"/>
                <a:ext cx="106188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3200" b="0" i="0" u="none" strike="noStrike" kern="1200" cap="none" spc="0" normalizeH="0" baseline="0" noProof="0">
                  <a:ln>
                    <a:noFill/>
                  </a:ln>
                  <a:solidFill>
                    <a:srgbClr val="F8F8F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8D1650-DAF8-0EAC-D86A-8837EBB79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320" y="1611113"/>
                <a:ext cx="1061884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7B600C2-AE85-9424-3FA2-05D508EBC208}"/>
                  </a:ext>
                </a:extLst>
              </p:cNvPr>
              <p:cNvSpPr/>
              <p:nvPr/>
            </p:nvSpPr>
            <p:spPr>
              <a:xfrm>
                <a:off x="3996432" y="1792922"/>
                <a:ext cx="1757812" cy="100289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𝐾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f>
                        <m:f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num>
                        <m:den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kumimoji="0" lang="es-CO" sz="2800" b="0" i="0" u="none" strike="noStrike" kern="1200" cap="none" spc="0" normalizeH="0" baseline="0" noProof="0">
                  <a:ln>
                    <a:noFill/>
                  </a:ln>
                  <a:solidFill>
                    <a:srgbClr val="282A3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7B600C2-AE85-9424-3FA2-05D508EBC2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432" y="1792922"/>
                <a:ext cx="1757812" cy="100289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2CAAD3-260E-55E5-D49C-AF3E2C398F6D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 flipV="1">
            <a:off x="5754244" y="2293731"/>
            <a:ext cx="986052" cy="636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AFE86B-A28A-C1CF-8C4A-2F60ABBCEC9C}"/>
                  </a:ext>
                </a:extLst>
              </p:cNvPr>
              <p:cNvSpPr txBox="1"/>
              <p:nvPr/>
            </p:nvSpPr>
            <p:spPr>
              <a:xfrm>
                <a:off x="5787886" y="1638956"/>
                <a:ext cx="106188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3200" b="0" i="0" u="none" strike="noStrike" kern="1200" cap="none" spc="0" normalizeH="0" baseline="0" noProof="0">
                  <a:ln>
                    <a:noFill/>
                  </a:ln>
                  <a:solidFill>
                    <a:srgbClr val="F8F8F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6AFE86B-A28A-C1CF-8C4A-2F60ABBCE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886" y="1638956"/>
                <a:ext cx="1061884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8541400D-1CF4-EBBB-D3BC-52CDAA85A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1646" y="3567023"/>
                <a:ext cx="10502153" cy="27900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>
                    <a:solidFill>
                      <a:schemeClr val="accent1"/>
                    </a:solidFill>
                  </a:rPr>
                  <a:t>Especificaciones</a:t>
                </a:r>
                <a:r>
                  <a:rPr lang="es-CO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𝑝𝑜𝑠𝑖𝑐𝑖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ó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endParaRPr lang="es-CO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≤10%</m:t>
                    </m:r>
                  </m:oMath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𝑠𝑒𝑔</m:t>
                    </m:r>
                  </m:oMath>
                </a14:m>
                <a:endParaRPr lang="en-US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AR" noProof="0">
                    <a:ea typeface="Cambria Math" panose="02040503050406030204" pitchFamily="18" charset="0"/>
                  </a:rPr>
                  <a:t>Verifique que un controlador </a:t>
                </a:r>
                <a14:m>
                  <m:oMath xmlns:m="http://schemas.openxmlformats.org/officeDocument/2006/math">
                    <m:r>
                      <a:rPr lang="es-AR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AR" noProof="0">
                    <a:ea typeface="Cambria Math" panose="02040503050406030204" pitchFamily="18" charset="0"/>
                  </a:rPr>
                  <a:t> no es suficiente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CO" noProof="0">
                    <a:ea typeface="Cambria Math" panose="02040503050406030204" pitchFamily="18" charset="0"/>
                  </a:rPr>
                  <a:t>Calcule el Controlador por Avance que cumpla las especificaciones.</a:t>
                </a:r>
              </a:p>
              <a:p>
                <a:endParaRPr lang="es-CO"/>
              </a:p>
            </p:txBody>
          </p:sp>
        </mc:Choice>
        <mc:Fallback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8541400D-1CF4-EBBB-D3BC-52CDAA85A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1646" y="3567023"/>
                <a:ext cx="10502153" cy="2790099"/>
              </a:xfrm>
              <a:blipFill>
                <a:blip r:embed="rId10"/>
                <a:stretch>
                  <a:fillRect l="-1220" t="-3493" b="-3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21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471D-6330-8A85-5414-A6CCD5D8F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205F-D2C2-1FBC-62CF-A6FAFB8A2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Compensación</a:t>
            </a:r>
            <a:r>
              <a:rPr lang="pt-BR"/>
              <a:t> </a:t>
            </a:r>
            <a:r>
              <a:rPr lang="pt-BR" err="1"/>
              <a:t>en</a:t>
            </a:r>
            <a:r>
              <a:rPr lang="pt-BR"/>
              <a:t> Atraso (</a:t>
            </a:r>
            <a:r>
              <a:rPr lang="pt-BR" err="1"/>
              <a:t>Lag</a:t>
            </a:r>
            <a:r>
              <a:rPr lang="pt-BR"/>
              <a:t>)</a:t>
            </a:r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86908-91D3-BE50-D7C5-D21F259D90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1412"/>
                <a:ext cx="6049124" cy="477938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s-ES">
                    <a:solidFill>
                      <a:schemeClr val="accent5"/>
                    </a:solidFill>
                  </a:rPr>
                  <a:t>¿Por qué LAG? </a:t>
                </a:r>
                <a:r>
                  <a:rPr lang="es-ES"/>
                  <a:t>e utiliza cuando el sistema ya tiene un transitorio aceptable pero el error en estado estacionario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es-ES"/>
                  <a:t>) no cumple las especificaciones.</a:t>
                </a:r>
              </a:p>
              <a:p>
                <a:r>
                  <a:rPr lang="es-ES">
                    <a:solidFill>
                      <a:schemeClr val="accent5"/>
                    </a:solidFill>
                  </a:rPr>
                  <a:t>Efecto en el LGR: </a:t>
                </a:r>
                <a:r>
                  <a:rPr lang="es-ES"/>
                  <a:t>A diferencia del LEAD que actúa como imán, el LAG busca pasar </a:t>
                </a:r>
                <a:r>
                  <a:rPr lang="es-ES">
                    <a:solidFill>
                      <a:schemeClr val="accent1"/>
                    </a:solidFill>
                  </a:rPr>
                  <a:t>"desapercibido"</a:t>
                </a:r>
                <a:r>
                  <a:rPr lang="es-ES"/>
                  <a:t> para los polos dominantes. Se ubica muy cerca del origen para no deformar significativamente las ramas del LGR ya calculadas.</a:t>
                </a:r>
                <a:endParaRPr lang="es-CO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86908-91D3-BE50-D7C5-D21F259D90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1412"/>
                <a:ext cx="6049124" cy="4779386"/>
              </a:xfrm>
              <a:blipFill>
                <a:blip r:embed="rId2"/>
                <a:stretch>
                  <a:fillRect l="-1815" t="-2934" r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D74B1E9-FB0E-5747-FA00-2B75D0E72655}"/>
              </a:ext>
            </a:extLst>
          </p:cNvPr>
          <p:cNvGrpSpPr/>
          <p:nvPr/>
        </p:nvGrpSpPr>
        <p:grpSpPr>
          <a:xfrm>
            <a:off x="7714345" y="2943003"/>
            <a:ext cx="3719508" cy="2130552"/>
            <a:chOff x="7763256" y="2423160"/>
            <a:chExt cx="3719508" cy="2130552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E0E0E78-21FB-1E87-EE3F-8BF0618B039B}"/>
                </a:ext>
              </a:extLst>
            </p:cNvPr>
            <p:cNvCxnSpPr/>
            <p:nvPr/>
          </p:nvCxnSpPr>
          <p:spPr>
            <a:xfrm flipV="1">
              <a:off x="10351008" y="2679192"/>
              <a:ext cx="0" cy="18745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0E40FB0-F81C-FF5C-74E7-4F30582ED4E2}"/>
                </a:ext>
              </a:extLst>
            </p:cNvPr>
            <p:cNvCxnSpPr>
              <a:cxnSpLocks/>
            </p:cNvCxnSpPr>
            <p:nvPr/>
          </p:nvCxnSpPr>
          <p:spPr>
            <a:xfrm>
              <a:off x="7763256" y="3616452"/>
              <a:ext cx="32735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8AE122C-B806-4E3A-6344-56D6AA3CF44F}"/>
                </a:ext>
              </a:extLst>
            </p:cNvPr>
            <p:cNvSpPr txBox="1"/>
            <p:nvPr/>
          </p:nvSpPr>
          <p:spPr>
            <a:xfrm>
              <a:off x="10351008" y="242316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>
                  <a:solidFill>
                    <a:schemeClr val="bg1"/>
                  </a:solidFill>
                </a:rPr>
                <a:t>Im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E1C2B01-3800-3D1A-3FD4-A3F350471EF1}"/>
                </a:ext>
              </a:extLst>
            </p:cNvPr>
            <p:cNvSpPr txBox="1"/>
            <p:nvPr/>
          </p:nvSpPr>
          <p:spPr>
            <a:xfrm>
              <a:off x="11036808" y="3431786"/>
              <a:ext cx="445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>
                  <a:solidFill>
                    <a:schemeClr val="bg1"/>
                  </a:solidFill>
                </a:rPr>
                <a:t>Re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5D755C-06B6-C553-FE5B-25A055C40C12}"/>
                  </a:ext>
                </a:extLst>
              </p:cNvPr>
              <p:cNvSpPr txBox="1"/>
              <p:nvPr/>
            </p:nvSpPr>
            <p:spPr>
              <a:xfrm>
                <a:off x="7964813" y="2327558"/>
                <a:ext cx="3545586" cy="610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 |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|&gt;|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 </m:t>
                      </m:r>
                    </m:oMath>
                  </m:oMathPara>
                </a14:m>
                <a:endParaRPr lang="es-CO" sz="20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5D755C-06B6-C553-FE5B-25A055C40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813" y="2327558"/>
                <a:ext cx="3545586" cy="6108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4456229-45E6-540B-C5E7-A602F44E48C9}"/>
                  </a:ext>
                </a:extLst>
              </p:cNvPr>
              <p:cNvSpPr txBox="1"/>
              <p:nvPr/>
            </p:nvSpPr>
            <p:spPr>
              <a:xfrm>
                <a:off x="9325546" y="4298155"/>
                <a:ext cx="5180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s-CO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4456229-45E6-540B-C5E7-A602F44E4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5546" y="4298155"/>
                <a:ext cx="518061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A2C2D0-FECA-2174-5644-F2BC3BDF3AE0}"/>
                  </a:ext>
                </a:extLst>
              </p:cNvPr>
              <p:cNvSpPr txBox="1"/>
              <p:nvPr/>
            </p:nvSpPr>
            <p:spPr>
              <a:xfrm>
                <a:off x="8402592" y="4308181"/>
                <a:ext cx="5180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s-CO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A2C2D0-FECA-2174-5644-F2BC3BDF3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592" y="4308181"/>
                <a:ext cx="5180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600F0F-6B15-59A2-2AC6-AF2EDFC590BC}"/>
                  </a:ext>
                </a:extLst>
              </p:cNvPr>
              <p:cNvSpPr txBox="1"/>
              <p:nvPr/>
            </p:nvSpPr>
            <p:spPr>
              <a:xfrm>
                <a:off x="8872726" y="2848707"/>
                <a:ext cx="5180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CO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E600F0F-6B15-59A2-2AC6-AF2EDFC59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2726" y="2848707"/>
                <a:ext cx="51806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AB76D09-AF3F-6744-DFF8-067D06E20531}"/>
              </a:ext>
            </a:extLst>
          </p:cNvPr>
          <p:cNvCxnSpPr/>
          <p:nvPr/>
        </p:nvCxnSpPr>
        <p:spPr>
          <a:xfrm flipV="1">
            <a:off x="8690557" y="3199035"/>
            <a:ext cx="441199" cy="937259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6AF2262-7C7D-4580-76AF-5FDD3836DC73}"/>
              </a:ext>
            </a:extLst>
          </p:cNvPr>
          <p:cNvCxnSpPr>
            <a:cxnSpLocks/>
          </p:cNvCxnSpPr>
          <p:nvPr/>
        </p:nvCxnSpPr>
        <p:spPr>
          <a:xfrm flipH="1" flipV="1">
            <a:off x="9116231" y="3197214"/>
            <a:ext cx="456725" cy="9390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6B256EC2-8E2F-FF35-FEE7-302713B9995C}"/>
              </a:ext>
            </a:extLst>
          </p:cNvPr>
          <p:cNvSpPr/>
          <p:nvPr/>
        </p:nvSpPr>
        <p:spPr>
          <a:xfrm>
            <a:off x="8574270" y="3951629"/>
            <a:ext cx="363961" cy="363961"/>
          </a:xfrm>
          <a:prstGeom prst="arc">
            <a:avLst>
              <a:gd name="adj1" fmla="val 14886052"/>
              <a:gd name="adj2" fmla="val 215921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Multiplication Sign 34">
            <a:extLst>
              <a:ext uri="{FF2B5EF4-FFF2-40B4-BE49-F238E27FC236}">
                <a16:creationId xmlns:a16="http://schemas.microsoft.com/office/drawing/2014/main" id="{7959A55A-C3E7-38F2-B122-041F133E1095}"/>
              </a:ext>
            </a:extLst>
          </p:cNvPr>
          <p:cNvSpPr/>
          <p:nvPr/>
        </p:nvSpPr>
        <p:spPr>
          <a:xfrm>
            <a:off x="9402410" y="3946599"/>
            <a:ext cx="364335" cy="36433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Circle: Hollow 35">
            <a:extLst>
              <a:ext uri="{FF2B5EF4-FFF2-40B4-BE49-F238E27FC236}">
                <a16:creationId xmlns:a16="http://schemas.microsoft.com/office/drawing/2014/main" id="{1BF40FA1-3DB0-CCF5-3A91-8F336FCECF3A}"/>
              </a:ext>
            </a:extLst>
          </p:cNvPr>
          <p:cNvSpPr/>
          <p:nvPr/>
        </p:nvSpPr>
        <p:spPr>
          <a:xfrm>
            <a:off x="8558135" y="4006426"/>
            <a:ext cx="259735" cy="259735"/>
          </a:xfrm>
          <a:prstGeom prst="don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10C0D00-24A8-B19D-630F-02BCA56C9070}"/>
                  </a:ext>
                </a:extLst>
              </p:cNvPr>
              <p:cNvSpPr txBox="1"/>
              <p:nvPr/>
            </p:nvSpPr>
            <p:spPr>
              <a:xfrm>
                <a:off x="8884087" y="3721802"/>
                <a:ext cx="3077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sz="20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10C0D00-24A8-B19D-630F-02BCA56C9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4087" y="3721802"/>
                <a:ext cx="307777" cy="307777"/>
              </a:xfrm>
              <a:prstGeom prst="rect">
                <a:avLst/>
              </a:prstGeom>
              <a:blipFill>
                <a:blip r:embed="rId7"/>
                <a:stretch>
                  <a:fillRect l="-21569" r="-5882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>
            <a:extLst>
              <a:ext uri="{FF2B5EF4-FFF2-40B4-BE49-F238E27FC236}">
                <a16:creationId xmlns:a16="http://schemas.microsoft.com/office/drawing/2014/main" id="{C8FB3DB8-46FF-7140-FCB3-83D603330B6C}"/>
              </a:ext>
            </a:extLst>
          </p:cNvPr>
          <p:cNvSpPr/>
          <p:nvPr/>
        </p:nvSpPr>
        <p:spPr>
          <a:xfrm>
            <a:off x="9430515" y="3912328"/>
            <a:ext cx="363961" cy="363961"/>
          </a:xfrm>
          <a:prstGeom prst="arc">
            <a:avLst>
              <a:gd name="adj1" fmla="val 13408338"/>
              <a:gd name="adj2" fmla="val 215921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F092E9-5791-8135-C804-BA7B8067A956}"/>
                  </a:ext>
                </a:extLst>
              </p:cNvPr>
              <p:cNvSpPr txBox="1"/>
              <p:nvPr/>
            </p:nvSpPr>
            <p:spPr>
              <a:xfrm>
                <a:off x="9740332" y="3682501"/>
                <a:ext cx="3018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sz="20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2F092E9-5791-8135-C804-BA7B8067A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332" y="3682501"/>
                <a:ext cx="301814" cy="307777"/>
              </a:xfrm>
              <a:prstGeom prst="rect">
                <a:avLst/>
              </a:prstGeom>
              <a:blipFill>
                <a:blip r:embed="rId8"/>
                <a:stretch>
                  <a:fillRect l="-20408" r="-10204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367436-020A-CE3A-4BFB-63144D76682D}"/>
                  </a:ext>
                </a:extLst>
              </p:cNvPr>
              <p:cNvSpPr txBox="1"/>
              <p:nvPr/>
            </p:nvSpPr>
            <p:spPr>
              <a:xfrm>
                <a:off x="8812440" y="4895292"/>
                <a:ext cx="89152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sz="200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367436-020A-CE3A-4BFB-63144D766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440" y="4895292"/>
                <a:ext cx="891526" cy="307777"/>
              </a:xfrm>
              <a:prstGeom prst="rect">
                <a:avLst/>
              </a:prstGeom>
              <a:blipFill>
                <a:blip r:embed="rId9"/>
                <a:stretch>
                  <a:fillRect l="-6849" r="-2740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1360A80C-CB93-D58E-BD53-805541D1F163}"/>
              </a:ext>
            </a:extLst>
          </p:cNvPr>
          <p:cNvSpPr txBox="1"/>
          <p:nvPr/>
        </p:nvSpPr>
        <p:spPr>
          <a:xfrm>
            <a:off x="9717000" y="5012488"/>
            <a:ext cx="164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>
                <a:solidFill>
                  <a:schemeClr val="accent6"/>
                </a:solidFill>
                <a:latin typeface="Blackadder ITC" panose="04020505051007020D02" pitchFamily="82" charset="0"/>
              </a:rPr>
              <a:t>Fase negativa!</a:t>
            </a:r>
          </a:p>
        </p:txBody>
      </p:sp>
    </p:spTree>
    <p:extLst>
      <p:ext uri="{BB962C8B-B14F-4D97-AF65-F5344CB8AC3E}">
        <p14:creationId xmlns:p14="http://schemas.microsoft.com/office/powerpoint/2010/main" val="119793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4" grpId="0" animBg="1"/>
      <p:bldP spid="35" grpId="0" animBg="1"/>
      <p:bldP spid="36" grpId="0" animBg="1"/>
      <p:bldP spid="37" grpId="0"/>
      <p:bldP spid="38" grpId="0" animBg="1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54A85-FDEA-D529-2031-684DE078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CBB25-43A8-6872-34FA-286A811F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Procedimiento de Diseño (Paso a Paso)</a:t>
            </a:r>
            <a:endParaRPr lang="es-CO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5F3CF2-8A92-205F-35BB-1126D94EA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1646" y="1615767"/>
                <a:ext cx="10502153" cy="474135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ES"/>
                  <a:t>Evaluar el error actual: Calcular la constante de error con el compensador LEAD ya diseñado</a:t>
                </a:r>
                <a:r>
                  <a:rPr lang="es-ES">
                    <a:solidFill>
                      <a:schemeClr val="accent1"/>
                    </a:solidFill>
                  </a:rPr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"/>
                  <a:t>Calcular el factor de mejora: Determinar cuánto aumento de ganancia necesitamos para cumplir la especificación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"/>
                  <a:t>Ubicación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s-ES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s-ES"/>
                  <a:t>: Seleccionar un cero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s-ES"/>
                  <a:t> muy pequeño (ej. entre 0.01 y 0.1) para que no afecte el transitorio. Luego, calcular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s-ES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ES"/>
                  <a:t>Comprobar que el nuevo punto de diseño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s-ES"/>
                  <a:t> no se haya desplazado drásticamente en el LGR.</a:t>
                </a:r>
                <a:endParaRPr lang="es-CO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5F3CF2-8A92-205F-35BB-1126D94EA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1646" y="1615767"/>
                <a:ext cx="10502153" cy="4741355"/>
              </a:xfrm>
              <a:blipFill>
                <a:blip r:embed="rId2"/>
                <a:stretch>
                  <a:fillRect l="-1220" t="-2314" r="-1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74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031E-693A-E563-845D-6674C222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36670-B2CF-2E51-5948-5C1E6C73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0"/>
            <a:ext cx="2343912" cy="1325563"/>
          </a:xfrm>
        </p:spPr>
        <p:txBody>
          <a:bodyPr/>
          <a:lstStyle/>
          <a:p>
            <a:r>
              <a:rPr lang="es-CO"/>
              <a:t>Ejemplo</a:t>
            </a:r>
          </a:p>
        </p:txBody>
      </p:sp>
      <p:sp>
        <p:nvSpPr>
          <p:cNvPr id="4" name="Flowchart: Summing Junction 3">
            <a:extLst>
              <a:ext uri="{FF2B5EF4-FFF2-40B4-BE49-F238E27FC236}">
                <a16:creationId xmlns:a16="http://schemas.microsoft.com/office/drawing/2014/main" id="{8D66B7D2-9DD3-EB97-555F-519F890A7A91}"/>
              </a:ext>
            </a:extLst>
          </p:cNvPr>
          <p:cNvSpPr/>
          <p:nvPr/>
        </p:nvSpPr>
        <p:spPr>
          <a:xfrm>
            <a:off x="2114430" y="1936720"/>
            <a:ext cx="715297" cy="715297"/>
          </a:xfrm>
          <a:prstGeom prst="flowChartSummingJunctio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F8F8F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F79FAA1-9AC0-0238-8ECC-85EAB8C67151}"/>
                  </a:ext>
                </a:extLst>
              </p:cNvPr>
              <p:cNvSpPr/>
              <p:nvPr/>
            </p:nvSpPr>
            <p:spPr>
              <a:xfrm>
                <a:off x="7473237" y="1792922"/>
                <a:ext cx="2273435" cy="100289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+1)(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82A3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+5)</m:t>
                          </m:r>
                        </m:den>
                      </m:f>
                    </m:oMath>
                  </m:oMathPara>
                </a14:m>
                <a:endParaRPr kumimoji="0" lang="es-CO" sz="2800" b="0" i="0" u="none" strike="noStrike" kern="1200" cap="none" spc="0" normalizeH="0" baseline="0" noProof="0">
                  <a:ln>
                    <a:noFill/>
                  </a:ln>
                  <a:solidFill>
                    <a:srgbClr val="282A3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F79FAA1-9AC0-0238-8ECC-85EAB8C671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237" y="1792922"/>
                <a:ext cx="2273435" cy="100289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BA1C45-5E1A-4A29-1F9A-A9617C32AC81}"/>
              </a:ext>
            </a:extLst>
          </p:cNvPr>
          <p:cNvCxnSpPr>
            <a:cxnSpLocks/>
            <a:stCxn id="4" idx="6"/>
            <a:endCxn id="18" idx="1"/>
          </p:cNvCxnSpPr>
          <p:nvPr/>
        </p:nvCxnSpPr>
        <p:spPr>
          <a:xfrm flipV="1">
            <a:off x="2829727" y="2294367"/>
            <a:ext cx="1166705" cy="2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2EE5CC-49D1-B304-1182-66694A452174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9746672" y="2274620"/>
            <a:ext cx="1365790" cy="19747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33">
            <a:extLst>
              <a:ext uri="{FF2B5EF4-FFF2-40B4-BE49-F238E27FC236}">
                <a16:creationId xmlns:a16="http://schemas.microsoft.com/office/drawing/2014/main" id="{B937A129-3CFC-04DD-BE8E-C7F5F8F554C9}"/>
              </a:ext>
            </a:extLst>
          </p:cNvPr>
          <p:cNvCxnSpPr>
            <a:cxnSpLocks/>
            <a:stCxn id="5" idx="3"/>
            <a:endCxn id="13" idx="2"/>
          </p:cNvCxnSpPr>
          <p:nvPr/>
        </p:nvCxnSpPr>
        <p:spPr>
          <a:xfrm flipH="1">
            <a:off x="2472078" y="2294367"/>
            <a:ext cx="7274594" cy="436050"/>
          </a:xfrm>
          <a:prstGeom prst="bentConnector4">
            <a:avLst>
              <a:gd name="adj1" fmla="val -3142"/>
              <a:gd name="adj2" fmla="val 217145"/>
            </a:avLst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F32895-EAFC-5D14-8B9C-B8158BDEAA6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160705" y="2294367"/>
            <a:ext cx="894345" cy="3098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1F9C00-5430-3B94-914D-B31AB0BF18BA}"/>
                  </a:ext>
                </a:extLst>
              </p:cNvPr>
              <p:cNvSpPr txBox="1"/>
              <p:nvPr/>
            </p:nvSpPr>
            <p:spPr>
              <a:xfrm>
                <a:off x="2770347" y="1601052"/>
                <a:ext cx="106188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𝑒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3200" b="0" i="0" u="none" strike="noStrike" kern="1200" cap="none" spc="0" normalizeH="0" baseline="0" noProof="0">
                  <a:ln>
                    <a:noFill/>
                  </a:ln>
                  <a:solidFill>
                    <a:srgbClr val="F8F8F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1F9C00-5430-3B94-914D-B31AB0BF1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347" y="1601052"/>
                <a:ext cx="1061884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C3961D-38D9-F1FD-6AD7-6AE226EBF172}"/>
                  </a:ext>
                </a:extLst>
              </p:cNvPr>
              <p:cNvSpPr txBox="1"/>
              <p:nvPr/>
            </p:nvSpPr>
            <p:spPr>
              <a:xfrm>
                <a:off x="9746672" y="1709591"/>
                <a:ext cx="106188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3200" b="0" i="0" u="none" strike="noStrike" kern="1200" cap="none" spc="0" normalizeH="0" baseline="0" noProof="0">
                  <a:ln>
                    <a:noFill/>
                  </a:ln>
                  <a:solidFill>
                    <a:srgbClr val="F8F8F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C3961D-38D9-F1FD-6AD7-6AE226EBF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6672" y="1709591"/>
                <a:ext cx="106188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DD080E-9C55-73D1-F9A6-D49DDCDFB8AB}"/>
                  </a:ext>
                </a:extLst>
              </p:cNvPr>
              <p:cNvSpPr txBox="1"/>
              <p:nvPr/>
            </p:nvSpPr>
            <p:spPr>
              <a:xfrm>
                <a:off x="2055050" y="2097410"/>
                <a:ext cx="4902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82A3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s-CO" sz="2000" b="1" i="0" u="none" strike="noStrike" kern="1200" cap="none" spc="0" normalizeH="0" baseline="0" noProof="0">
                  <a:ln>
                    <a:noFill/>
                  </a:ln>
                  <a:solidFill>
                    <a:srgbClr val="282A3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DD080E-9C55-73D1-F9A6-D49DDCDFB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050" y="2097410"/>
                <a:ext cx="49022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40A2C6-05EC-BBA2-844B-2A49405481CD}"/>
                  </a:ext>
                </a:extLst>
              </p:cNvPr>
              <p:cNvSpPr txBox="1"/>
              <p:nvPr/>
            </p:nvSpPr>
            <p:spPr>
              <a:xfrm>
                <a:off x="2226964" y="2330307"/>
                <a:ext cx="4902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82A3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s-CO" sz="2000" b="1" i="0" u="none" strike="noStrike" kern="1200" cap="none" spc="0" normalizeH="0" baseline="0" noProof="0">
                  <a:ln>
                    <a:noFill/>
                  </a:ln>
                  <a:solidFill>
                    <a:srgbClr val="282A3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40A2C6-05EC-BBA2-844B-2A4940548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964" y="2330307"/>
                <a:ext cx="49022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6ACD8E-588F-BBEA-92F7-EC4C04BF8575}"/>
                  </a:ext>
                </a:extLst>
              </p:cNvPr>
              <p:cNvSpPr txBox="1"/>
              <p:nvPr/>
            </p:nvSpPr>
            <p:spPr>
              <a:xfrm>
                <a:off x="889320" y="1611113"/>
                <a:ext cx="106188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3200" b="0" i="0" u="none" strike="noStrike" kern="1200" cap="none" spc="0" normalizeH="0" baseline="0" noProof="0">
                  <a:ln>
                    <a:noFill/>
                  </a:ln>
                  <a:solidFill>
                    <a:srgbClr val="F8F8F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6ACD8E-588F-BBEA-92F7-EC4C04BF8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320" y="1611113"/>
                <a:ext cx="1061884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46A016F9-9740-535D-3346-97C6FD34D869}"/>
                  </a:ext>
                </a:extLst>
              </p:cNvPr>
              <p:cNvSpPr/>
              <p:nvPr/>
            </p:nvSpPr>
            <p:spPr>
              <a:xfrm>
                <a:off x="3996432" y="1792922"/>
                <a:ext cx="2310100" cy="100289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82A3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82A3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82A3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  <m:f>
                      <m:f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82A3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82A3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82A3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82A3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82A3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82A3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82A3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82A3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82A3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82A3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82A36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>
                    <a:solidFill>
                      <a:srgbClr val="282A36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282A3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282A3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282A3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282A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282A36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282A3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800" i="1">
                            <a:solidFill>
                              <a:srgbClr val="282A3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>
                            <a:solidFill>
                              <a:srgbClr val="282A3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282A3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282A36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282A3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kumimoji="0" lang="es-CO" sz="2800" b="0" i="0" u="none" strike="noStrike" kern="1200" cap="none" spc="0" normalizeH="0" baseline="0" noProof="0">
                  <a:ln>
                    <a:noFill/>
                  </a:ln>
                  <a:solidFill>
                    <a:srgbClr val="282A36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46A016F9-9740-535D-3346-97C6FD34D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432" y="1792922"/>
                <a:ext cx="2310100" cy="100289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4AC2DF-69A8-9A3B-4519-6C73FA51D476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>
            <a:off x="6306532" y="2294367"/>
            <a:ext cx="1166705" cy="0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0941073-E959-4BBD-A5F3-3CFBAD7041F1}"/>
                  </a:ext>
                </a:extLst>
              </p:cNvPr>
              <p:cNvSpPr txBox="1"/>
              <p:nvPr/>
            </p:nvSpPr>
            <p:spPr>
              <a:xfrm>
                <a:off x="6554412" y="1635230"/>
                <a:ext cx="106188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𝑢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8F8F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s-CO" sz="3200" b="0" i="0" u="none" strike="noStrike" kern="1200" cap="none" spc="0" normalizeH="0" baseline="0" noProof="0">
                  <a:ln>
                    <a:noFill/>
                  </a:ln>
                  <a:solidFill>
                    <a:srgbClr val="F8F8F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0941073-E959-4BBD-A5F3-3CFBAD704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412" y="1635230"/>
                <a:ext cx="1061884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E8DA9663-9176-63A9-E453-ABCC72ACB6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1646" y="3567023"/>
                <a:ext cx="10502153" cy="27900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O">
                    <a:solidFill>
                      <a:schemeClr val="accent1"/>
                    </a:solidFill>
                  </a:rPr>
                  <a:t>Especificaciones</a:t>
                </a:r>
                <a:r>
                  <a:rPr lang="es-CO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𝑣𝑒𝑙𝑜𝑐𝑖𝑑𝑎𝑑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endParaRPr lang="es-CO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≤10%</m:t>
                    </m:r>
                  </m:oMath>
                </a14:m>
                <a:endParaRPr lang="en-US" b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𝑠𝑒𝑔</m:t>
                    </m:r>
                  </m:oMath>
                </a14:m>
                <a:endParaRPr lang="en-US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CO" noProof="0">
                    <a:ea typeface="Cambria Math" panose="02040503050406030204" pitchFamily="18" charset="0"/>
                  </a:rPr>
                  <a:t>Calcule el Controlador por Avance </a:t>
                </a:r>
                <a:r>
                  <a:rPr lang="es-CO">
                    <a:ea typeface="Cambria Math" panose="02040503050406030204" pitchFamily="18" charset="0"/>
                  </a:rPr>
                  <a:t>Atraso </a:t>
                </a:r>
                <a:r>
                  <a:rPr lang="es-CO" noProof="0">
                    <a:ea typeface="Cambria Math" panose="02040503050406030204" pitchFamily="18" charset="0"/>
                  </a:rPr>
                  <a:t>que cumpla las especificaciones.</a:t>
                </a:r>
              </a:p>
              <a:p>
                <a:endParaRPr lang="es-CO"/>
              </a:p>
            </p:txBody>
          </p:sp>
        </mc:Choice>
        <mc:Fallback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E8DA9663-9176-63A9-E453-ABCC72ACB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1646" y="3567023"/>
                <a:ext cx="10502153" cy="2790099"/>
              </a:xfrm>
              <a:blipFill>
                <a:blip r:embed="rId10"/>
                <a:stretch>
                  <a:fillRect l="-1220" t="-3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89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Dracula">
      <a:dk1>
        <a:srgbClr val="282A36"/>
      </a:dk1>
      <a:lt1>
        <a:srgbClr val="F8F8F2"/>
      </a:lt1>
      <a:dk2>
        <a:srgbClr val="44475A"/>
      </a:dk2>
      <a:lt2>
        <a:srgbClr val="BD93F9"/>
      </a:lt2>
      <a:accent1>
        <a:srgbClr val="50FA7B"/>
      </a:accent1>
      <a:accent2>
        <a:srgbClr val="8BE9FD"/>
      </a:accent2>
      <a:accent3>
        <a:srgbClr val="6272A4"/>
      </a:accent3>
      <a:accent4>
        <a:srgbClr val="FF79C6"/>
      </a:accent4>
      <a:accent5>
        <a:srgbClr val="FFB86C"/>
      </a:accent5>
      <a:accent6>
        <a:srgbClr val="F1FA8C"/>
      </a:accent6>
      <a:hlink>
        <a:srgbClr val="BD93F9"/>
      </a:hlink>
      <a:folHlink>
        <a:srgbClr val="FF555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0920896-A505-4C6F-A429-DF7F67BB02FB}" vid="{9A50490F-329A-4F12-B91A-1BDAD4251B2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d90fb7-c10b-429b-a2b8-56a49218fdfe" xsi:nil="true"/>
    <lcf76f155ced4ddcb4097134ff3c332f xmlns="fac3ca94-d71a-4caa-9690-eb28d591cc1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53A00F274449E4D98379C6BF4F2EA6B" ma:contentTypeVersion="11" ma:contentTypeDescription="Crear nuevo documento." ma:contentTypeScope="" ma:versionID="eb3f5a400347c3417aab130743b3d1b7">
  <xsd:schema xmlns:xsd="http://www.w3.org/2001/XMLSchema" xmlns:xs="http://www.w3.org/2001/XMLSchema" xmlns:p="http://schemas.microsoft.com/office/2006/metadata/properties" xmlns:ns2="fac3ca94-d71a-4caa-9690-eb28d591cc11" xmlns:ns3="81d90fb7-c10b-429b-a2b8-56a49218fdfe" targetNamespace="http://schemas.microsoft.com/office/2006/metadata/properties" ma:root="true" ma:fieldsID="76a9e87a822cd72ed856b4afed0ee74c" ns2:_="" ns3:_="">
    <xsd:import namespace="fac3ca94-d71a-4caa-9690-eb28d591cc11"/>
    <xsd:import namespace="81d90fb7-c10b-429b-a2b8-56a49218fd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c3ca94-d71a-4caa-9690-eb28d591cc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093fb0a-f3be-4120-808e-fc0c80b8c9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90fb7-c10b-429b-a2b8-56a49218fdf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809115-c1bd-42a4-a936-87346198339a}" ma:internalName="TaxCatchAll" ma:showField="CatchAllData" ma:web="81d90fb7-c10b-429b-a2b8-56a49218fd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7CC476-00B8-4C77-A90B-B82229D2C16D}">
  <ds:schemaRefs>
    <ds:schemaRef ds:uri="81d90fb7-c10b-429b-a2b8-56a49218fdfe"/>
    <ds:schemaRef ds:uri="fac3ca94-d71a-4caa-9690-eb28d591cc1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D72AE2E-CBBC-4BD8-8B73-3FD3D3A563E1}"/>
</file>

<file path=customXml/itemProps3.xml><?xml version="1.0" encoding="utf-8"?>
<ds:datastoreItem xmlns:ds="http://schemas.openxmlformats.org/officeDocument/2006/customXml" ds:itemID="{CE20ECE8-9613-4732-88DF-151E1CB161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Dracula Template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Tema de Office</vt:lpstr>
      <vt:lpstr>Compensador LEAD - LAG por LGR</vt:lpstr>
      <vt:lpstr>Compensación en Adelanto (Lead)</vt:lpstr>
      <vt:lpstr>Procedimiento de Diseño (Paso a Paso)</vt:lpstr>
      <vt:lpstr>Ejemplo</vt:lpstr>
      <vt:lpstr>Compensación en Atraso (Lag)</vt:lpstr>
      <vt:lpstr>Procedimiento de Diseño (Paso a Paso)</vt:lpstr>
      <vt:lpstr>Ejemplo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Andres Castaño Giraldo</dc:creator>
  <cp:revision>1</cp:revision>
  <dcterms:created xsi:type="dcterms:W3CDTF">2025-06-03T01:40:26Z</dcterms:created>
  <dcterms:modified xsi:type="dcterms:W3CDTF">2026-03-10T15:21:50Z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0x010100753A00F274449E4D98379C6BF4F2EA6B</vt:lpwstr>
  </property>
  <property fmtid="{D5CDD505-2E9C-101B-9397-08002B2CF9AE}" pid="3" name="MediaServiceImageTags">
    <vt:lpwstr/>
  </property>
</Properties>
</file>